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1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ECサイトの購買ファネル（n=3｜密度強化・長文）</a:t>
            </a:r>
          </a:p>
        </p:txBody>
      </p:sp>
      <p:sp>
        <p:nvSpPr>
          <p:cNvPr id="9" name="Rounded Rectangle 8"/>
          <p:cNvSpPr/>
          <p:nvPr/>
        </p:nvSpPr>
        <p:spPr>
          <a:xfrm>
            <a:off x="952500" y="1314450"/>
            <a:ext cx="10287000" cy="1123950"/>
          </a:xfrm>
          <a:prstGeom prst="roundRect">
            <a:avLst>
              <a:gd name="adj" fmla="val 6779"/>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7621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2381250" y="2533650"/>
            <a:ext cx="7429500" cy="1123950"/>
          </a:xfrm>
          <a:prstGeom prst="roundRect">
            <a:avLst>
              <a:gd name="adj" fmla="val 6779"/>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057400" y="29813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2495550" y="2609850"/>
            <a:ext cx="72009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2495550" y="2857500"/>
            <a:ext cx="72009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1552575" y="25527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9886950" y="25527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3810000" y="3752850"/>
            <a:ext cx="4572000" cy="1123950"/>
          </a:xfrm>
          <a:prstGeom prst="roundRect">
            <a:avLst>
              <a:gd name="adj" fmla="val 6779"/>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86150" y="4200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3924300" y="3829050"/>
            <a:ext cx="4343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3924300" y="4076700"/>
            <a:ext cx="43434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2981325" y="37719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8458200" y="37719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5" name="TextBox 24"/>
          <p:cNvSpPr txBox="1"/>
          <p:nvPr/>
        </p:nvSpPr>
        <p:spPr>
          <a:xfrm>
            <a:off x="8458200" y="4629150"/>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2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ECサイトの購買ファネル（n=4｜密度強化・長文）</a:t>
            </a:r>
          </a:p>
        </p:txBody>
      </p:sp>
      <p:sp>
        <p:nvSpPr>
          <p:cNvPr id="9" name="Rounded Rectangle 8"/>
          <p:cNvSpPr/>
          <p:nvPr/>
        </p:nvSpPr>
        <p:spPr>
          <a:xfrm>
            <a:off x="952500" y="1314450"/>
            <a:ext cx="10287000" cy="1123950"/>
          </a:xfrm>
          <a:prstGeom prst="roundRect">
            <a:avLst>
              <a:gd name="adj" fmla="val 6779"/>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7621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905000" y="2533650"/>
            <a:ext cx="8382000" cy="1123950"/>
          </a:xfrm>
          <a:prstGeom prst="roundRect">
            <a:avLst>
              <a:gd name="adj" fmla="val 6779"/>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1150" y="29813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2019300" y="2609850"/>
            <a:ext cx="8153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2019300" y="2857500"/>
            <a:ext cx="8153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1076325" y="25527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10363200" y="25527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2857500" y="3752850"/>
            <a:ext cx="6477000" cy="1123950"/>
          </a:xfrm>
          <a:prstGeom prst="roundRect">
            <a:avLst>
              <a:gd name="adj" fmla="val 6779"/>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533650" y="4200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2971800" y="3829050"/>
            <a:ext cx="624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2971800" y="4076700"/>
            <a:ext cx="62484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2028825" y="37719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9410700" y="37719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5" name="Rounded Rectangle 24"/>
          <p:cNvSpPr/>
          <p:nvPr/>
        </p:nvSpPr>
        <p:spPr>
          <a:xfrm>
            <a:off x="3810000" y="4972050"/>
            <a:ext cx="4572000" cy="1123950"/>
          </a:xfrm>
          <a:prstGeom prst="roundRect">
            <a:avLst>
              <a:gd name="adj" fmla="val 6779"/>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86150" y="54197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7" name="TextBox 26"/>
          <p:cNvSpPr txBox="1"/>
          <p:nvPr/>
        </p:nvSpPr>
        <p:spPr>
          <a:xfrm>
            <a:off x="3924300" y="504825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商品比較</a:t>
            </a:r>
          </a:p>
        </p:txBody>
      </p:sp>
      <p:sp>
        <p:nvSpPr>
          <p:cNvPr id="28" name="TextBox 27"/>
          <p:cNvSpPr txBox="1"/>
          <p:nvPr/>
        </p:nvSpPr>
        <p:spPr>
          <a:xfrm>
            <a:off x="3924300" y="5295900"/>
            <a:ext cx="4343400" cy="723900"/>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2件以上の商品詳細を閲覧し比較検討の段階へ進んだ訪問者数の実測値である</a:t>
            </a:r>
          </a:p>
        </p:txBody>
      </p:sp>
      <p:sp>
        <p:nvSpPr>
          <p:cNvPr id="29" name="TextBox 28"/>
          <p:cNvSpPr txBox="1"/>
          <p:nvPr/>
        </p:nvSpPr>
        <p:spPr>
          <a:xfrm>
            <a:off x="2981325" y="49911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65%</a:t>
            </a:r>
          </a:p>
        </p:txBody>
      </p:sp>
      <p:sp>
        <p:nvSpPr>
          <p:cNvPr id="30" name="TextBox 29"/>
          <p:cNvSpPr txBox="1"/>
          <p:nvPr/>
        </p:nvSpPr>
        <p:spPr>
          <a:xfrm>
            <a:off x="8458200" y="499110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▲4,400件</a:t>
            </a:r>
          </a:p>
        </p:txBody>
      </p:sp>
      <p:sp>
        <p:nvSpPr>
          <p:cNvPr id="31" name="TextBox 30"/>
          <p:cNvSpPr txBox="1"/>
          <p:nvPr/>
        </p:nvSpPr>
        <p:spPr>
          <a:xfrm>
            <a:off x="8458200" y="5848350"/>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3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ECサイトの購買ファネル（n=5｜密度強化・長文）</a:t>
            </a:r>
          </a:p>
        </p:txBody>
      </p:sp>
      <p:sp>
        <p:nvSpPr>
          <p:cNvPr id="9" name="Rounded Rectangle 8"/>
          <p:cNvSpPr/>
          <p:nvPr/>
        </p:nvSpPr>
        <p:spPr>
          <a:xfrm>
            <a:off x="952500" y="1314450"/>
            <a:ext cx="10287000" cy="885825"/>
          </a:xfrm>
          <a:prstGeom prst="roundRect">
            <a:avLst>
              <a:gd name="adj" fmla="val 8602"/>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6383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485775"/>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666875" y="2295525"/>
            <a:ext cx="8858250" cy="885825"/>
          </a:xfrm>
          <a:prstGeom prst="roundRect">
            <a:avLst>
              <a:gd name="adj" fmla="val 8602"/>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43025" y="261937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1781175" y="2371725"/>
            <a:ext cx="862965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1781175" y="2619375"/>
            <a:ext cx="8629650" cy="485775"/>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838200" y="2314575"/>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Rounded Rectangle 17"/>
          <p:cNvSpPr/>
          <p:nvPr/>
        </p:nvSpPr>
        <p:spPr>
          <a:xfrm>
            <a:off x="2381250" y="3276600"/>
            <a:ext cx="7429500" cy="885825"/>
          </a:xfrm>
          <a:prstGeom prst="roundRect">
            <a:avLst>
              <a:gd name="adj" fmla="val 8602"/>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057400" y="36004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0" name="TextBox 19"/>
          <p:cNvSpPr txBox="1"/>
          <p:nvPr/>
        </p:nvSpPr>
        <p:spPr>
          <a:xfrm>
            <a:off x="2495550" y="3352800"/>
            <a:ext cx="72009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1" name="TextBox 20"/>
          <p:cNvSpPr txBox="1"/>
          <p:nvPr/>
        </p:nvSpPr>
        <p:spPr>
          <a:xfrm>
            <a:off x="2495550" y="3600450"/>
            <a:ext cx="7200900" cy="485775"/>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2" name="TextBox 21"/>
          <p:cNvSpPr txBox="1"/>
          <p:nvPr/>
        </p:nvSpPr>
        <p:spPr>
          <a:xfrm>
            <a:off x="1552575" y="32956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3" name="TextBox 22"/>
          <p:cNvSpPr txBox="1"/>
          <p:nvPr/>
        </p:nvSpPr>
        <p:spPr>
          <a:xfrm>
            <a:off x="9886950" y="329565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4" name="Rounded Rectangle 23"/>
          <p:cNvSpPr/>
          <p:nvPr/>
        </p:nvSpPr>
        <p:spPr>
          <a:xfrm>
            <a:off x="3095625" y="4257675"/>
            <a:ext cx="6000750" cy="885825"/>
          </a:xfrm>
          <a:prstGeom prst="roundRect">
            <a:avLst>
              <a:gd name="adj" fmla="val 8602"/>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771775" y="4581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6" name="TextBox 25"/>
          <p:cNvSpPr txBox="1"/>
          <p:nvPr/>
        </p:nvSpPr>
        <p:spPr>
          <a:xfrm>
            <a:off x="3209925" y="4333875"/>
            <a:ext cx="577215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商品比較</a:t>
            </a:r>
          </a:p>
        </p:txBody>
      </p:sp>
      <p:sp>
        <p:nvSpPr>
          <p:cNvPr id="27" name="TextBox 26"/>
          <p:cNvSpPr txBox="1"/>
          <p:nvPr/>
        </p:nvSpPr>
        <p:spPr>
          <a:xfrm>
            <a:off x="3209925" y="4581525"/>
            <a:ext cx="5772150" cy="485775"/>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2件以上の商品詳細を閲覧し比較検討の段階へ進んだ訪問者数の実測値である</a:t>
            </a:r>
          </a:p>
        </p:txBody>
      </p:sp>
      <p:sp>
        <p:nvSpPr>
          <p:cNvPr id="28" name="TextBox 27"/>
          <p:cNvSpPr txBox="1"/>
          <p:nvPr/>
        </p:nvSpPr>
        <p:spPr>
          <a:xfrm>
            <a:off x="2266950" y="4276725"/>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65%</a:t>
            </a:r>
          </a:p>
        </p:txBody>
      </p:sp>
      <p:sp>
        <p:nvSpPr>
          <p:cNvPr id="29" name="TextBox 28"/>
          <p:cNvSpPr txBox="1"/>
          <p:nvPr/>
        </p:nvSpPr>
        <p:spPr>
          <a:xfrm>
            <a:off x="9172575" y="4276725"/>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▲4,400件</a:t>
            </a:r>
          </a:p>
        </p:txBody>
      </p:sp>
      <p:sp>
        <p:nvSpPr>
          <p:cNvPr id="30" name="Rounded Rectangle 29"/>
          <p:cNvSpPr/>
          <p:nvPr/>
        </p:nvSpPr>
        <p:spPr>
          <a:xfrm>
            <a:off x="3810000" y="5238750"/>
            <a:ext cx="4572000" cy="885825"/>
          </a:xfrm>
          <a:prstGeom prst="roundRect">
            <a:avLst>
              <a:gd name="adj" fmla="val 8602"/>
            </a:avLst>
          </a:prstGeom>
          <a:solidFill>
            <a:srgbClr val="F0F9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486150" y="55626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5</a:t>
            </a:r>
          </a:p>
        </p:txBody>
      </p:sp>
      <p:sp>
        <p:nvSpPr>
          <p:cNvPr id="32" name="TextBox 31"/>
          <p:cNvSpPr txBox="1"/>
          <p:nvPr/>
        </p:nvSpPr>
        <p:spPr>
          <a:xfrm>
            <a:off x="3924300" y="531495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カート投入</a:t>
            </a:r>
          </a:p>
        </p:txBody>
      </p:sp>
      <p:sp>
        <p:nvSpPr>
          <p:cNvPr id="33" name="TextBox 32"/>
          <p:cNvSpPr txBox="1"/>
          <p:nvPr/>
        </p:nvSpPr>
        <p:spPr>
          <a:xfrm>
            <a:off x="3924300" y="5562600"/>
            <a:ext cx="4343400" cy="485775"/>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カートへ1点以上を投入し決済画面へ遷移した訪問者数を計上したものである</a:t>
            </a:r>
          </a:p>
        </p:txBody>
      </p:sp>
      <p:sp>
        <p:nvSpPr>
          <p:cNvPr id="34" name="TextBox 33"/>
          <p:cNvSpPr txBox="1"/>
          <p:nvPr/>
        </p:nvSpPr>
        <p:spPr>
          <a:xfrm>
            <a:off x="2981325" y="52578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62%</a:t>
            </a:r>
          </a:p>
        </p:txBody>
      </p:sp>
      <p:sp>
        <p:nvSpPr>
          <p:cNvPr id="35" name="TextBox 34"/>
          <p:cNvSpPr txBox="1"/>
          <p:nvPr/>
        </p:nvSpPr>
        <p:spPr>
          <a:xfrm>
            <a:off x="8458200" y="525780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▲3,120件</a:t>
            </a:r>
          </a:p>
        </p:txBody>
      </p:sp>
      <p:sp>
        <p:nvSpPr>
          <p:cNvPr id="36" name="TextBox 35"/>
          <p:cNvSpPr txBox="1"/>
          <p:nvPr/>
        </p:nvSpPr>
        <p:spPr>
          <a:xfrm>
            <a:off x="8458200" y="5876925"/>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4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ECサイトの購買ファネル（n=6｜密度強化・長文）</a:t>
            </a:r>
          </a:p>
        </p:txBody>
      </p:sp>
      <p:sp>
        <p:nvSpPr>
          <p:cNvPr id="9" name="Rounded Rectangle 8"/>
          <p:cNvSpPr/>
          <p:nvPr/>
        </p:nvSpPr>
        <p:spPr>
          <a:xfrm>
            <a:off x="952500" y="1314450"/>
            <a:ext cx="10287000" cy="723900"/>
          </a:xfrm>
          <a:prstGeom prst="roundRect">
            <a:avLst>
              <a:gd name="adj" fmla="val 10526"/>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5621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524000" y="2133600"/>
            <a:ext cx="9144000" cy="723900"/>
          </a:xfrm>
          <a:prstGeom prst="roundRect">
            <a:avLst>
              <a:gd name="adj" fmla="val 10526"/>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0150" y="23812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1638300" y="2209800"/>
            <a:ext cx="8915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1638300" y="2457450"/>
            <a:ext cx="8915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695325" y="21526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Rounded Rectangle 17"/>
          <p:cNvSpPr/>
          <p:nvPr/>
        </p:nvSpPr>
        <p:spPr>
          <a:xfrm>
            <a:off x="2095500" y="2952750"/>
            <a:ext cx="8001000" cy="723900"/>
          </a:xfrm>
          <a:prstGeom prst="roundRect">
            <a:avLst>
              <a:gd name="adj" fmla="val 10526"/>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771650" y="32004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0" name="TextBox 19"/>
          <p:cNvSpPr txBox="1"/>
          <p:nvPr/>
        </p:nvSpPr>
        <p:spPr>
          <a:xfrm>
            <a:off x="2209800" y="3028950"/>
            <a:ext cx="7772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1" name="TextBox 20"/>
          <p:cNvSpPr txBox="1"/>
          <p:nvPr/>
        </p:nvSpPr>
        <p:spPr>
          <a:xfrm>
            <a:off x="2209800" y="3276600"/>
            <a:ext cx="7772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2" name="TextBox 21"/>
          <p:cNvSpPr txBox="1"/>
          <p:nvPr/>
        </p:nvSpPr>
        <p:spPr>
          <a:xfrm>
            <a:off x="1266825" y="29718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3" name="TextBox 22"/>
          <p:cNvSpPr txBox="1"/>
          <p:nvPr/>
        </p:nvSpPr>
        <p:spPr>
          <a:xfrm>
            <a:off x="10172700" y="29718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4" name="Rounded Rectangle 23"/>
          <p:cNvSpPr/>
          <p:nvPr/>
        </p:nvSpPr>
        <p:spPr>
          <a:xfrm>
            <a:off x="2667000" y="3771900"/>
            <a:ext cx="6858000" cy="723900"/>
          </a:xfrm>
          <a:prstGeom prst="roundRect">
            <a:avLst>
              <a:gd name="adj" fmla="val 10526"/>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343150" y="40195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6" name="TextBox 25"/>
          <p:cNvSpPr txBox="1"/>
          <p:nvPr/>
        </p:nvSpPr>
        <p:spPr>
          <a:xfrm>
            <a:off x="2781300" y="3848100"/>
            <a:ext cx="6629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商品比較</a:t>
            </a:r>
          </a:p>
        </p:txBody>
      </p:sp>
      <p:sp>
        <p:nvSpPr>
          <p:cNvPr id="27" name="TextBox 26"/>
          <p:cNvSpPr txBox="1"/>
          <p:nvPr/>
        </p:nvSpPr>
        <p:spPr>
          <a:xfrm>
            <a:off x="2781300" y="4095750"/>
            <a:ext cx="6629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2件以上の商品詳細を閲覧し比較検討の段階へ進んだ訪問者数の実測値である</a:t>
            </a:r>
          </a:p>
        </p:txBody>
      </p:sp>
      <p:sp>
        <p:nvSpPr>
          <p:cNvPr id="28" name="TextBox 27"/>
          <p:cNvSpPr txBox="1"/>
          <p:nvPr/>
        </p:nvSpPr>
        <p:spPr>
          <a:xfrm>
            <a:off x="1838325" y="37909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65%</a:t>
            </a:r>
          </a:p>
        </p:txBody>
      </p:sp>
      <p:sp>
        <p:nvSpPr>
          <p:cNvPr id="29" name="TextBox 28"/>
          <p:cNvSpPr txBox="1"/>
          <p:nvPr/>
        </p:nvSpPr>
        <p:spPr>
          <a:xfrm>
            <a:off x="9601200" y="379095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▲4,400件</a:t>
            </a:r>
          </a:p>
        </p:txBody>
      </p:sp>
      <p:sp>
        <p:nvSpPr>
          <p:cNvPr id="30" name="Rounded Rectangle 29"/>
          <p:cNvSpPr/>
          <p:nvPr/>
        </p:nvSpPr>
        <p:spPr>
          <a:xfrm>
            <a:off x="3238500" y="4591050"/>
            <a:ext cx="5715000" cy="723900"/>
          </a:xfrm>
          <a:prstGeom prst="roundRect">
            <a:avLst>
              <a:gd name="adj" fmla="val 10526"/>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914650" y="48387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5</a:t>
            </a:r>
          </a:p>
        </p:txBody>
      </p:sp>
      <p:sp>
        <p:nvSpPr>
          <p:cNvPr id="32" name="TextBox 31"/>
          <p:cNvSpPr txBox="1"/>
          <p:nvPr/>
        </p:nvSpPr>
        <p:spPr>
          <a:xfrm>
            <a:off x="3352800" y="4667250"/>
            <a:ext cx="5486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カート投入</a:t>
            </a:r>
          </a:p>
        </p:txBody>
      </p:sp>
      <p:sp>
        <p:nvSpPr>
          <p:cNvPr id="33" name="TextBox 32"/>
          <p:cNvSpPr txBox="1"/>
          <p:nvPr/>
        </p:nvSpPr>
        <p:spPr>
          <a:xfrm>
            <a:off x="3352800" y="4914900"/>
            <a:ext cx="5486400" cy="323850"/>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カートへ1点以上を投入し決済画面へ遷移した訪問者数を計上したものである</a:t>
            </a:r>
          </a:p>
        </p:txBody>
      </p:sp>
      <p:sp>
        <p:nvSpPr>
          <p:cNvPr id="34" name="TextBox 33"/>
          <p:cNvSpPr txBox="1"/>
          <p:nvPr/>
        </p:nvSpPr>
        <p:spPr>
          <a:xfrm>
            <a:off x="2409825" y="46101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62%</a:t>
            </a:r>
          </a:p>
        </p:txBody>
      </p:sp>
      <p:sp>
        <p:nvSpPr>
          <p:cNvPr id="35" name="TextBox 34"/>
          <p:cNvSpPr txBox="1"/>
          <p:nvPr/>
        </p:nvSpPr>
        <p:spPr>
          <a:xfrm>
            <a:off x="9029700" y="461010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▲3,120件</a:t>
            </a:r>
          </a:p>
        </p:txBody>
      </p:sp>
      <p:sp>
        <p:nvSpPr>
          <p:cNvPr id="36" name="Rounded Rectangle 35"/>
          <p:cNvSpPr/>
          <p:nvPr/>
        </p:nvSpPr>
        <p:spPr>
          <a:xfrm>
            <a:off x="3810000" y="5410200"/>
            <a:ext cx="4572000" cy="723900"/>
          </a:xfrm>
          <a:prstGeom prst="roundRect">
            <a:avLst>
              <a:gd name="adj" fmla="val 10526"/>
            </a:avLst>
          </a:prstGeom>
          <a:solidFill>
            <a:srgbClr val="F0F9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486150" y="56578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6</a:t>
            </a:r>
          </a:p>
        </p:txBody>
      </p:sp>
      <p:sp>
        <p:nvSpPr>
          <p:cNvPr id="38" name="TextBox 37"/>
          <p:cNvSpPr txBox="1"/>
          <p:nvPr/>
        </p:nvSpPr>
        <p:spPr>
          <a:xfrm>
            <a:off x="3924300" y="548640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購入完了</a:t>
            </a:r>
          </a:p>
        </p:txBody>
      </p:sp>
      <p:sp>
        <p:nvSpPr>
          <p:cNvPr id="39" name="TextBox 38"/>
          <p:cNvSpPr txBox="1"/>
          <p:nvPr/>
        </p:nvSpPr>
        <p:spPr>
          <a:xfrm>
            <a:off x="3924300" y="5734050"/>
            <a:ext cx="4343400" cy="323850"/>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決済を完了し受注が確定した最終コンバージョン件数の月間実績値である</a:t>
            </a:r>
          </a:p>
        </p:txBody>
      </p:sp>
      <p:sp>
        <p:nvSpPr>
          <p:cNvPr id="40" name="TextBox 39"/>
          <p:cNvSpPr txBox="1"/>
          <p:nvPr/>
        </p:nvSpPr>
        <p:spPr>
          <a:xfrm>
            <a:off x="2981325" y="54292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39%</a:t>
            </a:r>
          </a:p>
        </p:txBody>
      </p:sp>
      <p:sp>
        <p:nvSpPr>
          <p:cNvPr id="41" name="TextBox 40"/>
          <p:cNvSpPr txBox="1"/>
          <p:nvPr/>
        </p:nvSpPr>
        <p:spPr>
          <a:xfrm>
            <a:off x="8458200" y="542925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▲3,120件</a:t>
            </a:r>
          </a:p>
        </p:txBody>
      </p:sp>
      <p:sp>
        <p:nvSpPr>
          <p:cNvPr id="42" name="TextBox 41"/>
          <p:cNvSpPr txBox="1"/>
          <p:nvPr/>
        </p:nvSpPr>
        <p:spPr>
          <a:xfrm>
            <a:off x="8458200" y="5886450"/>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