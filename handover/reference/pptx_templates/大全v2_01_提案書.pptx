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表紙"/>
          <p:cNvGrpSpPr/>
          <p:nvPr/>
        </p:nvGrpSpPr>
        <p:grpSpPr>
          <a:xfrm>
            <a:off x="609600" y="1409700"/>
            <a:ext cx="10972800" cy="4248150"/>
            <a:chOff x="609600" y="1409700"/>
            <a:chExt cx="10972800" cy="4248150"/>
          </a:xfrm>
        </p:grpSpPr>
        <p:cxnSp>
          <p:nvCxnSpPr>
            <p:cNvPr id="4" name="飾り罫左"/>
            <p:cNvCxnSpPr/>
            <p:nvPr/>
          </p:nvCxnSpPr>
          <p:spPr>
            <a:xfrm>
              <a:off x="5105400" y="1504950"/>
              <a:ext cx="60960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書種別"/>
            <p:cNvSpPr/>
            <p:nvPr/>
          </p:nvSpPr>
          <p:spPr>
            <a:xfrm>
              <a:off x="5753100" y="1409700"/>
              <a:ext cx="685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提案書</a:t>
              </a:r>
            </a:p>
          </p:txBody>
        </p:sp>
        <p:cxnSp>
          <p:nvCxnSpPr>
            <p:cNvPr id="6" name="飾り罫右"/>
            <p:cNvCxnSpPr/>
            <p:nvPr/>
          </p:nvCxnSpPr>
          <p:spPr>
            <a:xfrm>
              <a:off x="6477000" y="1504950"/>
              <a:ext cx="60960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タイトル"/>
            <p:cNvSpPr/>
            <p:nvPr/>
          </p:nvSpPr>
          <p:spPr>
            <a:xfrm>
              <a:off x="609600" y="2152650"/>
              <a:ext cx="109728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100" b="1">
                  <a:solidFill>
                    <a:schemeClr val="dk2"/>
                  </a:solidFill>
                </a:rPr>
                <a:t>業務改善AI導入のご提案</a:t>
              </a:r>
            </a:p>
          </p:txBody>
        </p:sp>
        <p:sp>
          <p:nvSpPr>
            <p:cNvPr id="8" name="サブタイトル"/>
            <p:cNvSpPr/>
            <p:nvPr/>
          </p:nvSpPr>
          <p:spPr>
            <a:xfrm>
              <a:off x="609600" y="2819400"/>
              <a:ext cx="109728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>
                  <a:solidFill>
                    <a:schemeClr val="dk1"/>
                  </a:solidFill>
                </a:rPr>
                <a:t>― 書類業務の半減で、営業の時間を取り戻す ―</a:t>
              </a:r>
            </a:p>
          </p:txBody>
        </p:sp>
        <p:cxnSp>
          <p:nvCxnSpPr>
            <p:cNvPr id="9" name="区切り線"/>
            <p:cNvCxnSpPr/>
            <p:nvPr/>
          </p:nvCxnSpPr>
          <p:spPr>
            <a:xfrm>
              <a:off x="4572000" y="3486150"/>
              <a:ext cx="304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宛先"/>
            <p:cNvSpPr/>
            <p:nvPr/>
          </p:nvSpPr>
          <p:spPr>
            <a:xfrm>
              <a:off x="609600" y="3752850"/>
              <a:ext cx="10972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株式会社◯◯ 御中</a:t>
              </a:r>
            </a:p>
          </p:txBody>
        </p:sp>
        <p:sp>
          <p:nvSpPr>
            <p:cNvPr id="11" name="飾り点1"/>
            <p:cNvSpPr/>
            <p:nvPr/>
          </p:nvSpPr>
          <p:spPr>
            <a:xfrm>
              <a:off x="5924550" y="49339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飾り点2"/>
            <p:cNvSpPr/>
            <p:nvPr/>
          </p:nvSpPr>
          <p:spPr>
            <a:xfrm>
              <a:off x="6057900" y="49339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飾り点3"/>
            <p:cNvSpPr/>
            <p:nvPr/>
          </p:nvSpPr>
          <p:spPr>
            <a:xfrm>
              <a:off x="6191250" y="49339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差出"/>
            <p:cNvSpPr/>
            <p:nvPr/>
          </p:nvSpPr>
          <p:spPr>
            <a:xfrm>
              <a:off x="609600" y="5200650"/>
              <a:ext cx="10972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1"/>
                  </a:solidFill>
                </a:rPr>
                <a:t>△△コンサルティング株式会社</a:t>
              </a:r>
            </a:p>
          </p:txBody>
        </p:sp>
        <p:sp>
          <p:nvSpPr>
            <p:cNvPr id="15" name="日付"/>
            <p:cNvSpPr/>
            <p:nvPr/>
          </p:nvSpPr>
          <p:spPr>
            <a:xfrm>
              <a:off x="609600" y="5486400"/>
              <a:ext cx="1097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20XX年◯月◯日</a:t>
              </a:r>
            </a:p>
          </p:txBody>
        </p:sp>
      </p:grpSp>
      <p:grpSp>
        <p:nvGrpSpPr>
          <p:cNvPr id="16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7" name="注記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Confidential｜注：本資料の数値はすべてサンプルです</a:t>
              </a:r>
            </a:p>
          </p:txBody>
        </p:sp>
        <p:sp>
          <p:nvSpPr>
            <p:cNvPr id="18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838200"/>
            <a:chOff x="609600" y="285750"/>
            <a:chExt cx="10972800" cy="8382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ご提案の要旨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書類業務をAIで半減し、年1.9万時間を営業に返せる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8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注：数値の根拠は本文各頁に記載（サンプル）</a:t>
              </a:r>
            </a:p>
          </p:txBody>
        </p:sp>
        <p:sp>
          <p:nvSpPr>
            <p:cNvPr id="9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0" name="結論ボックス"/>
          <p:cNvGrpSpPr/>
          <p:nvPr/>
        </p:nvGrpSpPr>
        <p:grpSpPr>
          <a:xfrm>
            <a:off x="609600" y="1390650"/>
            <a:ext cx="10972800" cy="876300"/>
            <a:chOff x="609600" y="1390650"/>
            <a:chExt cx="10972800" cy="876300"/>
          </a:xfrm>
        </p:grpSpPr>
        <p:sp>
          <p:nvSpPr>
            <p:cNvPr id="11" name="結論パネル"/>
            <p:cNvSpPr/>
            <p:nvPr/>
          </p:nvSpPr>
          <p:spPr>
            <a:xfrm>
              <a:off x="609600" y="1390650"/>
              <a:ext cx="10972800" cy="876300"/>
            </a:xfrm>
            <a:prstGeom prst="roundRect">
              <a:avLst>
                <a:gd name="adj" fmla="val 10869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結論ラベル"/>
            <p:cNvSpPr/>
            <p:nvPr/>
          </p:nvSpPr>
          <p:spPr>
            <a:xfrm>
              <a:off x="876300" y="1504950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結論</a:t>
              </a:r>
            </a:p>
          </p:txBody>
        </p:sp>
        <p:sp>
          <p:nvSpPr>
            <p:cNvPr id="13" name="結論文"/>
            <p:cNvSpPr/>
            <p:nvPr/>
          </p:nvSpPr>
          <p:spPr>
            <a:xfrm>
              <a:off x="876300" y="1752600"/>
              <a:ext cx="104394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書類業務をAIで半減し、創出した年1.9万時間を営業活動へ振り向ける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609600" y="2495550"/>
            <a:ext cx="3810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この結論を支える3つの理由</a:t>
            </a:r>
          </a:p>
        </p:txBody>
      </p:sp>
      <p:grpSp>
        <p:nvGrpSpPr>
          <p:cNvPr id="15" name="理由カード01"/>
          <p:cNvGrpSpPr/>
          <p:nvPr/>
        </p:nvGrpSpPr>
        <p:grpSpPr>
          <a:xfrm>
            <a:off x="609600" y="2743200"/>
            <a:ext cx="3505200" cy="1866900"/>
            <a:chOff x="609600" y="2743200"/>
            <a:chExt cx="3505200" cy="1866900"/>
          </a:xfrm>
        </p:grpSpPr>
        <p:sp>
          <p:nvSpPr>
            <p:cNvPr id="16" name="カード"/>
            <p:cNvSpPr/>
            <p:nvPr/>
          </p:nvSpPr>
          <p:spPr>
            <a:xfrm>
              <a:off x="609600" y="2743200"/>
              <a:ext cx="3505200" cy="1866900"/>
            </a:xfrm>
            <a:prstGeom prst="roundRect">
              <a:avLst>
                <a:gd name="adj" fmla="val 4081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番号"/>
            <p:cNvSpPr/>
            <p:nvPr/>
          </p:nvSpPr>
          <p:spPr>
            <a:xfrm>
              <a:off x="838200" y="29146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18" name="見出し"/>
            <p:cNvSpPr/>
            <p:nvPr/>
          </p:nvSpPr>
          <p:spPr>
            <a:xfrm>
              <a:off x="838200" y="32766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書類時間が増え続けている</a:t>
              </a:r>
            </a:p>
          </p:txBody>
        </p:sp>
        <p:sp>
          <p:nvSpPr>
            <p:cNvPr id="19" name="本文"/>
            <p:cNvSpPr/>
            <p:nvPr/>
          </p:nvSpPr>
          <p:spPr>
            <a:xfrm>
              <a:off x="838200" y="3562350"/>
              <a:ext cx="3048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営業1人あたり週13.1時間。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3年で1.6倍に達し、増員では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追いつかない伸び方をしている。</a:t>
              </a:r>
            </a:p>
          </p:txBody>
        </p:sp>
        <p:sp>
          <p:nvSpPr>
            <p:cNvPr id="20" name="参照頁"/>
            <p:cNvSpPr/>
            <p:nvPr/>
          </p:nvSpPr>
          <p:spPr>
            <a:xfrm>
              <a:off x="838200" y="4305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詳細 P.04</a:t>
              </a:r>
            </a:p>
          </p:txBody>
        </p:sp>
      </p:grpSp>
      <p:grpSp>
        <p:nvGrpSpPr>
          <p:cNvPr id="21" name="理由カード02"/>
          <p:cNvGrpSpPr/>
          <p:nvPr/>
        </p:nvGrpSpPr>
        <p:grpSpPr>
          <a:xfrm>
            <a:off x="4343400" y="2743200"/>
            <a:ext cx="3505200" cy="1866900"/>
            <a:chOff x="4343400" y="2743200"/>
            <a:chExt cx="3505200" cy="1866900"/>
          </a:xfrm>
        </p:grpSpPr>
        <p:sp>
          <p:nvSpPr>
            <p:cNvPr id="22" name="カード"/>
            <p:cNvSpPr/>
            <p:nvPr/>
          </p:nvSpPr>
          <p:spPr>
            <a:xfrm>
              <a:off x="4343400" y="2743200"/>
              <a:ext cx="3505200" cy="1866900"/>
            </a:xfrm>
            <a:prstGeom prst="roundRect">
              <a:avLst>
                <a:gd name="adj" fmla="val 4081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"/>
            <p:cNvSpPr/>
            <p:nvPr/>
          </p:nvSpPr>
          <p:spPr>
            <a:xfrm>
              <a:off x="4572000" y="29146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24" name="見出し"/>
            <p:cNvSpPr/>
            <p:nvPr/>
          </p:nvSpPr>
          <p:spPr>
            <a:xfrm>
              <a:off x="4572000" y="32766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真因は「作り直し」の構造</a:t>
              </a:r>
            </a:p>
          </p:txBody>
        </p:sp>
        <p:sp>
          <p:nvSpPr>
            <p:cNvPr id="25" name="本文"/>
            <p:cNvSpPr/>
            <p:nvPr/>
          </p:nvSpPr>
          <p:spPr>
            <a:xfrm>
              <a:off x="4572000" y="3562350"/>
              <a:ext cx="3048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増えた時間の78%は転記と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確認往復。仕事量ではなく、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業務の構造が時間を奪っている。</a:t>
              </a:r>
            </a:p>
          </p:txBody>
        </p:sp>
        <p:sp>
          <p:nvSpPr>
            <p:cNvPr id="26" name="参照頁"/>
            <p:cNvSpPr/>
            <p:nvPr/>
          </p:nvSpPr>
          <p:spPr>
            <a:xfrm>
              <a:off x="4572000" y="4305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詳細 P.05–06</a:t>
              </a:r>
            </a:p>
          </p:txBody>
        </p:sp>
      </p:grpSp>
      <p:grpSp>
        <p:nvGrpSpPr>
          <p:cNvPr id="27" name="理由カード03"/>
          <p:cNvGrpSpPr/>
          <p:nvPr/>
        </p:nvGrpSpPr>
        <p:grpSpPr>
          <a:xfrm>
            <a:off x="8077200" y="2743200"/>
            <a:ext cx="3505200" cy="1866900"/>
            <a:chOff x="8077200" y="2743200"/>
            <a:chExt cx="3505200" cy="1866900"/>
          </a:xfrm>
        </p:grpSpPr>
        <p:sp>
          <p:nvSpPr>
            <p:cNvPr id="28" name="カード"/>
            <p:cNvSpPr/>
            <p:nvPr/>
          </p:nvSpPr>
          <p:spPr>
            <a:xfrm>
              <a:off x="8077200" y="2743200"/>
              <a:ext cx="3505200" cy="1866900"/>
            </a:xfrm>
            <a:prstGeom prst="roundRect">
              <a:avLst>
                <a:gd name="adj" fmla="val 4081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番号"/>
            <p:cNvSpPr/>
            <p:nvPr/>
          </p:nvSpPr>
          <p:spPr>
            <a:xfrm>
              <a:off x="8305800" y="29146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30" name="見出し"/>
            <p:cNvSpPr/>
            <p:nvPr/>
          </p:nvSpPr>
          <p:spPr>
            <a:xfrm>
              <a:off x="8305800" y="32766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AIが最小の投資で解ける</a:t>
              </a:r>
            </a:p>
          </p:txBody>
        </p:sp>
        <p:sp>
          <p:nvSpPr>
            <p:cNvPr id="31" name="本文"/>
            <p:cNvSpPr/>
            <p:nvPr/>
          </p:nvSpPr>
          <p:spPr>
            <a:xfrm>
              <a:off x="8305800" y="3562350"/>
              <a:ext cx="3048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増員・外注との3案比較でAIが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費用対効果で最良。投資は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7ヶ月で回収できる試算である。</a:t>
              </a:r>
            </a:p>
          </p:txBody>
        </p:sp>
        <p:sp>
          <p:nvSpPr>
            <p:cNvPr id="32" name="参照頁"/>
            <p:cNvSpPr/>
            <p:nvPr/>
          </p:nvSpPr>
          <p:spPr>
            <a:xfrm>
              <a:off x="8305800" y="4305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詳細 P.07・11</a:t>
              </a:r>
            </a:p>
          </p:txBody>
        </p:sp>
      </p:grpSp>
      <p:grpSp>
        <p:nvGrpSpPr>
          <p:cNvPr id="33" name="お願い事項"/>
          <p:cNvGrpSpPr/>
          <p:nvPr/>
        </p:nvGrpSpPr>
        <p:grpSpPr>
          <a:xfrm>
            <a:off x="609600" y="4838700"/>
            <a:ext cx="10972800" cy="990600"/>
            <a:chOff x="609600" y="4838700"/>
            <a:chExt cx="10972800" cy="990600"/>
          </a:xfrm>
        </p:grpSpPr>
        <p:sp>
          <p:nvSpPr>
            <p:cNvPr id="34" name="パネル"/>
            <p:cNvSpPr/>
            <p:nvPr/>
          </p:nvSpPr>
          <p:spPr>
            <a:xfrm>
              <a:off x="609600" y="4838700"/>
              <a:ext cx="10972800" cy="990600"/>
            </a:xfrm>
            <a:prstGeom prst="roundRect">
              <a:avLst>
                <a:gd name="adj" fmla="val 961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お願いチップ"/>
            <p:cNvSpPr/>
            <p:nvPr/>
          </p:nvSpPr>
          <p:spPr>
            <a:xfrm>
              <a:off x="876300" y="50292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76300" y="5038725"/>
              <a:ext cx="723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お願い</a:t>
              </a:r>
            </a:p>
          </p:txBody>
        </p:sp>
        <p:sp>
          <p:nvSpPr>
            <p:cNvPr id="37" name="依頼文"/>
            <p:cNvSpPr/>
            <p:nvPr/>
          </p:nvSpPr>
          <p:spPr>
            <a:xfrm>
              <a:off x="1790700" y="4991100"/>
              <a:ext cx="7620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無償トライアル対象部署（1部署）のご選定と、キックオフ30分のお時間をいただきたい</a:t>
              </a:r>
            </a:p>
          </p:txBody>
        </p:sp>
        <p:sp>
          <p:nvSpPr>
            <p:cNvPr id="38" name="補足"/>
            <p:cNvSpPr/>
            <p:nvPr/>
          </p:nvSpPr>
          <p:spPr>
            <a:xfrm>
              <a:off x="1790700" y="5295900"/>
              <a:ext cx="762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導入のご判断は、トライアルの実測結果をご覧いただいてからで構いません（P.14）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838200"/>
            <a:chOff x="609600" y="285750"/>
            <a:chExt cx="10972800" cy="8382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本日の流れ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現状の確認から次の一歩の決定まで、5章でご説明する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8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</a:t>
              </a:r>
            </a:p>
          </p:txBody>
        </p:sp>
        <p:sp>
          <p:nvSpPr>
            <p:cNvPr id="9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03</a:t>
              </a:r>
            </a:p>
          </p:txBody>
        </p:sp>
      </p:grpSp>
      <p:grpSp>
        <p:nvGrpSpPr>
          <p:cNvPr id="10" name="章01"/>
          <p:cNvGrpSpPr/>
          <p:nvPr/>
        </p:nvGrpSpPr>
        <p:grpSpPr>
          <a:xfrm>
            <a:off x="609600" y="1657350"/>
            <a:ext cx="6819900" cy="628650"/>
            <a:chOff x="609600" y="1657350"/>
            <a:chExt cx="6819900" cy="628650"/>
          </a:xfrm>
        </p:grpSpPr>
        <p:sp>
          <p:nvSpPr>
            <p:cNvPr id="11" name="番号01"/>
            <p:cNvSpPr/>
            <p:nvPr/>
          </p:nvSpPr>
          <p:spPr>
            <a:xfrm>
              <a:off x="609600" y="1676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9600" y="1685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01</a:t>
              </a:r>
            </a:p>
          </p:txBody>
        </p:sp>
        <p:sp>
          <p:nvSpPr>
            <p:cNvPr id="13" name="章タイトル"/>
            <p:cNvSpPr/>
            <p:nvPr/>
          </p:nvSpPr>
          <p:spPr>
            <a:xfrm>
              <a:off x="1238250" y="1657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現状と課題</a:t>
              </a:r>
            </a:p>
          </p:txBody>
        </p:sp>
        <p:sp>
          <p:nvSpPr>
            <p:cNvPr id="14" name="章の説明"/>
            <p:cNvSpPr/>
            <p:nvPr/>
          </p:nvSpPr>
          <p:spPr>
            <a:xfrm>
              <a:off x="1238250" y="1924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データで現状を確認し、真因と放置リスクを特定する</a:t>
              </a:r>
            </a:p>
          </p:txBody>
        </p:sp>
        <p:sp>
          <p:nvSpPr>
            <p:cNvPr id="15" name="ページ"/>
            <p:cNvSpPr/>
            <p:nvPr/>
          </p:nvSpPr>
          <p:spPr>
            <a:xfrm>
              <a:off x="6286500" y="1695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P.04–06</a:t>
              </a:r>
            </a:p>
          </p:txBody>
        </p:sp>
        <p:cxnSp>
          <p:nvCxnSpPr>
            <p:cNvPr id="16" name="区切り線"/>
            <p:cNvCxnSpPr/>
            <p:nvPr/>
          </p:nvCxnSpPr>
          <p:spPr>
            <a:xfrm>
              <a:off x="609600" y="2286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章02"/>
          <p:cNvGrpSpPr/>
          <p:nvPr/>
        </p:nvGrpSpPr>
        <p:grpSpPr>
          <a:xfrm>
            <a:off x="609600" y="2419350"/>
            <a:ext cx="6819900" cy="628650"/>
            <a:chOff x="609600" y="2419350"/>
            <a:chExt cx="6819900" cy="628650"/>
          </a:xfrm>
        </p:grpSpPr>
        <p:sp>
          <p:nvSpPr>
            <p:cNvPr id="18" name="番号02"/>
            <p:cNvSpPr/>
            <p:nvPr/>
          </p:nvSpPr>
          <p:spPr>
            <a:xfrm>
              <a:off x="609600" y="2438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09600" y="2447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02</a:t>
              </a:r>
            </a:p>
          </p:txBody>
        </p:sp>
        <p:sp>
          <p:nvSpPr>
            <p:cNvPr id="20" name="章タイトル"/>
            <p:cNvSpPr/>
            <p:nvPr/>
          </p:nvSpPr>
          <p:spPr>
            <a:xfrm>
              <a:off x="1238250" y="2419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解決の方向性</a:t>
              </a:r>
            </a:p>
          </p:txBody>
        </p:sp>
        <p:sp>
          <p:nvSpPr>
            <p:cNvPr id="21" name="章の説明"/>
            <p:cNvSpPr/>
            <p:nvPr/>
          </p:nvSpPr>
          <p:spPr>
            <a:xfrm>
              <a:off x="1238250" y="2686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打ち手3案の比較と、ご提案の全体像</a:t>
              </a:r>
            </a:p>
          </p:txBody>
        </p:sp>
        <p:sp>
          <p:nvSpPr>
            <p:cNvPr id="22" name="ページ"/>
            <p:cNvSpPr/>
            <p:nvPr/>
          </p:nvSpPr>
          <p:spPr>
            <a:xfrm>
              <a:off x="6286500" y="2457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P.07–08</a:t>
              </a:r>
            </a:p>
          </p:txBody>
        </p:sp>
        <p:cxnSp>
          <p:nvCxnSpPr>
            <p:cNvPr id="23" name="区切り線"/>
            <p:cNvCxnSpPr/>
            <p:nvPr/>
          </p:nvCxnSpPr>
          <p:spPr>
            <a:xfrm>
              <a:off x="609600" y="3048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章03"/>
          <p:cNvGrpSpPr/>
          <p:nvPr/>
        </p:nvGrpSpPr>
        <p:grpSpPr>
          <a:xfrm>
            <a:off x="609600" y="3181350"/>
            <a:ext cx="6819900" cy="628650"/>
            <a:chOff x="609600" y="3181350"/>
            <a:chExt cx="6819900" cy="628650"/>
          </a:xfrm>
        </p:grpSpPr>
        <p:sp>
          <p:nvSpPr>
            <p:cNvPr id="25" name="番号03"/>
            <p:cNvSpPr/>
            <p:nvPr/>
          </p:nvSpPr>
          <p:spPr>
            <a:xfrm>
              <a:off x="609600" y="3200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9600" y="3209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03</a:t>
              </a:r>
            </a:p>
          </p:txBody>
        </p:sp>
        <p:sp>
          <p:nvSpPr>
            <p:cNvPr id="27" name="章タイトル"/>
            <p:cNvSpPr/>
            <p:nvPr/>
          </p:nvSpPr>
          <p:spPr>
            <a:xfrm>
              <a:off x="1238250" y="3181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施策の詳細</a:t>
              </a:r>
            </a:p>
          </p:txBody>
        </p:sp>
        <p:sp>
          <p:nvSpPr>
            <p:cNvPr id="28" name="章の説明"/>
            <p:cNvSpPr/>
            <p:nvPr/>
          </p:nvSpPr>
          <p:spPr>
            <a:xfrm>
              <a:off x="1238250" y="3448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見積業務のBefore/Afterと、運用の仕組み</a:t>
              </a:r>
            </a:p>
          </p:txBody>
        </p:sp>
        <p:sp>
          <p:nvSpPr>
            <p:cNvPr id="29" name="ページ"/>
            <p:cNvSpPr/>
            <p:nvPr/>
          </p:nvSpPr>
          <p:spPr>
            <a:xfrm>
              <a:off x="6286500" y="3219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P.09–10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609600" y="3810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章04"/>
          <p:cNvGrpSpPr/>
          <p:nvPr/>
        </p:nvGrpSpPr>
        <p:grpSpPr>
          <a:xfrm>
            <a:off x="609600" y="3943350"/>
            <a:ext cx="6819900" cy="628650"/>
            <a:chOff x="609600" y="3943350"/>
            <a:chExt cx="6819900" cy="628650"/>
          </a:xfrm>
        </p:grpSpPr>
        <p:sp>
          <p:nvSpPr>
            <p:cNvPr id="32" name="番号04"/>
            <p:cNvSpPr/>
            <p:nvPr/>
          </p:nvSpPr>
          <p:spPr>
            <a:xfrm>
              <a:off x="609600" y="3962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09600" y="3971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04</a:t>
              </a:r>
            </a:p>
          </p:txBody>
        </p:sp>
        <p:sp>
          <p:nvSpPr>
            <p:cNvPr id="34" name="章タイトル"/>
            <p:cNvSpPr/>
            <p:nvPr/>
          </p:nvSpPr>
          <p:spPr>
            <a:xfrm>
              <a:off x="1238250" y="3943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効果と計画</a:t>
              </a:r>
            </a:p>
          </p:txBody>
        </p:sp>
        <p:sp>
          <p:nvSpPr>
            <p:cNvPr id="35" name="章の説明"/>
            <p:cNvSpPr/>
            <p:nvPr/>
          </p:nvSpPr>
          <p:spPr>
            <a:xfrm>
              <a:off x="1238250" y="4210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KPI・投資回収・スケジュール・推進体制</a:t>
              </a:r>
            </a:p>
          </p:txBody>
        </p:sp>
        <p:sp>
          <p:nvSpPr>
            <p:cNvPr id="36" name="ページ"/>
            <p:cNvSpPr/>
            <p:nvPr/>
          </p:nvSpPr>
          <p:spPr>
            <a:xfrm>
              <a:off x="6286500" y="3981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P.11–13</a:t>
              </a:r>
            </a:p>
          </p:txBody>
        </p:sp>
        <p:cxnSp>
          <p:nvCxnSpPr>
            <p:cNvPr id="37" name="区切り線"/>
            <p:cNvCxnSpPr/>
            <p:nvPr/>
          </p:nvCxnSpPr>
          <p:spPr>
            <a:xfrm>
              <a:off x="609600" y="4572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章05"/>
          <p:cNvGrpSpPr/>
          <p:nvPr/>
        </p:nvGrpSpPr>
        <p:grpSpPr>
          <a:xfrm>
            <a:off x="609600" y="4705350"/>
            <a:ext cx="6819900" cy="438150"/>
            <a:chOff x="609600" y="4705350"/>
            <a:chExt cx="6819900" cy="438150"/>
          </a:xfrm>
        </p:grpSpPr>
        <p:sp>
          <p:nvSpPr>
            <p:cNvPr id="39" name="番号05"/>
            <p:cNvSpPr/>
            <p:nvPr/>
          </p:nvSpPr>
          <p:spPr>
            <a:xfrm>
              <a:off x="609600" y="4724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09600" y="4733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05</a:t>
              </a:r>
            </a:p>
          </p:txBody>
        </p:sp>
        <p:sp>
          <p:nvSpPr>
            <p:cNvPr id="41" name="章タイトル"/>
            <p:cNvSpPr/>
            <p:nvPr/>
          </p:nvSpPr>
          <p:spPr>
            <a:xfrm>
              <a:off x="1238250" y="4705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費用と次のステップ</a:t>
              </a:r>
            </a:p>
          </p:txBody>
        </p:sp>
        <p:sp>
          <p:nvSpPr>
            <p:cNvPr id="42" name="章の説明"/>
            <p:cNvSpPr/>
            <p:nvPr/>
          </p:nvSpPr>
          <p:spPr>
            <a:xfrm>
              <a:off x="1238250" y="4972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投資額と、まず始めていただきたい一歩</a:t>
              </a:r>
            </a:p>
          </p:txBody>
        </p:sp>
        <p:sp>
          <p:nvSpPr>
            <p:cNvPr id="43" name="ページ"/>
            <p:cNvSpPr/>
            <p:nvPr/>
          </p:nvSpPr>
          <p:spPr>
            <a:xfrm>
              <a:off x="6286500" y="4743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P.14</a:t>
              </a:r>
            </a:p>
          </p:txBody>
        </p:sp>
      </p:grpSp>
      <p:grpSp>
        <p:nvGrpSpPr>
          <p:cNvPr id="44" name="本日のゴール"/>
          <p:cNvGrpSpPr/>
          <p:nvPr/>
        </p:nvGrpSpPr>
        <p:grpSpPr>
          <a:xfrm>
            <a:off x="8077200" y="1676400"/>
            <a:ext cx="3505200" cy="3143250"/>
            <a:chOff x="8077200" y="1676400"/>
            <a:chExt cx="3505200" cy="3143250"/>
          </a:xfrm>
        </p:grpSpPr>
        <p:sp>
          <p:nvSpPr>
            <p:cNvPr id="45" name="パネル"/>
            <p:cNvSpPr/>
            <p:nvPr/>
          </p:nvSpPr>
          <p:spPr>
            <a:xfrm>
              <a:off x="8077200" y="1676400"/>
              <a:ext cx="3505200" cy="3143250"/>
            </a:xfrm>
            <a:prstGeom prst="roundRect">
              <a:avLst>
                <a:gd name="adj" fmla="val 303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見出し"/>
            <p:cNvSpPr/>
            <p:nvPr/>
          </p:nvSpPr>
          <p:spPr>
            <a:xfrm>
              <a:off x="8362950" y="19240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本日のゴール</a:t>
              </a:r>
            </a:p>
          </p:txBody>
        </p:sp>
        <p:cxnSp>
          <p:nvCxnSpPr>
            <p:cNvPr id="47" name="下線"/>
            <p:cNvCxnSpPr/>
            <p:nvPr/>
          </p:nvCxnSpPr>
          <p:spPr>
            <a:xfrm>
              <a:off x="83629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番号1"/>
            <p:cNvSpPr/>
            <p:nvPr/>
          </p:nvSpPr>
          <p:spPr>
            <a:xfrm>
              <a:off x="8362950" y="240030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62950" y="240982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0" name="ゴール1"/>
            <p:cNvSpPr/>
            <p:nvPr/>
          </p:nvSpPr>
          <p:spPr>
            <a:xfrm>
              <a:off x="8743950" y="2428875"/>
              <a:ext cx="2552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現状と課題認識のすり合わせ</a:t>
              </a:r>
            </a:p>
          </p:txBody>
        </p:sp>
        <p:sp>
          <p:nvSpPr>
            <p:cNvPr id="51" name="番号2"/>
            <p:cNvSpPr/>
            <p:nvPr/>
          </p:nvSpPr>
          <p:spPr>
            <a:xfrm>
              <a:off x="8362950" y="293370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362950" y="294322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3" name="ゴール2"/>
            <p:cNvSpPr/>
            <p:nvPr/>
          </p:nvSpPr>
          <p:spPr>
            <a:xfrm>
              <a:off x="8743950" y="2962275"/>
              <a:ext cx="2552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打ち手の方向性の合意</a:t>
              </a:r>
            </a:p>
          </p:txBody>
        </p:sp>
        <p:sp>
          <p:nvSpPr>
            <p:cNvPr id="54" name="番号3"/>
            <p:cNvSpPr/>
            <p:nvPr/>
          </p:nvSpPr>
          <p:spPr>
            <a:xfrm>
              <a:off x="8362950" y="346710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62950" y="347662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56" name="ゴール3"/>
            <p:cNvSpPr/>
            <p:nvPr/>
          </p:nvSpPr>
          <p:spPr>
            <a:xfrm>
              <a:off x="8743950" y="3495675"/>
              <a:ext cx="2552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トライアル対象部署の決定</a:t>
              </a:r>
            </a:p>
          </p:txBody>
        </p:sp>
        <p:cxnSp>
          <p:nvCxnSpPr>
            <p:cNvPr id="57" name="区切り線"/>
            <p:cNvCxnSpPr/>
            <p:nvPr/>
          </p:nvCxnSpPr>
          <p:spPr>
            <a:xfrm>
              <a:off x="8362950" y="40957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所要時間"/>
            <p:cNvSpPr/>
            <p:nvPr/>
          </p:nvSpPr>
          <p:spPr>
            <a:xfrm>
              <a:off x="8362950" y="42672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所要時間：45分（質疑15分を含む）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01｜現状と課題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営業1人の書類時間は週13.1時間と、3年で1.6倍に増えた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営業1人あたりの書類作成時間の推移（時間/週）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出所：営業部門タイムスタディ 20XX年◯月（数値はサンプル）　　注：対象は営業60名の週あたり平均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04</a:t>
              </a:r>
            </a:p>
          </p:txBody>
        </p:sp>
      </p:grpSp>
      <p:grpSp>
        <p:nvGrpSpPr>
          <p:cNvPr id="11" name="書類時間グラフ"/>
          <p:cNvGrpSpPr/>
          <p:nvPr/>
        </p:nvGrpSpPr>
        <p:grpSpPr>
          <a:xfrm>
            <a:off x="762000" y="2057400"/>
            <a:ext cx="6324600" cy="3505200"/>
            <a:chOff x="762000" y="2057400"/>
            <a:chExt cx="6324600" cy="3505200"/>
          </a:xfrm>
        </p:grpSpPr>
        <p:cxnSp>
          <p:nvCxnSpPr>
            <p:cNvPr id="12" name="基準線"/>
            <p:cNvCxnSpPr/>
            <p:nvPr/>
          </p:nvCxnSpPr>
          <p:spPr>
            <a:xfrm>
              <a:off x="762000" y="5334000"/>
              <a:ext cx="6324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20X3年水準線"/>
            <p:cNvCxnSpPr/>
            <p:nvPr/>
          </p:nvCxnSpPr>
          <p:spPr>
            <a:xfrm>
              <a:off x="762000" y="3426091"/>
              <a:ext cx="63246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棒20X3"/>
            <p:cNvSpPr/>
            <p:nvPr/>
          </p:nvSpPr>
          <p:spPr>
            <a:xfrm>
              <a:off x="914400" y="3426091"/>
              <a:ext cx="914400" cy="1907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値20X3"/>
            <p:cNvSpPr/>
            <p:nvPr/>
          </p:nvSpPr>
          <p:spPr>
            <a:xfrm>
              <a:off x="762000" y="319749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8.2</a:t>
              </a:r>
            </a:p>
          </p:txBody>
        </p:sp>
        <p:sp>
          <p:nvSpPr>
            <p:cNvPr id="16" name="年20X3"/>
            <p:cNvSpPr/>
            <p:nvPr/>
          </p:nvSpPr>
          <p:spPr>
            <a:xfrm>
              <a:off x="762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20X3</a:t>
              </a:r>
            </a:p>
          </p:txBody>
        </p:sp>
        <p:sp>
          <p:nvSpPr>
            <p:cNvPr id="17" name="棒20X4"/>
            <p:cNvSpPr/>
            <p:nvPr/>
          </p:nvSpPr>
          <p:spPr>
            <a:xfrm>
              <a:off x="2438400" y="3100351"/>
              <a:ext cx="914400" cy="22336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値20X4"/>
            <p:cNvSpPr/>
            <p:nvPr/>
          </p:nvSpPr>
          <p:spPr>
            <a:xfrm>
              <a:off x="2286000" y="287175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9.6</a:t>
              </a:r>
            </a:p>
          </p:txBody>
        </p:sp>
        <p:sp>
          <p:nvSpPr>
            <p:cNvPr id="19" name="年20X4"/>
            <p:cNvSpPr/>
            <p:nvPr/>
          </p:nvSpPr>
          <p:spPr>
            <a:xfrm>
              <a:off x="2286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20X4</a:t>
              </a:r>
            </a:p>
          </p:txBody>
        </p:sp>
        <p:sp>
          <p:nvSpPr>
            <p:cNvPr id="20" name="棒20X5"/>
            <p:cNvSpPr/>
            <p:nvPr/>
          </p:nvSpPr>
          <p:spPr>
            <a:xfrm>
              <a:off x="3962400" y="2681541"/>
              <a:ext cx="914400" cy="26524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20X5"/>
            <p:cNvSpPr/>
            <p:nvPr/>
          </p:nvSpPr>
          <p:spPr>
            <a:xfrm>
              <a:off x="3810000" y="245294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11.4</a:t>
              </a:r>
            </a:p>
          </p:txBody>
        </p:sp>
        <p:sp>
          <p:nvSpPr>
            <p:cNvPr id="22" name="年20X5"/>
            <p:cNvSpPr/>
            <p:nvPr/>
          </p:nvSpPr>
          <p:spPr>
            <a:xfrm>
              <a:off x="3810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20X5</a:t>
              </a:r>
            </a:p>
          </p:txBody>
        </p:sp>
        <p:sp>
          <p:nvSpPr>
            <p:cNvPr id="23" name="棒20X6"/>
            <p:cNvSpPr/>
            <p:nvPr/>
          </p:nvSpPr>
          <p:spPr>
            <a:xfrm>
              <a:off x="5486400" y="2286000"/>
              <a:ext cx="914400" cy="304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値20X6"/>
            <p:cNvSpPr/>
            <p:nvPr/>
          </p:nvSpPr>
          <p:spPr>
            <a:xfrm>
              <a:off x="5334000" y="2057400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1"/>
                  </a:solidFill>
                </a:rPr>
                <a:t>13.1</a:t>
              </a:r>
            </a:p>
          </p:txBody>
        </p:sp>
        <p:sp>
          <p:nvSpPr>
            <p:cNvPr id="25" name="年20X6"/>
            <p:cNvSpPr/>
            <p:nvPr/>
          </p:nvSpPr>
          <p:spPr>
            <a:xfrm>
              <a:off x="5334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20X6</a:t>
              </a:r>
            </a:p>
          </p:txBody>
        </p:sp>
        <p:sp>
          <p:nvSpPr>
            <p:cNvPr id="26" name="水準ラベル"/>
            <p:cNvSpPr/>
            <p:nvPr/>
          </p:nvSpPr>
          <p:spPr>
            <a:xfrm>
              <a:off x="6438900" y="3102241"/>
              <a:ext cx="647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850">
                  <a:solidFill>
                    <a:schemeClr val="accent5"/>
                  </a:solidFill>
                </a:rPr>
                <a:t>20X3年の</a:t>
              </a:r>
            </a:p>
            <a:p>
              <a:pPr algn="ctr">
                <a:lnSpc>
                  <a:spcPct val="125000"/>
                </a:lnSpc>
              </a:pPr>
              <a:r>
                <a:rPr sz="850">
                  <a:solidFill>
                    <a:schemeClr val="accent5"/>
                  </a:solidFill>
                </a:rPr>
                <a:t>水準</a:t>
              </a:r>
            </a:p>
          </p:txBody>
        </p:sp>
      </p:grpSp>
      <p:grpSp>
        <p:nvGrpSpPr>
          <p:cNvPr id="27" name="グラフ注記"/>
          <p:cNvGrpSpPr/>
          <p:nvPr/>
        </p:nvGrpSpPr>
        <p:grpSpPr>
          <a:xfrm>
            <a:off x="5372100" y="1638300"/>
            <a:ext cx="1219200" cy="457200"/>
            <a:chOff x="5372100" y="1638300"/>
            <a:chExt cx="1219200" cy="457200"/>
          </a:xfrm>
        </p:grpSpPr>
        <p:sp>
          <p:nvSpPr>
            <p:cNvPr id="28" name="吹き出し_倍率"/>
            <p:cNvSpPr/>
            <p:nvPr/>
          </p:nvSpPr>
          <p:spPr>
            <a:xfrm>
              <a:off x="5372100" y="1638300"/>
              <a:ext cx="1219200" cy="457200"/>
            </a:xfrm>
            <a:custGeom>
              <a:avLst/>
              <a:gdLst/>
              <a:ahLst/>
              <a:cxnLst/>
              <a:rect l="0" t="0" r="1219200" b="361950"/>
              <a:pathLst>
                <a:path w="1219200" h="457200">
                  <a:moveTo>
                    <a:pt x="57150" y="0"/>
                  </a:moveTo>
                  <a:lnTo>
                    <a:pt x="1162050" y="0"/>
                  </a:lnTo>
                  <a:arcTo wR="57150" hR="57150" stAng="16200000" swAng="5400000"/>
                  <a:lnTo>
                    <a:pt x="1219200" y="304800"/>
                  </a:lnTo>
                  <a:arcTo wR="57150" hR="57150" stAng="0" swAng="5400000"/>
                  <a:lnTo>
                    <a:pt x="676275" y="361950"/>
                  </a:lnTo>
                  <a:lnTo>
                    <a:pt x="609600" y="457200"/>
                  </a:lnTo>
                  <a:lnTo>
                    <a:pt x="542925" y="361950"/>
                  </a:lnTo>
                  <a:lnTo>
                    <a:pt x="57150" y="36195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505450" y="1638300"/>
              <a:ext cx="9525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3年で ×1.6</a:t>
              </a:r>
            </a:p>
          </p:txBody>
        </p:sp>
      </p:grpSp>
      <p:grpSp>
        <p:nvGrpSpPr>
          <p:cNvPr id="30" name="示唆パネル"/>
          <p:cNvGrpSpPr/>
          <p:nvPr/>
        </p:nvGrpSpPr>
        <p:grpSpPr>
          <a:xfrm>
            <a:off x="7734300" y="1676400"/>
            <a:ext cx="3848100" cy="3067050"/>
            <a:chOff x="7734300" y="1676400"/>
            <a:chExt cx="3848100" cy="3067050"/>
          </a:xfrm>
        </p:grpSpPr>
        <p:sp>
          <p:nvSpPr>
            <p:cNvPr id="31" name="パネル"/>
            <p:cNvSpPr/>
            <p:nvPr/>
          </p:nvSpPr>
          <p:spPr>
            <a:xfrm>
              <a:off x="7734300" y="1676400"/>
              <a:ext cx="3848100" cy="3067050"/>
            </a:xfrm>
            <a:prstGeom prst="roundRect">
              <a:avLst>
                <a:gd name="adj" fmla="val 310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ラベル"/>
            <p:cNvSpPr/>
            <p:nvPr/>
          </p:nvSpPr>
          <p:spPr>
            <a:xfrm>
              <a:off x="8020050" y="19240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POINT</a:t>
              </a:r>
            </a:p>
          </p:txBody>
        </p:sp>
        <p:sp>
          <p:nvSpPr>
            <p:cNvPr id="33" name="示唆本文"/>
            <p:cNvSpPr/>
            <p:nvPr/>
          </p:nvSpPr>
          <p:spPr>
            <a:xfrm>
              <a:off x="8020050" y="2209800"/>
              <a:ext cx="3276600" cy="1809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書類の「件数」は3年でほぼ横ばい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（+3%）。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増えているのは、1件を仕上げる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までにかかる時間である。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人を足しても、この構造が変わら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ない限り時間は増え続ける。</a:t>
              </a:r>
            </a:p>
          </p:txBody>
        </p:sp>
        <p:cxnSp>
          <p:nvCxnSpPr>
            <p:cNvPr id="34" name="区切り線"/>
            <p:cNvCxnSpPr/>
            <p:nvPr/>
          </p:nvCxnSpPr>
          <p:spPr>
            <a:xfrm>
              <a:off x="8020050" y="4171950"/>
              <a:ext cx="3276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次頁予告"/>
            <p:cNvSpPr/>
            <p:nvPr/>
          </p:nvSpPr>
          <p:spPr>
            <a:xfrm>
              <a:off x="8020050" y="4305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次頁：時間が何に消えているかを分解する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01｜現状と課題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増えたのは仕事量ではなく、転記と確認往復のムダである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書類作成時間の増加要因の分解（3年間の増分＝週+4.9時間）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出所：営業部門タイムスタディ 20XX年◯月（数値はサンプル）　　注：構成比は増分（週+4.9時間）に対する割合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ロジックツリー"/>
          <p:cNvGrpSpPr/>
          <p:nvPr/>
        </p:nvGrpSpPr>
        <p:grpSpPr>
          <a:xfrm>
            <a:off x="609600" y="1676400"/>
            <a:ext cx="8267700" cy="3600450"/>
            <a:chOff x="609600" y="1676400"/>
            <a:chExt cx="8267700" cy="3600450"/>
          </a:xfrm>
        </p:grpSpPr>
        <p:sp>
          <p:nvSpPr>
            <p:cNvPr id="12" name="親_書類時間の増加"/>
            <p:cNvSpPr/>
            <p:nvPr/>
          </p:nvSpPr>
          <p:spPr>
            <a:xfrm>
              <a:off x="609600" y="2857500"/>
              <a:ext cx="1905000" cy="800100"/>
            </a:xfrm>
            <a:prstGeom prst="roundRect">
              <a:avLst>
                <a:gd name="adj" fmla="val 9523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3028950"/>
              <a:ext cx="1905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書類時間の増加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9600" y="3295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3年で 週+4.9時間</a:t>
              </a:r>
            </a:p>
          </p:txBody>
        </p:sp>
        <p:cxnSp>
          <p:nvCxnSpPr>
            <p:cNvPr id="15" name="幹"/>
            <p:cNvCxnSpPr/>
            <p:nvPr/>
          </p:nvCxnSpPr>
          <p:spPr>
            <a:xfrm>
              <a:off x="2514600" y="3257550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背骨1"/>
            <p:cNvCxnSpPr/>
            <p:nvPr/>
          </p:nvCxnSpPr>
          <p:spPr>
            <a:xfrm>
              <a:off x="2857500" y="1962150"/>
              <a:ext cx="0" cy="22288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枝_件数"/>
            <p:cNvCxnSpPr/>
            <p:nvPr/>
          </p:nvCxnSpPr>
          <p:spPr>
            <a:xfrm>
              <a:off x="2857500" y="196215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枝_単価"/>
            <p:cNvCxnSpPr/>
            <p:nvPr/>
          </p:nvCxnSpPr>
          <p:spPr>
            <a:xfrm>
              <a:off x="2857500" y="41910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子_件数の増加"/>
            <p:cNvSpPr/>
            <p:nvPr/>
          </p:nvSpPr>
          <p:spPr>
            <a:xfrm>
              <a:off x="3143250" y="1676400"/>
              <a:ext cx="209550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43250" y="177165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件数の増加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43250" y="19812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+3%（ほぼ横ばい）</a:t>
              </a:r>
            </a:p>
          </p:txBody>
        </p:sp>
        <p:sp>
          <p:nvSpPr>
            <p:cNvPr id="22" name="子_1件あたり時間"/>
            <p:cNvSpPr/>
            <p:nvPr/>
          </p:nvSpPr>
          <p:spPr>
            <a:xfrm>
              <a:off x="3143250" y="3848100"/>
              <a:ext cx="2095500" cy="6858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43250" y="3981450"/>
              <a:ext cx="2095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1件あたり時間の増加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143250" y="42291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増分の92%を占める</a:t>
              </a:r>
            </a:p>
          </p:txBody>
        </p:sp>
        <p:cxnSp>
          <p:nvCxnSpPr>
            <p:cNvPr id="25" name="幹2"/>
            <p:cNvCxnSpPr/>
            <p:nvPr/>
          </p:nvCxnSpPr>
          <p:spPr>
            <a:xfrm>
              <a:off x="5238750" y="4191000"/>
              <a:ext cx="4762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背骨2"/>
            <p:cNvCxnSpPr/>
            <p:nvPr/>
          </p:nvCxnSpPr>
          <p:spPr>
            <a:xfrm>
              <a:off x="5715000" y="3295650"/>
              <a:ext cx="0" cy="16383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枝1"/>
            <p:cNvCxnSpPr/>
            <p:nvPr/>
          </p:nvCxnSpPr>
          <p:spPr>
            <a:xfrm>
              <a:off x="5715000" y="3295650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要因_転記・体裁の手直し"/>
            <p:cNvSpPr/>
            <p:nvPr/>
          </p:nvSpPr>
          <p:spPr>
            <a:xfrm>
              <a:off x="6096000" y="2952750"/>
              <a:ext cx="2781300" cy="685800"/>
            </a:xfrm>
            <a:prstGeom prst="roundRect">
              <a:avLst>
                <a:gd name="adj" fmla="val 11111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48400" y="304800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転記・体裁の手直し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48400" y="32575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システム間の再入力｜週+2.1時間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077200" y="302895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accent1"/>
                  </a:solidFill>
                </a:rPr>
                <a:t>47%</a:t>
              </a:r>
            </a:p>
          </p:txBody>
        </p:sp>
        <p:sp>
          <p:nvSpPr>
            <p:cNvPr id="32" name="構成比バー1"/>
            <p:cNvSpPr/>
            <p:nvPr/>
          </p:nvSpPr>
          <p:spPr>
            <a:xfrm>
              <a:off x="6248400" y="3486150"/>
              <a:ext cx="19050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枝2"/>
            <p:cNvCxnSpPr/>
            <p:nvPr/>
          </p:nvCxnSpPr>
          <p:spPr>
            <a:xfrm>
              <a:off x="5715000" y="4114800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要因_確認の往復"/>
            <p:cNvSpPr/>
            <p:nvPr/>
          </p:nvSpPr>
          <p:spPr>
            <a:xfrm>
              <a:off x="6096000" y="3771900"/>
              <a:ext cx="2781300" cy="685800"/>
            </a:xfrm>
            <a:prstGeom prst="roundRect">
              <a:avLst>
                <a:gd name="adj" fmla="val 11111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48400" y="386715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確認の往復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48400" y="40767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差し戻し 平均3.4回/件｜週+1.4時間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077200" y="384810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accent1"/>
                  </a:solidFill>
                </a:rPr>
                <a:t>31%</a:t>
              </a:r>
            </a:p>
          </p:txBody>
        </p:sp>
        <p:sp>
          <p:nvSpPr>
            <p:cNvPr id="38" name="構成比バー2"/>
            <p:cNvSpPr/>
            <p:nvPr/>
          </p:nvSpPr>
          <p:spPr>
            <a:xfrm>
              <a:off x="6248400" y="4305300"/>
              <a:ext cx="1256489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枝3"/>
            <p:cNvCxnSpPr/>
            <p:nvPr/>
          </p:nvCxnSpPr>
          <p:spPr>
            <a:xfrm>
              <a:off x="5715000" y="4933950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要因_純粋な新規作成"/>
            <p:cNvSpPr/>
            <p:nvPr/>
          </p:nvSpPr>
          <p:spPr>
            <a:xfrm>
              <a:off x="6096000" y="4591050"/>
              <a:ext cx="2781300" cy="685800"/>
            </a:xfrm>
            <a:prstGeom prst="roundRect">
              <a:avLst>
                <a:gd name="adj" fmla="val 11111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48400" y="468630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純粋な新規作成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48400" y="48958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本来の作成作業｜週+1.0時間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077200" y="466725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accent5"/>
                  </a:solidFill>
                </a:rPr>
                <a:t>22%</a:t>
              </a:r>
            </a:p>
          </p:txBody>
        </p:sp>
        <p:sp>
          <p:nvSpPr>
            <p:cNvPr id="44" name="構成比バー3"/>
            <p:cNvSpPr/>
            <p:nvPr/>
          </p:nvSpPr>
          <p:spPr>
            <a:xfrm>
              <a:off x="6248400" y="5124450"/>
              <a:ext cx="891702" cy="666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真因ハイライト"/>
          <p:cNvGrpSpPr/>
          <p:nvPr/>
        </p:nvGrpSpPr>
        <p:grpSpPr>
          <a:xfrm>
            <a:off x="8991600" y="3028950"/>
            <a:ext cx="2590800" cy="1352550"/>
            <a:chOff x="8991600" y="3028950"/>
            <a:chExt cx="2590800" cy="1352550"/>
          </a:xfrm>
        </p:grpSpPr>
        <p:cxnSp>
          <p:nvCxnSpPr>
            <p:cNvPr id="46" name="ブラケット縦"/>
            <p:cNvCxnSpPr/>
            <p:nvPr/>
          </p:nvCxnSpPr>
          <p:spPr>
            <a:xfrm>
              <a:off x="9067800" y="3028950"/>
              <a:ext cx="0" cy="135255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ブラケット上"/>
            <p:cNvCxnSpPr/>
            <p:nvPr/>
          </p:nvCxnSpPr>
          <p:spPr>
            <a:xfrm>
              <a:off x="8991600" y="3028950"/>
              <a:ext cx="762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ブラケット下"/>
            <p:cNvCxnSpPr/>
            <p:nvPr/>
          </p:nvCxnSpPr>
          <p:spPr>
            <a:xfrm>
              <a:off x="8991600" y="4381500"/>
              <a:ext cx="762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真因チップ"/>
            <p:cNvSpPr/>
            <p:nvPr/>
          </p:nvSpPr>
          <p:spPr>
            <a:xfrm>
              <a:off x="9296400" y="32385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296400" y="3248025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真因</a:t>
              </a:r>
            </a:p>
          </p:txBody>
        </p:sp>
        <p:sp>
          <p:nvSpPr>
            <p:cNvPr id="51" name="真因コメント"/>
            <p:cNvSpPr/>
            <p:nvPr/>
          </p:nvSpPr>
          <p:spPr>
            <a:xfrm>
              <a:off x="9296400" y="3600450"/>
              <a:ext cx="2286000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dk2"/>
                  </a:solidFill>
                </a:rPr>
                <a:t>増分の78%は「作り直し」。</a:t>
              </a:r>
            </a:p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dk2"/>
                  </a:solidFill>
                </a:rPr>
                <a:t>ここを断てば、時間は</a:t>
              </a:r>
            </a:p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dk2"/>
                  </a:solidFill>
                </a:rPr>
                <a:t>仕組みで取り戻せる。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01｜現状と課題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放置すれば書類は稼働の45%に達し、3年で6.8億円を失う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放置した場合の営業機会損失（累計・粗利換算）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出所：△△コンサルティング試算（数値はサンプル）　　注：営業時間1時間＝粗利1.2万円で換算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06</a:t>
              </a:r>
            </a:p>
          </p:txBody>
        </p:sp>
      </p:grpSp>
      <p:grpSp>
        <p:nvGrpSpPr>
          <p:cNvPr id="11" name="累計損失グラフ"/>
          <p:cNvGrpSpPr/>
          <p:nvPr/>
        </p:nvGrpSpPr>
        <p:grpSpPr>
          <a:xfrm>
            <a:off x="857250" y="2000250"/>
            <a:ext cx="6096000" cy="3562350"/>
            <a:chOff x="857250" y="2000250"/>
            <a:chExt cx="6096000" cy="3562350"/>
          </a:xfrm>
        </p:grpSpPr>
        <p:cxnSp>
          <p:nvCxnSpPr>
            <p:cNvPr id="12" name="基準線"/>
            <p:cNvCxnSpPr/>
            <p:nvPr/>
          </p:nvCxnSpPr>
          <p:spPr>
            <a:xfrm>
              <a:off x="857250" y="533400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累計1年後"/>
            <p:cNvSpPr/>
            <p:nvPr/>
          </p:nvSpPr>
          <p:spPr>
            <a:xfrm>
              <a:off x="1047750" y="4437529"/>
              <a:ext cx="1295400" cy="89647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値1年後"/>
            <p:cNvSpPr/>
            <p:nvPr/>
          </p:nvSpPr>
          <p:spPr>
            <a:xfrm>
              <a:off x="895350" y="4151779"/>
              <a:ext cx="1600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2.0億円</a:t>
              </a:r>
            </a:p>
          </p:txBody>
        </p:sp>
        <p:sp>
          <p:nvSpPr>
            <p:cNvPr id="15" name="軸1年後"/>
            <p:cNvSpPr/>
            <p:nvPr/>
          </p:nvSpPr>
          <p:spPr>
            <a:xfrm>
              <a:off x="895350" y="5410200"/>
              <a:ext cx="1600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1年後</a:t>
              </a:r>
            </a:p>
          </p:txBody>
        </p:sp>
        <p:sp>
          <p:nvSpPr>
            <p:cNvPr id="16" name="累計2年後"/>
            <p:cNvSpPr/>
            <p:nvPr/>
          </p:nvSpPr>
          <p:spPr>
            <a:xfrm>
              <a:off x="2971800" y="3406588"/>
              <a:ext cx="1295400" cy="19274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2年後"/>
            <p:cNvSpPr/>
            <p:nvPr/>
          </p:nvSpPr>
          <p:spPr>
            <a:xfrm>
              <a:off x="2819400" y="3120838"/>
              <a:ext cx="1600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4.3億円</a:t>
              </a:r>
            </a:p>
          </p:txBody>
        </p:sp>
        <p:sp>
          <p:nvSpPr>
            <p:cNvPr id="18" name="軸2年後"/>
            <p:cNvSpPr/>
            <p:nvPr/>
          </p:nvSpPr>
          <p:spPr>
            <a:xfrm>
              <a:off x="2819400" y="5410200"/>
              <a:ext cx="1600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2年後</a:t>
              </a:r>
            </a:p>
          </p:txBody>
        </p:sp>
        <p:cxnSp>
          <p:nvCxnSpPr>
            <p:cNvPr id="19" name="接続線1"/>
            <p:cNvCxnSpPr/>
            <p:nvPr/>
          </p:nvCxnSpPr>
          <p:spPr>
            <a:xfrm flipV="1">
              <a:off x="2343150" y="3406588"/>
              <a:ext cx="628650" cy="1030941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累計3年後"/>
            <p:cNvSpPr/>
            <p:nvPr/>
          </p:nvSpPr>
          <p:spPr>
            <a:xfrm>
              <a:off x="4895850" y="2286000"/>
              <a:ext cx="1295400" cy="304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3年後"/>
            <p:cNvSpPr/>
            <p:nvPr/>
          </p:nvSpPr>
          <p:spPr>
            <a:xfrm>
              <a:off x="4743450" y="2000250"/>
              <a:ext cx="1600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6.8億円</a:t>
              </a:r>
            </a:p>
          </p:txBody>
        </p:sp>
        <p:sp>
          <p:nvSpPr>
            <p:cNvPr id="22" name="軸3年後"/>
            <p:cNvSpPr/>
            <p:nvPr/>
          </p:nvSpPr>
          <p:spPr>
            <a:xfrm>
              <a:off x="4743450" y="5410200"/>
              <a:ext cx="1600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3年後</a:t>
              </a:r>
            </a:p>
          </p:txBody>
        </p:sp>
        <p:cxnSp>
          <p:nvCxnSpPr>
            <p:cNvPr id="23" name="接続線2"/>
            <p:cNvCxnSpPr/>
            <p:nvPr/>
          </p:nvCxnSpPr>
          <p:spPr>
            <a:xfrm flipV="1">
              <a:off x="4267200" y="2286000"/>
              <a:ext cx="628650" cy="1120588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言語化パネル"/>
          <p:cNvGrpSpPr/>
          <p:nvPr/>
        </p:nvGrpSpPr>
        <p:grpSpPr>
          <a:xfrm>
            <a:off x="7277100" y="1619250"/>
            <a:ext cx="4305300" cy="1866900"/>
            <a:chOff x="7277100" y="1619250"/>
            <a:chExt cx="4305300" cy="1866900"/>
          </a:xfrm>
        </p:grpSpPr>
        <p:sp>
          <p:nvSpPr>
            <p:cNvPr id="25" name="パネル"/>
            <p:cNvSpPr/>
            <p:nvPr/>
          </p:nvSpPr>
          <p:spPr>
            <a:xfrm>
              <a:off x="7277100" y="1619250"/>
              <a:ext cx="4305300" cy="1866900"/>
            </a:xfrm>
            <a:prstGeom prst="roundRect">
              <a:avLst>
                <a:gd name="adj" fmla="val 510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ラベル"/>
            <p:cNvSpPr/>
            <p:nvPr/>
          </p:nvSpPr>
          <p:spPr>
            <a:xfrm>
              <a:off x="7562850" y="18097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数字のいいかえ</a:t>
              </a:r>
            </a:p>
          </p:txBody>
        </p:sp>
        <p:sp>
          <p:nvSpPr>
            <p:cNvPr id="27" name="本文"/>
            <p:cNvSpPr/>
            <p:nvPr/>
          </p:nvSpPr>
          <p:spPr>
            <a:xfrm>
              <a:off x="7562850" y="2057400"/>
              <a:ext cx="3733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週13時間の書類は、営業60名では</a:t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「営業12人分」に相当する。</a:t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毎年、営業チームを一つ、書類の</a:t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ためだけに雇っているのに等しい。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7277100" y="3733800"/>
            <a:ext cx="2857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このままの伸びが続いた3年後</a:t>
            </a:r>
          </a:p>
        </p:txBody>
      </p:sp>
      <p:grpSp>
        <p:nvGrpSpPr>
          <p:cNvPr id="29" name="ミニファクト1"/>
          <p:cNvGrpSpPr/>
          <p:nvPr/>
        </p:nvGrpSpPr>
        <p:grpSpPr>
          <a:xfrm>
            <a:off x="7277100" y="3962400"/>
            <a:ext cx="1371600" cy="914400"/>
            <a:chOff x="7277100" y="3962400"/>
            <a:chExt cx="1371600" cy="914400"/>
          </a:xfrm>
        </p:grpSpPr>
        <p:sp>
          <p:nvSpPr>
            <p:cNvPr id="30" name="カード"/>
            <p:cNvSpPr/>
            <p:nvPr/>
          </p:nvSpPr>
          <p:spPr>
            <a:xfrm>
              <a:off x="7277100" y="3962400"/>
              <a:ext cx="1371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数値"/>
            <p:cNvSpPr/>
            <p:nvPr/>
          </p:nvSpPr>
          <p:spPr>
            <a:xfrm>
              <a:off x="7353300" y="4152900"/>
              <a:ext cx="1219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週18時間</a:t>
              </a:r>
            </a:p>
          </p:txBody>
        </p:sp>
        <p:sp>
          <p:nvSpPr>
            <p:cNvPr id="32" name="ラベル"/>
            <p:cNvSpPr/>
            <p:nvPr/>
          </p:nvSpPr>
          <p:spPr>
            <a:xfrm>
              <a:off x="7353300" y="4457700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1人あたりの書類時間</a:t>
              </a:r>
            </a:p>
          </p:txBody>
        </p:sp>
      </p:grpSp>
      <p:grpSp>
        <p:nvGrpSpPr>
          <p:cNvPr id="33" name="ミニファクト2"/>
          <p:cNvGrpSpPr/>
          <p:nvPr/>
        </p:nvGrpSpPr>
        <p:grpSpPr>
          <a:xfrm>
            <a:off x="8743950" y="3962400"/>
            <a:ext cx="1371600" cy="914400"/>
            <a:chOff x="8743950" y="3962400"/>
            <a:chExt cx="1371600" cy="914400"/>
          </a:xfrm>
        </p:grpSpPr>
        <p:sp>
          <p:nvSpPr>
            <p:cNvPr id="34" name="カード"/>
            <p:cNvSpPr/>
            <p:nvPr/>
          </p:nvSpPr>
          <p:spPr>
            <a:xfrm>
              <a:off x="8743950" y="3962400"/>
              <a:ext cx="1371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数値"/>
            <p:cNvSpPr/>
            <p:nvPr/>
          </p:nvSpPr>
          <p:spPr>
            <a:xfrm>
              <a:off x="8820150" y="4152900"/>
              <a:ext cx="1219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45%</a:t>
              </a:r>
            </a:p>
          </p:txBody>
        </p:sp>
        <p:sp>
          <p:nvSpPr>
            <p:cNvPr id="36" name="ラベル"/>
            <p:cNvSpPr/>
            <p:nvPr/>
          </p:nvSpPr>
          <p:spPr>
            <a:xfrm>
              <a:off x="8820150" y="4457700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稼働に占める書類の割合</a:t>
              </a:r>
            </a:p>
          </p:txBody>
        </p:sp>
      </p:grpSp>
      <p:grpSp>
        <p:nvGrpSpPr>
          <p:cNvPr id="37" name="ミニファクト3"/>
          <p:cNvGrpSpPr/>
          <p:nvPr/>
        </p:nvGrpSpPr>
        <p:grpSpPr>
          <a:xfrm>
            <a:off x="10210800" y="3962400"/>
            <a:ext cx="1371600" cy="914400"/>
            <a:chOff x="10210800" y="3962400"/>
            <a:chExt cx="1371600" cy="914400"/>
          </a:xfrm>
        </p:grpSpPr>
        <p:sp>
          <p:nvSpPr>
            <p:cNvPr id="38" name="カード"/>
            <p:cNvSpPr/>
            <p:nvPr/>
          </p:nvSpPr>
          <p:spPr>
            <a:xfrm>
              <a:off x="10210800" y="3962400"/>
              <a:ext cx="1371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数値"/>
            <p:cNvSpPr/>
            <p:nvPr/>
          </p:nvSpPr>
          <p:spPr>
            <a:xfrm>
              <a:off x="10287000" y="4152900"/>
              <a:ext cx="1219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−25%</a:t>
              </a:r>
            </a:p>
          </p:txBody>
        </p:sp>
        <p:sp>
          <p:nvSpPr>
            <p:cNvPr id="40" name="ラベル"/>
            <p:cNvSpPr/>
            <p:nvPr/>
          </p:nvSpPr>
          <p:spPr>
            <a:xfrm>
              <a:off x="10287000" y="4457700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商談に使える時間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02｜解決の方向性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増員・外注・AIの3案では、費用対効果でAIが最も優れる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打ち手3案の比較（費用・効果・拡張性）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出所：各方式の一般的な市場水準をもとに△△コンサルティング試算（サンプル）　　注：削減効果は書類作成時間に対する割合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07</a:t>
              </a:r>
            </a:p>
          </p:txBody>
        </p:sp>
      </p:grpSp>
      <p:grpSp>
        <p:nvGrpSpPr>
          <p:cNvPr id="11" name="比較表"/>
          <p:cNvGrpSpPr/>
          <p:nvPr/>
        </p:nvGrpSpPr>
        <p:grpSpPr>
          <a:xfrm>
            <a:off x="609600" y="1619250"/>
            <a:ext cx="10972800" cy="3810000"/>
            <a:chOff x="609600" y="1619250"/>
            <a:chExt cx="10972800" cy="3810000"/>
          </a:xfrm>
        </p:grpSpPr>
        <p:sp>
          <p:nvSpPr>
            <p:cNvPr id="12" name="見出し_比較項目"/>
            <p:cNvSpPr/>
            <p:nvPr/>
          </p:nvSpPr>
          <p:spPr>
            <a:xfrm>
              <a:off x="609600" y="1619250"/>
              <a:ext cx="2190750" cy="4953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1619250"/>
              <a:ext cx="2190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比較項目</a:t>
              </a:r>
            </a:p>
          </p:txBody>
        </p:sp>
        <p:sp>
          <p:nvSpPr>
            <p:cNvPr id="14" name="見出し_A案：事務増員"/>
            <p:cNvSpPr/>
            <p:nvPr/>
          </p:nvSpPr>
          <p:spPr>
            <a:xfrm>
              <a:off x="2800350" y="1619250"/>
              <a:ext cx="2667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00350" y="1619250"/>
              <a:ext cx="2667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A案：事務増員</a:t>
              </a:r>
            </a:p>
          </p:txBody>
        </p:sp>
        <p:sp>
          <p:nvSpPr>
            <p:cNvPr id="16" name="見出し_B案：外注（BPO）"/>
            <p:cNvSpPr/>
            <p:nvPr/>
          </p:nvSpPr>
          <p:spPr>
            <a:xfrm>
              <a:off x="5467350" y="1619250"/>
              <a:ext cx="2667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467350" y="1619250"/>
              <a:ext cx="2667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B案：外注（BPO）</a:t>
              </a:r>
            </a:p>
          </p:txBody>
        </p:sp>
        <p:sp>
          <p:nvSpPr>
            <p:cNvPr id="18" name="見出し_C案：AI活用"/>
            <p:cNvSpPr/>
            <p:nvPr/>
          </p:nvSpPr>
          <p:spPr>
            <a:xfrm>
              <a:off x="8134350" y="1619250"/>
              <a:ext cx="344805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34350" y="1619250"/>
              <a:ext cx="28194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C案：AI活用</a:t>
              </a:r>
            </a:p>
          </p:txBody>
        </p:sp>
        <p:sp>
          <p:nvSpPr>
            <p:cNvPr id="20" name="推奨チップ"/>
            <p:cNvSpPr/>
            <p:nvPr/>
          </p:nvSpPr>
          <p:spPr>
            <a:xfrm>
              <a:off x="10991850" y="1752600"/>
              <a:ext cx="4572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991850" y="1762125"/>
              <a:ext cx="4572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推奨</a:t>
              </a:r>
            </a:p>
          </p:txBody>
        </p:sp>
        <p:sp>
          <p:nvSpPr>
            <p:cNvPr id="22" name="推奨列_初期費用"/>
            <p:cNvSpPr/>
            <p:nvPr/>
          </p:nvSpPr>
          <p:spPr>
            <a:xfrm>
              <a:off x="8134350" y="21145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81050" y="21145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初期費用</a:t>
              </a:r>
            </a:p>
          </p:txBody>
        </p:sp>
        <p:sp>
          <p:nvSpPr>
            <p:cNvPr id="24" name="初期費用_A案"/>
            <p:cNvSpPr/>
            <p:nvPr/>
          </p:nvSpPr>
          <p:spPr>
            <a:xfrm>
              <a:off x="2800350" y="21145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120万円</a:t>
              </a:r>
            </a:p>
          </p:txBody>
        </p:sp>
        <p:sp>
          <p:nvSpPr>
            <p:cNvPr id="25" name="初期費用_B案"/>
            <p:cNvSpPr/>
            <p:nvPr/>
          </p:nvSpPr>
          <p:spPr>
            <a:xfrm>
              <a:off x="5467350" y="21145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200万円</a:t>
              </a:r>
            </a:p>
          </p:txBody>
        </p:sp>
        <p:sp>
          <p:nvSpPr>
            <p:cNvPr id="26" name="初期費用_C案"/>
            <p:cNvSpPr/>
            <p:nvPr/>
          </p:nvSpPr>
          <p:spPr>
            <a:xfrm>
              <a:off x="8134350" y="21145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380万円</a:t>
              </a:r>
            </a:p>
          </p:txBody>
        </p:sp>
        <p:cxnSp>
          <p:nvCxnSpPr>
            <p:cNvPr id="27" name="罫線_初期費用"/>
            <p:cNvCxnSpPr/>
            <p:nvPr/>
          </p:nvCxnSpPr>
          <p:spPr>
            <a:xfrm>
              <a:off x="609600" y="26670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推奨列_年間費用"/>
            <p:cNvSpPr/>
            <p:nvPr/>
          </p:nvSpPr>
          <p:spPr>
            <a:xfrm>
              <a:off x="8134350" y="26670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81050" y="26670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年間費用</a:t>
              </a:r>
            </a:p>
          </p:txBody>
        </p:sp>
        <p:sp>
          <p:nvSpPr>
            <p:cNvPr id="30" name="年間費用_A案"/>
            <p:cNvSpPr/>
            <p:nvPr/>
          </p:nvSpPr>
          <p:spPr>
            <a:xfrm>
              <a:off x="2800350" y="26670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960万円</a:t>
              </a:r>
            </a:p>
          </p:txBody>
        </p:sp>
        <p:sp>
          <p:nvSpPr>
            <p:cNvPr id="31" name="年間費用_B案"/>
            <p:cNvSpPr/>
            <p:nvPr/>
          </p:nvSpPr>
          <p:spPr>
            <a:xfrm>
              <a:off x="5467350" y="26670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1,440万円</a:t>
              </a:r>
            </a:p>
          </p:txBody>
        </p:sp>
        <p:sp>
          <p:nvSpPr>
            <p:cNvPr id="32" name="年間費用_C案"/>
            <p:cNvSpPr/>
            <p:nvPr/>
          </p:nvSpPr>
          <p:spPr>
            <a:xfrm>
              <a:off x="8134350" y="26670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480万円</a:t>
              </a:r>
            </a:p>
          </p:txBody>
        </p:sp>
        <p:cxnSp>
          <p:nvCxnSpPr>
            <p:cNvPr id="33" name="罫線_年間費用"/>
            <p:cNvCxnSpPr/>
            <p:nvPr/>
          </p:nvCxnSpPr>
          <p:spPr>
            <a:xfrm>
              <a:off x="609600" y="32194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推奨列_削減効果"/>
            <p:cNvSpPr/>
            <p:nvPr/>
          </p:nvSpPr>
          <p:spPr>
            <a:xfrm>
              <a:off x="8134350" y="32194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81050" y="32194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削減効果</a:t>
              </a:r>
            </a:p>
          </p:txBody>
        </p:sp>
        <p:sp>
          <p:nvSpPr>
            <p:cNvPr id="36" name="削減効果_A案"/>
            <p:cNvSpPr/>
            <p:nvPr/>
          </p:nvSpPr>
          <p:spPr>
            <a:xfrm>
              <a:off x="2800350" y="32194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−20%</a:t>
              </a:r>
            </a:p>
          </p:txBody>
        </p:sp>
        <p:sp>
          <p:nvSpPr>
            <p:cNvPr id="37" name="削減効果_B案"/>
            <p:cNvSpPr/>
            <p:nvPr/>
          </p:nvSpPr>
          <p:spPr>
            <a:xfrm>
              <a:off x="5467350" y="32194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−35%</a:t>
              </a:r>
            </a:p>
          </p:txBody>
        </p:sp>
        <p:sp>
          <p:nvSpPr>
            <p:cNvPr id="38" name="削減効果_C案"/>
            <p:cNvSpPr/>
            <p:nvPr/>
          </p:nvSpPr>
          <p:spPr>
            <a:xfrm>
              <a:off x="8134350" y="32194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−50%</a:t>
              </a:r>
            </a:p>
          </p:txBody>
        </p:sp>
        <p:cxnSp>
          <p:nvCxnSpPr>
            <p:cNvPr id="39" name="罫線_削減効果"/>
            <p:cNvCxnSpPr/>
            <p:nvPr/>
          </p:nvCxnSpPr>
          <p:spPr>
            <a:xfrm>
              <a:off x="609600" y="37719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推奨列_立ち上がり"/>
            <p:cNvSpPr/>
            <p:nvPr/>
          </p:nvSpPr>
          <p:spPr>
            <a:xfrm>
              <a:off x="8134350" y="37719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81050" y="37719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立ち上がり</a:t>
              </a:r>
            </a:p>
          </p:txBody>
        </p:sp>
        <p:sp>
          <p:nvSpPr>
            <p:cNvPr id="42" name="立ち上がり_A案"/>
            <p:cNvSpPr/>
            <p:nvPr/>
          </p:nvSpPr>
          <p:spPr>
            <a:xfrm>
              <a:off x="2800350" y="37719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3ヶ月</a:t>
              </a:r>
            </a:p>
          </p:txBody>
        </p:sp>
        <p:sp>
          <p:nvSpPr>
            <p:cNvPr id="43" name="立ち上がり_B案"/>
            <p:cNvSpPr/>
            <p:nvPr/>
          </p:nvSpPr>
          <p:spPr>
            <a:xfrm>
              <a:off x="5467350" y="37719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2ヶ月</a:t>
              </a:r>
            </a:p>
          </p:txBody>
        </p:sp>
        <p:sp>
          <p:nvSpPr>
            <p:cNvPr id="44" name="立ち上がり_C案"/>
            <p:cNvSpPr/>
            <p:nvPr/>
          </p:nvSpPr>
          <p:spPr>
            <a:xfrm>
              <a:off x="8134350" y="37719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3ヶ月（試行込み）</a:t>
              </a:r>
            </a:p>
          </p:txBody>
        </p:sp>
        <p:cxnSp>
          <p:nvCxnSpPr>
            <p:cNvPr id="45" name="罫線_立ち上がり"/>
            <p:cNvCxnSpPr/>
            <p:nvPr/>
          </p:nvCxnSpPr>
          <p:spPr>
            <a:xfrm>
              <a:off x="609600" y="43243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推奨列_拡張性"/>
            <p:cNvSpPr/>
            <p:nvPr/>
          </p:nvSpPr>
          <p:spPr>
            <a:xfrm>
              <a:off x="8134350" y="43243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81050" y="43243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拡張性</a:t>
              </a:r>
            </a:p>
          </p:txBody>
        </p:sp>
        <p:sp>
          <p:nvSpPr>
            <p:cNvPr id="48" name="拡張性_A案"/>
            <p:cNvSpPr/>
            <p:nvPr/>
          </p:nvSpPr>
          <p:spPr>
            <a:xfrm>
              <a:off x="2800350" y="43243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低い（人数に比例）</a:t>
              </a:r>
            </a:p>
          </p:txBody>
        </p:sp>
        <p:sp>
          <p:nvSpPr>
            <p:cNvPr id="49" name="拡張性_B案"/>
            <p:cNvSpPr/>
            <p:nvPr/>
          </p:nvSpPr>
          <p:spPr>
            <a:xfrm>
              <a:off x="5467350" y="43243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中（契約範囲まで）</a:t>
              </a:r>
            </a:p>
          </p:txBody>
        </p:sp>
        <p:sp>
          <p:nvSpPr>
            <p:cNvPr id="50" name="拡張性_C案"/>
            <p:cNvSpPr/>
            <p:nvPr/>
          </p:nvSpPr>
          <p:spPr>
            <a:xfrm>
              <a:off x="8134350" y="43243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高い（部署追加が容易）</a:t>
              </a:r>
            </a:p>
          </p:txBody>
        </p:sp>
        <p:cxnSp>
          <p:nvCxnSpPr>
            <p:cNvPr id="51" name="罫線_拡張性"/>
            <p:cNvCxnSpPr/>
            <p:nvPr/>
          </p:nvCxnSpPr>
          <p:spPr>
            <a:xfrm>
              <a:off x="609600" y="4876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推奨列_総合評価"/>
            <p:cNvSpPr/>
            <p:nvPr/>
          </p:nvSpPr>
          <p:spPr>
            <a:xfrm>
              <a:off x="8134350" y="48768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81050" y="48768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総合評価</a:t>
              </a:r>
            </a:p>
          </p:txBody>
        </p:sp>
        <p:sp>
          <p:nvSpPr>
            <p:cNvPr id="54" name="総合評価_A案"/>
            <p:cNvSpPr/>
            <p:nvPr/>
          </p:nvSpPr>
          <p:spPr>
            <a:xfrm>
              <a:off x="2800350" y="48768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55" name="総合評価_B案"/>
            <p:cNvSpPr/>
            <p:nvPr/>
          </p:nvSpPr>
          <p:spPr>
            <a:xfrm>
              <a:off x="5467350" y="48768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>
                  <a:solidFill>
                    <a:schemeClr val="accent5"/>
                  </a:solidFill>
                </a:rPr>
                <a:t>○</a:t>
              </a:r>
            </a:p>
          </p:txBody>
        </p:sp>
        <p:sp>
          <p:nvSpPr>
            <p:cNvPr id="56" name="総合評価_C案"/>
            <p:cNvSpPr/>
            <p:nvPr/>
          </p:nvSpPr>
          <p:spPr>
            <a:xfrm>
              <a:off x="8134350" y="48768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◎</a:t>
              </a:r>
            </a:p>
          </p:txBody>
        </p:sp>
        <p:cxnSp>
          <p:nvCxnSpPr>
            <p:cNvPr id="57" name="罫線_総合評価"/>
            <p:cNvCxnSpPr/>
            <p:nvPr/>
          </p:nvCxnSpPr>
          <p:spPr>
            <a:xfrm>
              <a:off x="609600" y="54292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ヘッダ下罫線"/>
            <p:cNvCxnSpPr/>
            <p:nvPr/>
          </p:nvCxnSpPr>
          <p:spPr>
            <a:xfrm>
              <a:off x="609600" y="21145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/>
          <p:cNvSpPr/>
          <p:nvPr/>
        </p:nvSpPr>
        <p:spPr>
          <a:xfrm>
            <a:off x="609600" y="5562600"/>
            <a:ext cx="109728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初期費用はC案が最大だが、年間費用と削減効果で2年目以降の差は拡大する（投資回収の試算はP.11）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02｜解決の方向性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「入力は一度だけ」の流れへ、4つのステップで組み替える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導入後の業務フロー（4ステップ）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注：各ステップの詳細は次章（P.09–10）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ステップ1_ためる"/>
          <p:cNvGrpSpPr/>
          <p:nvPr/>
        </p:nvGrpSpPr>
        <p:grpSpPr>
          <a:xfrm>
            <a:off x="609600" y="1809750"/>
            <a:ext cx="2495550" cy="2247900"/>
            <a:chOff x="609600" y="1809750"/>
            <a:chExt cx="2495550" cy="2247900"/>
          </a:xfrm>
        </p:grpSpPr>
        <p:sp>
          <p:nvSpPr>
            <p:cNvPr id="12" name="カード"/>
            <p:cNvSpPr/>
            <p:nvPr/>
          </p:nvSpPr>
          <p:spPr>
            <a:xfrm>
              <a:off x="609600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19150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STEP 01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19150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ためる</a:t>
              </a:r>
            </a:p>
          </p:txBody>
        </p:sp>
        <p:cxnSp>
          <p:nvCxnSpPr>
            <p:cNvPr id="15" name="区切り線"/>
            <p:cNvCxnSpPr/>
            <p:nvPr/>
          </p:nvCxnSpPr>
          <p:spPr>
            <a:xfrm>
              <a:off x="819150" y="2609850"/>
              <a:ext cx="207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819150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顧客・商談・実績の情報を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一度だけ入力し、一元化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する。以降の再入力は不要。</a:t>
              </a:r>
            </a:p>
          </p:txBody>
        </p:sp>
        <p:sp>
          <p:nvSpPr>
            <p:cNvPr id="17" name="担い手チップ"/>
            <p:cNvSpPr/>
            <p:nvPr/>
          </p:nvSpPr>
          <p:spPr>
            <a:xfrm>
              <a:off x="819150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9150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担い手：既存システム</a:t>
              </a:r>
            </a:p>
          </p:txBody>
        </p:sp>
      </p:grpSp>
      <p:cxnSp>
        <p:nvCxnSpPr>
          <p:cNvPr id="19" name="フロー矢印1"/>
          <p:cNvCxnSpPr/>
          <p:nvPr/>
        </p:nvCxnSpPr>
        <p:spPr>
          <a:xfrm>
            <a:off x="3171825" y="2933700"/>
            <a:ext cx="200025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ステップ2_つくる"/>
          <p:cNvGrpSpPr/>
          <p:nvPr/>
        </p:nvGrpSpPr>
        <p:grpSpPr>
          <a:xfrm>
            <a:off x="3438525" y="1809750"/>
            <a:ext cx="2495550" cy="2247900"/>
            <a:chOff x="3438525" y="1809750"/>
            <a:chExt cx="2495550" cy="2247900"/>
          </a:xfrm>
        </p:grpSpPr>
        <p:sp>
          <p:nvSpPr>
            <p:cNvPr id="21" name="カード"/>
            <p:cNvSpPr/>
            <p:nvPr/>
          </p:nvSpPr>
          <p:spPr>
            <a:xfrm>
              <a:off x="3438525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accent1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48075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STEP 02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48075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つくる</a:t>
              </a:r>
            </a:p>
          </p:txBody>
        </p:sp>
        <p:cxnSp>
          <p:nvCxnSpPr>
            <p:cNvPr id="24" name="区切り線"/>
            <p:cNvCxnSpPr/>
            <p:nvPr/>
          </p:nvCxnSpPr>
          <p:spPr>
            <a:xfrm>
              <a:off x="3648075" y="2609850"/>
              <a:ext cx="207645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648075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4"/>
                  </a:solidFill>
                </a:rPr>
                <a:t>ためた情報から、AIが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4"/>
                  </a:solidFill>
                </a:rPr>
                <a:t>見積書・報告書の下書きを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4"/>
                  </a:solidFill>
                </a:rPr>
                <a:t>統一書式で自動生成する。</a:t>
              </a:r>
            </a:p>
          </p:txBody>
        </p:sp>
        <p:sp>
          <p:nvSpPr>
            <p:cNvPr id="26" name="担い手チップ"/>
            <p:cNvSpPr/>
            <p:nvPr/>
          </p:nvSpPr>
          <p:spPr>
            <a:xfrm>
              <a:off x="3648075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48075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lt1"/>
                  </a:solidFill>
                </a:rPr>
                <a:t>担い手：AI</a:t>
              </a:r>
            </a:p>
          </p:txBody>
        </p:sp>
      </p:grpSp>
      <p:cxnSp>
        <p:nvCxnSpPr>
          <p:cNvPr id="28" name="フロー矢印2"/>
          <p:cNvCxnSpPr/>
          <p:nvPr/>
        </p:nvCxnSpPr>
        <p:spPr>
          <a:xfrm>
            <a:off x="6000750" y="2933700"/>
            <a:ext cx="200025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ステップ3_しあげる"/>
          <p:cNvGrpSpPr/>
          <p:nvPr/>
        </p:nvGrpSpPr>
        <p:grpSpPr>
          <a:xfrm>
            <a:off x="6267450" y="1809750"/>
            <a:ext cx="2495550" cy="2247900"/>
            <a:chOff x="6267450" y="1809750"/>
            <a:chExt cx="2495550" cy="2247900"/>
          </a:xfrm>
        </p:grpSpPr>
        <p:sp>
          <p:nvSpPr>
            <p:cNvPr id="30" name="カード"/>
            <p:cNvSpPr/>
            <p:nvPr/>
          </p:nvSpPr>
          <p:spPr>
            <a:xfrm>
              <a:off x="6267450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77000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STEP 03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77000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しあげる</a:t>
              </a:r>
            </a:p>
          </p:txBody>
        </p:sp>
        <p:cxnSp>
          <p:nvCxnSpPr>
            <p:cNvPr id="33" name="区切り線"/>
            <p:cNvCxnSpPr/>
            <p:nvPr/>
          </p:nvCxnSpPr>
          <p:spPr>
            <a:xfrm>
              <a:off x="6477000" y="2609850"/>
              <a:ext cx="207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6477000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人は内容の確認と価格などの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最終判断だけを行う。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体裁の手直しはゼロになる。</a:t>
              </a:r>
            </a:p>
          </p:txBody>
        </p:sp>
        <p:sp>
          <p:nvSpPr>
            <p:cNvPr id="35" name="担い手チップ"/>
            <p:cNvSpPr/>
            <p:nvPr/>
          </p:nvSpPr>
          <p:spPr>
            <a:xfrm>
              <a:off x="6477000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77000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担い手：人</a:t>
              </a:r>
            </a:p>
          </p:txBody>
        </p:sp>
      </p:grpSp>
      <p:cxnSp>
        <p:nvCxnSpPr>
          <p:cNvPr id="37" name="フロー矢印3"/>
          <p:cNvCxnSpPr/>
          <p:nvPr/>
        </p:nvCxnSpPr>
        <p:spPr>
          <a:xfrm>
            <a:off x="8829675" y="2933700"/>
            <a:ext cx="200025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ステップ4_まなぶ"/>
          <p:cNvGrpSpPr/>
          <p:nvPr/>
        </p:nvGrpSpPr>
        <p:grpSpPr>
          <a:xfrm>
            <a:off x="9096375" y="1809750"/>
            <a:ext cx="2495550" cy="2247900"/>
            <a:chOff x="9096375" y="1809750"/>
            <a:chExt cx="2495550" cy="2247900"/>
          </a:xfrm>
        </p:grpSpPr>
        <p:sp>
          <p:nvSpPr>
            <p:cNvPr id="39" name="カード"/>
            <p:cNvSpPr/>
            <p:nvPr/>
          </p:nvSpPr>
          <p:spPr>
            <a:xfrm>
              <a:off x="9096375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305925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STEP 04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305925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まなぶ</a:t>
              </a:r>
            </a:p>
          </p:txBody>
        </p:sp>
        <p:cxnSp>
          <p:nvCxnSpPr>
            <p:cNvPr id="42" name="区切り線"/>
            <p:cNvCxnSpPr/>
            <p:nvPr/>
          </p:nvCxnSpPr>
          <p:spPr>
            <a:xfrm>
              <a:off x="9305925" y="2609850"/>
              <a:ext cx="207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9305925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人の修正内容を蓄積し、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下書きの精度を継続的に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高めていく。</a:t>
              </a:r>
            </a:p>
          </p:txBody>
        </p:sp>
        <p:sp>
          <p:nvSpPr>
            <p:cNvPr id="44" name="担い手チップ"/>
            <p:cNvSpPr/>
            <p:nvPr/>
          </p:nvSpPr>
          <p:spPr>
            <a:xfrm>
              <a:off x="9305925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305925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担い手：AI</a:t>
              </a:r>
            </a:p>
          </p:txBody>
        </p:sp>
      </p:grpSp>
      <p:grpSp>
        <p:nvGrpSpPr>
          <p:cNvPr id="46" name="原則"/>
          <p:cNvGrpSpPr/>
          <p:nvPr/>
        </p:nvGrpSpPr>
        <p:grpSpPr>
          <a:xfrm>
            <a:off x="609600" y="4572000"/>
            <a:ext cx="9734550" cy="857250"/>
            <a:chOff x="609600" y="4572000"/>
            <a:chExt cx="9734550" cy="857250"/>
          </a:xfrm>
        </p:grpSpPr>
        <p:sp>
          <p:nvSpPr>
            <p:cNvPr id="47" name="引用バー"/>
            <p:cNvSpPr/>
            <p:nvPr/>
          </p:nvSpPr>
          <p:spPr>
            <a:xfrm>
              <a:off x="609600" y="4572000"/>
              <a:ext cx="381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原則文"/>
            <p:cNvSpPr/>
            <p:nvPr/>
          </p:nvSpPr>
          <p:spPr>
            <a:xfrm>
              <a:off x="819150" y="4648200"/>
              <a:ext cx="857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原則：人は「入力」ではなく「判断」に時間を使う</a:t>
              </a:r>
            </a:p>
          </p:txBody>
        </p:sp>
        <p:sp>
          <p:nvSpPr>
            <p:cNvPr id="49" name="補足"/>
            <p:cNvSpPr/>
            <p:nvPr/>
          </p:nvSpPr>
          <p:spPr>
            <a:xfrm>
              <a:off x="819150" y="4972050"/>
              <a:ext cx="9525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00">
                  <a:solidFill>
                    <a:schemeClr val="accent5"/>
                  </a:solidFill>
                </a:rPr>
                <a:t>顧客情報の入力は最初の一度だけ。以降の書類はすべてAIが下書きを用意し、人は最終判断に集中する。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03｜施策の詳細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見積書の作成は90分から15分へ、6分の1に短縮できる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施策A：見積書のAI下書き — 作成プロセスの比較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出所：類似規模での導入実績をもとに△△コンサルティング試算（サンプル）　　注：1件あたりの平均所要時間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09</a:t>
              </a:r>
            </a:p>
          </p:txBody>
        </p:sp>
      </p:grpSp>
      <p:grpSp>
        <p:nvGrpSpPr>
          <p:cNvPr id="11" name="Beforeカード"/>
          <p:cNvGrpSpPr/>
          <p:nvPr/>
        </p:nvGrpSpPr>
        <p:grpSpPr>
          <a:xfrm>
            <a:off x="609600" y="1638300"/>
            <a:ext cx="4762500" cy="3543300"/>
            <a:chOff x="609600" y="1638300"/>
            <a:chExt cx="4762500" cy="3543300"/>
          </a:xfrm>
        </p:grpSpPr>
        <p:sp>
          <p:nvSpPr>
            <p:cNvPr id="12" name="カード"/>
            <p:cNvSpPr/>
            <p:nvPr/>
          </p:nvSpPr>
          <p:spPr>
            <a:xfrm>
              <a:off x="609600" y="1638300"/>
              <a:ext cx="4762500" cy="3543300"/>
            </a:xfrm>
            <a:prstGeom prst="roundRect">
              <a:avLst>
                <a:gd name="adj" fmla="val 2688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見出し"/>
            <p:cNvSpPr/>
            <p:nvPr/>
          </p:nvSpPr>
          <p:spPr>
            <a:xfrm>
              <a:off x="857250" y="18097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Before｜現在のプロセス</a:t>
              </a:r>
            </a:p>
          </p:txBody>
        </p:sp>
        <p:sp>
          <p:nvSpPr>
            <p:cNvPr id="14" name="番号1"/>
            <p:cNvSpPr/>
            <p:nvPr/>
          </p:nvSpPr>
          <p:spPr>
            <a:xfrm>
              <a:off x="857250" y="21907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7250" y="2200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19200" y="22098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顧客情報をシステムから転記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57700" y="22098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25分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57250" y="25527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番号2"/>
            <p:cNvSpPr/>
            <p:nvPr/>
          </p:nvSpPr>
          <p:spPr>
            <a:xfrm>
              <a:off x="857250" y="26860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57250" y="26955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27051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過去の見積を探して流用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457700" y="27051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20分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857250" y="30480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番号3"/>
            <p:cNvSpPr/>
            <p:nvPr/>
          </p:nvSpPr>
          <p:spPr>
            <a:xfrm>
              <a:off x="857250" y="31813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57250" y="31908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19200" y="32004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価格・体裁の手直し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457700" y="32004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30分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857250" y="35433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番号4"/>
            <p:cNvSpPr/>
            <p:nvPr/>
          </p:nvSpPr>
          <p:spPr>
            <a:xfrm>
              <a:off x="857250" y="36766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57250" y="36861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36957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上長確認と差し戻し対応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57700" y="36957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15分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857250" y="40386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857250" y="426720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合計</a:t>
              </a:r>
            </a:p>
          </p:txBody>
        </p:sp>
        <p:sp>
          <p:nvSpPr>
            <p:cNvPr id="35" name="合計時間"/>
            <p:cNvSpPr/>
            <p:nvPr/>
          </p:nvSpPr>
          <p:spPr>
            <a:xfrm>
              <a:off x="3409950" y="4152900"/>
              <a:ext cx="1714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600" b="1">
                  <a:solidFill>
                    <a:schemeClr val="accent5"/>
                  </a:solidFill>
                </a:rPr>
                <a:t>90分</a:t>
              </a:r>
            </a:p>
          </p:txBody>
        </p:sp>
        <p:sp>
          <p:nvSpPr>
            <p:cNvPr id="36" name="時間バー"/>
            <p:cNvSpPr/>
            <p:nvPr/>
          </p:nvSpPr>
          <p:spPr>
            <a:xfrm>
              <a:off x="857250" y="4705350"/>
              <a:ext cx="3086100" cy="114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Afterカード"/>
          <p:cNvGrpSpPr/>
          <p:nvPr/>
        </p:nvGrpSpPr>
        <p:grpSpPr>
          <a:xfrm>
            <a:off x="6819900" y="1638300"/>
            <a:ext cx="4762500" cy="3543300"/>
            <a:chOff x="6819900" y="1638300"/>
            <a:chExt cx="4762500" cy="3543300"/>
          </a:xfrm>
        </p:grpSpPr>
        <p:sp>
          <p:nvSpPr>
            <p:cNvPr id="38" name="カード"/>
            <p:cNvSpPr/>
            <p:nvPr/>
          </p:nvSpPr>
          <p:spPr>
            <a:xfrm>
              <a:off x="6819900" y="1638300"/>
              <a:ext cx="4762500" cy="3543300"/>
            </a:xfrm>
            <a:prstGeom prst="roundRect">
              <a:avLst>
                <a:gd name="adj" fmla="val 2688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見出し"/>
            <p:cNvSpPr/>
            <p:nvPr/>
          </p:nvSpPr>
          <p:spPr>
            <a:xfrm>
              <a:off x="7067550" y="18097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After｜AI下書き導入後</a:t>
              </a:r>
            </a:p>
          </p:txBody>
        </p:sp>
        <p:sp>
          <p:nvSpPr>
            <p:cNvPr id="40" name="番号1"/>
            <p:cNvSpPr/>
            <p:nvPr/>
          </p:nvSpPr>
          <p:spPr>
            <a:xfrm>
              <a:off x="7067550" y="21907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067550" y="2200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429500" y="22098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lt1"/>
                  </a:solidFill>
                </a:rPr>
                <a:t>対象の商談メモを選ぶ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668000" y="22098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2分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7067550" y="2552700"/>
              <a:ext cx="42672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番号2"/>
            <p:cNvSpPr/>
            <p:nvPr/>
          </p:nvSpPr>
          <p:spPr>
            <a:xfrm>
              <a:off x="7067550" y="26860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067550" y="26955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429500" y="27051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lt1"/>
                  </a:solidFill>
                </a:rPr>
                <a:t>AIが下書きを自動生成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668000" y="27051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3分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7067550" y="3048000"/>
              <a:ext cx="42672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番号3"/>
            <p:cNvSpPr/>
            <p:nvPr/>
          </p:nvSpPr>
          <p:spPr>
            <a:xfrm>
              <a:off x="7067550" y="31813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067550" y="31908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429500" y="32004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lt1"/>
                  </a:solidFill>
                </a:rPr>
                <a:t>人が内容を確認・調整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668000" y="32004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10分</a:t>
              </a:r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7067550" y="3543300"/>
              <a:ext cx="42672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>
              <a:off x="7067550" y="3695700"/>
              <a:ext cx="3619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差し戻し対応は不要に：修正はAIが学習し、発生が減る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067550" y="426720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4"/>
                  </a:solidFill>
                </a:rPr>
                <a:t>合計</a:t>
              </a:r>
            </a:p>
          </p:txBody>
        </p:sp>
        <p:sp>
          <p:nvSpPr>
            <p:cNvPr id="57" name="合計時間"/>
            <p:cNvSpPr/>
            <p:nvPr/>
          </p:nvSpPr>
          <p:spPr>
            <a:xfrm>
              <a:off x="9620250" y="4152900"/>
              <a:ext cx="1714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600" b="1">
                  <a:solidFill>
                    <a:schemeClr val="lt1"/>
                  </a:solidFill>
                </a:rPr>
                <a:t>15分</a:t>
              </a:r>
            </a:p>
          </p:txBody>
        </p:sp>
        <p:sp>
          <p:nvSpPr>
            <p:cNvPr id="58" name="時間バー"/>
            <p:cNvSpPr/>
            <p:nvPr/>
          </p:nvSpPr>
          <p:spPr>
            <a:xfrm>
              <a:off x="7067550" y="4705350"/>
              <a:ext cx="514350" cy="114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変化の矢印"/>
          <p:cNvGrpSpPr/>
          <p:nvPr/>
        </p:nvGrpSpPr>
        <p:grpSpPr>
          <a:xfrm>
            <a:off x="5524500" y="2705100"/>
            <a:ext cx="1143000" cy="933450"/>
            <a:chOff x="5524500" y="2705100"/>
            <a:chExt cx="1143000" cy="933450"/>
          </a:xfrm>
        </p:grpSpPr>
        <p:sp>
          <p:nvSpPr>
            <p:cNvPr id="60" name="矢印"/>
            <p:cNvSpPr/>
            <p:nvPr/>
          </p:nvSpPr>
          <p:spPr>
            <a:xfrm>
              <a:off x="5524500" y="3143250"/>
              <a:ext cx="1143000" cy="4953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効果ラベル"/>
            <p:cNvSpPr/>
            <p:nvPr/>
          </p:nvSpPr>
          <p:spPr>
            <a:xfrm>
              <a:off x="5715000" y="27051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715000" y="2714625"/>
              <a:ext cx="762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−83%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03｜施策の詳細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既存システムは変えず、AIを橋渡し役として上に重ねる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施策B：接続と運用の仕組み（既存システムはそのまま）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注：接続対象システムは導入設計時に確定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10</a:t>
              </a:r>
            </a:p>
          </p:txBody>
        </p:sp>
      </p:grpSp>
      <p:grpSp>
        <p:nvGrpSpPr>
          <p:cNvPr id="11" name="既存システム"/>
          <p:cNvGrpSpPr/>
          <p:nvPr/>
        </p:nvGrpSpPr>
        <p:grpSpPr>
          <a:xfrm>
            <a:off x="609600" y="1771650"/>
            <a:ext cx="3162300" cy="2381250"/>
            <a:chOff x="609600" y="1771650"/>
            <a:chExt cx="3162300" cy="2381250"/>
          </a:xfrm>
        </p:grpSpPr>
        <p:sp>
          <p:nvSpPr>
            <p:cNvPr id="12" name="箱_SFA"/>
            <p:cNvSpPr/>
            <p:nvPr/>
          </p:nvSpPr>
          <p:spPr>
            <a:xfrm>
              <a:off x="609600" y="1771650"/>
              <a:ext cx="219075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1050" y="1885950"/>
              <a:ext cx="18478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SFA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1050" y="2114550"/>
              <a:ext cx="1847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顧客・商談情報</a:t>
              </a:r>
            </a:p>
          </p:txBody>
        </p:sp>
        <p:cxnSp>
          <p:nvCxnSpPr>
            <p:cNvPr id="15" name="収束線1"/>
            <p:cNvCxnSpPr/>
            <p:nvPr/>
          </p:nvCxnSpPr>
          <p:spPr>
            <a:xfrm>
              <a:off x="2800350" y="2085975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箱_会計システム"/>
            <p:cNvSpPr/>
            <p:nvPr/>
          </p:nvSpPr>
          <p:spPr>
            <a:xfrm>
              <a:off x="609600" y="2647950"/>
              <a:ext cx="219075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81050" y="2762250"/>
              <a:ext cx="18478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会計システム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81050" y="2990850"/>
              <a:ext cx="1847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価格・実績</a:t>
              </a:r>
            </a:p>
          </p:txBody>
        </p:sp>
        <p:cxnSp>
          <p:nvCxnSpPr>
            <p:cNvPr id="19" name="収束線2"/>
            <p:cNvCxnSpPr/>
            <p:nvPr/>
          </p:nvCxnSpPr>
          <p:spPr>
            <a:xfrm>
              <a:off x="2800350" y="2962275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箱_ファイルサーバ"/>
            <p:cNvSpPr/>
            <p:nvPr/>
          </p:nvSpPr>
          <p:spPr>
            <a:xfrm>
              <a:off x="609600" y="3524250"/>
              <a:ext cx="219075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81050" y="3638550"/>
              <a:ext cx="18478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ファイルサーバ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81050" y="3867150"/>
              <a:ext cx="1847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過去の資料</a:t>
              </a:r>
            </a:p>
          </p:txBody>
        </p:sp>
        <p:cxnSp>
          <p:nvCxnSpPr>
            <p:cNvPr id="23" name="収束線3"/>
            <p:cNvCxnSpPr/>
            <p:nvPr/>
          </p:nvCxnSpPr>
          <p:spPr>
            <a:xfrm>
              <a:off x="2800350" y="3838575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収束の背骨"/>
            <p:cNvCxnSpPr/>
            <p:nvPr/>
          </p:nvCxnSpPr>
          <p:spPr>
            <a:xfrm>
              <a:off x="3143250" y="2085975"/>
              <a:ext cx="0" cy="17526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収束の矢印"/>
            <p:cNvCxnSpPr/>
            <p:nvPr/>
          </p:nvCxnSpPr>
          <p:spPr>
            <a:xfrm>
              <a:off x="3143250" y="2962275"/>
              <a:ext cx="62865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AI基盤"/>
          <p:cNvGrpSpPr/>
          <p:nvPr/>
        </p:nvGrpSpPr>
        <p:grpSpPr>
          <a:xfrm>
            <a:off x="3810000" y="2152650"/>
            <a:ext cx="2667000" cy="1619250"/>
            <a:chOff x="3810000" y="2152650"/>
            <a:chExt cx="2667000" cy="1619250"/>
          </a:xfrm>
        </p:grpSpPr>
        <p:sp>
          <p:nvSpPr>
            <p:cNvPr id="27" name="AI基盤パネル"/>
            <p:cNvSpPr/>
            <p:nvPr/>
          </p:nvSpPr>
          <p:spPr>
            <a:xfrm>
              <a:off x="3810000" y="2152650"/>
              <a:ext cx="2667000" cy="1619250"/>
            </a:xfrm>
            <a:prstGeom prst="roundRect">
              <a:avLst>
                <a:gd name="adj" fmla="val 588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810000" y="2400300"/>
              <a:ext cx="2667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lt1"/>
                  </a:solidFill>
                </a:rPr>
                <a:t>AI基盤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810000" y="27241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下書き生成・書式統一・要約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4095750" y="3067050"/>
              <a:ext cx="20955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3810000" y="3200400"/>
              <a:ext cx="2667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社内環境で完結（データは外に出さない）</a:t>
              </a:r>
            </a:p>
          </p:txBody>
        </p:sp>
      </p:grpSp>
      <p:cxnSp>
        <p:nvCxnSpPr>
          <p:cNvPr id="32" name="接続矢印_AIから人へ"/>
          <p:cNvCxnSpPr/>
          <p:nvPr/>
        </p:nvCxnSpPr>
        <p:spPr>
          <a:xfrm>
            <a:off x="6477000" y="2962275"/>
            <a:ext cx="723900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人の確認"/>
          <p:cNvGrpSpPr/>
          <p:nvPr/>
        </p:nvGrpSpPr>
        <p:grpSpPr>
          <a:xfrm>
            <a:off x="7239000" y="2438400"/>
            <a:ext cx="1905000" cy="1047750"/>
            <a:chOff x="7239000" y="2438400"/>
            <a:chExt cx="1905000" cy="1047750"/>
          </a:xfrm>
        </p:grpSpPr>
        <p:sp>
          <p:nvSpPr>
            <p:cNvPr id="34" name="確認ボックス"/>
            <p:cNvSpPr/>
            <p:nvPr/>
          </p:nvSpPr>
          <p:spPr>
            <a:xfrm>
              <a:off x="7239000" y="2438400"/>
              <a:ext cx="1905000" cy="1047750"/>
            </a:xfrm>
            <a:prstGeom prst="roundRect">
              <a:avLst>
                <a:gd name="adj" fmla="val 7272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239000" y="268605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人が確認・調整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39000" y="29527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最終判断は必ず人が行う</a:t>
              </a:r>
            </a:p>
          </p:txBody>
        </p:sp>
      </p:grpSp>
      <p:cxnSp>
        <p:nvCxnSpPr>
          <p:cNvPr id="37" name="接続矢印_人から出力へ"/>
          <p:cNvCxnSpPr/>
          <p:nvPr/>
        </p:nvCxnSpPr>
        <p:spPr>
          <a:xfrm>
            <a:off x="9144000" y="2962275"/>
            <a:ext cx="685800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出力"/>
          <p:cNvGrpSpPr/>
          <p:nvPr/>
        </p:nvGrpSpPr>
        <p:grpSpPr>
          <a:xfrm>
            <a:off x="9867900" y="2438400"/>
            <a:ext cx="1714500" cy="1047750"/>
            <a:chOff x="9867900" y="2438400"/>
            <a:chExt cx="1714500" cy="1047750"/>
          </a:xfrm>
        </p:grpSpPr>
        <p:sp>
          <p:nvSpPr>
            <p:cNvPr id="39" name="出力ボックス"/>
            <p:cNvSpPr/>
            <p:nvPr/>
          </p:nvSpPr>
          <p:spPr>
            <a:xfrm>
              <a:off x="9867900" y="2438400"/>
              <a:ext cx="1714500" cy="1047750"/>
            </a:xfrm>
            <a:prstGeom prst="roundRect">
              <a:avLst>
                <a:gd name="adj" fmla="val 7272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867900" y="2686050"/>
              <a:ext cx="1714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統一書式で出力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867900" y="2952750"/>
              <a:ext cx="171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見積書・報告書・議事録</a:t>
              </a:r>
            </a:p>
          </p:txBody>
        </p:sp>
      </p:grpSp>
      <p:grpSp>
        <p:nvGrpSpPr>
          <p:cNvPr id="42" name="学習ループ"/>
          <p:cNvGrpSpPr/>
          <p:nvPr/>
        </p:nvGrpSpPr>
        <p:grpSpPr>
          <a:xfrm>
            <a:off x="5143500" y="3486150"/>
            <a:ext cx="3238500" cy="819150"/>
            <a:chOff x="5143500" y="3486150"/>
            <a:chExt cx="3238500" cy="819150"/>
          </a:xfrm>
        </p:grpSpPr>
        <p:cxnSp>
          <p:nvCxnSpPr>
            <p:cNvPr id="43" name="縦線1"/>
            <p:cNvCxnSpPr/>
            <p:nvPr/>
          </p:nvCxnSpPr>
          <p:spPr>
            <a:xfrm>
              <a:off x="8191500" y="3486150"/>
              <a:ext cx="0" cy="6096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横線"/>
            <p:cNvCxnSpPr/>
            <p:nvPr/>
          </p:nvCxnSpPr>
          <p:spPr>
            <a:xfrm flipH="1">
              <a:off x="5143500" y="4095750"/>
              <a:ext cx="30480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縦線2"/>
            <p:cNvCxnSpPr/>
            <p:nvPr/>
          </p:nvCxnSpPr>
          <p:spPr>
            <a:xfrm flipV="1">
              <a:off x="5143500" y="3810000"/>
              <a:ext cx="0" cy="28575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ラベル"/>
            <p:cNvSpPr/>
            <p:nvPr/>
          </p:nvSpPr>
          <p:spPr>
            <a:xfrm>
              <a:off x="5524500" y="41529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人の修正内容を学習し、下書きの精度が上がる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609600" y="4629150"/>
            <a:ext cx="2857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運用の3原則</a:t>
            </a:r>
          </a:p>
        </p:txBody>
      </p:sp>
      <p:grpSp>
        <p:nvGrpSpPr>
          <p:cNvPr id="48" name="運用原則1"/>
          <p:cNvGrpSpPr/>
          <p:nvPr/>
        </p:nvGrpSpPr>
        <p:grpSpPr>
          <a:xfrm>
            <a:off x="609600" y="4857750"/>
            <a:ext cx="3505200" cy="990600"/>
            <a:chOff x="609600" y="4857750"/>
            <a:chExt cx="3505200" cy="990600"/>
          </a:xfrm>
        </p:grpSpPr>
        <p:sp>
          <p:nvSpPr>
            <p:cNvPr id="49" name="カード"/>
            <p:cNvSpPr/>
            <p:nvPr/>
          </p:nvSpPr>
          <p:spPr>
            <a:xfrm>
              <a:off x="609600" y="4857750"/>
              <a:ext cx="3505200" cy="990600"/>
            </a:xfrm>
            <a:prstGeom prst="roundRect">
              <a:avLst>
                <a:gd name="adj" fmla="val 7692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番号1"/>
            <p:cNvSpPr/>
            <p:nvPr/>
          </p:nvSpPr>
          <p:spPr>
            <a:xfrm>
              <a:off x="800100" y="504825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0100" y="50577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81100" y="5067300"/>
              <a:ext cx="2762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必ず人が承認する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181100" y="5334000"/>
              <a:ext cx="2762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AIの出力は担当者の承認なしに</a:t>
              </a:r>
            </a:p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社外へ出ない</a:t>
              </a:r>
            </a:p>
          </p:txBody>
        </p:sp>
      </p:grpSp>
      <p:grpSp>
        <p:nvGrpSpPr>
          <p:cNvPr id="54" name="運用原則2"/>
          <p:cNvGrpSpPr/>
          <p:nvPr/>
        </p:nvGrpSpPr>
        <p:grpSpPr>
          <a:xfrm>
            <a:off x="4343400" y="4857750"/>
            <a:ext cx="3505200" cy="990600"/>
            <a:chOff x="4343400" y="4857750"/>
            <a:chExt cx="3505200" cy="990600"/>
          </a:xfrm>
        </p:grpSpPr>
        <p:sp>
          <p:nvSpPr>
            <p:cNvPr id="55" name="カード"/>
            <p:cNvSpPr/>
            <p:nvPr/>
          </p:nvSpPr>
          <p:spPr>
            <a:xfrm>
              <a:off x="4343400" y="4857750"/>
              <a:ext cx="3505200" cy="990600"/>
            </a:xfrm>
            <a:prstGeom prst="roundRect">
              <a:avLst>
                <a:gd name="adj" fmla="val 7692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番号2"/>
            <p:cNvSpPr/>
            <p:nvPr/>
          </p:nvSpPr>
          <p:spPr>
            <a:xfrm>
              <a:off x="4533900" y="504825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533900" y="50577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914900" y="5067300"/>
              <a:ext cx="2762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権限は現行を踏襲する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914900" y="5334000"/>
              <a:ext cx="2762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閲覧・編集の範囲は既存システム</a:t>
              </a:r>
            </a:p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の権限設定に従う</a:t>
              </a:r>
            </a:p>
          </p:txBody>
        </p:sp>
      </p:grpSp>
      <p:grpSp>
        <p:nvGrpSpPr>
          <p:cNvPr id="60" name="運用原則3"/>
          <p:cNvGrpSpPr/>
          <p:nvPr/>
        </p:nvGrpSpPr>
        <p:grpSpPr>
          <a:xfrm>
            <a:off x="8077200" y="4857750"/>
            <a:ext cx="3505200" cy="990600"/>
            <a:chOff x="8077200" y="4857750"/>
            <a:chExt cx="3505200" cy="990600"/>
          </a:xfrm>
        </p:grpSpPr>
        <p:sp>
          <p:nvSpPr>
            <p:cNvPr id="61" name="カード"/>
            <p:cNvSpPr/>
            <p:nvPr/>
          </p:nvSpPr>
          <p:spPr>
            <a:xfrm>
              <a:off x="8077200" y="4857750"/>
              <a:ext cx="3505200" cy="990600"/>
            </a:xfrm>
            <a:prstGeom prst="roundRect">
              <a:avLst>
                <a:gd name="adj" fmla="val 7692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番号3"/>
            <p:cNvSpPr/>
            <p:nvPr/>
          </p:nvSpPr>
          <p:spPr>
            <a:xfrm>
              <a:off x="8267700" y="504825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267700" y="50577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648700" y="5067300"/>
              <a:ext cx="2762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データは社内に限定する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8648700" y="5334000"/>
              <a:ext cx="2762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学習は自社データのみ。</a:t>
              </a:r>
            </a:p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外部への送信は行わない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04｜効果と計画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書類時間は初年度で半減し、投資は7ヶ月で回収できる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主要KPIと投資回収の見通し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出所：△△コンサルティング試算（数値はサンプル）　　注：効果は削減時間の人件費換算（4,000円/時間）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11</a:t>
              </a:r>
            </a:p>
          </p:txBody>
        </p:sp>
      </p:grpSp>
      <p:grpSp>
        <p:nvGrpSpPr>
          <p:cNvPr id="11" name="KPIカード1"/>
          <p:cNvGrpSpPr/>
          <p:nvPr/>
        </p:nvGrpSpPr>
        <p:grpSpPr>
          <a:xfrm>
            <a:off x="609600" y="1581150"/>
            <a:ext cx="3505200" cy="1219200"/>
            <a:chOff x="609600" y="1581150"/>
            <a:chExt cx="3505200" cy="1219200"/>
          </a:xfrm>
        </p:grpSpPr>
        <p:sp>
          <p:nvSpPr>
            <p:cNvPr id="12" name="カード"/>
            <p:cNvSpPr/>
            <p:nvPr/>
          </p:nvSpPr>
          <p:spPr>
            <a:xfrm>
              <a:off x="609600" y="1581150"/>
              <a:ext cx="3505200" cy="12192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指標名"/>
            <p:cNvSpPr/>
            <p:nvPr/>
          </p:nvSpPr>
          <p:spPr>
            <a:xfrm>
              <a:off x="819150" y="17335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書類作成時間（1人・週）</a:t>
              </a:r>
            </a:p>
          </p:txBody>
        </p:sp>
        <p:sp>
          <p:nvSpPr>
            <p:cNvPr id="14" name="数値"/>
            <p:cNvSpPr/>
            <p:nvPr/>
          </p:nvSpPr>
          <p:spPr>
            <a:xfrm>
              <a:off x="819150" y="1943100"/>
              <a:ext cx="30861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6.5時間</a:t>
              </a:r>
            </a:p>
          </p:txBody>
        </p:sp>
        <p:sp>
          <p:nvSpPr>
            <p:cNvPr id="15" name="補足"/>
            <p:cNvSpPr/>
            <p:nvPr/>
          </p:nvSpPr>
          <p:spPr>
            <a:xfrm>
              <a:off x="819150" y="249555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現状 13.1時間から</a:t>
              </a:r>
            </a:p>
          </p:txBody>
        </p:sp>
        <p:sp>
          <p:nvSpPr>
            <p:cNvPr id="16" name="増減チップ"/>
            <p:cNvSpPr/>
            <p:nvPr/>
          </p:nvSpPr>
          <p:spPr>
            <a:xfrm>
              <a:off x="3333750" y="24574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33750" y="2466975"/>
              <a:ext cx="571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−50%</a:t>
              </a:r>
            </a:p>
          </p:txBody>
        </p:sp>
      </p:grpSp>
      <p:grpSp>
        <p:nvGrpSpPr>
          <p:cNvPr id="18" name="KPIカード2"/>
          <p:cNvGrpSpPr/>
          <p:nvPr/>
        </p:nvGrpSpPr>
        <p:grpSpPr>
          <a:xfrm>
            <a:off x="4343400" y="1581150"/>
            <a:ext cx="3505200" cy="1219200"/>
            <a:chOff x="4343400" y="1581150"/>
            <a:chExt cx="3505200" cy="1219200"/>
          </a:xfrm>
        </p:grpSpPr>
        <p:sp>
          <p:nvSpPr>
            <p:cNvPr id="19" name="カード"/>
            <p:cNvSpPr/>
            <p:nvPr/>
          </p:nvSpPr>
          <p:spPr>
            <a:xfrm>
              <a:off x="4343400" y="1581150"/>
              <a:ext cx="3505200" cy="12192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指標名"/>
            <p:cNvSpPr/>
            <p:nvPr/>
          </p:nvSpPr>
          <p:spPr>
            <a:xfrm>
              <a:off x="4552950" y="17335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創出される営業時間（年）</a:t>
              </a:r>
            </a:p>
          </p:txBody>
        </p:sp>
        <p:sp>
          <p:nvSpPr>
            <p:cNvPr id="21" name="数値"/>
            <p:cNvSpPr/>
            <p:nvPr/>
          </p:nvSpPr>
          <p:spPr>
            <a:xfrm>
              <a:off x="4552950" y="1943100"/>
              <a:ext cx="30861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+1.9万時間</a:t>
              </a:r>
            </a:p>
          </p:txBody>
        </p:sp>
        <p:sp>
          <p:nvSpPr>
            <p:cNvPr id="22" name="補足"/>
            <p:cNvSpPr/>
            <p:nvPr/>
          </p:nvSpPr>
          <p:spPr>
            <a:xfrm>
              <a:off x="4552950" y="249555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営業60名の合計</a:t>
              </a:r>
            </a:p>
          </p:txBody>
        </p:sp>
      </p:grpSp>
      <p:grpSp>
        <p:nvGrpSpPr>
          <p:cNvPr id="23" name="KPIカード3"/>
          <p:cNvGrpSpPr/>
          <p:nvPr/>
        </p:nvGrpSpPr>
        <p:grpSpPr>
          <a:xfrm>
            <a:off x="8077200" y="1581150"/>
            <a:ext cx="3505200" cy="1219200"/>
            <a:chOff x="8077200" y="1581150"/>
            <a:chExt cx="3505200" cy="1219200"/>
          </a:xfrm>
        </p:grpSpPr>
        <p:sp>
          <p:nvSpPr>
            <p:cNvPr id="24" name="カード"/>
            <p:cNvSpPr/>
            <p:nvPr/>
          </p:nvSpPr>
          <p:spPr>
            <a:xfrm>
              <a:off x="8077200" y="1581150"/>
              <a:ext cx="3505200" cy="12192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指標名"/>
            <p:cNvSpPr/>
            <p:nvPr/>
          </p:nvSpPr>
          <p:spPr>
            <a:xfrm>
              <a:off x="8286750" y="17335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投資回収期間</a:t>
              </a:r>
            </a:p>
          </p:txBody>
        </p:sp>
        <p:sp>
          <p:nvSpPr>
            <p:cNvPr id="26" name="数値"/>
            <p:cNvSpPr/>
            <p:nvPr/>
          </p:nvSpPr>
          <p:spPr>
            <a:xfrm>
              <a:off x="8286750" y="1943100"/>
              <a:ext cx="30861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7ヶ月</a:t>
              </a:r>
            </a:p>
          </p:txBody>
        </p:sp>
        <p:sp>
          <p:nvSpPr>
            <p:cNvPr id="27" name="補足"/>
            <p:cNvSpPr/>
            <p:nvPr/>
          </p:nvSpPr>
          <p:spPr>
            <a:xfrm>
              <a:off x="8286750" y="249555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初年度投資 860万円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609600" y="3067050"/>
            <a:ext cx="6667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累計効果と累計投資の推移（万円）</a:t>
            </a:r>
          </a:p>
        </p:txBody>
      </p:sp>
      <p:grpSp>
        <p:nvGrpSpPr>
          <p:cNvPr id="29" name="投資回収グラフ"/>
          <p:cNvGrpSpPr/>
          <p:nvPr/>
        </p:nvGrpSpPr>
        <p:grpSpPr>
          <a:xfrm>
            <a:off x="857250" y="3333750"/>
            <a:ext cx="10725150" cy="2686050"/>
            <a:chOff x="857250" y="3333750"/>
            <a:chExt cx="10725150" cy="2686050"/>
          </a:xfrm>
        </p:grpSpPr>
        <p:cxnSp>
          <p:nvCxnSpPr>
            <p:cNvPr id="30" name="基準線"/>
            <p:cNvCxnSpPr/>
            <p:nvPr/>
          </p:nvCxnSpPr>
          <p:spPr>
            <a:xfrm>
              <a:off x="857250" y="5810250"/>
              <a:ext cx="10725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効果1月"/>
            <p:cNvSpPr/>
            <p:nvPr/>
          </p:nvSpPr>
          <p:spPr>
            <a:xfrm>
              <a:off x="1123950" y="5789325"/>
              <a:ext cx="533400" cy="209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軸1月"/>
            <p:cNvSpPr/>
            <p:nvPr/>
          </p:nvSpPr>
          <p:spPr>
            <a:xfrm>
              <a:off x="9715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1月</a:t>
              </a:r>
            </a:p>
          </p:txBody>
        </p:sp>
        <p:sp>
          <p:nvSpPr>
            <p:cNvPr id="33" name="効果2月"/>
            <p:cNvSpPr/>
            <p:nvPr/>
          </p:nvSpPr>
          <p:spPr>
            <a:xfrm>
              <a:off x="1981200" y="5768401"/>
              <a:ext cx="533400" cy="418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軸2月"/>
            <p:cNvSpPr/>
            <p:nvPr/>
          </p:nvSpPr>
          <p:spPr>
            <a:xfrm>
              <a:off x="18288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35" name="効果3月"/>
            <p:cNvSpPr/>
            <p:nvPr/>
          </p:nvSpPr>
          <p:spPr>
            <a:xfrm>
              <a:off x="2838450" y="5747476"/>
              <a:ext cx="533400" cy="6277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軸3月"/>
            <p:cNvSpPr/>
            <p:nvPr/>
          </p:nvSpPr>
          <p:spPr>
            <a:xfrm>
              <a:off x="26860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37" name="効果4月"/>
            <p:cNvSpPr/>
            <p:nvPr/>
          </p:nvSpPr>
          <p:spPr>
            <a:xfrm>
              <a:off x="3695700" y="5669009"/>
              <a:ext cx="533400" cy="141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軸4月"/>
            <p:cNvSpPr/>
            <p:nvPr/>
          </p:nvSpPr>
          <p:spPr>
            <a:xfrm>
              <a:off x="35433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39" name="効果5月"/>
            <p:cNvSpPr/>
            <p:nvPr/>
          </p:nvSpPr>
          <p:spPr>
            <a:xfrm>
              <a:off x="4552950" y="5590542"/>
              <a:ext cx="533400" cy="2197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軸5月"/>
            <p:cNvSpPr/>
            <p:nvPr/>
          </p:nvSpPr>
          <p:spPr>
            <a:xfrm>
              <a:off x="44005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41" name="効果6月"/>
            <p:cNvSpPr/>
            <p:nvPr/>
          </p:nvSpPr>
          <p:spPr>
            <a:xfrm>
              <a:off x="5410200" y="5512076"/>
              <a:ext cx="533400" cy="29817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軸6月"/>
            <p:cNvSpPr/>
            <p:nvPr/>
          </p:nvSpPr>
          <p:spPr>
            <a:xfrm>
              <a:off x="52578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43" name="効果7月"/>
            <p:cNvSpPr/>
            <p:nvPr/>
          </p:nvSpPr>
          <p:spPr>
            <a:xfrm>
              <a:off x="6267450" y="5182515"/>
              <a:ext cx="533400" cy="6277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軸7月"/>
            <p:cNvSpPr/>
            <p:nvPr/>
          </p:nvSpPr>
          <p:spPr>
            <a:xfrm>
              <a:off x="61150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7月</a:t>
              </a:r>
            </a:p>
          </p:txBody>
        </p:sp>
        <p:sp>
          <p:nvSpPr>
            <p:cNvPr id="45" name="値7月"/>
            <p:cNvSpPr/>
            <p:nvPr/>
          </p:nvSpPr>
          <p:spPr>
            <a:xfrm>
              <a:off x="6057900" y="4992015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1,200</a:t>
              </a:r>
            </a:p>
          </p:txBody>
        </p:sp>
        <p:sp>
          <p:nvSpPr>
            <p:cNvPr id="46" name="効果8月"/>
            <p:cNvSpPr/>
            <p:nvPr/>
          </p:nvSpPr>
          <p:spPr>
            <a:xfrm>
              <a:off x="7124700" y="4847723"/>
              <a:ext cx="533400" cy="96252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軸8月"/>
            <p:cNvSpPr/>
            <p:nvPr/>
          </p:nvSpPr>
          <p:spPr>
            <a:xfrm>
              <a:off x="69723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8月</a:t>
              </a:r>
            </a:p>
          </p:txBody>
        </p:sp>
        <p:sp>
          <p:nvSpPr>
            <p:cNvPr id="48" name="効果9月"/>
            <p:cNvSpPr/>
            <p:nvPr/>
          </p:nvSpPr>
          <p:spPr>
            <a:xfrm>
              <a:off x="7981950" y="4518163"/>
              <a:ext cx="533400" cy="12920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軸9月"/>
            <p:cNvSpPr/>
            <p:nvPr/>
          </p:nvSpPr>
          <p:spPr>
            <a:xfrm>
              <a:off x="78295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9月</a:t>
              </a:r>
            </a:p>
          </p:txBody>
        </p:sp>
        <p:sp>
          <p:nvSpPr>
            <p:cNvPr id="50" name="効果10月"/>
            <p:cNvSpPr/>
            <p:nvPr/>
          </p:nvSpPr>
          <p:spPr>
            <a:xfrm>
              <a:off x="8839200" y="4188602"/>
              <a:ext cx="533400" cy="1621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軸10月"/>
            <p:cNvSpPr/>
            <p:nvPr/>
          </p:nvSpPr>
          <p:spPr>
            <a:xfrm>
              <a:off x="86868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10月</a:t>
              </a:r>
            </a:p>
          </p:txBody>
        </p:sp>
        <p:sp>
          <p:nvSpPr>
            <p:cNvPr id="52" name="効果11月"/>
            <p:cNvSpPr/>
            <p:nvPr/>
          </p:nvSpPr>
          <p:spPr>
            <a:xfrm>
              <a:off x="9696450" y="3853810"/>
              <a:ext cx="533400" cy="19564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軸11月"/>
            <p:cNvSpPr/>
            <p:nvPr/>
          </p:nvSpPr>
          <p:spPr>
            <a:xfrm>
              <a:off x="95440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11月</a:t>
              </a:r>
            </a:p>
          </p:txBody>
        </p:sp>
        <p:sp>
          <p:nvSpPr>
            <p:cNvPr id="54" name="効果12月"/>
            <p:cNvSpPr/>
            <p:nvPr/>
          </p:nvSpPr>
          <p:spPr>
            <a:xfrm>
              <a:off x="10553700" y="3524250"/>
              <a:ext cx="533400" cy="22859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軸12月"/>
            <p:cNvSpPr/>
            <p:nvPr/>
          </p:nvSpPr>
          <p:spPr>
            <a:xfrm>
              <a:off x="104013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12月</a:t>
              </a:r>
            </a:p>
          </p:txBody>
        </p:sp>
        <p:sp>
          <p:nvSpPr>
            <p:cNvPr id="56" name="値12月"/>
            <p:cNvSpPr/>
            <p:nvPr/>
          </p:nvSpPr>
          <p:spPr>
            <a:xfrm>
              <a:off x="10344150" y="3333750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4,370</a:t>
              </a:r>
            </a:p>
          </p:txBody>
        </p:sp>
        <p:cxnSp>
          <p:nvCxnSpPr>
            <p:cNvPr id="57" name="累計投資線"/>
            <p:cNvCxnSpPr/>
            <p:nvPr/>
          </p:nvCxnSpPr>
          <p:spPr>
            <a:xfrm flipV="1">
              <a:off x="952500" y="5360373"/>
              <a:ext cx="10572750" cy="230169"/>
            </a:xfrm>
            <a:prstGeom prst="bentConnector3">
              <a:avLst/>
            </a:prstGeom>
            <a:ln w="14287">
              <a:solidFill>
                <a:schemeClr val="dk2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投資ラベル"/>
            <p:cNvSpPr/>
            <p:nvPr/>
          </p:nvSpPr>
          <p:spPr>
            <a:xfrm>
              <a:off x="952500" y="5380992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累計投資（初期380万＋月40万）</a:t>
              </a:r>
            </a:p>
          </p:txBody>
        </p:sp>
        <p:sp>
          <p:nvSpPr>
            <p:cNvPr id="59" name="効果ラベル"/>
            <p:cNvSpPr/>
            <p:nvPr/>
          </p:nvSpPr>
          <p:spPr>
            <a:xfrm>
              <a:off x="9620250" y="33337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累計効果</a:t>
              </a:r>
            </a:p>
          </p:txBody>
        </p:sp>
      </p:grpSp>
      <p:grpSp>
        <p:nvGrpSpPr>
          <p:cNvPr id="60" name="回収注記"/>
          <p:cNvGrpSpPr/>
          <p:nvPr/>
        </p:nvGrpSpPr>
        <p:grpSpPr>
          <a:xfrm>
            <a:off x="5829300" y="4477665"/>
            <a:ext cx="1409700" cy="419100"/>
            <a:chOff x="5829300" y="4477665"/>
            <a:chExt cx="1409700" cy="419100"/>
          </a:xfrm>
        </p:grpSpPr>
        <p:sp>
          <p:nvSpPr>
            <p:cNvPr id="61" name="吹き出し_回収点"/>
            <p:cNvSpPr/>
            <p:nvPr/>
          </p:nvSpPr>
          <p:spPr>
            <a:xfrm>
              <a:off x="5829300" y="4477665"/>
              <a:ext cx="1409700" cy="419100"/>
            </a:xfrm>
            <a:custGeom>
              <a:avLst/>
              <a:gdLst/>
              <a:ahLst/>
              <a:cxnLst/>
              <a:rect l="0" t="0" r="1409700" b="323850"/>
              <a:pathLst>
                <a:path w="1409700" h="419100">
                  <a:moveTo>
                    <a:pt x="57150" y="0"/>
                  </a:moveTo>
                  <a:lnTo>
                    <a:pt x="1352550" y="0"/>
                  </a:lnTo>
                  <a:arcTo wR="57150" hR="57150" stAng="16200000" swAng="5400000"/>
                  <a:lnTo>
                    <a:pt x="1409700" y="266700"/>
                  </a:lnTo>
                  <a:arcTo wR="57150" hR="57150" stAng="0" swAng="5400000"/>
                  <a:lnTo>
                    <a:pt x="771525" y="323850"/>
                  </a:lnTo>
                  <a:lnTo>
                    <a:pt x="704850" y="419100"/>
                  </a:lnTo>
                  <a:lnTo>
                    <a:pt x="638175" y="323850"/>
                  </a:lnTo>
                  <a:lnTo>
                    <a:pt x="57150" y="32385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962650" y="4477665"/>
              <a:ext cx="11430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lt1"/>
                  </a:solidFill>
                </a:rPr>
                <a:t>7ヶ月目に投資回収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04｜効果と計画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最初の3ヶ月は1部署で試し、効果を見てから全社へ広げる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導入ロードマップ（6ヶ月・3フェーズ）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注：M3末の継続判断までは縮小・中止が可能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12</a:t>
              </a:r>
            </a:p>
          </p:txBody>
        </p:sp>
      </p:grpSp>
      <p:grpSp>
        <p:nvGrpSpPr>
          <p:cNvPr id="11" name="フェーズ帯"/>
          <p:cNvGrpSpPr/>
          <p:nvPr/>
        </p:nvGrpSpPr>
        <p:grpSpPr>
          <a:xfrm>
            <a:off x="2057400" y="1619250"/>
            <a:ext cx="9505950" cy="266700"/>
            <a:chOff x="2057400" y="1619250"/>
            <a:chExt cx="9505950" cy="266700"/>
          </a:xfrm>
        </p:grpSpPr>
        <p:sp>
          <p:nvSpPr>
            <p:cNvPr id="12" name="フェーズ1｜試行（1部署）"/>
            <p:cNvSpPr/>
            <p:nvPr/>
          </p:nvSpPr>
          <p:spPr>
            <a:xfrm>
              <a:off x="2057400" y="1619250"/>
              <a:ext cx="4733925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57400" y="1628775"/>
              <a:ext cx="473392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フェーズ1｜試行（1部署）</a:t>
              </a:r>
            </a:p>
          </p:txBody>
        </p:sp>
        <p:sp>
          <p:nvSpPr>
            <p:cNvPr id="14" name="フェーズ2｜展開"/>
            <p:cNvSpPr/>
            <p:nvPr/>
          </p:nvSpPr>
          <p:spPr>
            <a:xfrm>
              <a:off x="6829425" y="1619250"/>
              <a:ext cx="31432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29425" y="1628775"/>
              <a:ext cx="31432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フェーズ2｜展開</a:t>
              </a:r>
            </a:p>
          </p:txBody>
        </p:sp>
        <p:sp>
          <p:nvSpPr>
            <p:cNvPr id="16" name="フェーズ3｜定着"/>
            <p:cNvSpPr/>
            <p:nvPr/>
          </p:nvSpPr>
          <p:spPr>
            <a:xfrm>
              <a:off x="10010775" y="1619250"/>
              <a:ext cx="1552575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010775" y="1628775"/>
              <a:ext cx="155257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フェーズ3｜定着</a:t>
              </a:r>
            </a:p>
          </p:txBody>
        </p:sp>
      </p:grpSp>
      <p:grpSp>
        <p:nvGrpSpPr>
          <p:cNvPr id="18" name="月グリッド"/>
          <p:cNvGrpSpPr/>
          <p:nvPr/>
        </p:nvGrpSpPr>
        <p:grpSpPr>
          <a:xfrm>
            <a:off x="2038350" y="1981200"/>
            <a:ext cx="9544050" cy="3371850"/>
            <a:chOff x="2038350" y="1981200"/>
            <a:chExt cx="9544050" cy="3371850"/>
          </a:xfrm>
        </p:grpSpPr>
        <p:sp>
          <p:nvSpPr>
            <p:cNvPr id="19" name="月1"/>
            <p:cNvSpPr/>
            <p:nvPr/>
          </p:nvSpPr>
          <p:spPr>
            <a:xfrm>
              <a:off x="2038350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1ヶ月目</a:t>
              </a:r>
            </a:p>
          </p:txBody>
        </p:sp>
        <p:sp>
          <p:nvSpPr>
            <p:cNvPr id="20" name="月2"/>
            <p:cNvSpPr/>
            <p:nvPr/>
          </p:nvSpPr>
          <p:spPr>
            <a:xfrm>
              <a:off x="3629025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2ヶ月目</a:t>
              </a:r>
            </a:p>
          </p:txBody>
        </p:sp>
        <p:sp>
          <p:nvSpPr>
            <p:cNvPr id="21" name="月3"/>
            <p:cNvSpPr/>
            <p:nvPr/>
          </p:nvSpPr>
          <p:spPr>
            <a:xfrm>
              <a:off x="5219700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3ヶ月目</a:t>
              </a:r>
            </a:p>
          </p:txBody>
        </p:sp>
        <p:sp>
          <p:nvSpPr>
            <p:cNvPr id="22" name="月4"/>
            <p:cNvSpPr/>
            <p:nvPr/>
          </p:nvSpPr>
          <p:spPr>
            <a:xfrm>
              <a:off x="6810375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4ヶ月目</a:t>
              </a:r>
            </a:p>
          </p:txBody>
        </p:sp>
        <p:sp>
          <p:nvSpPr>
            <p:cNvPr id="23" name="月5"/>
            <p:cNvSpPr/>
            <p:nvPr/>
          </p:nvSpPr>
          <p:spPr>
            <a:xfrm>
              <a:off x="8401050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5ヶ月目</a:t>
              </a:r>
            </a:p>
          </p:txBody>
        </p:sp>
        <p:sp>
          <p:nvSpPr>
            <p:cNvPr id="24" name="月6"/>
            <p:cNvSpPr/>
            <p:nvPr/>
          </p:nvSpPr>
          <p:spPr>
            <a:xfrm>
              <a:off x="9991725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6ヶ月目</a:t>
              </a:r>
            </a:p>
          </p:txBody>
        </p:sp>
        <p:cxnSp>
          <p:nvCxnSpPr>
            <p:cNvPr id="25" name="目盛0"/>
            <p:cNvCxnSpPr/>
            <p:nvPr/>
          </p:nvCxnSpPr>
          <p:spPr>
            <a:xfrm>
              <a:off x="203835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目盛1"/>
            <p:cNvCxnSpPr/>
            <p:nvPr/>
          </p:nvCxnSpPr>
          <p:spPr>
            <a:xfrm>
              <a:off x="3629025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目盛2"/>
            <p:cNvCxnSpPr/>
            <p:nvPr/>
          </p:nvCxnSpPr>
          <p:spPr>
            <a:xfrm>
              <a:off x="521970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目盛3"/>
            <p:cNvCxnSpPr/>
            <p:nvPr/>
          </p:nvCxnSpPr>
          <p:spPr>
            <a:xfrm>
              <a:off x="6810375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目盛4"/>
            <p:cNvCxnSpPr/>
            <p:nvPr/>
          </p:nvCxnSpPr>
          <p:spPr>
            <a:xfrm>
              <a:off x="840105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目盛5"/>
            <p:cNvCxnSpPr/>
            <p:nvPr/>
          </p:nvCxnSpPr>
          <p:spPr>
            <a:xfrm>
              <a:off x="9991725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目盛6"/>
            <p:cNvCxnSpPr/>
            <p:nvPr/>
          </p:nvCxnSpPr>
          <p:spPr>
            <a:xfrm>
              <a:off x="1158240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レーン_業務設計"/>
          <p:cNvGrpSpPr/>
          <p:nvPr/>
        </p:nvGrpSpPr>
        <p:grpSpPr>
          <a:xfrm>
            <a:off x="609600" y="2609850"/>
            <a:ext cx="10972800" cy="723900"/>
            <a:chOff x="609600" y="2609850"/>
            <a:chExt cx="10972800" cy="723900"/>
          </a:xfrm>
        </p:grpSpPr>
        <p:sp>
          <p:nvSpPr>
            <p:cNvPr id="33" name="レーン名"/>
            <p:cNvSpPr/>
            <p:nvPr/>
          </p:nvSpPr>
          <p:spPr>
            <a:xfrm>
              <a:off x="609600" y="264795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業務設計</a:t>
              </a:r>
            </a:p>
          </p:txBody>
        </p:sp>
        <p:cxnSp>
          <p:nvCxnSpPr>
            <p:cNvPr id="34" name="行区切り"/>
            <p:cNvCxnSpPr/>
            <p:nvPr/>
          </p:nvCxnSpPr>
          <p:spPr>
            <a:xfrm>
              <a:off x="609600" y="33337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バー_対象業務の棚卸し・書式統一"/>
            <p:cNvSpPr/>
            <p:nvPr/>
          </p:nvSpPr>
          <p:spPr>
            <a:xfrm>
              <a:off x="2114550" y="2609850"/>
              <a:ext cx="302895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14550" y="2619375"/>
              <a:ext cx="3028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対象業務の棚卸し・書式統一</a:t>
              </a:r>
            </a:p>
          </p:txBody>
        </p:sp>
        <p:sp>
          <p:nvSpPr>
            <p:cNvPr id="37" name="バー_展開部署の業務設計"/>
            <p:cNvSpPr/>
            <p:nvPr/>
          </p:nvSpPr>
          <p:spPr>
            <a:xfrm>
              <a:off x="6886575" y="2609850"/>
              <a:ext cx="1438275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886575" y="2619375"/>
              <a:ext cx="143827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展開部署の業務設計</a:t>
              </a:r>
            </a:p>
          </p:txBody>
        </p:sp>
      </p:grpSp>
      <p:grpSp>
        <p:nvGrpSpPr>
          <p:cNvPr id="39" name="レーン_システム・AI"/>
          <p:cNvGrpSpPr/>
          <p:nvPr/>
        </p:nvGrpSpPr>
        <p:grpSpPr>
          <a:xfrm>
            <a:off x="609600" y="3619500"/>
            <a:ext cx="10972800" cy="723900"/>
            <a:chOff x="609600" y="3619500"/>
            <a:chExt cx="10972800" cy="723900"/>
          </a:xfrm>
        </p:grpSpPr>
        <p:sp>
          <p:nvSpPr>
            <p:cNvPr id="40" name="レーン名"/>
            <p:cNvSpPr/>
            <p:nvPr/>
          </p:nvSpPr>
          <p:spPr>
            <a:xfrm>
              <a:off x="609600" y="365760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システム・AI</a:t>
              </a:r>
            </a:p>
          </p:txBody>
        </p:sp>
        <p:cxnSp>
          <p:nvCxnSpPr>
            <p:cNvPr id="41" name="行区切り"/>
            <p:cNvCxnSpPr/>
            <p:nvPr/>
          </p:nvCxnSpPr>
          <p:spPr>
            <a:xfrm>
              <a:off x="609600" y="43434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バー_システム接続・下書き精度の調整"/>
            <p:cNvSpPr/>
            <p:nvPr/>
          </p:nvSpPr>
          <p:spPr>
            <a:xfrm>
              <a:off x="2114550" y="3619500"/>
              <a:ext cx="4619625" cy="323850"/>
            </a:xfrm>
            <a:prstGeom prst="roundRect">
              <a:avLst>
                <a:gd name="adj" fmla="val 23529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114550" y="3629025"/>
              <a:ext cx="461962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システム接続・下書き精度の調整</a:t>
              </a:r>
            </a:p>
          </p:txBody>
        </p:sp>
        <p:sp>
          <p:nvSpPr>
            <p:cNvPr id="44" name="バー_精度改善・対象書類の追加"/>
            <p:cNvSpPr/>
            <p:nvPr/>
          </p:nvSpPr>
          <p:spPr>
            <a:xfrm>
              <a:off x="6886575" y="3619500"/>
              <a:ext cx="4619625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86575" y="3629025"/>
              <a:ext cx="461962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精度改善・対象書類の追加</a:t>
              </a:r>
            </a:p>
          </p:txBody>
        </p:sp>
      </p:grpSp>
      <p:grpSp>
        <p:nvGrpSpPr>
          <p:cNvPr id="46" name="レーン_教育・定着"/>
          <p:cNvGrpSpPr/>
          <p:nvPr/>
        </p:nvGrpSpPr>
        <p:grpSpPr>
          <a:xfrm>
            <a:off x="609600" y="4629150"/>
            <a:ext cx="10972800" cy="723900"/>
            <a:chOff x="609600" y="4629150"/>
            <a:chExt cx="10972800" cy="723900"/>
          </a:xfrm>
        </p:grpSpPr>
        <p:sp>
          <p:nvSpPr>
            <p:cNvPr id="47" name="レーン名"/>
            <p:cNvSpPr/>
            <p:nvPr/>
          </p:nvSpPr>
          <p:spPr>
            <a:xfrm>
              <a:off x="609600" y="466725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教育・定着</a:t>
              </a:r>
            </a:p>
          </p:txBody>
        </p:sp>
        <p:cxnSp>
          <p:nvCxnSpPr>
            <p:cNvPr id="48" name="行区切り"/>
            <p:cNvCxnSpPr/>
            <p:nvPr/>
          </p:nvCxnSpPr>
          <p:spPr>
            <a:xfrm>
              <a:off x="609600" y="53530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バー_パイロット部署で運用"/>
            <p:cNvSpPr/>
            <p:nvPr/>
          </p:nvSpPr>
          <p:spPr>
            <a:xfrm>
              <a:off x="3705225" y="4629150"/>
              <a:ext cx="302895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705225" y="4638675"/>
              <a:ext cx="3028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パイロット部署で運用</a:t>
              </a:r>
            </a:p>
          </p:txBody>
        </p:sp>
        <p:sp>
          <p:nvSpPr>
            <p:cNvPr id="51" name="バー_全社展開・定着支援"/>
            <p:cNvSpPr/>
            <p:nvPr/>
          </p:nvSpPr>
          <p:spPr>
            <a:xfrm>
              <a:off x="6886575" y="4629150"/>
              <a:ext cx="4619625" cy="323850"/>
            </a:xfrm>
            <a:prstGeom prst="roundRect">
              <a:avLst>
                <a:gd name="adj" fmla="val 23529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886575" y="4638675"/>
              <a:ext cx="461962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全社展開・定着支援</a:t>
              </a:r>
            </a:p>
          </p:txBody>
        </p:sp>
      </p:grpSp>
      <p:grpSp>
        <p:nvGrpSpPr>
          <p:cNvPr id="53" name="マイルストーン"/>
          <p:cNvGrpSpPr/>
          <p:nvPr/>
        </p:nvGrpSpPr>
        <p:grpSpPr>
          <a:xfrm>
            <a:off x="5762625" y="5524500"/>
            <a:ext cx="5876925" cy="323850"/>
            <a:chOff x="5762625" y="5524500"/>
            <a:chExt cx="5876925" cy="323850"/>
          </a:xfrm>
        </p:grpSpPr>
        <p:sp>
          <p:nvSpPr>
            <p:cNvPr id="54" name="節目_効果検証・継続のご判断"/>
            <p:cNvSpPr/>
            <p:nvPr/>
          </p:nvSpPr>
          <p:spPr>
            <a:xfrm>
              <a:off x="6753225" y="5524500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節目ラベル_効果検証・継続のご判断"/>
            <p:cNvSpPr/>
            <p:nvPr/>
          </p:nvSpPr>
          <p:spPr>
            <a:xfrm>
              <a:off x="5762625" y="56959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効果検証・継続のご判断</a:t>
              </a:r>
            </a:p>
          </p:txBody>
        </p:sp>
        <p:sp>
          <p:nvSpPr>
            <p:cNvPr id="56" name="節目_経営報告・次期計画"/>
            <p:cNvSpPr/>
            <p:nvPr/>
          </p:nvSpPr>
          <p:spPr>
            <a:xfrm>
              <a:off x="11525250" y="5524500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節目ラベル_経営報告・次期計画"/>
            <p:cNvSpPr/>
            <p:nvPr/>
          </p:nvSpPr>
          <p:spPr>
            <a:xfrm>
              <a:off x="10058400" y="56959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経営報告・次期計画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04｜効果と計画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推進は両社の混成チームで担い、最終決定は貴社が握る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推進体制と役割分担（RACI）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注：会議体・人数は標準構成（プロジェクト開始時に確定）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11" name="体制図"/>
          <p:cNvGrpSpPr/>
          <p:nvPr/>
        </p:nvGrpSpPr>
        <p:grpSpPr>
          <a:xfrm>
            <a:off x="990600" y="1600200"/>
            <a:ext cx="4191000" cy="3067050"/>
            <a:chOff x="990600" y="1600200"/>
            <a:chExt cx="4191000" cy="3067050"/>
          </a:xfrm>
        </p:grpSpPr>
        <p:sp>
          <p:nvSpPr>
            <p:cNvPr id="12" name="ステアリングコミッティ"/>
            <p:cNvSpPr/>
            <p:nvPr/>
          </p:nvSpPr>
          <p:spPr>
            <a:xfrm>
              <a:off x="990600" y="1600200"/>
              <a:ext cx="4191000" cy="514350"/>
            </a:xfrm>
            <a:prstGeom prst="roundRect">
              <a:avLst>
                <a:gd name="adj" fmla="val 1481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81100" y="1600200"/>
              <a:ext cx="28575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ステアリングコミッティ（貴社経営層）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038600" y="1600200"/>
              <a:ext cx="9525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月1回</a:t>
              </a:r>
            </a:p>
          </p:txBody>
        </p:sp>
        <p:cxnSp>
          <p:nvCxnSpPr>
            <p:cNvPr id="15" name="接続線1"/>
            <p:cNvCxnSpPr/>
            <p:nvPr/>
          </p:nvCxnSpPr>
          <p:spPr>
            <a:xfrm>
              <a:off x="3086100" y="211455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推進チーム"/>
            <p:cNvSpPr/>
            <p:nvPr/>
          </p:nvSpPr>
          <p:spPr>
            <a:xfrm>
              <a:off x="990600" y="2362200"/>
              <a:ext cx="4191000" cy="552450"/>
            </a:xfrm>
            <a:prstGeom prst="roundRect">
              <a:avLst>
                <a:gd name="adj" fmla="val 1379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81100" y="2362200"/>
              <a:ext cx="28575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推進チーム（両社混成）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38600" y="2362200"/>
              <a:ext cx="9525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週1回</a:t>
              </a:r>
            </a:p>
          </p:txBody>
        </p:sp>
        <p:cxnSp>
          <p:nvCxnSpPr>
            <p:cNvPr id="19" name="接続線2"/>
            <p:cNvCxnSpPr/>
            <p:nvPr/>
          </p:nvCxnSpPr>
          <p:spPr>
            <a:xfrm>
              <a:off x="1990725" y="291465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接続線3"/>
            <p:cNvCxnSpPr/>
            <p:nvPr/>
          </p:nvCxnSpPr>
          <p:spPr>
            <a:xfrm>
              <a:off x="4181475" y="291465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貴社メンバー"/>
            <p:cNvSpPr/>
            <p:nvPr/>
          </p:nvSpPr>
          <p:spPr>
            <a:xfrm>
              <a:off x="990600" y="3162300"/>
              <a:ext cx="2000250" cy="800100"/>
            </a:xfrm>
            <a:prstGeom prst="roundRect">
              <a:avLst>
                <a:gd name="adj" fmla="val 952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43000" y="3276600"/>
              <a:ext cx="16954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貴社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43000" y="3486150"/>
              <a:ext cx="16954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業務部門リーダー 2名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情報システム 1名</a:t>
              </a:r>
            </a:p>
          </p:txBody>
        </p:sp>
        <p:sp>
          <p:nvSpPr>
            <p:cNvPr id="24" name="当社メンバー"/>
            <p:cNvSpPr/>
            <p:nvPr/>
          </p:nvSpPr>
          <p:spPr>
            <a:xfrm>
              <a:off x="3181350" y="3162300"/>
              <a:ext cx="2000250" cy="800100"/>
            </a:xfrm>
            <a:prstGeom prst="roundRect">
              <a:avLst>
                <a:gd name="adj" fmla="val 9523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33750" y="3276600"/>
              <a:ext cx="16954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当社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33750" y="3486150"/>
              <a:ext cx="16954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コンサルタント 1名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AIエンジニア 2名</a:t>
              </a:r>
            </a:p>
          </p:txBody>
        </p:sp>
        <p:cxnSp>
          <p:nvCxnSpPr>
            <p:cNvPr id="27" name="接続線4"/>
            <p:cNvCxnSpPr/>
            <p:nvPr/>
          </p:nvCxnSpPr>
          <p:spPr>
            <a:xfrm>
              <a:off x="3086100" y="396240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パイロット部署"/>
            <p:cNvSpPr/>
            <p:nvPr/>
          </p:nvSpPr>
          <p:spPr>
            <a:xfrm>
              <a:off x="990600" y="4210050"/>
              <a:ext cx="4191000" cy="457200"/>
            </a:xfrm>
            <a:prstGeom prst="roundRect">
              <a:avLst>
                <a:gd name="adj" fmla="val 16666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90600" y="4210050"/>
              <a:ext cx="4191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パイロット部署（トライアル対象・営業◯◯部）</a:t>
              </a:r>
            </a:p>
          </p:txBody>
        </p:sp>
      </p:grpSp>
      <p:grpSp>
        <p:nvGrpSpPr>
          <p:cNvPr id="30" name="役割表"/>
          <p:cNvGrpSpPr/>
          <p:nvPr/>
        </p:nvGrpSpPr>
        <p:grpSpPr>
          <a:xfrm>
            <a:off x="6096000" y="1600200"/>
            <a:ext cx="5486400" cy="3048000"/>
            <a:chOff x="6096000" y="1600200"/>
            <a:chExt cx="5486400" cy="3048000"/>
          </a:xfrm>
        </p:grpSpPr>
        <p:sp>
          <p:nvSpPr>
            <p:cNvPr id="31" name="見出し_主要タスク"/>
            <p:cNvSpPr/>
            <p:nvPr/>
          </p:nvSpPr>
          <p:spPr>
            <a:xfrm>
              <a:off x="6096000" y="1600200"/>
              <a:ext cx="2343150" cy="4191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096000" y="1600200"/>
              <a:ext cx="23431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主要タスク</a:t>
              </a:r>
            </a:p>
          </p:txBody>
        </p:sp>
        <p:sp>
          <p:nvSpPr>
            <p:cNvPr id="33" name="見出し_貴社経営"/>
            <p:cNvSpPr/>
            <p:nvPr/>
          </p:nvSpPr>
          <p:spPr>
            <a:xfrm>
              <a:off x="8439150" y="1600200"/>
              <a:ext cx="9525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439150" y="1600200"/>
              <a:ext cx="9525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貴社経営</a:t>
              </a:r>
            </a:p>
          </p:txBody>
        </p:sp>
        <p:sp>
          <p:nvSpPr>
            <p:cNvPr id="35" name="見出し_貴社現場"/>
            <p:cNvSpPr/>
            <p:nvPr/>
          </p:nvSpPr>
          <p:spPr>
            <a:xfrm>
              <a:off x="9391650" y="1600200"/>
              <a:ext cx="10477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391650" y="1600200"/>
              <a:ext cx="10477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貴社現場</a:t>
              </a:r>
            </a:p>
          </p:txBody>
        </p:sp>
        <p:sp>
          <p:nvSpPr>
            <p:cNvPr id="37" name="見出し_当社"/>
            <p:cNvSpPr/>
            <p:nvPr/>
          </p:nvSpPr>
          <p:spPr>
            <a:xfrm>
              <a:off x="10439400" y="1600200"/>
              <a:ext cx="1143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39400" y="1600200"/>
              <a:ext cx="1143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当社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29350" y="201930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業務の棚卸し</a:t>
              </a:r>
            </a:p>
          </p:txBody>
        </p:sp>
        <p:sp>
          <p:nvSpPr>
            <p:cNvPr id="40" name="業務の棚卸し_貴社経営"/>
            <p:cNvSpPr/>
            <p:nvPr/>
          </p:nvSpPr>
          <p:spPr>
            <a:xfrm>
              <a:off x="8439150" y="201930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I</a:t>
              </a:r>
            </a:p>
          </p:txBody>
        </p:sp>
        <p:sp>
          <p:nvSpPr>
            <p:cNvPr id="41" name="業務の棚卸し_貴社現場"/>
            <p:cNvSpPr/>
            <p:nvPr/>
          </p:nvSpPr>
          <p:spPr>
            <a:xfrm>
              <a:off x="9391650" y="201930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R・A</a:t>
              </a:r>
            </a:p>
          </p:txBody>
        </p:sp>
        <p:sp>
          <p:nvSpPr>
            <p:cNvPr id="42" name="業務の棚卸し_当社"/>
            <p:cNvSpPr/>
            <p:nvPr/>
          </p:nvSpPr>
          <p:spPr>
            <a:xfrm>
              <a:off x="10439400" y="201930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C</a:t>
              </a:r>
            </a:p>
          </p:txBody>
        </p:sp>
        <p:cxnSp>
          <p:nvCxnSpPr>
            <p:cNvPr id="43" name="罫線_業務の棚卸し"/>
            <p:cNvCxnSpPr/>
            <p:nvPr/>
          </p:nvCxnSpPr>
          <p:spPr>
            <a:xfrm>
              <a:off x="6096000" y="260985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6229350" y="260985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システム接続・設定</a:t>
              </a:r>
            </a:p>
          </p:txBody>
        </p:sp>
        <p:sp>
          <p:nvSpPr>
            <p:cNvPr id="45" name="システム接続・設定_貴社経営"/>
            <p:cNvSpPr/>
            <p:nvPr/>
          </p:nvSpPr>
          <p:spPr>
            <a:xfrm>
              <a:off x="8439150" y="260985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I</a:t>
              </a:r>
            </a:p>
          </p:txBody>
        </p:sp>
        <p:sp>
          <p:nvSpPr>
            <p:cNvPr id="46" name="システム接続・設定_貴社現場"/>
            <p:cNvSpPr/>
            <p:nvPr/>
          </p:nvSpPr>
          <p:spPr>
            <a:xfrm>
              <a:off x="9391650" y="260985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47" name="システム接続・設定_当社"/>
            <p:cNvSpPr/>
            <p:nvPr/>
          </p:nvSpPr>
          <p:spPr>
            <a:xfrm>
              <a:off x="10439400" y="260985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R</a:t>
              </a:r>
            </a:p>
          </p:txBody>
        </p:sp>
        <p:cxnSp>
          <p:nvCxnSpPr>
            <p:cNvPr id="48" name="罫線_システム接続・設定"/>
            <p:cNvCxnSpPr/>
            <p:nvPr/>
          </p:nvCxnSpPr>
          <p:spPr>
            <a:xfrm>
              <a:off x="6096000" y="320040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6229350" y="320040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運用ルールの策定</a:t>
              </a:r>
            </a:p>
          </p:txBody>
        </p:sp>
        <p:sp>
          <p:nvSpPr>
            <p:cNvPr id="50" name="運用ルールの策定_貴社経営"/>
            <p:cNvSpPr/>
            <p:nvPr/>
          </p:nvSpPr>
          <p:spPr>
            <a:xfrm>
              <a:off x="8439150" y="320040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51" name="運用ルールの策定_貴社現場"/>
            <p:cNvSpPr/>
            <p:nvPr/>
          </p:nvSpPr>
          <p:spPr>
            <a:xfrm>
              <a:off x="9391650" y="320040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52" name="運用ルールの策定_当社"/>
            <p:cNvSpPr/>
            <p:nvPr/>
          </p:nvSpPr>
          <p:spPr>
            <a:xfrm>
              <a:off x="10439400" y="320040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R</a:t>
              </a:r>
            </a:p>
          </p:txBody>
        </p:sp>
        <p:cxnSp>
          <p:nvCxnSpPr>
            <p:cNvPr id="53" name="罫線_運用ルールの策定"/>
            <p:cNvCxnSpPr/>
            <p:nvPr/>
          </p:nvCxnSpPr>
          <p:spPr>
            <a:xfrm>
              <a:off x="6096000" y="379095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6229350" y="379095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効果検証・継続判断</a:t>
              </a:r>
            </a:p>
          </p:txBody>
        </p:sp>
        <p:sp>
          <p:nvSpPr>
            <p:cNvPr id="55" name="効果検証・継続判断_貴社経営"/>
            <p:cNvSpPr/>
            <p:nvPr/>
          </p:nvSpPr>
          <p:spPr>
            <a:xfrm>
              <a:off x="8439150" y="379095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56" name="効果検証・継続判断_貴社現場"/>
            <p:cNvSpPr/>
            <p:nvPr/>
          </p:nvSpPr>
          <p:spPr>
            <a:xfrm>
              <a:off x="9391650" y="379095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57" name="効果検証・継続判断_当社"/>
            <p:cNvSpPr/>
            <p:nvPr/>
          </p:nvSpPr>
          <p:spPr>
            <a:xfrm>
              <a:off x="10439400" y="379095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R</a:t>
              </a:r>
            </a:p>
          </p:txBody>
        </p:sp>
        <p:cxnSp>
          <p:nvCxnSpPr>
            <p:cNvPr id="58" name="罫線_効果検証・継続判断"/>
            <p:cNvCxnSpPr/>
            <p:nvPr/>
          </p:nvCxnSpPr>
          <p:spPr>
            <a:xfrm>
              <a:off x="6096000" y="438150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ヘッダ下罫線"/>
            <p:cNvCxnSpPr/>
            <p:nvPr/>
          </p:nvCxnSpPr>
          <p:spPr>
            <a:xfrm>
              <a:off x="6096000" y="201930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凡例"/>
            <p:cNvSpPr/>
            <p:nvPr/>
          </p:nvSpPr>
          <p:spPr>
            <a:xfrm>
              <a:off x="6096000" y="4495800"/>
              <a:ext cx="548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R＝実行　A＝承認　C＝相談　I＝共有</a:t>
              </a:r>
            </a:p>
          </p:txBody>
        </p:sp>
      </p:grpSp>
      <p:grpSp>
        <p:nvGrpSpPr>
          <p:cNvPr id="61" name="補足"/>
          <p:cNvGrpSpPr/>
          <p:nvPr/>
        </p:nvGrpSpPr>
        <p:grpSpPr>
          <a:xfrm>
            <a:off x="6096000" y="4953000"/>
            <a:ext cx="5486400" cy="571500"/>
            <a:chOff x="6096000" y="4953000"/>
            <a:chExt cx="5486400" cy="571500"/>
          </a:xfrm>
        </p:grpSpPr>
        <p:sp>
          <p:nvSpPr>
            <p:cNvPr id="62" name="引用バー"/>
            <p:cNvSpPr/>
            <p:nvPr/>
          </p:nvSpPr>
          <p:spPr>
            <a:xfrm>
              <a:off x="6096000" y="4953000"/>
              <a:ext cx="381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本文"/>
            <p:cNvSpPr/>
            <p:nvPr/>
          </p:nvSpPr>
          <p:spPr>
            <a:xfrm>
              <a:off x="6286500" y="4991100"/>
              <a:ext cx="52959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継続・投資にかかわる承認（A）はすべて貴社側に置く。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当社は実行（R）と選択肢の提示に徹する。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05｜費用と次のステップ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投資は初年度860万円。まず無償トライアルから始めたい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費用の内訳と、開始までの3ステップ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注：本資料の数値はすべてサンプルです（税別・標準構成の場合）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11" name="費用_初期費用"/>
          <p:cNvGrpSpPr/>
          <p:nvPr/>
        </p:nvGrpSpPr>
        <p:grpSpPr>
          <a:xfrm>
            <a:off x="609600" y="1600200"/>
            <a:ext cx="5219700" cy="1028700"/>
            <a:chOff x="609600" y="1600200"/>
            <a:chExt cx="5219700" cy="1028700"/>
          </a:xfrm>
        </p:grpSpPr>
        <p:sp>
          <p:nvSpPr>
            <p:cNvPr id="12" name="カード"/>
            <p:cNvSpPr/>
            <p:nvPr/>
          </p:nvSpPr>
          <p:spPr>
            <a:xfrm>
              <a:off x="609600" y="1600200"/>
              <a:ext cx="5219700" cy="1028700"/>
            </a:xfrm>
            <a:prstGeom prst="roundRect">
              <a:avLst>
                <a:gd name="adj" fmla="val 7407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項目"/>
            <p:cNvSpPr/>
            <p:nvPr/>
          </p:nvSpPr>
          <p:spPr>
            <a:xfrm>
              <a:off x="838200" y="177165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初期費用</a:t>
              </a:r>
            </a:p>
          </p:txBody>
        </p:sp>
        <p:sp>
          <p:nvSpPr>
            <p:cNvPr id="14" name="内訳"/>
            <p:cNvSpPr/>
            <p:nvPr/>
          </p:nvSpPr>
          <p:spPr>
            <a:xfrm>
              <a:off x="838200" y="20193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業務設計・システム接続・書式整備</a:t>
              </a:r>
            </a:p>
          </p:txBody>
        </p:sp>
        <p:sp>
          <p:nvSpPr>
            <p:cNvPr id="15" name="金額"/>
            <p:cNvSpPr/>
            <p:nvPr/>
          </p:nvSpPr>
          <p:spPr>
            <a:xfrm>
              <a:off x="3657600" y="1847850"/>
              <a:ext cx="1943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700" b="1">
                  <a:solidFill>
                    <a:schemeClr val="dk2"/>
                  </a:solidFill>
                </a:rPr>
                <a:t>380万円</a:t>
              </a:r>
            </a:p>
          </p:txBody>
        </p:sp>
      </p:grpSp>
      <p:grpSp>
        <p:nvGrpSpPr>
          <p:cNvPr id="16" name="費用_月額費用"/>
          <p:cNvGrpSpPr/>
          <p:nvPr/>
        </p:nvGrpSpPr>
        <p:grpSpPr>
          <a:xfrm>
            <a:off x="609600" y="2781300"/>
            <a:ext cx="5219700" cy="1028700"/>
            <a:chOff x="609600" y="2781300"/>
            <a:chExt cx="5219700" cy="1028700"/>
          </a:xfrm>
        </p:grpSpPr>
        <p:sp>
          <p:nvSpPr>
            <p:cNvPr id="17" name="カード"/>
            <p:cNvSpPr/>
            <p:nvPr/>
          </p:nvSpPr>
          <p:spPr>
            <a:xfrm>
              <a:off x="609600" y="2781300"/>
              <a:ext cx="5219700" cy="1028700"/>
            </a:xfrm>
            <a:prstGeom prst="roundRect">
              <a:avLst>
                <a:gd name="adj" fmla="val 7407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項目"/>
            <p:cNvSpPr/>
            <p:nvPr/>
          </p:nvSpPr>
          <p:spPr>
            <a:xfrm>
              <a:off x="838200" y="295275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月額費用</a:t>
              </a:r>
            </a:p>
          </p:txBody>
        </p:sp>
        <p:sp>
          <p:nvSpPr>
            <p:cNvPr id="19" name="内訳"/>
            <p:cNvSpPr/>
            <p:nvPr/>
          </p:nvSpPr>
          <p:spPr>
            <a:xfrm>
              <a:off x="838200" y="32004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運用・精度改善・月次効果レポート</a:t>
              </a:r>
            </a:p>
          </p:txBody>
        </p:sp>
        <p:sp>
          <p:nvSpPr>
            <p:cNvPr id="20" name="金額"/>
            <p:cNvSpPr/>
            <p:nvPr/>
          </p:nvSpPr>
          <p:spPr>
            <a:xfrm>
              <a:off x="3657600" y="3028950"/>
              <a:ext cx="1943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700" b="1">
                  <a:solidFill>
                    <a:schemeClr val="dk2"/>
                  </a:solidFill>
                </a:rPr>
                <a:t>40万円</a:t>
              </a:r>
            </a:p>
          </p:txBody>
        </p:sp>
      </p:grpSp>
      <p:grpSp>
        <p:nvGrpSpPr>
          <p:cNvPr id="21" name="費用の前提"/>
          <p:cNvGrpSpPr/>
          <p:nvPr/>
        </p:nvGrpSpPr>
        <p:grpSpPr>
          <a:xfrm>
            <a:off x="609600" y="4114800"/>
            <a:ext cx="5219700" cy="1143000"/>
            <a:chOff x="609600" y="4114800"/>
            <a:chExt cx="5219700" cy="1143000"/>
          </a:xfrm>
        </p:grpSpPr>
        <p:cxnSp>
          <p:nvCxnSpPr>
            <p:cNvPr id="22" name="上罫線"/>
            <p:cNvCxnSpPr/>
            <p:nvPr/>
          </p:nvCxnSpPr>
          <p:spPr>
            <a:xfrm>
              <a:off x="609600" y="4114800"/>
              <a:ext cx="5219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見出し"/>
            <p:cNvSpPr/>
            <p:nvPr/>
          </p:nvSpPr>
          <p:spPr>
            <a:xfrm>
              <a:off x="609600" y="424815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費用に含まれるもの</a:t>
              </a:r>
            </a:p>
          </p:txBody>
        </p:sp>
        <p:sp>
          <p:nvSpPr>
            <p:cNvPr id="24" name="本文"/>
            <p:cNvSpPr/>
            <p:nvPr/>
          </p:nvSpPr>
          <p:spPr>
            <a:xfrm>
              <a:off x="609600" y="4495800"/>
              <a:ext cx="5219700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・利用人数が増えても追加費用なし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・対象部署の追加も費用なし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・契約はいつでも解約可能（違約金なし）</a:t>
              </a:r>
            </a:p>
          </p:txBody>
        </p:sp>
      </p:grpSp>
      <p:grpSp>
        <p:nvGrpSpPr>
          <p:cNvPr id="25" name="結論ボックス"/>
          <p:cNvGrpSpPr/>
          <p:nvPr/>
        </p:nvGrpSpPr>
        <p:grpSpPr>
          <a:xfrm>
            <a:off x="6438900" y="1600200"/>
            <a:ext cx="5143500" cy="1181100"/>
            <a:chOff x="6438900" y="1600200"/>
            <a:chExt cx="5143500" cy="1181100"/>
          </a:xfrm>
        </p:grpSpPr>
        <p:sp>
          <p:nvSpPr>
            <p:cNvPr id="26" name="パネル"/>
            <p:cNvSpPr/>
            <p:nvPr/>
          </p:nvSpPr>
          <p:spPr>
            <a:xfrm>
              <a:off x="6438900" y="1600200"/>
              <a:ext cx="5143500" cy="1181100"/>
            </a:xfrm>
            <a:prstGeom prst="roundRect">
              <a:avLst>
                <a:gd name="adj" fmla="val 8064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ラベル"/>
            <p:cNvSpPr/>
            <p:nvPr/>
          </p:nvSpPr>
          <p:spPr>
            <a:xfrm>
              <a:off x="6705600" y="17716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結論</a:t>
              </a:r>
            </a:p>
          </p:txBody>
        </p:sp>
        <p:sp>
          <p:nvSpPr>
            <p:cNvPr id="28" name="本文"/>
            <p:cNvSpPr/>
            <p:nvPr/>
          </p:nvSpPr>
          <p:spPr>
            <a:xfrm>
              <a:off x="6705600" y="2000250"/>
              <a:ext cx="4610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50" b="1">
                  <a:solidFill>
                    <a:schemeClr val="lt1"/>
                  </a:solidFill>
                </a:rPr>
                <a:t>初年度合計860万円は、7ヶ月で回収できる。</a:t>
              </a:r>
            </a:p>
            <a:p>
              <a:pPr algn="l">
                <a:lnSpc>
                  <a:spcPct val="150000"/>
                </a:lnSpc>
              </a:pPr>
              <a:r>
                <a:rPr sz="1350" b="1">
                  <a:solidFill>
                    <a:schemeClr val="lt1"/>
                  </a:solidFill>
                </a:rPr>
                <a:t>リスクは無償トライアルで見極められる。</a:t>
              </a:r>
            </a:p>
          </p:txBody>
        </p:sp>
      </p:grpSp>
      <p:grpSp>
        <p:nvGrpSpPr>
          <p:cNvPr id="29" name="次のステップ"/>
          <p:cNvGrpSpPr/>
          <p:nvPr/>
        </p:nvGrpSpPr>
        <p:grpSpPr>
          <a:xfrm>
            <a:off x="6438900" y="3009900"/>
            <a:ext cx="5143500" cy="2286000"/>
            <a:chOff x="6438900" y="3009900"/>
            <a:chExt cx="5143500" cy="2286000"/>
          </a:xfrm>
        </p:grpSpPr>
        <p:sp>
          <p:nvSpPr>
            <p:cNvPr id="30" name="パネル"/>
            <p:cNvSpPr/>
            <p:nvPr/>
          </p:nvSpPr>
          <p:spPr>
            <a:xfrm>
              <a:off x="6438900" y="3009900"/>
              <a:ext cx="5143500" cy="2286000"/>
            </a:xfrm>
            <a:prstGeom prst="roundRect">
              <a:avLst>
                <a:gd name="adj" fmla="val 41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EXTチップ"/>
            <p:cNvSpPr/>
            <p:nvPr/>
          </p:nvSpPr>
          <p:spPr>
            <a:xfrm>
              <a:off x="6705600" y="32004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05600" y="3209925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NEXT STEP</a:t>
              </a:r>
            </a:p>
          </p:txBody>
        </p:sp>
        <p:sp>
          <p:nvSpPr>
            <p:cNvPr id="33" name="CTA"/>
            <p:cNvSpPr/>
            <p:nvPr/>
          </p:nvSpPr>
          <p:spPr>
            <a:xfrm>
              <a:off x="6705600" y="3562350"/>
              <a:ext cx="46101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50" b="1">
                  <a:solidFill>
                    <a:schemeClr val="dk2"/>
                  </a:solidFill>
                </a:rPr>
                <a:t>まず、無償トライアル（1ヶ月・1部署）から</a:t>
              </a:r>
            </a:p>
          </p:txBody>
        </p:sp>
        <p:sp>
          <p:nvSpPr>
            <p:cNvPr id="34" name="番号1"/>
            <p:cNvSpPr/>
            <p:nvPr/>
          </p:nvSpPr>
          <p:spPr>
            <a:xfrm>
              <a:off x="6705600" y="39433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05600" y="39528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067550" y="39624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今週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867650" y="3962400"/>
              <a:ext cx="3448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トライアル対象部署のご選定</a:t>
              </a:r>
            </a:p>
          </p:txBody>
        </p:sp>
        <p:sp>
          <p:nvSpPr>
            <p:cNvPr id="38" name="番号2"/>
            <p:cNvSpPr/>
            <p:nvPr/>
          </p:nvSpPr>
          <p:spPr>
            <a:xfrm>
              <a:off x="6705600" y="43624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705600" y="43719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67550" y="43815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来週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867650" y="4381500"/>
              <a:ext cx="3448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キックオフ（30分・オンライン可）</a:t>
              </a:r>
            </a:p>
          </p:txBody>
        </p:sp>
        <p:sp>
          <p:nvSpPr>
            <p:cNvPr id="42" name="番号3"/>
            <p:cNvSpPr/>
            <p:nvPr/>
          </p:nvSpPr>
          <p:spPr>
            <a:xfrm>
              <a:off x="6705600" y="47815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705600" y="47910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067550" y="48006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1ヶ月後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867650" y="4800600"/>
              <a:ext cx="3448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実測効果のご報告と継続のご判断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