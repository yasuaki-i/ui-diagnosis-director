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構造マップ・総評・最重要課題・ユーザー行動フロー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無料体験CVを増やす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LP全体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2026年10月18日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3619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2095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LP構造マップ</a:t>
            </a:r>
          </a:p>
        </p:txBody>
      </p:sp>
      <p:sp>
        <p:nvSpPr>
          <p:cNvPr id="23" name="Oval 22"/>
          <p:cNvSpPr/>
          <p:nvPr/>
        </p:nvSpPr>
        <p:spPr>
          <a:xfrm>
            <a:off x="2590800" y="1590675"/>
            <a:ext cx="95250" cy="95250"/>
          </a:xfrm>
          <a:prstGeom prst="ellipse">
            <a:avLst/>
          </a:prstGeom>
          <a:solidFill>
            <a:srgbClr val="9DB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43200" y="156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良好</a:t>
            </a:r>
          </a:p>
        </p:txBody>
      </p:sp>
      <p:sp>
        <p:nvSpPr>
          <p:cNvPr id="25" name="Oval 24"/>
          <p:cNvSpPr/>
          <p:nvPr/>
        </p:nvSpPr>
        <p:spPr>
          <a:xfrm>
            <a:off x="3257550" y="1590675"/>
            <a:ext cx="95250" cy="952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09950" y="1562100"/>
            <a:ext cx="571500" cy="152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要改善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" y="1771650"/>
            <a:ext cx="36195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7200" y="18097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8097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1809750"/>
            <a:ext cx="3162300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主要CTAがない</a:t>
            </a:r>
          </a:p>
        </p:txBody>
      </p:sp>
      <p:sp>
        <p:nvSpPr>
          <p:cNvPr id="31" name="Oval 30"/>
          <p:cNvSpPr/>
          <p:nvPr/>
        </p:nvSpPr>
        <p:spPr>
          <a:xfrm>
            <a:off x="457200" y="2276475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227647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2276475"/>
            <a:ext cx="3162300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要点が整理されている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2743200"/>
            <a:ext cx="209550" cy="20955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74320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950" y="2743200"/>
            <a:ext cx="3162300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比較しやすい</a:t>
            </a:r>
          </a:p>
        </p:txBody>
      </p:sp>
      <p:sp>
        <p:nvSpPr>
          <p:cNvPr id="37" name="Oval 36"/>
          <p:cNvSpPr/>
          <p:nvPr/>
        </p:nvSpPr>
        <p:spPr>
          <a:xfrm>
            <a:off x="457200" y="3209925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3209925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2950" y="3209925"/>
            <a:ext cx="3162300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成果が伝わりにくい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" y="3676650"/>
            <a:ext cx="209550" cy="2095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3676650"/>
            <a:ext cx="209550" cy="209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2950" y="3676650"/>
            <a:ext cx="3162300" cy="44767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申込フォーム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不安解消が不足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1504950"/>
            <a:ext cx="438150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267200" y="1504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総評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1771650"/>
            <a:ext cx="4381500" cy="381000"/>
          </a:xfrm>
          <a:prstGeom prst="rect">
            <a:avLst/>
          </a:prstGeom>
          <a:solidFill>
            <a:srgbClr val="FEF1E3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248150" y="1771650"/>
            <a:ext cx="41148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FV内CTA追加で無料体験へ誘導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2266950"/>
            <a:ext cx="43815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267200" y="2266950"/>
            <a:ext cx="4076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最重要課題（Top3）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2533650"/>
            <a:ext cx="4381500" cy="163830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248150" y="2590800"/>
            <a:ext cx="4114800" cy="15049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FV内に主要CTAがない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入力前の不安解消が不足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受講後の成果訴求が弱い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610600" y="1504950"/>
            <a:ext cx="32004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763000" y="1504950"/>
            <a:ext cx="2895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10600" y="1771650"/>
            <a:ext cx="3200400" cy="2362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763000" y="1847850"/>
            <a:ext cx="2895600" cy="2209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余白の広いレイアウトで安心感を生んでいる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料金と特徴を整理し概要を素早く伝えている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青基調の配色で教育サービスの信頼感を出している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81000" y="4229100"/>
            <a:ext cx="11430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4229100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ユーザー行動フローと課題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34000" y="4229100"/>
            <a:ext cx="59436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1" i="0">
                <a:solidFill>
                  <a:srgbClr val="FFD54F"/>
                </a:solidFill>
                <a:latin typeface="メイリオ"/>
                <a:ea typeface="メイリオ"/>
                <a:cs typeface="メイリオ"/>
              </a:rPr>
              <a:t>→ FVとフォームで行動が止まり申込に届かない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381000" y="4495800"/>
            <a:ext cx="11430000" cy="1123950"/>
          </a:xfrm>
          <a:prstGeom prst="rect">
            <a:avLst/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112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112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流入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広告から到達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26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4" name="Oval 63"/>
          <p:cNvSpPr/>
          <p:nvPr/>
        </p:nvSpPr>
        <p:spPr>
          <a:xfrm>
            <a:off x="302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02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8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FV閲覧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次の行動が不明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7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68" name="Oval 67"/>
          <p:cNvSpPr/>
          <p:nvPr/>
        </p:nvSpPr>
        <p:spPr>
          <a:xfrm>
            <a:off x="4933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493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8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特徴確認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要点を把握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7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2" name="Oval 71"/>
          <p:cNvSpPr/>
          <p:nvPr/>
        </p:nvSpPr>
        <p:spPr>
          <a:xfrm>
            <a:off x="6838950" y="4572000"/>
            <a:ext cx="419100" cy="419100"/>
          </a:xfrm>
          <a:prstGeom prst="ellipse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683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9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料金確認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比較できる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81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76" name="Oval 75"/>
          <p:cNvSpPr/>
          <p:nvPr/>
        </p:nvSpPr>
        <p:spPr>
          <a:xfrm>
            <a:off x="8743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743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096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不安で離脱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86950" y="4648200"/>
            <a:ext cx="1143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→</a:t>
            </a:r>
          </a:p>
        </p:txBody>
      </p:sp>
      <p:sp>
        <p:nvSpPr>
          <p:cNvPr id="80" name="Oval 79"/>
          <p:cNvSpPr/>
          <p:nvPr/>
        </p:nvSpPr>
        <p:spPr>
          <a:xfrm>
            <a:off x="10648950" y="4572000"/>
            <a:ext cx="419100" cy="4191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0648950" y="457200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✕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01250" y="5029200"/>
            <a:ext cx="1714500" cy="533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</a:pPr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申込完了</a:t>
            </a:r>
          </a:p>
          <a:p>
            <a:pPr algn="ctr">
              <a:lnSpc>
                <a:spcPct val="120000"/>
              </a:lnSpc>
            </a:pP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到達率が低い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FV内に無料体験CTAを置き、フォーム直前で不安を解消し、成果の見えるコピーで選ばれる理由を補う。</a:t>
            </a:r>
          </a:p>
        </p:txBody>
      </p:sp>
      <p:sp>
        <p:nvSpPr>
          <p:cNvPr id="88" name="Rectangle 87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スコア視覚化：10項目評価と強み・最優先課題の俯瞰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8100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8100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245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目的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無料体験CVを増やす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26707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326707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43852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対象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LP全体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153150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153150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24600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診断日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2026年10月18日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9039225" y="857250"/>
            <a:ext cx="2771775" cy="609600"/>
          </a:xfrm>
          <a:prstGeom prst="roundRect">
            <a:avLst>
              <a:gd name="adj" fmla="val 12500"/>
            </a:avLst>
          </a:prstGeom>
          <a:solidFill>
            <a:srgbClr val="1C366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9039225" y="857250"/>
            <a:ext cx="57150" cy="6096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210675" y="933450"/>
            <a:ext cx="2524125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32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/ 50    </a:t>
            </a: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504950"/>
            <a:ext cx="55245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504950"/>
            <a:ext cx="52197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◤ 10項目スコア（満点5・ギャップ可視化）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000" y="1771650"/>
            <a:ext cx="55245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33400" y="1905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5908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895600" y="1943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2004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3505200" y="1943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86200" y="1905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2286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キャッチコピー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25908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895600" y="2324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32004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3505200" y="2324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2286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3400" y="2667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CTA設計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860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590800" y="2705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8956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2004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3505200" y="2705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886200" y="2667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3048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信頼性・権威性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25908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2895600" y="3086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2004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505200" y="3086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886200" y="3048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33400" y="3429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フォーム設計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860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2590800" y="3467100"/>
            <a:ext cx="266700" cy="152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28956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32004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3505200" y="3467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886200" y="3429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D0021B"/>
                </a:solidFill>
                <a:latin typeface="メイリオ"/>
                <a:ea typeface="メイリオ"/>
                <a:cs typeface="メイリオ"/>
              </a:rPr>
              <a:t>2/5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400" y="3810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レスポンシブ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860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25908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2895600" y="3848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32004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3505200" y="3848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86200" y="3810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33400" y="4191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読みやすさ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5908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28956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2004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3505200" y="4229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3886200" y="4191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3400" y="4572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情報設計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5908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5600" y="4610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2004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505200" y="4610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3886200" y="4572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3400" y="4953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ブランド一貫性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25908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28956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2004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505200" y="4991100"/>
            <a:ext cx="266700" cy="1524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3886200" y="4953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5/5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3400" y="5334000"/>
            <a:ext cx="1714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表示速度・技術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5908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2895600" y="5372100"/>
            <a:ext cx="266700" cy="1524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004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505200" y="5372100"/>
            <a:ext cx="266700" cy="152400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886200" y="5334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3/5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96000" y="1504950"/>
            <a:ext cx="5715000" cy="2667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6248400" y="150495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96000" y="1771650"/>
            <a:ext cx="5715000" cy="180975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6248400" y="1847850"/>
            <a:ext cx="5410200" cy="16573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余白の広いレイアウトで安心感を生んでいる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料金と特徴を整理し概要を素早く伝えている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青基調の配色で教育サービスの信頼感を出している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096000" y="3695700"/>
            <a:ext cx="571500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6248400" y="3695700"/>
            <a:ext cx="54102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96000" y="3962400"/>
            <a:ext cx="5715000" cy="1619250"/>
          </a:xfrm>
          <a:prstGeom prst="rect">
            <a:avLst/>
          </a:prstGeom>
          <a:solidFill>
            <a:srgbClr val="FDECEC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6248400" y="4038600"/>
            <a:ext cx="5410200" cy="1466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FV内に主要CTAがない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入力前の不安解消が不足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受講後の成果訴求が弱い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FV内に無料体験CTAを置き、フォーム直前で不安を解消し、成果の見えるコピーで選ばれる理由を補う。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【3】ビジュアル診断ボード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Before/After ハイライト：優先度の高い改善Top3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8763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8763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71500" y="9715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1500" y="10096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10096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FVに主要CTAを置く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29500" y="9906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429500" y="10191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0" y="10191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10191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箇所：ファーストビュー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3335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15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28750" y="14478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049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見出しと説明文のみで主要ボタンがない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134100" y="14478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1350" y="14478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067550" y="14478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無料体験と料金確認の2ボタンを置く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24765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381000" y="2476500"/>
            <a:ext cx="57150" cy="14859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571500" y="2571750"/>
            <a:ext cx="304800" cy="30480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1500" y="26098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550" y="26098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入力前の不安を解消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9500" y="259080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29500" y="26193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1500" y="26193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6193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箇所：申込フォーム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29337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715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28750" y="30480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5049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フォームだけが置かれている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34100" y="30480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1350" y="30480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67550" y="30480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勧誘なし・所要2分の説明を添える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1000" y="4076700"/>
            <a:ext cx="11430000" cy="1485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381000" y="4076700"/>
            <a:ext cx="57150" cy="1485900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571500" y="4171950"/>
            <a:ext cx="304800" cy="30480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71500" y="4210050"/>
            <a:ext cx="30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550" y="4210050"/>
            <a:ext cx="6286500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成果の見えるコピー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9500" y="419100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429500" y="421957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1500" y="4219575"/>
            <a:ext cx="857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19575"/>
            <a:ext cx="2476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箇所：メインコピー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1500" y="45339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15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BEFORE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28750" y="4648200"/>
            <a:ext cx="4552950" cy="2667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15049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汎用的な呼びかけのコピー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134100" y="464820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AFTER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91350" y="4648200"/>
            <a:ext cx="4552950" cy="266700"/>
          </a:xfrm>
          <a:prstGeom prst="rect">
            <a:avLst/>
          </a:prstGeom>
          <a:solidFill>
            <a:srgbClr val="FEF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067550" y="4648200"/>
            <a:ext cx="440055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続けた先の成果が分かるコピー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381000" y="5657850"/>
            <a:ext cx="1047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改善方向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809750" y="5657850"/>
            <a:ext cx="10001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FV内に無料体験CTAを置き、フォーム直前で不安を解消し、成果の見えるコピーで選ばれる理由を補う。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