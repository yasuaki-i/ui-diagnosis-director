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ECサイトの購買ファネル（n=3｜密度強化）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1250" y="2533650"/>
            <a:ext cx="74295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5740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550" y="260985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550" y="2857500"/>
            <a:ext cx="72009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2575" y="25527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50" y="25527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0" y="37528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861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300" y="38290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300" y="40767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325" y="37719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7719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6291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ECサイトの購買ファネル（n=4｜密度強化）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1123950"/>
          </a:xfrm>
          <a:prstGeom prst="roundRect">
            <a:avLst>
              <a:gd name="adj" fmla="val 677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7621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5000" y="2533650"/>
            <a:ext cx="8382000" cy="1123950"/>
          </a:xfrm>
          <a:prstGeom prst="roundRect">
            <a:avLst>
              <a:gd name="adj" fmla="val 677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81150" y="29813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2609850"/>
            <a:ext cx="815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2857500"/>
            <a:ext cx="815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25527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3200" y="25527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▲78,000件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7500" y="3752850"/>
            <a:ext cx="6477000" cy="1123950"/>
          </a:xfrm>
          <a:prstGeom prst="roundRect">
            <a:avLst>
              <a:gd name="adj" fmla="val 677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33650" y="4200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829050"/>
            <a:ext cx="624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76700"/>
            <a:ext cx="6248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8825" y="37719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0700" y="37719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0" y="4972050"/>
            <a:ext cx="4572000" cy="1123950"/>
          </a:xfrm>
          <a:prstGeom prst="roundRect">
            <a:avLst>
              <a:gd name="adj" fmla="val 677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86150" y="54197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4300" y="50482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4300" y="5295900"/>
            <a:ext cx="4343400" cy="723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325" y="49911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9911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8483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ECサイトの購買ファネル（n=5｜密度強化）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885825"/>
          </a:xfrm>
          <a:prstGeom prst="roundRect">
            <a:avLst>
              <a:gd name="adj" fmla="val 86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6383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6875" y="2295525"/>
            <a:ext cx="8858250" cy="885825"/>
          </a:xfrm>
          <a:prstGeom prst="roundRect">
            <a:avLst>
              <a:gd name="adj" fmla="val 86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43025" y="261937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1175" y="2371725"/>
            <a:ext cx="86296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175" y="2619375"/>
            <a:ext cx="86296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314575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81250" y="3276600"/>
            <a:ext cx="7429500" cy="885825"/>
          </a:xfrm>
          <a:prstGeom prst="roundRect">
            <a:avLst>
              <a:gd name="adj" fmla="val 86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57400" y="36004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5550" y="3352800"/>
            <a:ext cx="72009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5550" y="3600450"/>
            <a:ext cx="72009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2575" y="32956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6950" y="329565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5625" y="4257675"/>
            <a:ext cx="6000750" cy="885825"/>
          </a:xfrm>
          <a:prstGeom prst="roundRect">
            <a:avLst>
              <a:gd name="adj" fmla="val 86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71775" y="4581525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9925" y="4333875"/>
            <a:ext cx="57721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925" y="4581525"/>
            <a:ext cx="577215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6950" y="4276725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2575" y="4276725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0" y="5238750"/>
            <a:ext cx="4572000" cy="885825"/>
          </a:xfrm>
          <a:prstGeom prst="roundRect">
            <a:avLst>
              <a:gd name="adj" fmla="val 86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86150" y="55626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4300" y="531495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300" y="5562600"/>
            <a:ext cx="4343400" cy="4857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1325" y="52578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2578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876925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ECサイトの購買ファネル（n=6｜密度強化）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500" y="1314450"/>
            <a:ext cx="10287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8650" y="15621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39065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1638300"/>
            <a:ext cx="10058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広告接触・SNS経由での初回流入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13360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00150" y="23812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300" y="22098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サイト訪問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8300" y="2457450"/>
            <a:ext cx="8915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LPへ到達し1画面以上を閲覧した数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21526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95500" y="2952750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71650" y="32004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302895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800" y="3276600"/>
            <a:ext cx="7772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フォーム送信を完了した数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825" y="29718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2700" y="2971800"/>
            <a:ext cx="13716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▲29,400件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67000" y="3771900"/>
            <a:ext cx="6858000" cy="723900"/>
          </a:xfrm>
          <a:prstGeom prst="roundRect">
            <a:avLst>
              <a:gd name="adj" fmla="val 10526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43150" y="40195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1300" y="3848100"/>
            <a:ext cx="6629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商品比較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1300" y="4095750"/>
            <a:ext cx="6629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2件以上の商品詳細を閲覧した数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8325" y="37909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9095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▲4,400件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4591050"/>
            <a:ext cx="5715000" cy="723900"/>
          </a:xfrm>
          <a:prstGeom prst="roundRect">
            <a:avLst>
              <a:gd name="adj" fmla="val 10526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14650" y="48387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800" y="46672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カート投入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2800" y="4914900"/>
            <a:ext cx="5486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カートへ1点以上を投入した数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9825" y="461010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9700" y="461010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0" y="5410200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86150" y="565785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4300" y="54864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購入完了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300" y="5734050"/>
            <a:ext cx="43434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決済を完了し受注が確定した数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1325" y="5429250"/>
            <a:ext cx="5810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FE3939"/>
                </a:solidFill>
                <a:latin typeface="メイリオ"/>
                <a:ea typeface="メイリオ"/>
                <a:cs typeface="メイリオ"/>
              </a:rPr>
              <a:t>39%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5429250"/>
            <a:ext cx="121920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57B8FF"/>
                </a:solidFill>
                <a:latin typeface="メイリオ"/>
                <a:ea typeface="メイリオ"/>
                <a:cs typeface="メイリオ"/>
              </a:rPr>
              <a:t>▲3,120件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886450"/>
            <a:ext cx="24574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= FY25売上680億円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