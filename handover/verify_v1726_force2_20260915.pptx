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71500"/>
          </a:xfrm>
          <a:prstGeom prst="rect">
            <a:avLst/>
          </a:prstGeom>
          <a:solidFill>
            <a:srgbClr val="1C36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381000" y="171450"/>
            <a:ext cx="7620000" cy="333375"/>
          </a:xfrm>
          <a:prstGeom prst="rect">
            <a:avLst/>
          </a:prstGeom>
          <a:noFill/>
        </p:spPr>
        <p:txBody>
          <a:bodyPr wrap="square" lIns="0" rIns="0" tIns="0" bIns="0">
            <a:noAutofit/>
          </a:bodyPr>
          <a:lstStyle/>
          <a:p>
            <a:pPr algn="l"/>
            <a:r>
              <a:rPr sz="2200" b="1" i="0">
                <a:solidFill>
                  <a:srgbClr val="FFFFFF"/>
                </a:solidFill>
                <a:latin typeface="メイリオ"/>
                <a:ea typeface="メイリオ"/>
                <a:cs typeface="メイリオ"/>
              </a:rPr>
              <a:t>絞り込み</a:t>
            </a:r>
          </a:p>
        </p:txBody>
      </p:sp>
      <p:sp>
        <p:nvSpPr>
          <p:cNvPr id="4" name="TextBox 3"/>
          <p:cNvSpPr txBox="1"/>
          <p:nvPr/>
        </p:nvSpPr>
        <p:spPr>
          <a:xfrm>
            <a:off x="8001000" y="209550"/>
            <a:ext cx="3810000" cy="228600"/>
          </a:xfrm>
          <a:prstGeom prst="rect">
            <a:avLst/>
          </a:prstGeom>
          <a:noFill/>
        </p:spPr>
        <p:txBody>
          <a:bodyPr wrap="square" lIns="0" rIns="0" tIns="0" bIns="0">
            <a:noAutofit/>
          </a:bodyPr>
          <a:lstStyle/>
          <a:p>
            <a:pPr algn="r"/>
            <a:r>
              <a:rPr sz="1400" b="0" i="0">
                <a:solidFill>
                  <a:srgbClr val="9DB0D6"/>
                </a:solidFill>
                <a:latin typeface="メイリオ"/>
                <a:ea typeface="メイリオ"/>
                <a:cs typeface="メイリオ"/>
              </a:rPr>
              <a:t>FUNNEL</a:t>
            </a:r>
          </a:p>
        </p:txBody>
      </p:sp>
      <p:sp>
        <p:nvSpPr>
          <p:cNvPr id="5" name="Rectangle 4"/>
          <p:cNvSpPr/>
          <p:nvPr/>
        </p:nvSpPr>
        <p:spPr>
          <a:xfrm>
            <a:off x="0" y="6286500"/>
            <a:ext cx="121920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81000" y="6496050"/>
            <a:ext cx="3810000" cy="228600"/>
          </a:xfrm>
          <a:prstGeom prst="rect">
            <a:avLst/>
          </a:prstGeom>
          <a:noFill/>
        </p:spPr>
        <p:txBody>
          <a:bodyPr wrap="square" lIns="0" rIns="0" tIns="0" bIns="0">
            <a:noAutofit/>
          </a:bodyPr>
          <a:lstStyle/>
          <a:p>
            <a:pPr algn="l"/>
            <a:r>
              <a:rPr sz="1400" b="1" i="0">
                <a:solidFill>
                  <a:srgbClr val="1C366C"/>
                </a:solidFill>
                <a:latin typeface="メイリオ"/>
                <a:ea typeface="メイリオ"/>
                <a:cs typeface="メイリオ"/>
              </a:rPr>
              <a:t>紺＆クリーン スライド作成</a:t>
            </a:r>
          </a:p>
        </p:txBody>
      </p:sp>
      <p:sp>
        <p:nvSpPr>
          <p:cNvPr id="7" name="TextBox 6"/>
          <p:cNvSpPr txBox="1"/>
          <p:nvPr/>
        </p:nvSpPr>
        <p:spPr>
          <a:xfrm>
            <a:off x="10858500" y="6524625"/>
            <a:ext cx="1143000" cy="228600"/>
          </a:xfrm>
          <a:prstGeom prst="rect">
            <a:avLst/>
          </a:prstGeom>
          <a:noFill/>
        </p:spPr>
        <p:txBody>
          <a:bodyPr wrap="square" lIns="0" rIns="0" tIns="0" bIns="0">
            <a:noAutofit/>
          </a:bodyPr>
          <a:lstStyle/>
          <a:p>
            <a:pPr algn="r"/>
            <a:r>
              <a:rPr sz="1400" b="0" i="0">
                <a:solidFill>
                  <a:srgbClr val="262626"/>
                </a:solidFill>
                <a:latin typeface="メイリオ"/>
                <a:ea typeface="メイリオ"/>
                <a:cs typeface="メイリオ"/>
              </a:rPr>
              <a:t>1 / 4</a:t>
            </a:r>
          </a:p>
        </p:txBody>
      </p:sp>
      <p:sp>
        <p:nvSpPr>
          <p:cNvPr id="8" name="TextBox 7"/>
          <p:cNvSpPr txBox="1"/>
          <p:nvPr/>
        </p:nvSpPr>
        <p:spPr>
          <a:xfrm>
            <a:off x="381000" y="857250"/>
            <a:ext cx="11430000" cy="323850"/>
          </a:xfrm>
          <a:prstGeom prst="rect">
            <a:avLst/>
          </a:prstGeom>
          <a:noFill/>
        </p:spPr>
        <p:txBody>
          <a:bodyPr wrap="square" lIns="0" rIns="0" tIns="0" bIns="0">
            <a:noAutofit/>
          </a:bodyPr>
          <a:lstStyle/>
          <a:p>
            <a:pPr algn="l"/>
            <a:r>
              <a:rPr sz="2200" b="1" i="0">
                <a:solidFill>
                  <a:srgbClr val="0055AD"/>
                </a:solidFill>
                <a:latin typeface="メイリオ"/>
                <a:ea typeface="メイリオ"/>
                <a:cs typeface="メイリオ"/>
              </a:rPr>
              <a:t>ECサイトの購買ファネル（n=3｜密度強化・説明文2行強制）</a:t>
            </a:r>
          </a:p>
        </p:txBody>
      </p:sp>
      <p:sp>
        <p:nvSpPr>
          <p:cNvPr id="9" name="Rounded Rectangle 8"/>
          <p:cNvSpPr/>
          <p:nvPr/>
        </p:nvSpPr>
        <p:spPr>
          <a:xfrm>
            <a:off x="952500" y="1314450"/>
            <a:ext cx="10287000" cy="1123950"/>
          </a:xfrm>
          <a:prstGeom prst="roundRect">
            <a:avLst>
              <a:gd name="adj" fmla="val 6779"/>
            </a:avLst>
          </a:prstGeom>
          <a:solidFill>
            <a:srgbClr val="0055AD"/>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8650" y="1762125"/>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1</a:t>
            </a:r>
          </a:p>
        </p:txBody>
      </p:sp>
      <p:sp>
        <p:nvSpPr>
          <p:cNvPr id="11" name="TextBox 10"/>
          <p:cNvSpPr txBox="1"/>
          <p:nvPr/>
        </p:nvSpPr>
        <p:spPr>
          <a:xfrm>
            <a:off x="1066800" y="1390650"/>
            <a:ext cx="100584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認知</a:t>
            </a:r>
          </a:p>
        </p:txBody>
      </p:sp>
      <p:sp>
        <p:nvSpPr>
          <p:cNvPr id="12" name="TextBox 11"/>
          <p:cNvSpPr txBox="1"/>
          <p:nvPr/>
        </p:nvSpPr>
        <p:spPr>
          <a:xfrm>
            <a:off x="1066800" y="1638300"/>
            <a:ext cx="10058400" cy="723900"/>
          </a:xfrm>
          <a:prstGeom prst="rect">
            <a:avLst/>
          </a:prstGeom>
          <a:noFill/>
        </p:spPr>
        <p:txBody>
          <a:bodyPr wrap="square" lIns="0" rIns="0" tIns="0" bIns="0">
            <a:noAutofit/>
          </a:bodyPr>
          <a:lstStyle/>
          <a:p>
            <a:pPr algn="l"/>
            <a:r>
              <a:rPr sz="1400" b="0" i="0">
                <a:solidFill>
                  <a:srgbClr val="FFFFFF"/>
                </a:solidFill>
                <a:latin typeface="メイリオ"/>
                <a:ea typeface="メイリオ"/>
                <a:cs typeface="メイリオ"/>
              </a:rPr>
              <a:t>広告接触およびSNS経由で初回流入した推定ユニークユーザー数の月間合計値である</a:t>
            </a:r>
          </a:p>
        </p:txBody>
      </p:sp>
      <p:sp>
        <p:nvSpPr>
          <p:cNvPr id="13" name="Rounded Rectangle 12"/>
          <p:cNvSpPr/>
          <p:nvPr/>
        </p:nvSpPr>
        <p:spPr>
          <a:xfrm>
            <a:off x="2381250" y="2533650"/>
            <a:ext cx="7429500" cy="1123950"/>
          </a:xfrm>
          <a:prstGeom prst="roundRect">
            <a:avLst>
              <a:gd name="adj" fmla="val 6779"/>
            </a:avLst>
          </a:prstGeom>
          <a:solidFill>
            <a:srgbClr val="008BF2"/>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057400" y="2981325"/>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2</a:t>
            </a:r>
          </a:p>
        </p:txBody>
      </p:sp>
      <p:sp>
        <p:nvSpPr>
          <p:cNvPr id="15" name="TextBox 14"/>
          <p:cNvSpPr txBox="1"/>
          <p:nvPr/>
        </p:nvSpPr>
        <p:spPr>
          <a:xfrm>
            <a:off x="2495550" y="2609850"/>
            <a:ext cx="72009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サイト訪問</a:t>
            </a:r>
          </a:p>
        </p:txBody>
      </p:sp>
      <p:sp>
        <p:nvSpPr>
          <p:cNvPr id="16" name="TextBox 15"/>
          <p:cNvSpPr txBox="1"/>
          <p:nvPr/>
        </p:nvSpPr>
        <p:spPr>
          <a:xfrm>
            <a:off x="2495550" y="2857500"/>
            <a:ext cx="7200900" cy="723900"/>
          </a:xfrm>
          <a:prstGeom prst="rect">
            <a:avLst/>
          </a:prstGeom>
          <a:noFill/>
        </p:spPr>
        <p:txBody>
          <a:bodyPr wrap="square" lIns="0" rIns="0" tIns="0" bIns="0">
            <a:noAutofit/>
          </a:bodyPr>
          <a:lstStyle/>
          <a:p>
            <a:pPr algn="l"/>
            <a:r>
              <a:rPr sz="1400" b="0" i="0">
                <a:solidFill>
                  <a:srgbClr val="FFFFFF"/>
                </a:solidFill>
                <a:latin typeface="メイリオ"/>
                <a:ea typeface="メイリオ"/>
                <a:cs typeface="メイリオ"/>
              </a:rPr>
              <a:t>LPへ到達し1画面以上を閲覧した実訪問の合計セッション数を計測した結果である</a:t>
            </a:r>
          </a:p>
        </p:txBody>
      </p:sp>
      <p:sp>
        <p:nvSpPr>
          <p:cNvPr id="17" name="TextBox 16"/>
          <p:cNvSpPr txBox="1"/>
          <p:nvPr/>
        </p:nvSpPr>
        <p:spPr>
          <a:xfrm>
            <a:off x="1552575" y="2552700"/>
            <a:ext cx="581025" cy="209550"/>
          </a:xfrm>
          <a:prstGeom prst="rect">
            <a:avLst/>
          </a:prstGeom>
          <a:noFill/>
        </p:spPr>
        <p:txBody>
          <a:bodyPr wrap="none" lIns="0" rIns="0" tIns="0" bIns="0">
            <a:noAutofit/>
          </a:bodyPr>
          <a:lstStyle/>
          <a:p>
            <a:pPr algn="r"/>
            <a:r>
              <a:rPr sz="1400" b="1" i="0">
                <a:solidFill>
                  <a:srgbClr val="FE3939"/>
                </a:solidFill>
                <a:latin typeface="メイリオ"/>
                <a:ea typeface="メイリオ"/>
                <a:cs typeface="メイリオ"/>
              </a:rPr>
              <a:t>35%</a:t>
            </a:r>
          </a:p>
        </p:txBody>
      </p:sp>
      <p:sp>
        <p:nvSpPr>
          <p:cNvPr id="18" name="TextBox 17"/>
          <p:cNvSpPr txBox="1"/>
          <p:nvPr/>
        </p:nvSpPr>
        <p:spPr>
          <a:xfrm>
            <a:off x="9886950" y="2552700"/>
            <a:ext cx="1371600" cy="209550"/>
          </a:xfrm>
          <a:prstGeom prst="rect">
            <a:avLst/>
          </a:prstGeom>
          <a:noFill/>
        </p:spPr>
        <p:txBody>
          <a:bodyPr wrap="none" lIns="0" rIns="0" tIns="0" bIns="0">
            <a:noAutofit/>
          </a:bodyPr>
          <a:lstStyle/>
          <a:p>
            <a:pPr algn="l"/>
            <a:r>
              <a:rPr sz="1400" b="1" i="0">
                <a:solidFill>
                  <a:srgbClr val="57B8FF"/>
                </a:solidFill>
                <a:latin typeface="メイリオ"/>
                <a:ea typeface="メイリオ"/>
                <a:cs typeface="メイリオ"/>
              </a:rPr>
              <a:t>▲78,000件</a:t>
            </a:r>
          </a:p>
        </p:txBody>
      </p:sp>
      <p:sp>
        <p:nvSpPr>
          <p:cNvPr id="19" name="Rounded Rectangle 18"/>
          <p:cNvSpPr/>
          <p:nvPr/>
        </p:nvSpPr>
        <p:spPr>
          <a:xfrm>
            <a:off x="3810000" y="3752850"/>
            <a:ext cx="4572000" cy="1123950"/>
          </a:xfrm>
          <a:prstGeom prst="roundRect">
            <a:avLst>
              <a:gd name="adj" fmla="val 6779"/>
            </a:avLst>
          </a:prstGeom>
          <a:solidFill>
            <a:srgbClr val="57B8FF"/>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486150" y="4200525"/>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3</a:t>
            </a:r>
          </a:p>
        </p:txBody>
      </p:sp>
      <p:sp>
        <p:nvSpPr>
          <p:cNvPr id="21" name="TextBox 20"/>
          <p:cNvSpPr txBox="1"/>
          <p:nvPr/>
        </p:nvSpPr>
        <p:spPr>
          <a:xfrm>
            <a:off x="3924300" y="3829050"/>
            <a:ext cx="43434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会員登録</a:t>
            </a:r>
          </a:p>
        </p:txBody>
      </p:sp>
      <p:sp>
        <p:nvSpPr>
          <p:cNvPr id="22" name="TextBox 21"/>
          <p:cNvSpPr txBox="1"/>
          <p:nvPr/>
        </p:nvSpPr>
        <p:spPr>
          <a:xfrm>
            <a:off x="3924300" y="4076700"/>
            <a:ext cx="4343400" cy="723900"/>
          </a:xfrm>
          <a:prstGeom prst="rect">
            <a:avLst/>
          </a:prstGeom>
          <a:noFill/>
        </p:spPr>
        <p:txBody>
          <a:bodyPr wrap="square" lIns="0" rIns="0" tIns="0" bIns="0">
            <a:noAutofit/>
          </a:bodyPr>
          <a:lstStyle/>
          <a:p>
            <a:pPr algn="l"/>
            <a:r>
              <a:rPr sz="1400" b="0" i="0">
                <a:solidFill>
                  <a:srgbClr val="FFFFFF"/>
                </a:solidFill>
                <a:latin typeface="メイリオ"/>
                <a:ea typeface="メイリオ"/>
                <a:cs typeface="メイリオ"/>
              </a:rPr>
              <a:t>登録フォームを送信し本人確認まで完了した新規会員の件数を集計したものである</a:t>
            </a:r>
          </a:p>
        </p:txBody>
      </p:sp>
      <p:sp>
        <p:nvSpPr>
          <p:cNvPr id="23" name="TextBox 22"/>
          <p:cNvSpPr txBox="1"/>
          <p:nvPr/>
        </p:nvSpPr>
        <p:spPr>
          <a:xfrm>
            <a:off x="2981325" y="3771900"/>
            <a:ext cx="581025" cy="209550"/>
          </a:xfrm>
          <a:prstGeom prst="rect">
            <a:avLst/>
          </a:prstGeom>
          <a:noFill/>
        </p:spPr>
        <p:txBody>
          <a:bodyPr wrap="none" lIns="0" rIns="0" tIns="0" bIns="0">
            <a:noAutofit/>
          </a:bodyPr>
          <a:lstStyle/>
          <a:p>
            <a:pPr algn="r"/>
            <a:r>
              <a:rPr sz="1400" b="1" i="0">
                <a:solidFill>
                  <a:srgbClr val="FE3939"/>
                </a:solidFill>
                <a:latin typeface="メイリオ"/>
                <a:ea typeface="メイリオ"/>
                <a:cs typeface="メイリオ"/>
              </a:rPr>
              <a:t>30%</a:t>
            </a:r>
          </a:p>
        </p:txBody>
      </p:sp>
      <p:sp>
        <p:nvSpPr>
          <p:cNvPr id="24" name="TextBox 23"/>
          <p:cNvSpPr txBox="1"/>
          <p:nvPr/>
        </p:nvSpPr>
        <p:spPr>
          <a:xfrm>
            <a:off x="8458200" y="3771900"/>
            <a:ext cx="1371600" cy="209550"/>
          </a:xfrm>
          <a:prstGeom prst="rect">
            <a:avLst/>
          </a:prstGeom>
          <a:noFill/>
        </p:spPr>
        <p:txBody>
          <a:bodyPr wrap="none" lIns="0" rIns="0" tIns="0" bIns="0">
            <a:noAutofit/>
          </a:bodyPr>
          <a:lstStyle/>
          <a:p>
            <a:pPr algn="l"/>
            <a:r>
              <a:rPr sz="1400" b="1" i="0">
                <a:solidFill>
                  <a:srgbClr val="57B8FF"/>
                </a:solidFill>
                <a:latin typeface="メイリオ"/>
                <a:ea typeface="メイリオ"/>
                <a:cs typeface="メイリオ"/>
              </a:rPr>
              <a:t>▲29,400件</a:t>
            </a:r>
          </a:p>
        </p:txBody>
      </p:sp>
      <p:sp>
        <p:nvSpPr>
          <p:cNvPr id="25" name="TextBox 24"/>
          <p:cNvSpPr txBox="1"/>
          <p:nvPr/>
        </p:nvSpPr>
        <p:spPr>
          <a:xfrm>
            <a:off x="8458200" y="4629150"/>
            <a:ext cx="2457450" cy="209550"/>
          </a:xfrm>
          <a:prstGeom prst="rect">
            <a:avLst/>
          </a:prstGeom>
          <a:noFill/>
        </p:spPr>
        <p:txBody>
          <a:bodyPr wrap="square" lIns="0" rIns="0" tIns="0" bIns="0">
            <a:noAutofit/>
          </a:bodyPr>
          <a:lstStyle/>
          <a:p>
            <a:pPr algn="l"/>
            <a:r>
              <a:rPr sz="1400" b="1" i="0">
                <a:solidFill>
                  <a:srgbClr val="0055AD"/>
                </a:solidFill>
                <a:latin typeface="メイリオ"/>
                <a:ea typeface="メイリオ"/>
                <a:cs typeface="メイリオ"/>
              </a:rPr>
              <a:t>= FY25売上680億円</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71500"/>
          </a:xfrm>
          <a:prstGeom prst="rect">
            <a:avLst/>
          </a:prstGeom>
          <a:solidFill>
            <a:srgbClr val="1C36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381000" y="171450"/>
            <a:ext cx="7620000" cy="333375"/>
          </a:xfrm>
          <a:prstGeom prst="rect">
            <a:avLst/>
          </a:prstGeom>
          <a:noFill/>
        </p:spPr>
        <p:txBody>
          <a:bodyPr wrap="square" lIns="0" rIns="0" tIns="0" bIns="0">
            <a:noAutofit/>
          </a:bodyPr>
          <a:lstStyle/>
          <a:p>
            <a:pPr algn="l"/>
            <a:r>
              <a:rPr sz="2200" b="1" i="0">
                <a:solidFill>
                  <a:srgbClr val="FFFFFF"/>
                </a:solidFill>
                <a:latin typeface="メイリオ"/>
                <a:ea typeface="メイリオ"/>
                <a:cs typeface="メイリオ"/>
              </a:rPr>
              <a:t>絞り込み</a:t>
            </a:r>
          </a:p>
        </p:txBody>
      </p:sp>
      <p:sp>
        <p:nvSpPr>
          <p:cNvPr id="4" name="TextBox 3"/>
          <p:cNvSpPr txBox="1"/>
          <p:nvPr/>
        </p:nvSpPr>
        <p:spPr>
          <a:xfrm>
            <a:off x="8001000" y="209550"/>
            <a:ext cx="3810000" cy="228600"/>
          </a:xfrm>
          <a:prstGeom prst="rect">
            <a:avLst/>
          </a:prstGeom>
          <a:noFill/>
        </p:spPr>
        <p:txBody>
          <a:bodyPr wrap="square" lIns="0" rIns="0" tIns="0" bIns="0">
            <a:noAutofit/>
          </a:bodyPr>
          <a:lstStyle/>
          <a:p>
            <a:pPr algn="r"/>
            <a:r>
              <a:rPr sz="1400" b="0" i="0">
                <a:solidFill>
                  <a:srgbClr val="9DB0D6"/>
                </a:solidFill>
                <a:latin typeface="メイリオ"/>
                <a:ea typeface="メイリオ"/>
                <a:cs typeface="メイリオ"/>
              </a:rPr>
              <a:t>FUNNEL</a:t>
            </a:r>
          </a:p>
        </p:txBody>
      </p:sp>
      <p:sp>
        <p:nvSpPr>
          <p:cNvPr id="5" name="Rectangle 4"/>
          <p:cNvSpPr/>
          <p:nvPr/>
        </p:nvSpPr>
        <p:spPr>
          <a:xfrm>
            <a:off x="0" y="6286500"/>
            <a:ext cx="121920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81000" y="6496050"/>
            <a:ext cx="3810000" cy="228600"/>
          </a:xfrm>
          <a:prstGeom prst="rect">
            <a:avLst/>
          </a:prstGeom>
          <a:noFill/>
        </p:spPr>
        <p:txBody>
          <a:bodyPr wrap="square" lIns="0" rIns="0" tIns="0" bIns="0">
            <a:noAutofit/>
          </a:bodyPr>
          <a:lstStyle/>
          <a:p>
            <a:pPr algn="l"/>
            <a:r>
              <a:rPr sz="1400" b="1" i="0">
                <a:solidFill>
                  <a:srgbClr val="1C366C"/>
                </a:solidFill>
                <a:latin typeface="メイリオ"/>
                <a:ea typeface="メイリオ"/>
                <a:cs typeface="メイリオ"/>
              </a:rPr>
              <a:t>紺＆クリーン スライド作成</a:t>
            </a:r>
          </a:p>
        </p:txBody>
      </p:sp>
      <p:sp>
        <p:nvSpPr>
          <p:cNvPr id="7" name="TextBox 6"/>
          <p:cNvSpPr txBox="1"/>
          <p:nvPr/>
        </p:nvSpPr>
        <p:spPr>
          <a:xfrm>
            <a:off x="10858500" y="6524625"/>
            <a:ext cx="1143000" cy="228600"/>
          </a:xfrm>
          <a:prstGeom prst="rect">
            <a:avLst/>
          </a:prstGeom>
          <a:noFill/>
        </p:spPr>
        <p:txBody>
          <a:bodyPr wrap="square" lIns="0" rIns="0" tIns="0" bIns="0">
            <a:noAutofit/>
          </a:bodyPr>
          <a:lstStyle/>
          <a:p>
            <a:pPr algn="r"/>
            <a:r>
              <a:rPr sz="1400" b="0" i="0">
                <a:solidFill>
                  <a:srgbClr val="262626"/>
                </a:solidFill>
                <a:latin typeface="メイリオ"/>
                <a:ea typeface="メイリオ"/>
                <a:cs typeface="メイリオ"/>
              </a:rPr>
              <a:t>2 / 4</a:t>
            </a:r>
          </a:p>
        </p:txBody>
      </p:sp>
      <p:sp>
        <p:nvSpPr>
          <p:cNvPr id="8" name="TextBox 7"/>
          <p:cNvSpPr txBox="1"/>
          <p:nvPr/>
        </p:nvSpPr>
        <p:spPr>
          <a:xfrm>
            <a:off x="381000" y="857250"/>
            <a:ext cx="11430000" cy="323850"/>
          </a:xfrm>
          <a:prstGeom prst="rect">
            <a:avLst/>
          </a:prstGeom>
          <a:noFill/>
        </p:spPr>
        <p:txBody>
          <a:bodyPr wrap="square" lIns="0" rIns="0" tIns="0" bIns="0">
            <a:noAutofit/>
          </a:bodyPr>
          <a:lstStyle/>
          <a:p>
            <a:pPr algn="l"/>
            <a:r>
              <a:rPr sz="2200" b="1" i="0">
                <a:solidFill>
                  <a:srgbClr val="0055AD"/>
                </a:solidFill>
                <a:latin typeface="メイリオ"/>
                <a:ea typeface="メイリオ"/>
                <a:cs typeface="メイリオ"/>
              </a:rPr>
              <a:t>ECサイトの購買ファネル（n=4｜密度強化・説明文2行強制）</a:t>
            </a:r>
          </a:p>
        </p:txBody>
      </p:sp>
      <p:sp>
        <p:nvSpPr>
          <p:cNvPr id="9" name="Rounded Rectangle 8"/>
          <p:cNvSpPr/>
          <p:nvPr/>
        </p:nvSpPr>
        <p:spPr>
          <a:xfrm>
            <a:off x="952500" y="1314450"/>
            <a:ext cx="10287000" cy="1123950"/>
          </a:xfrm>
          <a:prstGeom prst="roundRect">
            <a:avLst>
              <a:gd name="adj" fmla="val 6779"/>
            </a:avLst>
          </a:prstGeom>
          <a:solidFill>
            <a:srgbClr val="0055AD"/>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8650" y="1762125"/>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1</a:t>
            </a:r>
          </a:p>
        </p:txBody>
      </p:sp>
      <p:sp>
        <p:nvSpPr>
          <p:cNvPr id="11" name="TextBox 10"/>
          <p:cNvSpPr txBox="1"/>
          <p:nvPr/>
        </p:nvSpPr>
        <p:spPr>
          <a:xfrm>
            <a:off x="1066800" y="1390650"/>
            <a:ext cx="100584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認知</a:t>
            </a:r>
          </a:p>
        </p:txBody>
      </p:sp>
      <p:sp>
        <p:nvSpPr>
          <p:cNvPr id="12" name="TextBox 11"/>
          <p:cNvSpPr txBox="1"/>
          <p:nvPr/>
        </p:nvSpPr>
        <p:spPr>
          <a:xfrm>
            <a:off x="1066800" y="1638300"/>
            <a:ext cx="10058400" cy="723900"/>
          </a:xfrm>
          <a:prstGeom prst="rect">
            <a:avLst/>
          </a:prstGeom>
          <a:noFill/>
        </p:spPr>
        <p:txBody>
          <a:bodyPr wrap="square" lIns="0" rIns="0" tIns="0" bIns="0">
            <a:noAutofit/>
          </a:bodyPr>
          <a:lstStyle/>
          <a:p>
            <a:pPr algn="l"/>
            <a:r>
              <a:rPr sz="1400" b="0" i="0">
                <a:solidFill>
                  <a:srgbClr val="FFFFFF"/>
                </a:solidFill>
                <a:latin typeface="メイリオ"/>
                <a:ea typeface="メイリオ"/>
                <a:cs typeface="メイリオ"/>
              </a:rPr>
              <a:t>広告接触およびSNS経由で初回流入した推定ユニークユーザー数の月間合計値である</a:t>
            </a:r>
          </a:p>
        </p:txBody>
      </p:sp>
      <p:sp>
        <p:nvSpPr>
          <p:cNvPr id="13" name="Rounded Rectangle 12"/>
          <p:cNvSpPr/>
          <p:nvPr/>
        </p:nvSpPr>
        <p:spPr>
          <a:xfrm>
            <a:off x="1905000" y="2533650"/>
            <a:ext cx="8382000" cy="1123950"/>
          </a:xfrm>
          <a:prstGeom prst="roundRect">
            <a:avLst>
              <a:gd name="adj" fmla="val 6779"/>
            </a:avLst>
          </a:prstGeom>
          <a:solidFill>
            <a:srgbClr val="008BF2"/>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581150" y="2981325"/>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2</a:t>
            </a:r>
          </a:p>
        </p:txBody>
      </p:sp>
      <p:sp>
        <p:nvSpPr>
          <p:cNvPr id="15" name="TextBox 14"/>
          <p:cNvSpPr txBox="1"/>
          <p:nvPr/>
        </p:nvSpPr>
        <p:spPr>
          <a:xfrm>
            <a:off x="2019300" y="2609850"/>
            <a:ext cx="81534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サイト訪問</a:t>
            </a:r>
          </a:p>
        </p:txBody>
      </p:sp>
      <p:sp>
        <p:nvSpPr>
          <p:cNvPr id="16" name="TextBox 15"/>
          <p:cNvSpPr txBox="1"/>
          <p:nvPr/>
        </p:nvSpPr>
        <p:spPr>
          <a:xfrm>
            <a:off x="2019300" y="2857500"/>
            <a:ext cx="8153400" cy="723900"/>
          </a:xfrm>
          <a:prstGeom prst="rect">
            <a:avLst/>
          </a:prstGeom>
          <a:noFill/>
        </p:spPr>
        <p:txBody>
          <a:bodyPr wrap="square" lIns="0" rIns="0" tIns="0" bIns="0">
            <a:noAutofit/>
          </a:bodyPr>
          <a:lstStyle/>
          <a:p>
            <a:pPr algn="l"/>
            <a:r>
              <a:rPr sz="1400" b="0" i="0">
                <a:solidFill>
                  <a:srgbClr val="FFFFFF"/>
                </a:solidFill>
                <a:latin typeface="メイリオ"/>
                <a:ea typeface="メイリオ"/>
                <a:cs typeface="メイリオ"/>
              </a:rPr>
              <a:t>LPへ到達し1画面以上を閲覧した実訪問の合計セッション数を計測した結果である</a:t>
            </a:r>
          </a:p>
        </p:txBody>
      </p:sp>
      <p:sp>
        <p:nvSpPr>
          <p:cNvPr id="17" name="TextBox 16"/>
          <p:cNvSpPr txBox="1"/>
          <p:nvPr/>
        </p:nvSpPr>
        <p:spPr>
          <a:xfrm>
            <a:off x="1076325" y="2552700"/>
            <a:ext cx="581025" cy="209550"/>
          </a:xfrm>
          <a:prstGeom prst="rect">
            <a:avLst/>
          </a:prstGeom>
          <a:noFill/>
        </p:spPr>
        <p:txBody>
          <a:bodyPr wrap="none" lIns="0" rIns="0" tIns="0" bIns="0">
            <a:noAutofit/>
          </a:bodyPr>
          <a:lstStyle/>
          <a:p>
            <a:pPr algn="r"/>
            <a:r>
              <a:rPr sz="1400" b="1" i="0">
                <a:solidFill>
                  <a:srgbClr val="FE3939"/>
                </a:solidFill>
                <a:latin typeface="メイリオ"/>
                <a:ea typeface="メイリオ"/>
                <a:cs typeface="メイリオ"/>
              </a:rPr>
              <a:t>35%</a:t>
            </a:r>
          </a:p>
        </p:txBody>
      </p:sp>
      <p:sp>
        <p:nvSpPr>
          <p:cNvPr id="18" name="TextBox 17"/>
          <p:cNvSpPr txBox="1"/>
          <p:nvPr/>
        </p:nvSpPr>
        <p:spPr>
          <a:xfrm>
            <a:off x="10363200" y="2552700"/>
            <a:ext cx="1371600" cy="209550"/>
          </a:xfrm>
          <a:prstGeom prst="rect">
            <a:avLst/>
          </a:prstGeom>
          <a:noFill/>
        </p:spPr>
        <p:txBody>
          <a:bodyPr wrap="none" lIns="0" rIns="0" tIns="0" bIns="0">
            <a:noAutofit/>
          </a:bodyPr>
          <a:lstStyle/>
          <a:p>
            <a:pPr algn="l"/>
            <a:r>
              <a:rPr sz="1400" b="1" i="0">
                <a:solidFill>
                  <a:srgbClr val="57B8FF"/>
                </a:solidFill>
                <a:latin typeface="メイリオ"/>
                <a:ea typeface="メイリオ"/>
                <a:cs typeface="メイリオ"/>
              </a:rPr>
              <a:t>▲78,000件</a:t>
            </a:r>
          </a:p>
        </p:txBody>
      </p:sp>
      <p:sp>
        <p:nvSpPr>
          <p:cNvPr id="19" name="Rounded Rectangle 18"/>
          <p:cNvSpPr/>
          <p:nvPr/>
        </p:nvSpPr>
        <p:spPr>
          <a:xfrm>
            <a:off x="2857500" y="3752850"/>
            <a:ext cx="6477000" cy="1123950"/>
          </a:xfrm>
          <a:prstGeom prst="roundRect">
            <a:avLst>
              <a:gd name="adj" fmla="val 6779"/>
            </a:avLst>
          </a:prstGeom>
          <a:solidFill>
            <a:srgbClr val="57B8FF"/>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533650" y="4200525"/>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3</a:t>
            </a:r>
          </a:p>
        </p:txBody>
      </p:sp>
      <p:sp>
        <p:nvSpPr>
          <p:cNvPr id="21" name="TextBox 20"/>
          <p:cNvSpPr txBox="1"/>
          <p:nvPr/>
        </p:nvSpPr>
        <p:spPr>
          <a:xfrm>
            <a:off x="2971800" y="3829050"/>
            <a:ext cx="62484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会員登録</a:t>
            </a:r>
          </a:p>
        </p:txBody>
      </p:sp>
      <p:sp>
        <p:nvSpPr>
          <p:cNvPr id="22" name="TextBox 21"/>
          <p:cNvSpPr txBox="1"/>
          <p:nvPr/>
        </p:nvSpPr>
        <p:spPr>
          <a:xfrm>
            <a:off x="2971800" y="4076700"/>
            <a:ext cx="6248400" cy="723900"/>
          </a:xfrm>
          <a:prstGeom prst="rect">
            <a:avLst/>
          </a:prstGeom>
          <a:noFill/>
        </p:spPr>
        <p:txBody>
          <a:bodyPr wrap="square" lIns="0" rIns="0" tIns="0" bIns="0">
            <a:noAutofit/>
          </a:bodyPr>
          <a:lstStyle/>
          <a:p>
            <a:pPr algn="l"/>
            <a:r>
              <a:rPr sz="1400" b="0" i="0">
                <a:solidFill>
                  <a:srgbClr val="FFFFFF"/>
                </a:solidFill>
                <a:latin typeface="メイリオ"/>
                <a:ea typeface="メイリオ"/>
                <a:cs typeface="メイリオ"/>
              </a:rPr>
              <a:t>登録フォームを送信し本人確認まで完了した新規会員の件数を集計したものである</a:t>
            </a:r>
          </a:p>
        </p:txBody>
      </p:sp>
      <p:sp>
        <p:nvSpPr>
          <p:cNvPr id="23" name="TextBox 22"/>
          <p:cNvSpPr txBox="1"/>
          <p:nvPr/>
        </p:nvSpPr>
        <p:spPr>
          <a:xfrm>
            <a:off x="2028825" y="3771900"/>
            <a:ext cx="581025" cy="209550"/>
          </a:xfrm>
          <a:prstGeom prst="rect">
            <a:avLst/>
          </a:prstGeom>
          <a:noFill/>
        </p:spPr>
        <p:txBody>
          <a:bodyPr wrap="none" lIns="0" rIns="0" tIns="0" bIns="0">
            <a:noAutofit/>
          </a:bodyPr>
          <a:lstStyle/>
          <a:p>
            <a:pPr algn="r"/>
            <a:r>
              <a:rPr sz="1400" b="1" i="0">
                <a:solidFill>
                  <a:srgbClr val="FE3939"/>
                </a:solidFill>
                <a:latin typeface="メイリオ"/>
                <a:ea typeface="メイリオ"/>
                <a:cs typeface="メイリオ"/>
              </a:rPr>
              <a:t>30%</a:t>
            </a:r>
          </a:p>
        </p:txBody>
      </p:sp>
      <p:sp>
        <p:nvSpPr>
          <p:cNvPr id="24" name="TextBox 23"/>
          <p:cNvSpPr txBox="1"/>
          <p:nvPr/>
        </p:nvSpPr>
        <p:spPr>
          <a:xfrm>
            <a:off x="9410700" y="3771900"/>
            <a:ext cx="1371600" cy="209550"/>
          </a:xfrm>
          <a:prstGeom prst="rect">
            <a:avLst/>
          </a:prstGeom>
          <a:noFill/>
        </p:spPr>
        <p:txBody>
          <a:bodyPr wrap="none" lIns="0" rIns="0" tIns="0" bIns="0">
            <a:noAutofit/>
          </a:bodyPr>
          <a:lstStyle/>
          <a:p>
            <a:pPr algn="l"/>
            <a:r>
              <a:rPr sz="1400" b="1" i="0">
                <a:solidFill>
                  <a:srgbClr val="57B8FF"/>
                </a:solidFill>
                <a:latin typeface="メイリオ"/>
                <a:ea typeface="メイリオ"/>
                <a:cs typeface="メイリオ"/>
              </a:rPr>
              <a:t>▲29,400件</a:t>
            </a:r>
          </a:p>
        </p:txBody>
      </p:sp>
      <p:sp>
        <p:nvSpPr>
          <p:cNvPr id="25" name="Rounded Rectangle 24"/>
          <p:cNvSpPr/>
          <p:nvPr/>
        </p:nvSpPr>
        <p:spPr>
          <a:xfrm>
            <a:off x="3810000" y="4972050"/>
            <a:ext cx="4572000" cy="1123950"/>
          </a:xfrm>
          <a:prstGeom prst="roundRect">
            <a:avLst>
              <a:gd name="adj" fmla="val 6779"/>
            </a:avLst>
          </a:prstGeom>
          <a:solidFill>
            <a:srgbClr val="C0E4FF"/>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486150" y="5419725"/>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4</a:t>
            </a:r>
          </a:p>
        </p:txBody>
      </p:sp>
      <p:sp>
        <p:nvSpPr>
          <p:cNvPr id="27" name="TextBox 26"/>
          <p:cNvSpPr txBox="1"/>
          <p:nvPr/>
        </p:nvSpPr>
        <p:spPr>
          <a:xfrm>
            <a:off x="3924300" y="5048250"/>
            <a:ext cx="4343400" cy="228600"/>
          </a:xfrm>
          <a:prstGeom prst="rect">
            <a:avLst/>
          </a:prstGeom>
          <a:noFill/>
        </p:spPr>
        <p:txBody>
          <a:bodyPr wrap="square" lIns="0" rIns="0" tIns="0" bIns="0">
            <a:noAutofit/>
          </a:bodyPr>
          <a:lstStyle/>
          <a:p>
            <a:pPr algn="ctr"/>
            <a:r>
              <a:rPr sz="1600" b="1" i="0">
                <a:solidFill>
                  <a:srgbClr val="404040"/>
                </a:solidFill>
                <a:latin typeface="メイリオ"/>
                <a:ea typeface="メイリオ"/>
                <a:cs typeface="メイリオ"/>
              </a:rPr>
              <a:t>商品比較</a:t>
            </a:r>
          </a:p>
        </p:txBody>
      </p:sp>
      <p:sp>
        <p:nvSpPr>
          <p:cNvPr id="28" name="TextBox 27"/>
          <p:cNvSpPr txBox="1"/>
          <p:nvPr/>
        </p:nvSpPr>
        <p:spPr>
          <a:xfrm>
            <a:off x="3924300" y="5295900"/>
            <a:ext cx="4343400" cy="723900"/>
          </a:xfrm>
          <a:prstGeom prst="rect">
            <a:avLst/>
          </a:prstGeom>
          <a:noFill/>
        </p:spPr>
        <p:txBody>
          <a:bodyPr wrap="square" lIns="0" rIns="0" tIns="0" bIns="0">
            <a:noAutofit/>
          </a:bodyPr>
          <a:lstStyle/>
          <a:p>
            <a:pPr algn="l"/>
            <a:r>
              <a:rPr sz="1400" b="0" i="0">
                <a:solidFill>
                  <a:srgbClr val="404040"/>
                </a:solidFill>
                <a:latin typeface="メイリオ"/>
                <a:ea typeface="メイリオ"/>
                <a:cs typeface="メイリオ"/>
              </a:rPr>
              <a:t>2件以上の商品詳細を閲覧し比較検討の段階へ進んだ訪問者数の実測値である</a:t>
            </a:r>
          </a:p>
        </p:txBody>
      </p:sp>
      <p:sp>
        <p:nvSpPr>
          <p:cNvPr id="29" name="TextBox 28"/>
          <p:cNvSpPr txBox="1"/>
          <p:nvPr/>
        </p:nvSpPr>
        <p:spPr>
          <a:xfrm>
            <a:off x="2981325" y="4991100"/>
            <a:ext cx="581025" cy="209550"/>
          </a:xfrm>
          <a:prstGeom prst="rect">
            <a:avLst/>
          </a:prstGeom>
          <a:noFill/>
        </p:spPr>
        <p:txBody>
          <a:bodyPr wrap="none" lIns="0" rIns="0" tIns="0" bIns="0">
            <a:noAutofit/>
          </a:bodyPr>
          <a:lstStyle/>
          <a:p>
            <a:pPr algn="r"/>
            <a:r>
              <a:rPr sz="1400" b="1" i="0">
                <a:solidFill>
                  <a:srgbClr val="FE3939"/>
                </a:solidFill>
                <a:latin typeface="メイリオ"/>
                <a:ea typeface="メイリオ"/>
                <a:cs typeface="メイリオ"/>
              </a:rPr>
              <a:t>65%</a:t>
            </a:r>
          </a:p>
        </p:txBody>
      </p:sp>
      <p:sp>
        <p:nvSpPr>
          <p:cNvPr id="30" name="TextBox 29"/>
          <p:cNvSpPr txBox="1"/>
          <p:nvPr/>
        </p:nvSpPr>
        <p:spPr>
          <a:xfrm>
            <a:off x="8458200" y="4991100"/>
            <a:ext cx="1219200" cy="209550"/>
          </a:xfrm>
          <a:prstGeom prst="rect">
            <a:avLst/>
          </a:prstGeom>
          <a:noFill/>
        </p:spPr>
        <p:txBody>
          <a:bodyPr wrap="none" lIns="0" rIns="0" tIns="0" bIns="0">
            <a:noAutofit/>
          </a:bodyPr>
          <a:lstStyle/>
          <a:p>
            <a:pPr algn="l"/>
            <a:r>
              <a:rPr sz="1400" b="1" i="0">
                <a:solidFill>
                  <a:srgbClr val="57B8FF"/>
                </a:solidFill>
                <a:latin typeface="メイリオ"/>
                <a:ea typeface="メイリオ"/>
                <a:cs typeface="メイリオ"/>
              </a:rPr>
              <a:t>▲4,400件</a:t>
            </a:r>
          </a:p>
        </p:txBody>
      </p:sp>
      <p:sp>
        <p:nvSpPr>
          <p:cNvPr id="31" name="TextBox 30"/>
          <p:cNvSpPr txBox="1"/>
          <p:nvPr/>
        </p:nvSpPr>
        <p:spPr>
          <a:xfrm>
            <a:off x="8458200" y="5848350"/>
            <a:ext cx="2457450" cy="209550"/>
          </a:xfrm>
          <a:prstGeom prst="rect">
            <a:avLst/>
          </a:prstGeom>
          <a:noFill/>
        </p:spPr>
        <p:txBody>
          <a:bodyPr wrap="square" lIns="0" rIns="0" tIns="0" bIns="0">
            <a:noAutofit/>
          </a:bodyPr>
          <a:lstStyle/>
          <a:p>
            <a:pPr algn="l"/>
            <a:r>
              <a:rPr sz="1400" b="1" i="0">
                <a:solidFill>
                  <a:srgbClr val="0055AD"/>
                </a:solidFill>
                <a:latin typeface="メイリオ"/>
                <a:ea typeface="メイリオ"/>
                <a:cs typeface="メイリオ"/>
              </a:rPr>
              <a:t>= FY25売上680億円</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71500"/>
          </a:xfrm>
          <a:prstGeom prst="rect">
            <a:avLst/>
          </a:prstGeom>
          <a:solidFill>
            <a:srgbClr val="1C36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381000" y="171450"/>
            <a:ext cx="7620000" cy="333375"/>
          </a:xfrm>
          <a:prstGeom prst="rect">
            <a:avLst/>
          </a:prstGeom>
          <a:noFill/>
        </p:spPr>
        <p:txBody>
          <a:bodyPr wrap="square" lIns="0" rIns="0" tIns="0" bIns="0">
            <a:noAutofit/>
          </a:bodyPr>
          <a:lstStyle/>
          <a:p>
            <a:pPr algn="l"/>
            <a:r>
              <a:rPr sz="2200" b="1" i="0">
                <a:solidFill>
                  <a:srgbClr val="FFFFFF"/>
                </a:solidFill>
                <a:latin typeface="メイリオ"/>
                <a:ea typeface="メイリオ"/>
                <a:cs typeface="メイリオ"/>
              </a:rPr>
              <a:t>絞り込み</a:t>
            </a:r>
          </a:p>
        </p:txBody>
      </p:sp>
      <p:sp>
        <p:nvSpPr>
          <p:cNvPr id="4" name="TextBox 3"/>
          <p:cNvSpPr txBox="1"/>
          <p:nvPr/>
        </p:nvSpPr>
        <p:spPr>
          <a:xfrm>
            <a:off x="8001000" y="209550"/>
            <a:ext cx="3810000" cy="228600"/>
          </a:xfrm>
          <a:prstGeom prst="rect">
            <a:avLst/>
          </a:prstGeom>
          <a:noFill/>
        </p:spPr>
        <p:txBody>
          <a:bodyPr wrap="square" lIns="0" rIns="0" tIns="0" bIns="0">
            <a:noAutofit/>
          </a:bodyPr>
          <a:lstStyle/>
          <a:p>
            <a:pPr algn="r"/>
            <a:r>
              <a:rPr sz="1400" b="0" i="0">
                <a:solidFill>
                  <a:srgbClr val="9DB0D6"/>
                </a:solidFill>
                <a:latin typeface="メイリオ"/>
                <a:ea typeface="メイリオ"/>
                <a:cs typeface="メイリオ"/>
              </a:rPr>
              <a:t>FUNNEL</a:t>
            </a:r>
          </a:p>
        </p:txBody>
      </p:sp>
      <p:sp>
        <p:nvSpPr>
          <p:cNvPr id="5" name="Rectangle 4"/>
          <p:cNvSpPr/>
          <p:nvPr/>
        </p:nvSpPr>
        <p:spPr>
          <a:xfrm>
            <a:off x="0" y="6286500"/>
            <a:ext cx="121920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81000" y="6496050"/>
            <a:ext cx="3810000" cy="228600"/>
          </a:xfrm>
          <a:prstGeom prst="rect">
            <a:avLst/>
          </a:prstGeom>
          <a:noFill/>
        </p:spPr>
        <p:txBody>
          <a:bodyPr wrap="square" lIns="0" rIns="0" tIns="0" bIns="0">
            <a:noAutofit/>
          </a:bodyPr>
          <a:lstStyle/>
          <a:p>
            <a:pPr algn="l"/>
            <a:r>
              <a:rPr sz="1400" b="1" i="0">
                <a:solidFill>
                  <a:srgbClr val="1C366C"/>
                </a:solidFill>
                <a:latin typeface="メイリオ"/>
                <a:ea typeface="メイリオ"/>
                <a:cs typeface="メイリオ"/>
              </a:rPr>
              <a:t>紺＆クリーン スライド作成</a:t>
            </a:r>
          </a:p>
        </p:txBody>
      </p:sp>
      <p:sp>
        <p:nvSpPr>
          <p:cNvPr id="7" name="TextBox 6"/>
          <p:cNvSpPr txBox="1"/>
          <p:nvPr/>
        </p:nvSpPr>
        <p:spPr>
          <a:xfrm>
            <a:off x="10858500" y="6524625"/>
            <a:ext cx="1143000" cy="228600"/>
          </a:xfrm>
          <a:prstGeom prst="rect">
            <a:avLst/>
          </a:prstGeom>
          <a:noFill/>
        </p:spPr>
        <p:txBody>
          <a:bodyPr wrap="square" lIns="0" rIns="0" tIns="0" bIns="0">
            <a:noAutofit/>
          </a:bodyPr>
          <a:lstStyle/>
          <a:p>
            <a:pPr algn="r"/>
            <a:r>
              <a:rPr sz="1400" b="0" i="0">
                <a:solidFill>
                  <a:srgbClr val="262626"/>
                </a:solidFill>
                <a:latin typeface="メイリオ"/>
                <a:ea typeface="メイリオ"/>
                <a:cs typeface="メイリオ"/>
              </a:rPr>
              <a:t>3 / 4</a:t>
            </a:r>
          </a:p>
        </p:txBody>
      </p:sp>
      <p:sp>
        <p:nvSpPr>
          <p:cNvPr id="8" name="TextBox 7"/>
          <p:cNvSpPr txBox="1"/>
          <p:nvPr/>
        </p:nvSpPr>
        <p:spPr>
          <a:xfrm>
            <a:off x="381000" y="857250"/>
            <a:ext cx="11430000" cy="323850"/>
          </a:xfrm>
          <a:prstGeom prst="rect">
            <a:avLst/>
          </a:prstGeom>
          <a:noFill/>
        </p:spPr>
        <p:txBody>
          <a:bodyPr wrap="square" lIns="0" rIns="0" tIns="0" bIns="0">
            <a:noAutofit/>
          </a:bodyPr>
          <a:lstStyle/>
          <a:p>
            <a:pPr algn="l"/>
            <a:r>
              <a:rPr sz="2200" b="1" i="0">
                <a:solidFill>
                  <a:srgbClr val="0055AD"/>
                </a:solidFill>
                <a:latin typeface="メイリオ"/>
                <a:ea typeface="メイリオ"/>
                <a:cs typeface="メイリオ"/>
              </a:rPr>
              <a:t>ECサイトの購買ファネル（n=5｜密度強化・説明文2行強制）</a:t>
            </a:r>
          </a:p>
        </p:txBody>
      </p:sp>
      <p:sp>
        <p:nvSpPr>
          <p:cNvPr id="9" name="Rounded Rectangle 8"/>
          <p:cNvSpPr/>
          <p:nvPr/>
        </p:nvSpPr>
        <p:spPr>
          <a:xfrm>
            <a:off x="952500" y="1314450"/>
            <a:ext cx="10287000" cy="885825"/>
          </a:xfrm>
          <a:prstGeom prst="roundRect">
            <a:avLst>
              <a:gd name="adj" fmla="val 8602"/>
            </a:avLst>
          </a:prstGeom>
          <a:solidFill>
            <a:srgbClr val="0055AD"/>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8650" y="1638300"/>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1</a:t>
            </a:r>
          </a:p>
        </p:txBody>
      </p:sp>
      <p:sp>
        <p:nvSpPr>
          <p:cNvPr id="11" name="TextBox 10"/>
          <p:cNvSpPr txBox="1"/>
          <p:nvPr/>
        </p:nvSpPr>
        <p:spPr>
          <a:xfrm>
            <a:off x="1066800" y="1390650"/>
            <a:ext cx="100584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認知</a:t>
            </a:r>
          </a:p>
        </p:txBody>
      </p:sp>
      <p:sp>
        <p:nvSpPr>
          <p:cNvPr id="12" name="TextBox 11"/>
          <p:cNvSpPr txBox="1"/>
          <p:nvPr/>
        </p:nvSpPr>
        <p:spPr>
          <a:xfrm>
            <a:off x="1066800" y="1638300"/>
            <a:ext cx="10058400" cy="485775"/>
          </a:xfrm>
          <a:prstGeom prst="rect">
            <a:avLst/>
          </a:prstGeom>
          <a:noFill/>
        </p:spPr>
        <p:txBody>
          <a:bodyPr wrap="square" lIns="0" rIns="0" tIns="0" bIns="0">
            <a:noAutofit/>
          </a:bodyPr>
          <a:lstStyle/>
          <a:p>
            <a:pPr algn="l"/>
            <a:r>
              <a:rPr sz="1400" b="0" i="0">
                <a:solidFill>
                  <a:srgbClr val="FFFFFF"/>
                </a:solidFill>
                <a:latin typeface="メイリオ"/>
                <a:ea typeface="メイリオ"/>
                <a:cs typeface="メイリオ"/>
              </a:rPr>
              <a:t>広告接触およびSNS経由で初回流入した推定ユニークユーザー数の月間合計値である</a:t>
            </a:r>
          </a:p>
        </p:txBody>
      </p:sp>
      <p:sp>
        <p:nvSpPr>
          <p:cNvPr id="13" name="Rounded Rectangle 12"/>
          <p:cNvSpPr/>
          <p:nvPr/>
        </p:nvSpPr>
        <p:spPr>
          <a:xfrm>
            <a:off x="1666875" y="2295525"/>
            <a:ext cx="8858250" cy="885825"/>
          </a:xfrm>
          <a:prstGeom prst="roundRect">
            <a:avLst>
              <a:gd name="adj" fmla="val 8602"/>
            </a:avLst>
          </a:prstGeom>
          <a:solidFill>
            <a:srgbClr val="008BF2"/>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343025" y="2619375"/>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2</a:t>
            </a:r>
          </a:p>
        </p:txBody>
      </p:sp>
      <p:sp>
        <p:nvSpPr>
          <p:cNvPr id="15" name="TextBox 14"/>
          <p:cNvSpPr txBox="1"/>
          <p:nvPr/>
        </p:nvSpPr>
        <p:spPr>
          <a:xfrm>
            <a:off x="1781175" y="2371725"/>
            <a:ext cx="862965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サイト訪問</a:t>
            </a:r>
          </a:p>
        </p:txBody>
      </p:sp>
      <p:sp>
        <p:nvSpPr>
          <p:cNvPr id="16" name="TextBox 15"/>
          <p:cNvSpPr txBox="1"/>
          <p:nvPr/>
        </p:nvSpPr>
        <p:spPr>
          <a:xfrm>
            <a:off x="1781175" y="2619375"/>
            <a:ext cx="8629650" cy="485775"/>
          </a:xfrm>
          <a:prstGeom prst="rect">
            <a:avLst/>
          </a:prstGeom>
          <a:noFill/>
        </p:spPr>
        <p:txBody>
          <a:bodyPr wrap="square" lIns="0" rIns="0" tIns="0" bIns="0">
            <a:noAutofit/>
          </a:bodyPr>
          <a:lstStyle/>
          <a:p>
            <a:pPr algn="l"/>
            <a:r>
              <a:rPr sz="1400" b="0" i="0">
                <a:solidFill>
                  <a:srgbClr val="FFFFFF"/>
                </a:solidFill>
                <a:latin typeface="メイリオ"/>
                <a:ea typeface="メイリオ"/>
                <a:cs typeface="メイリオ"/>
              </a:rPr>
              <a:t>LPへ到達し1画面以上を閲覧した実訪問の合計セッション数を計測した結果である</a:t>
            </a:r>
          </a:p>
        </p:txBody>
      </p:sp>
      <p:sp>
        <p:nvSpPr>
          <p:cNvPr id="17" name="TextBox 16"/>
          <p:cNvSpPr txBox="1"/>
          <p:nvPr/>
        </p:nvSpPr>
        <p:spPr>
          <a:xfrm>
            <a:off x="838200" y="2314575"/>
            <a:ext cx="581025" cy="209550"/>
          </a:xfrm>
          <a:prstGeom prst="rect">
            <a:avLst/>
          </a:prstGeom>
          <a:noFill/>
        </p:spPr>
        <p:txBody>
          <a:bodyPr wrap="none" lIns="0" rIns="0" tIns="0" bIns="0">
            <a:noAutofit/>
          </a:bodyPr>
          <a:lstStyle/>
          <a:p>
            <a:pPr algn="r"/>
            <a:r>
              <a:rPr sz="1400" b="1" i="0">
                <a:solidFill>
                  <a:srgbClr val="FE3939"/>
                </a:solidFill>
                <a:latin typeface="メイリオ"/>
                <a:ea typeface="メイリオ"/>
                <a:cs typeface="メイリオ"/>
              </a:rPr>
              <a:t>35%</a:t>
            </a:r>
          </a:p>
        </p:txBody>
      </p:sp>
      <p:sp>
        <p:nvSpPr>
          <p:cNvPr id="18" name="Rounded Rectangle 17"/>
          <p:cNvSpPr/>
          <p:nvPr/>
        </p:nvSpPr>
        <p:spPr>
          <a:xfrm>
            <a:off x="2381250" y="3276600"/>
            <a:ext cx="7429500" cy="885825"/>
          </a:xfrm>
          <a:prstGeom prst="roundRect">
            <a:avLst>
              <a:gd name="adj" fmla="val 8602"/>
            </a:avLst>
          </a:prstGeom>
          <a:solidFill>
            <a:srgbClr val="57B8FF"/>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057400" y="3600450"/>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3</a:t>
            </a:r>
          </a:p>
        </p:txBody>
      </p:sp>
      <p:sp>
        <p:nvSpPr>
          <p:cNvPr id="20" name="TextBox 19"/>
          <p:cNvSpPr txBox="1"/>
          <p:nvPr/>
        </p:nvSpPr>
        <p:spPr>
          <a:xfrm>
            <a:off x="2495550" y="3352800"/>
            <a:ext cx="72009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会員登録</a:t>
            </a:r>
          </a:p>
        </p:txBody>
      </p:sp>
      <p:sp>
        <p:nvSpPr>
          <p:cNvPr id="21" name="TextBox 20"/>
          <p:cNvSpPr txBox="1"/>
          <p:nvPr/>
        </p:nvSpPr>
        <p:spPr>
          <a:xfrm>
            <a:off x="2495550" y="3600450"/>
            <a:ext cx="7200900" cy="485775"/>
          </a:xfrm>
          <a:prstGeom prst="rect">
            <a:avLst/>
          </a:prstGeom>
          <a:noFill/>
        </p:spPr>
        <p:txBody>
          <a:bodyPr wrap="square" lIns="0" rIns="0" tIns="0" bIns="0">
            <a:noAutofit/>
          </a:bodyPr>
          <a:lstStyle/>
          <a:p>
            <a:pPr algn="l"/>
            <a:r>
              <a:rPr sz="1400" b="0" i="0">
                <a:solidFill>
                  <a:srgbClr val="FFFFFF"/>
                </a:solidFill>
                <a:latin typeface="メイリオ"/>
                <a:ea typeface="メイリオ"/>
                <a:cs typeface="メイリオ"/>
              </a:rPr>
              <a:t>登録フォームを送信し本人確認まで完了した新規会員の件数を集計したものである</a:t>
            </a:r>
          </a:p>
        </p:txBody>
      </p:sp>
      <p:sp>
        <p:nvSpPr>
          <p:cNvPr id="22" name="TextBox 21"/>
          <p:cNvSpPr txBox="1"/>
          <p:nvPr/>
        </p:nvSpPr>
        <p:spPr>
          <a:xfrm>
            <a:off x="1552575" y="3295650"/>
            <a:ext cx="581025" cy="209550"/>
          </a:xfrm>
          <a:prstGeom prst="rect">
            <a:avLst/>
          </a:prstGeom>
          <a:noFill/>
        </p:spPr>
        <p:txBody>
          <a:bodyPr wrap="none" lIns="0" rIns="0" tIns="0" bIns="0">
            <a:noAutofit/>
          </a:bodyPr>
          <a:lstStyle/>
          <a:p>
            <a:pPr algn="r"/>
            <a:r>
              <a:rPr sz="1400" b="1" i="0">
                <a:solidFill>
                  <a:srgbClr val="FE3939"/>
                </a:solidFill>
                <a:latin typeface="メイリオ"/>
                <a:ea typeface="メイリオ"/>
                <a:cs typeface="メイリオ"/>
              </a:rPr>
              <a:t>30%</a:t>
            </a:r>
          </a:p>
        </p:txBody>
      </p:sp>
      <p:sp>
        <p:nvSpPr>
          <p:cNvPr id="23" name="TextBox 22"/>
          <p:cNvSpPr txBox="1"/>
          <p:nvPr/>
        </p:nvSpPr>
        <p:spPr>
          <a:xfrm>
            <a:off x="9886950" y="3295650"/>
            <a:ext cx="1371600" cy="209550"/>
          </a:xfrm>
          <a:prstGeom prst="rect">
            <a:avLst/>
          </a:prstGeom>
          <a:noFill/>
        </p:spPr>
        <p:txBody>
          <a:bodyPr wrap="none" lIns="0" rIns="0" tIns="0" bIns="0">
            <a:noAutofit/>
          </a:bodyPr>
          <a:lstStyle/>
          <a:p>
            <a:pPr algn="l"/>
            <a:r>
              <a:rPr sz="1400" b="1" i="0">
                <a:solidFill>
                  <a:srgbClr val="57B8FF"/>
                </a:solidFill>
                <a:latin typeface="メイリオ"/>
                <a:ea typeface="メイリオ"/>
                <a:cs typeface="メイリオ"/>
              </a:rPr>
              <a:t>▲29,400件</a:t>
            </a:r>
          </a:p>
        </p:txBody>
      </p:sp>
      <p:sp>
        <p:nvSpPr>
          <p:cNvPr id="24" name="Rounded Rectangle 23"/>
          <p:cNvSpPr/>
          <p:nvPr/>
        </p:nvSpPr>
        <p:spPr>
          <a:xfrm>
            <a:off x="3095625" y="4257675"/>
            <a:ext cx="6000750" cy="885825"/>
          </a:xfrm>
          <a:prstGeom prst="roundRect">
            <a:avLst>
              <a:gd name="adj" fmla="val 8602"/>
            </a:avLst>
          </a:prstGeom>
          <a:solidFill>
            <a:srgbClr val="C0E4FF"/>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2771775" y="4581525"/>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4</a:t>
            </a:r>
          </a:p>
        </p:txBody>
      </p:sp>
      <p:sp>
        <p:nvSpPr>
          <p:cNvPr id="26" name="TextBox 25"/>
          <p:cNvSpPr txBox="1"/>
          <p:nvPr/>
        </p:nvSpPr>
        <p:spPr>
          <a:xfrm>
            <a:off x="3209925" y="4333875"/>
            <a:ext cx="5772150" cy="228600"/>
          </a:xfrm>
          <a:prstGeom prst="rect">
            <a:avLst/>
          </a:prstGeom>
          <a:noFill/>
        </p:spPr>
        <p:txBody>
          <a:bodyPr wrap="square" lIns="0" rIns="0" tIns="0" bIns="0">
            <a:noAutofit/>
          </a:bodyPr>
          <a:lstStyle/>
          <a:p>
            <a:pPr algn="ctr"/>
            <a:r>
              <a:rPr sz="1600" b="1" i="0">
                <a:solidFill>
                  <a:srgbClr val="404040"/>
                </a:solidFill>
                <a:latin typeface="メイリオ"/>
                <a:ea typeface="メイリオ"/>
                <a:cs typeface="メイリオ"/>
              </a:rPr>
              <a:t>商品比較</a:t>
            </a:r>
          </a:p>
        </p:txBody>
      </p:sp>
      <p:sp>
        <p:nvSpPr>
          <p:cNvPr id="27" name="TextBox 26"/>
          <p:cNvSpPr txBox="1"/>
          <p:nvPr/>
        </p:nvSpPr>
        <p:spPr>
          <a:xfrm>
            <a:off x="3209925" y="4581525"/>
            <a:ext cx="5772150" cy="485775"/>
          </a:xfrm>
          <a:prstGeom prst="rect">
            <a:avLst/>
          </a:prstGeom>
          <a:noFill/>
        </p:spPr>
        <p:txBody>
          <a:bodyPr wrap="square" lIns="0" rIns="0" tIns="0" bIns="0">
            <a:noAutofit/>
          </a:bodyPr>
          <a:lstStyle/>
          <a:p>
            <a:pPr algn="l"/>
            <a:r>
              <a:rPr sz="1400" b="0" i="0">
                <a:solidFill>
                  <a:srgbClr val="404040"/>
                </a:solidFill>
                <a:latin typeface="メイリオ"/>
                <a:ea typeface="メイリオ"/>
                <a:cs typeface="メイリオ"/>
              </a:rPr>
              <a:t>2件以上の商品詳細を閲覧し比較検討の段階へ進んだ訪問者数の実測値である</a:t>
            </a:r>
          </a:p>
        </p:txBody>
      </p:sp>
      <p:sp>
        <p:nvSpPr>
          <p:cNvPr id="28" name="TextBox 27"/>
          <p:cNvSpPr txBox="1"/>
          <p:nvPr/>
        </p:nvSpPr>
        <p:spPr>
          <a:xfrm>
            <a:off x="2266950" y="4276725"/>
            <a:ext cx="581025" cy="209550"/>
          </a:xfrm>
          <a:prstGeom prst="rect">
            <a:avLst/>
          </a:prstGeom>
          <a:noFill/>
        </p:spPr>
        <p:txBody>
          <a:bodyPr wrap="none" lIns="0" rIns="0" tIns="0" bIns="0">
            <a:noAutofit/>
          </a:bodyPr>
          <a:lstStyle/>
          <a:p>
            <a:pPr algn="r"/>
            <a:r>
              <a:rPr sz="1400" b="1" i="0">
                <a:solidFill>
                  <a:srgbClr val="FE3939"/>
                </a:solidFill>
                <a:latin typeface="メイリオ"/>
                <a:ea typeface="メイリオ"/>
                <a:cs typeface="メイリオ"/>
              </a:rPr>
              <a:t>65%</a:t>
            </a:r>
          </a:p>
        </p:txBody>
      </p:sp>
      <p:sp>
        <p:nvSpPr>
          <p:cNvPr id="29" name="TextBox 28"/>
          <p:cNvSpPr txBox="1"/>
          <p:nvPr/>
        </p:nvSpPr>
        <p:spPr>
          <a:xfrm>
            <a:off x="9172575" y="4276725"/>
            <a:ext cx="1219200" cy="209550"/>
          </a:xfrm>
          <a:prstGeom prst="rect">
            <a:avLst/>
          </a:prstGeom>
          <a:noFill/>
        </p:spPr>
        <p:txBody>
          <a:bodyPr wrap="none" lIns="0" rIns="0" tIns="0" bIns="0">
            <a:noAutofit/>
          </a:bodyPr>
          <a:lstStyle/>
          <a:p>
            <a:pPr algn="l"/>
            <a:r>
              <a:rPr sz="1400" b="1" i="0">
                <a:solidFill>
                  <a:srgbClr val="57B8FF"/>
                </a:solidFill>
                <a:latin typeface="メイリオ"/>
                <a:ea typeface="メイリオ"/>
                <a:cs typeface="メイリオ"/>
              </a:rPr>
              <a:t>▲4,400件</a:t>
            </a:r>
          </a:p>
        </p:txBody>
      </p:sp>
      <p:sp>
        <p:nvSpPr>
          <p:cNvPr id="30" name="Rounded Rectangle 29"/>
          <p:cNvSpPr/>
          <p:nvPr/>
        </p:nvSpPr>
        <p:spPr>
          <a:xfrm>
            <a:off x="3810000" y="5238750"/>
            <a:ext cx="4572000" cy="885825"/>
          </a:xfrm>
          <a:prstGeom prst="roundRect">
            <a:avLst>
              <a:gd name="adj" fmla="val 8602"/>
            </a:avLst>
          </a:prstGeom>
          <a:solidFill>
            <a:srgbClr val="F0F9FF"/>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3486150" y="5562600"/>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5</a:t>
            </a:r>
          </a:p>
        </p:txBody>
      </p:sp>
      <p:sp>
        <p:nvSpPr>
          <p:cNvPr id="32" name="TextBox 31"/>
          <p:cNvSpPr txBox="1"/>
          <p:nvPr/>
        </p:nvSpPr>
        <p:spPr>
          <a:xfrm>
            <a:off x="3924300" y="5314950"/>
            <a:ext cx="4343400" cy="228600"/>
          </a:xfrm>
          <a:prstGeom prst="rect">
            <a:avLst/>
          </a:prstGeom>
          <a:noFill/>
        </p:spPr>
        <p:txBody>
          <a:bodyPr wrap="square" lIns="0" rIns="0" tIns="0" bIns="0">
            <a:noAutofit/>
          </a:bodyPr>
          <a:lstStyle/>
          <a:p>
            <a:pPr algn="ctr"/>
            <a:r>
              <a:rPr sz="1600" b="1" i="0">
                <a:solidFill>
                  <a:srgbClr val="404040"/>
                </a:solidFill>
                <a:latin typeface="メイリオ"/>
                <a:ea typeface="メイリオ"/>
                <a:cs typeface="メイリオ"/>
              </a:rPr>
              <a:t>カート投入</a:t>
            </a:r>
          </a:p>
        </p:txBody>
      </p:sp>
      <p:sp>
        <p:nvSpPr>
          <p:cNvPr id="33" name="TextBox 32"/>
          <p:cNvSpPr txBox="1"/>
          <p:nvPr/>
        </p:nvSpPr>
        <p:spPr>
          <a:xfrm>
            <a:off x="3924300" y="5562600"/>
            <a:ext cx="4343400" cy="485775"/>
          </a:xfrm>
          <a:prstGeom prst="rect">
            <a:avLst/>
          </a:prstGeom>
          <a:noFill/>
        </p:spPr>
        <p:txBody>
          <a:bodyPr wrap="square" lIns="0" rIns="0" tIns="0" bIns="0">
            <a:noAutofit/>
          </a:bodyPr>
          <a:lstStyle/>
          <a:p>
            <a:pPr algn="l"/>
            <a:r>
              <a:rPr sz="1400" b="0" i="0">
                <a:solidFill>
                  <a:srgbClr val="404040"/>
                </a:solidFill>
                <a:latin typeface="メイリオ"/>
                <a:ea typeface="メイリオ"/>
                <a:cs typeface="メイリオ"/>
              </a:rPr>
              <a:t>カートへ1点以上を投入し決済画面へ遷移した訪問者数を計上したものである</a:t>
            </a:r>
          </a:p>
        </p:txBody>
      </p:sp>
      <p:sp>
        <p:nvSpPr>
          <p:cNvPr id="34" name="TextBox 33"/>
          <p:cNvSpPr txBox="1"/>
          <p:nvPr/>
        </p:nvSpPr>
        <p:spPr>
          <a:xfrm>
            <a:off x="2981325" y="5257800"/>
            <a:ext cx="581025" cy="209550"/>
          </a:xfrm>
          <a:prstGeom prst="rect">
            <a:avLst/>
          </a:prstGeom>
          <a:noFill/>
        </p:spPr>
        <p:txBody>
          <a:bodyPr wrap="none" lIns="0" rIns="0" tIns="0" bIns="0">
            <a:noAutofit/>
          </a:bodyPr>
          <a:lstStyle/>
          <a:p>
            <a:pPr algn="r"/>
            <a:r>
              <a:rPr sz="1400" b="1" i="0">
                <a:solidFill>
                  <a:srgbClr val="FE3939"/>
                </a:solidFill>
                <a:latin typeface="メイリオ"/>
                <a:ea typeface="メイリオ"/>
                <a:cs typeface="メイリオ"/>
              </a:rPr>
              <a:t>62%</a:t>
            </a:r>
          </a:p>
        </p:txBody>
      </p:sp>
      <p:sp>
        <p:nvSpPr>
          <p:cNvPr id="35" name="TextBox 34"/>
          <p:cNvSpPr txBox="1"/>
          <p:nvPr/>
        </p:nvSpPr>
        <p:spPr>
          <a:xfrm>
            <a:off x="8458200" y="5257800"/>
            <a:ext cx="1219200" cy="209550"/>
          </a:xfrm>
          <a:prstGeom prst="rect">
            <a:avLst/>
          </a:prstGeom>
          <a:noFill/>
        </p:spPr>
        <p:txBody>
          <a:bodyPr wrap="none" lIns="0" rIns="0" tIns="0" bIns="0">
            <a:noAutofit/>
          </a:bodyPr>
          <a:lstStyle/>
          <a:p>
            <a:pPr algn="l"/>
            <a:r>
              <a:rPr sz="1400" b="1" i="0">
                <a:solidFill>
                  <a:srgbClr val="57B8FF"/>
                </a:solidFill>
                <a:latin typeface="メイリオ"/>
                <a:ea typeface="メイリオ"/>
                <a:cs typeface="メイリオ"/>
              </a:rPr>
              <a:t>▲3,120件</a:t>
            </a:r>
          </a:p>
        </p:txBody>
      </p:sp>
      <p:sp>
        <p:nvSpPr>
          <p:cNvPr id="36" name="TextBox 35"/>
          <p:cNvSpPr txBox="1"/>
          <p:nvPr/>
        </p:nvSpPr>
        <p:spPr>
          <a:xfrm>
            <a:off x="8458200" y="5876925"/>
            <a:ext cx="2457450" cy="209550"/>
          </a:xfrm>
          <a:prstGeom prst="rect">
            <a:avLst/>
          </a:prstGeom>
          <a:noFill/>
        </p:spPr>
        <p:txBody>
          <a:bodyPr wrap="square" lIns="0" rIns="0" tIns="0" bIns="0">
            <a:noAutofit/>
          </a:bodyPr>
          <a:lstStyle/>
          <a:p>
            <a:pPr algn="l"/>
            <a:r>
              <a:rPr sz="1400" b="1" i="0">
                <a:solidFill>
                  <a:srgbClr val="0055AD"/>
                </a:solidFill>
                <a:latin typeface="メイリオ"/>
                <a:ea typeface="メイリオ"/>
                <a:cs typeface="メイリオ"/>
              </a:rPr>
              <a:t>= FY25売上680億円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71500"/>
          </a:xfrm>
          <a:prstGeom prst="rect">
            <a:avLst/>
          </a:prstGeom>
          <a:solidFill>
            <a:srgbClr val="1C36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381000" y="171450"/>
            <a:ext cx="7620000" cy="333375"/>
          </a:xfrm>
          <a:prstGeom prst="rect">
            <a:avLst/>
          </a:prstGeom>
          <a:noFill/>
        </p:spPr>
        <p:txBody>
          <a:bodyPr wrap="square" lIns="0" rIns="0" tIns="0" bIns="0">
            <a:noAutofit/>
          </a:bodyPr>
          <a:lstStyle/>
          <a:p>
            <a:pPr algn="l"/>
            <a:r>
              <a:rPr sz="2200" b="1" i="0">
                <a:solidFill>
                  <a:srgbClr val="FFFFFF"/>
                </a:solidFill>
                <a:latin typeface="メイリオ"/>
                <a:ea typeface="メイリオ"/>
                <a:cs typeface="メイリオ"/>
              </a:rPr>
              <a:t>絞り込み</a:t>
            </a:r>
          </a:p>
        </p:txBody>
      </p:sp>
      <p:sp>
        <p:nvSpPr>
          <p:cNvPr id="4" name="TextBox 3"/>
          <p:cNvSpPr txBox="1"/>
          <p:nvPr/>
        </p:nvSpPr>
        <p:spPr>
          <a:xfrm>
            <a:off x="8001000" y="209550"/>
            <a:ext cx="3810000" cy="228600"/>
          </a:xfrm>
          <a:prstGeom prst="rect">
            <a:avLst/>
          </a:prstGeom>
          <a:noFill/>
        </p:spPr>
        <p:txBody>
          <a:bodyPr wrap="square" lIns="0" rIns="0" tIns="0" bIns="0">
            <a:noAutofit/>
          </a:bodyPr>
          <a:lstStyle/>
          <a:p>
            <a:pPr algn="r"/>
            <a:r>
              <a:rPr sz="1400" b="0" i="0">
                <a:solidFill>
                  <a:srgbClr val="9DB0D6"/>
                </a:solidFill>
                <a:latin typeface="メイリオ"/>
                <a:ea typeface="メイリオ"/>
                <a:cs typeface="メイリオ"/>
              </a:rPr>
              <a:t>FUNNEL</a:t>
            </a:r>
          </a:p>
        </p:txBody>
      </p:sp>
      <p:sp>
        <p:nvSpPr>
          <p:cNvPr id="5" name="Rectangle 4"/>
          <p:cNvSpPr/>
          <p:nvPr/>
        </p:nvSpPr>
        <p:spPr>
          <a:xfrm>
            <a:off x="0" y="6286500"/>
            <a:ext cx="121920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81000" y="6496050"/>
            <a:ext cx="3810000" cy="228600"/>
          </a:xfrm>
          <a:prstGeom prst="rect">
            <a:avLst/>
          </a:prstGeom>
          <a:noFill/>
        </p:spPr>
        <p:txBody>
          <a:bodyPr wrap="square" lIns="0" rIns="0" tIns="0" bIns="0">
            <a:noAutofit/>
          </a:bodyPr>
          <a:lstStyle/>
          <a:p>
            <a:pPr algn="l"/>
            <a:r>
              <a:rPr sz="1400" b="1" i="0">
                <a:solidFill>
                  <a:srgbClr val="1C366C"/>
                </a:solidFill>
                <a:latin typeface="メイリオ"/>
                <a:ea typeface="メイリオ"/>
                <a:cs typeface="メイリオ"/>
              </a:rPr>
              <a:t>紺＆クリーン スライド作成</a:t>
            </a:r>
          </a:p>
        </p:txBody>
      </p:sp>
      <p:sp>
        <p:nvSpPr>
          <p:cNvPr id="7" name="TextBox 6"/>
          <p:cNvSpPr txBox="1"/>
          <p:nvPr/>
        </p:nvSpPr>
        <p:spPr>
          <a:xfrm>
            <a:off x="10858500" y="6524625"/>
            <a:ext cx="1143000" cy="228600"/>
          </a:xfrm>
          <a:prstGeom prst="rect">
            <a:avLst/>
          </a:prstGeom>
          <a:noFill/>
        </p:spPr>
        <p:txBody>
          <a:bodyPr wrap="square" lIns="0" rIns="0" tIns="0" bIns="0">
            <a:noAutofit/>
          </a:bodyPr>
          <a:lstStyle/>
          <a:p>
            <a:pPr algn="r"/>
            <a:r>
              <a:rPr sz="1400" b="0" i="0">
                <a:solidFill>
                  <a:srgbClr val="262626"/>
                </a:solidFill>
                <a:latin typeface="メイリオ"/>
                <a:ea typeface="メイリオ"/>
                <a:cs typeface="メイリオ"/>
              </a:rPr>
              <a:t>4 / 4</a:t>
            </a:r>
          </a:p>
        </p:txBody>
      </p:sp>
      <p:sp>
        <p:nvSpPr>
          <p:cNvPr id="8" name="TextBox 7"/>
          <p:cNvSpPr txBox="1"/>
          <p:nvPr/>
        </p:nvSpPr>
        <p:spPr>
          <a:xfrm>
            <a:off x="381000" y="857250"/>
            <a:ext cx="11430000" cy="323850"/>
          </a:xfrm>
          <a:prstGeom prst="rect">
            <a:avLst/>
          </a:prstGeom>
          <a:noFill/>
        </p:spPr>
        <p:txBody>
          <a:bodyPr wrap="square" lIns="0" rIns="0" tIns="0" bIns="0">
            <a:noAutofit/>
          </a:bodyPr>
          <a:lstStyle/>
          <a:p>
            <a:pPr algn="l"/>
            <a:r>
              <a:rPr sz="2200" b="1" i="0">
                <a:solidFill>
                  <a:srgbClr val="0055AD"/>
                </a:solidFill>
                <a:latin typeface="メイリオ"/>
                <a:ea typeface="メイリオ"/>
                <a:cs typeface="メイリオ"/>
              </a:rPr>
              <a:t>ECサイトの購買ファネル（n=6｜密度強化・説明文2行強制）</a:t>
            </a:r>
          </a:p>
        </p:txBody>
      </p:sp>
      <p:sp>
        <p:nvSpPr>
          <p:cNvPr id="9" name="Rounded Rectangle 8"/>
          <p:cNvSpPr/>
          <p:nvPr/>
        </p:nvSpPr>
        <p:spPr>
          <a:xfrm>
            <a:off x="952500" y="1314450"/>
            <a:ext cx="10287000" cy="723900"/>
          </a:xfrm>
          <a:prstGeom prst="roundRect">
            <a:avLst>
              <a:gd name="adj" fmla="val 10526"/>
            </a:avLst>
          </a:prstGeom>
          <a:solidFill>
            <a:srgbClr val="0055AD"/>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8650" y="1562100"/>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1</a:t>
            </a:r>
          </a:p>
        </p:txBody>
      </p:sp>
      <p:sp>
        <p:nvSpPr>
          <p:cNvPr id="11" name="TextBox 10"/>
          <p:cNvSpPr txBox="1"/>
          <p:nvPr/>
        </p:nvSpPr>
        <p:spPr>
          <a:xfrm>
            <a:off x="1066800" y="1390650"/>
            <a:ext cx="100584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認知</a:t>
            </a:r>
          </a:p>
        </p:txBody>
      </p:sp>
      <p:sp>
        <p:nvSpPr>
          <p:cNvPr id="12" name="TextBox 11"/>
          <p:cNvSpPr txBox="1"/>
          <p:nvPr/>
        </p:nvSpPr>
        <p:spPr>
          <a:xfrm>
            <a:off x="1066800" y="1638300"/>
            <a:ext cx="10058400" cy="323850"/>
          </a:xfrm>
          <a:prstGeom prst="rect">
            <a:avLst/>
          </a:prstGeom>
          <a:noFill/>
        </p:spPr>
        <p:txBody>
          <a:bodyPr wrap="square" lIns="0" rIns="0" tIns="0" bIns="0">
            <a:noAutofit/>
          </a:bodyPr>
          <a:lstStyle/>
          <a:p>
            <a:pPr algn="l"/>
            <a:r>
              <a:rPr sz="1400" b="0" i="0">
                <a:solidFill>
                  <a:srgbClr val="FFFFFF"/>
                </a:solidFill>
                <a:latin typeface="メイリオ"/>
                <a:ea typeface="メイリオ"/>
                <a:cs typeface="メイリオ"/>
              </a:rPr>
              <a:t>広告接触およびSNS経由で初回流入した推定ユニークユーザー数の月間合計値である</a:t>
            </a:r>
          </a:p>
        </p:txBody>
      </p:sp>
      <p:sp>
        <p:nvSpPr>
          <p:cNvPr id="13" name="Rounded Rectangle 12"/>
          <p:cNvSpPr/>
          <p:nvPr/>
        </p:nvSpPr>
        <p:spPr>
          <a:xfrm>
            <a:off x="1524000" y="2133600"/>
            <a:ext cx="9144000" cy="723900"/>
          </a:xfrm>
          <a:prstGeom prst="roundRect">
            <a:avLst>
              <a:gd name="adj" fmla="val 10526"/>
            </a:avLst>
          </a:prstGeom>
          <a:solidFill>
            <a:srgbClr val="0055AD"/>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00150" y="2381250"/>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2</a:t>
            </a:r>
          </a:p>
        </p:txBody>
      </p:sp>
      <p:sp>
        <p:nvSpPr>
          <p:cNvPr id="15" name="TextBox 14"/>
          <p:cNvSpPr txBox="1"/>
          <p:nvPr/>
        </p:nvSpPr>
        <p:spPr>
          <a:xfrm>
            <a:off x="1638300" y="2209800"/>
            <a:ext cx="89154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サイト訪問</a:t>
            </a:r>
          </a:p>
        </p:txBody>
      </p:sp>
      <p:sp>
        <p:nvSpPr>
          <p:cNvPr id="16" name="TextBox 15"/>
          <p:cNvSpPr txBox="1"/>
          <p:nvPr/>
        </p:nvSpPr>
        <p:spPr>
          <a:xfrm>
            <a:off x="1638300" y="2457450"/>
            <a:ext cx="8915400" cy="323850"/>
          </a:xfrm>
          <a:prstGeom prst="rect">
            <a:avLst/>
          </a:prstGeom>
          <a:noFill/>
        </p:spPr>
        <p:txBody>
          <a:bodyPr wrap="square" lIns="0" rIns="0" tIns="0" bIns="0">
            <a:noAutofit/>
          </a:bodyPr>
          <a:lstStyle/>
          <a:p>
            <a:pPr algn="l"/>
            <a:r>
              <a:rPr sz="1400" b="0" i="0">
                <a:solidFill>
                  <a:srgbClr val="FFFFFF"/>
                </a:solidFill>
                <a:latin typeface="メイリオ"/>
                <a:ea typeface="メイリオ"/>
                <a:cs typeface="メイリオ"/>
              </a:rPr>
              <a:t>LPへ到達し1画面以上を閲覧した実訪問の合計セッション数を計測した結果である</a:t>
            </a:r>
          </a:p>
        </p:txBody>
      </p:sp>
      <p:sp>
        <p:nvSpPr>
          <p:cNvPr id="17" name="TextBox 16"/>
          <p:cNvSpPr txBox="1"/>
          <p:nvPr/>
        </p:nvSpPr>
        <p:spPr>
          <a:xfrm>
            <a:off x="695325" y="2152650"/>
            <a:ext cx="581025" cy="209550"/>
          </a:xfrm>
          <a:prstGeom prst="rect">
            <a:avLst/>
          </a:prstGeom>
          <a:noFill/>
        </p:spPr>
        <p:txBody>
          <a:bodyPr wrap="none" lIns="0" rIns="0" tIns="0" bIns="0">
            <a:noAutofit/>
          </a:bodyPr>
          <a:lstStyle/>
          <a:p>
            <a:pPr algn="r"/>
            <a:r>
              <a:rPr sz="1400" b="1" i="0">
                <a:solidFill>
                  <a:srgbClr val="FE3939"/>
                </a:solidFill>
                <a:latin typeface="メイリオ"/>
                <a:ea typeface="メイリオ"/>
                <a:cs typeface="メイリオ"/>
              </a:rPr>
              <a:t>35%</a:t>
            </a:r>
          </a:p>
        </p:txBody>
      </p:sp>
      <p:sp>
        <p:nvSpPr>
          <p:cNvPr id="18" name="Rounded Rectangle 17"/>
          <p:cNvSpPr/>
          <p:nvPr/>
        </p:nvSpPr>
        <p:spPr>
          <a:xfrm>
            <a:off x="2095500" y="2952750"/>
            <a:ext cx="8001000" cy="723900"/>
          </a:xfrm>
          <a:prstGeom prst="roundRect">
            <a:avLst>
              <a:gd name="adj" fmla="val 10526"/>
            </a:avLst>
          </a:prstGeom>
          <a:solidFill>
            <a:srgbClr val="008BF2"/>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771650" y="3200400"/>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3</a:t>
            </a:r>
          </a:p>
        </p:txBody>
      </p:sp>
      <p:sp>
        <p:nvSpPr>
          <p:cNvPr id="20" name="TextBox 19"/>
          <p:cNvSpPr txBox="1"/>
          <p:nvPr/>
        </p:nvSpPr>
        <p:spPr>
          <a:xfrm>
            <a:off x="2209800" y="3028950"/>
            <a:ext cx="77724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会員登録</a:t>
            </a:r>
          </a:p>
        </p:txBody>
      </p:sp>
      <p:sp>
        <p:nvSpPr>
          <p:cNvPr id="21" name="TextBox 20"/>
          <p:cNvSpPr txBox="1"/>
          <p:nvPr/>
        </p:nvSpPr>
        <p:spPr>
          <a:xfrm>
            <a:off x="2209800" y="3276600"/>
            <a:ext cx="7772400" cy="323850"/>
          </a:xfrm>
          <a:prstGeom prst="rect">
            <a:avLst/>
          </a:prstGeom>
          <a:noFill/>
        </p:spPr>
        <p:txBody>
          <a:bodyPr wrap="square" lIns="0" rIns="0" tIns="0" bIns="0">
            <a:noAutofit/>
          </a:bodyPr>
          <a:lstStyle/>
          <a:p>
            <a:pPr algn="l"/>
            <a:r>
              <a:rPr sz="1400" b="0" i="0">
                <a:solidFill>
                  <a:srgbClr val="FFFFFF"/>
                </a:solidFill>
                <a:latin typeface="メイリオ"/>
                <a:ea typeface="メイリオ"/>
                <a:cs typeface="メイリオ"/>
              </a:rPr>
              <a:t>登録フォームを送信し本人確認まで完了した新規会員の件数を集計したものである</a:t>
            </a:r>
          </a:p>
        </p:txBody>
      </p:sp>
      <p:sp>
        <p:nvSpPr>
          <p:cNvPr id="22" name="TextBox 21"/>
          <p:cNvSpPr txBox="1"/>
          <p:nvPr/>
        </p:nvSpPr>
        <p:spPr>
          <a:xfrm>
            <a:off x="1266825" y="2971800"/>
            <a:ext cx="581025" cy="209550"/>
          </a:xfrm>
          <a:prstGeom prst="rect">
            <a:avLst/>
          </a:prstGeom>
          <a:noFill/>
        </p:spPr>
        <p:txBody>
          <a:bodyPr wrap="none" lIns="0" rIns="0" tIns="0" bIns="0">
            <a:noAutofit/>
          </a:bodyPr>
          <a:lstStyle/>
          <a:p>
            <a:pPr algn="r"/>
            <a:r>
              <a:rPr sz="1400" b="1" i="0">
                <a:solidFill>
                  <a:srgbClr val="FE3939"/>
                </a:solidFill>
                <a:latin typeface="メイリオ"/>
                <a:ea typeface="メイリオ"/>
                <a:cs typeface="メイリオ"/>
              </a:rPr>
              <a:t>30%</a:t>
            </a:r>
          </a:p>
        </p:txBody>
      </p:sp>
      <p:sp>
        <p:nvSpPr>
          <p:cNvPr id="23" name="TextBox 22"/>
          <p:cNvSpPr txBox="1"/>
          <p:nvPr/>
        </p:nvSpPr>
        <p:spPr>
          <a:xfrm>
            <a:off x="10172700" y="2971800"/>
            <a:ext cx="1371600" cy="209550"/>
          </a:xfrm>
          <a:prstGeom prst="rect">
            <a:avLst/>
          </a:prstGeom>
          <a:noFill/>
        </p:spPr>
        <p:txBody>
          <a:bodyPr wrap="none" lIns="0" rIns="0" tIns="0" bIns="0">
            <a:noAutofit/>
          </a:bodyPr>
          <a:lstStyle/>
          <a:p>
            <a:pPr algn="l"/>
            <a:r>
              <a:rPr sz="1400" b="1" i="0">
                <a:solidFill>
                  <a:srgbClr val="57B8FF"/>
                </a:solidFill>
                <a:latin typeface="メイリオ"/>
                <a:ea typeface="メイリオ"/>
                <a:cs typeface="メイリオ"/>
              </a:rPr>
              <a:t>▲29,400件</a:t>
            </a:r>
          </a:p>
        </p:txBody>
      </p:sp>
      <p:sp>
        <p:nvSpPr>
          <p:cNvPr id="24" name="Rounded Rectangle 23"/>
          <p:cNvSpPr/>
          <p:nvPr/>
        </p:nvSpPr>
        <p:spPr>
          <a:xfrm>
            <a:off x="2667000" y="3771900"/>
            <a:ext cx="6858000" cy="723900"/>
          </a:xfrm>
          <a:prstGeom prst="roundRect">
            <a:avLst>
              <a:gd name="adj" fmla="val 10526"/>
            </a:avLst>
          </a:prstGeom>
          <a:solidFill>
            <a:srgbClr val="57B8FF"/>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2343150" y="4019550"/>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4</a:t>
            </a:r>
          </a:p>
        </p:txBody>
      </p:sp>
      <p:sp>
        <p:nvSpPr>
          <p:cNvPr id="26" name="TextBox 25"/>
          <p:cNvSpPr txBox="1"/>
          <p:nvPr/>
        </p:nvSpPr>
        <p:spPr>
          <a:xfrm>
            <a:off x="2781300" y="3848100"/>
            <a:ext cx="66294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商品比較</a:t>
            </a:r>
          </a:p>
        </p:txBody>
      </p:sp>
      <p:sp>
        <p:nvSpPr>
          <p:cNvPr id="27" name="TextBox 26"/>
          <p:cNvSpPr txBox="1"/>
          <p:nvPr/>
        </p:nvSpPr>
        <p:spPr>
          <a:xfrm>
            <a:off x="2781300" y="4095750"/>
            <a:ext cx="6629400" cy="323850"/>
          </a:xfrm>
          <a:prstGeom prst="rect">
            <a:avLst/>
          </a:prstGeom>
          <a:noFill/>
        </p:spPr>
        <p:txBody>
          <a:bodyPr wrap="square" lIns="0" rIns="0" tIns="0" bIns="0">
            <a:noAutofit/>
          </a:bodyPr>
          <a:lstStyle/>
          <a:p>
            <a:pPr algn="l"/>
            <a:r>
              <a:rPr sz="1400" b="0" i="0">
                <a:solidFill>
                  <a:srgbClr val="FFFFFF"/>
                </a:solidFill>
                <a:latin typeface="メイリオ"/>
                <a:ea typeface="メイリオ"/>
                <a:cs typeface="メイリオ"/>
              </a:rPr>
              <a:t>2件以上の商品詳細を閲覧し比較検討の段階へ進んだ訪問者数の実測値である</a:t>
            </a:r>
          </a:p>
        </p:txBody>
      </p:sp>
      <p:sp>
        <p:nvSpPr>
          <p:cNvPr id="28" name="TextBox 27"/>
          <p:cNvSpPr txBox="1"/>
          <p:nvPr/>
        </p:nvSpPr>
        <p:spPr>
          <a:xfrm>
            <a:off x="1838325" y="3790950"/>
            <a:ext cx="581025" cy="209550"/>
          </a:xfrm>
          <a:prstGeom prst="rect">
            <a:avLst/>
          </a:prstGeom>
          <a:noFill/>
        </p:spPr>
        <p:txBody>
          <a:bodyPr wrap="none" lIns="0" rIns="0" tIns="0" bIns="0">
            <a:noAutofit/>
          </a:bodyPr>
          <a:lstStyle/>
          <a:p>
            <a:pPr algn="r"/>
            <a:r>
              <a:rPr sz="1400" b="1" i="0">
                <a:solidFill>
                  <a:srgbClr val="FE3939"/>
                </a:solidFill>
                <a:latin typeface="メイリオ"/>
                <a:ea typeface="メイリオ"/>
                <a:cs typeface="メイリオ"/>
              </a:rPr>
              <a:t>65%</a:t>
            </a:r>
          </a:p>
        </p:txBody>
      </p:sp>
      <p:sp>
        <p:nvSpPr>
          <p:cNvPr id="29" name="TextBox 28"/>
          <p:cNvSpPr txBox="1"/>
          <p:nvPr/>
        </p:nvSpPr>
        <p:spPr>
          <a:xfrm>
            <a:off x="9601200" y="3790950"/>
            <a:ext cx="1219200" cy="209550"/>
          </a:xfrm>
          <a:prstGeom prst="rect">
            <a:avLst/>
          </a:prstGeom>
          <a:noFill/>
        </p:spPr>
        <p:txBody>
          <a:bodyPr wrap="none" lIns="0" rIns="0" tIns="0" bIns="0">
            <a:noAutofit/>
          </a:bodyPr>
          <a:lstStyle/>
          <a:p>
            <a:pPr algn="l"/>
            <a:r>
              <a:rPr sz="1400" b="1" i="0">
                <a:solidFill>
                  <a:srgbClr val="57B8FF"/>
                </a:solidFill>
                <a:latin typeface="メイリオ"/>
                <a:ea typeface="メイリオ"/>
                <a:cs typeface="メイリオ"/>
              </a:rPr>
              <a:t>▲4,400件</a:t>
            </a:r>
          </a:p>
        </p:txBody>
      </p:sp>
      <p:sp>
        <p:nvSpPr>
          <p:cNvPr id="30" name="Rounded Rectangle 29"/>
          <p:cNvSpPr/>
          <p:nvPr/>
        </p:nvSpPr>
        <p:spPr>
          <a:xfrm>
            <a:off x="3238500" y="4591050"/>
            <a:ext cx="5715000" cy="723900"/>
          </a:xfrm>
          <a:prstGeom prst="roundRect">
            <a:avLst>
              <a:gd name="adj" fmla="val 10526"/>
            </a:avLst>
          </a:prstGeom>
          <a:solidFill>
            <a:srgbClr val="C0E4FF"/>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2914650" y="4838700"/>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5</a:t>
            </a:r>
          </a:p>
        </p:txBody>
      </p:sp>
      <p:sp>
        <p:nvSpPr>
          <p:cNvPr id="32" name="TextBox 31"/>
          <p:cNvSpPr txBox="1"/>
          <p:nvPr/>
        </p:nvSpPr>
        <p:spPr>
          <a:xfrm>
            <a:off x="3352800" y="4667250"/>
            <a:ext cx="5486400" cy="228600"/>
          </a:xfrm>
          <a:prstGeom prst="rect">
            <a:avLst/>
          </a:prstGeom>
          <a:noFill/>
        </p:spPr>
        <p:txBody>
          <a:bodyPr wrap="square" lIns="0" rIns="0" tIns="0" bIns="0">
            <a:noAutofit/>
          </a:bodyPr>
          <a:lstStyle/>
          <a:p>
            <a:pPr algn="ctr"/>
            <a:r>
              <a:rPr sz="1600" b="1" i="0">
                <a:solidFill>
                  <a:srgbClr val="404040"/>
                </a:solidFill>
                <a:latin typeface="メイリオ"/>
                <a:ea typeface="メイリオ"/>
                <a:cs typeface="メイリオ"/>
              </a:rPr>
              <a:t>カート投入</a:t>
            </a:r>
          </a:p>
        </p:txBody>
      </p:sp>
      <p:sp>
        <p:nvSpPr>
          <p:cNvPr id="33" name="TextBox 32"/>
          <p:cNvSpPr txBox="1"/>
          <p:nvPr/>
        </p:nvSpPr>
        <p:spPr>
          <a:xfrm>
            <a:off x="3352800" y="4914900"/>
            <a:ext cx="5486400" cy="323850"/>
          </a:xfrm>
          <a:prstGeom prst="rect">
            <a:avLst/>
          </a:prstGeom>
          <a:noFill/>
        </p:spPr>
        <p:txBody>
          <a:bodyPr wrap="square" lIns="0" rIns="0" tIns="0" bIns="0">
            <a:noAutofit/>
          </a:bodyPr>
          <a:lstStyle/>
          <a:p>
            <a:pPr algn="l"/>
            <a:r>
              <a:rPr sz="1400" b="0" i="0">
                <a:solidFill>
                  <a:srgbClr val="404040"/>
                </a:solidFill>
                <a:latin typeface="メイリオ"/>
                <a:ea typeface="メイリオ"/>
                <a:cs typeface="メイリオ"/>
              </a:rPr>
              <a:t>カートへ1点以上を投入し決済画面へ遷移した訪問者数を計上したものである</a:t>
            </a:r>
          </a:p>
        </p:txBody>
      </p:sp>
      <p:sp>
        <p:nvSpPr>
          <p:cNvPr id="34" name="TextBox 33"/>
          <p:cNvSpPr txBox="1"/>
          <p:nvPr/>
        </p:nvSpPr>
        <p:spPr>
          <a:xfrm>
            <a:off x="2409825" y="4610100"/>
            <a:ext cx="581025" cy="209550"/>
          </a:xfrm>
          <a:prstGeom prst="rect">
            <a:avLst/>
          </a:prstGeom>
          <a:noFill/>
        </p:spPr>
        <p:txBody>
          <a:bodyPr wrap="none" lIns="0" rIns="0" tIns="0" bIns="0">
            <a:noAutofit/>
          </a:bodyPr>
          <a:lstStyle/>
          <a:p>
            <a:pPr algn="r"/>
            <a:r>
              <a:rPr sz="1400" b="1" i="0">
                <a:solidFill>
                  <a:srgbClr val="FE3939"/>
                </a:solidFill>
                <a:latin typeface="メイリオ"/>
                <a:ea typeface="メイリオ"/>
                <a:cs typeface="メイリオ"/>
              </a:rPr>
              <a:t>62%</a:t>
            </a:r>
          </a:p>
        </p:txBody>
      </p:sp>
      <p:sp>
        <p:nvSpPr>
          <p:cNvPr id="35" name="TextBox 34"/>
          <p:cNvSpPr txBox="1"/>
          <p:nvPr/>
        </p:nvSpPr>
        <p:spPr>
          <a:xfrm>
            <a:off x="9029700" y="4610100"/>
            <a:ext cx="1219200" cy="209550"/>
          </a:xfrm>
          <a:prstGeom prst="rect">
            <a:avLst/>
          </a:prstGeom>
          <a:noFill/>
        </p:spPr>
        <p:txBody>
          <a:bodyPr wrap="none" lIns="0" rIns="0" tIns="0" bIns="0">
            <a:noAutofit/>
          </a:bodyPr>
          <a:lstStyle/>
          <a:p>
            <a:pPr algn="l"/>
            <a:r>
              <a:rPr sz="1400" b="1" i="0">
                <a:solidFill>
                  <a:srgbClr val="57B8FF"/>
                </a:solidFill>
                <a:latin typeface="メイリオ"/>
                <a:ea typeface="メイリオ"/>
                <a:cs typeface="メイリオ"/>
              </a:rPr>
              <a:t>▲3,120件</a:t>
            </a:r>
          </a:p>
        </p:txBody>
      </p:sp>
      <p:sp>
        <p:nvSpPr>
          <p:cNvPr id="36" name="Rounded Rectangle 35"/>
          <p:cNvSpPr/>
          <p:nvPr/>
        </p:nvSpPr>
        <p:spPr>
          <a:xfrm>
            <a:off x="3810000" y="5410200"/>
            <a:ext cx="4572000" cy="723900"/>
          </a:xfrm>
          <a:prstGeom prst="roundRect">
            <a:avLst>
              <a:gd name="adj" fmla="val 10526"/>
            </a:avLst>
          </a:prstGeom>
          <a:solidFill>
            <a:srgbClr val="F0F9FF"/>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486150" y="5657850"/>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6</a:t>
            </a:r>
          </a:p>
        </p:txBody>
      </p:sp>
      <p:sp>
        <p:nvSpPr>
          <p:cNvPr id="38" name="TextBox 37"/>
          <p:cNvSpPr txBox="1"/>
          <p:nvPr/>
        </p:nvSpPr>
        <p:spPr>
          <a:xfrm>
            <a:off x="3924300" y="5486400"/>
            <a:ext cx="4343400" cy="228600"/>
          </a:xfrm>
          <a:prstGeom prst="rect">
            <a:avLst/>
          </a:prstGeom>
          <a:noFill/>
        </p:spPr>
        <p:txBody>
          <a:bodyPr wrap="square" lIns="0" rIns="0" tIns="0" bIns="0">
            <a:noAutofit/>
          </a:bodyPr>
          <a:lstStyle/>
          <a:p>
            <a:pPr algn="ctr"/>
            <a:r>
              <a:rPr sz="1600" b="1" i="0">
                <a:solidFill>
                  <a:srgbClr val="404040"/>
                </a:solidFill>
                <a:latin typeface="メイリオ"/>
                <a:ea typeface="メイリオ"/>
                <a:cs typeface="メイリオ"/>
              </a:rPr>
              <a:t>購入完了</a:t>
            </a:r>
          </a:p>
        </p:txBody>
      </p:sp>
      <p:sp>
        <p:nvSpPr>
          <p:cNvPr id="39" name="TextBox 38"/>
          <p:cNvSpPr txBox="1"/>
          <p:nvPr/>
        </p:nvSpPr>
        <p:spPr>
          <a:xfrm>
            <a:off x="3924300" y="5734050"/>
            <a:ext cx="4343400" cy="323850"/>
          </a:xfrm>
          <a:prstGeom prst="rect">
            <a:avLst/>
          </a:prstGeom>
          <a:noFill/>
        </p:spPr>
        <p:txBody>
          <a:bodyPr wrap="square" lIns="0" rIns="0" tIns="0" bIns="0">
            <a:noAutofit/>
          </a:bodyPr>
          <a:lstStyle/>
          <a:p>
            <a:pPr algn="l"/>
            <a:r>
              <a:rPr sz="1400" b="0" i="0">
                <a:solidFill>
                  <a:srgbClr val="404040"/>
                </a:solidFill>
                <a:latin typeface="メイリオ"/>
                <a:ea typeface="メイリオ"/>
                <a:cs typeface="メイリオ"/>
              </a:rPr>
              <a:t>決済を完了し受注が確定した最終コンバージョン件数の月間実績値である</a:t>
            </a:r>
          </a:p>
        </p:txBody>
      </p:sp>
      <p:sp>
        <p:nvSpPr>
          <p:cNvPr id="40" name="TextBox 39"/>
          <p:cNvSpPr txBox="1"/>
          <p:nvPr/>
        </p:nvSpPr>
        <p:spPr>
          <a:xfrm>
            <a:off x="2981325" y="5429250"/>
            <a:ext cx="581025" cy="209550"/>
          </a:xfrm>
          <a:prstGeom prst="rect">
            <a:avLst/>
          </a:prstGeom>
          <a:noFill/>
        </p:spPr>
        <p:txBody>
          <a:bodyPr wrap="none" lIns="0" rIns="0" tIns="0" bIns="0">
            <a:noAutofit/>
          </a:bodyPr>
          <a:lstStyle/>
          <a:p>
            <a:pPr algn="r"/>
            <a:r>
              <a:rPr sz="1400" b="1" i="0">
                <a:solidFill>
                  <a:srgbClr val="FE3939"/>
                </a:solidFill>
                <a:latin typeface="メイリオ"/>
                <a:ea typeface="メイリオ"/>
                <a:cs typeface="メイリオ"/>
              </a:rPr>
              <a:t>39%</a:t>
            </a:r>
          </a:p>
        </p:txBody>
      </p:sp>
      <p:sp>
        <p:nvSpPr>
          <p:cNvPr id="41" name="TextBox 40"/>
          <p:cNvSpPr txBox="1"/>
          <p:nvPr/>
        </p:nvSpPr>
        <p:spPr>
          <a:xfrm>
            <a:off x="8458200" y="5429250"/>
            <a:ext cx="1219200" cy="209550"/>
          </a:xfrm>
          <a:prstGeom prst="rect">
            <a:avLst/>
          </a:prstGeom>
          <a:noFill/>
        </p:spPr>
        <p:txBody>
          <a:bodyPr wrap="none" lIns="0" rIns="0" tIns="0" bIns="0">
            <a:noAutofit/>
          </a:bodyPr>
          <a:lstStyle/>
          <a:p>
            <a:pPr algn="l"/>
            <a:r>
              <a:rPr sz="1400" b="1" i="0">
                <a:solidFill>
                  <a:srgbClr val="57B8FF"/>
                </a:solidFill>
                <a:latin typeface="メイリオ"/>
                <a:ea typeface="メイリオ"/>
                <a:cs typeface="メイリオ"/>
              </a:rPr>
              <a:t>▲3,120件</a:t>
            </a:r>
          </a:p>
        </p:txBody>
      </p:sp>
      <p:sp>
        <p:nvSpPr>
          <p:cNvPr id="42" name="TextBox 41"/>
          <p:cNvSpPr txBox="1"/>
          <p:nvPr/>
        </p:nvSpPr>
        <p:spPr>
          <a:xfrm>
            <a:off x="8458200" y="5886450"/>
            <a:ext cx="2457450" cy="209550"/>
          </a:xfrm>
          <a:prstGeom prst="rect">
            <a:avLst/>
          </a:prstGeom>
          <a:noFill/>
        </p:spPr>
        <p:txBody>
          <a:bodyPr wrap="square" lIns="0" rIns="0" tIns="0" bIns="0">
            <a:noAutofit/>
          </a:bodyPr>
          <a:lstStyle/>
          <a:p>
            <a:pPr algn="l"/>
            <a:r>
              <a:rPr sz="1400" b="1" i="0">
                <a:solidFill>
                  <a:srgbClr val="0055AD"/>
                </a:solidFill>
                <a:latin typeface="メイリオ"/>
                <a:ea typeface="メイリオ"/>
                <a:cs typeface="メイリオ"/>
              </a:rPr>
              <a:t>= FY25売上680億円</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