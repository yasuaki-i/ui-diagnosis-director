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UI改善の優先度（n=3｜説明文長文）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1717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22479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336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ファーストビューの訴求を明確化し初回離脱を抑制する施策群である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543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6999" y="3238500"/>
            <a:ext cx="6858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57499" y="3314700"/>
            <a:ext cx="6477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499" y="3571875"/>
            <a:ext cx="6477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フォーム項目の削減と入力補助により送信完了率を改善する取り組み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499" y="43053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42999" y="43815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99" y="46101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商品詳細の情報設計を見直し比較検討の段階での回遊を促進する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676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UI改善の優先度（n=4｜説明文長文）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638300"/>
            <a:ext cx="3429000" cy="990600"/>
          </a:xfrm>
          <a:prstGeom prst="roundRect">
            <a:avLst>
              <a:gd name="adj" fmla="val 5769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71450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00250"/>
            <a:ext cx="3048000" cy="552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ファーストビューの訴求を明確化し初回離脱を抑制する施策群である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0097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2705100"/>
            <a:ext cx="5715000" cy="990600"/>
          </a:xfrm>
          <a:prstGeom prst="roundRect">
            <a:avLst>
              <a:gd name="adj" fmla="val 5769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29000" y="2781300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38475"/>
            <a:ext cx="5334000" cy="581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フォーム項目の削減と入力補助により送信完了率を改善する取り組み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30765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95500" y="3771900"/>
            <a:ext cx="8001000" cy="990600"/>
          </a:xfrm>
          <a:prstGeom prst="roundRect">
            <a:avLst>
              <a:gd name="adj" fmla="val 5769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86000" y="38481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7670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商品詳細の情報設計を見直し比較検討の段階での回遊を促進する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1433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499" y="4838700"/>
            <a:ext cx="10287000" cy="990600"/>
          </a:xfrm>
          <a:prstGeom prst="roundRect">
            <a:avLst>
              <a:gd name="adj" fmla="val 5769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2999" y="491490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2999" y="5143500"/>
            <a:ext cx="9906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レコメンド精度の向上によりカート投入後の離脱を低減させる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2101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ピラミッド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8572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0055AD"/>
                </a:solidFill>
                <a:latin typeface="メイリオ"/>
                <a:ea typeface="メイリオ"/>
                <a:cs typeface="メイリオ"/>
              </a:rPr>
              <a:t>UI改善の優先度（n=5｜説明文長文）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1314450"/>
            <a:ext cx="3429000" cy="906780"/>
          </a:xfrm>
          <a:prstGeom prst="roundRect">
            <a:avLst>
              <a:gd name="adj" fmla="val 6302"/>
            </a:avLst>
          </a:prstGeom>
          <a:solidFill>
            <a:srgbClr val="0055AD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0" y="1390650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76400"/>
            <a:ext cx="3048000" cy="4667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ファーストビューの訴求を明確化し初回離脱を抑制する施策群である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164401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4250" y="2297430"/>
            <a:ext cx="5143500" cy="906780"/>
          </a:xfrm>
          <a:prstGeom prst="roundRect">
            <a:avLst>
              <a:gd name="adj" fmla="val 6302"/>
            </a:avLst>
          </a:prstGeom>
          <a:solidFill>
            <a:srgbClr val="008BF2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14750" y="2373630"/>
            <a:ext cx="4762500" cy="2571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750" y="2630805"/>
            <a:ext cx="47625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フォーム項目の削減と入力補助により送信完了率を改善する取り組み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262699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6999" y="3280410"/>
            <a:ext cx="6858000" cy="906780"/>
          </a:xfrm>
          <a:prstGeom prst="roundRect">
            <a:avLst>
              <a:gd name="adj" fmla="val 6302"/>
            </a:avLst>
          </a:prstGeom>
          <a:solidFill>
            <a:srgbClr val="57B8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57499" y="3356610"/>
            <a:ext cx="6477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499" y="3585210"/>
            <a:ext cx="6477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商品詳細の情報設計を見直し比較検討の段階での回遊を促進する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360997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9750" y="4263390"/>
            <a:ext cx="8572500" cy="906780"/>
          </a:xfrm>
          <a:prstGeom prst="roundRect">
            <a:avLst>
              <a:gd name="adj" fmla="val 6302"/>
            </a:avLst>
          </a:prstGeom>
          <a:solidFill>
            <a:srgbClr val="C0E4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00250" y="4339590"/>
            <a:ext cx="8191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250" y="4568190"/>
            <a:ext cx="81915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レコメンド精度の向上によりカート投入後の離脱を低減させる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459295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499" y="5246370"/>
            <a:ext cx="10287000" cy="906780"/>
          </a:xfrm>
          <a:prstGeom prst="roundRect">
            <a:avLst>
              <a:gd name="adj" fmla="val 6302"/>
            </a:avLst>
          </a:prstGeom>
          <a:solidFill>
            <a:srgbClr val="F0F9FF"/>
          </a:solidFill>
          <a:ln w="12700">
            <a:solidFill>
              <a:srgbClr val="57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42999" y="5322570"/>
            <a:ext cx="9906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99" y="5551170"/>
            <a:ext cx="9906000" cy="523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将来的な会員ランク制度の導入を含む中長期の施策として扱う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5575935"/>
            <a:ext cx="3810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8BF2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