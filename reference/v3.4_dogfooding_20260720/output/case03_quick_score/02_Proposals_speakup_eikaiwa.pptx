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優先度の高い改善アクションを整理（1/2 前半 3件）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FVに無料相談CTAを追加する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ファーストビュー右下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初回行動の入口が弱い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FVで説明後に次の行動が見えにくい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無料相談ボタンで即問い合わせへ誘導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料金下に相談CTAを置く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料金プラン直下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比較後の行動先が薄い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料金確認後に次の導線が目立たない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相談CTAで検討直後の離脱を防ぐ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ounded Rectangle 46"/>
          <p:cNvSpPr/>
          <p:nvPr/>
        </p:nvSpPr>
        <p:spPr>
          <a:xfrm>
            <a:off x="381000" y="455295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455295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Oval 48"/>
          <p:cNvSpPr/>
          <p:nvPr/>
        </p:nvSpPr>
        <p:spPr>
          <a:xfrm>
            <a:off x="552450" y="464820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52450" y="468630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71550" y="466725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問い合わせ前の安心材料を補強する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334500" y="465772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9334500" y="465772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096500" y="469582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33400" y="499110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533400" y="506730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CTA周辺と下部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96000" y="506730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申込前の不安が残る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3400" y="556260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609600" y="560070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問い合わせ後の流れや負担が不明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096000" y="556260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6172200" y="560070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所要時間・返信目安・無料を明記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TextBox 63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95250" cy="6096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71500" y="190500"/>
            <a:ext cx="7810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【1】改善提案リスト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552450"/>
            <a:ext cx="7810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優先度の高い改善アクションを整理（2/2 後半 2件・POINT）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0" y="285750"/>
            <a:ext cx="7620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優先度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250" y="285750"/>
            <a:ext cx="666750" cy="266700"/>
          </a:xfrm>
          <a:prstGeom prst="round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239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01250" y="285750"/>
            <a:ext cx="666750" cy="26670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01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763250" y="285750"/>
            <a:ext cx="666750" cy="26670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763250" y="314325"/>
            <a:ext cx="6667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381000" y="952500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381000" y="952500"/>
            <a:ext cx="76200" cy="1704975"/>
          </a:xfrm>
          <a:prstGeom prst="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552450" y="1047750"/>
            <a:ext cx="323850" cy="323850"/>
          </a:xfrm>
          <a:prstGeom prst="ellipse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52450" y="1085850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1550" y="1066800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受講生の声を具体化する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34500" y="1057275"/>
            <a:ext cx="666750" cy="285750"/>
          </a:xfrm>
          <a:prstGeom prst="roundRect">
            <a:avLst/>
          </a:prstGeom>
          <a:solidFill>
            <a:srgbClr val="E88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34500" y="1057275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96500" y="1095375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3400" y="1390650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33400" y="1466850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受講生の声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0" y="1466850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成果イメージが弱い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3400" y="1962150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609600" y="2000250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短い感想だけで判断材料が少ない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096000" y="1962150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172200" y="2000250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目的・期間・変化を1文で補足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1000" y="2752725"/>
            <a:ext cx="11430000" cy="1704975"/>
          </a:xfrm>
          <a:prstGeom prst="roundRect">
            <a:avLst>
              <a:gd name="adj" fmla="val 4469"/>
            </a:avLst>
          </a:prstGeom>
          <a:solidFill>
            <a:srgbClr val="1C366C">
              <a:alpha val="3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381000" y="2752725"/>
            <a:ext cx="76200" cy="1704975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552450" y="2847975"/>
            <a:ext cx="323850" cy="323850"/>
          </a:xfrm>
          <a:prstGeom prst="ellipse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52450" y="2886075"/>
            <a:ext cx="323850" cy="2476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1550" y="2867025"/>
            <a:ext cx="7334250" cy="3048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8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SPで固定CTAを表示する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2857500"/>
            <a:ext cx="666750" cy="285750"/>
          </a:xfrm>
          <a:prstGeom prst="round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334500" y="2857500"/>
            <a:ext cx="666750" cy="2857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96500" y="2895600"/>
            <a:ext cx="161925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工数：中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3400" y="3190875"/>
            <a:ext cx="11144250" cy="9525"/>
          </a:xfrm>
          <a:prstGeom prst="rect">
            <a:avLst/>
          </a:prstGeom>
          <a:solidFill>
            <a:srgbClr val="D0D4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33400" y="3267075"/>
            <a:ext cx="54102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改善箇所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スマホ下部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6000" y="3267075"/>
            <a:ext cx="5562600" cy="4572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課題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途中離脱時に戻りにくい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3400" y="3762375"/>
            <a:ext cx="5410200" cy="4572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09600" y="3800475"/>
            <a:ext cx="52578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現状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スクロール中に問い合わせ導線が消える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9DB0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6096000" y="3762375"/>
            <a:ext cx="5562600" cy="457200"/>
          </a:xfrm>
          <a:prstGeom prst="rect">
            <a:avLst/>
          </a:prstGeom>
          <a:solidFill>
            <a:srgbClr val="F97316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6172200" y="3800475"/>
            <a:ext cx="5410200" cy="381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400" b="1" i="0">
                <a:solidFill>
                  <a:srgbClr val="F97316"/>
                </a:solidFill>
                <a:latin typeface="メイリオ"/>
                <a:ea typeface="メイリオ"/>
                <a:cs typeface="メイリオ"/>
              </a:rPr>
              <a:t>改善後　</a:t>
            </a:r>
            <a:r>
              <a:rPr sz="14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固定CTAでいつでも行動できる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381000" y="5657850"/>
            <a:ext cx="11430000" cy="590550"/>
          </a:xfrm>
          <a:prstGeom prst="rect">
            <a:avLst/>
          </a:prstGeom>
          <a:solidFill>
            <a:srgbClr val="F97316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81000" y="5657850"/>
            <a:ext cx="8572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POINT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19250" y="5657850"/>
            <a:ext cx="10191750" cy="5905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最優先はFVと料金直下へのCTA追加です。興味が高い場面に問い合わせ入口を増やし、安心材料を添えることでCV率改善を狙います⁠。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