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【3】ビジュアル診断ボード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構造マップ・総評・最重要課題・ユーザー行動フロー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目的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新規生徒獲得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対象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FV/情報設計/CV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診断日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2026年7月20日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29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    </a:t>
            </a:r>
            <a:r>
              <a:rPr sz="26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000" y="1504950"/>
            <a:ext cx="36195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504950"/>
            <a:ext cx="20955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LP構造マップ</a:t>
            </a:r>
          </a:p>
        </p:txBody>
      </p:sp>
      <p:sp>
        <p:nvSpPr>
          <p:cNvPr id="23" name="Oval 22"/>
          <p:cNvSpPr/>
          <p:nvPr/>
        </p:nvSpPr>
        <p:spPr>
          <a:xfrm>
            <a:off x="2590800" y="1590675"/>
            <a:ext cx="95250" cy="95250"/>
          </a:xfrm>
          <a:prstGeom prst="ellipse">
            <a:avLst/>
          </a:prstGeom>
          <a:solidFill>
            <a:srgbClr val="9DB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743200" y="1562100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良好</a:t>
            </a:r>
          </a:p>
        </p:txBody>
      </p:sp>
      <p:sp>
        <p:nvSpPr>
          <p:cNvPr id="25" name="Oval 24"/>
          <p:cNvSpPr/>
          <p:nvPr/>
        </p:nvSpPr>
        <p:spPr>
          <a:xfrm>
            <a:off x="3257550" y="1590675"/>
            <a:ext cx="95250" cy="952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409950" y="1562100"/>
            <a:ext cx="571500" cy="15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要改善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1000" y="1771650"/>
            <a:ext cx="3619500" cy="2362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457200" y="180975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180975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950" y="1809750"/>
            <a:ext cx="3162300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ヘッダー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/>
            </a:r>
          </a:p>
        </p:txBody>
      </p:sp>
      <p:sp>
        <p:nvSpPr>
          <p:cNvPr id="31" name="Oval 30"/>
          <p:cNvSpPr/>
          <p:nvPr/>
        </p:nvSpPr>
        <p:spPr>
          <a:xfrm>
            <a:off x="457200" y="2105025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57200" y="2105025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2950" y="2105025"/>
            <a:ext cx="3162300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FV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/>
            </a:r>
          </a:p>
        </p:txBody>
      </p:sp>
      <p:sp>
        <p:nvSpPr>
          <p:cNvPr id="34" name="Oval 33"/>
          <p:cNvSpPr/>
          <p:nvPr/>
        </p:nvSpPr>
        <p:spPr>
          <a:xfrm>
            <a:off x="457200" y="240030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57200" y="240030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950" y="2400300"/>
            <a:ext cx="3162300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実績帯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/>
            </a:r>
          </a:p>
        </p:txBody>
      </p:sp>
      <p:sp>
        <p:nvSpPr>
          <p:cNvPr id="37" name="Oval 36"/>
          <p:cNvSpPr/>
          <p:nvPr/>
        </p:nvSpPr>
        <p:spPr>
          <a:xfrm>
            <a:off x="457200" y="2695575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57200" y="2695575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950" y="2695575"/>
            <a:ext cx="3162300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特徴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/>
            </a:r>
          </a:p>
        </p:txBody>
      </p:sp>
      <p:sp>
        <p:nvSpPr>
          <p:cNvPr id="40" name="Oval 39"/>
          <p:cNvSpPr/>
          <p:nvPr/>
        </p:nvSpPr>
        <p:spPr>
          <a:xfrm>
            <a:off x="457200" y="299085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57200" y="299085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2950" y="2990850"/>
            <a:ext cx="3162300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講師紹介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/>
            </a:r>
          </a:p>
        </p:txBody>
      </p:sp>
      <p:sp>
        <p:nvSpPr>
          <p:cNvPr id="43" name="Oval 42"/>
          <p:cNvSpPr/>
          <p:nvPr/>
        </p:nvSpPr>
        <p:spPr>
          <a:xfrm>
            <a:off x="457200" y="3286125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457200" y="3286125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2950" y="3286125"/>
            <a:ext cx="3162300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料金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/>
            </a:r>
          </a:p>
        </p:txBody>
      </p:sp>
      <p:sp>
        <p:nvSpPr>
          <p:cNvPr id="46" name="Oval 45"/>
          <p:cNvSpPr/>
          <p:nvPr/>
        </p:nvSpPr>
        <p:spPr>
          <a:xfrm>
            <a:off x="457200" y="358140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457200" y="358140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2950" y="3581400"/>
            <a:ext cx="3162300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受講生の声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/>
            </a:r>
          </a:p>
        </p:txBody>
      </p:sp>
      <p:sp>
        <p:nvSpPr>
          <p:cNvPr id="49" name="Oval 48"/>
          <p:cNvSpPr/>
          <p:nvPr/>
        </p:nvSpPr>
        <p:spPr>
          <a:xfrm>
            <a:off x="457200" y="3876675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57200" y="3876675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2950" y="3876675"/>
            <a:ext cx="3162300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CTA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/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0" y="1504950"/>
            <a:ext cx="438150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267200" y="1504950"/>
            <a:ext cx="407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総評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0" y="1771650"/>
            <a:ext cx="4381500" cy="381000"/>
          </a:xfrm>
          <a:prstGeom prst="rect">
            <a:avLst/>
          </a:prstGeom>
          <a:solidFill>
            <a:srgbClr val="FEF1E3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4248150" y="1771650"/>
            <a:ext cx="41148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FV内CTA追加で問合せへ誘導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0" y="2266950"/>
            <a:ext cx="438150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4267200" y="2266950"/>
            <a:ext cx="407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⚠ 最重要課題（Top3）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14800" y="2533650"/>
            <a:ext cx="4381500" cy="1638300"/>
          </a:xfrm>
          <a:prstGeom prst="rect">
            <a:avLst/>
          </a:prstGeom>
          <a:solidFill>
            <a:srgbClr val="FDECEC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4248150" y="2590800"/>
            <a:ext cx="4114800" cy="1504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1. FVに問い合わせCTAが不足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 初心者の不安解消が薄い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 料金後の導線が弱い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610600" y="1504950"/>
            <a:ext cx="32004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8763000" y="1504950"/>
            <a:ext cx="28956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 強み（活かすべき点）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610600" y="1771650"/>
            <a:ext cx="3200400" cy="2362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8763000" y="1847850"/>
            <a:ext cx="2895600" cy="2209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余白と配色で初心者にも清潔感を伝えている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料金と特徴を整理し比較検討を助けている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講師体制と学習時間で安心材料を示している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1000" y="4229100"/>
            <a:ext cx="114300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533400" y="4229100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ユーザー行動フローと課題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81000" y="4495800"/>
            <a:ext cx="11430000" cy="11239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381000" y="4495800"/>
            <a:ext cx="11430000" cy="1123950"/>
          </a:xfrm>
          <a:prstGeom prst="rect">
            <a:avLst/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Oval 67"/>
          <p:cNvSpPr/>
          <p:nvPr/>
        </p:nvSpPr>
        <p:spPr>
          <a:xfrm>
            <a:off x="1123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1123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6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FV閲覧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CTA弱い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266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72" name="Oval 71"/>
          <p:cNvSpPr/>
          <p:nvPr/>
        </p:nvSpPr>
        <p:spPr>
          <a:xfrm>
            <a:off x="3028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3028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381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特徴理解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良好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71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76" name="Oval 75"/>
          <p:cNvSpPr/>
          <p:nvPr/>
        </p:nvSpPr>
        <p:spPr>
          <a:xfrm>
            <a:off x="4933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4933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286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料金比較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迷う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76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80" name="Oval 79"/>
          <p:cNvSpPr/>
          <p:nvPr/>
        </p:nvSpPr>
        <p:spPr>
          <a:xfrm>
            <a:off x="6838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6838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91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声を確認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根拠薄い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981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84" name="Oval 83"/>
          <p:cNvSpPr/>
          <p:nvPr/>
        </p:nvSpPr>
        <p:spPr>
          <a:xfrm>
            <a:off x="8743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TextBox 84"/>
          <p:cNvSpPr txBox="1"/>
          <p:nvPr/>
        </p:nvSpPr>
        <p:spPr>
          <a:xfrm>
            <a:off x="8743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96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下部到達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遠い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886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88" name="Oval 87"/>
          <p:cNvSpPr/>
          <p:nvPr/>
        </p:nvSpPr>
        <p:spPr>
          <a:xfrm>
            <a:off x="10648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10648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001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問い合わせ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離脱懸念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809750" y="5657850"/>
            <a:ext cx="10001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機能軸でFV・情報設計・CV導線を深く狭く整理。初心者の不安を解消し、各所から問い合わせへ戻れる導線を設計する。</a:t>
            </a:r>
          </a:p>
        </p:txBody>
      </p:sp>
      <p:sp>
        <p:nvSpPr>
          <p:cNvPr id="96" name="Rectangle 95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【3】ビジュアル診断ボード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スコア視覚化：10項目評価と強み・最優先課題の俯瞰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目的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新規生徒獲得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対象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FV/情報設計/CV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診断日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2026年7月20日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29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    </a:t>
            </a:r>
            <a:r>
              <a:rPr sz="26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000" y="1504950"/>
            <a:ext cx="55245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504950"/>
            <a:ext cx="5219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10項目スコア（満点5・ギャップ可視化）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1000" y="1771650"/>
            <a:ext cx="5524500" cy="381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096000" y="1504950"/>
            <a:ext cx="57150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248400" y="1504950"/>
            <a:ext cx="54102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 強み（活かすべき点）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1771650"/>
            <a:ext cx="5715000" cy="180975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248400" y="1847850"/>
            <a:ext cx="5410200" cy="1657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余白と配色で初心者にも清潔感を伝えている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料金と特徴を整理し比較検討を助けている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講師体制と学習時間で安心材料を示している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6000" y="3695700"/>
            <a:ext cx="571500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248400" y="3695700"/>
            <a:ext cx="54102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⚠ 最優先で直すべき点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6000" y="3962400"/>
            <a:ext cx="5715000" cy="1619250"/>
          </a:xfrm>
          <a:prstGeom prst="rect">
            <a:avLst/>
          </a:prstGeom>
          <a:solidFill>
            <a:srgbClr val="FDECEC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48400" y="4038600"/>
            <a:ext cx="5410200" cy="1466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/>
        </p:txBody>
      </p:sp>
      <p:sp>
        <p:nvSpPr>
          <p:cNvPr id="32" name="Rectangle 31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09750" y="5657850"/>
            <a:ext cx="10001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機能軸でFV・情報設計・CV導線を深く狭く整理。初心者の不安を解消し、各所から問い合わせへ戻れる導線を設計する。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【3】ビジュアル診断ボード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Before/After ハイライト：優先度の高い改善Top3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76300"/>
            <a:ext cx="1143000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81000" y="876300"/>
            <a:ext cx="57150" cy="1485900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571500" y="971550"/>
            <a:ext cx="304800" cy="30480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71500" y="100965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10096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FVの行動導線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29500" y="99060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29500" y="10191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0" y="101917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1019175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3335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71500" y="144780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71500" y="14478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28750" y="144780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504950" y="14478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見出し後に問い合わせ先が見えにくい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34100" y="144780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134100" y="14478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1350" y="144780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067550" y="14478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見出し直下に無料相談CTAを置く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1000" y="2476500"/>
            <a:ext cx="1143000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381000" y="2476500"/>
            <a:ext cx="57150" cy="1485900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571500" y="2571750"/>
            <a:ext cx="304800" cy="30480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71500" y="260985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550" y="26098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初心者の安心材料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29500" y="259080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429500" y="26193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1500" y="261937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619375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1500" y="29337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71500" y="304800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71500" y="30480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28750" y="304800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504950" y="30480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特徴は多いが初学者への言葉が少ない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34100" y="304800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134100" y="30480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91350" y="304800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067550" y="30480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初回相談や日本語サポートを明示する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1000" y="4076700"/>
            <a:ext cx="1143000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381000" y="4076700"/>
            <a:ext cx="57150" cy="1485900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571500" y="4171950"/>
            <a:ext cx="304800" cy="30480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71500" y="421005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1550" y="42100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料金後の迷い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29500" y="419100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429500" y="42195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91500" y="421957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4219575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1500" y="45339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571500" y="464820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71500" y="46482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428750" y="464820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1504950" y="46482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価格一覧だけで選択理由が弱い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34100" y="464820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134100" y="46482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91350" y="464820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7067550" y="46482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目的別おすすめと相談導線を添える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809750" y="5657850"/>
            <a:ext cx="10001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機能軸でFV・情報設計・CV導線を深く狭く整理。初心者の不安を解消し、各所から問い合わせへ戻れる導線を設計する。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