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構造マップ・総評・最重要課題・ユーザー行動フロー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目的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機能軸・深く狭く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対象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FV/不安/CTA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診断日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2026年7月20日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26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    </a:t>
            </a:r>
            <a:r>
              <a:rPr sz="26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504950"/>
            <a:ext cx="36195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504950"/>
            <a:ext cx="20955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LP構造マップ</a:t>
            </a:r>
          </a:p>
        </p:txBody>
      </p:sp>
      <p:sp>
        <p:nvSpPr>
          <p:cNvPr id="23" name="Oval 22"/>
          <p:cNvSpPr/>
          <p:nvPr/>
        </p:nvSpPr>
        <p:spPr>
          <a:xfrm>
            <a:off x="2590800" y="1590675"/>
            <a:ext cx="95250" cy="95250"/>
          </a:xfrm>
          <a:prstGeom prst="ellipse">
            <a:avLst/>
          </a:prstGeom>
          <a:solidFill>
            <a:srgbClr val="9DB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743200" y="156210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良好</a:t>
            </a:r>
          </a:p>
        </p:txBody>
      </p:sp>
      <p:sp>
        <p:nvSpPr>
          <p:cNvPr id="25" name="Oval 24"/>
          <p:cNvSpPr/>
          <p:nvPr/>
        </p:nvSpPr>
        <p:spPr>
          <a:xfrm>
            <a:off x="3257550" y="1590675"/>
            <a:ext cx="95250" cy="952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409950" y="1562100"/>
            <a:ext cx="571500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要改善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1000" y="1771650"/>
            <a:ext cx="3619500" cy="2362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457200" y="180975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180975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950" y="1809750"/>
            <a:ext cx="3162300" cy="314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/>
            </a:r>
          </a:p>
        </p:txBody>
      </p:sp>
      <p:sp>
        <p:nvSpPr>
          <p:cNvPr id="31" name="Oval 30"/>
          <p:cNvSpPr/>
          <p:nvPr/>
        </p:nvSpPr>
        <p:spPr>
          <a:xfrm>
            <a:off x="457200" y="2143125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57200" y="214312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950" y="2143125"/>
            <a:ext cx="3162300" cy="314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実績数値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/>
            </a:r>
          </a:p>
        </p:txBody>
      </p:sp>
      <p:sp>
        <p:nvSpPr>
          <p:cNvPr id="34" name="Oval 33"/>
          <p:cNvSpPr/>
          <p:nvPr/>
        </p:nvSpPr>
        <p:spPr>
          <a:xfrm>
            <a:off x="457200" y="247650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57200" y="247650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950" y="2476500"/>
            <a:ext cx="3162300" cy="314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特徴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/>
            </a:r>
          </a:p>
        </p:txBody>
      </p:sp>
      <p:sp>
        <p:nvSpPr>
          <p:cNvPr id="37" name="Oval 36"/>
          <p:cNvSpPr/>
          <p:nvPr/>
        </p:nvSpPr>
        <p:spPr>
          <a:xfrm>
            <a:off x="457200" y="2809875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57200" y="280987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950" y="2809875"/>
            <a:ext cx="3162300" cy="314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講師紹介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/>
            </a:r>
          </a:p>
        </p:txBody>
      </p:sp>
      <p:sp>
        <p:nvSpPr>
          <p:cNvPr id="40" name="Oval 39"/>
          <p:cNvSpPr/>
          <p:nvPr/>
        </p:nvSpPr>
        <p:spPr>
          <a:xfrm>
            <a:off x="457200" y="314325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57200" y="314325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2950" y="3143250"/>
            <a:ext cx="3162300" cy="314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料金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/>
            </a:r>
          </a:p>
        </p:txBody>
      </p:sp>
      <p:sp>
        <p:nvSpPr>
          <p:cNvPr id="43" name="Oval 42"/>
          <p:cNvSpPr/>
          <p:nvPr/>
        </p:nvSpPr>
        <p:spPr>
          <a:xfrm>
            <a:off x="457200" y="3476625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457200" y="347662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2950" y="3476625"/>
            <a:ext cx="3162300" cy="314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受講生の声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/>
            </a:r>
          </a:p>
        </p:txBody>
      </p:sp>
      <p:sp>
        <p:nvSpPr>
          <p:cNvPr id="46" name="Oval 45"/>
          <p:cNvSpPr/>
          <p:nvPr/>
        </p:nvSpPr>
        <p:spPr>
          <a:xfrm>
            <a:off x="457200" y="381000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57200" y="381000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2950" y="3810000"/>
            <a:ext cx="3162300" cy="314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最終CTA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/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0" y="1504950"/>
            <a:ext cx="438150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267200" y="1504950"/>
            <a:ext cx="407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総評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0" y="1771650"/>
            <a:ext cx="4381500" cy="381000"/>
          </a:xfrm>
          <a:prstGeom prst="rect">
            <a:avLst/>
          </a:prstGeom>
          <a:solidFill>
            <a:srgbClr val="FEF1E3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4248150" y="1771650"/>
            <a:ext cx="41148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FV内CTA追加で無料体験へ誘導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0" y="2266950"/>
            <a:ext cx="438150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4267200" y="2266950"/>
            <a:ext cx="407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最重要課題（Top3）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0" y="2533650"/>
            <a:ext cx="4381500" cy="163830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248150" y="2590800"/>
            <a:ext cx="4114800" cy="1504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FV内CTAが不足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初心者便益が弱い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問い合わせ前不安が残る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10600" y="1504950"/>
            <a:ext cx="32004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8763000" y="1504950"/>
            <a:ext cx="28956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610600" y="1771650"/>
            <a:ext cx="3200400" cy="2362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8763000" y="1847850"/>
            <a:ext cx="2895600" cy="2209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余白と配色で安心感を作る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特徴と料金を短時間で比較させる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実績数値で基本的な信頼を支える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1000" y="4229100"/>
            <a:ext cx="114300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533400" y="4229100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ユーザー行動フローと課題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81000" y="4495800"/>
            <a:ext cx="11430000" cy="11239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381000" y="4495800"/>
            <a:ext cx="11430000" cy="1123950"/>
          </a:xfrm>
          <a:prstGeom prst="rect">
            <a:avLst/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Oval 64"/>
          <p:cNvSpPr/>
          <p:nvPr/>
        </p:nvSpPr>
        <p:spPr>
          <a:xfrm>
            <a:off x="1123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112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FV閲覧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便益確認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26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69" name="Oval 68"/>
          <p:cNvSpPr/>
          <p:nvPr/>
        </p:nvSpPr>
        <p:spPr>
          <a:xfrm>
            <a:off x="3028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302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38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特徴確認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安心材料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71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3" name="Oval 72"/>
          <p:cNvSpPr/>
          <p:nvPr/>
        </p:nvSpPr>
        <p:spPr>
          <a:xfrm>
            <a:off x="4933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493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8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料金比較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費用判断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07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7" name="Oval 76"/>
          <p:cNvSpPr/>
          <p:nvPr/>
        </p:nvSpPr>
        <p:spPr>
          <a:xfrm>
            <a:off x="6838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683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9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声確認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納得補強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81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81" name="Oval 80"/>
          <p:cNvSpPr/>
          <p:nvPr/>
        </p:nvSpPr>
        <p:spPr>
          <a:xfrm>
            <a:off x="8743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874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09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不安解消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FAQ確認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88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85" name="Oval 84"/>
          <p:cNvSpPr/>
          <p:nvPr/>
        </p:nvSpPr>
        <p:spPr>
          <a:xfrm>
            <a:off x="10648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1064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00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問い合わせ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無料相談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FVで問い合わせ行動を受け止め、初心者向けの安心材料を各セクションからCTAへ接続する。</a:t>
            </a:r>
          </a:p>
        </p:txBody>
      </p:sp>
      <p:sp>
        <p:nvSpPr>
          <p:cNvPr id="93" name="Rectangle 92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スコア視覚化：10項目評価と強み・最優先課題の俯瞰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目的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機能軸・深く狭く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対象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FV/不安/CTA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診断日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2026年7月20日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26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    </a:t>
            </a:r>
            <a:r>
              <a:rPr sz="26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504950"/>
            <a:ext cx="55245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504950"/>
            <a:ext cx="5219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10項目スコア（満点5・ギャップ可視化）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000" y="1771650"/>
            <a:ext cx="5524500" cy="381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33400" y="1905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1943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2590800" y="1943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2895600" y="1943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200400" y="1943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3505200" y="1943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886200" y="1905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2/5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400" y="2286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キャッチ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2324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2590800" y="2324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2895600" y="2324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3200400" y="2324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3505200" y="2324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886200" y="2286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2/5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3400" y="2667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CTA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0" y="2705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2590800" y="2705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2895600" y="2705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3200400" y="2705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3505200" y="2705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3886200" y="2667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1/5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3400" y="3048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信頼性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0" y="3086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2590800" y="3086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2895600" y="3086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3200400" y="3086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3505200" y="3086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3886200" y="3048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3400" y="3429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フォーム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0" y="3467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25908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28956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32004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35052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3886200" y="3429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1/5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3400" y="3810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レスポンシブ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86000" y="3848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2590800" y="3848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2895600" y="3848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3200400" y="3848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3505200" y="3848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3886200" y="3810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3400" y="4191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読みやすさ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86000" y="4229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2590800" y="4229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2895600" y="4229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3200400" y="4229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3505200" y="4229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3886200" y="4191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4/5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3400" y="4572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情報設計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286000" y="4610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2590800" y="4610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2895600" y="4610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3200400" y="4610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3505200" y="4610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3886200" y="4572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3400" y="4953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ブランド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25908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28956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32004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3505200" y="4991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3886200" y="4953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4/5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33400" y="5334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表示速度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286000" y="5372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2590800" y="5372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2895600" y="5372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3200400" y="5372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3505200" y="5372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3886200" y="5334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096000" y="1504950"/>
            <a:ext cx="57150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6248400" y="1504950"/>
            <a:ext cx="54102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096000" y="1771650"/>
            <a:ext cx="5715000" cy="180975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6248400" y="1847850"/>
            <a:ext cx="5410200" cy="1657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余白と配色で安心感を作る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特徴と料金を短時間で比較させる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実績数値で基本的な信頼を支える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096000" y="3695700"/>
            <a:ext cx="571500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6248400" y="3695700"/>
            <a:ext cx="54102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最優先で直すべき点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096000" y="3962400"/>
            <a:ext cx="5715000" cy="161925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6248400" y="4038600"/>
            <a:ext cx="5410200" cy="1466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FV内CTAが不足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初心者便益が弱い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問い合わせ前不安が残る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FVで問い合わせ行動を受け止め、初心者向けの安心材料を各セクションからCTAへ接続する。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Before/After ハイライト：優先度の高い改善Top3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763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81000" y="876300"/>
            <a:ext cx="57150" cy="14859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571500" y="971550"/>
            <a:ext cx="304800" cy="3048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71500" y="10096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10096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FV CTA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29500" y="99060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29500" y="10191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0" y="10191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0191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箇所：ファーストビュー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3335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71500" y="14478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71500" y="14478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28750" y="14478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504950" y="14478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説明はあるが行動先が目立たない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34100" y="14478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134100" y="14478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1350" y="14478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067550" y="14478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見出し直下で無料相談へ誘導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1000" y="24765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381000" y="2476500"/>
            <a:ext cx="57150" cy="14859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571500" y="2571750"/>
            <a:ext cx="304800" cy="3048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71500" y="26098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550" y="26098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初心者訴求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29500" y="259080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429500" y="26193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1500" y="26193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6193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箇所：キャッチコピー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" y="29337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71500" y="30480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71500" y="30480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28750" y="30480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504950" y="30480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始めませんかの訴求が抽象的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34100" y="30480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134100" y="30480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91350" y="30480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067550" y="30480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初心者でも続く理由を明示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1000" y="40767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381000" y="4076700"/>
            <a:ext cx="57150" cy="1485900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571500" y="4171950"/>
            <a:ext cx="304800" cy="30480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71500" y="42100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1550" y="42100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料金後導線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29500" y="419100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429500" y="42195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1500" y="42195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42195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箇所：料金プラン下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1500" y="45339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571500" y="46482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71500" y="46482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428750" y="46482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1504950" y="46482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価格確認後の次アクションが弱い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34100" y="46482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134100" y="46482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91350" y="46482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067550" y="46482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最適プラン相談CTAを追加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FVで問い合わせ行動を受け止め、初心者向けの安心材料を各セクションからCTAへ接続する。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