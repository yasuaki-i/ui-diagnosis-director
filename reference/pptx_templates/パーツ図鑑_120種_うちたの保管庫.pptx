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【この合本について】noteメンバーシップ「うちたの保管庫」の会員特典。個別ファイルを1冊に結合した全部入り版です。</a:t>
            </a:r>
          </a:p>
          <a:p>
            <a:r>
              <a:t>【探し方】このスライドの収録一覧のスライド番号へ移動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スタンプ・注釈の使い分けガイド</a:t>
            </a:r>
          </a:p>
          <a:p>
            <a:r>
              <a:t>【スタンプ】</a:t>
            </a:r>
          </a:p>
          <a:p>
            <a:r>
              <a:t>・済（primary線）＝完了した項目・チェック済みの報告に</a:t>
            </a:r>
          </a:p>
          <a:p>
            <a:r>
              <a:t>・決定（朱線）＝会議の決定事項に。朱は1スライド1点まで（このスライドでは決定のみ）</a:t>
            </a:r>
          </a:p>
          <a:p>
            <a:r>
              <a:t>・重要（darkest塗り）＝読み飛ばし防止。1枚に1つが目安</a:t>
            </a:r>
          </a:p>
          <a:p>
            <a:r>
              <a:t>・NEW（primary塗り）＝新規追加・新着の項目に</a:t>
            </a:r>
          </a:p>
          <a:p>
            <a:r>
              <a:t>・検討中（破線）＝未確定・仮置き。破線＝未確定は点線吹き出しと同じ約束事</a:t>
            </a:r>
          </a:p>
          <a:p>
            <a:r>
              <a:t>・社外秘（二重枠）＝配布資料の右上に置いて取扱注意を明示</a:t>
            </a:r>
          </a:p>
          <a:p>
            <a:r>
              <a:t>【注釈】</a:t>
            </a:r>
          </a:p>
          <a:p>
            <a:r>
              <a:t>・付箋＝宿題・ToDo・口頭補足の書き込みに（右下の折り角が目印）</a:t>
            </a:r>
          </a:p>
          <a:p>
            <a:r>
              <a:t>・マーカー風下線＝結論の一文だけに引く。多用すると効かなくなる</a:t>
            </a:r>
          </a:p>
          <a:p>
            <a:r>
              <a:t>・丸囲み＝表やグラフの数字をピンポイントで強調（線のみ・塗らない）</a:t>
            </a:r>
          </a:p>
          <a:p>
            <a:r>
              <a:t>・ズームレンズ＋吹き出し＝細部を拡大して根拠を補足</a:t>
            </a:r>
          </a:p>
          <a:p>
            <a:r>
              <a:t>・矢印つき注記＝離れた場所から対象を指して説明</a:t>
            </a:r>
          </a:p>
          <a:p>
            <a:r>
              <a:t>運用ルール：スタンプは右肩か行末に揃える／1枚に3個まで／色はテーマ配色に追従します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【カテゴリ⑩ KPI・数字見せ 使い分けガイド】</a:t>
            </a:r>
          </a:p>
          <a:p>
            <a:r>
              <a:t>・大数字カード（01）: 最重要KPIを1〜3個だけ見せる冒頭ページ用。数字は40ptで主役に。</a:t>
            </a:r>
          </a:p>
          <a:p>
            <a:r>
              <a:t>・数字ストリップ（01b）: 枠を描かず罫で区切る軽い変種。テキスト主体のページに数字を差し込むとき。</a:t>
            </a:r>
          </a:p>
          <a:p>
            <a:r>
              <a:t>・前年比バッジ（02）/トレンドチップ（04）: 増減の向きだけ即読させる部品。文章や表の行末に添える。</a:t>
            </a:r>
          </a:p>
          <a:p>
            <a:r>
              <a:t>・KPI3連カード（03）: 等幅3枚で並列比較。4枚以上になるならストリップか表に切り替える。</a:t>
            </a:r>
          </a:p>
          <a:p>
            <a:r>
              <a:t>・達成率カード（05）/進捗バー（06）/目標対比メーター（07）: 「どこまで来たか」。目標線が要るならメーター。</a:t>
            </a:r>
          </a:p>
          <a:p>
            <a:r>
              <a:t>・ランキングバッジ（08/08b）: 順位づけ。1位のみ濃紺塗り＝視線が最初に行く。</a:t>
            </a:r>
          </a:p>
          <a:p>
            <a:r>
              <a:t>・ミニ推移5本棒（09）: 傾向だけ見せる。最終本のみ濃色、値ラベルも最終だけ。</a:t>
            </a:r>
          </a:p>
          <a:p>
            <a:r>
              <a:t>・ステータスドット（10）: 定例報告の状態一覧。●好調=青／●注意=淡青／●要対処=朱。</a:t>
            </a:r>
          </a:p>
          <a:p>
            <a:r>
              <a:t>・朱（オレンジ）は1スライド1点まで。「今日の論点」（悪化・要対処）だけに使う。</a:t>
            </a:r>
          </a:p>
          <a:p>
            <a:r>
              <a:t>・数字はすべてテキスト＝クリックして直接編集。配色は「デザイン＞バリエーション＞配色」で一括変更。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【カテゴリ⑪ 体制図・組織｜使い分けガイド】</a:t>
            </a:r>
          </a:p>
          <a:p>
            <a:r>
              <a:t>・組織図（2階層）＝社内の指揮系統・チーム構成を示すとき。箱と枝はコピーで増減</a:t>
            </a:r>
          </a:p>
          <a:p>
            <a:r>
              <a:t>・体制図（2レーン）＝客先×自社の役割分担を示す提案書の定番。レーン札の色で主従を表現</a:t>
            </a:r>
          </a:p>
          <a:p>
            <a:r>
              <a:t>・役割カード＝キーパーソンを顔の見える形で示す。役職帯の色＝darkest（貴社）/primary（当社）</a:t>
            </a:r>
          </a:p>
          <a:p>
            <a:r>
              <a:t>・フラット人型／人数表現＝規模感を直感で伝える。1体＝10名など換算凡例を必ず添える</a:t>
            </a:r>
          </a:p>
          <a:p>
            <a:r>
              <a:t>・会議体カード＝ガバナンス（誰がいつ集まり何を決めるか）の明示。頻度チップは打ち替え</a:t>
            </a:r>
          </a:p>
          <a:p>
            <a:r>
              <a:t>・エスカレーションフロー＝有事の報告経路。矢印に判断基準を添えるのが信頼の要</a:t>
            </a:r>
          </a:p>
          <a:p>
            <a:r>
              <a:t>・RACI表ヘッダ＝役割分担の詳細化。行をコピーして増やす（縦罫線なし・横罫線のみ）</a:t>
            </a:r>
          </a:p>
          <a:p>
            <a:r>
              <a:t>※朱（アクセント色）は1スライド1点まで。このページでは「重大時は即日」チップのみ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【表の選び方ガイド】</a:t>
            </a:r>
          </a:p>
          <a:p>
            <a:r>
              <a:t>・選択肢から1つ推したい → 01 比較表（推奨列を淡地で固定し、視線を1列に集める）</a:t>
            </a:r>
          </a:p>
          <a:p>
            <a:r>
              <a:t>・機能の有無を一覧したい → 02 機能○×表（◎○△×は文字で置く。記号フォントは環境依存で崩れる）</a:t>
            </a:r>
          </a:p>
          <a:p>
            <a:r>
              <a:t>・価格で選ばせたい → 03 価格3プラン表（真ん中を線で強調。人は中央を選びやすい）</a:t>
            </a:r>
          </a:p>
          <a:p>
            <a:r>
              <a:t>・数字を上品に読ませたい → 04 最小罫線表（横罫のみ。決算・実績報告の標準形）</a:t>
            </a:r>
          </a:p>
          <a:p>
            <a:r>
              <a:t>・時期と期間を見せたい → 05 スケジュール表（帯=期間。行・列はコピーで増減）</a:t>
            </a:r>
          </a:p>
          <a:p>
            <a:r>
              <a:t>・意思決定の根拠を示したい → 06 評価マトリクス（重み×点数。合計行の濃色が結論）</a:t>
            </a:r>
          </a:p>
          <a:p>
            <a:r>
              <a:t>・会議を仕切りたい → 07 アジェンダ表（時刻は太字。所要は右揃え）</a:t>
            </a:r>
          </a:p>
          <a:p>
            <a:r>
              <a:t>・行数の多い一覧 → 08 ゼブラ表（1行おきの淡地で行を追いやすく）</a:t>
            </a:r>
          </a:p>
          <a:p>
            <a:r>
              <a:t>【共通の規律】縦罫線は引かない（横罫のみ）／数字は右揃え・テキストは左揃え／ヘッダ帯は濃色または淡地の1段だけ／朱（オレンジ）は1スライド1点まで。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【12種の選び方 早見】</a:t>
            </a:r>
          </a:p>
          <a:p>
            <a:r>
              <a:t>・大小を比べる → 01 縦棒（言いたい1本だけ濃く）</a:t>
            </a:r>
          </a:p>
          <a:p>
            <a:r>
              <a:t>・多項目のランキング → 02 横棒（降順・ラベル左）</a:t>
            </a:r>
          </a:p>
          <a:p>
            <a:r>
              <a:t>・推移を見せる → 03 折れ線（終点ドット＋ラベル）</a:t>
            </a:r>
          </a:p>
          <a:p>
            <a:r>
              <a:t>・内訳つきの推移 → 04 積み上げ縦棒（凡例右上・合計を上に）</a:t>
            </a:r>
          </a:p>
          <a:p>
            <a:r>
              <a:t>・構成比 → 05 100%構成比バー（円グラフの代替。円より読み取りやすい）</a:t>
            </a:r>
          </a:p>
          <a:p>
            <a:r>
              <a:t>・増減の分解 → 06 滝・最小形（計画→増→減→実績。朱＝要対処の減少のみ）</a:t>
            </a:r>
          </a:p>
          <a:p>
            <a:r>
              <a:t>・量感つきの推移 → 07 面積チャート（面で規模・上辺線で伸び）</a:t>
            </a:r>
          </a:p>
          <a:p>
            <a:r>
              <a:t>・分布と位置づけ → 08 散布（象限線＋右上1点強調）</a:t>
            </a:r>
          </a:p>
          <a:p>
            <a:r>
              <a:t>・密度・パターン → 09 ヒートマップ（淡→濃3段・最濃1マス）</a:t>
            </a:r>
          </a:p>
          <a:p>
            <a:r>
              <a:t>・歩留まり → 10 ファネル（段間に転換率）</a:t>
            </a:r>
          </a:p>
          <a:p>
            <a:r>
              <a:t>・2指標の同時比較 → 11 複合＝棒＋折れ線（左右2軸ラベル）</a:t>
            </a:r>
          </a:p>
          <a:p>
            <a:r>
              <a:t>・実績vs目標 → 12 ブレットバー（良否3帯＋目標縦線）</a:t>
            </a:r>
          </a:p>
          <a:p>
            <a:r>
              <a:t>【強調ルール】強調は1グラフ1点（濃色）。朱は1スライド1点まで（意味＝要対処に固定）。</a:t>
            </a:r>
          </a:p>
          <a:p>
            <a:r>
              <a:t>【使い方】無料公開中の「グラフ設計プロンプト」で型を選ぶ→該当の空枠をコピー→数字を打ち替え。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381000"/>
            <a:ext cx="10972800" cy="781050"/>
            <a:chOff x="609600" y="381000"/>
            <a:chExt cx="10972800" cy="781050"/>
          </a:xfrm>
        </p:grpSpPr>
        <p:sp>
          <p:nvSpPr>
            <p:cNvPr id="4" name="タイトル"/>
            <p:cNvSpPr/>
            <p:nvPr/>
          </p:nvSpPr>
          <p:spPr>
            <a:xfrm>
              <a:off x="609600" y="381000"/>
              <a:ext cx="10972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パーツ図鑑 全120種｜うちたの保管庫</a:t>
              </a:r>
            </a:p>
          </p:txBody>
        </p:sp>
        <p:sp>
          <p:nvSpPr>
            <p:cNvPr id="5" name="サブ"/>
            <p:cNvSpPr/>
            <p:nvPr/>
          </p:nvSpPr>
          <p:spPr>
            <a:xfrm>
              <a:off x="609600" y="83820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資料の「部品」120種の全部入り合本です（2026-07-15：新カテゴリ5つ・52種を追加）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62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収録一覧"/>
          <p:cNvGrpSpPr/>
          <p:nvPr/>
        </p:nvGrpSpPr>
        <p:grpSpPr>
          <a:xfrm>
            <a:off x="609600" y="1314450"/>
            <a:ext cx="4762500" cy="190500"/>
            <a:chOff x="609600" y="1314450"/>
            <a:chExt cx="4762500" cy="190500"/>
          </a:xfrm>
        </p:grpSpPr>
        <p:sp>
          <p:nvSpPr>
            <p:cNvPr id="8" name="一覧見出し"/>
            <p:cNvSpPr/>
            <p:nvPr/>
          </p:nvSpPr>
          <p:spPr>
            <a:xfrm>
              <a:off x="609600" y="1314450"/>
              <a:ext cx="4762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収録一覧（スライド番号で飛べます）</a:t>
              </a:r>
            </a:p>
          </p:txBody>
        </p:sp>
      </p:grpSp>
      <p:grpSp>
        <p:nvGrpSpPr>
          <p:cNvPr id="9" name="収録01"/>
          <p:cNvGrpSpPr/>
          <p:nvPr/>
        </p:nvGrpSpPr>
        <p:grpSpPr>
          <a:xfrm>
            <a:off x="609600" y="1600200"/>
            <a:ext cx="10972800" cy="247650"/>
            <a:chOff x="609600" y="1600200"/>
            <a:chExt cx="10972800" cy="247650"/>
          </a:xfrm>
        </p:grpSpPr>
        <p:sp>
          <p:nvSpPr>
            <p:cNvPr id="10" name="行地"/>
            <p:cNvSpPr/>
            <p:nvPr/>
          </p:nvSpPr>
          <p:spPr>
            <a:xfrm>
              <a:off x="609600" y="16002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章名"/>
            <p:cNvSpPr/>
            <p:nvPr/>
          </p:nvSpPr>
          <p:spPr>
            <a:xfrm>
              <a:off x="800100" y="16287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① 吹き出し</a:t>
              </a:r>
            </a:p>
          </p:txBody>
        </p:sp>
        <p:sp>
          <p:nvSpPr>
            <p:cNvPr id="12" name="種数"/>
            <p:cNvSpPr/>
            <p:nvPr/>
          </p:nvSpPr>
          <p:spPr>
            <a:xfrm>
              <a:off x="5086350" y="16287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10種＋組み込み例</a:t>
              </a:r>
            </a:p>
          </p:txBody>
        </p:sp>
        <p:sp>
          <p:nvSpPr>
            <p:cNvPr id="13" name="スライド番号"/>
            <p:cNvSpPr/>
            <p:nvPr/>
          </p:nvSpPr>
          <p:spPr>
            <a:xfrm>
              <a:off x="7658100" y="16287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2–4</a:t>
              </a:r>
            </a:p>
          </p:txBody>
        </p:sp>
      </p:grpSp>
      <p:grpSp>
        <p:nvGrpSpPr>
          <p:cNvPr id="14" name="収録02"/>
          <p:cNvGrpSpPr/>
          <p:nvPr/>
        </p:nvGrpSpPr>
        <p:grpSpPr>
          <a:xfrm>
            <a:off x="800100" y="1876425"/>
            <a:ext cx="10591800" cy="190500"/>
            <a:chOff x="800100" y="1876425"/>
            <a:chExt cx="10591800" cy="190500"/>
          </a:xfrm>
        </p:grpSpPr>
        <p:sp>
          <p:nvSpPr>
            <p:cNvPr id="15" name="章名"/>
            <p:cNvSpPr/>
            <p:nvPr/>
          </p:nvSpPr>
          <p:spPr>
            <a:xfrm>
              <a:off x="800100" y="18764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② 線・矢印</a:t>
              </a:r>
            </a:p>
          </p:txBody>
        </p:sp>
        <p:sp>
          <p:nvSpPr>
            <p:cNvPr id="16" name="種数"/>
            <p:cNvSpPr/>
            <p:nvPr/>
          </p:nvSpPr>
          <p:spPr>
            <a:xfrm>
              <a:off x="5086350" y="18764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12種＋組み込み例</a:t>
              </a:r>
            </a:p>
          </p:txBody>
        </p:sp>
        <p:sp>
          <p:nvSpPr>
            <p:cNvPr id="17" name="スライド番号"/>
            <p:cNvSpPr/>
            <p:nvPr/>
          </p:nvSpPr>
          <p:spPr>
            <a:xfrm>
              <a:off x="7658100" y="18764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5–7</a:t>
              </a:r>
            </a:p>
          </p:txBody>
        </p:sp>
      </p:grpSp>
      <p:grpSp>
        <p:nvGrpSpPr>
          <p:cNvPr id="18" name="収録03"/>
          <p:cNvGrpSpPr/>
          <p:nvPr/>
        </p:nvGrpSpPr>
        <p:grpSpPr>
          <a:xfrm>
            <a:off x="609600" y="2095500"/>
            <a:ext cx="10972800" cy="247650"/>
            <a:chOff x="609600" y="2095500"/>
            <a:chExt cx="10972800" cy="247650"/>
          </a:xfrm>
        </p:grpSpPr>
        <p:sp>
          <p:nvSpPr>
            <p:cNvPr id="19" name="行地"/>
            <p:cNvSpPr/>
            <p:nvPr/>
          </p:nvSpPr>
          <p:spPr>
            <a:xfrm>
              <a:off x="609600" y="20955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章名"/>
            <p:cNvSpPr/>
            <p:nvPr/>
          </p:nvSpPr>
          <p:spPr>
            <a:xfrm>
              <a:off x="800100" y="21240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③ 数字ラベル</a:t>
              </a:r>
            </a:p>
          </p:txBody>
        </p:sp>
        <p:sp>
          <p:nvSpPr>
            <p:cNvPr id="21" name="種数"/>
            <p:cNvSpPr/>
            <p:nvPr/>
          </p:nvSpPr>
          <p:spPr>
            <a:xfrm>
              <a:off x="5086350" y="21240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12種＋組み込み例</a:t>
              </a:r>
            </a:p>
          </p:txBody>
        </p:sp>
        <p:sp>
          <p:nvSpPr>
            <p:cNvPr id="22" name="スライド番号"/>
            <p:cNvSpPr/>
            <p:nvPr/>
          </p:nvSpPr>
          <p:spPr>
            <a:xfrm>
              <a:off x="7658100" y="21240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8–10</a:t>
              </a:r>
            </a:p>
          </p:txBody>
        </p:sp>
      </p:grpSp>
      <p:grpSp>
        <p:nvGrpSpPr>
          <p:cNvPr id="23" name="収録04"/>
          <p:cNvGrpSpPr/>
          <p:nvPr/>
        </p:nvGrpSpPr>
        <p:grpSpPr>
          <a:xfrm>
            <a:off x="800100" y="2371725"/>
            <a:ext cx="10591800" cy="190500"/>
            <a:chOff x="800100" y="2371725"/>
            <a:chExt cx="10591800" cy="190500"/>
          </a:xfrm>
        </p:grpSpPr>
        <p:sp>
          <p:nvSpPr>
            <p:cNvPr id="24" name="章名"/>
            <p:cNvSpPr/>
            <p:nvPr/>
          </p:nvSpPr>
          <p:spPr>
            <a:xfrm>
              <a:off x="800100" y="23717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④ 枠・カード</a:t>
              </a:r>
            </a:p>
          </p:txBody>
        </p:sp>
        <p:sp>
          <p:nvSpPr>
            <p:cNvPr id="25" name="種数"/>
            <p:cNvSpPr/>
            <p:nvPr/>
          </p:nvSpPr>
          <p:spPr>
            <a:xfrm>
              <a:off x="5086350" y="23717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10種＋組み込み例</a:t>
              </a:r>
            </a:p>
          </p:txBody>
        </p:sp>
        <p:sp>
          <p:nvSpPr>
            <p:cNvPr id="26" name="スライド番号"/>
            <p:cNvSpPr/>
            <p:nvPr/>
          </p:nvSpPr>
          <p:spPr>
            <a:xfrm>
              <a:off x="7658100" y="23717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11–13</a:t>
              </a:r>
            </a:p>
          </p:txBody>
        </p:sp>
      </p:grpSp>
      <p:grpSp>
        <p:nvGrpSpPr>
          <p:cNvPr id="27" name="収録05"/>
          <p:cNvGrpSpPr/>
          <p:nvPr/>
        </p:nvGrpSpPr>
        <p:grpSpPr>
          <a:xfrm>
            <a:off x="609600" y="2590800"/>
            <a:ext cx="10972800" cy="247650"/>
            <a:chOff x="609600" y="2590800"/>
            <a:chExt cx="10972800" cy="247650"/>
          </a:xfrm>
        </p:grpSpPr>
        <p:sp>
          <p:nvSpPr>
            <p:cNvPr id="28" name="行地"/>
            <p:cNvSpPr/>
            <p:nvPr/>
          </p:nvSpPr>
          <p:spPr>
            <a:xfrm>
              <a:off x="609600" y="25908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章名"/>
            <p:cNvSpPr/>
            <p:nvPr/>
          </p:nvSpPr>
          <p:spPr>
            <a:xfrm>
              <a:off x="800100" y="26193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⑤ 記号・アイコン</a:t>
              </a:r>
            </a:p>
          </p:txBody>
        </p:sp>
        <p:sp>
          <p:nvSpPr>
            <p:cNvPr id="30" name="種数"/>
            <p:cNvSpPr/>
            <p:nvPr/>
          </p:nvSpPr>
          <p:spPr>
            <a:xfrm>
              <a:off x="5086350" y="26193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10種＋組み込み例</a:t>
              </a:r>
            </a:p>
          </p:txBody>
        </p:sp>
        <p:sp>
          <p:nvSpPr>
            <p:cNvPr id="31" name="スライド番号"/>
            <p:cNvSpPr/>
            <p:nvPr/>
          </p:nvSpPr>
          <p:spPr>
            <a:xfrm>
              <a:off x="7658100" y="26193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14–15</a:t>
              </a:r>
            </a:p>
          </p:txBody>
        </p:sp>
      </p:grpSp>
      <p:grpSp>
        <p:nvGrpSpPr>
          <p:cNvPr id="32" name="収録06"/>
          <p:cNvGrpSpPr/>
          <p:nvPr/>
        </p:nvGrpSpPr>
        <p:grpSpPr>
          <a:xfrm>
            <a:off x="800100" y="2867025"/>
            <a:ext cx="10591800" cy="190500"/>
            <a:chOff x="800100" y="2867025"/>
            <a:chExt cx="10591800" cy="190500"/>
          </a:xfrm>
        </p:grpSpPr>
        <p:sp>
          <p:nvSpPr>
            <p:cNvPr id="33" name="章名"/>
            <p:cNvSpPr/>
            <p:nvPr/>
          </p:nvSpPr>
          <p:spPr>
            <a:xfrm>
              <a:off x="800100" y="28670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⑦ データ表現</a:t>
              </a:r>
            </a:p>
          </p:txBody>
        </p:sp>
        <p:sp>
          <p:nvSpPr>
            <p:cNvPr id="34" name="種数"/>
            <p:cNvSpPr/>
            <p:nvPr/>
          </p:nvSpPr>
          <p:spPr>
            <a:xfrm>
              <a:off x="5086350" y="28670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8種＋変種</a:t>
              </a:r>
            </a:p>
          </p:txBody>
        </p:sp>
        <p:sp>
          <p:nvSpPr>
            <p:cNvPr id="35" name="スライド番号"/>
            <p:cNvSpPr/>
            <p:nvPr/>
          </p:nvSpPr>
          <p:spPr>
            <a:xfrm>
              <a:off x="7658100" y="28670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16–18</a:t>
              </a:r>
            </a:p>
          </p:txBody>
        </p:sp>
      </p:grpSp>
      <p:grpSp>
        <p:nvGrpSpPr>
          <p:cNvPr id="36" name="収録07"/>
          <p:cNvGrpSpPr/>
          <p:nvPr/>
        </p:nvGrpSpPr>
        <p:grpSpPr>
          <a:xfrm>
            <a:off x="609600" y="3086100"/>
            <a:ext cx="10972800" cy="247650"/>
            <a:chOff x="609600" y="3086100"/>
            <a:chExt cx="10972800" cy="247650"/>
          </a:xfrm>
        </p:grpSpPr>
        <p:sp>
          <p:nvSpPr>
            <p:cNvPr id="37" name="行地"/>
            <p:cNvSpPr/>
            <p:nvPr/>
          </p:nvSpPr>
          <p:spPr>
            <a:xfrm>
              <a:off x="609600" y="30861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章名"/>
            <p:cNvSpPr/>
            <p:nvPr/>
          </p:nvSpPr>
          <p:spPr>
            <a:xfrm>
              <a:off x="800100" y="31146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⑧ デバイス・背景</a:t>
              </a:r>
            </a:p>
          </p:txBody>
        </p:sp>
        <p:sp>
          <p:nvSpPr>
            <p:cNvPr id="39" name="種数"/>
            <p:cNvSpPr/>
            <p:nvPr/>
          </p:nvSpPr>
          <p:spPr>
            <a:xfrm>
              <a:off x="5086350" y="31146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6種＋組み込み例</a:t>
              </a:r>
            </a:p>
          </p:txBody>
        </p:sp>
        <p:sp>
          <p:nvSpPr>
            <p:cNvPr id="40" name="スライド番号"/>
            <p:cNvSpPr/>
            <p:nvPr/>
          </p:nvSpPr>
          <p:spPr>
            <a:xfrm>
              <a:off x="7658100" y="31146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19–20</a:t>
              </a:r>
            </a:p>
          </p:txBody>
        </p:sp>
      </p:grpSp>
      <p:grpSp>
        <p:nvGrpSpPr>
          <p:cNvPr id="41" name="収録08"/>
          <p:cNvGrpSpPr/>
          <p:nvPr/>
        </p:nvGrpSpPr>
        <p:grpSpPr>
          <a:xfrm>
            <a:off x="800100" y="3362325"/>
            <a:ext cx="10591800" cy="190500"/>
            <a:chOff x="800100" y="3362325"/>
            <a:chExt cx="10591800" cy="190500"/>
          </a:xfrm>
        </p:grpSpPr>
        <p:sp>
          <p:nvSpPr>
            <p:cNvPr id="42" name="章名"/>
            <p:cNvSpPr/>
            <p:nvPr/>
          </p:nvSpPr>
          <p:spPr>
            <a:xfrm>
              <a:off x="800100" y="33623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⑨ スタンプ・注釈 NEW</a:t>
              </a:r>
            </a:p>
          </p:txBody>
        </p:sp>
        <p:sp>
          <p:nvSpPr>
            <p:cNvPr id="43" name="種数"/>
            <p:cNvSpPr/>
            <p:nvPr/>
          </p:nvSpPr>
          <p:spPr>
            <a:xfrm>
              <a:off x="5086350" y="33623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12種＋組み込み例</a:t>
              </a:r>
            </a:p>
          </p:txBody>
        </p:sp>
        <p:sp>
          <p:nvSpPr>
            <p:cNvPr id="44" name="スライド番号"/>
            <p:cNvSpPr/>
            <p:nvPr/>
          </p:nvSpPr>
          <p:spPr>
            <a:xfrm>
              <a:off x="7658100" y="33623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21–23</a:t>
              </a:r>
            </a:p>
          </p:txBody>
        </p:sp>
      </p:grpSp>
      <p:grpSp>
        <p:nvGrpSpPr>
          <p:cNvPr id="45" name="収録09"/>
          <p:cNvGrpSpPr/>
          <p:nvPr/>
        </p:nvGrpSpPr>
        <p:grpSpPr>
          <a:xfrm>
            <a:off x="609600" y="3581400"/>
            <a:ext cx="10972800" cy="247650"/>
            <a:chOff x="609600" y="3581400"/>
            <a:chExt cx="10972800" cy="247650"/>
          </a:xfrm>
        </p:grpSpPr>
        <p:sp>
          <p:nvSpPr>
            <p:cNvPr id="46" name="行地"/>
            <p:cNvSpPr/>
            <p:nvPr/>
          </p:nvSpPr>
          <p:spPr>
            <a:xfrm>
              <a:off x="609600" y="35814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章名"/>
            <p:cNvSpPr/>
            <p:nvPr/>
          </p:nvSpPr>
          <p:spPr>
            <a:xfrm>
              <a:off x="800100" y="36099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⑩ KPI・数字見せ NEW</a:t>
              </a:r>
            </a:p>
          </p:txBody>
        </p:sp>
        <p:sp>
          <p:nvSpPr>
            <p:cNvPr id="48" name="種数"/>
            <p:cNvSpPr/>
            <p:nvPr/>
          </p:nvSpPr>
          <p:spPr>
            <a:xfrm>
              <a:off x="5086350" y="36099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12種＋組み込み例</a:t>
              </a:r>
            </a:p>
          </p:txBody>
        </p:sp>
        <p:sp>
          <p:nvSpPr>
            <p:cNvPr id="49" name="スライド番号"/>
            <p:cNvSpPr/>
            <p:nvPr/>
          </p:nvSpPr>
          <p:spPr>
            <a:xfrm>
              <a:off x="7658100" y="36099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24–26</a:t>
              </a:r>
            </a:p>
          </p:txBody>
        </p:sp>
      </p:grpSp>
      <p:grpSp>
        <p:nvGrpSpPr>
          <p:cNvPr id="50" name="収録10"/>
          <p:cNvGrpSpPr/>
          <p:nvPr/>
        </p:nvGrpSpPr>
        <p:grpSpPr>
          <a:xfrm>
            <a:off x="800100" y="3857625"/>
            <a:ext cx="10591800" cy="190500"/>
            <a:chOff x="800100" y="3857625"/>
            <a:chExt cx="10591800" cy="190500"/>
          </a:xfrm>
        </p:grpSpPr>
        <p:sp>
          <p:nvSpPr>
            <p:cNvPr id="51" name="章名"/>
            <p:cNvSpPr/>
            <p:nvPr/>
          </p:nvSpPr>
          <p:spPr>
            <a:xfrm>
              <a:off x="800100" y="38576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⑪ 体制図・組織 NEW</a:t>
              </a:r>
            </a:p>
          </p:txBody>
        </p:sp>
        <p:sp>
          <p:nvSpPr>
            <p:cNvPr id="52" name="種数"/>
            <p:cNvSpPr/>
            <p:nvPr/>
          </p:nvSpPr>
          <p:spPr>
            <a:xfrm>
              <a:off x="5086350" y="38576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8種＋組み込み例</a:t>
              </a:r>
            </a:p>
          </p:txBody>
        </p:sp>
        <p:sp>
          <p:nvSpPr>
            <p:cNvPr id="53" name="スライド番号"/>
            <p:cNvSpPr/>
            <p:nvPr/>
          </p:nvSpPr>
          <p:spPr>
            <a:xfrm>
              <a:off x="7658100" y="38576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27–29</a:t>
              </a:r>
            </a:p>
          </p:txBody>
        </p:sp>
      </p:grpSp>
      <p:grpSp>
        <p:nvGrpSpPr>
          <p:cNvPr id="54" name="収録11"/>
          <p:cNvGrpSpPr/>
          <p:nvPr/>
        </p:nvGrpSpPr>
        <p:grpSpPr>
          <a:xfrm>
            <a:off x="609600" y="4076700"/>
            <a:ext cx="10972800" cy="247650"/>
            <a:chOff x="609600" y="4076700"/>
            <a:chExt cx="10972800" cy="247650"/>
          </a:xfrm>
        </p:grpSpPr>
        <p:sp>
          <p:nvSpPr>
            <p:cNvPr id="55" name="行地"/>
            <p:cNvSpPr/>
            <p:nvPr/>
          </p:nvSpPr>
          <p:spPr>
            <a:xfrm>
              <a:off x="609600" y="40767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章名"/>
            <p:cNvSpPr/>
            <p:nvPr/>
          </p:nvSpPr>
          <p:spPr>
            <a:xfrm>
              <a:off x="800100" y="41052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⑫ 表デザイン NEW</a:t>
              </a:r>
            </a:p>
          </p:txBody>
        </p:sp>
        <p:sp>
          <p:nvSpPr>
            <p:cNvPr id="57" name="種数"/>
            <p:cNvSpPr/>
            <p:nvPr/>
          </p:nvSpPr>
          <p:spPr>
            <a:xfrm>
              <a:off x="5086350" y="41052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8種＋組み込み例</a:t>
              </a:r>
            </a:p>
          </p:txBody>
        </p:sp>
        <p:sp>
          <p:nvSpPr>
            <p:cNvPr id="58" name="スライド番号"/>
            <p:cNvSpPr/>
            <p:nvPr/>
          </p:nvSpPr>
          <p:spPr>
            <a:xfrm>
              <a:off x="7658100" y="41052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30–32</a:t>
              </a:r>
            </a:p>
          </p:txBody>
        </p:sp>
      </p:grpSp>
      <p:grpSp>
        <p:nvGrpSpPr>
          <p:cNvPr id="59" name="収録12"/>
          <p:cNvGrpSpPr/>
          <p:nvPr/>
        </p:nvGrpSpPr>
        <p:grpSpPr>
          <a:xfrm>
            <a:off x="800100" y="4352925"/>
            <a:ext cx="10591800" cy="190500"/>
            <a:chOff x="800100" y="4352925"/>
            <a:chExt cx="10591800" cy="190500"/>
          </a:xfrm>
        </p:grpSpPr>
        <p:sp>
          <p:nvSpPr>
            <p:cNvPr id="60" name="章名"/>
            <p:cNvSpPr/>
            <p:nvPr/>
          </p:nvSpPr>
          <p:spPr>
            <a:xfrm>
              <a:off x="800100" y="43529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⑬ グラフの空枠 NEW</a:t>
              </a:r>
            </a:p>
          </p:txBody>
        </p:sp>
        <p:sp>
          <p:nvSpPr>
            <p:cNvPr id="61" name="種数"/>
            <p:cNvSpPr/>
            <p:nvPr/>
          </p:nvSpPr>
          <p:spPr>
            <a:xfrm>
              <a:off x="5086350" y="43529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12種＋組み込み例</a:t>
              </a:r>
            </a:p>
          </p:txBody>
        </p:sp>
        <p:sp>
          <p:nvSpPr>
            <p:cNvPr id="62" name="スライド番号"/>
            <p:cNvSpPr/>
            <p:nvPr/>
          </p:nvSpPr>
          <p:spPr>
            <a:xfrm>
              <a:off x="7658100" y="43529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33–36</a:t>
              </a:r>
            </a:p>
          </p:txBody>
        </p:sp>
      </p:grpSp>
      <p:grpSp>
        <p:nvGrpSpPr>
          <p:cNvPr id="63" name="使い方"/>
          <p:cNvGrpSpPr/>
          <p:nvPr/>
        </p:nvGrpSpPr>
        <p:grpSpPr>
          <a:xfrm>
            <a:off x="609600" y="4724400"/>
            <a:ext cx="10972800" cy="914400"/>
            <a:chOff x="609600" y="4724400"/>
            <a:chExt cx="10972800" cy="914400"/>
          </a:xfrm>
        </p:grpSpPr>
        <p:sp>
          <p:nvSpPr>
            <p:cNvPr id="64" name="使い方カード"/>
            <p:cNvSpPr/>
            <p:nvPr/>
          </p:nvSpPr>
          <p:spPr>
            <a:xfrm>
              <a:off x="609600" y="4724400"/>
              <a:ext cx="10972800" cy="914400"/>
            </a:xfrm>
            <a:prstGeom prst="roundRect">
              <a:avLst>
                <a:gd name="adj" fmla="val 1041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使い方文"/>
            <p:cNvSpPr/>
            <p:nvPr/>
          </p:nvSpPr>
          <p:spPr>
            <a:xfrm>
              <a:off x="876300" y="4876800"/>
              <a:ext cx="10439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使い方：①グループごとコピーして自分の資料へ　②「デザイン＞配色」でワンクリック自社色　③各スライドの発表者ノートにガイド入り</a:t>
              </a:r>
            </a:p>
          </p:txBody>
        </p:sp>
        <p:sp>
          <p:nvSpPr>
            <p:cNvPr id="66" name="使い方サブ"/>
            <p:cNvSpPr/>
            <p:nvPr/>
          </p:nvSpPr>
          <p:spPr>
            <a:xfrm>
              <a:off x="876300" y="5181600"/>
              <a:ext cx="104394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⑥図解（50種）は姉妹版「図解集」に収録。⑬は無料の「グラフ設計プロンプト」と連結</a:t>
              </a:r>
            </a:p>
          </p:txBody>
        </p:sp>
      </p:grpSp>
      <p:grpSp>
        <p:nvGrpSpPr>
          <p:cNvPr id="67" name="ライセンス"/>
          <p:cNvGrpSpPr/>
          <p:nvPr/>
        </p:nvGrpSpPr>
        <p:grpSpPr>
          <a:xfrm>
            <a:off x="609600" y="6172200"/>
            <a:ext cx="10972800" cy="285750"/>
            <a:chOff x="609600" y="6172200"/>
            <a:chExt cx="10972800" cy="285750"/>
          </a:xfrm>
        </p:grpSpPr>
        <p:sp>
          <p:nvSpPr>
            <p:cNvPr id="68" name="ライセンス"/>
            <p:cNvSpPr/>
            <p:nvPr/>
          </p:nvSpPr>
          <p:spPr>
            <a:xfrm>
              <a:off x="609600" y="617220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ご利用について：個人・社内利用OK／再配布・転売・自作発言はご遠慮ください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パーツ図鑑｜① 吹き出し — 基本8種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grpSp>
        <p:nvGrpSpPr>
          <p:cNvPr id="5" name="吹き出し01_角丸・左尻尾"/>
          <p:cNvGrpSpPr/>
          <p:nvPr/>
        </p:nvGrpSpPr>
        <p:grpSpPr>
          <a:xfrm>
            <a:off x="676275" y="1409700"/>
            <a:ext cx="2095500" cy="1162050"/>
            <a:chOff x="676275" y="1409700"/>
            <a:chExt cx="2095500" cy="1162050"/>
          </a:xfrm>
        </p:grpSpPr>
        <p:sp>
          <p:nvSpPr>
            <p:cNvPr id="6" name="吹き出し01_角丸・左尻尾"/>
            <p:cNvSpPr/>
            <p:nvPr/>
          </p:nvSpPr>
          <p:spPr>
            <a:xfrm>
              <a:off x="67627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0962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角丸・左尻尾</a:t>
            </a:r>
          </a:p>
        </p:txBody>
      </p:sp>
      <p:grpSp>
        <p:nvGrpSpPr>
          <p:cNvPr id="9" name="吹き出し02_角丸・右尻尾"/>
          <p:cNvGrpSpPr/>
          <p:nvPr/>
        </p:nvGrpSpPr>
        <p:grpSpPr>
          <a:xfrm>
            <a:off x="3590925" y="1409700"/>
            <a:ext cx="2095500" cy="1162050"/>
            <a:chOff x="3590925" y="1409700"/>
            <a:chExt cx="2095500" cy="1162050"/>
          </a:xfrm>
        </p:grpSpPr>
        <p:sp>
          <p:nvSpPr>
            <p:cNvPr id="10" name="吹き出し02_角丸・右尻尾"/>
            <p:cNvSpPr/>
            <p:nvPr/>
          </p:nvSpPr>
          <p:spPr>
            <a:xfrm>
              <a:off x="359092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1676400" y="990600"/>
                  </a:lnTo>
                  <a:lnTo>
                    <a:pt x="1571625" y="1162050"/>
                  </a:lnTo>
                  <a:lnTo>
                    <a:pt x="146685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2427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角丸・右尻尾</a:t>
            </a:r>
          </a:p>
        </p:txBody>
      </p:sp>
      <p:grpSp>
        <p:nvGrpSpPr>
          <p:cNvPr id="13" name="吹き出し03_シャープ"/>
          <p:cNvGrpSpPr/>
          <p:nvPr/>
        </p:nvGrpSpPr>
        <p:grpSpPr>
          <a:xfrm>
            <a:off x="6505575" y="1409700"/>
            <a:ext cx="2095500" cy="1162050"/>
            <a:chOff x="6505575" y="1409700"/>
            <a:chExt cx="2095500" cy="1162050"/>
          </a:xfrm>
        </p:grpSpPr>
        <p:sp>
          <p:nvSpPr>
            <p:cNvPr id="14" name="吹き出し03_シャープ"/>
            <p:cNvSpPr/>
            <p:nvPr/>
          </p:nvSpPr>
          <p:spPr>
            <a:xfrm>
              <a:off x="650557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0" y="0"/>
                  </a:moveTo>
                  <a:lnTo>
                    <a:pt x="2095500" y="0"/>
                  </a:lnTo>
                  <a:arcTo wR="0" hR="0" stAng="16200000" swAng="5400000"/>
                  <a:lnTo>
                    <a:pt x="2095500" y="990600"/>
                  </a:lnTo>
                  <a:arcTo wR="0" hR="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0" y="990600"/>
                  </a:lnTo>
                  <a:arcTo wR="0" hR="0" stAng="5400000" swAng="5400000"/>
                  <a:lnTo>
                    <a:pt x="0" y="0"/>
                  </a:lnTo>
                  <a:arcTo wR="0" hR="0" stAng="10800000" swAng="5400000"/>
                  <a:close/>
                </a:path>
              </a:pathLst>
            </a:cu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3892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シャープ（フォーマル）</a:t>
            </a:r>
          </a:p>
        </p:txBody>
      </p:sp>
      <p:grpSp>
        <p:nvGrpSpPr>
          <p:cNvPr id="17" name="吹き出し04_点線"/>
          <p:cNvGrpSpPr/>
          <p:nvPr/>
        </p:nvGrpSpPr>
        <p:grpSpPr>
          <a:xfrm>
            <a:off x="9420225" y="1409700"/>
            <a:ext cx="2095500" cy="1162050"/>
            <a:chOff x="9420225" y="1409700"/>
            <a:chExt cx="2095500" cy="1162050"/>
          </a:xfrm>
        </p:grpSpPr>
        <p:sp>
          <p:nvSpPr>
            <p:cNvPr id="18" name="吹き出し04_点線"/>
            <p:cNvSpPr/>
            <p:nvPr/>
          </p:nvSpPr>
          <p:spPr>
            <a:xfrm>
              <a:off x="942022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noFill/>
            <a:ln w="14287">
              <a:solidFill>
                <a:schemeClr val="accent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55357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点線（仮説・未確定）</a:t>
            </a:r>
          </a:p>
        </p:txBody>
      </p:sp>
      <p:grpSp>
        <p:nvGrpSpPr>
          <p:cNvPr id="21" name="吹き出し05_帯型コメント"/>
          <p:cNvGrpSpPr/>
          <p:nvPr/>
        </p:nvGrpSpPr>
        <p:grpSpPr>
          <a:xfrm>
            <a:off x="561975" y="4229100"/>
            <a:ext cx="2343150" cy="628650"/>
            <a:chOff x="561975" y="4229100"/>
            <a:chExt cx="2343150" cy="628650"/>
          </a:xfrm>
        </p:grpSpPr>
        <p:sp>
          <p:nvSpPr>
            <p:cNvPr id="22" name="話者タグ"/>
            <p:cNvSpPr/>
            <p:nvPr/>
          </p:nvSpPr>
          <p:spPr>
            <a:xfrm>
              <a:off x="561975" y="4381500"/>
              <a:ext cx="74295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1975" y="4391025"/>
              <a:ext cx="742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現場の声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438275" y="4229100"/>
              <a:ext cx="146685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561975" y="4857750"/>
              <a:ext cx="23241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帯型コメント</a:t>
            </a:r>
          </a:p>
        </p:txBody>
      </p:sp>
      <p:grpSp>
        <p:nvGrpSpPr>
          <p:cNvPr id="27" name="吹き出し06_強調コールアウト"/>
          <p:cNvGrpSpPr/>
          <p:nvPr/>
        </p:nvGrpSpPr>
        <p:grpSpPr>
          <a:xfrm>
            <a:off x="3590925" y="4181475"/>
            <a:ext cx="2095500" cy="1019175"/>
            <a:chOff x="3590925" y="4181475"/>
            <a:chExt cx="2095500" cy="1019175"/>
          </a:xfrm>
        </p:grpSpPr>
        <p:sp>
          <p:nvSpPr>
            <p:cNvPr id="28" name="枠"/>
            <p:cNvSpPr/>
            <p:nvPr/>
          </p:nvSpPr>
          <p:spPr>
            <a:xfrm>
              <a:off x="3590925" y="4286250"/>
              <a:ext cx="2095500" cy="914400"/>
            </a:xfrm>
            <a:prstGeom prst="roundRect">
              <a:avLst>
                <a:gd name="adj" fmla="val 8333"/>
              </a:avLst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OINTバッジ"/>
            <p:cNvSpPr/>
            <p:nvPr/>
          </p:nvSpPr>
          <p:spPr>
            <a:xfrm>
              <a:off x="3724275" y="4181475"/>
              <a:ext cx="5905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724275" y="4191000"/>
              <a:ext cx="5905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POINT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743325" y="4362450"/>
              <a:ext cx="1790700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テキストテキスト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強調コールアウト</a:t>
            </a:r>
          </a:p>
        </p:txBody>
      </p:sp>
      <p:grpSp>
        <p:nvGrpSpPr>
          <p:cNvPr id="33" name="吹き出し07_引用ブロック"/>
          <p:cNvGrpSpPr/>
          <p:nvPr/>
        </p:nvGrpSpPr>
        <p:grpSpPr>
          <a:xfrm>
            <a:off x="6505575" y="4286250"/>
            <a:ext cx="2076450" cy="914400"/>
            <a:chOff x="6505575" y="4286250"/>
            <a:chExt cx="2076450" cy="914400"/>
          </a:xfrm>
        </p:grpSpPr>
        <p:sp>
          <p:nvSpPr>
            <p:cNvPr id="34" name="引用バー"/>
            <p:cNvSpPr/>
            <p:nvPr/>
          </p:nvSpPr>
          <p:spPr>
            <a:xfrm>
              <a:off x="6505575" y="4286250"/>
              <a:ext cx="381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77025" y="4343400"/>
              <a:ext cx="1905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677025" y="49720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— 出典・氏名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引用ブロック</a:t>
            </a:r>
          </a:p>
        </p:txBody>
      </p:sp>
      <p:grpSp>
        <p:nvGrpSpPr>
          <p:cNvPr id="38" name="吹き出し08_顧客の声カード"/>
          <p:cNvGrpSpPr/>
          <p:nvPr/>
        </p:nvGrpSpPr>
        <p:grpSpPr>
          <a:xfrm>
            <a:off x="9420225" y="4038600"/>
            <a:ext cx="2095500" cy="1562100"/>
            <a:chOff x="9420225" y="4038600"/>
            <a:chExt cx="2095500" cy="1562100"/>
          </a:xfrm>
        </p:grpSpPr>
        <p:sp>
          <p:nvSpPr>
            <p:cNvPr id="39" name="吹き出し08_声カード"/>
            <p:cNvSpPr/>
            <p:nvPr/>
          </p:nvSpPr>
          <p:spPr>
            <a:xfrm>
              <a:off x="9420225" y="4038600"/>
              <a:ext cx="2095500" cy="1200150"/>
            </a:xfrm>
            <a:custGeom>
              <a:avLst/>
              <a:gdLst/>
              <a:ahLst/>
              <a:cxnLst/>
              <a:rect l="0" t="0" r="2095500" b="1028700"/>
              <a:pathLst>
                <a:path w="2095500" h="12001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52500"/>
                  </a:lnTo>
                  <a:arcTo wR="76200" hR="76200" stAng="0" swAng="5400000"/>
                  <a:lnTo>
                    <a:pt x="628650" y="1028700"/>
                  </a:lnTo>
                  <a:lnTo>
                    <a:pt x="523875" y="1200150"/>
                  </a:lnTo>
                  <a:lnTo>
                    <a:pt x="419100" y="1028700"/>
                  </a:lnTo>
                  <a:lnTo>
                    <a:pt x="76200" y="10287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553575" y="4038600"/>
              <a:ext cx="1828800" cy="1028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  <p:sp>
          <p:nvSpPr>
            <p:cNvPr id="41" name="頭文字"/>
            <p:cNvSpPr/>
            <p:nvPr/>
          </p:nvSpPr>
          <p:spPr>
            <a:xfrm>
              <a:off x="9553575" y="531495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553575" y="53244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934575" y="5324475"/>
              <a:ext cx="1524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田中様｜◯◯株式会社</a:t>
              </a:r>
            </a:p>
          </p:txBody>
        </p:sp>
      </p:grpSp>
      <p:sp>
        <p:nvSpPr>
          <p:cNvPr id="44" name="Rectangle 43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顧客の声カード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パーツ図鑑｜① 吹き出し — 配色と応用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</a:t>
            </a:r>
          </a:p>
        </p:txBody>
      </p:sp>
      <p:grpSp>
        <p:nvGrpSpPr>
          <p:cNvPr id="5" name="吹き出し_配色A"/>
          <p:cNvGrpSpPr/>
          <p:nvPr/>
        </p:nvGrpSpPr>
        <p:grpSpPr>
          <a:xfrm>
            <a:off x="676275" y="1409700"/>
            <a:ext cx="2095500" cy="1162050"/>
            <a:chOff x="676275" y="1409700"/>
            <a:chExt cx="2095500" cy="1162050"/>
          </a:xfrm>
        </p:grpSpPr>
        <p:sp>
          <p:nvSpPr>
            <p:cNvPr id="6" name="吹き出し_配色A"/>
            <p:cNvSpPr/>
            <p:nvPr/>
          </p:nvSpPr>
          <p:spPr>
            <a:xfrm>
              <a:off x="67627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0962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配色A 線のみ</a:t>
            </a:r>
          </a:p>
        </p:txBody>
      </p:sp>
      <p:grpSp>
        <p:nvGrpSpPr>
          <p:cNvPr id="9" name="吹き出し_配色B"/>
          <p:cNvGrpSpPr/>
          <p:nvPr/>
        </p:nvGrpSpPr>
        <p:grpSpPr>
          <a:xfrm>
            <a:off x="3590925" y="1409700"/>
            <a:ext cx="2095500" cy="1162050"/>
            <a:chOff x="3590925" y="1409700"/>
            <a:chExt cx="2095500" cy="1162050"/>
          </a:xfrm>
        </p:grpSpPr>
        <p:sp>
          <p:nvSpPr>
            <p:cNvPr id="10" name="吹き出し_配色B"/>
            <p:cNvSpPr/>
            <p:nvPr/>
          </p:nvSpPr>
          <p:spPr>
            <a:xfrm>
              <a:off x="359092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2427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配色B 薄ティント</a:t>
            </a:r>
          </a:p>
        </p:txBody>
      </p:sp>
      <p:grpSp>
        <p:nvGrpSpPr>
          <p:cNvPr id="13" name="吹き出し_配色C"/>
          <p:cNvGrpSpPr/>
          <p:nvPr/>
        </p:nvGrpSpPr>
        <p:grpSpPr>
          <a:xfrm>
            <a:off x="6505575" y="1409700"/>
            <a:ext cx="2095500" cy="1162050"/>
            <a:chOff x="6505575" y="1409700"/>
            <a:chExt cx="2095500" cy="1162050"/>
          </a:xfrm>
        </p:grpSpPr>
        <p:sp>
          <p:nvSpPr>
            <p:cNvPr id="14" name="吹き出し_配色C"/>
            <p:cNvSpPr/>
            <p:nvPr/>
          </p:nvSpPr>
          <p:spPr>
            <a:xfrm>
              <a:off x="650557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3892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lt1"/>
                  </a:solidFill>
                </a:rPr>
                <a:t>テキスト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配色C 塗り</a:t>
            </a:r>
          </a:p>
        </p:txBody>
      </p:sp>
      <p:grpSp>
        <p:nvGrpSpPr>
          <p:cNvPr id="17" name="吹き出し_配色D"/>
          <p:cNvGrpSpPr/>
          <p:nvPr/>
        </p:nvGrpSpPr>
        <p:grpSpPr>
          <a:xfrm>
            <a:off x="9420225" y="1409700"/>
            <a:ext cx="2095500" cy="1162050"/>
            <a:chOff x="9420225" y="1409700"/>
            <a:chExt cx="2095500" cy="1162050"/>
          </a:xfrm>
        </p:grpSpPr>
        <p:sp>
          <p:nvSpPr>
            <p:cNvPr id="18" name="吹き出し_配色D"/>
            <p:cNvSpPr/>
            <p:nvPr/>
          </p:nvSpPr>
          <p:spPr>
            <a:xfrm>
              <a:off x="9420225" y="1409700"/>
              <a:ext cx="2095500" cy="1162050"/>
            </a:xfrm>
            <a:custGeom>
              <a:avLst/>
              <a:gdLst/>
              <a:ahLst/>
              <a:cxnLst/>
              <a:rect l="0" t="0" r="2095500" b="990600"/>
              <a:pathLst>
                <a:path w="2095500" h="11620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914400"/>
                  </a:lnTo>
                  <a:arcTo wR="76200" hR="76200" stAng="0" swAng="5400000"/>
                  <a:lnTo>
                    <a:pt x="628650" y="990600"/>
                  </a:lnTo>
                  <a:lnTo>
                    <a:pt x="523875" y="1162050"/>
                  </a:lnTo>
                  <a:lnTo>
                    <a:pt x="419100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553575" y="1409700"/>
              <a:ext cx="1828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lt1"/>
                  </a:solidFill>
                </a:rPr>
                <a:t>テキスト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配色D 濃色（結論用）</a:t>
            </a:r>
          </a:p>
        </p:txBody>
      </p:sp>
      <p:grpSp>
        <p:nvGrpSpPr>
          <p:cNvPr id="21" name="吹き出し09_対話ペア"/>
          <p:cNvGrpSpPr/>
          <p:nvPr/>
        </p:nvGrpSpPr>
        <p:grpSpPr>
          <a:xfrm>
            <a:off x="561975" y="4248150"/>
            <a:ext cx="5238750" cy="1314450"/>
            <a:chOff x="561975" y="4248150"/>
            <a:chExt cx="5238750" cy="1314450"/>
          </a:xfrm>
        </p:grpSpPr>
        <p:sp>
          <p:nvSpPr>
            <p:cNvPr id="22" name="吹き出し09_質問"/>
            <p:cNvSpPr/>
            <p:nvPr/>
          </p:nvSpPr>
          <p:spPr>
            <a:xfrm>
              <a:off x="561975" y="4248150"/>
              <a:ext cx="2400300" cy="1085850"/>
            </a:xfrm>
            <a:custGeom>
              <a:avLst/>
              <a:gdLst/>
              <a:ahLst/>
              <a:cxnLst/>
              <a:rect l="0" t="0" r="2400300" b="914400"/>
              <a:pathLst>
                <a:path w="2400300" h="1085850">
                  <a:moveTo>
                    <a:pt x="76200" y="0"/>
                  </a:moveTo>
                  <a:lnTo>
                    <a:pt x="2324100" y="0"/>
                  </a:lnTo>
                  <a:arcTo wR="76200" hR="76200" stAng="16200000" swAng="5400000"/>
                  <a:lnTo>
                    <a:pt x="2400300" y="838200"/>
                  </a:lnTo>
                  <a:arcTo wR="76200" hR="76200" stAng="0" swAng="5400000"/>
                  <a:lnTo>
                    <a:pt x="704850" y="914400"/>
                  </a:lnTo>
                  <a:lnTo>
                    <a:pt x="600075" y="1085850"/>
                  </a:lnTo>
                  <a:lnTo>
                    <a:pt x="495300" y="914400"/>
                  </a:lnTo>
                  <a:lnTo>
                    <a:pt x="76200" y="9144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5325" y="4248150"/>
              <a:ext cx="21336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質問テキスト</a:t>
              </a:r>
            </a:p>
          </p:txBody>
        </p:sp>
        <p:sp>
          <p:nvSpPr>
            <p:cNvPr id="24" name="吹き出し09_回答"/>
            <p:cNvSpPr/>
            <p:nvPr/>
          </p:nvSpPr>
          <p:spPr>
            <a:xfrm>
              <a:off x="3400425" y="4248150"/>
              <a:ext cx="2400300" cy="1085850"/>
            </a:xfrm>
            <a:custGeom>
              <a:avLst/>
              <a:gdLst/>
              <a:ahLst/>
              <a:cxnLst/>
              <a:rect l="0" t="0" r="2400300" b="914400"/>
              <a:pathLst>
                <a:path w="2400300" h="1085850">
                  <a:moveTo>
                    <a:pt x="76200" y="0"/>
                  </a:moveTo>
                  <a:lnTo>
                    <a:pt x="2324100" y="0"/>
                  </a:lnTo>
                  <a:arcTo wR="76200" hR="76200" stAng="16200000" swAng="5400000"/>
                  <a:lnTo>
                    <a:pt x="2400300" y="838200"/>
                  </a:lnTo>
                  <a:arcTo wR="76200" hR="76200" stAng="0" swAng="5400000"/>
                  <a:lnTo>
                    <a:pt x="1905000" y="914400"/>
                  </a:lnTo>
                  <a:lnTo>
                    <a:pt x="1800225" y="1085850"/>
                  </a:lnTo>
                  <a:lnTo>
                    <a:pt x="1695450" y="914400"/>
                  </a:lnTo>
                  <a:lnTo>
                    <a:pt x="76200" y="9144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33775" y="4248150"/>
              <a:ext cx="21336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lt1"/>
                  </a:solidFill>
                </a:rPr>
                <a:t>回答テキスト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61975" y="5391150"/>
              <a:ext cx="2400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質問者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400425" y="5391150"/>
              <a:ext cx="2400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回答者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対話ペア</a:t>
            </a:r>
          </a:p>
        </p:txBody>
      </p:sp>
      <p:grpSp>
        <p:nvGrpSpPr>
          <p:cNvPr id="29" name="吹き出し10_ツールチップ"/>
          <p:cNvGrpSpPr/>
          <p:nvPr/>
        </p:nvGrpSpPr>
        <p:grpSpPr>
          <a:xfrm>
            <a:off x="6981825" y="4552950"/>
            <a:ext cx="1143000" cy="514350"/>
            <a:chOff x="6981825" y="4552950"/>
            <a:chExt cx="1143000" cy="514350"/>
          </a:xfrm>
        </p:grpSpPr>
        <p:sp>
          <p:nvSpPr>
            <p:cNvPr id="30" name="吹き出し10_ツールチップ"/>
            <p:cNvSpPr/>
            <p:nvPr/>
          </p:nvSpPr>
          <p:spPr>
            <a:xfrm>
              <a:off x="6981825" y="4552950"/>
              <a:ext cx="1143000" cy="514350"/>
            </a:xfrm>
            <a:custGeom>
              <a:avLst/>
              <a:gdLst/>
              <a:ahLst/>
              <a:cxnLst/>
              <a:rect l="0" t="0" r="1143000" b="419100"/>
              <a:pathLst>
                <a:path w="1143000" h="514350">
                  <a:moveTo>
                    <a:pt x="57150" y="0"/>
                  </a:moveTo>
                  <a:lnTo>
                    <a:pt x="1085850" y="0"/>
                  </a:lnTo>
                  <a:arcTo wR="57150" hR="57150" stAng="16200000" swAng="5400000"/>
                  <a:lnTo>
                    <a:pt x="1143000" y="361950"/>
                  </a:lnTo>
                  <a:arcTo wR="57150" hR="57150" stAng="0" swAng="5400000"/>
                  <a:lnTo>
                    <a:pt x="638175" y="419100"/>
                  </a:lnTo>
                  <a:lnTo>
                    <a:pt x="571500" y="514350"/>
                  </a:lnTo>
                  <a:lnTo>
                    <a:pt x="504825" y="419100"/>
                  </a:lnTo>
                  <a:lnTo>
                    <a:pt x="57150" y="41910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115175" y="4552950"/>
              <a:ext cx="8763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lt1"/>
                  </a:solidFill>
                </a:rPr>
                <a:t>注記テキスト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ツールチップ（図への注記）</a:t>
            </a:r>
          </a:p>
        </p:txBody>
      </p:sp>
      <p:grpSp>
        <p:nvGrpSpPr>
          <p:cNvPr id="33" name="吹き出し06_強調朱"/>
          <p:cNvGrpSpPr/>
          <p:nvPr/>
        </p:nvGrpSpPr>
        <p:grpSpPr>
          <a:xfrm>
            <a:off x="9420225" y="4181475"/>
            <a:ext cx="2095500" cy="1019175"/>
            <a:chOff x="9420225" y="4181475"/>
            <a:chExt cx="2095500" cy="1019175"/>
          </a:xfrm>
        </p:grpSpPr>
        <p:sp>
          <p:nvSpPr>
            <p:cNvPr id="34" name="枠"/>
            <p:cNvSpPr/>
            <p:nvPr/>
          </p:nvSpPr>
          <p:spPr>
            <a:xfrm>
              <a:off x="9420225" y="4286250"/>
              <a:ext cx="2095500" cy="914400"/>
            </a:xfrm>
            <a:prstGeom prst="roundRect">
              <a:avLst>
                <a:gd name="adj" fmla="val 8333"/>
              </a:avLst>
            </a:prstGeom>
            <a:noFill/>
            <a:ln w="23812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POINTバッジ"/>
            <p:cNvSpPr/>
            <p:nvPr/>
          </p:nvSpPr>
          <p:spPr>
            <a:xfrm>
              <a:off x="9553575" y="4181475"/>
              <a:ext cx="5905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553575" y="4191000"/>
              <a:ext cx="5905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POINT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572625" y="4362450"/>
              <a:ext cx="1790700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テキストテキスト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強調・朱（1スライド1点まで）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8572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組み込み例：導入判断を後押しした「現場の声」の見せ方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グラフ"/>
          <p:cNvGrpSpPr/>
          <p:nvPr/>
        </p:nvGrpSpPr>
        <p:grpSpPr>
          <a:xfrm>
            <a:off x="952500" y="2286000"/>
            <a:ext cx="3048000" cy="2514600"/>
            <a:chOff x="952500" y="2286000"/>
            <a:chExt cx="3048000" cy="2514600"/>
          </a:xfrm>
        </p:grpSpPr>
        <p:sp>
          <p:nvSpPr>
            <p:cNvPr id="6" name="棒1"/>
            <p:cNvSpPr/>
            <p:nvPr/>
          </p:nvSpPr>
          <p:spPr>
            <a:xfrm>
              <a:off x="1143000" y="3524250"/>
              <a:ext cx="552450" cy="10477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43000" y="464820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2024</a:t>
              </a:r>
            </a:p>
          </p:txBody>
        </p:sp>
        <p:sp>
          <p:nvSpPr>
            <p:cNvPr id="8" name="棒2"/>
            <p:cNvSpPr/>
            <p:nvPr/>
          </p:nvSpPr>
          <p:spPr>
            <a:xfrm>
              <a:off x="2047875" y="3048000"/>
              <a:ext cx="552450" cy="1524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47875" y="464820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2025</a:t>
              </a:r>
            </a:p>
          </p:txBody>
        </p:sp>
        <p:sp>
          <p:nvSpPr>
            <p:cNvPr id="10" name="棒3"/>
            <p:cNvSpPr/>
            <p:nvPr/>
          </p:nvSpPr>
          <p:spPr>
            <a:xfrm>
              <a:off x="2952750" y="2286000"/>
              <a:ext cx="55245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52750" y="464820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2026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952500" y="457200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使用例_注記"/>
          <p:cNvGrpSpPr/>
          <p:nvPr/>
        </p:nvGrpSpPr>
        <p:grpSpPr>
          <a:xfrm>
            <a:off x="2667000" y="1733550"/>
            <a:ext cx="1238250" cy="476250"/>
            <a:chOff x="2667000" y="1733550"/>
            <a:chExt cx="1238250" cy="476250"/>
          </a:xfrm>
        </p:grpSpPr>
        <p:sp>
          <p:nvSpPr>
            <p:cNvPr id="14" name="吹き出し10_注記"/>
            <p:cNvSpPr/>
            <p:nvPr/>
          </p:nvSpPr>
          <p:spPr>
            <a:xfrm>
              <a:off x="2667000" y="1733550"/>
              <a:ext cx="1238250" cy="476250"/>
            </a:xfrm>
            <a:custGeom>
              <a:avLst/>
              <a:gdLst/>
              <a:ahLst/>
              <a:cxnLst/>
              <a:rect l="0" t="0" r="1238250" b="381000"/>
              <a:pathLst>
                <a:path w="1238250" h="476250">
                  <a:moveTo>
                    <a:pt x="57150" y="0"/>
                  </a:moveTo>
                  <a:lnTo>
                    <a:pt x="1181100" y="0"/>
                  </a:lnTo>
                  <a:arcTo wR="57150" hR="57150" stAng="16200000" swAng="5400000"/>
                  <a:lnTo>
                    <a:pt x="1238250" y="323850"/>
                  </a:lnTo>
                  <a:arcTo wR="57150" hR="57150" stAng="0" swAng="5400000"/>
                  <a:lnTo>
                    <a:pt x="685800" y="381000"/>
                  </a:lnTo>
                  <a:lnTo>
                    <a:pt x="619125" y="476250"/>
                  </a:lnTo>
                  <a:lnTo>
                    <a:pt x="552450" y="381000"/>
                  </a:lnTo>
                  <a:lnTo>
                    <a:pt x="57150" y="38100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00350" y="1733550"/>
              <a:ext cx="9715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前年比 +32%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952500" y="4857750"/>
            <a:ext cx="304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出典：社内実績（2024–2026）</a:t>
            </a:r>
          </a:p>
        </p:txBody>
      </p:sp>
      <p:grpSp>
        <p:nvGrpSpPr>
          <p:cNvPr id="17" name="使用例_声カード"/>
          <p:cNvGrpSpPr/>
          <p:nvPr/>
        </p:nvGrpSpPr>
        <p:grpSpPr>
          <a:xfrm>
            <a:off x="6667500" y="1047750"/>
            <a:ext cx="2857500" cy="1524000"/>
            <a:chOff x="6667500" y="1047750"/>
            <a:chExt cx="2857500" cy="1524000"/>
          </a:xfrm>
        </p:grpSpPr>
        <p:sp>
          <p:nvSpPr>
            <p:cNvPr id="18" name="吹き出し08_声"/>
            <p:cNvSpPr/>
            <p:nvPr/>
          </p:nvSpPr>
          <p:spPr>
            <a:xfrm>
              <a:off x="6667500" y="1047750"/>
              <a:ext cx="2857500" cy="1162050"/>
            </a:xfrm>
            <a:custGeom>
              <a:avLst/>
              <a:gdLst/>
              <a:ahLst/>
              <a:cxnLst/>
              <a:rect l="0" t="0" r="2857500" b="990600"/>
              <a:pathLst>
                <a:path w="2857500" h="1162050">
                  <a:moveTo>
                    <a:pt x="76200" y="0"/>
                  </a:moveTo>
                  <a:lnTo>
                    <a:pt x="2781300" y="0"/>
                  </a:lnTo>
                  <a:arcTo wR="76200" hR="76200" stAng="16200000" swAng="5400000"/>
                  <a:lnTo>
                    <a:pt x="2857500" y="914400"/>
                  </a:lnTo>
                  <a:arcTo wR="76200" hR="76200" stAng="0" swAng="5400000"/>
                  <a:lnTo>
                    <a:pt x="676275" y="990600"/>
                  </a:lnTo>
                  <a:lnTo>
                    <a:pt x="571500" y="1162050"/>
                  </a:lnTo>
                  <a:lnTo>
                    <a:pt x="466725" y="990600"/>
                  </a:lnTo>
                  <a:lnTo>
                    <a:pt x="76200" y="9906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00850" y="1047750"/>
              <a:ext cx="2590800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月曜の資料作りが、正直言って楽しみになりました</a:t>
              </a:r>
            </a:p>
          </p:txBody>
        </p:sp>
        <p:sp>
          <p:nvSpPr>
            <p:cNvPr id="20" name="頭文字"/>
            <p:cNvSpPr/>
            <p:nvPr/>
          </p:nvSpPr>
          <p:spPr>
            <a:xfrm>
              <a:off x="6743700" y="228600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743700" y="22955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S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24700" y="2295525"/>
              <a:ext cx="2286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佐藤様｜営業企画（38）</a:t>
              </a:r>
            </a:p>
          </p:txBody>
        </p:sp>
      </p:grpSp>
      <p:grpSp>
        <p:nvGrpSpPr>
          <p:cNvPr id="23" name="使用例_引用"/>
          <p:cNvGrpSpPr/>
          <p:nvPr/>
        </p:nvGrpSpPr>
        <p:grpSpPr>
          <a:xfrm>
            <a:off x="6667500" y="2857500"/>
            <a:ext cx="3981450" cy="800100"/>
            <a:chOff x="6667500" y="2857500"/>
            <a:chExt cx="3981450" cy="800100"/>
          </a:xfrm>
        </p:grpSpPr>
        <p:sp>
          <p:nvSpPr>
            <p:cNvPr id="24" name="引用バー"/>
            <p:cNvSpPr/>
            <p:nvPr/>
          </p:nvSpPr>
          <p:spPr>
            <a:xfrm>
              <a:off x="6667500" y="2857500"/>
              <a:ext cx="381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38950" y="2895600"/>
              <a:ext cx="3810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判断材料は、数字だけではない。</a:t>
              </a:r>
            </a:p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現場の言葉が、最後のひと押しになる。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38950" y="3448050"/>
              <a:ext cx="3619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— 導入企業インタビューより</a:t>
              </a:r>
            </a:p>
          </p:txBody>
        </p:sp>
      </p:grpSp>
      <p:grpSp>
        <p:nvGrpSpPr>
          <p:cNvPr id="27" name="使用例_濃色デモ"/>
          <p:cNvGrpSpPr/>
          <p:nvPr/>
        </p:nvGrpSpPr>
        <p:grpSpPr>
          <a:xfrm>
            <a:off x="6667500" y="4095750"/>
            <a:ext cx="4381500" cy="1143000"/>
            <a:chOff x="6667500" y="4095750"/>
            <a:chExt cx="4381500" cy="1143000"/>
          </a:xfrm>
        </p:grpSpPr>
        <p:sp>
          <p:nvSpPr>
            <p:cNvPr id="28" name="濃色パネル"/>
            <p:cNvSpPr/>
            <p:nvPr/>
          </p:nvSpPr>
          <p:spPr>
            <a:xfrm>
              <a:off x="6667500" y="4095750"/>
              <a:ext cx="4381500" cy="1143000"/>
            </a:xfrm>
            <a:prstGeom prst="roundRect">
              <a:avLst>
                <a:gd name="adj" fmla="val 8333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吹き出し_白線"/>
            <p:cNvSpPr/>
            <p:nvPr/>
          </p:nvSpPr>
          <p:spPr>
            <a:xfrm>
              <a:off x="6896100" y="4305300"/>
              <a:ext cx="2095500" cy="666750"/>
            </a:xfrm>
            <a:custGeom>
              <a:avLst/>
              <a:gdLst/>
              <a:ahLst/>
              <a:cxnLst/>
              <a:rect l="0" t="0" r="2095500" b="533400"/>
              <a:pathLst>
                <a:path w="2095500" h="666750">
                  <a:moveTo>
                    <a:pt x="76200" y="0"/>
                  </a:moveTo>
                  <a:lnTo>
                    <a:pt x="2019300" y="0"/>
                  </a:lnTo>
                  <a:arcTo wR="76200" hR="76200" stAng="16200000" swAng="5400000"/>
                  <a:lnTo>
                    <a:pt x="2095500" y="457200"/>
                  </a:lnTo>
                  <a:arcTo wR="76200" hR="76200" stAng="0" swAng="5400000"/>
                  <a:lnTo>
                    <a:pt x="733425" y="533400"/>
                  </a:lnTo>
                  <a:lnTo>
                    <a:pt x="628650" y="666750"/>
                  </a:lnTo>
                  <a:lnTo>
                    <a:pt x="523875" y="533400"/>
                  </a:lnTo>
                  <a:lnTo>
                    <a:pt x="76200" y="5334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noFill/>
            <a:ln w="14287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029450" y="4305300"/>
              <a:ext cx="18288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濃色の上でも破綻しません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163050" y="4381500"/>
              <a:ext cx="17526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輪郭が尻尾まで一筆書きの一体型図形です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パーツ図鑑｜① 吹き出し — 組み込み例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パーツ図鑑｜② 線・矢印 — 基本7種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矢じり・線幅は1.5ptで統一。配色はテーマに追従します</a:t>
            </a:r>
          </a:p>
        </p:txBody>
      </p:sp>
      <p:grpSp>
        <p:nvGrpSpPr>
          <p:cNvPr id="5" name="矢印01_シェブロン3連"/>
          <p:cNvGrpSpPr/>
          <p:nvPr/>
        </p:nvGrpSpPr>
        <p:grpSpPr>
          <a:xfrm>
            <a:off x="647700" y="1781175"/>
            <a:ext cx="5067300" cy="609600"/>
            <a:chOff x="647700" y="1781175"/>
            <a:chExt cx="5067300" cy="609600"/>
          </a:xfrm>
        </p:grpSpPr>
        <p:sp>
          <p:nvSpPr>
            <p:cNvPr id="6" name="シェブロン段1"/>
            <p:cNvSpPr/>
            <p:nvPr/>
          </p:nvSpPr>
          <p:spPr>
            <a:xfrm>
              <a:off x="647700" y="1781175"/>
              <a:ext cx="1676400" cy="609600"/>
            </a:xfrm>
            <a:prstGeom prst="homePlate">
              <a:avLst>
                <a:gd name="adj" fmla="val 46875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2950" y="1781175"/>
              <a:ext cx="12382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2"/>
                  </a:solidFill>
                </a:rPr>
                <a:t>テキスト</a:t>
              </a:r>
            </a:p>
          </p:txBody>
        </p:sp>
        <p:sp>
          <p:nvSpPr>
            <p:cNvPr id="8" name="シェブロン段2"/>
            <p:cNvSpPr/>
            <p:nvPr/>
          </p:nvSpPr>
          <p:spPr>
            <a:xfrm>
              <a:off x="2343150" y="1781175"/>
              <a:ext cx="1676400" cy="609600"/>
            </a:xfrm>
            <a:prstGeom prst="chevron">
              <a:avLst>
                <a:gd name="adj" fmla="val 46875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686050" y="1781175"/>
              <a:ext cx="9906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10" name="シェブロン段3"/>
            <p:cNvSpPr/>
            <p:nvPr/>
          </p:nvSpPr>
          <p:spPr>
            <a:xfrm>
              <a:off x="4038600" y="1781175"/>
              <a:ext cx="1676400" cy="609600"/>
            </a:xfrm>
            <a:prstGeom prst="chevron">
              <a:avLst>
                <a:gd name="adj" fmla="val 4687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381500" y="1781175"/>
              <a:ext cx="9906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テキスト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905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プロセス・シェブロン3連</a:t>
            </a:r>
          </a:p>
        </p:txBody>
      </p:sp>
      <p:grpSp>
        <p:nvGrpSpPr>
          <p:cNvPr id="13" name="矢印02_太ブロック右"/>
          <p:cNvGrpSpPr/>
          <p:nvPr/>
        </p:nvGrpSpPr>
        <p:grpSpPr>
          <a:xfrm>
            <a:off x="6410325" y="1762125"/>
            <a:ext cx="1428750" cy="571500"/>
            <a:chOff x="6410325" y="1762125"/>
            <a:chExt cx="1428750" cy="571500"/>
          </a:xfrm>
        </p:grpSpPr>
        <p:sp>
          <p:nvSpPr>
            <p:cNvPr id="14" name="太矢印右"/>
            <p:cNvSpPr/>
            <p:nvPr/>
          </p:nvSpPr>
          <p:spPr>
            <a:xfrm>
              <a:off x="6410325" y="1762125"/>
              <a:ext cx="1428750" cy="5715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矢印02_太ブロック下"/>
          <p:cNvGrpSpPr/>
          <p:nvPr/>
        </p:nvGrpSpPr>
        <p:grpSpPr>
          <a:xfrm>
            <a:off x="8029575" y="1476375"/>
            <a:ext cx="571500" cy="1238250"/>
            <a:chOff x="8029575" y="1476375"/>
            <a:chExt cx="571500" cy="1238250"/>
          </a:xfrm>
        </p:grpSpPr>
        <p:sp>
          <p:nvSpPr>
            <p:cNvPr id="16" name="太矢印下"/>
            <p:cNvSpPr/>
            <p:nvPr/>
          </p:nvSpPr>
          <p:spPr>
            <a:xfrm>
              <a:off x="8029575" y="1476375"/>
              <a:ext cx="571500" cy="1238250"/>
            </a:xfrm>
            <a:prstGeom prst="down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太ブロック矢印（右・下）</a:t>
            </a:r>
          </a:p>
        </p:txBody>
      </p:sp>
      <p:grpSp>
        <p:nvGrpSpPr>
          <p:cNvPr id="18" name="矢印03_細線"/>
          <p:cNvGrpSpPr/>
          <p:nvPr/>
        </p:nvGrpSpPr>
        <p:grpSpPr>
          <a:xfrm>
            <a:off x="9420225" y="2047875"/>
            <a:ext cx="2095500" cy="19050"/>
            <a:chOff x="9420225" y="2047875"/>
            <a:chExt cx="2095500" cy="19050"/>
          </a:xfrm>
        </p:grpSpPr>
        <p:cxnSp>
          <p:nvCxnSpPr>
            <p:cNvPr id="19" name="細線矢印"/>
            <p:cNvCxnSpPr/>
            <p:nvPr/>
          </p:nvCxnSpPr>
          <p:spPr>
            <a:xfrm>
              <a:off x="9420225" y="2047875"/>
              <a:ext cx="209550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細線矢印（実線）</a:t>
            </a:r>
          </a:p>
        </p:txBody>
      </p:sp>
      <p:grpSp>
        <p:nvGrpSpPr>
          <p:cNvPr id="21" name="矢印04_点線"/>
          <p:cNvGrpSpPr/>
          <p:nvPr/>
        </p:nvGrpSpPr>
        <p:grpSpPr>
          <a:xfrm>
            <a:off x="676275" y="4705350"/>
            <a:ext cx="2095500" cy="276225"/>
            <a:chOff x="676275" y="4705350"/>
            <a:chExt cx="2095500" cy="276225"/>
          </a:xfrm>
        </p:grpSpPr>
        <p:sp>
          <p:nvSpPr>
            <p:cNvPr id="22" name="意味注記"/>
            <p:cNvSpPr/>
            <p:nvPr/>
          </p:nvSpPr>
          <p:spPr>
            <a:xfrm>
              <a:off x="676275" y="47053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予測・弱い関係</a:t>
              </a:r>
            </a:p>
          </p:txBody>
        </p:sp>
        <p:cxnSp>
          <p:nvCxnSpPr>
            <p:cNvPr id="23" name="点線矢印"/>
            <p:cNvCxnSpPr/>
            <p:nvPr/>
          </p:nvCxnSpPr>
          <p:spPr>
            <a:xfrm>
              <a:off x="676275" y="4981575"/>
              <a:ext cx="2095500" cy="0"/>
            </a:xfrm>
            <a:prstGeom prst="line">
              <a:avLst/>
            </a:prstGeom>
            <a:ln w="14287">
              <a:solidFill>
                <a:schemeClr val="accent1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点線矢印（予測・弱い関係）</a:t>
            </a:r>
          </a:p>
        </p:txBody>
      </p:sp>
      <p:grpSp>
        <p:nvGrpSpPr>
          <p:cNvPr id="25" name="矢印05_双方向"/>
          <p:cNvGrpSpPr/>
          <p:nvPr/>
        </p:nvGrpSpPr>
        <p:grpSpPr>
          <a:xfrm>
            <a:off x="3590925" y="4981575"/>
            <a:ext cx="2095500" cy="19050"/>
            <a:chOff x="3590925" y="4981575"/>
            <a:chExt cx="2095500" cy="19050"/>
          </a:xfrm>
        </p:grpSpPr>
        <p:cxnSp>
          <p:nvCxnSpPr>
            <p:cNvPr id="26" name="双方向矢印"/>
            <p:cNvCxnSpPr/>
            <p:nvPr/>
          </p:nvCxnSpPr>
          <p:spPr>
            <a:xfrm>
              <a:off x="3590925" y="4981575"/>
              <a:ext cx="2095500" cy="0"/>
            </a:xfrm>
            <a:prstGeom prst="line">
              <a:avLst/>
            </a:prstGeom>
            <a:ln w="14287">
              <a:solidFill>
                <a:schemeClr val="accent1"/>
              </a:solidFill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双方向矢印（対立・トレードオフ）</a:t>
            </a:r>
          </a:p>
        </p:txBody>
      </p:sp>
      <p:grpSp>
        <p:nvGrpSpPr>
          <p:cNvPr id="28" name="矢印06_L字コネクタ"/>
          <p:cNvGrpSpPr/>
          <p:nvPr/>
        </p:nvGrpSpPr>
        <p:grpSpPr>
          <a:xfrm>
            <a:off x="6886575" y="4314825"/>
            <a:ext cx="1619250" cy="1047750"/>
            <a:chOff x="6886575" y="4314825"/>
            <a:chExt cx="1619250" cy="1047750"/>
          </a:xfrm>
        </p:grpSpPr>
        <p:cxnSp>
          <p:nvCxnSpPr>
            <p:cNvPr id="29" name="縦線"/>
            <p:cNvCxnSpPr/>
            <p:nvPr/>
          </p:nvCxnSpPr>
          <p:spPr>
            <a:xfrm>
              <a:off x="6886575" y="4314825"/>
              <a:ext cx="0" cy="104775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横線矢印"/>
            <p:cNvCxnSpPr/>
            <p:nvPr/>
          </p:nvCxnSpPr>
          <p:spPr>
            <a:xfrm>
              <a:off x="6886575" y="5362575"/>
              <a:ext cx="16192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L字コネクタ（迂回・戻り線）</a:t>
            </a:r>
          </a:p>
        </p:txBody>
      </p:sp>
      <p:grpSp>
        <p:nvGrpSpPr>
          <p:cNvPr id="32" name="矢印08_合流"/>
          <p:cNvGrpSpPr/>
          <p:nvPr/>
        </p:nvGrpSpPr>
        <p:grpSpPr>
          <a:xfrm>
            <a:off x="9467850" y="4505325"/>
            <a:ext cx="1981200" cy="952500"/>
            <a:chOff x="9467850" y="4505325"/>
            <a:chExt cx="1981200" cy="952500"/>
          </a:xfrm>
        </p:grpSpPr>
        <p:cxnSp>
          <p:nvCxnSpPr>
            <p:cNvPr id="33" name="合流線上"/>
            <p:cNvCxnSpPr/>
            <p:nvPr/>
          </p:nvCxnSpPr>
          <p:spPr>
            <a:xfrm>
              <a:off x="9467850" y="4505325"/>
              <a:ext cx="952500" cy="47625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合流線下"/>
            <p:cNvCxnSpPr/>
            <p:nvPr/>
          </p:nvCxnSpPr>
          <p:spPr>
            <a:xfrm flipV="1">
              <a:off x="9467850" y="4981575"/>
              <a:ext cx="952500" cy="47625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合流太矢印"/>
            <p:cNvSpPr/>
            <p:nvPr/>
          </p:nvSpPr>
          <p:spPr>
            <a:xfrm>
              <a:off x="10448925" y="4772025"/>
              <a:ext cx="1000125" cy="4191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Rectangle 35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合流矢印（2→1）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パーツ図鑑｜② 線・矢印 — 応用5種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</a:t>
            </a:r>
          </a:p>
        </p:txBody>
      </p:sp>
      <p:grpSp>
        <p:nvGrpSpPr>
          <p:cNvPr id="5" name="矢印07_循環"/>
          <p:cNvGrpSpPr/>
          <p:nvPr/>
        </p:nvGrpSpPr>
        <p:grpSpPr>
          <a:xfrm>
            <a:off x="914400" y="1114425"/>
            <a:ext cx="1619250" cy="1619250"/>
            <a:chOff x="914400" y="1114425"/>
            <a:chExt cx="1619250" cy="1619250"/>
          </a:xfrm>
        </p:grpSpPr>
        <p:sp>
          <p:nvSpPr>
            <p:cNvPr id="6" name="循環弧1"/>
            <p:cNvSpPr/>
            <p:nvPr/>
          </p:nvSpPr>
          <p:spPr>
            <a:xfrm>
              <a:off x="914400" y="1114425"/>
              <a:ext cx="1619250" cy="1619250"/>
            </a:xfrm>
            <a:prstGeom prst="blockArc">
              <a:avLst>
                <a:gd name="adj1" fmla="val 600000"/>
                <a:gd name="adj2" fmla="val 4800000"/>
                <a:gd name="adj3" fmla="val 14117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循環弧2"/>
            <p:cNvSpPr/>
            <p:nvPr/>
          </p:nvSpPr>
          <p:spPr>
            <a:xfrm>
              <a:off x="914400" y="1114425"/>
              <a:ext cx="1619250" cy="1619250"/>
            </a:xfrm>
            <a:prstGeom prst="blockArc">
              <a:avLst>
                <a:gd name="adj1" fmla="val 6000000"/>
                <a:gd name="adj2" fmla="val 10200000"/>
                <a:gd name="adj3" fmla="val 14117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循環弧3"/>
            <p:cNvSpPr/>
            <p:nvPr/>
          </p:nvSpPr>
          <p:spPr>
            <a:xfrm>
              <a:off x="914400" y="1114425"/>
              <a:ext cx="1619250" cy="1619250"/>
            </a:xfrm>
            <a:prstGeom prst="blockArc">
              <a:avLst>
                <a:gd name="adj1" fmla="val 11400000"/>
                <a:gd name="adj2" fmla="val 15600000"/>
                <a:gd name="adj3" fmla="val 14117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循環弧4"/>
            <p:cNvSpPr/>
            <p:nvPr/>
          </p:nvSpPr>
          <p:spPr>
            <a:xfrm>
              <a:off x="914400" y="1114425"/>
              <a:ext cx="1619250" cy="1619250"/>
            </a:xfrm>
            <a:prstGeom prst="blockArc">
              <a:avLst>
                <a:gd name="adj1" fmla="val 16800000"/>
                <a:gd name="adj2" fmla="val 21000000"/>
                <a:gd name="adj3" fmla="val 14117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矢じり下"/>
            <p:cNvSpPr/>
            <p:nvPr/>
          </p:nvSpPr>
          <p:spPr>
            <a:xfrm rot="16200000">
              <a:off x="1647825" y="2543175"/>
              <a:ext cx="152400" cy="1524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矢じり左"/>
            <p:cNvSpPr/>
            <p:nvPr/>
          </p:nvSpPr>
          <p:spPr>
            <a:xfrm>
              <a:off x="952500" y="1847850"/>
              <a:ext cx="152400" cy="1524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矢じり上"/>
            <p:cNvSpPr/>
            <p:nvPr/>
          </p:nvSpPr>
          <p:spPr>
            <a:xfrm rot="5400000">
              <a:off x="1647825" y="1152525"/>
              <a:ext cx="152400" cy="1524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矢じり右"/>
            <p:cNvSpPr/>
            <p:nvPr/>
          </p:nvSpPr>
          <p:spPr>
            <a:xfrm rot="10800000">
              <a:off x="2343150" y="1847850"/>
              <a:ext cx="152400" cy="1524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中心円"/>
            <p:cNvSpPr/>
            <p:nvPr/>
          </p:nvSpPr>
          <p:spPr>
            <a:xfrm>
              <a:off x="1362075" y="1562100"/>
              <a:ext cx="723900" cy="723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62075" y="1562100"/>
              <a:ext cx="7239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テーマ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循環矢印（4要素）</a:t>
            </a:r>
          </a:p>
        </p:txBody>
      </p:sp>
      <p:grpSp>
        <p:nvGrpSpPr>
          <p:cNvPr id="17" name="矢印09_分岐"/>
          <p:cNvGrpSpPr/>
          <p:nvPr/>
        </p:nvGrpSpPr>
        <p:grpSpPr>
          <a:xfrm>
            <a:off x="3590925" y="1428750"/>
            <a:ext cx="1885950" cy="990600"/>
            <a:chOff x="3590925" y="1428750"/>
            <a:chExt cx="1885950" cy="990600"/>
          </a:xfrm>
        </p:grpSpPr>
        <p:sp>
          <p:nvSpPr>
            <p:cNvPr id="18" name="起点"/>
            <p:cNvSpPr/>
            <p:nvPr/>
          </p:nvSpPr>
          <p:spPr>
            <a:xfrm>
              <a:off x="3590925" y="18764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分岐線1"/>
            <p:cNvCxnSpPr/>
            <p:nvPr/>
          </p:nvCxnSpPr>
          <p:spPr>
            <a:xfrm flipV="1">
              <a:off x="3638550" y="1428750"/>
              <a:ext cx="1838325" cy="4953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分岐線2"/>
            <p:cNvCxnSpPr/>
            <p:nvPr/>
          </p:nvCxnSpPr>
          <p:spPr>
            <a:xfrm>
              <a:off x="3638550" y="1924050"/>
              <a:ext cx="1838325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分岐線3"/>
            <p:cNvCxnSpPr/>
            <p:nvPr/>
          </p:nvCxnSpPr>
          <p:spPr>
            <a:xfrm>
              <a:off x="3638550" y="1924050"/>
              <a:ext cx="1838325" cy="4953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分岐矢印（1→3）</a:t>
            </a:r>
          </a:p>
        </p:txBody>
      </p:sp>
      <p:grpSp>
        <p:nvGrpSpPr>
          <p:cNvPr id="23" name="矢印10_BeforeAfter"/>
          <p:cNvGrpSpPr/>
          <p:nvPr/>
        </p:nvGrpSpPr>
        <p:grpSpPr>
          <a:xfrm>
            <a:off x="6505575" y="1400175"/>
            <a:ext cx="5010150" cy="1028700"/>
            <a:chOff x="6505575" y="1400175"/>
            <a:chExt cx="5010150" cy="1028700"/>
          </a:xfrm>
        </p:grpSpPr>
        <p:sp>
          <p:nvSpPr>
            <p:cNvPr id="24" name="Before箱"/>
            <p:cNvSpPr/>
            <p:nvPr/>
          </p:nvSpPr>
          <p:spPr>
            <a:xfrm>
              <a:off x="6505575" y="1571625"/>
              <a:ext cx="1428750" cy="857250"/>
            </a:xfrm>
            <a:prstGeom prst="roundRect">
              <a:avLst>
                <a:gd name="adj" fmla="val 88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505575" y="1704975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5575" y="1933575"/>
              <a:ext cx="1428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12時間/週</a:t>
              </a:r>
            </a:p>
          </p:txBody>
        </p:sp>
        <p:sp>
          <p:nvSpPr>
            <p:cNvPr id="27" name="効果太矢印"/>
            <p:cNvSpPr/>
            <p:nvPr/>
          </p:nvSpPr>
          <p:spPr>
            <a:xfrm>
              <a:off x="8086725" y="1762125"/>
              <a:ext cx="1847850" cy="47625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効果タグ（朱）"/>
            <p:cNvSpPr/>
            <p:nvPr/>
          </p:nvSpPr>
          <p:spPr>
            <a:xfrm>
              <a:off x="8582025" y="1400175"/>
              <a:ext cx="8572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82025" y="1409700"/>
              <a:ext cx="857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−60%</a:t>
              </a:r>
            </a:p>
          </p:txBody>
        </p:sp>
        <p:sp>
          <p:nvSpPr>
            <p:cNvPr id="30" name="After箱"/>
            <p:cNvSpPr/>
            <p:nvPr/>
          </p:nvSpPr>
          <p:spPr>
            <a:xfrm>
              <a:off x="10086975" y="1571625"/>
              <a:ext cx="1428750" cy="857250"/>
            </a:xfrm>
            <a:prstGeom prst="roundRect">
              <a:avLst>
                <a:gd name="adj" fmla="val 888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86975" y="1704975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After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086975" y="1933575"/>
              <a:ext cx="1428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4.8時間/週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2198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Before→After太矢印（効果ラベル・朱は1点まで）</a:t>
            </a:r>
          </a:p>
        </p:txBody>
      </p:sp>
      <p:grpSp>
        <p:nvGrpSpPr>
          <p:cNvPr id="34" name="矢印11_ステップ"/>
          <p:cNvGrpSpPr/>
          <p:nvPr/>
        </p:nvGrpSpPr>
        <p:grpSpPr>
          <a:xfrm>
            <a:off x="647700" y="4476750"/>
            <a:ext cx="5067300" cy="838200"/>
            <a:chOff x="647700" y="4476750"/>
            <a:chExt cx="5067300" cy="838200"/>
          </a:xfrm>
        </p:grpSpPr>
        <p:sp>
          <p:nvSpPr>
            <p:cNvPr id="35" name="ステップ段1"/>
            <p:cNvSpPr/>
            <p:nvPr/>
          </p:nvSpPr>
          <p:spPr>
            <a:xfrm>
              <a:off x="647700" y="4476750"/>
              <a:ext cx="1676400" cy="533400"/>
            </a:xfrm>
            <a:prstGeom prst="homePlate">
              <a:avLst>
                <a:gd name="adj" fmla="val 46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丸数字1"/>
            <p:cNvSpPr/>
            <p:nvPr/>
          </p:nvSpPr>
          <p:spPr>
            <a:xfrm>
              <a:off x="971550" y="460057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71550" y="461010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314450" y="4476750"/>
              <a:ext cx="762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47700" y="5162550"/>
              <a:ext cx="167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補足説明ラベル</a:t>
              </a:r>
            </a:p>
          </p:txBody>
        </p:sp>
        <p:sp>
          <p:nvSpPr>
            <p:cNvPr id="40" name="ステップ段2"/>
            <p:cNvSpPr/>
            <p:nvPr/>
          </p:nvSpPr>
          <p:spPr>
            <a:xfrm>
              <a:off x="2343150" y="4476750"/>
              <a:ext cx="1676400" cy="533400"/>
            </a:xfrm>
            <a:prstGeom prst="chevron">
              <a:avLst>
                <a:gd name="adj" fmla="val 46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丸数字2"/>
            <p:cNvSpPr/>
            <p:nvPr/>
          </p:nvSpPr>
          <p:spPr>
            <a:xfrm>
              <a:off x="2667000" y="460057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667000" y="461010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009900" y="4476750"/>
              <a:ext cx="762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343150" y="5162550"/>
              <a:ext cx="167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補足説明ラベル</a:t>
              </a:r>
            </a:p>
          </p:txBody>
        </p:sp>
        <p:sp>
          <p:nvSpPr>
            <p:cNvPr id="45" name="ステップ段3"/>
            <p:cNvSpPr/>
            <p:nvPr/>
          </p:nvSpPr>
          <p:spPr>
            <a:xfrm>
              <a:off x="4038600" y="4476750"/>
              <a:ext cx="1676400" cy="533400"/>
            </a:xfrm>
            <a:prstGeom prst="chevron">
              <a:avLst>
                <a:gd name="adj" fmla="val 46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丸数字3"/>
            <p:cNvSpPr/>
            <p:nvPr/>
          </p:nvSpPr>
          <p:spPr>
            <a:xfrm>
              <a:off x="4362450" y="460057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62450" y="461010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705350" y="4476750"/>
              <a:ext cx="762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テキスト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038600" y="5162550"/>
              <a:ext cx="167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補足説明ラベル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11 ステップ矢印（番号内蔵）</a:t>
            </a:r>
          </a:p>
        </p:txBody>
      </p:sp>
      <p:grpSp>
        <p:nvGrpSpPr>
          <p:cNvPr id="51" name="矢印12_タイムライン軸"/>
          <p:cNvGrpSpPr/>
          <p:nvPr/>
        </p:nvGrpSpPr>
        <p:grpSpPr>
          <a:xfrm>
            <a:off x="6457950" y="4667250"/>
            <a:ext cx="5048250" cy="476250"/>
            <a:chOff x="6457950" y="4667250"/>
            <a:chExt cx="5048250" cy="476250"/>
          </a:xfrm>
        </p:grpSpPr>
        <p:cxnSp>
          <p:nvCxnSpPr>
            <p:cNvPr id="52" name="時間軸"/>
            <p:cNvCxnSpPr/>
            <p:nvPr/>
          </p:nvCxnSpPr>
          <p:spPr>
            <a:xfrm>
              <a:off x="6457950" y="5076825"/>
              <a:ext cx="50482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目盛1"/>
            <p:cNvCxnSpPr/>
            <p:nvPr/>
          </p:nvCxnSpPr>
          <p:spPr>
            <a:xfrm>
              <a:off x="6743700" y="5010150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日付チップ1"/>
            <p:cNvSpPr/>
            <p:nvPr/>
          </p:nvSpPr>
          <p:spPr>
            <a:xfrm>
              <a:off x="6524625" y="4667250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524625" y="4676775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7/1</a:t>
              </a:r>
            </a:p>
          </p:txBody>
        </p:sp>
        <p:cxnSp>
          <p:nvCxnSpPr>
            <p:cNvPr id="56" name="目盛2"/>
            <p:cNvCxnSpPr/>
            <p:nvPr/>
          </p:nvCxnSpPr>
          <p:spPr>
            <a:xfrm>
              <a:off x="7791450" y="5010150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日付チップ2"/>
            <p:cNvSpPr/>
            <p:nvPr/>
          </p:nvSpPr>
          <p:spPr>
            <a:xfrm>
              <a:off x="7572375" y="4667250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72375" y="4676775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7/8</a:t>
              </a:r>
            </a:p>
          </p:txBody>
        </p:sp>
        <p:cxnSp>
          <p:nvCxnSpPr>
            <p:cNvPr id="59" name="目盛3"/>
            <p:cNvCxnSpPr/>
            <p:nvPr/>
          </p:nvCxnSpPr>
          <p:spPr>
            <a:xfrm>
              <a:off x="8839200" y="5010150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日付チップ3"/>
            <p:cNvSpPr/>
            <p:nvPr/>
          </p:nvSpPr>
          <p:spPr>
            <a:xfrm>
              <a:off x="8620125" y="4667250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620125" y="4676775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7/15</a:t>
              </a:r>
            </a:p>
          </p:txBody>
        </p:sp>
        <p:cxnSp>
          <p:nvCxnSpPr>
            <p:cNvPr id="62" name="目盛4"/>
            <p:cNvCxnSpPr/>
            <p:nvPr/>
          </p:nvCxnSpPr>
          <p:spPr>
            <a:xfrm>
              <a:off x="9886950" y="5010150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日付チップ4"/>
            <p:cNvSpPr/>
            <p:nvPr/>
          </p:nvSpPr>
          <p:spPr>
            <a:xfrm>
              <a:off x="9667875" y="4667250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667875" y="4676775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7/22</a:t>
              </a:r>
            </a:p>
          </p:txBody>
        </p:sp>
        <p:cxnSp>
          <p:nvCxnSpPr>
            <p:cNvPr id="65" name="目盛5"/>
            <p:cNvCxnSpPr/>
            <p:nvPr/>
          </p:nvCxnSpPr>
          <p:spPr>
            <a:xfrm>
              <a:off x="10934700" y="5010150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日付チップ5"/>
            <p:cNvSpPr/>
            <p:nvPr/>
          </p:nvSpPr>
          <p:spPr>
            <a:xfrm>
              <a:off x="10715625" y="4667250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0715625" y="4676775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7/29</a:t>
              </a:r>
            </a:p>
          </p:txBody>
        </p:sp>
      </p:grpSp>
      <p:sp>
        <p:nvSpPr>
          <p:cNvPr id="68" name="Rectangle 67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12 タイムライン軸（日付チップ）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9525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資料づくりの導入は3ステップ。初月で作業時間を6割削減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導入ステップ"/>
          <p:cNvGrpSpPr/>
          <p:nvPr/>
        </p:nvGrpSpPr>
        <p:grpSpPr>
          <a:xfrm>
            <a:off x="1143000" y="1333500"/>
            <a:ext cx="8610600" cy="1143000"/>
            <a:chOff x="1143000" y="1333500"/>
            <a:chExt cx="8610600" cy="1143000"/>
          </a:xfrm>
        </p:grpSpPr>
        <p:sp>
          <p:nvSpPr>
            <p:cNvPr id="6" name="導入ステップ1"/>
            <p:cNvSpPr/>
            <p:nvPr/>
          </p:nvSpPr>
          <p:spPr>
            <a:xfrm>
              <a:off x="1143000" y="1333500"/>
              <a:ext cx="2857500" cy="666750"/>
            </a:xfrm>
            <a:prstGeom prst="homePlate">
              <a:avLst>
                <a:gd name="adj" fmla="val 4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番号1"/>
            <p:cNvSpPr/>
            <p:nvPr/>
          </p:nvSpPr>
          <p:spPr>
            <a:xfrm>
              <a:off x="1562100" y="1514475"/>
              <a:ext cx="304800" cy="30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2100" y="15240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62150" y="1333500"/>
              <a:ext cx="165735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現状の棚卸し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2152650"/>
              <a:ext cx="28575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既存資料を分類し、使い回せる型を特定</a:t>
              </a:r>
            </a:p>
          </p:txBody>
        </p:sp>
        <p:sp>
          <p:nvSpPr>
            <p:cNvPr id="11" name="導入ステップ2"/>
            <p:cNvSpPr/>
            <p:nvPr/>
          </p:nvSpPr>
          <p:spPr>
            <a:xfrm>
              <a:off x="4019550" y="1333500"/>
              <a:ext cx="2857500" cy="666750"/>
            </a:xfrm>
            <a:prstGeom prst="chevron">
              <a:avLst>
                <a:gd name="adj" fmla="val 4571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番号2"/>
            <p:cNvSpPr/>
            <p:nvPr/>
          </p:nvSpPr>
          <p:spPr>
            <a:xfrm>
              <a:off x="4438650" y="1514475"/>
              <a:ext cx="304800" cy="30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38650" y="15240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3"/>
                  </a:solidFill>
                </a:rPr>
                <a:t>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38700" y="1333500"/>
              <a:ext cx="165735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テンプレ適用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19550" y="2152650"/>
              <a:ext cx="28575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部品を差し替えて主要資料を再構成</a:t>
              </a:r>
            </a:p>
          </p:txBody>
        </p:sp>
        <p:sp>
          <p:nvSpPr>
            <p:cNvPr id="16" name="導入ステップ3"/>
            <p:cNvSpPr/>
            <p:nvPr/>
          </p:nvSpPr>
          <p:spPr>
            <a:xfrm>
              <a:off x="6896100" y="1333500"/>
              <a:ext cx="2857500" cy="666750"/>
            </a:xfrm>
            <a:prstGeom prst="chevron">
              <a:avLst>
                <a:gd name="adj" fmla="val 4571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番号3"/>
            <p:cNvSpPr/>
            <p:nvPr/>
          </p:nvSpPr>
          <p:spPr>
            <a:xfrm>
              <a:off x="7315200" y="1514475"/>
              <a:ext cx="304800" cy="304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15200" y="15240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5250" y="1333500"/>
              <a:ext cx="165735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定着レビュー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96100" y="2152650"/>
              <a:ext cx="28575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週次で微修正のみ。新規作成をやめる</a:t>
              </a:r>
            </a:p>
          </p:txBody>
        </p:sp>
      </p:grpSp>
      <p:grpSp>
        <p:nvGrpSpPr>
          <p:cNvPr id="21" name="使用例_効果矢印"/>
          <p:cNvGrpSpPr/>
          <p:nvPr/>
        </p:nvGrpSpPr>
        <p:grpSpPr>
          <a:xfrm>
            <a:off x="1524000" y="3619500"/>
            <a:ext cx="7620000" cy="1238250"/>
            <a:chOff x="1524000" y="3619500"/>
            <a:chExt cx="7620000" cy="1238250"/>
          </a:xfrm>
        </p:grpSpPr>
        <p:sp>
          <p:nvSpPr>
            <p:cNvPr id="22" name="Before箱"/>
            <p:cNvSpPr/>
            <p:nvPr/>
          </p:nvSpPr>
          <p:spPr>
            <a:xfrm>
              <a:off x="1524000" y="3810000"/>
              <a:ext cx="2381250" cy="1047750"/>
            </a:xfrm>
            <a:prstGeom prst="roundRect">
              <a:avLst>
                <a:gd name="adj" fmla="val 909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524000" y="39814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Before｜従来の資料作成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524000" y="4267200"/>
              <a:ext cx="2381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12時間/週</a:t>
              </a:r>
            </a:p>
          </p:txBody>
        </p:sp>
        <p:sp>
          <p:nvSpPr>
            <p:cNvPr id="25" name="効果太矢印"/>
            <p:cNvSpPr/>
            <p:nvPr/>
          </p:nvSpPr>
          <p:spPr>
            <a:xfrm>
              <a:off x="4286250" y="4048125"/>
              <a:ext cx="2095500" cy="5715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効果タグ（朱）"/>
            <p:cNvSpPr/>
            <p:nvPr/>
          </p:nvSpPr>
          <p:spPr>
            <a:xfrm>
              <a:off x="4876800" y="361950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76800" y="3629025"/>
              <a:ext cx="914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−60%</a:t>
              </a:r>
            </a:p>
          </p:txBody>
        </p:sp>
        <p:sp>
          <p:nvSpPr>
            <p:cNvPr id="28" name="After箱"/>
            <p:cNvSpPr/>
            <p:nvPr/>
          </p:nvSpPr>
          <p:spPr>
            <a:xfrm>
              <a:off x="6762750" y="3810000"/>
              <a:ext cx="2381250" cy="1047750"/>
            </a:xfrm>
            <a:prstGeom prst="roundRect">
              <a:avLst>
                <a:gd name="adj" fmla="val 909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62750" y="39814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4"/>
                  </a:solidFill>
                </a:rPr>
                <a:t>After｜部品の再利用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762750" y="4267200"/>
              <a:ext cx="2381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lt1"/>
                  </a:solidFill>
                </a:rPr>
                <a:t>4.8時間/週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524000" y="5086350"/>
            <a:ext cx="4762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出典：社内検証（2026年6月・対象12案件）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パーツ図鑑｜② 線・矢印 — 組み込み例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パーツ図鑑｜③ 数字・ラベル — 基本8種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275" y="1485900"/>
            <a:ext cx="2286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A</a:t>
            </a:r>
          </a:p>
        </p:txBody>
      </p:sp>
      <p:grpSp>
        <p:nvGrpSpPr>
          <p:cNvPr id="6" name="ラベル01_丸数字A_線のみ"/>
          <p:cNvGrpSpPr/>
          <p:nvPr/>
        </p:nvGrpSpPr>
        <p:grpSpPr>
          <a:xfrm>
            <a:off x="1057275" y="1485900"/>
            <a:ext cx="1295400" cy="342900"/>
            <a:chOff x="1057275" y="1485900"/>
            <a:chExt cx="1295400" cy="342900"/>
          </a:xfrm>
        </p:grpSpPr>
        <p:sp>
          <p:nvSpPr>
            <p:cNvPr id="7" name="丸数字1"/>
            <p:cNvSpPr/>
            <p:nvPr/>
          </p:nvSpPr>
          <p:spPr>
            <a:xfrm>
              <a:off x="1057275" y="14859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57275" y="1495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9" name="丸数字2"/>
            <p:cNvSpPr/>
            <p:nvPr/>
          </p:nvSpPr>
          <p:spPr>
            <a:xfrm>
              <a:off x="1533525" y="14859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33525" y="1495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11" name="丸数字3"/>
            <p:cNvSpPr/>
            <p:nvPr/>
          </p:nvSpPr>
          <p:spPr>
            <a:xfrm>
              <a:off x="2009775" y="14859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09775" y="1495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676275" y="2038350"/>
            <a:ext cx="2286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B</a:t>
            </a:r>
          </a:p>
        </p:txBody>
      </p:sp>
      <p:grpSp>
        <p:nvGrpSpPr>
          <p:cNvPr id="14" name="ラベル01_丸数字B_薄塗り"/>
          <p:cNvGrpSpPr/>
          <p:nvPr/>
        </p:nvGrpSpPr>
        <p:grpSpPr>
          <a:xfrm>
            <a:off x="1057275" y="2038350"/>
            <a:ext cx="1295400" cy="342900"/>
            <a:chOff x="1057275" y="2038350"/>
            <a:chExt cx="1295400" cy="342900"/>
          </a:xfrm>
        </p:grpSpPr>
        <p:sp>
          <p:nvSpPr>
            <p:cNvPr id="15" name="丸数字1"/>
            <p:cNvSpPr/>
            <p:nvPr/>
          </p:nvSpPr>
          <p:spPr>
            <a:xfrm>
              <a:off x="1057275" y="2038350"/>
              <a:ext cx="342900" cy="342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57275" y="20478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</a:t>
              </a:r>
            </a:p>
          </p:txBody>
        </p:sp>
        <p:sp>
          <p:nvSpPr>
            <p:cNvPr id="17" name="丸数字2"/>
            <p:cNvSpPr/>
            <p:nvPr/>
          </p:nvSpPr>
          <p:spPr>
            <a:xfrm>
              <a:off x="1533525" y="2038350"/>
              <a:ext cx="342900" cy="342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33525" y="20478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2</a:t>
              </a:r>
            </a:p>
          </p:txBody>
        </p:sp>
        <p:sp>
          <p:nvSpPr>
            <p:cNvPr id="19" name="丸数字3"/>
            <p:cNvSpPr/>
            <p:nvPr/>
          </p:nvSpPr>
          <p:spPr>
            <a:xfrm>
              <a:off x="2009775" y="2038350"/>
              <a:ext cx="342900" cy="342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009775" y="20478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3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76275" y="2590800"/>
            <a:ext cx="2286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C</a:t>
            </a:r>
          </a:p>
        </p:txBody>
      </p:sp>
      <p:grpSp>
        <p:nvGrpSpPr>
          <p:cNvPr id="22" name="ラベル01_丸数字C_濃塗り"/>
          <p:cNvGrpSpPr/>
          <p:nvPr/>
        </p:nvGrpSpPr>
        <p:grpSpPr>
          <a:xfrm>
            <a:off x="1057275" y="2590800"/>
            <a:ext cx="1295400" cy="342900"/>
            <a:chOff x="1057275" y="2590800"/>
            <a:chExt cx="1295400" cy="342900"/>
          </a:xfrm>
        </p:grpSpPr>
        <p:sp>
          <p:nvSpPr>
            <p:cNvPr id="23" name="丸数字1"/>
            <p:cNvSpPr/>
            <p:nvPr/>
          </p:nvSpPr>
          <p:spPr>
            <a:xfrm>
              <a:off x="1057275" y="25908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57275" y="26003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5" name="丸数字2"/>
            <p:cNvSpPr/>
            <p:nvPr/>
          </p:nvSpPr>
          <p:spPr>
            <a:xfrm>
              <a:off x="1533525" y="25908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533525" y="26003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7" name="丸数字3"/>
            <p:cNvSpPr/>
            <p:nvPr/>
          </p:nvSpPr>
          <p:spPr>
            <a:xfrm>
              <a:off x="2009775" y="25908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09775" y="26003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3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丸数字バッジ（A線/B薄/C濃）</a:t>
            </a:r>
          </a:p>
        </p:txBody>
      </p:sp>
      <p:grpSp>
        <p:nvGrpSpPr>
          <p:cNvPr id="30" name="ラベル02_STEPタグ_濃"/>
          <p:cNvGrpSpPr/>
          <p:nvPr/>
        </p:nvGrpSpPr>
        <p:grpSpPr>
          <a:xfrm>
            <a:off x="4181475" y="1466850"/>
            <a:ext cx="914400" cy="285750"/>
            <a:chOff x="4181475" y="1466850"/>
            <a:chExt cx="914400" cy="285750"/>
          </a:xfrm>
        </p:grpSpPr>
        <p:sp>
          <p:nvSpPr>
            <p:cNvPr id="31" name="ピル"/>
            <p:cNvSpPr/>
            <p:nvPr/>
          </p:nvSpPr>
          <p:spPr>
            <a:xfrm>
              <a:off x="4181475" y="146685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181475" y="1476375"/>
              <a:ext cx="914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STEP 01</a:t>
              </a:r>
            </a:p>
          </p:txBody>
        </p:sp>
      </p:grpSp>
      <p:grpSp>
        <p:nvGrpSpPr>
          <p:cNvPr id="33" name="ラベル02_STEPタグ_薄"/>
          <p:cNvGrpSpPr/>
          <p:nvPr/>
        </p:nvGrpSpPr>
        <p:grpSpPr>
          <a:xfrm>
            <a:off x="4181475" y="1962150"/>
            <a:ext cx="914400" cy="285750"/>
            <a:chOff x="4181475" y="1962150"/>
            <a:chExt cx="914400" cy="285750"/>
          </a:xfrm>
        </p:grpSpPr>
        <p:sp>
          <p:nvSpPr>
            <p:cNvPr id="34" name="ピル"/>
            <p:cNvSpPr/>
            <p:nvPr/>
          </p:nvSpPr>
          <p:spPr>
            <a:xfrm>
              <a:off x="4181475" y="196215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181475" y="1971675"/>
              <a:ext cx="914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STEP 02</a:t>
              </a:r>
            </a:p>
          </p:txBody>
        </p:sp>
      </p:grpSp>
      <p:grpSp>
        <p:nvGrpSpPr>
          <p:cNvPr id="36" name="ラベル02_STEPタグ_線"/>
          <p:cNvGrpSpPr/>
          <p:nvPr/>
        </p:nvGrpSpPr>
        <p:grpSpPr>
          <a:xfrm>
            <a:off x="4181475" y="2457450"/>
            <a:ext cx="914400" cy="285750"/>
            <a:chOff x="4181475" y="2457450"/>
            <a:chExt cx="914400" cy="285750"/>
          </a:xfrm>
        </p:grpSpPr>
        <p:sp>
          <p:nvSpPr>
            <p:cNvPr id="37" name="ピル"/>
            <p:cNvSpPr/>
            <p:nvPr/>
          </p:nvSpPr>
          <p:spPr>
            <a:xfrm>
              <a:off x="4181475" y="2457450"/>
              <a:ext cx="914400" cy="28575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81475" y="2466975"/>
              <a:ext cx="914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STEP 03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STEPタグ</a:t>
            </a:r>
          </a:p>
        </p:txBody>
      </p:sp>
      <p:grpSp>
        <p:nvGrpSpPr>
          <p:cNvPr id="40" name="ラベル03_Pointラベル_濃"/>
          <p:cNvGrpSpPr/>
          <p:nvPr/>
        </p:nvGrpSpPr>
        <p:grpSpPr>
          <a:xfrm>
            <a:off x="6429375" y="1657350"/>
            <a:ext cx="2266950" cy="247650"/>
            <a:chOff x="6429375" y="1657350"/>
            <a:chExt cx="2266950" cy="247650"/>
          </a:xfrm>
        </p:grpSpPr>
        <p:sp>
          <p:nvSpPr>
            <p:cNvPr id="41" name="Pointタグ"/>
            <p:cNvSpPr/>
            <p:nvPr/>
          </p:nvSpPr>
          <p:spPr>
            <a:xfrm>
              <a:off x="6429375" y="1657350"/>
              <a:ext cx="723900" cy="24765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29375" y="1666875"/>
              <a:ext cx="723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Point 01</a:t>
              </a:r>
            </a:p>
          </p:txBody>
        </p:sp>
        <p:sp>
          <p:nvSpPr>
            <p:cNvPr id="43" name="見出し"/>
            <p:cNvSpPr/>
            <p:nvPr/>
          </p:nvSpPr>
          <p:spPr>
            <a:xfrm>
              <a:off x="7267575" y="1657350"/>
              <a:ext cx="1428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見出しテキスト</a:t>
              </a:r>
            </a:p>
          </p:txBody>
        </p:sp>
      </p:grpSp>
      <p:grpSp>
        <p:nvGrpSpPr>
          <p:cNvPr id="44" name="ラベル03_Pointラベル_線"/>
          <p:cNvGrpSpPr/>
          <p:nvPr/>
        </p:nvGrpSpPr>
        <p:grpSpPr>
          <a:xfrm>
            <a:off x="6429375" y="2286000"/>
            <a:ext cx="2266950" cy="247650"/>
            <a:chOff x="6429375" y="2286000"/>
            <a:chExt cx="2266950" cy="247650"/>
          </a:xfrm>
        </p:grpSpPr>
        <p:sp>
          <p:nvSpPr>
            <p:cNvPr id="45" name="Pointタグ"/>
            <p:cNvSpPr/>
            <p:nvPr/>
          </p:nvSpPr>
          <p:spPr>
            <a:xfrm>
              <a:off x="6429375" y="2286000"/>
              <a:ext cx="723900" cy="247650"/>
            </a:xfrm>
            <a:prstGeom prst="roundRect">
              <a:avLst>
                <a:gd name="adj" fmla="val 15384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29375" y="2295525"/>
              <a:ext cx="723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Point 01</a:t>
              </a:r>
            </a:p>
          </p:txBody>
        </p:sp>
        <p:sp>
          <p:nvSpPr>
            <p:cNvPr id="47" name="見出し"/>
            <p:cNvSpPr/>
            <p:nvPr/>
          </p:nvSpPr>
          <p:spPr>
            <a:xfrm>
              <a:off x="7267575" y="2286000"/>
              <a:ext cx="1428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見出しテキスト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Pointラベル＋見出し</a:t>
            </a:r>
          </a:p>
        </p:txBody>
      </p:sp>
      <p:grpSp>
        <p:nvGrpSpPr>
          <p:cNvPr id="49" name="ラベル04_Noバッジ"/>
          <p:cNvGrpSpPr/>
          <p:nvPr/>
        </p:nvGrpSpPr>
        <p:grpSpPr>
          <a:xfrm>
            <a:off x="10182225" y="1733550"/>
            <a:ext cx="571500" cy="571500"/>
            <a:chOff x="10182225" y="1733550"/>
            <a:chExt cx="571500" cy="571500"/>
          </a:xfrm>
        </p:grpSpPr>
        <p:sp>
          <p:nvSpPr>
            <p:cNvPr id="50" name="正方形"/>
            <p:cNvSpPr/>
            <p:nvPr/>
          </p:nvSpPr>
          <p:spPr>
            <a:xfrm>
              <a:off x="10182225" y="1733550"/>
              <a:ext cx="571500" cy="57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182225" y="1819275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No.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182225" y="1962150"/>
              <a:ext cx="571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1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No.バッジ（ランキング用）</a:t>
            </a:r>
          </a:p>
        </p:txBody>
      </p:sp>
      <p:grpSp>
        <p:nvGrpSpPr>
          <p:cNvPr id="54" name="ラベル05_日付チップ"/>
          <p:cNvGrpSpPr/>
          <p:nvPr/>
        </p:nvGrpSpPr>
        <p:grpSpPr>
          <a:xfrm>
            <a:off x="657225" y="4743450"/>
            <a:ext cx="2133600" cy="495300"/>
            <a:chOff x="657225" y="4743450"/>
            <a:chExt cx="2133600" cy="495300"/>
          </a:xfrm>
        </p:grpSpPr>
        <p:sp>
          <p:nvSpPr>
            <p:cNvPr id="55" name="チップ7/15"/>
            <p:cNvSpPr/>
            <p:nvPr/>
          </p:nvSpPr>
          <p:spPr>
            <a:xfrm>
              <a:off x="657225" y="4743450"/>
              <a:ext cx="6477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57225" y="481965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7/15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57225" y="5029200"/>
              <a:ext cx="6477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水</a:t>
              </a:r>
            </a:p>
          </p:txBody>
        </p:sp>
        <p:sp>
          <p:nvSpPr>
            <p:cNvPr id="58" name="チップ7/16"/>
            <p:cNvSpPr/>
            <p:nvPr/>
          </p:nvSpPr>
          <p:spPr>
            <a:xfrm>
              <a:off x="1400175" y="4743450"/>
              <a:ext cx="6477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400175" y="481965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7/16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400175" y="5029200"/>
              <a:ext cx="6477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木</a:t>
              </a:r>
            </a:p>
          </p:txBody>
        </p:sp>
        <p:sp>
          <p:nvSpPr>
            <p:cNvPr id="61" name="チップ7/17"/>
            <p:cNvSpPr/>
            <p:nvPr/>
          </p:nvSpPr>
          <p:spPr>
            <a:xfrm>
              <a:off x="2143125" y="4743450"/>
              <a:ext cx="647700" cy="4953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43125" y="481965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7/17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43125" y="5029200"/>
              <a:ext cx="6477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金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日付チップ（スケジュール用）</a:t>
            </a:r>
          </a:p>
        </p:txBody>
      </p:sp>
      <p:grpSp>
        <p:nvGrpSpPr>
          <p:cNvPr id="65" name="ラベル06_カテゴリタグ"/>
          <p:cNvGrpSpPr/>
          <p:nvPr/>
        </p:nvGrpSpPr>
        <p:grpSpPr>
          <a:xfrm>
            <a:off x="3609975" y="4838700"/>
            <a:ext cx="2057400" cy="247650"/>
            <a:chOff x="3609975" y="4838700"/>
            <a:chExt cx="2057400" cy="247650"/>
          </a:xfrm>
        </p:grpSpPr>
        <p:sp>
          <p:nvSpPr>
            <p:cNvPr id="66" name="タグ_営業"/>
            <p:cNvSpPr/>
            <p:nvPr/>
          </p:nvSpPr>
          <p:spPr>
            <a:xfrm>
              <a:off x="3609975" y="48387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609975" y="4848225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営業</a:t>
              </a:r>
            </a:p>
          </p:txBody>
        </p:sp>
        <p:sp>
          <p:nvSpPr>
            <p:cNvPr id="68" name="タグ_開発"/>
            <p:cNvSpPr/>
            <p:nvPr/>
          </p:nvSpPr>
          <p:spPr>
            <a:xfrm>
              <a:off x="4333875" y="48387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333875" y="4848225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開発</a:t>
              </a:r>
            </a:p>
          </p:txBody>
        </p:sp>
        <p:sp>
          <p:nvSpPr>
            <p:cNvPr id="70" name="タグ_人事"/>
            <p:cNvSpPr/>
            <p:nvPr/>
          </p:nvSpPr>
          <p:spPr>
            <a:xfrm>
              <a:off x="5057775" y="48387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057775" y="4848225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2"/>
                  </a:solidFill>
                </a:rPr>
                <a:t>人事</a:t>
              </a:r>
            </a:p>
          </p:txBody>
        </p:sp>
      </p:grpSp>
      <p:sp>
        <p:nvSpPr>
          <p:cNvPr id="72" name="Rectangle 71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カテゴリタグ</a:t>
            </a:r>
          </a:p>
        </p:txBody>
      </p:sp>
      <p:grpSp>
        <p:nvGrpSpPr>
          <p:cNvPr id="73" name="ラベル07_重要フラグ_塗り"/>
          <p:cNvGrpSpPr/>
          <p:nvPr/>
        </p:nvGrpSpPr>
        <p:grpSpPr>
          <a:xfrm>
            <a:off x="6772275" y="4705350"/>
            <a:ext cx="609600" cy="247650"/>
            <a:chOff x="6772275" y="4705350"/>
            <a:chExt cx="609600" cy="247650"/>
          </a:xfrm>
        </p:grpSpPr>
        <p:sp>
          <p:nvSpPr>
            <p:cNvPr id="74" name="小旗_必須"/>
            <p:cNvSpPr/>
            <p:nvPr/>
          </p:nvSpPr>
          <p:spPr>
            <a:xfrm>
              <a:off x="6772275" y="4705350"/>
              <a:ext cx="609600" cy="247650"/>
            </a:xfrm>
            <a:custGeom>
              <a:avLst/>
              <a:gdLst/>
              <a:ahLst/>
              <a:cxnLst/>
              <a:rect l="0" t="0" r="504825" b="247650"/>
              <a:pathLst>
                <a:path w="609600" h="247650">
                  <a:moveTo>
                    <a:pt x="0" y="0"/>
                  </a:moveTo>
                  <a:lnTo>
                    <a:pt x="504825" y="0"/>
                  </a:lnTo>
                  <a:lnTo>
                    <a:pt x="609600" y="123825"/>
                  </a:lnTo>
                  <a:lnTo>
                    <a:pt x="504825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772275" y="4714875"/>
              <a:ext cx="5048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必須</a:t>
              </a:r>
            </a:p>
          </p:txBody>
        </p:sp>
      </p:grpSp>
      <p:grpSp>
        <p:nvGrpSpPr>
          <p:cNvPr id="76" name="ラベル07_重要フラグ_線"/>
          <p:cNvGrpSpPr/>
          <p:nvPr/>
        </p:nvGrpSpPr>
        <p:grpSpPr>
          <a:xfrm>
            <a:off x="7648575" y="4705350"/>
            <a:ext cx="609600" cy="247650"/>
            <a:chOff x="7648575" y="4705350"/>
            <a:chExt cx="609600" cy="247650"/>
          </a:xfrm>
        </p:grpSpPr>
        <p:sp>
          <p:nvSpPr>
            <p:cNvPr id="77" name="小旗_NEW"/>
            <p:cNvSpPr/>
            <p:nvPr/>
          </p:nvSpPr>
          <p:spPr>
            <a:xfrm>
              <a:off x="7648575" y="4705350"/>
              <a:ext cx="609600" cy="247650"/>
            </a:xfrm>
            <a:custGeom>
              <a:avLst/>
              <a:gdLst/>
              <a:ahLst/>
              <a:cxnLst/>
              <a:rect l="0" t="0" r="504825" b="247650"/>
              <a:pathLst>
                <a:path w="609600" h="247650">
                  <a:moveTo>
                    <a:pt x="0" y="0"/>
                  </a:moveTo>
                  <a:lnTo>
                    <a:pt x="504825" y="0"/>
                  </a:lnTo>
                  <a:lnTo>
                    <a:pt x="609600" y="123825"/>
                  </a:lnTo>
                  <a:lnTo>
                    <a:pt x="504825" y="247650"/>
                  </a:lnTo>
                  <a:lnTo>
                    <a:pt x="0" y="247650"/>
                  </a:lnTo>
                  <a:close/>
                </a:path>
              </a:pathLst>
            </a:custGeom>
            <a:noFill/>
            <a:ln w="14287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648575" y="4714875"/>
              <a:ext cx="5048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2"/>
                  </a:solidFill>
                </a:rPr>
                <a:t>NEW</a:t>
              </a:r>
            </a:p>
          </p:txBody>
        </p:sp>
      </p:grpSp>
      <p:sp>
        <p:nvSpPr>
          <p:cNvPr id="79" name="Rectangle 78"/>
          <p:cNvSpPr/>
          <p:nvPr/>
        </p:nvSpPr>
        <p:spPr>
          <a:xfrm>
            <a:off x="6410325" y="5181600"/>
            <a:ext cx="228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※朱は1枚のスライドに1点だけ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重要フラグ（朱＝1スライド1点）</a:t>
            </a:r>
          </a:p>
        </p:txBody>
      </p:sp>
      <p:grpSp>
        <p:nvGrpSpPr>
          <p:cNvPr id="81" name="ラベル08_ステータスピル"/>
          <p:cNvGrpSpPr/>
          <p:nvPr/>
        </p:nvGrpSpPr>
        <p:grpSpPr>
          <a:xfrm>
            <a:off x="9477375" y="4381500"/>
            <a:ext cx="876300" cy="1257300"/>
            <a:chOff x="9477375" y="4381500"/>
            <a:chExt cx="876300" cy="1257300"/>
          </a:xfrm>
        </p:grpSpPr>
        <p:sp>
          <p:nvSpPr>
            <p:cNvPr id="82" name="ピル_未着手"/>
            <p:cNvSpPr/>
            <p:nvPr/>
          </p:nvSpPr>
          <p:spPr>
            <a:xfrm>
              <a:off x="9477375" y="4381500"/>
              <a:ext cx="876300" cy="266700"/>
            </a:xfrm>
            <a:prstGeom prst="roundRect">
              <a:avLst>
                <a:gd name="adj" fmla="val 50000"/>
              </a:avLst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477375" y="439102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未着手</a:t>
              </a:r>
            </a:p>
          </p:txBody>
        </p:sp>
        <p:sp>
          <p:nvSpPr>
            <p:cNvPr id="85" name="ピル_進行中"/>
            <p:cNvSpPr/>
            <p:nvPr/>
          </p:nvSpPr>
          <p:spPr>
            <a:xfrm>
              <a:off x="9477375" y="48768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9477375" y="488632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進行中</a:t>
              </a:r>
            </a:p>
          </p:txBody>
        </p:sp>
        <p:sp>
          <p:nvSpPr>
            <p:cNvPr id="88" name="ピル_完了"/>
            <p:cNvSpPr/>
            <p:nvPr/>
          </p:nvSpPr>
          <p:spPr>
            <a:xfrm>
              <a:off x="9477375" y="53721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477375" y="538162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完了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10487025" y="4381500"/>
            <a:ext cx="10477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＝塗りなし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87025" y="4876800"/>
            <a:ext cx="10477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＝薄塗り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487025" y="5372100"/>
            <a:ext cx="10477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＝濃塗り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ステータスピル（塗りの濃さ＝進捗）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パーツ図鑑｜③ 数字・ラベル — 大型・セット4種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英数字はテーマの英字フォント（Arial）に追従します</a:t>
            </a:r>
          </a:p>
        </p:txBody>
      </p:sp>
      <p:grpSp>
        <p:nvGrpSpPr>
          <p:cNvPr id="5" name="ラベル09_章番号"/>
          <p:cNvGrpSpPr/>
          <p:nvPr/>
        </p:nvGrpSpPr>
        <p:grpSpPr>
          <a:xfrm>
            <a:off x="809625" y="1447800"/>
            <a:ext cx="4724400" cy="1219200"/>
            <a:chOff x="809625" y="1447800"/>
            <a:chExt cx="4724400" cy="1219200"/>
          </a:xfrm>
        </p:grpSpPr>
        <p:sp>
          <p:nvSpPr>
            <p:cNvPr id="6" name="特大数字"/>
            <p:cNvSpPr/>
            <p:nvPr/>
          </p:nvSpPr>
          <p:spPr>
            <a:xfrm>
              <a:off x="809625" y="1447800"/>
              <a:ext cx="1428750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6400" b="1">
                  <a:solidFill>
                    <a:schemeClr val="accent4"/>
                  </a:solidFill>
                </a:rPr>
                <a:t>01</a:t>
              </a:r>
            </a:p>
          </p:txBody>
        </p:sp>
        <p:sp>
          <p:nvSpPr>
            <p:cNvPr id="7" name="英字ラベル"/>
            <p:cNvSpPr/>
            <p:nvPr/>
          </p:nvSpPr>
          <p:spPr>
            <a:xfrm>
              <a:off x="2390775" y="1657350"/>
              <a:ext cx="3143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CHAPTER</a:t>
              </a:r>
            </a:p>
          </p:txBody>
        </p:sp>
        <p:sp>
          <p:nvSpPr>
            <p:cNvPr id="8" name="章タイトル"/>
            <p:cNvSpPr/>
            <p:nvPr/>
          </p:nvSpPr>
          <p:spPr>
            <a:xfrm>
              <a:off x="2390775" y="1885950"/>
              <a:ext cx="3143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章タイトルテキスト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809625" y="266700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3905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章番号（扉用）</a:t>
            </a:r>
          </a:p>
        </p:txBody>
      </p:sp>
      <p:grpSp>
        <p:nvGrpSpPr>
          <p:cNvPr id="11" name="ラベル10_KEY TAKEAWAYスタンプ"/>
          <p:cNvGrpSpPr/>
          <p:nvPr/>
        </p:nvGrpSpPr>
        <p:grpSpPr>
          <a:xfrm>
            <a:off x="6915150" y="1847850"/>
            <a:ext cx="4191000" cy="438150"/>
            <a:chOff x="6915150" y="1847850"/>
            <a:chExt cx="4191000" cy="438150"/>
          </a:xfrm>
        </p:grpSpPr>
        <p:sp>
          <p:nvSpPr>
            <p:cNvPr id="12" name="帯"/>
            <p:cNvSpPr/>
            <p:nvPr/>
          </p:nvSpPr>
          <p:spPr>
            <a:xfrm>
              <a:off x="6915150" y="1847850"/>
              <a:ext cx="4191000" cy="438150"/>
            </a:xfrm>
            <a:prstGeom prst="roundRect">
              <a:avLst>
                <a:gd name="adj" fmla="val 6521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15150" y="1857375"/>
              <a:ext cx="4191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KEY TAKEAWAY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62198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KEY TAKEAWAYスタンプ（全幅にはしない）</a:t>
            </a:r>
          </a:p>
        </p:txBody>
      </p:sp>
      <p:grpSp>
        <p:nvGrpSpPr>
          <p:cNvPr id="15" name="ラベル11_QAマーカー"/>
          <p:cNvGrpSpPr/>
          <p:nvPr/>
        </p:nvGrpSpPr>
        <p:grpSpPr>
          <a:xfrm>
            <a:off x="1000125" y="4419600"/>
            <a:ext cx="4171950" cy="1047750"/>
            <a:chOff x="1000125" y="4419600"/>
            <a:chExt cx="4171950" cy="1047750"/>
          </a:xfrm>
        </p:grpSpPr>
        <p:sp>
          <p:nvSpPr>
            <p:cNvPr id="16" name="Qマーカー"/>
            <p:cNvSpPr/>
            <p:nvPr/>
          </p:nvSpPr>
          <p:spPr>
            <a:xfrm>
              <a:off x="1000125" y="4419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00125" y="442912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18" name="質問行"/>
            <p:cNvSpPr/>
            <p:nvPr/>
          </p:nvSpPr>
          <p:spPr>
            <a:xfrm>
              <a:off x="1552575" y="4419600"/>
              <a:ext cx="3619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質問テキストテキストテキスト</a:t>
              </a:r>
            </a:p>
          </p:txBody>
        </p:sp>
        <p:sp>
          <p:nvSpPr>
            <p:cNvPr id="19" name="Aマーカー"/>
            <p:cNvSpPr/>
            <p:nvPr/>
          </p:nvSpPr>
          <p:spPr>
            <a:xfrm>
              <a:off x="1000125" y="5086350"/>
              <a:ext cx="381000" cy="3810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00125" y="509587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21" name="回答行"/>
            <p:cNvSpPr/>
            <p:nvPr/>
          </p:nvSpPr>
          <p:spPr>
            <a:xfrm>
              <a:off x="1552575" y="5086350"/>
              <a:ext cx="3619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回答テキストテキストテキスト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11 Q/Aマーカー（ペア）</a:t>
            </a:r>
          </a:p>
        </p:txBody>
      </p:sp>
      <p:grpSp>
        <p:nvGrpSpPr>
          <p:cNvPr id="23" name="ラベル12_順位バッジ_1位"/>
          <p:cNvGrpSpPr/>
          <p:nvPr/>
        </p:nvGrpSpPr>
        <p:grpSpPr>
          <a:xfrm>
            <a:off x="7419975" y="4438650"/>
            <a:ext cx="457200" cy="647700"/>
            <a:chOff x="7419975" y="4438650"/>
            <a:chExt cx="457200" cy="647700"/>
          </a:xfrm>
        </p:grpSpPr>
        <p:sp>
          <p:nvSpPr>
            <p:cNvPr id="24" name="下リボン"/>
            <p:cNvSpPr/>
            <p:nvPr/>
          </p:nvSpPr>
          <p:spPr>
            <a:xfrm>
              <a:off x="7534275" y="4800600"/>
              <a:ext cx="228600" cy="285750"/>
            </a:xfrm>
            <a:custGeom>
              <a:avLst/>
              <a:gdLst/>
              <a:ahLst/>
              <a:cxnLst/>
              <a:rect l="0" t="0" r="228600" b="209550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114300" y="2095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正円"/>
            <p:cNvSpPr/>
            <p:nvPr/>
          </p:nvSpPr>
          <p:spPr>
            <a:xfrm>
              <a:off x="7419975" y="4438650"/>
              <a:ext cx="457200" cy="457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419975" y="4448175"/>
              <a:ext cx="4572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1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7229475" y="5181600"/>
            <a:ext cx="8382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1位</a:t>
            </a:r>
          </a:p>
        </p:txBody>
      </p:sp>
      <p:grpSp>
        <p:nvGrpSpPr>
          <p:cNvPr id="28" name="ラベル12_順位バッジ_2位"/>
          <p:cNvGrpSpPr/>
          <p:nvPr/>
        </p:nvGrpSpPr>
        <p:grpSpPr>
          <a:xfrm>
            <a:off x="8753475" y="4438650"/>
            <a:ext cx="457200" cy="647700"/>
            <a:chOff x="8753475" y="4438650"/>
            <a:chExt cx="457200" cy="647700"/>
          </a:xfrm>
        </p:grpSpPr>
        <p:sp>
          <p:nvSpPr>
            <p:cNvPr id="29" name="下リボン"/>
            <p:cNvSpPr/>
            <p:nvPr/>
          </p:nvSpPr>
          <p:spPr>
            <a:xfrm>
              <a:off x="8867775" y="4800600"/>
              <a:ext cx="228600" cy="285750"/>
            </a:xfrm>
            <a:custGeom>
              <a:avLst/>
              <a:gdLst/>
              <a:ahLst/>
              <a:cxnLst/>
              <a:rect l="0" t="0" r="228600" b="209550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114300" y="2095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正円"/>
            <p:cNvSpPr/>
            <p:nvPr/>
          </p:nvSpPr>
          <p:spPr>
            <a:xfrm>
              <a:off x="8753475" y="44386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753475" y="4448175"/>
              <a:ext cx="4572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2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8562975" y="5181600"/>
            <a:ext cx="8382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2位</a:t>
            </a:r>
          </a:p>
        </p:txBody>
      </p:sp>
      <p:grpSp>
        <p:nvGrpSpPr>
          <p:cNvPr id="33" name="ラベル12_順位バッジ_3位"/>
          <p:cNvGrpSpPr/>
          <p:nvPr/>
        </p:nvGrpSpPr>
        <p:grpSpPr>
          <a:xfrm>
            <a:off x="10086975" y="4438650"/>
            <a:ext cx="457200" cy="647700"/>
            <a:chOff x="10086975" y="4438650"/>
            <a:chExt cx="457200" cy="647700"/>
          </a:xfrm>
        </p:grpSpPr>
        <p:sp>
          <p:nvSpPr>
            <p:cNvPr id="34" name="下リボン"/>
            <p:cNvSpPr/>
            <p:nvPr/>
          </p:nvSpPr>
          <p:spPr>
            <a:xfrm>
              <a:off x="10201275" y="4800600"/>
              <a:ext cx="228600" cy="285750"/>
            </a:xfrm>
            <a:custGeom>
              <a:avLst/>
              <a:gdLst/>
              <a:ahLst/>
              <a:cxnLst/>
              <a:rect l="0" t="0" r="228600" b="209550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114300" y="2095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正円"/>
            <p:cNvSpPr/>
            <p:nvPr/>
          </p:nvSpPr>
          <p:spPr>
            <a:xfrm>
              <a:off x="10086975" y="44386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86975" y="4448175"/>
              <a:ext cx="4572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3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9896475" y="5181600"/>
            <a:ext cx="8382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3位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12 順位バッジ（darkest/primary/secondaryの階調）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8572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導入は3ステップ — 準備は今週から始められる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Pointラベル"/>
          <p:cNvGrpSpPr/>
          <p:nvPr/>
        </p:nvGrpSpPr>
        <p:grpSpPr>
          <a:xfrm>
            <a:off x="762000" y="1009650"/>
            <a:ext cx="7543800" cy="247650"/>
            <a:chOff x="762000" y="1009650"/>
            <a:chExt cx="7543800" cy="247650"/>
          </a:xfrm>
        </p:grpSpPr>
        <p:sp>
          <p:nvSpPr>
            <p:cNvPr id="6" name="Pointタグ"/>
            <p:cNvSpPr/>
            <p:nvPr/>
          </p:nvSpPr>
          <p:spPr>
            <a:xfrm>
              <a:off x="762000" y="1009650"/>
              <a:ext cx="742950" cy="24765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62000" y="1019175"/>
              <a:ext cx="7429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Point 01</a:t>
              </a:r>
            </a:p>
          </p:txBody>
        </p:sp>
        <p:sp>
          <p:nvSpPr>
            <p:cNvPr id="8" name="見出し"/>
            <p:cNvSpPr/>
            <p:nvPr/>
          </p:nvSpPr>
          <p:spPr>
            <a:xfrm>
              <a:off x="1638300" y="1009650"/>
              <a:ext cx="6667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つまずきの9割は、始める前の準備で消える</a:t>
              </a:r>
            </a:p>
          </p:txBody>
        </p:sp>
      </p:grpSp>
      <p:grpSp>
        <p:nvGrpSpPr>
          <p:cNvPr id="9" name="使用例_STEP1"/>
          <p:cNvGrpSpPr/>
          <p:nvPr/>
        </p:nvGrpSpPr>
        <p:grpSpPr>
          <a:xfrm>
            <a:off x="762000" y="1600200"/>
            <a:ext cx="3390900" cy="2133600"/>
            <a:chOff x="762000" y="1600200"/>
            <a:chExt cx="3390900" cy="2133600"/>
          </a:xfrm>
        </p:grpSpPr>
        <p:sp>
          <p:nvSpPr>
            <p:cNvPr id="10" name="カード"/>
            <p:cNvSpPr/>
            <p:nvPr/>
          </p:nvSpPr>
          <p:spPr>
            <a:xfrm>
              <a:off x="762000" y="1600200"/>
              <a:ext cx="3390900" cy="21336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EPタグ"/>
            <p:cNvSpPr/>
            <p:nvPr/>
          </p:nvSpPr>
          <p:spPr>
            <a:xfrm>
              <a:off x="971550" y="180975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71550" y="181927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STEP 01</a:t>
              </a:r>
            </a:p>
          </p:txBody>
        </p:sp>
        <p:sp>
          <p:nvSpPr>
            <p:cNvPr id="13" name="見出し"/>
            <p:cNvSpPr/>
            <p:nvPr/>
          </p:nvSpPr>
          <p:spPr>
            <a:xfrm>
              <a:off x="971550" y="2228850"/>
              <a:ext cx="2286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現状の棚卸し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971550" y="25717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本文"/>
            <p:cNvSpPr/>
            <p:nvPr/>
          </p:nvSpPr>
          <p:spPr>
            <a:xfrm>
              <a:off x="971550" y="2705100"/>
              <a:ext cx="2971800" cy="838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使っている資料と作業時間を一覧にする。</a:t>
              </a:r>
            </a:p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対象を絞るほど、次の一手が明確になる。</a:t>
              </a:r>
            </a:p>
          </p:txBody>
        </p:sp>
      </p:grpSp>
      <p:grpSp>
        <p:nvGrpSpPr>
          <p:cNvPr id="16" name="使用例_重要フラグ"/>
          <p:cNvGrpSpPr/>
          <p:nvPr/>
        </p:nvGrpSpPr>
        <p:grpSpPr>
          <a:xfrm>
            <a:off x="3314700" y="1819275"/>
            <a:ext cx="609600" cy="247650"/>
            <a:chOff x="3314700" y="1819275"/>
            <a:chExt cx="609600" cy="247650"/>
          </a:xfrm>
        </p:grpSpPr>
        <p:sp>
          <p:nvSpPr>
            <p:cNvPr id="17" name="小旗_必須"/>
            <p:cNvSpPr/>
            <p:nvPr/>
          </p:nvSpPr>
          <p:spPr>
            <a:xfrm>
              <a:off x="3314700" y="1819275"/>
              <a:ext cx="609600" cy="247650"/>
            </a:xfrm>
            <a:custGeom>
              <a:avLst/>
              <a:gdLst/>
              <a:ahLst/>
              <a:cxnLst/>
              <a:rect l="0" t="0" r="504825" b="247650"/>
              <a:pathLst>
                <a:path w="609600" h="247650">
                  <a:moveTo>
                    <a:pt x="0" y="0"/>
                  </a:moveTo>
                  <a:lnTo>
                    <a:pt x="504825" y="0"/>
                  </a:lnTo>
                  <a:lnTo>
                    <a:pt x="609600" y="123825"/>
                  </a:lnTo>
                  <a:lnTo>
                    <a:pt x="504825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14700" y="1828800"/>
              <a:ext cx="5048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必須</a:t>
              </a:r>
            </a:p>
          </p:txBody>
        </p:sp>
      </p:grpSp>
      <p:grpSp>
        <p:nvGrpSpPr>
          <p:cNvPr id="19" name="使用例_STEP2"/>
          <p:cNvGrpSpPr/>
          <p:nvPr/>
        </p:nvGrpSpPr>
        <p:grpSpPr>
          <a:xfrm>
            <a:off x="4400550" y="1600200"/>
            <a:ext cx="3390900" cy="2133600"/>
            <a:chOff x="4400550" y="1600200"/>
            <a:chExt cx="3390900" cy="2133600"/>
          </a:xfrm>
        </p:grpSpPr>
        <p:sp>
          <p:nvSpPr>
            <p:cNvPr id="20" name="カード"/>
            <p:cNvSpPr/>
            <p:nvPr/>
          </p:nvSpPr>
          <p:spPr>
            <a:xfrm>
              <a:off x="4400550" y="1600200"/>
              <a:ext cx="3390900" cy="21336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TEPタグ"/>
            <p:cNvSpPr/>
            <p:nvPr/>
          </p:nvSpPr>
          <p:spPr>
            <a:xfrm>
              <a:off x="4610100" y="180975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610100" y="181927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STEP 02</a:t>
              </a:r>
            </a:p>
          </p:txBody>
        </p:sp>
        <p:sp>
          <p:nvSpPr>
            <p:cNvPr id="23" name="見出し"/>
            <p:cNvSpPr/>
            <p:nvPr/>
          </p:nvSpPr>
          <p:spPr>
            <a:xfrm>
              <a:off x="4610100" y="2228850"/>
              <a:ext cx="2286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型に流し込む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4610100" y="25717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本文"/>
            <p:cNvSpPr/>
            <p:nvPr/>
          </p:nvSpPr>
          <p:spPr>
            <a:xfrm>
              <a:off x="4610100" y="2705100"/>
              <a:ext cx="2971800" cy="838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図鑑の部品をコピーして、自社の内容に</a:t>
              </a:r>
            </a:p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差し替える。ゼロから作る工程を省ける。</a:t>
              </a:r>
            </a:p>
          </p:txBody>
        </p:sp>
      </p:grpSp>
      <p:grpSp>
        <p:nvGrpSpPr>
          <p:cNvPr id="26" name="使用例_STEP3"/>
          <p:cNvGrpSpPr/>
          <p:nvPr/>
        </p:nvGrpSpPr>
        <p:grpSpPr>
          <a:xfrm>
            <a:off x="8039100" y="1600200"/>
            <a:ext cx="3390900" cy="2133600"/>
            <a:chOff x="8039100" y="1600200"/>
            <a:chExt cx="3390900" cy="2133600"/>
          </a:xfrm>
        </p:grpSpPr>
        <p:sp>
          <p:nvSpPr>
            <p:cNvPr id="27" name="カード"/>
            <p:cNvSpPr/>
            <p:nvPr/>
          </p:nvSpPr>
          <p:spPr>
            <a:xfrm>
              <a:off x="8039100" y="1600200"/>
              <a:ext cx="3390900" cy="21336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STEPタグ"/>
            <p:cNvSpPr/>
            <p:nvPr/>
          </p:nvSpPr>
          <p:spPr>
            <a:xfrm>
              <a:off x="8248650" y="180975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48650" y="1819275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STEP 03</a:t>
              </a:r>
            </a:p>
          </p:txBody>
        </p:sp>
        <p:sp>
          <p:nvSpPr>
            <p:cNvPr id="30" name="見出し"/>
            <p:cNvSpPr/>
            <p:nvPr/>
          </p:nvSpPr>
          <p:spPr>
            <a:xfrm>
              <a:off x="8248650" y="2228850"/>
              <a:ext cx="2286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週次で回す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248650" y="25717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本文"/>
            <p:cNvSpPr/>
            <p:nvPr/>
          </p:nvSpPr>
          <p:spPr>
            <a:xfrm>
              <a:off x="8248650" y="2705100"/>
              <a:ext cx="2971800" cy="838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週1回の定例で使い、直した点を型に反映。</a:t>
              </a:r>
            </a:p>
            <a:p>
              <a:pPr algn="l">
                <a:lnSpc>
                  <a:spcPct val="155000"/>
                </a:lnSpc>
              </a:pPr>
              <a:r>
                <a:rPr sz="1100">
                  <a:solidFill>
                    <a:schemeClr val="dk1"/>
                  </a:solidFill>
                </a:rPr>
                <a:t>3週間で「自分の型」に育っていく。</a:t>
              </a:r>
            </a:p>
          </p:txBody>
        </p:sp>
      </p:grpSp>
      <p:grpSp>
        <p:nvGrpSpPr>
          <p:cNvPr id="33" name="使用例_まとめ"/>
          <p:cNvGrpSpPr/>
          <p:nvPr/>
        </p:nvGrpSpPr>
        <p:grpSpPr>
          <a:xfrm>
            <a:off x="762000" y="4267200"/>
            <a:ext cx="9829800" cy="400050"/>
            <a:chOff x="762000" y="4267200"/>
            <a:chExt cx="9829800" cy="400050"/>
          </a:xfrm>
        </p:grpSpPr>
        <p:sp>
          <p:nvSpPr>
            <p:cNvPr id="34" name="スタンプ"/>
            <p:cNvSpPr/>
            <p:nvPr/>
          </p:nvSpPr>
          <p:spPr>
            <a:xfrm>
              <a:off x="762000" y="4267200"/>
              <a:ext cx="1809750" cy="400050"/>
            </a:xfrm>
            <a:prstGeom prst="roundRect">
              <a:avLst>
                <a:gd name="adj" fmla="val 7142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62000" y="4276725"/>
              <a:ext cx="1809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KEY TAKEAWAY</a:t>
              </a:r>
            </a:p>
          </p:txBody>
        </p:sp>
        <p:sp>
          <p:nvSpPr>
            <p:cNvPr id="36" name="まとめ文"/>
            <p:cNvSpPr/>
            <p:nvPr/>
          </p:nvSpPr>
          <p:spPr>
            <a:xfrm>
              <a:off x="2781300" y="4267200"/>
              <a:ext cx="78105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部品を「型」として持つことが、資料の時間を最短にする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762000" y="4914900"/>
            <a:ext cx="4762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出典：社内導入プロジェクト実績（2025年・n=12）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パーツ図鑑｜③ 数字・ラベル — 組み込み例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パーツ図鑑｜④ 枠・カード — 基本8種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</a:t>
            </a:r>
          </a:p>
        </p:txBody>
      </p:sp>
      <p:grpSp>
        <p:nvGrpSpPr>
          <p:cNvPr id="5" name="カード01_ヘアライン"/>
          <p:cNvGrpSpPr/>
          <p:nvPr/>
        </p:nvGrpSpPr>
        <p:grpSpPr>
          <a:xfrm>
            <a:off x="619125" y="1371600"/>
            <a:ext cx="2209800" cy="1428750"/>
            <a:chOff x="619125" y="1371600"/>
            <a:chExt cx="2209800" cy="1428750"/>
          </a:xfrm>
        </p:grpSpPr>
        <p:sp>
          <p:nvSpPr>
            <p:cNvPr id="6" name="ヘアライン枠"/>
            <p:cNvSpPr/>
            <p:nvPr/>
          </p:nvSpPr>
          <p:spPr>
            <a:xfrm>
              <a:off x="619125" y="1371600"/>
              <a:ext cx="22098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71525" y="15240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見出しテキスト</a:t>
              </a:r>
            </a:p>
          </p:txBody>
        </p:sp>
        <p:cxnSp>
          <p:nvCxnSpPr>
            <p:cNvPr id="8" name="区切り罫線"/>
            <p:cNvCxnSpPr/>
            <p:nvPr/>
          </p:nvCxnSpPr>
          <p:spPr>
            <a:xfrm>
              <a:off x="771525" y="1809750"/>
              <a:ext cx="1905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71525" y="1924050"/>
              <a:ext cx="1905000" cy="742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ヘアラインカード</a:t>
            </a:r>
          </a:p>
        </p:txBody>
      </p:sp>
      <p:grpSp>
        <p:nvGrpSpPr>
          <p:cNvPr id="11" name="カード02_薄ティント"/>
          <p:cNvGrpSpPr/>
          <p:nvPr/>
        </p:nvGrpSpPr>
        <p:grpSpPr>
          <a:xfrm>
            <a:off x="3533775" y="1371600"/>
            <a:ext cx="2209800" cy="1428750"/>
            <a:chOff x="3533775" y="1371600"/>
            <a:chExt cx="2209800" cy="1428750"/>
          </a:xfrm>
        </p:grpSpPr>
        <p:sp>
          <p:nvSpPr>
            <p:cNvPr id="12" name="薄ティント地"/>
            <p:cNvSpPr/>
            <p:nvPr/>
          </p:nvSpPr>
          <p:spPr>
            <a:xfrm>
              <a:off x="3533775" y="1371600"/>
              <a:ext cx="22098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5" y="15240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見出しテキスト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86175" y="1828800"/>
              <a:ext cx="1905000" cy="838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薄ティントカード</a:t>
            </a:r>
          </a:p>
        </p:txBody>
      </p:sp>
      <p:grpSp>
        <p:nvGrpSpPr>
          <p:cNvPr id="16" name="カード03_見出し帯付き"/>
          <p:cNvGrpSpPr/>
          <p:nvPr/>
        </p:nvGrpSpPr>
        <p:grpSpPr>
          <a:xfrm>
            <a:off x="6448425" y="1371600"/>
            <a:ext cx="2209800" cy="1428750"/>
            <a:chOff x="6448425" y="1371600"/>
            <a:chExt cx="2209800" cy="1428750"/>
          </a:xfrm>
        </p:grpSpPr>
        <p:sp>
          <p:nvSpPr>
            <p:cNvPr id="17" name="カード本体"/>
            <p:cNvSpPr/>
            <p:nvPr/>
          </p:nvSpPr>
          <p:spPr>
            <a:xfrm>
              <a:off x="6448425" y="1371600"/>
              <a:ext cx="22098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見出し帯"/>
            <p:cNvSpPr/>
            <p:nvPr/>
          </p:nvSpPr>
          <p:spPr>
            <a:xfrm>
              <a:off x="6448425" y="1371600"/>
              <a:ext cx="22098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見出し帯・角"/>
            <p:cNvSpPr/>
            <p:nvPr/>
          </p:nvSpPr>
          <p:spPr>
            <a:xfrm>
              <a:off x="6448425" y="1543050"/>
              <a:ext cx="220980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0825" y="1371600"/>
              <a:ext cx="1905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見出しテキスト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00825" y="1847850"/>
              <a:ext cx="1905000" cy="819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見出し帯付きカード</a:t>
            </a:r>
          </a:p>
        </p:txBody>
      </p:sp>
      <p:grpSp>
        <p:nvGrpSpPr>
          <p:cNvPr id="23" name="カード04_引用枠"/>
          <p:cNvGrpSpPr/>
          <p:nvPr/>
        </p:nvGrpSpPr>
        <p:grpSpPr>
          <a:xfrm>
            <a:off x="9420225" y="1390650"/>
            <a:ext cx="2076450" cy="1295400"/>
            <a:chOff x="9420225" y="1390650"/>
            <a:chExt cx="2076450" cy="1295400"/>
          </a:xfrm>
        </p:grpSpPr>
        <p:sp>
          <p:nvSpPr>
            <p:cNvPr id="24" name="引用バー"/>
            <p:cNvSpPr/>
            <p:nvPr/>
          </p:nvSpPr>
          <p:spPr>
            <a:xfrm>
              <a:off x="9420225" y="1390650"/>
              <a:ext cx="38100" cy="129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591675" y="1428750"/>
              <a:ext cx="19050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テキストテキストテキストテキストテキストテキストテキスト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591675" y="24574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— 出典・氏名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引用枠</a:t>
            </a:r>
          </a:p>
        </p:txBody>
      </p:sp>
      <p:grpSp>
        <p:nvGrpSpPr>
          <p:cNvPr id="28" name="カード05_注意枠"/>
          <p:cNvGrpSpPr/>
          <p:nvPr/>
        </p:nvGrpSpPr>
        <p:grpSpPr>
          <a:xfrm>
            <a:off x="619125" y="4286250"/>
            <a:ext cx="2209800" cy="1314450"/>
            <a:chOff x="619125" y="4286250"/>
            <a:chExt cx="2209800" cy="1314450"/>
          </a:xfrm>
        </p:grpSpPr>
        <p:sp>
          <p:nvSpPr>
            <p:cNvPr id="29" name="注意枠"/>
            <p:cNvSpPr/>
            <p:nvPr/>
          </p:nvSpPr>
          <p:spPr>
            <a:xfrm>
              <a:off x="619125" y="4381500"/>
              <a:ext cx="2209800" cy="1219200"/>
            </a:xfrm>
            <a:prstGeom prst="roundRect">
              <a:avLst>
                <a:gd name="adj" fmla="val 6250"/>
              </a:avLst>
            </a:prstGeom>
            <a:noFill/>
            <a:ln w="14287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注意タグ"/>
            <p:cNvSpPr/>
            <p:nvPr/>
          </p:nvSpPr>
          <p:spPr>
            <a:xfrm>
              <a:off x="752475" y="4286250"/>
              <a:ext cx="4953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52475" y="4295775"/>
              <a:ext cx="495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注意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71525" y="4591050"/>
              <a:ext cx="1905000" cy="857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注意枠（朱・細線）</a:t>
            </a:r>
          </a:p>
        </p:txBody>
      </p:sp>
      <p:grpSp>
        <p:nvGrpSpPr>
          <p:cNvPr id="34" name="カード06_点線枠"/>
          <p:cNvGrpSpPr/>
          <p:nvPr/>
        </p:nvGrpSpPr>
        <p:grpSpPr>
          <a:xfrm>
            <a:off x="3533775" y="4324350"/>
            <a:ext cx="2209800" cy="1390650"/>
            <a:chOff x="3533775" y="4324350"/>
            <a:chExt cx="2209800" cy="1390650"/>
          </a:xfrm>
        </p:grpSpPr>
        <p:sp>
          <p:nvSpPr>
            <p:cNvPr id="35" name="点線枠"/>
            <p:cNvSpPr/>
            <p:nvPr/>
          </p:nvSpPr>
          <p:spPr>
            <a:xfrm>
              <a:off x="3533775" y="4324350"/>
              <a:ext cx="2209800" cy="1143000"/>
            </a:xfrm>
            <a:prstGeom prst="roundRect">
              <a:avLst>
                <a:gd name="adj" fmla="val 6666"/>
              </a:avLst>
            </a:prstGeom>
            <a:noFill/>
            <a:ln w="14287">
              <a:solidFill>
                <a:schemeClr val="accent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86175" y="4324350"/>
              <a:ext cx="1905000" cy="1143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テキスト</a:t>
              </a:r>
            </a:p>
          </p:txBody>
        </p:sp>
        <p:sp>
          <p:nvSpPr>
            <p:cNvPr id="37" name="意味注記"/>
            <p:cNvSpPr/>
            <p:nvPr/>
          </p:nvSpPr>
          <p:spPr>
            <a:xfrm>
              <a:off x="3533775" y="5562600"/>
              <a:ext cx="2209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※点線＝任意・未確定の要素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点線枠（任意・未確定）</a:t>
            </a:r>
          </a:p>
        </p:txBody>
      </p:sp>
      <p:grpSp>
        <p:nvGrpSpPr>
          <p:cNvPr id="39" name="カード07_タブ付き"/>
          <p:cNvGrpSpPr/>
          <p:nvPr/>
        </p:nvGrpSpPr>
        <p:grpSpPr>
          <a:xfrm>
            <a:off x="6448425" y="4267200"/>
            <a:ext cx="2209800" cy="1447800"/>
            <a:chOff x="6448425" y="4267200"/>
            <a:chExt cx="2209800" cy="1447800"/>
          </a:xfrm>
        </p:grpSpPr>
        <p:sp>
          <p:nvSpPr>
            <p:cNvPr id="40" name="カード本体"/>
            <p:cNvSpPr/>
            <p:nvPr/>
          </p:nvSpPr>
          <p:spPr>
            <a:xfrm>
              <a:off x="6448425" y="4476750"/>
              <a:ext cx="2209800" cy="1238250"/>
            </a:xfrm>
            <a:prstGeom prst="roundRect">
              <a:avLst>
                <a:gd name="adj" fmla="val 615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タブ"/>
            <p:cNvSpPr/>
            <p:nvPr/>
          </p:nvSpPr>
          <p:spPr>
            <a:xfrm>
              <a:off x="6448425" y="4267200"/>
              <a:ext cx="800100" cy="209550"/>
            </a:xfrm>
            <a:prstGeom prst="roundRect">
              <a:avLst>
                <a:gd name="adj" fmla="val 3636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タブ・角"/>
            <p:cNvSpPr/>
            <p:nvPr/>
          </p:nvSpPr>
          <p:spPr>
            <a:xfrm>
              <a:off x="6448425" y="4371975"/>
              <a:ext cx="8001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48425" y="4267200"/>
              <a:ext cx="8001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タブ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600825" y="4629150"/>
              <a:ext cx="19050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</p:grpSp>
      <p:sp>
        <p:nvSpPr>
          <p:cNvPr id="45" name="Rectangle 44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タブ付きカード</a:t>
            </a:r>
          </a:p>
        </p:txBody>
      </p:sp>
      <p:grpSp>
        <p:nvGrpSpPr>
          <p:cNvPr id="46" name="カード10_脚注ボックス"/>
          <p:cNvGrpSpPr/>
          <p:nvPr/>
        </p:nvGrpSpPr>
        <p:grpSpPr>
          <a:xfrm>
            <a:off x="9363075" y="4533900"/>
            <a:ext cx="2209800" cy="838200"/>
            <a:chOff x="9363075" y="4533900"/>
            <a:chExt cx="2209800" cy="838200"/>
          </a:xfrm>
        </p:grpSpPr>
        <p:sp>
          <p:nvSpPr>
            <p:cNvPr id="47" name="脚注ボックス"/>
            <p:cNvSpPr/>
            <p:nvPr/>
          </p:nvSpPr>
          <p:spPr>
            <a:xfrm>
              <a:off x="9363075" y="4533900"/>
              <a:ext cx="2209800" cy="838200"/>
            </a:xfrm>
            <a:prstGeom prst="roundRect">
              <a:avLst>
                <a:gd name="adj" fmla="val 9090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496425" y="4648200"/>
              <a:ext cx="19431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850">
                  <a:solidFill>
                    <a:schemeClr val="accent5"/>
                  </a:solidFill>
                </a:rPr>
                <a:t>※1 テキストテキストテキスト</a:t>
              </a:r>
            </a:p>
            <a:p>
              <a:pPr algn="l">
                <a:lnSpc>
                  <a:spcPct val="160000"/>
                </a:lnSpc>
              </a:pPr>
              <a:r>
                <a:rPr sz="850">
                  <a:solidFill>
                    <a:schemeClr val="accent5"/>
                  </a:solidFill>
                </a:rPr>
                <a:t>※2 テキストテキストテキスト</a:t>
              </a:r>
            </a:p>
          </p:txBody>
        </p:sp>
      </p:grpSp>
      <p:sp>
        <p:nvSpPr>
          <p:cNvPr id="49" name="Rectangle 48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脚注ボックス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パーツ図鑑｜④ 枠・カード — 配色と大型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grpSp>
        <p:nvGrpSpPr>
          <p:cNvPr id="5" name="カード_配色A"/>
          <p:cNvGrpSpPr/>
          <p:nvPr/>
        </p:nvGrpSpPr>
        <p:grpSpPr>
          <a:xfrm>
            <a:off x="619125" y="1409700"/>
            <a:ext cx="2209800" cy="1333500"/>
            <a:chOff x="619125" y="1409700"/>
            <a:chExt cx="2209800" cy="1333500"/>
          </a:xfrm>
        </p:grpSpPr>
        <p:sp>
          <p:nvSpPr>
            <p:cNvPr id="6" name="カード地"/>
            <p:cNvSpPr/>
            <p:nvPr/>
          </p:nvSpPr>
          <p:spPr>
            <a:xfrm>
              <a:off x="619125" y="1409700"/>
              <a:ext cx="2209800" cy="1333500"/>
            </a:xfrm>
            <a:prstGeom prst="roundRect">
              <a:avLst>
                <a:gd name="adj" fmla="val 5714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71525" y="15621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見出しテキスト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71525" y="1847850"/>
              <a:ext cx="1905000" cy="742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配色A 線のみ</a:t>
            </a:r>
          </a:p>
        </p:txBody>
      </p:sp>
      <p:grpSp>
        <p:nvGrpSpPr>
          <p:cNvPr id="10" name="カード_配色B"/>
          <p:cNvGrpSpPr/>
          <p:nvPr/>
        </p:nvGrpSpPr>
        <p:grpSpPr>
          <a:xfrm>
            <a:off x="3533775" y="1409700"/>
            <a:ext cx="2209800" cy="1333500"/>
            <a:chOff x="3533775" y="1409700"/>
            <a:chExt cx="2209800" cy="1333500"/>
          </a:xfrm>
        </p:grpSpPr>
        <p:sp>
          <p:nvSpPr>
            <p:cNvPr id="11" name="カード地"/>
            <p:cNvSpPr/>
            <p:nvPr/>
          </p:nvSpPr>
          <p:spPr>
            <a:xfrm>
              <a:off x="3533775" y="1409700"/>
              <a:ext cx="22098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686175" y="15621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見出しテキスト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5" y="1847850"/>
              <a:ext cx="1905000" cy="742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配色B 薄ティント</a:t>
            </a:r>
          </a:p>
        </p:txBody>
      </p:sp>
      <p:grpSp>
        <p:nvGrpSpPr>
          <p:cNvPr id="15" name="カード_配色C"/>
          <p:cNvGrpSpPr/>
          <p:nvPr/>
        </p:nvGrpSpPr>
        <p:grpSpPr>
          <a:xfrm>
            <a:off x="6448425" y="1409700"/>
            <a:ext cx="2209800" cy="1333500"/>
            <a:chOff x="6448425" y="1409700"/>
            <a:chExt cx="2209800" cy="1333500"/>
          </a:xfrm>
        </p:grpSpPr>
        <p:sp>
          <p:nvSpPr>
            <p:cNvPr id="16" name="カード地"/>
            <p:cNvSpPr/>
            <p:nvPr/>
          </p:nvSpPr>
          <p:spPr>
            <a:xfrm>
              <a:off x="6448425" y="1409700"/>
              <a:ext cx="22098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00825" y="15621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見出しテキスト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600825" y="1847850"/>
              <a:ext cx="1905000" cy="742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lt1"/>
                  </a:solidFill>
                </a:rPr>
                <a:t>テキストテキストテキストテキストテキスト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配色C 塗り</a:t>
            </a:r>
          </a:p>
        </p:txBody>
      </p:sp>
      <p:grpSp>
        <p:nvGrpSpPr>
          <p:cNvPr id="20" name="カード_配色D"/>
          <p:cNvGrpSpPr/>
          <p:nvPr/>
        </p:nvGrpSpPr>
        <p:grpSpPr>
          <a:xfrm>
            <a:off x="9363075" y="1409700"/>
            <a:ext cx="2209800" cy="1333500"/>
            <a:chOff x="9363075" y="1409700"/>
            <a:chExt cx="2209800" cy="1333500"/>
          </a:xfrm>
        </p:grpSpPr>
        <p:sp>
          <p:nvSpPr>
            <p:cNvPr id="21" name="カード地"/>
            <p:cNvSpPr/>
            <p:nvPr/>
          </p:nvSpPr>
          <p:spPr>
            <a:xfrm>
              <a:off x="9363075" y="1409700"/>
              <a:ext cx="2209800" cy="1333500"/>
            </a:xfrm>
            <a:prstGeom prst="roundRect">
              <a:avLst>
                <a:gd name="adj" fmla="val 571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515475" y="15621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見出しテキスト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515475" y="1847850"/>
              <a:ext cx="1905000" cy="742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lt1"/>
                  </a:solidFill>
                </a:rPr>
                <a:t>テキストテキストテキストテキストテキスト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配色D 濃色（結論用）</a:t>
            </a:r>
          </a:p>
        </p:txBody>
      </p:sp>
      <p:grpSp>
        <p:nvGrpSpPr>
          <p:cNvPr id="25" name="カード08_比較2カラム"/>
          <p:cNvGrpSpPr/>
          <p:nvPr/>
        </p:nvGrpSpPr>
        <p:grpSpPr>
          <a:xfrm>
            <a:off x="485775" y="4248150"/>
            <a:ext cx="5391150" cy="1619250"/>
            <a:chOff x="485775" y="4248150"/>
            <a:chExt cx="5391150" cy="1619250"/>
          </a:xfrm>
        </p:grpSpPr>
        <p:sp>
          <p:nvSpPr>
            <p:cNvPr id="26" name="A案_カード本体"/>
            <p:cNvSpPr/>
            <p:nvPr/>
          </p:nvSpPr>
          <p:spPr>
            <a:xfrm>
              <a:off x="485775" y="4248150"/>
              <a:ext cx="2428875" cy="1619250"/>
            </a:xfrm>
            <a:prstGeom prst="roundRect">
              <a:avLst>
                <a:gd name="adj" fmla="val 47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A案_見出し帯"/>
            <p:cNvSpPr/>
            <p:nvPr/>
          </p:nvSpPr>
          <p:spPr>
            <a:xfrm>
              <a:off x="485775" y="4248150"/>
              <a:ext cx="242887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A案_見出し帯・角"/>
            <p:cNvSpPr/>
            <p:nvPr/>
          </p:nvSpPr>
          <p:spPr>
            <a:xfrm>
              <a:off x="485775" y="4410075"/>
              <a:ext cx="2428875" cy="1619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38175" y="4248150"/>
              <a:ext cx="212407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A案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38175" y="4705350"/>
              <a:ext cx="2124075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  <p:sp>
          <p:nvSpPr>
            <p:cNvPr id="31" name="B案_カード本体"/>
            <p:cNvSpPr/>
            <p:nvPr/>
          </p:nvSpPr>
          <p:spPr>
            <a:xfrm>
              <a:off x="3448050" y="4248150"/>
              <a:ext cx="2428875" cy="1619250"/>
            </a:xfrm>
            <a:prstGeom prst="roundRect">
              <a:avLst>
                <a:gd name="adj" fmla="val 47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B案_見出し帯"/>
            <p:cNvSpPr/>
            <p:nvPr/>
          </p:nvSpPr>
          <p:spPr>
            <a:xfrm>
              <a:off x="3448050" y="4248150"/>
              <a:ext cx="242887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B案_見出し帯・角"/>
            <p:cNvSpPr/>
            <p:nvPr/>
          </p:nvSpPr>
          <p:spPr>
            <a:xfrm>
              <a:off x="3448050" y="4410075"/>
              <a:ext cx="2428875" cy="1619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600450" y="4248150"/>
              <a:ext cx="212407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B案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00450" y="4705350"/>
              <a:ext cx="2124075" cy="990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</a:t>
              </a:r>
            </a:p>
          </p:txBody>
        </p:sp>
        <p:sp>
          <p:nvSpPr>
            <p:cNvPr id="36" name="vs円"/>
            <p:cNvSpPr/>
            <p:nvPr/>
          </p:nvSpPr>
          <p:spPr>
            <a:xfrm>
              <a:off x="3009900" y="4886325"/>
              <a:ext cx="342900" cy="34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009900" y="4895850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vs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比較2カラムペア</a:t>
            </a:r>
          </a:p>
        </p:txBody>
      </p:sp>
      <p:grpSp>
        <p:nvGrpSpPr>
          <p:cNvPr id="39" name="カード09_結論ボックス"/>
          <p:cNvGrpSpPr/>
          <p:nvPr/>
        </p:nvGrpSpPr>
        <p:grpSpPr>
          <a:xfrm>
            <a:off x="6448425" y="4400550"/>
            <a:ext cx="2209800" cy="1123950"/>
            <a:chOff x="6448425" y="4400550"/>
            <a:chExt cx="2209800" cy="1123950"/>
          </a:xfrm>
        </p:grpSpPr>
        <p:sp>
          <p:nvSpPr>
            <p:cNvPr id="40" name="結論ボックス"/>
            <p:cNvSpPr/>
            <p:nvPr/>
          </p:nvSpPr>
          <p:spPr>
            <a:xfrm>
              <a:off x="6448425" y="4400550"/>
              <a:ext cx="2209800" cy="1123950"/>
            </a:xfrm>
            <a:prstGeom prst="roundRect">
              <a:avLst>
                <a:gd name="adj" fmla="val 6779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00825" y="45339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00825" y="4762500"/>
              <a:ext cx="19050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200" b="1">
                  <a:solidFill>
                    <a:schemeClr val="lt1"/>
                  </a:solidFill>
                </a:rPr>
                <a:t>テキストテキストテキストテキスト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結論ボックス</a:t>
            </a:r>
          </a:p>
        </p:txBody>
      </p:sp>
      <p:grpSp>
        <p:nvGrpSpPr>
          <p:cNvPr id="44" name="カード03_見出し帯付き_濃色"/>
          <p:cNvGrpSpPr/>
          <p:nvPr/>
        </p:nvGrpSpPr>
        <p:grpSpPr>
          <a:xfrm>
            <a:off x="9363075" y="4305300"/>
            <a:ext cx="2209800" cy="1428750"/>
            <a:chOff x="9363075" y="4305300"/>
            <a:chExt cx="2209800" cy="1428750"/>
          </a:xfrm>
        </p:grpSpPr>
        <p:sp>
          <p:nvSpPr>
            <p:cNvPr id="45" name="カード本体"/>
            <p:cNvSpPr/>
            <p:nvPr/>
          </p:nvSpPr>
          <p:spPr>
            <a:xfrm>
              <a:off x="9363075" y="4305300"/>
              <a:ext cx="22098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見出し帯"/>
            <p:cNvSpPr/>
            <p:nvPr/>
          </p:nvSpPr>
          <p:spPr>
            <a:xfrm>
              <a:off x="9363075" y="4305300"/>
              <a:ext cx="2209800" cy="342900"/>
            </a:xfrm>
            <a:prstGeom prst="roundRect">
              <a:avLst>
                <a:gd name="adj" fmla="val 22222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見出し帯・角"/>
            <p:cNvSpPr/>
            <p:nvPr/>
          </p:nvSpPr>
          <p:spPr>
            <a:xfrm>
              <a:off x="9363075" y="4476750"/>
              <a:ext cx="2209800" cy="1714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515475" y="4305300"/>
              <a:ext cx="1905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見出しテキスト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515475" y="4781550"/>
              <a:ext cx="1905000" cy="819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テキストテキストテキストテキストテキストテキスト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応用：見出し帯・濃色ヘッダ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287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移行方式は、後戻りできるB案「段階移行」を採用する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比較ペア"/>
          <p:cNvGrpSpPr/>
          <p:nvPr/>
        </p:nvGrpSpPr>
        <p:grpSpPr>
          <a:xfrm>
            <a:off x="1714500" y="942975"/>
            <a:ext cx="8763000" cy="3057525"/>
            <a:chOff x="1714500" y="942975"/>
            <a:chExt cx="8763000" cy="3057525"/>
          </a:xfrm>
        </p:grpSpPr>
        <p:sp>
          <p:nvSpPr>
            <p:cNvPr id="6" name="A案_カード本体"/>
            <p:cNvSpPr/>
            <p:nvPr/>
          </p:nvSpPr>
          <p:spPr>
            <a:xfrm>
              <a:off x="1714500" y="1047750"/>
              <a:ext cx="4000500" cy="2952750"/>
            </a:xfrm>
            <a:prstGeom prst="roundRect">
              <a:avLst>
                <a:gd name="adj" fmla="val 258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A案_見出し帯"/>
            <p:cNvSpPr/>
            <p:nvPr/>
          </p:nvSpPr>
          <p:spPr>
            <a:xfrm>
              <a:off x="1714500" y="1047750"/>
              <a:ext cx="4000500" cy="419100"/>
            </a:xfrm>
            <a:prstGeom prst="roundRect">
              <a:avLst>
                <a:gd name="adj" fmla="val 18181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A案_見出し帯・角"/>
            <p:cNvSpPr/>
            <p:nvPr/>
          </p:nvSpPr>
          <p:spPr>
            <a:xfrm>
              <a:off x="1714500" y="1257300"/>
              <a:ext cx="400050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66900" y="1047750"/>
              <a:ext cx="36957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A案｜一括移行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43100" y="16383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48000" y="161925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3ヶ月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943100" y="2000250"/>
              <a:ext cx="3543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1943100" y="21907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追加コスト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48000" y="217170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約400万円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43100" y="2552700"/>
              <a:ext cx="3543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943100" y="27432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移行リスク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48000" y="272415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高（切替が一発勝負）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43100" y="3295650"/>
              <a:ext cx="35433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→ 切替当日に障害リスクが集中する</a:t>
              </a:r>
            </a:p>
          </p:txBody>
        </p:sp>
        <p:sp>
          <p:nvSpPr>
            <p:cNvPr id="19" name="B案_カード本体"/>
            <p:cNvSpPr/>
            <p:nvPr/>
          </p:nvSpPr>
          <p:spPr>
            <a:xfrm>
              <a:off x="6477000" y="1047750"/>
              <a:ext cx="4000500" cy="2952750"/>
            </a:xfrm>
            <a:prstGeom prst="roundRect">
              <a:avLst>
                <a:gd name="adj" fmla="val 258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案_見出し帯"/>
            <p:cNvSpPr/>
            <p:nvPr/>
          </p:nvSpPr>
          <p:spPr>
            <a:xfrm>
              <a:off x="6477000" y="1047750"/>
              <a:ext cx="4000500" cy="419100"/>
            </a:xfrm>
            <a:prstGeom prst="roundRect">
              <a:avLst>
                <a:gd name="adj" fmla="val 181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案_見出し帯・角"/>
            <p:cNvSpPr/>
            <p:nvPr/>
          </p:nvSpPr>
          <p:spPr>
            <a:xfrm>
              <a:off x="6477000" y="1257300"/>
              <a:ext cx="40005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629400" y="1047750"/>
              <a:ext cx="36957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B案｜段階移行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705600" y="16383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810500" y="161925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6ヶ月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705600" y="2000250"/>
              <a:ext cx="3543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6705600" y="21907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追加コスト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810500" y="217170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約520万円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6705600" y="2552700"/>
              <a:ext cx="3543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6705600" y="27432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移行リスク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810500" y="2724150"/>
              <a:ext cx="2438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低（部門ごとに検証）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705600" y="3295650"/>
              <a:ext cx="35433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→ 並行稼働のため後戻りができる</a:t>
              </a:r>
            </a:p>
          </p:txBody>
        </p:sp>
        <p:sp>
          <p:nvSpPr>
            <p:cNvPr id="32" name="推奨タグ"/>
            <p:cNvSpPr/>
            <p:nvPr/>
          </p:nvSpPr>
          <p:spPr>
            <a:xfrm>
              <a:off x="9753600" y="942975"/>
              <a:ext cx="57150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753600" y="95250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34" name="vs円"/>
            <p:cNvSpPr/>
            <p:nvPr/>
          </p:nvSpPr>
          <p:spPr>
            <a:xfrm>
              <a:off x="5886450" y="2314575"/>
              <a:ext cx="419100" cy="419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886450" y="2324100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vs</a:t>
              </a:r>
            </a:p>
          </p:txBody>
        </p:sp>
      </p:grpSp>
      <p:grpSp>
        <p:nvGrpSpPr>
          <p:cNvPr id="36" name="使用例_結論ボックス"/>
          <p:cNvGrpSpPr/>
          <p:nvPr/>
        </p:nvGrpSpPr>
        <p:grpSpPr>
          <a:xfrm>
            <a:off x="1714500" y="4381500"/>
            <a:ext cx="8763000" cy="819150"/>
            <a:chOff x="1714500" y="4381500"/>
            <a:chExt cx="8763000" cy="819150"/>
          </a:xfrm>
        </p:grpSpPr>
        <p:sp>
          <p:nvSpPr>
            <p:cNvPr id="37" name="結論ボックス"/>
            <p:cNvSpPr/>
            <p:nvPr/>
          </p:nvSpPr>
          <p:spPr>
            <a:xfrm>
              <a:off x="1714500" y="4381500"/>
              <a:ext cx="8763000" cy="819150"/>
            </a:xfrm>
            <a:prstGeom prst="roundRect">
              <a:avLst>
                <a:gd name="adj" fmla="val 930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000250" y="44958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000250" y="4705350"/>
              <a:ext cx="8191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コスト増よりも切替リスクの回避を優先し、B案「段階移行」で2026年10月に着手する</a:t>
              </a:r>
            </a:p>
          </p:txBody>
        </p:sp>
      </p:grpSp>
      <p:grpSp>
        <p:nvGrpSpPr>
          <p:cNvPr id="40" name="使用例_脚注ボックス"/>
          <p:cNvGrpSpPr/>
          <p:nvPr/>
        </p:nvGrpSpPr>
        <p:grpSpPr>
          <a:xfrm>
            <a:off x="1714500" y="5391150"/>
            <a:ext cx="8763000" cy="609600"/>
            <a:chOff x="1714500" y="5391150"/>
            <a:chExt cx="8763000" cy="609600"/>
          </a:xfrm>
        </p:grpSpPr>
        <p:sp>
          <p:nvSpPr>
            <p:cNvPr id="41" name="脚注ボックス"/>
            <p:cNvSpPr/>
            <p:nvPr/>
          </p:nvSpPr>
          <p:spPr>
            <a:xfrm>
              <a:off x="1714500" y="5391150"/>
              <a:ext cx="8763000" cy="609600"/>
            </a:xfrm>
            <a:prstGeom prst="roundRect">
              <a:avLst>
                <a:gd name="adj" fmla="val 12500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905000" y="5495925"/>
              <a:ext cx="8382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850">
                  <a:solidFill>
                    <a:schemeClr val="accent5"/>
                  </a:solidFill>
                </a:rPr>
                <a:t>※ 期間・コストは概算。移行対象は基幹3システム・12部門</a:t>
              </a:r>
            </a:p>
            <a:p>
              <a:pPr algn="l">
                <a:lnSpc>
                  <a:spcPct val="160000"/>
                </a:lnSpc>
              </a:pPr>
              <a:r>
                <a:rPr sz="850">
                  <a:solidFill>
                    <a:schemeClr val="accent5"/>
                  </a:solidFill>
                </a:rPr>
                <a:t>出典：社内試算（2026年6月・情報システム部）／移行計画書 v1.2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パーツ図鑑｜④ 枠・カード — 組み込み例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パーツ図鑑｜⑤ 記号 — 10種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grpSp>
        <p:nvGrpSpPr>
          <p:cNvPr id="5" name="記号01_チェック丸"/>
          <p:cNvGrpSpPr/>
          <p:nvPr/>
        </p:nvGrpSpPr>
        <p:grpSpPr>
          <a:xfrm>
            <a:off x="1133475" y="1295400"/>
            <a:ext cx="1181100" cy="457200"/>
            <a:chOff x="1133475" y="1295400"/>
            <a:chExt cx="1181100" cy="457200"/>
          </a:xfrm>
        </p:grpSpPr>
        <p:sp>
          <p:nvSpPr>
            <p:cNvPr id="6" name="チェック丸_丸"/>
            <p:cNvSpPr/>
            <p:nvPr/>
          </p:nvSpPr>
          <p:spPr>
            <a:xfrm>
              <a:off x="1133475" y="1295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チェック丸_チェック"/>
            <p:cNvSpPr/>
            <p:nvPr/>
          </p:nvSpPr>
          <p:spPr>
            <a:xfrm>
              <a:off x="1133475" y="1295400"/>
              <a:ext cx="457200" cy="457200"/>
            </a:xfrm>
            <a:custGeom>
              <a:avLst/>
              <a:gdLst/>
              <a:ahLst/>
              <a:cxnLst/>
              <a:rect l="0" t="0" r="457200" b="457200"/>
              <a:pathLst>
                <a:path w="457200" h="457200" fill="none">
                  <a:moveTo>
                    <a:pt x="128016" y="246888"/>
                  </a:moveTo>
                  <a:lnTo>
                    <a:pt x="201168" y="320040"/>
                  </a:lnTo>
                  <a:lnTo>
                    <a:pt x="338328" y="164592"/>
                  </a:lnTo>
                </a:path>
              </a:pathLst>
            </a:custGeom>
            <a:noFill/>
            <a:ln w="28575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チェック丸_丸"/>
            <p:cNvSpPr/>
            <p:nvPr/>
          </p:nvSpPr>
          <p:spPr>
            <a:xfrm>
              <a:off x="1857375" y="1295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チェック丸_チェック"/>
            <p:cNvSpPr/>
            <p:nvPr/>
          </p:nvSpPr>
          <p:spPr>
            <a:xfrm>
              <a:off x="1857375" y="1295400"/>
              <a:ext cx="457200" cy="457200"/>
            </a:xfrm>
            <a:custGeom>
              <a:avLst/>
              <a:gdLst/>
              <a:ahLst/>
              <a:cxnLst/>
              <a:rect l="0" t="0" r="457200" b="457200"/>
              <a:pathLst>
                <a:path w="457200" h="457200" fill="none">
                  <a:moveTo>
                    <a:pt x="128016" y="246888"/>
                  </a:moveTo>
                  <a:lnTo>
                    <a:pt x="201168" y="320040"/>
                  </a:lnTo>
                  <a:lnTo>
                    <a:pt x="338328" y="164592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ectangle 9"/>
          <p:cNvSpPr/>
          <p:nvPr/>
        </p:nvSpPr>
        <p:spPr>
          <a:xfrm>
            <a:off x="390525" y="233362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チェック丸（塗り／線）</a:t>
            </a:r>
          </a:p>
        </p:txBody>
      </p:sp>
      <p:grpSp>
        <p:nvGrpSpPr>
          <p:cNvPr id="11" name="記号02_バツ丸"/>
          <p:cNvGrpSpPr/>
          <p:nvPr/>
        </p:nvGrpSpPr>
        <p:grpSpPr>
          <a:xfrm>
            <a:off x="4048125" y="1295400"/>
            <a:ext cx="1181100" cy="457200"/>
            <a:chOff x="4048125" y="1295400"/>
            <a:chExt cx="1181100" cy="457200"/>
          </a:xfrm>
        </p:grpSpPr>
        <p:sp>
          <p:nvSpPr>
            <p:cNvPr id="12" name="バツ丸_丸"/>
            <p:cNvSpPr/>
            <p:nvPr/>
          </p:nvSpPr>
          <p:spPr>
            <a:xfrm>
              <a:off x="4048125" y="1295400"/>
              <a:ext cx="457200" cy="45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バツ丸_バツ"/>
            <p:cNvSpPr/>
            <p:nvPr/>
          </p:nvSpPr>
          <p:spPr>
            <a:xfrm>
              <a:off x="4048125" y="1295400"/>
              <a:ext cx="457200" cy="457200"/>
            </a:xfrm>
            <a:custGeom>
              <a:avLst/>
              <a:gdLst/>
              <a:ahLst/>
              <a:cxnLst/>
              <a:rect l="0" t="0" r="457200" b="457200"/>
              <a:pathLst>
                <a:path w="457200" h="457200" fill="none">
                  <a:moveTo>
                    <a:pt x="150876" y="150876"/>
                  </a:moveTo>
                  <a:lnTo>
                    <a:pt x="306324" y="306324"/>
                  </a:lnTo>
                  <a:moveTo>
                    <a:pt x="306324" y="150876"/>
                  </a:moveTo>
                  <a:lnTo>
                    <a:pt x="150876" y="306324"/>
                  </a:lnTo>
                </a:path>
              </a:pathLst>
            </a:custGeom>
            <a:noFill/>
            <a:ln w="28575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バツ丸_丸"/>
            <p:cNvSpPr/>
            <p:nvPr/>
          </p:nvSpPr>
          <p:spPr>
            <a:xfrm>
              <a:off x="4772025" y="1295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バツ丸_バツ"/>
            <p:cNvSpPr/>
            <p:nvPr/>
          </p:nvSpPr>
          <p:spPr>
            <a:xfrm>
              <a:off x="4772025" y="1295400"/>
              <a:ext cx="457200" cy="457200"/>
            </a:xfrm>
            <a:custGeom>
              <a:avLst/>
              <a:gdLst/>
              <a:ahLst/>
              <a:cxnLst/>
              <a:rect l="0" t="0" r="457200" b="457200"/>
              <a:pathLst>
                <a:path w="457200" h="457200" fill="none">
                  <a:moveTo>
                    <a:pt x="150876" y="150876"/>
                  </a:moveTo>
                  <a:lnTo>
                    <a:pt x="306324" y="306324"/>
                  </a:lnTo>
                  <a:moveTo>
                    <a:pt x="306324" y="150876"/>
                  </a:moveTo>
                  <a:lnTo>
                    <a:pt x="150876" y="306324"/>
                  </a:lnTo>
                </a:path>
              </a:pathLst>
            </a:custGeom>
            <a:noFill/>
            <a:ln w="28575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3305175" y="233362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バツ丸（塗り／線）</a:t>
            </a:r>
          </a:p>
        </p:txBody>
      </p:sp>
      <p:grpSp>
        <p:nvGrpSpPr>
          <p:cNvPr id="17" name="記号03_注意三角"/>
          <p:cNvGrpSpPr/>
          <p:nvPr/>
        </p:nvGrpSpPr>
        <p:grpSpPr>
          <a:xfrm>
            <a:off x="7286625" y="1219200"/>
            <a:ext cx="533400" cy="476250"/>
            <a:chOff x="7286625" y="1219200"/>
            <a:chExt cx="533400" cy="476250"/>
          </a:xfrm>
        </p:grpSpPr>
        <p:sp>
          <p:nvSpPr>
            <p:cNvPr id="18" name="注意三角_枠"/>
            <p:cNvSpPr/>
            <p:nvPr/>
          </p:nvSpPr>
          <p:spPr>
            <a:xfrm>
              <a:off x="7286625" y="1219200"/>
              <a:ext cx="533400" cy="476250"/>
            </a:xfrm>
            <a:prstGeom prst="triangl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注意三角_記号"/>
            <p:cNvSpPr/>
            <p:nvPr/>
          </p:nvSpPr>
          <p:spPr>
            <a:xfrm>
              <a:off x="7286625" y="1390650"/>
              <a:ext cx="5334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！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219825" y="233362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注意三角（！入り）</a:t>
            </a:r>
          </a:p>
        </p:txBody>
      </p:sp>
      <p:grpSp>
        <p:nvGrpSpPr>
          <p:cNvPr id="21" name="記号04_二重丸"/>
          <p:cNvGrpSpPr/>
          <p:nvPr/>
        </p:nvGrpSpPr>
        <p:grpSpPr>
          <a:xfrm>
            <a:off x="10220325" y="1276350"/>
            <a:ext cx="495300" cy="495300"/>
            <a:chOff x="10220325" y="1276350"/>
            <a:chExt cx="495300" cy="495300"/>
          </a:xfrm>
        </p:grpSpPr>
        <p:sp>
          <p:nvSpPr>
            <p:cNvPr id="22" name="二重丸_外"/>
            <p:cNvSpPr/>
            <p:nvPr/>
          </p:nvSpPr>
          <p:spPr>
            <a:xfrm>
              <a:off x="10220325" y="127635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二重丸_内"/>
            <p:cNvSpPr/>
            <p:nvPr/>
          </p:nvSpPr>
          <p:spPr>
            <a:xfrm>
              <a:off x="10344150" y="1400175"/>
              <a:ext cx="247650" cy="24765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9134475" y="233362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二重丸（◎評価）</a:t>
            </a:r>
          </a:p>
        </p:txBody>
      </p:sp>
      <p:grpSp>
        <p:nvGrpSpPr>
          <p:cNvPr id="25" name="記号05_星5連"/>
          <p:cNvGrpSpPr/>
          <p:nvPr/>
        </p:nvGrpSpPr>
        <p:grpSpPr>
          <a:xfrm>
            <a:off x="1038225" y="3057525"/>
            <a:ext cx="1371600" cy="914400"/>
            <a:chOff x="1038225" y="3057525"/>
            <a:chExt cx="1371600" cy="914400"/>
          </a:xfrm>
        </p:grpSpPr>
        <p:sp>
          <p:nvSpPr>
            <p:cNvPr id="26" name="星上段_1"/>
            <p:cNvSpPr/>
            <p:nvPr/>
          </p:nvSpPr>
          <p:spPr>
            <a:xfrm>
              <a:off x="1038225" y="30575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星上段_2"/>
            <p:cNvSpPr/>
            <p:nvPr/>
          </p:nvSpPr>
          <p:spPr>
            <a:xfrm>
              <a:off x="1323975" y="30575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星上段_3"/>
            <p:cNvSpPr/>
            <p:nvPr/>
          </p:nvSpPr>
          <p:spPr>
            <a:xfrm>
              <a:off x="1609725" y="30575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星上段_4"/>
            <p:cNvSpPr/>
            <p:nvPr/>
          </p:nvSpPr>
          <p:spPr>
            <a:xfrm>
              <a:off x="1895475" y="30575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星上段_5"/>
            <p:cNvSpPr/>
            <p:nvPr/>
          </p:nvSpPr>
          <p:spPr>
            <a:xfrm>
              <a:off x="2181225" y="30575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星中段_1"/>
            <p:cNvSpPr/>
            <p:nvPr/>
          </p:nvSpPr>
          <p:spPr>
            <a:xfrm>
              <a:off x="1038225" y="34004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星中段_2"/>
            <p:cNvSpPr/>
            <p:nvPr/>
          </p:nvSpPr>
          <p:spPr>
            <a:xfrm>
              <a:off x="1323975" y="34004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星中段_3"/>
            <p:cNvSpPr/>
            <p:nvPr/>
          </p:nvSpPr>
          <p:spPr>
            <a:xfrm>
              <a:off x="1609725" y="34004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星中段_4"/>
            <p:cNvSpPr/>
            <p:nvPr/>
          </p:nvSpPr>
          <p:spPr>
            <a:xfrm>
              <a:off x="1895475" y="34004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星中段_5"/>
            <p:cNvSpPr/>
            <p:nvPr/>
          </p:nvSpPr>
          <p:spPr>
            <a:xfrm>
              <a:off x="2181225" y="34004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星下段_1"/>
            <p:cNvSpPr/>
            <p:nvPr/>
          </p:nvSpPr>
          <p:spPr>
            <a:xfrm>
              <a:off x="1038225" y="3743325"/>
              <a:ext cx="228600" cy="22860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星下段_2"/>
            <p:cNvSpPr/>
            <p:nvPr/>
          </p:nvSpPr>
          <p:spPr>
            <a:xfrm>
              <a:off x="1323975" y="37433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星下段_3"/>
            <p:cNvSpPr/>
            <p:nvPr/>
          </p:nvSpPr>
          <p:spPr>
            <a:xfrm>
              <a:off x="1609725" y="37433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星下段_4"/>
            <p:cNvSpPr/>
            <p:nvPr/>
          </p:nvSpPr>
          <p:spPr>
            <a:xfrm>
              <a:off x="1895475" y="37433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星下段_5"/>
            <p:cNvSpPr/>
            <p:nvPr/>
          </p:nvSpPr>
          <p:spPr>
            <a:xfrm>
              <a:off x="2181225" y="3743325"/>
              <a:ext cx="228600" cy="22860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390525" y="428625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星5連（塗り数で3段階）</a:t>
            </a:r>
          </a:p>
        </p:txBody>
      </p:sp>
      <p:grpSp>
        <p:nvGrpSpPr>
          <p:cNvPr id="42" name="記号06_評価ドット"/>
          <p:cNvGrpSpPr/>
          <p:nvPr/>
        </p:nvGrpSpPr>
        <p:grpSpPr>
          <a:xfrm>
            <a:off x="3981450" y="3390900"/>
            <a:ext cx="1314450" cy="171450"/>
            <a:chOff x="3981450" y="3390900"/>
            <a:chExt cx="1314450" cy="171450"/>
          </a:xfrm>
        </p:grpSpPr>
        <p:sp>
          <p:nvSpPr>
            <p:cNvPr id="43" name="評価ドット_1"/>
            <p:cNvSpPr/>
            <p:nvPr/>
          </p:nvSpPr>
          <p:spPr>
            <a:xfrm>
              <a:off x="3981450" y="3390900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評価ドット_2"/>
            <p:cNvSpPr/>
            <p:nvPr/>
          </p:nvSpPr>
          <p:spPr>
            <a:xfrm>
              <a:off x="4267200" y="3390900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評価ドット_3"/>
            <p:cNvSpPr/>
            <p:nvPr/>
          </p:nvSpPr>
          <p:spPr>
            <a:xfrm>
              <a:off x="4552950" y="3390900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評価ドット_4"/>
            <p:cNvSpPr/>
            <p:nvPr/>
          </p:nvSpPr>
          <p:spPr>
            <a:xfrm>
              <a:off x="4838700" y="3390900"/>
              <a:ext cx="171450" cy="1714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評価ドット_5"/>
            <p:cNvSpPr/>
            <p:nvPr/>
          </p:nvSpPr>
          <p:spPr>
            <a:xfrm>
              <a:off x="5124450" y="3390900"/>
              <a:ext cx="171450" cy="1714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3305175" y="428625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評価ドット5連</a:t>
            </a:r>
          </a:p>
        </p:txBody>
      </p:sp>
      <p:grpSp>
        <p:nvGrpSpPr>
          <p:cNvPr id="49" name="記号07_YESNOバッジ"/>
          <p:cNvGrpSpPr/>
          <p:nvPr/>
        </p:nvGrpSpPr>
        <p:grpSpPr>
          <a:xfrm>
            <a:off x="6696075" y="3333750"/>
            <a:ext cx="1714500" cy="285750"/>
            <a:chOff x="6696075" y="3333750"/>
            <a:chExt cx="1714500" cy="285750"/>
          </a:xfrm>
        </p:grpSpPr>
        <p:sp>
          <p:nvSpPr>
            <p:cNvPr id="50" name="YESピル"/>
            <p:cNvSpPr/>
            <p:nvPr/>
          </p:nvSpPr>
          <p:spPr>
            <a:xfrm>
              <a:off x="6696075" y="33337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YES文字"/>
            <p:cNvSpPr/>
            <p:nvPr/>
          </p:nvSpPr>
          <p:spPr>
            <a:xfrm>
              <a:off x="6696075" y="334327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YES</a:t>
              </a:r>
            </a:p>
          </p:txBody>
        </p:sp>
        <p:sp>
          <p:nvSpPr>
            <p:cNvPr id="52" name="NOピル"/>
            <p:cNvSpPr/>
            <p:nvPr/>
          </p:nvSpPr>
          <p:spPr>
            <a:xfrm>
              <a:off x="7610475" y="3333750"/>
              <a:ext cx="800100" cy="28575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O文字"/>
            <p:cNvSpPr/>
            <p:nvPr/>
          </p:nvSpPr>
          <p:spPr>
            <a:xfrm>
              <a:off x="7610475" y="334327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NO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6219825" y="428625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YES・NOバッジ</a:t>
            </a:r>
          </a:p>
        </p:txBody>
      </p:sp>
      <p:grpSp>
        <p:nvGrpSpPr>
          <p:cNvPr id="55" name="記号08_プラマイバッジ"/>
          <p:cNvGrpSpPr/>
          <p:nvPr/>
        </p:nvGrpSpPr>
        <p:grpSpPr>
          <a:xfrm>
            <a:off x="10029825" y="3305175"/>
            <a:ext cx="876300" cy="342900"/>
            <a:chOff x="10029825" y="3305175"/>
            <a:chExt cx="876300" cy="342900"/>
          </a:xfrm>
        </p:grpSpPr>
        <p:sp>
          <p:nvSpPr>
            <p:cNvPr id="56" name="プラス丸"/>
            <p:cNvSpPr/>
            <p:nvPr/>
          </p:nvSpPr>
          <p:spPr>
            <a:xfrm>
              <a:off x="10029825" y="330517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プラス記号"/>
            <p:cNvSpPr/>
            <p:nvPr/>
          </p:nvSpPr>
          <p:spPr>
            <a:xfrm>
              <a:off x="10029825" y="3314700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＋</a:t>
              </a:r>
            </a:p>
          </p:txBody>
        </p:sp>
        <p:sp>
          <p:nvSpPr>
            <p:cNvPr id="58" name="マイナス丸"/>
            <p:cNvSpPr/>
            <p:nvPr/>
          </p:nvSpPr>
          <p:spPr>
            <a:xfrm>
              <a:off x="10563225" y="3305175"/>
              <a:ext cx="342900" cy="3429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マイナス記号"/>
            <p:cNvSpPr/>
            <p:nvPr/>
          </p:nvSpPr>
          <p:spPr>
            <a:xfrm>
              <a:off x="10563225" y="3314700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−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9134475" y="428625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±バッジ</a:t>
            </a:r>
          </a:p>
        </p:txBody>
      </p:sp>
      <p:grpSp>
        <p:nvGrpSpPr>
          <p:cNvPr id="61" name="記号09_増減トライアングル"/>
          <p:cNvGrpSpPr/>
          <p:nvPr/>
        </p:nvGrpSpPr>
        <p:grpSpPr>
          <a:xfrm>
            <a:off x="1228725" y="5029200"/>
            <a:ext cx="1066800" cy="781050"/>
            <a:chOff x="1228725" y="5029200"/>
            <a:chExt cx="1066800" cy="781050"/>
          </a:xfrm>
        </p:grpSpPr>
        <p:sp>
          <p:nvSpPr>
            <p:cNvPr id="62" name="上昇トライアングル"/>
            <p:cNvSpPr/>
            <p:nvPr/>
          </p:nvSpPr>
          <p:spPr>
            <a:xfrm>
              <a:off x="1228725" y="5105400"/>
              <a:ext cx="209550" cy="1714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上昇値"/>
            <p:cNvSpPr/>
            <p:nvPr/>
          </p:nvSpPr>
          <p:spPr>
            <a:xfrm>
              <a:off x="1533525" y="5029200"/>
              <a:ext cx="762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accent1"/>
                  </a:solidFill>
                </a:rPr>
                <a:t>+12%</a:t>
              </a:r>
            </a:p>
          </p:txBody>
        </p:sp>
        <p:sp>
          <p:nvSpPr>
            <p:cNvPr id="64" name="下降トライアングル"/>
            <p:cNvSpPr/>
            <p:nvPr/>
          </p:nvSpPr>
          <p:spPr>
            <a:xfrm rot="10800000">
              <a:off x="1228725" y="5581650"/>
              <a:ext cx="209550" cy="171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下降値"/>
            <p:cNvSpPr/>
            <p:nvPr/>
          </p:nvSpPr>
          <p:spPr>
            <a:xfrm>
              <a:off x="1533525" y="5505450"/>
              <a:ext cx="762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accent2"/>
                  </a:solidFill>
                </a:rPr>
                <a:t>−8%</a:t>
              </a:r>
            </a:p>
          </p:txBody>
        </p:sp>
      </p:grpSp>
      <p:sp>
        <p:nvSpPr>
          <p:cNvPr id="66" name="Rectangle 65"/>
          <p:cNvSpPr/>
          <p:nvPr/>
        </p:nvSpPr>
        <p:spPr>
          <a:xfrm>
            <a:off x="390525" y="623887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増減トライアングル（KPI用）</a:t>
            </a:r>
          </a:p>
        </p:txBody>
      </p:sp>
      <p:grpSp>
        <p:nvGrpSpPr>
          <p:cNvPr id="67" name="記号10_インフォ丸"/>
          <p:cNvGrpSpPr/>
          <p:nvPr/>
        </p:nvGrpSpPr>
        <p:grpSpPr>
          <a:xfrm>
            <a:off x="4410075" y="5162550"/>
            <a:ext cx="457200" cy="457200"/>
            <a:chOff x="4410075" y="5162550"/>
            <a:chExt cx="457200" cy="457200"/>
          </a:xfrm>
        </p:grpSpPr>
        <p:sp>
          <p:nvSpPr>
            <p:cNvPr id="68" name="インフォ丸_地"/>
            <p:cNvSpPr/>
            <p:nvPr/>
          </p:nvSpPr>
          <p:spPr>
            <a:xfrm>
              <a:off x="4410075" y="51625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インフォ記号"/>
            <p:cNvSpPr/>
            <p:nvPr/>
          </p:nvSpPr>
          <p:spPr>
            <a:xfrm>
              <a:off x="4410075" y="5172075"/>
              <a:ext cx="4572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i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3305175" y="6238875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インフォ丸（補足情報）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9825" y="5219700"/>
            <a:ext cx="558165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60000"/>
              </a:lnSpc>
            </a:pPr>
            <a:r>
              <a:rPr sz="1000">
                <a:solidFill>
                  <a:schemeClr val="accent5"/>
                </a:solidFill>
              </a:rPr>
              <a:t>すべてグループ化済み：1クリックで選択 → コピーして自社資料へ。</a:t>
            </a:r>
          </a:p>
          <a:p>
            <a:pPr algn="ctr">
              <a:lnSpc>
                <a:spcPct val="160000"/>
              </a:lnSpc>
            </a:pPr>
            <a:r>
              <a:rPr sz="1000">
                <a:solidFill>
                  <a:schemeClr val="accent5"/>
                </a:solidFill>
              </a:rPr>
              <a:t>チェック・バツはフォント記号ではなく図形（環境に依存しません）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9525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主要3サービスの機能比較——5項目すべてに対応するのは当社のみ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機能比較表"/>
          <p:cNvGrpSpPr/>
          <p:nvPr/>
        </p:nvGrpSpPr>
        <p:grpSpPr>
          <a:xfrm>
            <a:off x="762000" y="1009650"/>
            <a:ext cx="6858000" cy="4057650"/>
            <a:chOff x="762000" y="1009650"/>
            <a:chExt cx="6858000" cy="4057650"/>
          </a:xfrm>
        </p:grpSpPr>
        <p:sp>
          <p:nvSpPr>
            <p:cNvPr id="6" name="当社列ティント"/>
            <p:cNvSpPr/>
            <p:nvPr/>
          </p:nvSpPr>
          <p:spPr>
            <a:xfrm>
              <a:off x="3238500" y="1009650"/>
              <a:ext cx="1333500" cy="405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ヘッダ_項目"/>
            <p:cNvSpPr/>
            <p:nvPr/>
          </p:nvSpPr>
          <p:spPr>
            <a:xfrm>
              <a:off x="838200" y="1114425"/>
              <a:ext cx="2190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評価項目</a:t>
              </a:r>
            </a:p>
          </p:txBody>
        </p:sp>
        <p:sp>
          <p:nvSpPr>
            <p:cNvPr id="8" name="ヘッダ_当社"/>
            <p:cNvSpPr/>
            <p:nvPr/>
          </p:nvSpPr>
          <p:spPr>
            <a:xfrm>
              <a:off x="3238500" y="1104900"/>
              <a:ext cx="133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当社</a:t>
              </a:r>
            </a:p>
          </p:txBody>
        </p:sp>
        <p:sp>
          <p:nvSpPr>
            <p:cNvPr id="9" name="ヘッダ_A社"/>
            <p:cNvSpPr/>
            <p:nvPr/>
          </p:nvSpPr>
          <p:spPr>
            <a:xfrm>
              <a:off x="4762500" y="1104900"/>
              <a:ext cx="133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A社</a:t>
              </a:r>
            </a:p>
          </p:txBody>
        </p:sp>
        <p:sp>
          <p:nvSpPr>
            <p:cNvPr id="10" name="ヘッダ_B社"/>
            <p:cNvSpPr/>
            <p:nvPr/>
          </p:nvSpPr>
          <p:spPr>
            <a:xfrm>
              <a:off x="6286500" y="1104900"/>
              <a:ext cx="133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B社</a:t>
              </a:r>
            </a:p>
          </p:txBody>
        </p:sp>
        <p:cxnSp>
          <p:nvCxnSpPr>
            <p:cNvPr id="11" name="ヘッダ罫線"/>
            <p:cNvCxnSpPr/>
            <p:nvPr/>
          </p:nvCxnSpPr>
          <p:spPr>
            <a:xfrm>
              <a:off x="762000" y="1352550"/>
              <a:ext cx="68580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行1_項目名"/>
            <p:cNvSpPr/>
            <p:nvPr/>
          </p:nvSpPr>
          <p:spPr>
            <a:xfrm>
              <a:off x="838200" y="15621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自動レイアウト調整</a:t>
              </a:r>
            </a:p>
          </p:txBody>
        </p:sp>
        <p:sp>
          <p:nvSpPr>
            <p:cNvPr id="13" name="行1_当社_丸"/>
            <p:cNvSpPr/>
            <p:nvPr/>
          </p:nvSpPr>
          <p:spPr>
            <a:xfrm>
              <a:off x="3781425" y="15335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行1_当社_チェック"/>
            <p:cNvSpPr/>
            <p:nvPr/>
          </p:nvSpPr>
          <p:spPr>
            <a:xfrm>
              <a:off x="3781425" y="15335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行1_A社_丸"/>
            <p:cNvSpPr/>
            <p:nvPr/>
          </p:nvSpPr>
          <p:spPr>
            <a:xfrm>
              <a:off x="5305425" y="153352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行1_A社_チェック"/>
            <p:cNvSpPr/>
            <p:nvPr/>
          </p:nvSpPr>
          <p:spPr>
            <a:xfrm>
              <a:off x="5305425" y="15335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行1_B社_丸"/>
            <p:cNvSpPr/>
            <p:nvPr/>
          </p:nvSpPr>
          <p:spPr>
            <a:xfrm>
              <a:off x="6829425" y="153352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行1_B社_チェック"/>
            <p:cNvSpPr/>
            <p:nvPr/>
          </p:nvSpPr>
          <p:spPr>
            <a:xfrm>
              <a:off x="6829425" y="15335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行1_罫線"/>
            <p:cNvCxnSpPr/>
            <p:nvPr/>
          </p:nvCxnSpPr>
          <p:spPr>
            <a:xfrm>
              <a:off x="762000" y="19621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行2_項目名"/>
            <p:cNvSpPr/>
            <p:nvPr/>
          </p:nvSpPr>
          <p:spPr>
            <a:xfrm>
              <a:off x="838200" y="21717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テンプレート数 無制限</a:t>
              </a:r>
            </a:p>
          </p:txBody>
        </p:sp>
        <p:sp>
          <p:nvSpPr>
            <p:cNvPr id="21" name="行2_当社_丸"/>
            <p:cNvSpPr/>
            <p:nvPr/>
          </p:nvSpPr>
          <p:spPr>
            <a:xfrm>
              <a:off x="3781425" y="21431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行2_当社_チェック"/>
            <p:cNvSpPr/>
            <p:nvPr/>
          </p:nvSpPr>
          <p:spPr>
            <a:xfrm>
              <a:off x="3781425" y="21431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行2_A社_丸"/>
            <p:cNvSpPr/>
            <p:nvPr/>
          </p:nvSpPr>
          <p:spPr>
            <a:xfrm>
              <a:off x="5305425" y="214312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行2_A社_チェック"/>
            <p:cNvSpPr/>
            <p:nvPr/>
          </p:nvSpPr>
          <p:spPr>
            <a:xfrm>
              <a:off x="5305425" y="21431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行2_B社_丸"/>
            <p:cNvSpPr/>
            <p:nvPr/>
          </p:nvSpPr>
          <p:spPr>
            <a:xfrm>
              <a:off x="6829425" y="2143125"/>
              <a:ext cx="247650" cy="2476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行2_B社_バツ"/>
            <p:cNvSpPr/>
            <p:nvPr/>
          </p:nvSpPr>
          <p:spPr>
            <a:xfrm>
              <a:off x="6829425" y="21431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行2_罫線"/>
            <p:cNvCxnSpPr/>
            <p:nvPr/>
          </p:nvCxnSpPr>
          <p:spPr>
            <a:xfrm>
              <a:off x="762000" y="25717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行3_項目名"/>
            <p:cNvSpPr/>
            <p:nvPr/>
          </p:nvSpPr>
          <p:spPr>
            <a:xfrm>
              <a:off x="838200" y="27813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リアルタイム共同編集</a:t>
              </a:r>
            </a:p>
          </p:txBody>
        </p:sp>
        <p:sp>
          <p:nvSpPr>
            <p:cNvPr id="29" name="行3_当社_丸"/>
            <p:cNvSpPr/>
            <p:nvPr/>
          </p:nvSpPr>
          <p:spPr>
            <a:xfrm>
              <a:off x="3781425" y="27527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行3_当社_チェック"/>
            <p:cNvSpPr/>
            <p:nvPr/>
          </p:nvSpPr>
          <p:spPr>
            <a:xfrm>
              <a:off x="3781425" y="27527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行3_A社_丸"/>
            <p:cNvSpPr/>
            <p:nvPr/>
          </p:nvSpPr>
          <p:spPr>
            <a:xfrm>
              <a:off x="5305425" y="2752725"/>
              <a:ext cx="247650" cy="2476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行3_A社_バツ"/>
            <p:cNvSpPr/>
            <p:nvPr/>
          </p:nvSpPr>
          <p:spPr>
            <a:xfrm>
              <a:off x="5305425" y="27527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行3_B社_丸"/>
            <p:cNvSpPr/>
            <p:nvPr/>
          </p:nvSpPr>
          <p:spPr>
            <a:xfrm>
              <a:off x="6829425" y="275272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行3_B社_チェック"/>
            <p:cNvSpPr/>
            <p:nvPr/>
          </p:nvSpPr>
          <p:spPr>
            <a:xfrm>
              <a:off x="6829425" y="27527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行3_罫線"/>
            <p:cNvCxnSpPr/>
            <p:nvPr/>
          </p:nvCxnSpPr>
          <p:spPr>
            <a:xfrm>
              <a:off x="762000" y="31813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行4_項目名"/>
            <p:cNvSpPr/>
            <p:nvPr/>
          </p:nvSpPr>
          <p:spPr>
            <a:xfrm>
              <a:off x="838200" y="33909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部署別の権限管理</a:t>
              </a:r>
            </a:p>
          </p:txBody>
        </p:sp>
        <p:sp>
          <p:nvSpPr>
            <p:cNvPr id="37" name="行4_当社_丸"/>
            <p:cNvSpPr/>
            <p:nvPr/>
          </p:nvSpPr>
          <p:spPr>
            <a:xfrm>
              <a:off x="3781425" y="33623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行4_当社_チェック"/>
            <p:cNvSpPr/>
            <p:nvPr/>
          </p:nvSpPr>
          <p:spPr>
            <a:xfrm>
              <a:off x="3781425" y="33623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行4_A社_丸"/>
            <p:cNvSpPr/>
            <p:nvPr/>
          </p:nvSpPr>
          <p:spPr>
            <a:xfrm>
              <a:off x="5305425" y="336232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行4_A社_チェック"/>
            <p:cNvSpPr/>
            <p:nvPr/>
          </p:nvSpPr>
          <p:spPr>
            <a:xfrm>
              <a:off x="5305425" y="33623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行4_B社_丸"/>
            <p:cNvSpPr/>
            <p:nvPr/>
          </p:nvSpPr>
          <p:spPr>
            <a:xfrm>
              <a:off x="6829425" y="3362325"/>
              <a:ext cx="247650" cy="2476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行4_B社_バツ"/>
            <p:cNvSpPr/>
            <p:nvPr/>
          </p:nvSpPr>
          <p:spPr>
            <a:xfrm>
              <a:off x="6829425" y="33623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行4_罫線"/>
            <p:cNvCxnSpPr/>
            <p:nvPr/>
          </p:nvCxnSpPr>
          <p:spPr>
            <a:xfrm>
              <a:off x="762000" y="37909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行5_項目名"/>
            <p:cNvSpPr/>
            <p:nvPr/>
          </p:nvSpPr>
          <p:spPr>
            <a:xfrm>
              <a:off x="838200" y="40005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導入時の伴走サポート</a:t>
              </a:r>
            </a:p>
          </p:txBody>
        </p:sp>
        <p:sp>
          <p:nvSpPr>
            <p:cNvPr id="45" name="行5_当社_丸"/>
            <p:cNvSpPr/>
            <p:nvPr/>
          </p:nvSpPr>
          <p:spPr>
            <a:xfrm>
              <a:off x="3781425" y="39719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行5_当社_チェック"/>
            <p:cNvSpPr/>
            <p:nvPr/>
          </p:nvSpPr>
          <p:spPr>
            <a:xfrm>
              <a:off x="3781425" y="39719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行5_A社_丸"/>
            <p:cNvSpPr/>
            <p:nvPr/>
          </p:nvSpPr>
          <p:spPr>
            <a:xfrm>
              <a:off x="5305425" y="3971925"/>
              <a:ext cx="247650" cy="2476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行5_A社_バツ"/>
            <p:cNvSpPr/>
            <p:nvPr/>
          </p:nvSpPr>
          <p:spPr>
            <a:xfrm>
              <a:off x="5305425" y="39719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行5_B社_丸"/>
            <p:cNvSpPr/>
            <p:nvPr/>
          </p:nvSpPr>
          <p:spPr>
            <a:xfrm>
              <a:off x="6829425" y="3971925"/>
              <a:ext cx="247650" cy="2476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行5_B社_バツ"/>
            <p:cNvSpPr/>
            <p:nvPr/>
          </p:nvSpPr>
          <p:spPr>
            <a:xfrm>
              <a:off x="6829425" y="397192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行5_罫線"/>
            <p:cNvCxnSpPr/>
            <p:nvPr/>
          </p:nvCxnSpPr>
          <p:spPr>
            <a:xfrm>
              <a:off x="762000" y="44005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総合評価_項目名"/>
            <p:cNvSpPr/>
            <p:nvPr/>
          </p:nvSpPr>
          <p:spPr>
            <a:xfrm>
              <a:off x="838200" y="46101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総合評価（5点満点）</a:t>
              </a:r>
            </a:p>
          </p:txBody>
        </p:sp>
        <p:sp>
          <p:nvSpPr>
            <p:cNvPr id="53" name="総合評価_当社_1"/>
            <p:cNvSpPr/>
            <p:nvPr/>
          </p:nvSpPr>
          <p:spPr>
            <a:xfrm>
              <a:off x="35052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総合評価_当社_2"/>
            <p:cNvSpPr/>
            <p:nvPr/>
          </p:nvSpPr>
          <p:spPr>
            <a:xfrm>
              <a:off x="367665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総合評価_当社_3"/>
            <p:cNvSpPr/>
            <p:nvPr/>
          </p:nvSpPr>
          <p:spPr>
            <a:xfrm>
              <a:off x="38481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総合評価_当社_4"/>
            <p:cNvSpPr/>
            <p:nvPr/>
          </p:nvSpPr>
          <p:spPr>
            <a:xfrm>
              <a:off x="401955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総合評価_当社_5"/>
            <p:cNvSpPr/>
            <p:nvPr/>
          </p:nvSpPr>
          <p:spPr>
            <a:xfrm>
              <a:off x="41910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総合評価_A社_1"/>
            <p:cNvSpPr/>
            <p:nvPr/>
          </p:nvSpPr>
          <p:spPr>
            <a:xfrm>
              <a:off x="50292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総合評価_A社_2"/>
            <p:cNvSpPr/>
            <p:nvPr/>
          </p:nvSpPr>
          <p:spPr>
            <a:xfrm>
              <a:off x="520065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総合評価_A社_3"/>
            <p:cNvSpPr/>
            <p:nvPr/>
          </p:nvSpPr>
          <p:spPr>
            <a:xfrm>
              <a:off x="53721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総合評価_A社_4"/>
            <p:cNvSpPr/>
            <p:nvPr/>
          </p:nvSpPr>
          <p:spPr>
            <a:xfrm>
              <a:off x="5543550" y="4648200"/>
              <a:ext cx="114300" cy="114300"/>
            </a:xfrm>
            <a:prstGeom prst="ellipse">
              <a:avLst/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総合評価_A社_5"/>
            <p:cNvSpPr/>
            <p:nvPr/>
          </p:nvSpPr>
          <p:spPr>
            <a:xfrm>
              <a:off x="5715000" y="4648200"/>
              <a:ext cx="114300" cy="114300"/>
            </a:xfrm>
            <a:prstGeom prst="ellipse">
              <a:avLst/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総合評価_B社_1"/>
            <p:cNvSpPr/>
            <p:nvPr/>
          </p:nvSpPr>
          <p:spPr>
            <a:xfrm>
              <a:off x="655320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総合評価_B社_2"/>
            <p:cNvSpPr/>
            <p:nvPr/>
          </p:nvSpPr>
          <p:spPr>
            <a:xfrm>
              <a:off x="6724650" y="46482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総合評価_B社_3"/>
            <p:cNvSpPr/>
            <p:nvPr/>
          </p:nvSpPr>
          <p:spPr>
            <a:xfrm>
              <a:off x="6896100" y="4648200"/>
              <a:ext cx="114300" cy="114300"/>
            </a:xfrm>
            <a:prstGeom prst="ellipse">
              <a:avLst/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総合評価_B社_4"/>
            <p:cNvSpPr/>
            <p:nvPr/>
          </p:nvSpPr>
          <p:spPr>
            <a:xfrm>
              <a:off x="7067550" y="4648200"/>
              <a:ext cx="114300" cy="114300"/>
            </a:xfrm>
            <a:prstGeom prst="ellipse">
              <a:avLst/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総合評価_B社_5"/>
            <p:cNvSpPr/>
            <p:nvPr/>
          </p:nvSpPr>
          <p:spPr>
            <a:xfrm>
              <a:off x="7239000" y="4648200"/>
              <a:ext cx="114300" cy="114300"/>
            </a:xfrm>
            <a:prstGeom prst="ellipse">
              <a:avLst/>
            </a:prstGeom>
            <a:noFill/>
            <a:ln w="1143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総合評価_罫線"/>
            <p:cNvCxnSpPr/>
            <p:nvPr/>
          </p:nvCxnSpPr>
          <p:spPr>
            <a:xfrm>
              <a:off x="762000" y="5010150"/>
              <a:ext cx="685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/>
          <p:cNvSpPr/>
          <p:nvPr/>
        </p:nvSpPr>
        <p:spPr>
          <a:xfrm>
            <a:off x="762000" y="5143500"/>
            <a:ext cx="609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出典：各社公開資料および社内検証（2026年6月時点）※評価は編集部基準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82000" y="1123950"/>
            <a:ext cx="3048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dk2"/>
                </a:solidFill>
              </a:rPr>
              <a:t>導入後6か月のKPI変化</a:t>
            </a:r>
          </a:p>
        </p:txBody>
      </p:sp>
      <p:grpSp>
        <p:nvGrpSpPr>
          <p:cNvPr id="71" name="使用例_KPI上昇"/>
          <p:cNvGrpSpPr/>
          <p:nvPr/>
        </p:nvGrpSpPr>
        <p:grpSpPr>
          <a:xfrm>
            <a:off x="8382000" y="1485900"/>
            <a:ext cx="2095500" cy="609600"/>
            <a:chOff x="8382000" y="1485900"/>
            <a:chExt cx="2095500" cy="609600"/>
          </a:xfrm>
        </p:grpSpPr>
        <p:sp>
          <p:nvSpPr>
            <p:cNvPr id="72" name="KPI上昇_ラベル"/>
            <p:cNvSpPr/>
            <p:nvPr/>
          </p:nvSpPr>
          <p:spPr>
            <a:xfrm>
              <a:off x="8382000" y="14859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提案の採択率</a:t>
              </a:r>
            </a:p>
          </p:txBody>
        </p:sp>
        <p:sp>
          <p:nvSpPr>
            <p:cNvPr id="73" name="KPI上昇_トライアングル"/>
            <p:cNvSpPr/>
            <p:nvPr/>
          </p:nvSpPr>
          <p:spPr>
            <a:xfrm>
              <a:off x="8382000" y="1809750"/>
              <a:ext cx="209550" cy="1714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KPI上昇_数値"/>
            <p:cNvSpPr/>
            <p:nvPr/>
          </p:nvSpPr>
          <p:spPr>
            <a:xfrm>
              <a:off x="8686800" y="1695450"/>
              <a:ext cx="15240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600" b="1">
                  <a:solidFill>
                    <a:schemeClr val="accent1"/>
                  </a:solidFill>
                </a:rPr>
                <a:t>+27%</a:t>
              </a:r>
            </a:p>
          </p:txBody>
        </p:sp>
      </p:grpSp>
      <p:cxnSp>
        <p:nvCxnSpPr>
          <p:cNvPr id="75" name="Connector 74"/>
          <p:cNvCxnSpPr/>
          <p:nvPr/>
        </p:nvCxnSpPr>
        <p:spPr>
          <a:xfrm>
            <a:off x="8382000" y="2324100"/>
            <a:ext cx="3048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使用例_KPI下降"/>
          <p:cNvGrpSpPr/>
          <p:nvPr/>
        </p:nvGrpSpPr>
        <p:grpSpPr>
          <a:xfrm>
            <a:off x="8382000" y="2495550"/>
            <a:ext cx="2095500" cy="609600"/>
            <a:chOff x="8382000" y="2495550"/>
            <a:chExt cx="2095500" cy="609600"/>
          </a:xfrm>
        </p:grpSpPr>
        <p:sp>
          <p:nvSpPr>
            <p:cNvPr id="77" name="KPI下降_ラベル"/>
            <p:cNvSpPr/>
            <p:nvPr/>
          </p:nvSpPr>
          <p:spPr>
            <a:xfrm>
              <a:off x="8382000" y="24955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1件あたり作成時間</a:t>
              </a:r>
            </a:p>
          </p:txBody>
        </p:sp>
        <p:sp>
          <p:nvSpPr>
            <p:cNvPr id="78" name="KPI下降_トライアングル"/>
            <p:cNvSpPr/>
            <p:nvPr/>
          </p:nvSpPr>
          <p:spPr>
            <a:xfrm rot="10800000">
              <a:off x="8382000" y="2819400"/>
              <a:ext cx="209550" cy="171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KPI下降_数値"/>
            <p:cNvSpPr/>
            <p:nvPr/>
          </p:nvSpPr>
          <p:spPr>
            <a:xfrm>
              <a:off x="8686800" y="2705100"/>
              <a:ext cx="15240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600" b="1">
                  <a:solidFill>
                    <a:schemeClr val="accent2"/>
                  </a:solidFill>
                </a:rPr>
                <a:t>−43%</a:t>
              </a:r>
            </a:p>
          </p:txBody>
        </p:sp>
      </p:grpSp>
      <p:sp>
        <p:nvSpPr>
          <p:cNvPr id="80" name="Rectangle 79"/>
          <p:cNvSpPr/>
          <p:nvPr/>
        </p:nvSpPr>
        <p:spPr>
          <a:xfrm>
            <a:off x="8382000" y="3352800"/>
            <a:ext cx="3048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950">
                <a:solidFill>
                  <a:schemeClr val="accent5"/>
                </a:solidFill>
              </a:rPr>
              <a:t>下降（朱）は1スライド1点まで。</a:t>
            </a:r>
          </a:p>
          <a:p>
            <a:pPr algn="l">
              <a:lnSpc>
                <a:spcPct val="160000"/>
              </a:lnSpc>
            </a:pPr>
            <a:r>
              <a:rPr sz="950">
                <a:solidFill>
                  <a:schemeClr val="accent5"/>
                </a:solidFill>
              </a:rPr>
              <a:t>記号09をコピーして数値だけ打ち替えればKPIカードになります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パーツ図鑑｜⑤ 記号 — 組み込み例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パーツ図鑑｜⑦ データ表現 — 基本4種＋バリエーション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数字はすべてテキスト＝クリックして直接編集できます</a:t>
            </a:r>
          </a:p>
        </p:txBody>
      </p:sp>
      <p:grpSp>
        <p:nvGrpSpPr>
          <p:cNvPr id="5" name="データ01_KPIカード"/>
          <p:cNvGrpSpPr/>
          <p:nvPr/>
        </p:nvGrpSpPr>
        <p:grpSpPr>
          <a:xfrm>
            <a:off x="676275" y="1352550"/>
            <a:ext cx="2095500" cy="1257300"/>
            <a:chOff x="676275" y="1352550"/>
            <a:chExt cx="2095500" cy="1257300"/>
          </a:xfrm>
        </p:grpSpPr>
        <p:sp>
          <p:nvSpPr>
            <p:cNvPr id="6" name="カード"/>
            <p:cNvSpPr/>
            <p:nvPr/>
          </p:nvSpPr>
          <p:spPr>
            <a:xfrm>
              <a:off x="676275" y="1352550"/>
              <a:ext cx="2095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指標名"/>
            <p:cNvSpPr/>
            <p:nvPr/>
          </p:nvSpPr>
          <p:spPr>
            <a:xfrm>
              <a:off x="828675" y="1485900"/>
              <a:ext cx="1790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8" name="数値"/>
            <p:cNvSpPr/>
            <p:nvPr/>
          </p:nvSpPr>
          <p:spPr>
            <a:xfrm>
              <a:off x="828675" y="1695450"/>
              <a:ext cx="1790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128.4</a:t>
              </a:r>
            </a:p>
          </p:txBody>
        </p:sp>
        <p:sp>
          <p:nvSpPr>
            <p:cNvPr id="9" name="前期比ラベル"/>
            <p:cNvSpPr/>
            <p:nvPr/>
          </p:nvSpPr>
          <p:spPr>
            <a:xfrm>
              <a:off x="828675" y="23050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前期比</a:t>
              </a:r>
            </a:p>
          </p:txBody>
        </p:sp>
        <p:sp>
          <p:nvSpPr>
            <p:cNvPr id="10" name="増減トライアングル"/>
            <p:cNvSpPr/>
            <p:nvPr/>
          </p:nvSpPr>
          <p:spPr>
            <a:xfrm>
              <a:off x="1895475" y="23431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増減値"/>
            <p:cNvSpPr/>
            <p:nvPr/>
          </p:nvSpPr>
          <p:spPr>
            <a:xfrm>
              <a:off x="2047875" y="23050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+12.4%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KPIカード（前期比つき）</a:t>
            </a:r>
          </a:p>
        </p:txBody>
      </p:sp>
      <p:grpSp>
        <p:nvGrpSpPr>
          <p:cNvPr id="13" name="データ02_進捗バー"/>
          <p:cNvGrpSpPr/>
          <p:nvPr/>
        </p:nvGrpSpPr>
        <p:grpSpPr>
          <a:xfrm>
            <a:off x="3590925" y="1771650"/>
            <a:ext cx="2095500" cy="476250"/>
            <a:chOff x="3590925" y="1771650"/>
            <a:chExt cx="2095500" cy="476250"/>
          </a:xfrm>
        </p:grpSpPr>
        <p:sp>
          <p:nvSpPr>
            <p:cNvPr id="14" name="ラベル"/>
            <p:cNvSpPr/>
            <p:nvPr/>
          </p:nvSpPr>
          <p:spPr>
            <a:xfrm>
              <a:off x="3590925" y="1847850"/>
              <a:ext cx="1238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計画消化率</a:t>
              </a:r>
            </a:p>
          </p:txBody>
        </p:sp>
        <p:sp>
          <p:nvSpPr>
            <p:cNvPr id="15" name="数値"/>
            <p:cNvSpPr/>
            <p:nvPr/>
          </p:nvSpPr>
          <p:spPr>
            <a:xfrm>
              <a:off x="4733925" y="1771650"/>
              <a:ext cx="95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65%</a:t>
              </a:r>
            </a:p>
          </p:txBody>
        </p:sp>
        <p:sp>
          <p:nvSpPr>
            <p:cNvPr id="16" name="バー地"/>
            <p:cNvSpPr/>
            <p:nvPr/>
          </p:nvSpPr>
          <p:spPr>
            <a:xfrm>
              <a:off x="3590925" y="2114550"/>
              <a:ext cx="20955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バー値"/>
            <p:cNvSpPr/>
            <p:nvPr/>
          </p:nvSpPr>
          <p:spPr>
            <a:xfrm>
              <a:off x="3590925" y="2114550"/>
              <a:ext cx="136207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進捗バー（%は右揃え）</a:t>
            </a:r>
          </a:p>
        </p:txBody>
      </p:sp>
      <p:grpSp>
        <p:nvGrpSpPr>
          <p:cNvPr id="19" name="データ03_半円ゲージ"/>
          <p:cNvGrpSpPr/>
          <p:nvPr/>
        </p:nvGrpSpPr>
        <p:grpSpPr>
          <a:xfrm>
            <a:off x="6677025" y="1543050"/>
            <a:ext cx="1752600" cy="1485900"/>
            <a:chOff x="6677025" y="1543050"/>
            <a:chExt cx="1752600" cy="1485900"/>
          </a:xfrm>
        </p:grpSpPr>
        <p:sp>
          <p:nvSpPr>
            <p:cNvPr id="20" name="ゲージ地"/>
            <p:cNvSpPr/>
            <p:nvPr/>
          </p:nvSpPr>
          <p:spPr>
            <a:xfrm>
              <a:off x="6810375" y="1543050"/>
              <a:ext cx="1485900" cy="1485900"/>
            </a:xfrm>
            <a:prstGeom prst="blockArc">
              <a:avLst>
                <a:gd name="adj1" fmla="val 10800000"/>
                <a:gd name="adj2" fmla="val 0"/>
                <a:gd name="adj3" fmla="val 1282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ゲージ値"/>
            <p:cNvSpPr/>
            <p:nvPr/>
          </p:nvSpPr>
          <p:spPr>
            <a:xfrm>
              <a:off x="6810375" y="1543050"/>
              <a:ext cx="1485900" cy="1485900"/>
            </a:xfrm>
            <a:prstGeom prst="blockArc">
              <a:avLst>
                <a:gd name="adj1" fmla="val 10800000"/>
                <a:gd name="adj2" fmla="val 18144000"/>
                <a:gd name="adj3" fmla="val 1282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針"/>
            <p:cNvCxnSpPr/>
            <p:nvPr/>
          </p:nvCxnSpPr>
          <p:spPr>
            <a:xfrm flipV="1">
              <a:off x="7553325" y="1899973"/>
              <a:ext cx="244980" cy="386027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針軸"/>
            <p:cNvSpPr/>
            <p:nvPr/>
          </p:nvSpPr>
          <p:spPr>
            <a:xfrm>
              <a:off x="7505700" y="223837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数値"/>
            <p:cNvSpPr/>
            <p:nvPr/>
          </p:nvSpPr>
          <p:spPr>
            <a:xfrm>
              <a:off x="7124700" y="2400300"/>
              <a:ext cx="857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68%</a:t>
              </a:r>
            </a:p>
          </p:txBody>
        </p:sp>
        <p:sp>
          <p:nvSpPr>
            <p:cNvPr id="25" name="ラベル"/>
            <p:cNvSpPr/>
            <p:nvPr/>
          </p:nvSpPr>
          <p:spPr>
            <a:xfrm>
              <a:off x="7077075" y="2686050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達成率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77025" y="23431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048625" y="23431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100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半円ゲージ（針つき）</a:t>
            </a:r>
          </a:p>
        </p:txBody>
      </p:sp>
      <p:grpSp>
        <p:nvGrpSpPr>
          <p:cNvPr id="29" name="データ04_ミニ棒グラフ"/>
          <p:cNvGrpSpPr/>
          <p:nvPr/>
        </p:nvGrpSpPr>
        <p:grpSpPr>
          <a:xfrm>
            <a:off x="9420225" y="1457325"/>
            <a:ext cx="2095500" cy="1343025"/>
            <a:chOff x="9420225" y="1457325"/>
            <a:chExt cx="2095500" cy="1343025"/>
          </a:xfrm>
        </p:grpSpPr>
        <p:cxnSp>
          <p:nvCxnSpPr>
            <p:cNvPr id="30" name="基準線"/>
            <p:cNvCxnSpPr/>
            <p:nvPr/>
          </p:nvCxnSpPr>
          <p:spPr>
            <a:xfrm>
              <a:off x="9420225" y="2609850"/>
              <a:ext cx="2095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棒1"/>
            <p:cNvSpPr/>
            <p:nvPr/>
          </p:nvSpPr>
          <p:spPr>
            <a:xfrm>
              <a:off x="9563100" y="2114550"/>
              <a:ext cx="323850" cy="49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1"/>
            <p:cNvSpPr/>
            <p:nvPr/>
          </p:nvSpPr>
          <p:spPr>
            <a:xfrm>
              <a:off x="9448800" y="192405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40</a:t>
              </a:r>
            </a:p>
          </p:txBody>
        </p:sp>
        <p:sp>
          <p:nvSpPr>
            <p:cNvPr id="33" name="項目1"/>
            <p:cNvSpPr/>
            <p:nvPr/>
          </p:nvSpPr>
          <p:spPr>
            <a:xfrm>
              <a:off x="9448800" y="26670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1Q</a:t>
              </a:r>
            </a:p>
          </p:txBody>
        </p:sp>
        <p:sp>
          <p:nvSpPr>
            <p:cNvPr id="34" name="棒2"/>
            <p:cNvSpPr/>
            <p:nvPr/>
          </p:nvSpPr>
          <p:spPr>
            <a:xfrm>
              <a:off x="10058400" y="1924050"/>
              <a:ext cx="323850" cy="685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2"/>
            <p:cNvSpPr/>
            <p:nvPr/>
          </p:nvSpPr>
          <p:spPr>
            <a:xfrm>
              <a:off x="9944100" y="173355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55</a:t>
              </a:r>
            </a:p>
          </p:txBody>
        </p:sp>
        <p:sp>
          <p:nvSpPr>
            <p:cNvPr id="36" name="項目2"/>
            <p:cNvSpPr/>
            <p:nvPr/>
          </p:nvSpPr>
          <p:spPr>
            <a:xfrm>
              <a:off x="9944100" y="26670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2Q</a:t>
              </a:r>
            </a:p>
          </p:txBody>
        </p:sp>
        <p:sp>
          <p:nvSpPr>
            <p:cNvPr id="37" name="棒3"/>
            <p:cNvSpPr/>
            <p:nvPr/>
          </p:nvSpPr>
          <p:spPr>
            <a:xfrm>
              <a:off x="10553700" y="2019300"/>
              <a:ext cx="323850" cy="590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3"/>
            <p:cNvSpPr/>
            <p:nvPr/>
          </p:nvSpPr>
          <p:spPr>
            <a:xfrm>
              <a:off x="10439400" y="1828800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48</a:t>
              </a:r>
            </a:p>
          </p:txBody>
        </p:sp>
        <p:sp>
          <p:nvSpPr>
            <p:cNvPr id="39" name="項目3"/>
            <p:cNvSpPr/>
            <p:nvPr/>
          </p:nvSpPr>
          <p:spPr>
            <a:xfrm>
              <a:off x="10439400" y="26670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3Q</a:t>
              </a:r>
            </a:p>
          </p:txBody>
        </p:sp>
        <p:sp>
          <p:nvSpPr>
            <p:cNvPr id="40" name="棒4"/>
            <p:cNvSpPr/>
            <p:nvPr/>
          </p:nvSpPr>
          <p:spPr>
            <a:xfrm>
              <a:off x="11049000" y="1647825"/>
              <a:ext cx="323850" cy="9620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4"/>
            <p:cNvSpPr/>
            <p:nvPr/>
          </p:nvSpPr>
          <p:spPr>
            <a:xfrm>
              <a:off x="10934700" y="1457325"/>
              <a:ext cx="552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78</a:t>
              </a:r>
            </a:p>
          </p:txBody>
        </p:sp>
        <p:sp>
          <p:nvSpPr>
            <p:cNvPr id="42" name="項目4"/>
            <p:cNvSpPr/>
            <p:nvPr/>
          </p:nvSpPr>
          <p:spPr>
            <a:xfrm>
              <a:off x="10934700" y="2667000"/>
              <a:ext cx="5524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4Q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ミニ棒グラフ（強調1本）</a:t>
            </a:r>
          </a:p>
        </p:txBody>
      </p:sp>
      <p:grpSp>
        <p:nvGrpSpPr>
          <p:cNvPr id="44" name="データ01b_KPIカード濃色"/>
          <p:cNvGrpSpPr/>
          <p:nvPr/>
        </p:nvGrpSpPr>
        <p:grpSpPr>
          <a:xfrm>
            <a:off x="676275" y="4286250"/>
            <a:ext cx="2095500" cy="1257300"/>
            <a:chOff x="676275" y="4286250"/>
            <a:chExt cx="2095500" cy="1257300"/>
          </a:xfrm>
        </p:grpSpPr>
        <p:sp>
          <p:nvSpPr>
            <p:cNvPr id="45" name="カード"/>
            <p:cNvSpPr/>
            <p:nvPr/>
          </p:nvSpPr>
          <p:spPr>
            <a:xfrm>
              <a:off x="676275" y="4286250"/>
              <a:ext cx="2095500" cy="1257300"/>
            </a:xfrm>
            <a:prstGeom prst="roundRect">
              <a:avLst>
                <a:gd name="adj" fmla="val 606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指標名"/>
            <p:cNvSpPr/>
            <p:nvPr/>
          </p:nvSpPr>
          <p:spPr>
            <a:xfrm>
              <a:off x="828675" y="4419600"/>
              <a:ext cx="1790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営業利益（億円）</a:t>
              </a:r>
            </a:p>
          </p:txBody>
        </p:sp>
        <p:sp>
          <p:nvSpPr>
            <p:cNvPr id="47" name="数値"/>
            <p:cNvSpPr/>
            <p:nvPr/>
          </p:nvSpPr>
          <p:spPr>
            <a:xfrm>
              <a:off x="828675" y="4629150"/>
              <a:ext cx="1790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lt1"/>
                  </a:solidFill>
                </a:rPr>
                <a:t>24.6</a:t>
              </a:r>
            </a:p>
          </p:txBody>
        </p:sp>
        <p:sp>
          <p:nvSpPr>
            <p:cNvPr id="48" name="前期比ラベル"/>
            <p:cNvSpPr/>
            <p:nvPr/>
          </p:nvSpPr>
          <p:spPr>
            <a:xfrm>
              <a:off x="828675" y="52387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前期比</a:t>
              </a:r>
            </a:p>
          </p:txBody>
        </p:sp>
        <p:sp>
          <p:nvSpPr>
            <p:cNvPr id="49" name="増減トライアングル"/>
            <p:cNvSpPr/>
            <p:nvPr/>
          </p:nvSpPr>
          <p:spPr>
            <a:xfrm rot="10800000">
              <a:off x="1895475" y="527685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増減値"/>
            <p:cNvSpPr/>
            <p:nvPr/>
          </p:nvSpPr>
          <p:spPr>
            <a:xfrm>
              <a:off x="2047875" y="52387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2"/>
                  </a:solidFill>
                </a:rPr>
                <a:t>-3.2%</a:t>
              </a:r>
            </a:p>
          </p:txBody>
        </p:sp>
      </p:grpSp>
      <p:sp>
        <p:nvSpPr>
          <p:cNvPr id="51" name="Rectangle 50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01b KPIカード・濃色（朱は1点まで）</a:t>
            </a:r>
          </a:p>
        </p:txBody>
      </p:sp>
      <p:grpSp>
        <p:nvGrpSpPr>
          <p:cNvPr id="52" name="データ02b_進捗バー複数行"/>
          <p:cNvGrpSpPr/>
          <p:nvPr/>
        </p:nvGrpSpPr>
        <p:grpSpPr>
          <a:xfrm>
            <a:off x="3590925" y="4676775"/>
            <a:ext cx="2095500" cy="838200"/>
            <a:chOff x="3590925" y="4676775"/>
            <a:chExt cx="2095500" cy="838200"/>
          </a:xfrm>
        </p:grpSpPr>
        <p:sp>
          <p:nvSpPr>
            <p:cNvPr id="53" name="項目1"/>
            <p:cNvSpPr/>
            <p:nvPr/>
          </p:nvSpPr>
          <p:spPr>
            <a:xfrm>
              <a:off x="3590925" y="4686300"/>
              <a:ext cx="533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施策A</a:t>
              </a:r>
            </a:p>
          </p:txBody>
        </p:sp>
        <p:sp>
          <p:nvSpPr>
            <p:cNvPr id="54" name="バー地1"/>
            <p:cNvSpPr/>
            <p:nvPr/>
          </p:nvSpPr>
          <p:spPr>
            <a:xfrm>
              <a:off x="4200525" y="4705350"/>
              <a:ext cx="1066800" cy="952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バー値1"/>
            <p:cNvSpPr/>
            <p:nvPr/>
          </p:nvSpPr>
          <p:spPr>
            <a:xfrm>
              <a:off x="4200525" y="4705350"/>
              <a:ext cx="857250" cy="95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数値1"/>
            <p:cNvSpPr/>
            <p:nvPr/>
          </p:nvSpPr>
          <p:spPr>
            <a:xfrm>
              <a:off x="5343525" y="4676775"/>
              <a:ext cx="342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80%</a:t>
              </a:r>
            </a:p>
          </p:txBody>
        </p:sp>
        <p:sp>
          <p:nvSpPr>
            <p:cNvPr id="57" name="項目2"/>
            <p:cNvSpPr/>
            <p:nvPr/>
          </p:nvSpPr>
          <p:spPr>
            <a:xfrm>
              <a:off x="3590925" y="5029200"/>
              <a:ext cx="533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施策B</a:t>
              </a:r>
            </a:p>
          </p:txBody>
        </p:sp>
        <p:sp>
          <p:nvSpPr>
            <p:cNvPr id="58" name="バー地2"/>
            <p:cNvSpPr/>
            <p:nvPr/>
          </p:nvSpPr>
          <p:spPr>
            <a:xfrm>
              <a:off x="4200525" y="5048250"/>
              <a:ext cx="1066800" cy="952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バー値2"/>
            <p:cNvSpPr/>
            <p:nvPr/>
          </p:nvSpPr>
          <p:spPr>
            <a:xfrm>
              <a:off x="4200525" y="5048250"/>
              <a:ext cx="590550" cy="95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数値2"/>
            <p:cNvSpPr/>
            <p:nvPr/>
          </p:nvSpPr>
          <p:spPr>
            <a:xfrm>
              <a:off x="5343525" y="5019675"/>
              <a:ext cx="342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55%</a:t>
              </a:r>
            </a:p>
          </p:txBody>
        </p:sp>
        <p:sp>
          <p:nvSpPr>
            <p:cNvPr id="61" name="項目3"/>
            <p:cNvSpPr/>
            <p:nvPr/>
          </p:nvSpPr>
          <p:spPr>
            <a:xfrm>
              <a:off x="3590925" y="5372100"/>
              <a:ext cx="533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施策C</a:t>
              </a:r>
            </a:p>
          </p:txBody>
        </p:sp>
        <p:sp>
          <p:nvSpPr>
            <p:cNvPr id="62" name="バー地3"/>
            <p:cNvSpPr/>
            <p:nvPr/>
          </p:nvSpPr>
          <p:spPr>
            <a:xfrm>
              <a:off x="4200525" y="5391150"/>
              <a:ext cx="1066800" cy="952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バー値3"/>
            <p:cNvSpPr/>
            <p:nvPr/>
          </p:nvSpPr>
          <p:spPr>
            <a:xfrm>
              <a:off x="4200525" y="5391150"/>
              <a:ext cx="323850" cy="95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数値3"/>
            <p:cNvSpPr/>
            <p:nvPr/>
          </p:nvSpPr>
          <p:spPr>
            <a:xfrm>
              <a:off x="5343525" y="5362575"/>
              <a:ext cx="342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30%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02b 進捗バー・複数行</a:t>
            </a:r>
          </a:p>
        </p:txBody>
      </p:sp>
      <p:grpSp>
        <p:nvGrpSpPr>
          <p:cNvPr id="66" name="データ03b_半円ゲージ細リング"/>
          <p:cNvGrpSpPr/>
          <p:nvPr/>
        </p:nvGrpSpPr>
        <p:grpSpPr>
          <a:xfrm>
            <a:off x="6677025" y="4476750"/>
            <a:ext cx="1752600" cy="1485900"/>
            <a:chOff x="6677025" y="4476750"/>
            <a:chExt cx="1752600" cy="1485900"/>
          </a:xfrm>
        </p:grpSpPr>
        <p:sp>
          <p:nvSpPr>
            <p:cNvPr id="67" name="ゲージ地"/>
            <p:cNvSpPr/>
            <p:nvPr/>
          </p:nvSpPr>
          <p:spPr>
            <a:xfrm>
              <a:off x="6810375" y="4476750"/>
              <a:ext cx="1485900" cy="1485900"/>
            </a:xfrm>
            <a:prstGeom prst="blockArc">
              <a:avLst>
                <a:gd name="adj1" fmla="val 10800000"/>
                <a:gd name="adj2" fmla="val 0"/>
                <a:gd name="adj3" fmla="val 7692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ゲージ値"/>
            <p:cNvSpPr/>
            <p:nvPr/>
          </p:nvSpPr>
          <p:spPr>
            <a:xfrm>
              <a:off x="6810375" y="4476750"/>
              <a:ext cx="1485900" cy="1485900"/>
            </a:xfrm>
            <a:prstGeom prst="blockArc">
              <a:avLst>
                <a:gd name="adj1" fmla="val 10800000"/>
                <a:gd name="adj2" fmla="val 14256000"/>
                <a:gd name="adj3" fmla="val 769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針"/>
            <p:cNvCxnSpPr/>
            <p:nvPr/>
          </p:nvCxnSpPr>
          <p:spPr>
            <a:xfrm flipH="1" flipV="1">
              <a:off x="7267514" y="4769335"/>
              <a:ext cx="285811" cy="450365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針軸"/>
            <p:cNvSpPr/>
            <p:nvPr/>
          </p:nvSpPr>
          <p:spPr>
            <a:xfrm>
              <a:off x="7505700" y="517207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数値"/>
            <p:cNvSpPr/>
            <p:nvPr/>
          </p:nvSpPr>
          <p:spPr>
            <a:xfrm>
              <a:off x="7124700" y="5334000"/>
              <a:ext cx="857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32%</a:t>
              </a:r>
            </a:p>
          </p:txBody>
        </p:sp>
        <p:sp>
          <p:nvSpPr>
            <p:cNvPr id="72" name="ラベル"/>
            <p:cNvSpPr/>
            <p:nvPr/>
          </p:nvSpPr>
          <p:spPr>
            <a:xfrm>
              <a:off x="7077075" y="5619750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達成率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677025" y="52768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8048625" y="52768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100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62198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03b 半円ゲージ・細リング</a:t>
            </a:r>
          </a:p>
        </p:txBody>
      </p:sp>
      <p:grpSp>
        <p:nvGrpSpPr>
          <p:cNvPr id="76" name="データ04b_ミニ横棒グラフ"/>
          <p:cNvGrpSpPr/>
          <p:nvPr/>
        </p:nvGrpSpPr>
        <p:grpSpPr>
          <a:xfrm>
            <a:off x="9420225" y="4495800"/>
            <a:ext cx="2257425" cy="1123950"/>
            <a:chOff x="9420225" y="4495800"/>
            <a:chExt cx="2257425" cy="1123950"/>
          </a:xfrm>
        </p:grpSpPr>
        <p:cxnSp>
          <p:nvCxnSpPr>
            <p:cNvPr id="77" name="基準線"/>
            <p:cNvCxnSpPr/>
            <p:nvPr/>
          </p:nvCxnSpPr>
          <p:spPr>
            <a:xfrm>
              <a:off x="9972675" y="4495800"/>
              <a:ext cx="0" cy="11239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項目1"/>
            <p:cNvSpPr/>
            <p:nvPr/>
          </p:nvSpPr>
          <p:spPr>
            <a:xfrm>
              <a:off x="9420225" y="455295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A事業</a:t>
              </a:r>
            </a:p>
          </p:txBody>
        </p:sp>
        <p:sp>
          <p:nvSpPr>
            <p:cNvPr id="79" name="横棒1"/>
            <p:cNvSpPr/>
            <p:nvPr/>
          </p:nvSpPr>
          <p:spPr>
            <a:xfrm>
              <a:off x="9972675" y="4552950"/>
              <a:ext cx="1266825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値1"/>
            <p:cNvSpPr/>
            <p:nvPr/>
          </p:nvSpPr>
          <p:spPr>
            <a:xfrm>
              <a:off x="11296650" y="45529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78</a:t>
              </a:r>
            </a:p>
          </p:txBody>
        </p:sp>
        <p:sp>
          <p:nvSpPr>
            <p:cNvPr id="81" name="項目2"/>
            <p:cNvSpPr/>
            <p:nvPr/>
          </p:nvSpPr>
          <p:spPr>
            <a:xfrm>
              <a:off x="9420225" y="48387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B事業</a:t>
              </a:r>
            </a:p>
          </p:txBody>
        </p:sp>
        <p:sp>
          <p:nvSpPr>
            <p:cNvPr id="82" name="横棒2"/>
            <p:cNvSpPr/>
            <p:nvPr/>
          </p:nvSpPr>
          <p:spPr>
            <a:xfrm>
              <a:off x="9972675" y="4838700"/>
              <a:ext cx="89535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値2"/>
            <p:cNvSpPr/>
            <p:nvPr/>
          </p:nvSpPr>
          <p:spPr>
            <a:xfrm>
              <a:off x="10925175" y="483870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55</a:t>
              </a:r>
            </a:p>
          </p:txBody>
        </p:sp>
        <p:sp>
          <p:nvSpPr>
            <p:cNvPr id="84" name="項目3"/>
            <p:cNvSpPr/>
            <p:nvPr/>
          </p:nvSpPr>
          <p:spPr>
            <a:xfrm>
              <a:off x="9420225" y="512445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C事業</a:t>
              </a:r>
            </a:p>
          </p:txBody>
        </p:sp>
        <p:sp>
          <p:nvSpPr>
            <p:cNvPr id="85" name="横棒3"/>
            <p:cNvSpPr/>
            <p:nvPr/>
          </p:nvSpPr>
          <p:spPr>
            <a:xfrm>
              <a:off x="9972675" y="5124450"/>
              <a:ext cx="78105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値3"/>
            <p:cNvSpPr/>
            <p:nvPr/>
          </p:nvSpPr>
          <p:spPr>
            <a:xfrm>
              <a:off x="10810875" y="512445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48</a:t>
              </a:r>
            </a:p>
          </p:txBody>
        </p:sp>
        <p:sp>
          <p:nvSpPr>
            <p:cNvPr id="87" name="項目4"/>
            <p:cNvSpPr/>
            <p:nvPr/>
          </p:nvSpPr>
          <p:spPr>
            <a:xfrm>
              <a:off x="9420225" y="54102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D事業</a:t>
              </a:r>
            </a:p>
          </p:txBody>
        </p:sp>
        <p:sp>
          <p:nvSpPr>
            <p:cNvPr id="88" name="横棒4"/>
            <p:cNvSpPr/>
            <p:nvPr/>
          </p:nvSpPr>
          <p:spPr>
            <a:xfrm>
              <a:off x="9972675" y="5410200"/>
              <a:ext cx="64770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値4"/>
            <p:cNvSpPr/>
            <p:nvPr/>
          </p:nvSpPr>
          <p:spPr>
            <a:xfrm>
              <a:off x="10677525" y="5410200"/>
              <a:ext cx="381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40</a:t>
              </a:r>
            </a:p>
          </p:txBody>
        </p:sp>
      </p:grpSp>
      <p:sp>
        <p:nvSpPr>
          <p:cNvPr id="90" name="Rectangle 89"/>
          <p:cNvSpPr/>
          <p:nvPr/>
        </p:nvSpPr>
        <p:spPr>
          <a:xfrm>
            <a:off x="91344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04b ミニ横棒グラフ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パーツ図鑑｜⑦ データ表現 — 構成・推移4種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朱（アクセント）は減少表現の1点のみ</a:t>
            </a:r>
          </a:p>
        </p:txBody>
      </p:sp>
      <p:grpSp>
        <p:nvGrpSpPr>
          <p:cNvPr id="5" name="データ05_積み上げ横棒"/>
          <p:cNvGrpSpPr/>
          <p:nvPr/>
        </p:nvGrpSpPr>
        <p:grpSpPr>
          <a:xfrm>
            <a:off x="676275" y="2000250"/>
            <a:ext cx="4953000" cy="628650"/>
            <a:chOff x="676275" y="2000250"/>
            <a:chExt cx="4953000" cy="628650"/>
          </a:xfrm>
        </p:grpSpPr>
        <p:sp>
          <p:nvSpPr>
            <p:cNvPr id="6" name="セグメント1"/>
            <p:cNvSpPr/>
            <p:nvPr/>
          </p:nvSpPr>
          <p:spPr>
            <a:xfrm>
              <a:off x="676275" y="2000250"/>
              <a:ext cx="222885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直接ラベル1"/>
            <p:cNvSpPr/>
            <p:nvPr/>
          </p:nvSpPr>
          <p:spPr>
            <a:xfrm>
              <a:off x="676275" y="2000250"/>
              <a:ext cx="22288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製品A　45%</a:t>
              </a:r>
            </a:p>
          </p:txBody>
        </p:sp>
        <p:sp>
          <p:nvSpPr>
            <p:cNvPr id="8" name="セグメント2"/>
            <p:cNvSpPr/>
            <p:nvPr/>
          </p:nvSpPr>
          <p:spPr>
            <a:xfrm>
              <a:off x="2905125" y="2000250"/>
              <a:ext cx="14859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直接ラベル2"/>
            <p:cNvSpPr/>
            <p:nvPr/>
          </p:nvSpPr>
          <p:spPr>
            <a:xfrm>
              <a:off x="2905125" y="2000250"/>
              <a:ext cx="14859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製品B　30%</a:t>
              </a:r>
            </a:p>
          </p:txBody>
        </p:sp>
        <p:sp>
          <p:nvSpPr>
            <p:cNvPr id="10" name="セグメント3"/>
            <p:cNvSpPr/>
            <p:nvPr/>
          </p:nvSpPr>
          <p:spPr>
            <a:xfrm>
              <a:off x="4391025" y="2000250"/>
              <a:ext cx="1238250" cy="419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直接ラベル3"/>
            <p:cNvSpPr/>
            <p:nvPr/>
          </p:nvSpPr>
          <p:spPr>
            <a:xfrm>
              <a:off x="4391025" y="2000250"/>
              <a:ext cx="1238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製品C　25%</a:t>
              </a:r>
            </a:p>
          </p:txBody>
        </p:sp>
        <p:sp>
          <p:nvSpPr>
            <p:cNvPr id="12" name="目盛0"/>
            <p:cNvSpPr/>
            <p:nvPr/>
          </p:nvSpPr>
          <p:spPr>
            <a:xfrm>
              <a:off x="676275" y="24955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0%</a:t>
              </a:r>
            </a:p>
          </p:txBody>
        </p:sp>
        <p:sp>
          <p:nvSpPr>
            <p:cNvPr id="13" name="目盛100"/>
            <p:cNvSpPr/>
            <p:nvPr/>
          </p:nvSpPr>
          <p:spPr>
            <a:xfrm>
              <a:off x="5057775" y="24955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100%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3905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05 100%積み上げ横棒（直接ラベル）</a:t>
            </a:r>
          </a:p>
        </p:txBody>
      </p:sp>
      <p:grpSp>
        <p:nvGrpSpPr>
          <p:cNvPr id="15" name="データ06_滝グラフ"/>
          <p:cNvGrpSpPr/>
          <p:nvPr/>
        </p:nvGrpSpPr>
        <p:grpSpPr>
          <a:xfrm>
            <a:off x="6505575" y="1352550"/>
            <a:ext cx="4953000" cy="1619250"/>
            <a:chOff x="6505575" y="1352550"/>
            <a:chExt cx="4953000" cy="1619250"/>
          </a:xfrm>
        </p:grpSpPr>
        <p:cxnSp>
          <p:nvCxnSpPr>
            <p:cNvPr id="16" name="基準線"/>
            <p:cNvCxnSpPr/>
            <p:nvPr/>
          </p:nvCxnSpPr>
          <p:spPr>
            <a:xfrm>
              <a:off x="6505575" y="276225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1"/>
            <p:cNvCxnSpPr/>
            <p:nvPr/>
          </p:nvCxnSpPr>
          <p:spPr>
            <a:xfrm>
              <a:off x="7419975" y="1952625"/>
              <a:ext cx="3238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2"/>
            <p:cNvCxnSpPr/>
            <p:nvPr/>
          </p:nvCxnSpPr>
          <p:spPr>
            <a:xfrm>
              <a:off x="8353425" y="1704975"/>
              <a:ext cx="3238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3"/>
            <p:cNvCxnSpPr/>
            <p:nvPr/>
          </p:nvCxnSpPr>
          <p:spPr>
            <a:xfrm>
              <a:off x="9286875" y="1562100"/>
              <a:ext cx="3238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コネクタ4"/>
            <p:cNvCxnSpPr/>
            <p:nvPr/>
          </p:nvCxnSpPr>
          <p:spPr>
            <a:xfrm>
              <a:off x="10220325" y="1743075"/>
              <a:ext cx="3238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バー_期初"/>
            <p:cNvSpPr/>
            <p:nvPr/>
          </p:nvSpPr>
          <p:spPr>
            <a:xfrm>
              <a:off x="6810375" y="1952625"/>
              <a:ext cx="609600" cy="8096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値_期初"/>
            <p:cNvSpPr/>
            <p:nvPr/>
          </p:nvSpPr>
          <p:spPr>
            <a:xfrm>
              <a:off x="6715125" y="1743075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100</a:t>
              </a:r>
            </a:p>
          </p:txBody>
        </p:sp>
        <p:sp>
          <p:nvSpPr>
            <p:cNvPr id="23" name="項目_期初"/>
            <p:cNvSpPr/>
            <p:nvPr/>
          </p:nvSpPr>
          <p:spPr>
            <a:xfrm>
              <a:off x="6715125" y="283845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期初</a:t>
              </a:r>
            </a:p>
          </p:txBody>
        </p:sp>
        <p:sp>
          <p:nvSpPr>
            <p:cNvPr id="24" name="バー_要因A"/>
            <p:cNvSpPr/>
            <p:nvPr/>
          </p:nvSpPr>
          <p:spPr>
            <a:xfrm>
              <a:off x="7743825" y="1704975"/>
              <a:ext cx="6096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値_要因A"/>
            <p:cNvSpPr/>
            <p:nvPr/>
          </p:nvSpPr>
          <p:spPr>
            <a:xfrm>
              <a:off x="7648575" y="1495425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+30</a:t>
              </a:r>
            </a:p>
          </p:txBody>
        </p:sp>
        <p:sp>
          <p:nvSpPr>
            <p:cNvPr id="26" name="項目_要因A"/>
            <p:cNvSpPr/>
            <p:nvPr/>
          </p:nvSpPr>
          <p:spPr>
            <a:xfrm>
              <a:off x="7648575" y="283845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要因A</a:t>
              </a:r>
            </a:p>
          </p:txBody>
        </p:sp>
        <p:sp>
          <p:nvSpPr>
            <p:cNvPr id="27" name="バー_要因B"/>
            <p:cNvSpPr/>
            <p:nvPr/>
          </p:nvSpPr>
          <p:spPr>
            <a:xfrm>
              <a:off x="8677275" y="1562100"/>
              <a:ext cx="609600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値_要因B"/>
            <p:cNvSpPr/>
            <p:nvPr/>
          </p:nvSpPr>
          <p:spPr>
            <a:xfrm>
              <a:off x="8582025" y="1352550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+18</a:t>
              </a:r>
            </a:p>
          </p:txBody>
        </p:sp>
        <p:sp>
          <p:nvSpPr>
            <p:cNvPr id="29" name="項目_要因B"/>
            <p:cNvSpPr/>
            <p:nvPr/>
          </p:nvSpPr>
          <p:spPr>
            <a:xfrm>
              <a:off x="8582025" y="283845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要因B</a:t>
              </a:r>
            </a:p>
          </p:txBody>
        </p:sp>
        <p:sp>
          <p:nvSpPr>
            <p:cNvPr id="30" name="バー_要因C"/>
            <p:cNvSpPr/>
            <p:nvPr/>
          </p:nvSpPr>
          <p:spPr>
            <a:xfrm>
              <a:off x="9610725" y="1562100"/>
              <a:ext cx="609600" cy="180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値_要因C"/>
            <p:cNvSpPr/>
            <p:nvPr/>
          </p:nvSpPr>
          <p:spPr>
            <a:xfrm>
              <a:off x="9515475" y="1352550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2"/>
                  </a:solidFill>
                </a:rPr>
                <a:t>-22</a:t>
              </a:r>
            </a:p>
          </p:txBody>
        </p:sp>
        <p:sp>
          <p:nvSpPr>
            <p:cNvPr id="32" name="項目_要因C"/>
            <p:cNvSpPr/>
            <p:nvPr/>
          </p:nvSpPr>
          <p:spPr>
            <a:xfrm>
              <a:off x="9515475" y="283845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要因C</a:t>
              </a:r>
            </a:p>
          </p:txBody>
        </p:sp>
        <p:sp>
          <p:nvSpPr>
            <p:cNvPr id="33" name="バー_期末"/>
            <p:cNvSpPr/>
            <p:nvPr/>
          </p:nvSpPr>
          <p:spPr>
            <a:xfrm>
              <a:off x="10544175" y="1743075"/>
              <a:ext cx="609600" cy="10191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期末"/>
            <p:cNvSpPr/>
            <p:nvPr/>
          </p:nvSpPr>
          <p:spPr>
            <a:xfrm>
              <a:off x="10448925" y="1533525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126</a:t>
              </a:r>
            </a:p>
          </p:txBody>
        </p:sp>
        <p:sp>
          <p:nvSpPr>
            <p:cNvPr id="35" name="項目_期末"/>
            <p:cNvSpPr/>
            <p:nvPr/>
          </p:nvSpPr>
          <p:spPr>
            <a:xfrm>
              <a:off x="10448925" y="283845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期末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62198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滝グラフ骨格（増=青・減=朱・点線コネクタ）</a:t>
            </a:r>
          </a:p>
        </p:txBody>
      </p:sp>
      <p:grpSp>
        <p:nvGrpSpPr>
          <p:cNvPr id="37" name="データ07_スパークライン"/>
          <p:cNvGrpSpPr/>
          <p:nvPr/>
        </p:nvGrpSpPr>
        <p:grpSpPr>
          <a:xfrm>
            <a:off x="676275" y="4705350"/>
            <a:ext cx="2095500" cy="647700"/>
            <a:chOff x="676275" y="4705350"/>
            <a:chExt cx="2095500" cy="647700"/>
          </a:xfrm>
        </p:grpSpPr>
        <p:sp>
          <p:nvSpPr>
            <p:cNvPr id="38" name="折れ線"/>
            <p:cNvSpPr/>
            <p:nvPr/>
          </p:nvSpPr>
          <p:spPr>
            <a:xfrm>
              <a:off x="676275" y="4743450"/>
              <a:ext cx="1524000" cy="609600"/>
            </a:xfrm>
            <a:custGeom>
              <a:avLst/>
              <a:gdLst/>
              <a:ahLst/>
              <a:cxnLst/>
              <a:rect l="0" t="0" r="1524000" b="609600"/>
              <a:pathLst>
                <a:path w="1524000" h="609600" fill="none">
                  <a:moveTo>
                    <a:pt x="0" y="475488"/>
                  </a:moveTo>
                  <a:lnTo>
                    <a:pt x="213360" y="335280"/>
                  </a:lnTo>
                  <a:lnTo>
                    <a:pt x="426720" y="402336"/>
                  </a:lnTo>
                  <a:lnTo>
                    <a:pt x="655320" y="219456"/>
                  </a:lnTo>
                  <a:lnTo>
                    <a:pt x="868679" y="304800"/>
                  </a:lnTo>
                  <a:lnTo>
                    <a:pt x="1097280" y="146304"/>
                  </a:lnTo>
                  <a:lnTo>
                    <a:pt x="1310640" y="207264"/>
                  </a:lnTo>
                  <a:lnTo>
                    <a:pt x="1524000" y="6096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終点ドット"/>
            <p:cNvSpPr/>
            <p:nvPr/>
          </p:nvSpPr>
          <p:spPr>
            <a:xfrm>
              <a:off x="2162175" y="476631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最新値"/>
            <p:cNvSpPr/>
            <p:nvPr/>
          </p:nvSpPr>
          <p:spPr>
            <a:xfrm>
              <a:off x="2314575" y="4705350"/>
              <a:ext cx="4572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128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スパークライン（終点ドット）</a:t>
            </a:r>
          </a:p>
        </p:txBody>
      </p:sp>
      <p:grpSp>
        <p:nvGrpSpPr>
          <p:cNvPr id="42" name="データ07b_スパークラインKPI"/>
          <p:cNvGrpSpPr/>
          <p:nvPr/>
        </p:nvGrpSpPr>
        <p:grpSpPr>
          <a:xfrm>
            <a:off x="3590925" y="4457700"/>
            <a:ext cx="2095500" cy="1143000"/>
            <a:chOff x="3590925" y="4457700"/>
            <a:chExt cx="2095500" cy="1143000"/>
          </a:xfrm>
        </p:grpSpPr>
        <p:sp>
          <p:nvSpPr>
            <p:cNvPr id="43" name="カード"/>
            <p:cNvSpPr/>
            <p:nvPr/>
          </p:nvSpPr>
          <p:spPr>
            <a:xfrm>
              <a:off x="3590925" y="4457700"/>
              <a:ext cx="2095500" cy="1143000"/>
            </a:xfrm>
            <a:prstGeom prst="roundRect">
              <a:avLst>
                <a:gd name="adj" fmla="val 666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指標名"/>
            <p:cNvSpPr/>
            <p:nvPr/>
          </p:nvSpPr>
          <p:spPr>
            <a:xfrm>
              <a:off x="3743325" y="457200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受注件数（件）</a:t>
              </a:r>
            </a:p>
          </p:txBody>
        </p:sp>
        <p:sp>
          <p:nvSpPr>
            <p:cNvPr id="45" name="数値"/>
            <p:cNvSpPr/>
            <p:nvPr/>
          </p:nvSpPr>
          <p:spPr>
            <a:xfrm>
              <a:off x="4448175" y="4781550"/>
              <a:ext cx="10858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600" b="1">
                  <a:solidFill>
                    <a:schemeClr val="dk2"/>
                  </a:solidFill>
                </a:rPr>
                <a:t>482</a:t>
              </a:r>
            </a:p>
          </p:txBody>
        </p:sp>
        <p:sp>
          <p:nvSpPr>
            <p:cNvPr id="46" name="ミニ折れ線"/>
            <p:cNvSpPr/>
            <p:nvPr/>
          </p:nvSpPr>
          <p:spPr>
            <a:xfrm>
              <a:off x="3743325" y="5257800"/>
              <a:ext cx="857250" cy="209550"/>
            </a:xfrm>
            <a:custGeom>
              <a:avLst/>
              <a:gdLst/>
              <a:ahLst/>
              <a:cxnLst/>
              <a:rect l="0" t="0" r="857250" b="209550"/>
              <a:pathLst>
                <a:path w="857250" h="209550" fill="none">
                  <a:moveTo>
                    <a:pt x="0" y="188595"/>
                  </a:moveTo>
                  <a:lnTo>
                    <a:pt x="171450" y="125730"/>
                  </a:lnTo>
                  <a:lnTo>
                    <a:pt x="342900" y="157162"/>
                  </a:lnTo>
                  <a:lnTo>
                    <a:pt x="514350" y="83820"/>
                  </a:lnTo>
                  <a:lnTo>
                    <a:pt x="685800" y="115252"/>
                  </a:lnTo>
                  <a:lnTo>
                    <a:pt x="857250" y="20955"/>
                  </a:lnTo>
                </a:path>
              </a:pathLst>
            </a:custGeom>
            <a:noFill/>
            <a:ln w="16668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終点ドット"/>
            <p:cNvSpPr/>
            <p:nvPr/>
          </p:nvSpPr>
          <p:spPr>
            <a:xfrm>
              <a:off x="4572000" y="525018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増減トライアングル"/>
            <p:cNvSpPr/>
            <p:nvPr/>
          </p:nvSpPr>
          <p:spPr>
            <a:xfrm>
              <a:off x="5019675" y="5295900"/>
              <a:ext cx="95250" cy="8572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増減値"/>
            <p:cNvSpPr/>
            <p:nvPr/>
          </p:nvSpPr>
          <p:spPr>
            <a:xfrm>
              <a:off x="5153025" y="5257800"/>
              <a:ext cx="38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+8%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07b スパークラインKPI（応用）</a:t>
            </a:r>
          </a:p>
        </p:txBody>
      </p:sp>
      <p:grpSp>
        <p:nvGrpSpPr>
          <p:cNvPr id="51" name="データ08_ビュレットバー"/>
          <p:cNvGrpSpPr/>
          <p:nvPr/>
        </p:nvGrpSpPr>
        <p:grpSpPr>
          <a:xfrm>
            <a:off x="6505575" y="4657725"/>
            <a:ext cx="4914900" cy="1133475"/>
            <a:chOff x="6505575" y="4657725"/>
            <a:chExt cx="4914900" cy="1133475"/>
          </a:xfrm>
        </p:grpSpPr>
        <p:sp>
          <p:nvSpPr>
            <p:cNvPr id="52" name="項目1"/>
            <p:cNvSpPr/>
            <p:nvPr/>
          </p:nvSpPr>
          <p:spPr>
            <a:xfrm>
              <a:off x="6505575" y="4714875"/>
              <a:ext cx="1009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売上（億円）</a:t>
              </a:r>
            </a:p>
          </p:txBody>
        </p:sp>
        <p:sp>
          <p:nvSpPr>
            <p:cNvPr id="53" name="レンジ1"/>
            <p:cNvSpPr/>
            <p:nvPr/>
          </p:nvSpPr>
          <p:spPr>
            <a:xfrm>
              <a:off x="7610475" y="4705350"/>
              <a:ext cx="3143250" cy="171450"/>
            </a:xfrm>
            <a:prstGeom prst="roundRect">
              <a:avLst>
                <a:gd name="adj" fmla="val 1111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実績1"/>
            <p:cNvSpPr/>
            <p:nvPr/>
          </p:nvSpPr>
          <p:spPr>
            <a:xfrm>
              <a:off x="7610475" y="4752975"/>
              <a:ext cx="21336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目標線1"/>
            <p:cNvCxnSpPr/>
            <p:nvPr/>
          </p:nvCxnSpPr>
          <p:spPr>
            <a:xfrm>
              <a:off x="10334625" y="4657725"/>
              <a:ext cx="0" cy="266700"/>
            </a:xfrm>
            <a:prstGeom prst="bentConnector3">
              <a:avLst/>
            </a:prstGeom>
            <a:ln w="23812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数値1"/>
            <p:cNvSpPr/>
            <p:nvPr/>
          </p:nvSpPr>
          <p:spPr>
            <a:xfrm>
              <a:off x="10810875" y="470535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102</a:t>
              </a:r>
            </a:p>
          </p:txBody>
        </p:sp>
        <p:sp>
          <p:nvSpPr>
            <p:cNvPr id="57" name="項目2"/>
            <p:cNvSpPr/>
            <p:nvPr/>
          </p:nvSpPr>
          <p:spPr>
            <a:xfrm>
              <a:off x="6505575" y="5229225"/>
              <a:ext cx="1009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粗利（億円）</a:t>
              </a:r>
            </a:p>
          </p:txBody>
        </p:sp>
        <p:sp>
          <p:nvSpPr>
            <p:cNvPr id="58" name="レンジ2"/>
            <p:cNvSpPr/>
            <p:nvPr/>
          </p:nvSpPr>
          <p:spPr>
            <a:xfrm>
              <a:off x="7610475" y="5219700"/>
              <a:ext cx="3143250" cy="171450"/>
            </a:xfrm>
            <a:prstGeom prst="roundRect">
              <a:avLst>
                <a:gd name="adj" fmla="val 1111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実績2"/>
            <p:cNvSpPr/>
            <p:nvPr/>
          </p:nvSpPr>
          <p:spPr>
            <a:xfrm>
              <a:off x="7610475" y="5267325"/>
              <a:ext cx="2276475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目標線2"/>
            <p:cNvCxnSpPr/>
            <p:nvPr/>
          </p:nvCxnSpPr>
          <p:spPr>
            <a:xfrm>
              <a:off x="9772650" y="5172075"/>
              <a:ext cx="0" cy="266700"/>
            </a:xfrm>
            <a:prstGeom prst="bentConnector3">
              <a:avLst/>
            </a:prstGeom>
            <a:ln w="23812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数値2"/>
            <p:cNvSpPr/>
            <p:nvPr/>
          </p:nvSpPr>
          <p:spPr>
            <a:xfrm>
              <a:off x="10810875" y="521970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58</a:t>
              </a:r>
            </a:p>
          </p:txBody>
        </p:sp>
        <p:cxnSp>
          <p:nvCxnSpPr>
            <p:cNvPr id="62" name="凡例_目標線"/>
            <p:cNvCxnSpPr/>
            <p:nvPr/>
          </p:nvCxnSpPr>
          <p:spPr>
            <a:xfrm>
              <a:off x="7648575" y="5657850"/>
              <a:ext cx="0" cy="133350"/>
            </a:xfrm>
            <a:prstGeom prst="bentConnector3">
              <a:avLst/>
            </a:prstGeom>
            <a:ln w="23812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凡例1"/>
            <p:cNvSpPr/>
            <p:nvPr/>
          </p:nvSpPr>
          <p:spPr>
            <a:xfrm>
              <a:off x="7724775" y="5657850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縦線＝目標値</a:t>
              </a:r>
            </a:p>
          </p:txBody>
        </p:sp>
        <p:sp>
          <p:nvSpPr>
            <p:cNvPr id="64" name="凡例_実績バー"/>
            <p:cNvSpPr/>
            <p:nvPr/>
          </p:nvSpPr>
          <p:spPr>
            <a:xfrm>
              <a:off x="8696325" y="5695950"/>
              <a:ext cx="2476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凡例2"/>
            <p:cNvSpPr/>
            <p:nvPr/>
          </p:nvSpPr>
          <p:spPr>
            <a:xfrm>
              <a:off x="9001125" y="5657850"/>
              <a:ext cx="1047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バー＝実績</a:t>
              </a:r>
            </a:p>
          </p:txBody>
        </p:sp>
      </p:grpSp>
      <p:sp>
        <p:nvSpPr>
          <p:cNvPr id="66" name="Rectangle 65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ビュレットバー（実績×目標）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売上は計画比112%で着地、商談数の減少だけが来月の論点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KPI売上"/>
          <p:cNvGrpSpPr/>
          <p:nvPr/>
        </p:nvGrpSpPr>
        <p:grpSpPr>
          <a:xfrm>
            <a:off x="1143000" y="1047750"/>
            <a:ext cx="2857500" cy="1257300"/>
            <a:chOff x="1143000" y="1047750"/>
            <a:chExt cx="2857500" cy="1257300"/>
          </a:xfrm>
        </p:grpSpPr>
        <p:sp>
          <p:nvSpPr>
            <p:cNvPr id="6" name="カード"/>
            <p:cNvSpPr/>
            <p:nvPr/>
          </p:nvSpPr>
          <p:spPr>
            <a:xfrm>
              <a:off x="1143000" y="1047750"/>
              <a:ext cx="2857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指標名"/>
            <p:cNvSpPr/>
            <p:nvPr/>
          </p:nvSpPr>
          <p:spPr>
            <a:xfrm>
              <a:off x="1295400" y="118110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8" name="数値"/>
            <p:cNvSpPr/>
            <p:nvPr/>
          </p:nvSpPr>
          <p:spPr>
            <a:xfrm>
              <a:off x="1295400" y="1390650"/>
              <a:ext cx="2552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12.8</a:t>
              </a:r>
            </a:p>
          </p:txBody>
        </p:sp>
        <p:sp>
          <p:nvSpPr>
            <p:cNvPr id="9" name="前期比ラベル"/>
            <p:cNvSpPr/>
            <p:nvPr/>
          </p:nvSpPr>
          <p:spPr>
            <a:xfrm>
              <a:off x="129540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前期比</a:t>
              </a:r>
            </a:p>
          </p:txBody>
        </p:sp>
        <p:sp>
          <p:nvSpPr>
            <p:cNvPr id="10" name="増減トライアングル"/>
            <p:cNvSpPr/>
            <p:nvPr/>
          </p:nvSpPr>
          <p:spPr>
            <a:xfrm>
              <a:off x="3124200" y="20383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増減値"/>
            <p:cNvSpPr/>
            <p:nvPr/>
          </p:nvSpPr>
          <p:spPr>
            <a:xfrm>
              <a:off x="327660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+12.4%</a:t>
              </a:r>
            </a:p>
          </p:txBody>
        </p:sp>
      </p:grpSp>
      <p:grpSp>
        <p:nvGrpSpPr>
          <p:cNvPr id="12" name="使用例_KPI粗利"/>
          <p:cNvGrpSpPr/>
          <p:nvPr/>
        </p:nvGrpSpPr>
        <p:grpSpPr>
          <a:xfrm>
            <a:off x="4476750" y="1047750"/>
            <a:ext cx="2857500" cy="1257300"/>
            <a:chOff x="4476750" y="1047750"/>
            <a:chExt cx="2857500" cy="1257300"/>
          </a:xfrm>
        </p:grpSpPr>
        <p:sp>
          <p:nvSpPr>
            <p:cNvPr id="13" name="カード"/>
            <p:cNvSpPr/>
            <p:nvPr/>
          </p:nvSpPr>
          <p:spPr>
            <a:xfrm>
              <a:off x="4476750" y="1047750"/>
              <a:ext cx="2857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指標名"/>
            <p:cNvSpPr/>
            <p:nvPr/>
          </p:nvSpPr>
          <p:spPr>
            <a:xfrm>
              <a:off x="4629150" y="118110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粗利率（%）</a:t>
              </a:r>
            </a:p>
          </p:txBody>
        </p:sp>
        <p:sp>
          <p:nvSpPr>
            <p:cNvPr id="15" name="数値"/>
            <p:cNvSpPr/>
            <p:nvPr/>
          </p:nvSpPr>
          <p:spPr>
            <a:xfrm>
              <a:off x="4629150" y="1390650"/>
              <a:ext cx="2552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38.2</a:t>
              </a:r>
            </a:p>
          </p:txBody>
        </p:sp>
        <p:sp>
          <p:nvSpPr>
            <p:cNvPr id="16" name="前期比ラベル"/>
            <p:cNvSpPr/>
            <p:nvPr/>
          </p:nvSpPr>
          <p:spPr>
            <a:xfrm>
              <a:off x="462915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前期比</a:t>
              </a:r>
            </a:p>
          </p:txBody>
        </p:sp>
        <p:sp>
          <p:nvSpPr>
            <p:cNvPr id="17" name="増減トライアングル"/>
            <p:cNvSpPr/>
            <p:nvPr/>
          </p:nvSpPr>
          <p:spPr>
            <a:xfrm>
              <a:off x="6457950" y="20383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増減値"/>
            <p:cNvSpPr/>
            <p:nvPr/>
          </p:nvSpPr>
          <p:spPr>
            <a:xfrm>
              <a:off x="661035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+2.1pt</a:t>
              </a:r>
            </a:p>
          </p:txBody>
        </p:sp>
      </p:grpSp>
      <p:grpSp>
        <p:nvGrpSpPr>
          <p:cNvPr id="19" name="使用例_KPI商談"/>
          <p:cNvGrpSpPr/>
          <p:nvPr/>
        </p:nvGrpSpPr>
        <p:grpSpPr>
          <a:xfrm>
            <a:off x="7810500" y="1047750"/>
            <a:ext cx="2857500" cy="1257300"/>
            <a:chOff x="7810500" y="1047750"/>
            <a:chExt cx="2857500" cy="1257300"/>
          </a:xfrm>
        </p:grpSpPr>
        <p:sp>
          <p:nvSpPr>
            <p:cNvPr id="20" name="カード"/>
            <p:cNvSpPr/>
            <p:nvPr/>
          </p:nvSpPr>
          <p:spPr>
            <a:xfrm>
              <a:off x="7810500" y="1047750"/>
              <a:ext cx="2857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指標名"/>
            <p:cNvSpPr/>
            <p:nvPr/>
          </p:nvSpPr>
          <p:spPr>
            <a:xfrm>
              <a:off x="7962900" y="118110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新規商談（件）</a:t>
              </a:r>
            </a:p>
          </p:txBody>
        </p:sp>
        <p:sp>
          <p:nvSpPr>
            <p:cNvPr id="22" name="数値"/>
            <p:cNvSpPr/>
            <p:nvPr/>
          </p:nvSpPr>
          <p:spPr>
            <a:xfrm>
              <a:off x="7962900" y="1390650"/>
              <a:ext cx="2552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214</a:t>
              </a:r>
            </a:p>
          </p:txBody>
        </p:sp>
        <p:sp>
          <p:nvSpPr>
            <p:cNvPr id="23" name="前期比ラベル"/>
            <p:cNvSpPr/>
            <p:nvPr/>
          </p:nvSpPr>
          <p:spPr>
            <a:xfrm>
              <a:off x="796290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前期比</a:t>
              </a:r>
            </a:p>
          </p:txBody>
        </p:sp>
        <p:sp>
          <p:nvSpPr>
            <p:cNvPr id="24" name="増減トライアングル"/>
            <p:cNvSpPr/>
            <p:nvPr/>
          </p:nvSpPr>
          <p:spPr>
            <a:xfrm rot="10800000">
              <a:off x="9791700" y="203835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増減値"/>
            <p:cNvSpPr/>
            <p:nvPr/>
          </p:nvSpPr>
          <p:spPr>
            <a:xfrm>
              <a:off x="9944100" y="20002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2"/>
                  </a:solidFill>
                </a:rPr>
                <a:t>-4.1%</a:t>
              </a:r>
            </a:p>
          </p:txBody>
        </p:sp>
      </p:grpSp>
      <p:grpSp>
        <p:nvGrpSpPr>
          <p:cNvPr id="26" name="使用例_進捗バー"/>
          <p:cNvGrpSpPr/>
          <p:nvPr/>
        </p:nvGrpSpPr>
        <p:grpSpPr>
          <a:xfrm>
            <a:off x="1143000" y="2781300"/>
            <a:ext cx="5334000" cy="571500"/>
            <a:chOff x="1143000" y="2781300"/>
            <a:chExt cx="5334000" cy="571500"/>
          </a:xfrm>
        </p:grpSpPr>
        <p:sp>
          <p:nvSpPr>
            <p:cNvPr id="27" name="ラベル"/>
            <p:cNvSpPr/>
            <p:nvPr/>
          </p:nvSpPr>
          <p:spPr>
            <a:xfrm>
              <a:off x="1143000" y="2857500"/>
              <a:ext cx="4000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通期売上目標（50億円）に対する進捗</a:t>
              </a:r>
            </a:p>
          </p:txBody>
        </p:sp>
        <p:sp>
          <p:nvSpPr>
            <p:cNvPr id="28" name="数値"/>
            <p:cNvSpPr/>
            <p:nvPr/>
          </p:nvSpPr>
          <p:spPr>
            <a:xfrm>
              <a:off x="5143500" y="2781300"/>
              <a:ext cx="13335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64%</a:t>
              </a:r>
            </a:p>
          </p:txBody>
        </p:sp>
        <p:sp>
          <p:nvSpPr>
            <p:cNvPr id="29" name="バー地"/>
            <p:cNvSpPr/>
            <p:nvPr/>
          </p:nvSpPr>
          <p:spPr>
            <a:xfrm>
              <a:off x="1143000" y="3200400"/>
              <a:ext cx="5334000" cy="152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バー値"/>
            <p:cNvSpPr/>
            <p:nvPr/>
          </p:nvSpPr>
          <p:spPr>
            <a:xfrm>
              <a:off x="1143000" y="3200400"/>
              <a:ext cx="3409950" cy="15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使用例_受注スパーク"/>
          <p:cNvGrpSpPr/>
          <p:nvPr/>
        </p:nvGrpSpPr>
        <p:grpSpPr>
          <a:xfrm>
            <a:off x="1143000" y="4000500"/>
            <a:ext cx="2476500" cy="685800"/>
            <a:chOff x="1143000" y="4000500"/>
            <a:chExt cx="2476500" cy="685800"/>
          </a:xfrm>
        </p:grpSpPr>
        <p:sp>
          <p:nvSpPr>
            <p:cNvPr id="32" name="ラベル"/>
            <p:cNvSpPr/>
            <p:nvPr/>
          </p:nvSpPr>
          <p:spPr>
            <a:xfrm>
              <a:off x="1143000" y="400050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受注件数の推移（直近12ヶ月・件）</a:t>
              </a:r>
            </a:p>
          </p:txBody>
        </p:sp>
        <p:sp>
          <p:nvSpPr>
            <p:cNvPr id="33" name="折れ線"/>
            <p:cNvSpPr/>
            <p:nvPr/>
          </p:nvSpPr>
          <p:spPr>
            <a:xfrm>
              <a:off x="1143000" y="4248150"/>
              <a:ext cx="1714500" cy="438150"/>
            </a:xfrm>
            <a:custGeom>
              <a:avLst/>
              <a:gdLst/>
              <a:ahLst/>
              <a:cxnLst/>
              <a:rect l="0" t="0" r="1714500" b="438150"/>
              <a:pathLst>
                <a:path w="1714500" h="438150" fill="none">
                  <a:moveTo>
                    <a:pt x="0" y="341757"/>
                  </a:moveTo>
                  <a:lnTo>
                    <a:pt x="240030" y="240982"/>
                  </a:lnTo>
                  <a:lnTo>
                    <a:pt x="480060" y="289179"/>
                  </a:lnTo>
                  <a:lnTo>
                    <a:pt x="737235" y="157734"/>
                  </a:lnTo>
                  <a:lnTo>
                    <a:pt x="977264" y="219075"/>
                  </a:lnTo>
                  <a:lnTo>
                    <a:pt x="1234440" y="105156"/>
                  </a:lnTo>
                  <a:lnTo>
                    <a:pt x="1474470" y="148971"/>
                  </a:lnTo>
                  <a:lnTo>
                    <a:pt x="1714500" y="4381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終点ドット"/>
            <p:cNvSpPr/>
            <p:nvPr/>
          </p:nvSpPr>
          <p:spPr>
            <a:xfrm>
              <a:off x="2819400" y="425386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最新値"/>
            <p:cNvSpPr/>
            <p:nvPr/>
          </p:nvSpPr>
          <p:spPr>
            <a:xfrm>
              <a:off x="2971800" y="42100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482</a:t>
              </a:r>
            </a:p>
          </p:txBody>
        </p:sp>
      </p:grpSp>
      <p:grpSp>
        <p:nvGrpSpPr>
          <p:cNvPr id="36" name="使用例_月次売上"/>
          <p:cNvGrpSpPr/>
          <p:nvPr/>
        </p:nvGrpSpPr>
        <p:grpSpPr>
          <a:xfrm>
            <a:off x="7096125" y="2419350"/>
            <a:ext cx="3000375" cy="2247900"/>
            <a:chOff x="7096125" y="2419350"/>
            <a:chExt cx="3000375" cy="2247900"/>
          </a:xfrm>
        </p:grpSpPr>
        <p:sp>
          <p:nvSpPr>
            <p:cNvPr id="37" name="ラベル"/>
            <p:cNvSpPr/>
            <p:nvPr/>
          </p:nvSpPr>
          <p:spPr>
            <a:xfrm>
              <a:off x="7096125" y="2419350"/>
              <a:ext cx="300037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月次売上の推移（億円）</a:t>
              </a:r>
            </a:p>
          </p:txBody>
        </p:sp>
        <p:cxnSp>
          <p:nvCxnSpPr>
            <p:cNvPr id="38" name="基準線"/>
            <p:cNvCxnSpPr/>
            <p:nvPr/>
          </p:nvCxnSpPr>
          <p:spPr>
            <a:xfrm>
              <a:off x="7096125" y="4476750"/>
              <a:ext cx="300037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棒1"/>
            <p:cNvSpPr/>
            <p:nvPr/>
          </p:nvSpPr>
          <p:spPr>
            <a:xfrm>
              <a:off x="7229475" y="3200400"/>
              <a:ext cx="495300" cy="1276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値1"/>
            <p:cNvSpPr/>
            <p:nvPr/>
          </p:nvSpPr>
          <p:spPr>
            <a:xfrm>
              <a:off x="7115175" y="3009900"/>
              <a:ext cx="723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9.6</a:t>
              </a:r>
            </a:p>
          </p:txBody>
        </p:sp>
        <p:sp>
          <p:nvSpPr>
            <p:cNvPr id="41" name="項目1"/>
            <p:cNvSpPr/>
            <p:nvPr/>
          </p:nvSpPr>
          <p:spPr>
            <a:xfrm>
              <a:off x="7115175" y="45339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42" name="棒2"/>
            <p:cNvSpPr/>
            <p:nvPr/>
          </p:nvSpPr>
          <p:spPr>
            <a:xfrm>
              <a:off x="7972425" y="3086100"/>
              <a:ext cx="495300" cy="1390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値2"/>
            <p:cNvSpPr/>
            <p:nvPr/>
          </p:nvSpPr>
          <p:spPr>
            <a:xfrm>
              <a:off x="7858125" y="2895600"/>
              <a:ext cx="723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10.4</a:t>
              </a:r>
            </a:p>
          </p:txBody>
        </p:sp>
        <p:sp>
          <p:nvSpPr>
            <p:cNvPr id="44" name="項目2"/>
            <p:cNvSpPr/>
            <p:nvPr/>
          </p:nvSpPr>
          <p:spPr>
            <a:xfrm>
              <a:off x="7858125" y="45339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45" name="棒3"/>
            <p:cNvSpPr/>
            <p:nvPr/>
          </p:nvSpPr>
          <p:spPr>
            <a:xfrm>
              <a:off x="8715375" y="2952750"/>
              <a:ext cx="495300" cy="1524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値3"/>
            <p:cNvSpPr/>
            <p:nvPr/>
          </p:nvSpPr>
          <p:spPr>
            <a:xfrm>
              <a:off x="8601075" y="2762250"/>
              <a:ext cx="723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47" name="項目3"/>
            <p:cNvSpPr/>
            <p:nvPr/>
          </p:nvSpPr>
          <p:spPr>
            <a:xfrm>
              <a:off x="8601075" y="45339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48" name="棒4"/>
            <p:cNvSpPr/>
            <p:nvPr/>
          </p:nvSpPr>
          <p:spPr>
            <a:xfrm>
              <a:off x="9458325" y="2771775"/>
              <a:ext cx="495300" cy="1704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値4"/>
            <p:cNvSpPr/>
            <p:nvPr/>
          </p:nvSpPr>
          <p:spPr>
            <a:xfrm>
              <a:off x="9344025" y="2581275"/>
              <a:ext cx="723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12.8</a:t>
              </a:r>
            </a:p>
          </p:txBody>
        </p:sp>
        <p:sp>
          <p:nvSpPr>
            <p:cNvPr id="50" name="項目4"/>
            <p:cNvSpPr/>
            <p:nvPr/>
          </p:nvSpPr>
          <p:spPr>
            <a:xfrm>
              <a:off x="9344025" y="4533900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6月</a:t>
              </a:r>
            </a:p>
          </p:txBody>
        </p:sp>
      </p:grpSp>
      <p:sp>
        <p:nvSpPr>
          <p:cNvPr id="51" name="Rectangle 50"/>
          <p:cNvSpPr/>
          <p:nvPr/>
        </p:nvSpPr>
        <p:spPr>
          <a:xfrm>
            <a:off x="1143000" y="5715000"/>
            <a:ext cx="4762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出典：社内管理会計（2026年6月度）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5924550"/>
            <a:ext cx="7620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※グラフはすべてシェイプ製（Excel連動なし）。数値はテキストを直接編集できます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パーツ図鑑｜⑦ データ表現 — 組み込み例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66675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パーツ図鑑｜⑧ デバイス・背景 — 6種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grpSp>
        <p:nvGrpSpPr>
          <p:cNvPr id="5" name="デバイス01_ブラウザ枠"/>
          <p:cNvGrpSpPr/>
          <p:nvPr/>
        </p:nvGrpSpPr>
        <p:grpSpPr>
          <a:xfrm>
            <a:off x="390525" y="742950"/>
            <a:ext cx="3429000" cy="1952625"/>
            <a:chOff x="390525" y="742950"/>
            <a:chExt cx="3429000" cy="1952625"/>
          </a:xfrm>
        </p:grpSpPr>
        <p:sp>
          <p:nvSpPr>
            <p:cNvPr id="6" name="ブラウザ外枠"/>
            <p:cNvSpPr/>
            <p:nvPr/>
          </p:nvSpPr>
          <p:spPr>
            <a:xfrm>
              <a:off x="390525" y="742950"/>
              <a:ext cx="3429000" cy="1952625"/>
            </a:xfrm>
            <a:prstGeom prst="roundRect">
              <a:avLst>
                <a:gd name="adj" fmla="val 3902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上バー"/>
            <p:cNvSpPr/>
            <p:nvPr/>
          </p:nvSpPr>
          <p:spPr>
            <a:xfrm>
              <a:off x="400050" y="752475"/>
              <a:ext cx="34099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上バー角消し"/>
            <p:cNvSpPr/>
            <p:nvPr/>
          </p:nvSpPr>
          <p:spPr>
            <a:xfrm>
              <a:off x="400050" y="971550"/>
              <a:ext cx="34099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バー区切り線"/>
            <p:cNvCxnSpPr/>
            <p:nvPr/>
          </p:nvCxnSpPr>
          <p:spPr>
            <a:xfrm>
              <a:off x="400050" y="1076325"/>
              <a:ext cx="34099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丸3点_1"/>
            <p:cNvSpPr/>
            <p:nvPr/>
          </p:nvSpPr>
          <p:spPr>
            <a:xfrm>
              <a:off x="495300" y="8667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丸3点_2"/>
            <p:cNvSpPr/>
            <p:nvPr/>
          </p:nvSpPr>
          <p:spPr>
            <a:xfrm>
              <a:off x="647700" y="8667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丸3点_3"/>
            <p:cNvSpPr/>
            <p:nvPr/>
          </p:nvSpPr>
          <p:spPr>
            <a:xfrm>
              <a:off x="800100" y="8667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URL欄"/>
            <p:cNvSpPr/>
            <p:nvPr/>
          </p:nvSpPr>
          <p:spPr>
            <a:xfrm>
              <a:off x="1000125" y="819150"/>
              <a:ext cx="27051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URLテキスト"/>
            <p:cNvSpPr/>
            <p:nvPr/>
          </p:nvSpPr>
          <p:spPr>
            <a:xfrm>
              <a:off x="1114425" y="819150"/>
              <a:ext cx="2476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15" name="プレースホルダ"/>
            <p:cNvSpPr/>
            <p:nvPr/>
          </p:nvSpPr>
          <p:spPr>
            <a:xfrm>
              <a:off x="504825" y="1085850"/>
              <a:ext cx="3200400" cy="14954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画像をここに配置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390525" y="2857500"/>
            <a:ext cx="342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ブラウザ枠（中身は差し替え）</a:t>
            </a:r>
          </a:p>
        </p:txBody>
      </p:sp>
      <p:grpSp>
        <p:nvGrpSpPr>
          <p:cNvPr id="17" name="デバイス02_スマホ枠"/>
          <p:cNvGrpSpPr/>
          <p:nvPr/>
        </p:nvGrpSpPr>
        <p:grpSpPr>
          <a:xfrm>
            <a:off x="4352925" y="742950"/>
            <a:ext cx="1047750" cy="1952625"/>
            <a:chOff x="4352925" y="742950"/>
            <a:chExt cx="1047750" cy="1952625"/>
          </a:xfrm>
        </p:grpSpPr>
        <p:sp>
          <p:nvSpPr>
            <p:cNvPr id="18" name="スマホ外枠"/>
            <p:cNvSpPr/>
            <p:nvPr/>
          </p:nvSpPr>
          <p:spPr>
            <a:xfrm>
              <a:off x="4352925" y="742950"/>
              <a:ext cx="1047750" cy="1952625"/>
            </a:xfrm>
            <a:prstGeom prst="roundRect">
              <a:avLst>
                <a:gd name="adj" fmla="val 14545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ノッチ線"/>
            <p:cNvSpPr/>
            <p:nvPr/>
          </p:nvSpPr>
          <p:spPr>
            <a:xfrm>
              <a:off x="4686300" y="819150"/>
              <a:ext cx="381000" cy="4762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ホームバー"/>
            <p:cNvSpPr/>
            <p:nvPr/>
          </p:nvSpPr>
          <p:spPr>
            <a:xfrm>
              <a:off x="4705350" y="2581275"/>
              <a:ext cx="342900" cy="38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プレースホルダ"/>
            <p:cNvSpPr/>
            <p:nvPr/>
          </p:nvSpPr>
          <p:spPr>
            <a:xfrm>
              <a:off x="4448175" y="895350"/>
              <a:ext cx="857250" cy="1647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画像を</a:t>
              </a:r>
            </a:p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ここに配置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3876675" y="2857500"/>
            <a:ext cx="20002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スマホ枠（ノッチ付き）</a:t>
            </a:r>
          </a:p>
        </p:txBody>
      </p:sp>
      <p:grpSp>
        <p:nvGrpSpPr>
          <p:cNvPr id="23" name="背景05_セクション区切り"/>
          <p:cNvGrpSpPr/>
          <p:nvPr/>
        </p:nvGrpSpPr>
        <p:grpSpPr>
          <a:xfrm>
            <a:off x="5934075" y="952500"/>
            <a:ext cx="2667000" cy="1428750"/>
            <a:chOff x="5934075" y="952500"/>
            <a:chExt cx="2667000" cy="1428750"/>
          </a:xfrm>
        </p:grpSpPr>
        <p:sp>
          <p:nvSpPr>
            <p:cNvPr id="24" name="章扉面"/>
            <p:cNvSpPr/>
            <p:nvPr/>
          </p:nvSpPr>
          <p:spPr>
            <a:xfrm>
              <a:off x="5934075" y="952500"/>
              <a:ext cx="2667000" cy="14287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章番号"/>
            <p:cNvSpPr/>
            <p:nvPr/>
          </p:nvSpPr>
          <p:spPr>
            <a:xfrm>
              <a:off x="6162675" y="1143000"/>
              <a:ext cx="9144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000" b="1">
                  <a:solidFill>
                    <a:schemeClr val="accent4"/>
                  </a:solidFill>
                </a:rPr>
                <a:t>01</a:t>
              </a:r>
            </a:p>
          </p:txBody>
        </p:sp>
        <p:cxnSp>
          <p:nvCxnSpPr>
            <p:cNvPr id="26" name="小罫線"/>
            <p:cNvCxnSpPr/>
            <p:nvPr/>
          </p:nvCxnSpPr>
          <p:spPr>
            <a:xfrm>
              <a:off x="6181725" y="1657350"/>
              <a:ext cx="304800" cy="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章タイトル"/>
            <p:cNvSpPr/>
            <p:nvPr/>
          </p:nvSpPr>
          <p:spPr>
            <a:xfrm>
              <a:off x="6162675" y="1771650"/>
              <a:ext cx="2209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章タイトルをここに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5934075" y="28575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セクション区切り（章扉の面）</a:t>
            </a:r>
          </a:p>
        </p:txBody>
      </p:sp>
      <p:grpSp>
        <p:nvGrpSpPr>
          <p:cNvPr id="29" name="背景06_DRAFT透かし"/>
          <p:cNvGrpSpPr/>
          <p:nvPr/>
        </p:nvGrpSpPr>
        <p:grpSpPr>
          <a:xfrm>
            <a:off x="9420225" y="1381125"/>
            <a:ext cx="2095500" cy="571500"/>
            <a:chOff x="9420225" y="1381125"/>
            <a:chExt cx="2095500" cy="571500"/>
          </a:xfrm>
        </p:grpSpPr>
        <p:sp>
          <p:nvSpPr>
            <p:cNvPr id="30" name="DRAFT透かし"/>
            <p:cNvSpPr/>
            <p:nvPr/>
          </p:nvSpPr>
          <p:spPr>
            <a:xfrm rot="18900000">
              <a:off x="9420225" y="1381125"/>
              <a:ext cx="2095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600" b="1">
                  <a:solidFill>
                    <a:schemeClr val="accent5">
                      <a:alpha val="35000"/>
                    </a:schemeClr>
                  </a:solidFill>
                </a:rPr>
                <a:t>DRAFT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9134475" y="28575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DRAFT透かし（回転315°・半透明）</a:t>
            </a:r>
          </a:p>
        </p:txBody>
      </p:sp>
      <p:grpSp>
        <p:nvGrpSpPr>
          <p:cNvPr id="32" name="背景03_淡ドットタイル"/>
          <p:cNvGrpSpPr/>
          <p:nvPr/>
        </p:nvGrpSpPr>
        <p:grpSpPr>
          <a:xfrm>
            <a:off x="0" y="3295650"/>
            <a:ext cx="6096000" cy="3429000"/>
            <a:chOff x="0" y="3295650"/>
            <a:chExt cx="6096000" cy="3429000"/>
          </a:xfrm>
        </p:grpSpPr>
        <p:sp>
          <p:nvSpPr>
            <p:cNvPr id="33" name="タイル範囲_640x360"/>
            <p:cNvSpPr/>
            <p:nvPr/>
          </p:nvSpPr>
          <p:spPr>
            <a:xfrm>
              <a:off x="0" y="3295650"/>
              <a:ext cx="6096000" cy="3429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71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52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933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314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695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2076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457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2838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3219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3600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3981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362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743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124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505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886450" y="3467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71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52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933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314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695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2076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2457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2838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3219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3600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3981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4362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4743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5124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505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5886450" y="3848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171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552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933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314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695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2076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2457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2838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3219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3600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3981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4362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4743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5124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5505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5886450" y="4229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71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552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933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314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695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2076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2457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2838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3219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3600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3981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4362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4743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5124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5505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5886450" y="4610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71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552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933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314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695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2076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2457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2838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3219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3600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3981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4362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4743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5124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5505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5886450" y="4991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71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552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933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314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695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2076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2457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2838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3219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3600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3981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4362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4743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5124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5505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5886450" y="5372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171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552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933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1314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1695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2076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2457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2838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3219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3600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3981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4362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4743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5124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5505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5886450" y="5753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171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552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933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1314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1695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2076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2457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2838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3219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3600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>
              <a:off x="3981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4362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4743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>
              <a:off x="5124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val 159"/>
            <p:cNvSpPr/>
            <p:nvPr/>
          </p:nvSpPr>
          <p:spPr>
            <a:xfrm>
              <a:off x="5505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5886450" y="6134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val 161"/>
            <p:cNvSpPr/>
            <p:nvPr/>
          </p:nvSpPr>
          <p:spPr>
            <a:xfrm>
              <a:off x="171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>
              <a:off x="552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>
              <a:off x="933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>
              <a:off x="1314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>
              <a:off x="1695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val 166"/>
            <p:cNvSpPr/>
            <p:nvPr/>
          </p:nvSpPr>
          <p:spPr>
            <a:xfrm>
              <a:off x="2076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val 167"/>
            <p:cNvSpPr/>
            <p:nvPr/>
          </p:nvSpPr>
          <p:spPr>
            <a:xfrm>
              <a:off x="2457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val 168"/>
            <p:cNvSpPr/>
            <p:nvPr/>
          </p:nvSpPr>
          <p:spPr>
            <a:xfrm>
              <a:off x="2838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3219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val 170"/>
            <p:cNvSpPr/>
            <p:nvPr/>
          </p:nvSpPr>
          <p:spPr>
            <a:xfrm>
              <a:off x="3600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val 171"/>
            <p:cNvSpPr/>
            <p:nvPr/>
          </p:nvSpPr>
          <p:spPr>
            <a:xfrm>
              <a:off x="3981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4362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val 173"/>
            <p:cNvSpPr/>
            <p:nvPr/>
          </p:nvSpPr>
          <p:spPr>
            <a:xfrm>
              <a:off x="4743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val 174"/>
            <p:cNvSpPr/>
            <p:nvPr/>
          </p:nvSpPr>
          <p:spPr>
            <a:xfrm>
              <a:off x="5124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val 175"/>
            <p:cNvSpPr/>
            <p:nvPr/>
          </p:nvSpPr>
          <p:spPr>
            <a:xfrm>
              <a:off x="5505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val 176"/>
            <p:cNvSpPr/>
            <p:nvPr/>
          </p:nvSpPr>
          <p:spPr>
            <a:xfrm>
              <a:off x="5886450" y="65151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0" y="6457950"/>
            <a:ext cx="6096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淡ドット背景｜640×360を1タイル・複製して敷き詰め</a:t>
            </a:r>
          </a:p>
        </p:txBody>
      </p:sp>
      <p:grpSp>
        <p:nvGrpSpPr>
          <p:cNvPr id="179" name="背景04_淡グリッドタイル"/>
          <p:cNvGrpSpPr/>
          <p:nvPr/>
        </p:nvGrpSpPr>
        <p:grpSpPr>
          <a:xfrm>
            <a:off x="6096000" y="3295650"/>
            <a:ext cx="6096000" cy="3429000"/>
            <a:chOff x="6096000" y="3295650"/>
            <a:chExt cx="6096000" cy="3429000"/>
          </a:xfrm>
        </p:grpSpPr>
        <p:cxnSp>
          <p:nvCxnSpPr>
            <p:cNvPr id="180" name="Connector 179"/>
            <p:cNvCxnSpPr/>
            <p:nvPr/>
          </p:nvCxnSpPr>
          <p:spPr>
            <a:xfrm>
              <a:off x="6096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ctor 180"/>
            <p:cNvCxnSpPr/>
            <p:nvPr/>
          </p:nvCxnSpPr>
          <p:spPr>
            <a:xfrm>
              <a:off x="6477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or 181"/>
            <p:cNvCxnSpPr/>
            <p:nvPr/>
          </p:nvCxnSpPr>
          <p:spPr>
            <a:xfrm>
              <a:off x="6858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82"/>
            <p:cNvCxnSpPr/>
            <p:nvPr/>
          </p:nvCxnSpPr>
          <p:spPr>
            <a:xfrm>
              <a:off x="7239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ctor 183"/>
            <p:cNvCxnSpPr/>
            <p:nvPr/>
          </p:nvCxnSpPr>
          <p:spPr>
            <a:xfrm>
              <a:off x="7620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 184"/>
            <p:cNvCxnSpPr/>
            <p:nvPr/>
          </p:nvCxnSpPr>
          <p:spPr>
            <a:xfrm>
              <a:off x="8001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>
              <a:off x="8382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>
              <a:off x="8763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>
              <a:off x="9144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>
              <a:off x="9525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>
              <a:off x="9906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>
              <a:off x="10287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>
              <a:off x="10668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 192"/>
            <p:cNvCxnSpPr/>
            <p:nvPr/>
          </p:nvCxnSpPr>
          <p:spPr>
            <a:xfrm>
              <a:off x="11049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or 193"/>
            <p:cNvCxnSpPr/>
            <p:nvPr/>
          </p:nvCxnSpPr>
          <p:spPr>
            <a:xfrm>
              <a:off x="11430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or 194"/>
            <p:cNvCxnSpPr/>
            <p:nvPr/>
          </p:nvCxnSpPr>
          <p:spPr>
            <a:xfrm>
              <a:off x="11811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5"/>
            <p:cNvCxnSpPr/>
            <p:nvPr/>
          </p:nvCxnSpPr>
          <p:spPr>
            <a:xfrm>
              <a:off x="12192000" y="329565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6096000" y="3295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>
              <a:off x="6096000" y="3676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6096000" y="4057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>
              <a:off x="6096000" y="4438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>
              <a:off x="6096000" y="4819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6096000" y="5200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>
              <a:off x="6096000" y="5581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>
              <a:off x="6096000" y="5962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>
              <a:off x="6096000" y="6343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>
              <a:off x="6096000" y="6724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Rectangle 206"/>
          <p:cNvSpPr/>
          <p:nvPr/>
        </p:nvSpPr>
        <p:spPr>
          <a:xfrm>
            <a:off x="6096000" y="6457950"/>
            <a:ext cx="6096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淡グリッド背景｜640×360を1タイル・複製して敷き詰め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使用例_章扉"/>
          <p:cNvGrpSpPr/>
          <p:nvPr/>
        </p:nvGrpSpPr>
        <p:grpSpPr>
          <a:xfrm>
            <a:off x="0" y="0"/>
            <a:ext cx="4095750" cy="6858000"/>
            <a:chOff x="0" y="0"/>
            <a:chExt cx="4095750" cy="6858000"/>
          </a:xfrm>
        </p:grpSpPr>
        <p:sp>
          <p:nvSpPr>
            <p:cNvPr id="4" name="章扉面"/>
            <p:cNvSpPr/>
            <p:nvPr/>
          </p:nvSpPr>
          <p:spPr>
            <a:xfrm>
              <a:off x="0" y="0"/>
              <a:ext cx="409575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見出しラベル"/>
            <p:cNvSpPr/>
            <p:nvPr/>
          </p:nvSpPr>
          <p:spPr>
            <a:xfrm>
              <a:off x="571500" y="20383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6"/>
                  </a:solidFill>
                </a:rPr>
                <a:t>SECTION</a:t>
              </a:r>
            </a:p>
          </p:txBody>
        </p:sp>
        <p:sp>
          <p:nvSpPr>
            <p:cNvPr id="6" name="章番号"/>
            <p:cNvSpPr/>
            <p:nvPr/>
          </p:nvSpPr>
          <p:spPr>
            <a:xfrm>
              <a:off x="533400" y="2247900"/>
              <a:ext cx="22860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5600" b="1">
                  <a:solidFill>
                    <a:schemeClr val="accent4"/>
                  </a:solidFill>
                </a:rPr>
                <a:t>02</a:t>
              </a:r>
            </a:p>
          </p:txBody>
        </p:sp>
        <p:cxnSp>
          <p:nvCxnSpPr>
            <p:cNvPr id="7" name="小罫線"/>
            <p:cNvCxnSpPr/>
            <p:nvPr/>
          </p:nvCxnSpPr>
          <p:spPr>
            <a:xfrm>
              <a:off x="571500" y="3314700"/>
              <a:ext cx="457200" cy="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章タイトル"/>
            <p:cNvSpPr/>
            <p:nvPr/>
          </p:nvSpPr>
          <p:spPr>
            <a:xfrm>
              <a:off x="571500" y="3486150"/>
              <a:ext cx="3143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lt1"/>
                  </a:solidFill>
                </a:rPr>
                <a:t>プロダクト概要</a:t>
              </a:r>
            </a:p>
          </p:txBody>
        </p:sp>
        <p:sp>
          <p:nvSpPr>
            <p:cNvPr id="9" name="サブタイトル"/>
            <p:cNvSpPr/>
            <p:nvPr/>
          </p:nvSpPr>
          <p:spPr>
            <a:xfrm>
              <a:off x="571500" y="3905250"/>
              <a:ext cx="3143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6"/>
                  </a:solidFill>
                </a:rPr>
                <a:t>管理画面と利用フローのご紹介</a:t>
              </a:r>
            </a:p>
          </p:txBody>
        </p:sp>
      </p:grpSp>
      <p:grpSp>
        <p:nvGrpSpPr>
          <p:cNvPr id="10" name="使用例_背景ドット"/>
          <p:cNvGrpSpPr/>
          <p:nvPr/>
        </p:nvGrpSpPr>
        <p:grpSpPr>
          <a:xfrm>
            <a:off x="5905500" y="2476500"/>
            <a:ext cx="5715000" cy="3429000"/>
            <a:chOff x="5905500" y="2476500"/>
            <a:chExt cx="5715000" cy="3429000"/>
          </a:xfrm>
        </p:grpSpPr>
        <p:sp>
          <p:nvSpPr>
            <p:cNvPr id="11" name="ドット範囲"/>
            <p:cNvSpPr/>
            <p:nvPr/>
          </p:nvSpPr>
          <p:spPr>
            <a:xfrm>
              <a:off x="5905500" y="2476500"/>
              <a:ext cx="5715000" cy="3429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76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457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6838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219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7600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981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8362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743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9124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9505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9886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10267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0648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9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1410950" y="2647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076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6457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838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219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600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981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8362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743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9124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9505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9886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0267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0648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1029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1410950" y="3028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6076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6457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6838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7219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7600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981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8362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8743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9124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9505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9886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0267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0648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1029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1410950" y="3409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6076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6457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838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219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600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981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8362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8743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9124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9505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9886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0267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0648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1029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1410950" y="3790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076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6457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6838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7219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600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981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362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743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9124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9505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886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267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648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1029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1410950" y="4171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6076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6457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6838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7219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7600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7981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8362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8743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9124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9505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9886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267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648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1029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1410950" y="4552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6076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6457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6838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7219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7600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7981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8362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8743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9124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9505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9886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267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648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1029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1410950" y="4933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6076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6457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6838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7219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7600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7981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8362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8743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9124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9505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9886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10267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10648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11029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11410950" y="5314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6076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6457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6838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7219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7600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7981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8362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8743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9124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9505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9886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10267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10648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11029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11410950" y="569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4476750" y="419100"/>
            <a:ext cx="73342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画面は「入力→確認→共有」の3ステップで完結する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476750" y="742950"/>
            <a:ext cx="73342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パーツ図鑑⑧の部品のみで構成したサービス紹介例（すべてコピーして使えます）</a:t>
            </a:r>
          </a:p>
        </p:txBody>
      </p:sp>
      <p:grpSp>
        <p:nvGrpSpPr>
          <p:cNvPr id="149" name="使用例_ブラウザ"/>
          <p:cNvGrpSpPr/>
          <p:nvPr/>
        </p:nvGrpSpPr>
        <p:grpSpPr>
          <a:xfrm>
            <a:off x="4476750" y="1428750"/>
            <a:ext cx="5334000" cy="3810000"/>
            <a:chOff x="4476750" y="1428750"/>
            <a:chExt cx="5334000" cy="3810000"/>
          </a:xfrm>
        </p:grpSpPr>
        <p:sp>
          <p:nvSpPr>
            <p:cNvPr id="150" name="ブラウザ外枠"/>
            <p:cNvSpPr/>
            <p:nvPr/>
          </p:nvSpPr>
          <p:spPr>
            <a:xfrm>
              <a:off x="4476750" y="1428750"/>
              <a:ext cx="5334000" cy="3810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上バー"/>
            <p:cNvSpPr/>
            <p:nvPr/>
          </p:nvSpPr>
          <p:spPr>
            <a:xfrm>
              <a:off x="4486275" y="1438275"/>
              <a:ext cx="53149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上バー角消し"/>
            <p:cNvSpPr/>
            <p:nvPr/>
          </p:nvSpPr>
          <p:spPr>
            <a:xfrm>
              <a:off x="4486275" y="1657350"/>
              <a:ext cx="53149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3" name="バー区切り線"/>
            <p:cNvCxnSpPr/>
            <p:nvPr/>
          </p:nvCxnSpPr>
          <p:spPr>
            <a:xfrm>
              <a:off x="4486275" y="1762125"/>
              <a:ext cx="53149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丸3点_1"/>
            <p:cNvSpPr/>
            <p:nvPr/>
          </p:nvSpPr>
          <p:spPr>
            <a:xfrm>
              <a:off x="458152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丸3点_2"/>
            <p:cNvSpPr/>
            <p:nvPr/>
          </p:nvSpPr>
          <p:spPr>
            <a:xfrm>
              <a:off x="473392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丸3点_3"/>
            <p:cNvSpPr/>
            <p:nvPr/>
          </p:nvSpPr>
          <p:spPr>
            <a:xfrm>
              <a:off x="488632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URL欄"/>
            <p:cNvSpPr/>
            <p:nvPr/>
          </p:nvSpPr>
          <p:spPr>
            <a:xfrm>
              <a:off x="5086350" y="1504950"/>
              <a:ext cx="46101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URLテキスト"/>
            <p:cNvSpPr/>
            <p:nvPr/>
          </p:nvSpPr>
          <p:spPr>
            <a:xfrm>
              <a:off x="5200650" y="1504950"/>
              <a:ext cx="438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159" name="プレースホルダ"/>
            <p:cNvSpPr/>
            <p:nvPr/>
          </p:nvSpPr>
          <p:spPr>
            <a:xfrm>
              <a:off x="4591050" y="1771650"/>
              <a:ext cx="5105400" cy="3352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画面イメージをここに</a:t>
              </a:r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4476750" y="5334000"/>
            <a:ext cx="5334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管理画面（PC）</a:t>
            </a:r>
          </a:p>
        </p:txBody>
      </p:sp>
      <p:grpSp>
        <p:nvGrpSpPr>
          <p:cNvPr id="161" name="使用例_スマホ"/>
          <p:cNvGrpSpPr/>
          <p:nvPr/>
        </p:nvGrpSpPr>
        <p:grpSpPr>
          <a:xfrm>
            <a:off x="10191750" y="2381250"/>
            <a:ext cx="1333500" cy="2667000"/>
            <a:chOff x="10191750" y="2381250"/>
            <a:chExt cx="1333500" cy="2667000"/>
          </a:xfrm>
        </p:grpSpPr>
        <p:sp>
          <p:nvSpPr>
            <p:cNvPr id="162" name="スマホ外枠"/>
            <p:cNvSpPr/>
            <p:nvPr/>
          </p:nvSpPr>
          <p:spPr>
            <a:xfrm>
              <a:off x="10191750" y="2381250"/>
              <a:ext cx="1333500" cy="2667000"/>
            </a:xfrm>
            <a:prstGeom prst="roundRect">
              <a:avLst>
                <a:gd name="adj" fmla="val 11428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ノッチ線"/>
            <p:cNvSpPr/>
            <p:nvPr/>
          </p:nvSpPr>
          <p:spPr>
            <a:xfrm>
              <a:off x="10668000" y="2457450"/>
              <a:ext cx="381000" cy="4762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ホームバー"/>
            <p:cNvSpPr/>
            <p:nvPr/>
          </p:nvSpPr>
          <p:spPr>
            <a:xfrm>
              <a:off x="10687050" y="4933950"/>
              <a:ext cx="342900" cy="38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プレースホルダ"/>
            <p:cNvSpPr/>
            <p:nvPr/>
          </p:nvSpPr>
          <p:spPr>
            <a:xfrm>
              <a:off x="10287000" y="2533650"/>
              <a:ext cx="1143000" cy="2362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画面イメージを</a:t>
              </a:r>
            </a:p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ここに</a:t>
              </a:r>
            </a:p>
          </p:txBody>
        </p:sp>
      </p:grpSp>
      <p:sp>
        <p:nvSpPr>
          <p:cNvPr id="166" name="Rectangle 165"/>
          <p:cNvSpPr/>
          <p:nvPr/>
        </p:nvSpPr>
        <p:spPr>
          <a:xfrm>
            <a:off x="10191750" y="5143500"/>
            <a:ext cx="1333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外出先（スマホ）</a:t>
            </a:r>
          </a:p>
        </p:txBody>
      </p:sp>
      <p:grpSp>
        <p:nvGrpSpPr>
          <p:cNvPr id="167" name="使用例_強調タグ"/>
          <p:cNvGrpSpPr/>
          <p:nvPr/>
        </p:nvGrpSpPr>
        <p:grpSpPr>
          <a:xfrm>
            <a:off x="10363200" y="2038350"/>
            <a:ext cx="990600" cy="228600"/>
            <a:chOff x="10363200" y="2038350"/>
            <a:chExt cx="990600" cy="228600"/>
          </a:xfrm>
        </p:grpSpPr>
        <p:sp>
          <p:nvSpPr>
            <p:cNvPr id="168" name="タグ地"/>
            <p:cNvSpPr/>
            <p:nvPr/>
          </p:nvSpPr>
          <p:spPr>
            <a:xfrm>
              <a:off x="10363200" y="2038350"/>
              <a:ext cx="9906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タグ文字"/>
            <p:cNvSpPr/>
            <p:nvPr/>
          </p:nvSpPr>
          <p:spPr>
            <a:xfrm>
              <a:off x="10363200" y="2047875"/>
              <a:ext cx="990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モバイル対応</a:t>
              </a:r>
            </a:p>
          </p:txBody>
        </p:sp>
      </p:grpSp>
      <p:sp>
        <p:nvSpPr>
          <p:cNvPr id="170" name="Rectangle 169"/>
          <p:cNvSpPr/>
          <p:nvPr/>
        </p:nvSpPr>
        <p:spPr>
          <a:xfrm>
            <a:off x="4476750" y="6324600"/>
            <a:ext cx="685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出典：自社サービス画面構成（イメージ）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476750" y="6553200"/>
            <a:ext cx="6858000" cy="133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パーツ図鑑｜⑧ デバイス・背景 — 組み込み例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パーツ図鑑｜⑨ スタンプ・注釈 — スタンプ6種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角丸grect＋中央文字。枠と文字色の打ち替えで自作できます</a:t>
            </a:r>
          </a:p>
        </p:txBody>
      </p:sp>
      <p:grpSp>
        <p:nvGrpSpPr>
          <p:cNvPr id="5" name="スタンプ01_済"/>
          <p:cNvGrpSpPr/>
          <p:nvPr/>
        </p:nvGrpSpPr>
        <p:grpSpPr>
          <a:xfrm>
            <a:off x="1714500" y="1838325"/>
            <a:ext cx="990600" cy="390525"/>
            <a:chOff x="1714500" y="1838325"/>
            <a:chExt cx="990600" cy="390525"/>
          </a:xfrm>
        </p:grpSpPr>
        <p:sp>
          <p:nvSpPr>
            <p:cNvPr id="6" name="スタンプ枠_済"/>
            <p:cNvSpPr/>
            <p:nvPr/>
          </p:nvSpPr>
          <p:spPr>
            <a:xfrm>
              <a:off x="1714500" y="1847850"/>
              <a:ext cx="9906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スタンプ文字_済"/>
            <p:cNvSpPr/>
            <p:nvPr/>
          </p:nvSpPr>
          <p:spPr>
            <a:xfrm>
              <a:off x="1714500" y="1838325"/>
              <a:ext cx="990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済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90525" y="24384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完了報告・チェック済みの項目に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525" y="33147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済（完了・primary線）</a:t>
            </a:r>
          </a:p>
        </p:txBody>
      </p:sp>
      <p:grpSp>
        <p:nvGrpSpPr>
          <p:cNvPr id="10" name="スタンプ02_決定"/>
          <p:cNvGrpSpPr/>
          <p:nvPr/>
        </p:nvGrpSpPr>
        <p:grpSpPr>
          <a:xfrm>
            <a:off x="5562600" y="1838325"/>
            <a:ext cx="1066800" cy="390525"/>
            <a:chOff x="5562600" y="1838325"/>
            <a:chExt cx="1066800" cy="390525"/>
          </a:xfrm>
        </p:grpSpPr>
        <p:sp>
          <p:nvSpPr>
            <p:cNvPr id="11" name="スタンプ枠_決定"/>
            <p:cNvSpPr/>
            <p:nvPr/>
          </p:nvSpPr>
          <p:spPr>
            <a:xfrm>
              <a:off x="5562600" y="1847850"/>
              <a:ext cx="10668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スタンプ文字_決定"/>
            <p:cNvSpPr/>
            <p:nvPr/>
          </p:nvSpPr>
          <p:spPr>
            <a:xfrm>
              <a:off x="5562600" y="1838325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2"/>
                  </a:solidFill>
                </a:rPr>
                <a:t>決定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276725" y="24384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会議の決定事項に。朱はこの1点だけ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6725" y="33147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決定（朱・1スライド1点まで）</a:t>
            </a:r>
          </a:p>
        </p:txBody>
      </p:sp>
      <p:grpSp>
        <p:nvGrpSpPr>
          <p:cNvPr id="15" name="スタンプ03_重要"/>
          <p:cNvGrpSpPr/>
          <p:nvPr/>
        </p:nvGrpSpPr>
        <p:grpSpPr>
          <a:xfrm>
            <a:off x="9448800" y="1838325"/>
            <a:ext cx="1066800" cy="390525"/>
            <a:chOff x="9448800" y="1838325"/>
            <a:chExt cx="1066800" cy="390525"/>
          </a:xfrm>
        </p:grpSpPr>
        <p:sp>
          <p:nvSpPr>
            <p:cNvPr id="16" name="スタンプ枠_重要"/>
            <p:cNvSpPr/>
            <p:nvPr/>
          </p:nvSpPr>
          <p:spPr>
            <a:xfrm>
              <a:off x="9448800" y="1847850"/>
              <a:ext cx="1066800" cy="381000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スタンプ文字_重要"/>
            <p:cNvSpPr/>
            <p:nvPr/>
          </p:nvSpPr>
          <p:spPr>
            <a:xfrm>
              <a:off x="9448800" y="1838325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重要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162925" y="24384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読み飛ばし防止の最重要項目に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2925" y="33147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重要（darkest塗り・白字）</a:t>
            </a:r>
          </a:p>
        </p:txBody>
      </p:sp>
      <p:grpSp>
        <p:nvGrpSpPr>
          <p:cNvPr id="20" name="スタンプ04_NEW"/>
          <p:cNvGrpSpPr/>
          <p:nvPr/>
        </p:nvGrpSpPr>
        <p:grpSpPr>
          <a:xfrm>
            <a:off x="1714500" y="4772025"/>
            <a:ext cx="990600" cy="390525"/>
            <a:chOff x="1714500" y="4772025"/>
            <a:chExt cx="990600" cy="390525"/>
          </a:xfrm>
        </p:grpSpPr>
        <p:sp>
          <p:nvSpPr>
            <p:cNvPr id="21" name="スタンプ枠_NEW"/>
            <p:cNvSpPr/>
            <p:nvPr/>
          </p:nvSpPr>
          <p:spPr>
            <a:xfrm>
              <a:off x="1714500" y="4781550"/>
              <a:ext cx="990600" cy="381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スタンプ文字_NEW"/>
            <p:cNvSpPr/>
            <p:nvPr/>
          </p:nvSpPr>
          <p:spPr>
            <a:xfrm>
              <a:off x="1714500" y="4772025"/>
              <a:ext cx="990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NEW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390525" y="53721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新規追加・新着の項目に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525" y="62484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NEW（primary塗り・白字）</a:t>
            </a:r>
          </a:p>
        </p:txBody>
      </p:sp>
      <p:grpSp>
        <p:nvGrpSpPr>
          <p:cNvPr id="25" name="スタンプ05_検討中"/>
          <p:cNvGrpSpPr/>
          <p:nvPr/>
        </p:nvGrpSpPr>
        <p:grpSpPr>
          <a:xfrm>
            <a:off x="5486400" y="4772025"/>
            <a:ext cx="1219200" cy="390525"/>
            <a:chOff x="5486400" y="4772025"/>
            <a:chExt cx="1219200" cy="390525"/>
          </a:xfrm>
        </p:grpSpPr>
        <p:sp>
          <p:nvSpPr>
            <p:cNvPr id="26" name="スタンプ枠_検討中"/>
            <p:cNvSpPr/>
            <p:nvPr/>
          </p:nvSpPr>
          <p:spPr>
            <a:xfrm>
              <a:off x="5486400" y="4781550"/>
              <a:ext cx="1219200" cy="381000"/>
            </a:xfrm>
            <a:prstGeom prst="roundRect">
              <a:avLst>
                <a:gd name="adj" fmla="val 10000"/>
              </a:avLst>
            </a:prstGeom>
            <a:noFill/>
            <a:ln w="14287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スタンプ文字_検討中"/>
            <p:cNvSpPr/>
            <p:nvPr/>
          </p:nvSpPr>
          <p:spPr>
            <a:xfrm>
              <a:off x="5486400" y="4772025"/>
              <a:ext cx="1219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5"/>
                  </a:solidFill>
                </a:rPr>
                <a:t>検討中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276725" y="53721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仮置き・未確定の項目に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725" y="62484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検討中（破線＝未確定）</a:t>
            </a:r>
          </a:p>
        </p:txBody>
      </p:sp>
      <p:grpSp>
        <p:nvGrpSpPr>
          <p:cNvPr id="30" name="スタンプ06_社外秘"/>
          <p:cNvGrpSpPr/>
          <p:nvPr/>
        </p:nvGrpSpPr>
        <p:grpSpPr>
          <a:xfrm>
            <a:off x="9372600" y="4772025"/>
            <a:ext cx="1219200" cy="390525"/>
            <a:chOff x="9372600" y="4772025"/>
            <a:chExt cx="1219200" cy="390525"/>
          </a:xfrm>
        </p:grpSpPr>
        <p:sp>
          <p:nvSpPr>
            <p:cNvPr id="31" name="スタンプ枠_社外秘"/>
            <p:cNvSpPr/>
            <p:nvPr/>
          </p:nvSpPr>
          <p:spPr>
            <a:xfrm>
              <a:off x="9372600" y="4781550"/>
              <a:ext cx="12192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スタンプ内枠_社外秘"/>
            <p:cNvSpPr/>
            <p:nvPr/>
          </p:nvSpPr>
          <p:spPr>
            <a:xfrm>
              <a:off x="9410700" y="4819650"/>
              <a:ext cx="1143000" cy="304800"/>
            </a:xfrm>
            <a:prstGeom prst="roundRect">
              <a:avLst>
                <a:gd name="adj" fmla="val 9375"/>
              </a:avLst>
            </a:prstGeom>
            <a:noFill/>
            <a:ln w="9525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スタンプ文字_社外秘"/>
            <p:cNvSpPr/>
            <p:nvPr/>
          </p:nvSpPr>
          <p:spPr>
            <a:xfrm>
              <a:off x="9372600" y="4772025"/>
              <a:ext cx="1219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社外秘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8162925" y="5372100"/>
            <a:ext cx="36385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>
                <a:solidFill>
                  <a:schemeClr val="accent5"/>
                </a:solidFill>
              </a:rPr>
              <a:t>配布資料の右上に。取扱注意の明示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2925" y="6248400"/>
            <a:ext cx="36385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社外秘（二重枠）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パーツ図鑑｜⑨ スタンプ・注釈 — 注釈4種＋応用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図の上に重ねるだけで視線を誘導できます</a:t>
            </a:r>
          </a:p>
        </p:txBody>
      </p:sp>
      <p:grpSp>
        <p:nvGrpSpPr>
          <p:cNvPr id="5" name="注釈07_付箋"/>
          <p:cNvGrpSpPr/>
          <p:nvPr/>
        </p:nvGrpSpPr>
        <p:grpSpPr>
          <a:xfrm>
            <a:off x="923925" y="1352550"/>
            <a:ext cx="1619250" cy="1219200"/>
            <a:chOff x="923925" y="1352550"/>
            <a:chExt cx="1619250" cy="1219200"/>
          </a:xfrm>
        </p:grpSpPr>
        <p:sp>
          <p:nvSpPr>
            <p:cNvPr id="6" name="付箋本体"/>
            <p:cNvSpPr/>
            <p:nvPr/>
          </p:nvSpPr>
          <p:spPr>
            <a:xfrm>
              <a:off x="923925" y="1352550"/>
              <a:ext cx="16192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折り角の切り欠き"/>
            <p:cNvSpPr/>
            <p:nvPr/>
          </p:nvSpPr>
          <p:spPr>
            <a:xfrm>
              <a:off x="2333625" y="23622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  <a:lnTo>
                    <a:pt x="209550" y="2095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折り返し"/>
            <p:cNvSpPr/>
            <p:nvPr/>
          </p:nvSpPr>
          <p:spPr>
            <a:xfrm>
              <a:off x="2333625" y="23622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付箋テキスト"/>
            <p:cNvSpPr/>
            <p:nvPr/>
          </p:nvSpPr>
          <p:spPr>
            <a:xfrm>
              <a:off x="1076325" y="1485900"/>
              <a:ext cx="131445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宿題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担当と期限をここに記入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付箋（宿題・ToDoの書き込み）</a:t>
            </a:r>
          </a:p>
        </p:txBody>
      </p:sp>
      <p:grpSp>
        <p:nvGrpSpPr>
          <p:cNvPr id="11" name="注釈08_マーカー風下線"/>
          <p:cNvGrpSpPr/>
          <p:nvPr/>
        </p:nvGrpSpPr>
        <p:grpSpPr>
          <a:xfrm>
            <a:off x="3629025" y="1524000"/>
            <a:ext cx="2019300" cy="819150"/>
            <a:chOff x="3629025" y="1524000"/>
            <a:chExt cx="2019300" cy="819150"/>
          </a:xfrm>
        </p:grpSpPr>
        <p:sp>
          <p:nvSpPr>
            <p:cNvPr id="12" name="前の本文"/>
            <p:cNvSpPr/>
            <p:nvPr/>
          </p:nvSpPr>
          <p:spPr>
            <a:xfrm>
              <a:off x="3629025" y="1524000"/>
              <a:ext cx="2019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本文テキストが続くなかで</a:t>
              </a:r>
            </a:p>
          </p:txBody>
        </p:sp>
        <p:sp>
          <p:nvSpPr>
            <p:cNvPr id="13" name="マーカー帯"/>
            <p:cNvSpPr/>
            <p:nvPr/>
          </p:nvSpPr>
          <p:spPr>
            <a:xfrm>
              <a:off x="3629025" y="1962150"/>
              <a:ext cx="125730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結論の一文"/>
            <p:cNvSpPr/>
            <p:nvPr/>
          </p:nvSpPr>
          <p:spPr>
            <a:xfrm>
              <a:off x="3629025" y="1847850"/>
              <a:ext cx="2019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ここが結論です</a:t>
              </a:r>
            </a:p>
          </p:txBody>
        </p:sp>
        <p:sp>
          <p:nvSpPr>
            <p:cNvPr id="15" name="後の本文"/>
            <p:cNvSpPr/>
            <p:nvPr/>
          </p:nvSpPr>
          <p:spPr>
            <a:xfrm>
              <a:off x="3629025" y="2171700"/>
              <a:ext cx="2019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そして本文テキストが続く…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マーカー風下線（結論の一文に）</a:t>
            </a:r>
          </a:p>
        </p:txBody>
      </p:sp>
      <p:grpSp>
        <p:nvGrpSpPr>
          <p:cNvPr id="17" name="注釈09_丸囲み"/>
          <p:cNvGrpSpPr/>
          <p:nvPr/>
        </p:nvGrpSpPr>
        <p:grpSpPr>
          <a:xfrm>
            <a:off x="6467475" y="1543050"/>
            <a:ext cx="2019300" cy="590550"/>
            <a:chOff x="6467475" y="1543050"/>
            <a:chExt cx="2019300" cy="590550"/>
          </a:xfrm>
        </p:grpSpPr>
        <p:sp>
          <p:nvSpPr>
            <p:cNvPr id="18" name="見出し_A案"/>
            <p:cNvSpPr/>
            <p:nvPr/>
          </p:nvSpPr>
          <p:spPr>
            <a:xfrm>
              <a:off x="6467475" y="154305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A案</a:t>
              </a:r>
            </a:p>
          </p:txBody>
        </p:sp>
        <p:sp>
          <p:nvSpPr>
            <p:cNvPr id="19" name="数値_A案"/>
            <p:cNvSpPr/>
            <p:nvPr/>
          </p:nvSpPr>
          <p:spPr>
            <a:xfrm>
              <a:off x="6467475" y="1809750"/>
              <a:ext cx="571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accent5"/>
                  </a:solidFill>
                </a:rPr>
                <a:t>68</a:t>
              </a:r>
            </a:p>
          </p:txBody>
        </p:sp>
        <p:sp>
          <p:nvSpPr>
            <p:cNvPr id="20" name="見出し_B案"/>
            <p:cNvSpPr/>
            <p:nvPr/>
          </p:nvSpPr>
          <p:spPr>
            <a:xfrm>
              <a:off x="7191375" y="154305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B案</a:t>
              </a:r>
            </a:p>
          </p:txBody>
        </p:sp>
        <p:sp>
          <p:nvSpPr>
            <p:cNvPr id="21" name="数値_B案"/>
            <p:cNvSpPr/>
            <p:nvPr/>
          </p:nvSpPr>
          <p:spPr>
            <a:xfrm>
              <a:off x="7191375" y="1809750"/>
              <a:ext cx="571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82</a:t>
              </a:r>
            </a:p>
          </p:txBody>
        </p:sp>
        <p:sp>
          <p:nvSpPr>
            <p:cNvPr id="22" name="見出し_C案"/>
            <p:cNvSpPr/>
            <p:nvPr/>
          </p:nvSpPr>
          <p:spPr>
            <a:xfrm>
              <a:off x="7915275" y="154305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C案</a:t>
              </a:r>
            </a:p>
          </p:txBody>
        </p:sp>
        <p:sp>
          <p:nvSpPr>
            <p:cNvPr id="23" name="数値_C案"/>
            <p:cNvSpPr/>
            <p:nvPr/>
          </p:nvSpPr>
          <p:spPr>
            <a:xfrm>
              <a:off x="7915275" y="1809750"/>
              <a:ext cx="571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accent5"/>
                  </a:solidFill>
                </a:rPr>
                <a:t>74</a:t>
              </a:r>
            </a:p>
          </p:txBody>
        </p:sp>
        <p:sp>
          <p:nvSpPr>
            <p:cNvPr id="24" name="丸囲み"/>
            <p:cNvSpPr/>
            <p:nvPr/>
          </p:nvSpPr>
          <p:spPr>
            <a:xfrm>
              <a:off x="7172325" y="1752600"/>
              <a:ext cx="609600" cy="3810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丸囲み（数字のピンポイント強調）</a:t>
            </a:r>
          </a:p>
        </p:txBody>
      </p:sp>
      <p:grpSp>
        <p:nvGrpSpPr>
          <p:cNvPr id="26" name="注釈10_ズームレンズ"/>
          <p:cNvGrpSpPr/>
          <p:nvPr/>
        </p:nvGrpSpPr>
        <p:grpSpPr>
          <a:xfrm>
            <a:off x="9305925" y="1276350"/>
            <a:ext cx="2266950" cy="1543050"/>
            <a:chOff x="9305925" y="1276350"/>
            <a:chExt cx="2266950" cy="1543050"/>
          </a:xfrm>
        </p:grpSpPr>
        <p:sp>
          <p:nvSpPr>
            <p:cNvPr id="27" name="資料の紙面"/>
            <p:cNvSpPr/>
            <p:nvPr/>
          </p:nvSpPr>
          <p:spPr>
            <a:xfrm>
              <a:off x="9305925" y="1276350"/>
              <a:ext cx="1143000" cy="1047750"/>
            </a:xfrm>
            <a:prstGeom prst="roundRect">
              <a:avLst>
                <a:gd name="adj" fmla="val 5454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紙面の行1"/>
            <p:cNvCxnSpPr/>
            <p:nvPr/>
          </p:nvCxnSpPr>
          <p:spPr>
            <a:xfrm>
              <a:off x="9458325" y="1504950"/>
              <a:ext cx="838200" cy="0"/>
            </a:xfrm>
            <a:prstGeom prst="bentConnector3">
              <a:avLst/>
            </a:prstGeom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紙面の行2"/>
            <p:cNvCxnSpPr/>
            <p:nvPr/>
          </p:nvCxnSpPr>
          <p:spPr>
            <a:xfrm>
              <a:off x="9458325" y="1695450"/>
              <a:ext cx="838200" cy="0"/>
            </a:xfrm>
            <a:prstGeom prst="bentConnector3">
              <a:avLst/>
            </a:prstGeom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紙面の行3"/>
            <p:cNvCxnSpPr/>
            <p:nvPr/>
          </p:nvCxnSpPr>
          <p:spPr>
            <a:xfrm>
              <a:off x="9458325" y="1885950"/>
              <a:ext cx="533400" cy="0"/>
            </a:xfrm>
            <a:prstGeom prst="bentConnector3">
              <a:avLst/>
            </a:prstGeom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レンズの柄"/>
            <p:cNvCxnSpPr/>
            <p:nvPr/>
          </p:nvCxnSpPr>
          <p:spPr>
            <a:xfrm>
              <a:off x="10182225" y="2038350"/>
              <a:ext cx="228600" cy="228600"/>
            </a:xfrm>
            <a:prstGeom prst="bentConnector3">
              <a:avLst/>
            </a:prstGeom>
            <a:ln w="3333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レンズ"/>
            <p:cNvSpPr/>
            <p:nvPr/>
          </p:nvSpPr>
          <p:spPr>
            <a:xfrm>
              <a:off x="9725025" y="1581150"/>
              <a:ext cx="533400" cy="5334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ズーム注記"/>
            <p:cNvSpPr/>
            <p:nvPr/>
          </p:nvSpPr>
          <p:spPr>
            <a:xfrm>
              <a:off x="10334625" y="2343150"/>
              <a:ext cx="1238250" cy="476250"/>
            </a:xfrm>
            <a:custGeom>
              <a:avLst/>
              <a:gdLst/>
              <a:ahLst/>
              <a:cxnLst/>
              <a:rect l="0" t="0" r="1238250" b="381000"/>
              <a:pathLst>
                <a:path w="1238250" h="476250">
                  <a:moveTo>
                    <a:pt x="57150" y="0"/>
                  </a:moveTo>
                  <a:lnTo>
                    <a:pt x="1181100" y="0"/>
                  </a:lnTo>
                  <a:arcTo wR="57150" hR="57150" stAng="16200000" swAng="5400000"/>
                  <a:lnTo>
                    <a:pt x="1238250" y="323850"/>
                  </a:lnTo>
                  <a:arcTo wR="57150" hR="57150" stAng="0" swAng="5400000"/>
                  <a:lnTo>
                    <a:pt x="314325" y="381000"/>
                  </a:lnTo>
                  <a:lnTo>
                    <a:pt x="247650" y="476250"/>
                  </a:lnTo>
                  <a:lnTo>
                    <a:pt x="180975" y="381000"/>
                  </a:lnTo>
                  <a:lnTo>
                    <a:pt x="57150" y="38100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467975" y="2343150"/>
              <a:ext cx="9715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lt1"/>
                  </a:solidFill>
                </a:rPr>
                <a:t>ここを拡大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ズームレンズ（細部の拡大注記）</a:t>
            </a:r>
          </a:p>
        </p:txBody>
      </p:sp>
      <p:grpSp>
        <p:nvGrpSpPr>
          <p:cNvPr id="36" name="応用A_矢印つき注記"/>
          <p:cNvGrpSpPr/>
          <p:nvPr/>
        </p:nvGrpSpPr>
        <p:grpSpPr>
          <a:xfrm>
            <a:off x="962025" y="4419600"/>
            <a:ext cx="4248150" cy="952500"/>
            <a:chOff x="962025" y="4419600"/>
            <a:chExt cx="4248150" cy="952500"/>
          </a:xfrm>
        </p:grpSpPr>
        <p:sp>
          <p:nvSpPr>
            <p:cNvPr id="37" name="対象のKPIカード"/>
            <p:cNvSpPr/>
            <p:nvPr/>
          </p:nvSpPr>
          <p:spPr>
            <a:xfrm>
              <a:off x="3686175" y="4419600"/>
              <a:ext cx="1524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KPI数値"/>
            <p:cNvSpPr/>
            <p:nvPr/>
          </p:nvSpPr>
          <p:spPr>
            <a:xfrm>
              <a:off x="3686175" y="4572000"/>
              <a:ext cx="1524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42%</a:t>
              </a:r>
            </a:p>
          </p:txBody>
        </p:sp>
        <p:sp>
          <p:nvSpPr>
            <p:cNvPr id="39" name="KPIラベル"/>
            <p:cNvSpPr/>
            <p:nvPr/>
          </p:nvSpPr>
          <p:spPr>
            <a:xfrm>
              <a:off x="3686175" y="499110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解約率の改善幅</a:t>
              </a:r>
            </a:p>
          </p:txBody>
        </p:sp>
        <p:sp>
          <p:nvSpPr>
            <p:cNvPr id="40" name="注記テキスト"/>
            <p:cNvSpPr/>
            <p:nvPr/>
          </p:nvSpPr>
          <p:spPr>
            <a:xfrm>
              <a:off x="962025" y="4667250"/>
              <a:ext cx="1981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施策Bの効果が</a:t>
              </a:r>
            </a:p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数字に表れています</a:t>
              </a:r>
            </a:p>
          </p:txBody>
        </p:sp>
        <p:cxnSp>
          <p:nvCxnSpPr>
            <p:cNvPr id="41" name="注記の矢印"/>
            <p:cNvCxnSpPr/>
            <p:nvPr/>
          </p:nvCxnSpPr>
          <p:spPr>
            <a:xfrm>
              <a:off x="2981325" y="4895850"/>
              <a:ext cx="62865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応用A 矢印つき注記（garrow＋テキスト）</a:t>
            </a:r>
          </a:p>
        </p:txBody>
      </p:sp>
      <p:grpSp>
        <p:nvGrpSpPr>
          <p:cNvPr id="43" name="応用B_スタンプと日付"/>
          <p:cNvGrpSpPr/>
          <p:nvPr/>
        </p:nvGrpSpPr>
        <p:grpSpPr>
          <a:xfrm>
            <a:off x="6848475" y="4543425"/>
            <a:ext cx="3943350" cy="638175"/>
            <a:chOff x="6848475" y="4543425"/>
            <a:chExt cx="3943350" cy="638175"/>
          </a:xfrm>
        </p:grpSpPr>
        <p:sp>
          <p:nvSpPr>
            <p:cNvPr id="44" name="スタンプ枠_済"/>
            <p:cNvSpPr/>
            <p:nvPr/>
          </p:nvSpPr>
          <p:spPr>
            <a:xfrm>
              <a:off x="7134225" y="4552950"/>
              <a:ext cx="9906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スタンプ文字_済"/>
            <p:cNvSpPr/>
            <p:nvPr/>
          </p:nvSpPr>
          <p:spPr>
            <a:xfrm>
              <a:off x="7134225" y="4543425"/>
              <a:ext cx="990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済</a:t>
              </a:r>
            </a:p>
          </p:txBody>
        </p:sp>
        <p:sp>
          <p:nvSpPr>
            <p:cNvPr id="46" name="確認日_済"/>
            <p:cNvSpPr/>
            <p:nvPr/>
          </p:nvSpPr>
          <p:spPr>
            <a:xfrm>
              <a:off x="6848475" y="5029200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2026.07.17 田中</a:t>
              </a:r>
            </a:p>
          </p:txBody>
        </p:sp>
        <p:sp>
          <p:nvSpPr>
            <p:cNvPr id="47" name="スタンプ枠_決定"/>
            <p:cNvSpPr/>
            <p:nvPr/>
          </p:nvSpPr>
          <p:spPr>
            <a:xfrm>
              <a:off x="9477375" y="4552950"/>
              <a:ext cx="10668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スタンプ文字_決定"/>
            <p:cNvSpPr/>
            <p:nvPr/>
          </p:nvSpPr>
          <p:spPr>
            <a:xfrm>
              <a:off x="9477375" y="4543425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2"/>
                  </a:solidFill>
                </a:rPr>
                <a:t>決定</a:t>
              </a:r>
            </a:p>
          </p:txBody>
        </p:sp>
        <p:sp>
          <p:nvSpPr>
            <p:cNvPr id="49" name="決定日_決定"/>
            <p:cNvSpPr/>
            <p:nvPr/>
          </p:nvSpPr>
          <p:spPr>
            <a:xfrm>
              <a:off x="9229725" y="5029200"/>
              <a:ext cx="1562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2026.07.17 経営会議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応用B スタンプ＋日付（承認履歴の見せ方）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9334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7月定例：価格改定を決定 — 移行スケジュールは継続検討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社外秘"/>
          <p:cNvGrpSpPr/>
          <p:nvPr/>
        </p:nvGrpSpPr>
        <p:grpSpPr>
          <a:xfrm>
            <a:off x="10582275" y="219075"/>
            <a:ext cx="1219200" cy="390525"/>
            <a:chOff x="10582275" y="219075"/>
            <a:chExt cx="1219200" cy="390525"/>
          </a:xfrm>
        </p:grpSpPr>
        <p:sp>
          <p:nvSpPr>
            <p:cNvPr id="6" name="スタンプ枠_社外秘"/>
            <p:cNvSpPr/>
            <p:nvPr/>
          </p:nvSpPr>
          <p:spPr>
            <a:xfrm>
              <a:off x="10582275" y="228600"/>
              <a:ext cx="12192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スタンプ内枠_社外秘"/>
            <p:cNvSpPr/>
            <p:nvPr/>
          </p:nvSpPr>
          <p:spPr>
            <a:xfrm>
              <a:off x="10620375" y="266700"/>
              <a:ext cx="1143000" cy="304800"/>
            </a:xfrm>
            <a:prstGeom prst="roundRect">
              <a:avLst>
                <a:gd name="adj" fmla="val 9375"/>
              </a:avLst>
            </a:prstGeom>
            <a:noFill/>
            <a:ln w="9525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スタンプ文字_社外秘"/>
            <p:cNvSpPr/>
            <p:nvPr/>
          </p:nvSpPr>
          <p:spPr>
            <a:xfrm>
              <a:off x="10582275" y="219075"/>
              <a:ext cx="1219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社外秘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762000" y="1104900"/>
            <a:ext cx="5334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本日のアジェンダと結果</a:t>
            </a:r>
          </a:p>
        </p:txBody>
      </p:sp>
      <p:grpSp>
        <p:nvGrpSpPr>
          <p:cNvPr id="10" name="使用例_議題01"/>
          <p:cNvGrpSpPr/>
          <p:nvPr/>
        </p:nvGrpSpPr>
        <p:grpSpPr>
          <a:xfrm>
            <a:off x="762000" y="1409700"/>
            <a:ext cx="5334000" cy="819150"/>
            <a:chOff x="762000" y="1409700"/>
            <a:chExt cx="5334000" cy="819150"/>
          </a:xfrm>
        </p:grpSpPr>
        <p:sp>
          <p:nvSpPr>
            <p:cNvPr id="11" name="番号チップ01"/>
            <p:cNvSpPr/>
            <p:nvPr/>
          </p:nvSpPr>
          <p:spPr>
            <a:xfrm>
              <a:off x="762000" y="14097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番号01"/>
            <p:cNvSpPr/>
            <p:nvPr/>
          </p:nvSpPr>
          <p:spPr>
            <a:xfrm>
              <a:off x="762000" y="14192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01</a:t>
              </a:r>
            </a:p>
          </p:txBody>
        </p:sp>
        <p:sp>
          <p:nvSpPr>
            <p:cNvPr id="13" name="議題名01"/>
            <p:cNvSpPr/>
            <p:nvPr/>
          </p:nvSpPr>
          <p:spPr>
            <a:xfrm>
              <a:off x="1181100" y="1428750"/>
              <a:ext cx="3333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新プラン価格の改定方針</a:t>
              </a:r>
            </a:p>
          </p:txBody>
        </p:sp>
        <p:sp>
          <p:nvSpPr>
            <p:cNvPr id="14" name="補足01"/>
            <p:cNvSpPr/>
            <p:nvPr/>
          </p:nvSpPr>
          <p:spPr>
            <a:xfrm>
              <a:off x="1181100" y="1695450"/>
              <a:ext cx="33337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現行比＋8%で10月適用。約款の改定は法務が確認済み</a:t>
              </a:r>
            </a:p>
          </p:txBody>
        </p:sp>
        <p:sp>
          <p:nvSpPr>
            <p:cNvPr id="15" name="スタンプ枠_決定"/>
            <p:cNvSpPr/>
            <p:nvPr/>
          </p:nvSpPr>
          <p:spPr>
            <a:xfrm>
              <a:off x="5029200" y="1447800"/>
              <a:ext cx="10668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スタンプ文字_決定"/>
            <p:cNvSpPr/>
            <p:nvPr/>
          </p:nvSpPr>
          <p:spPr>
            <a:xfrm>
              <a:off x="5029200" y="1438275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2"/>
                  </a:solidFill>
                </a:rPr>
                <a:t>決定</a:t>
              </a:r>
            </a:p>
          </p:txBody>
        </p:sp>
        <p:cxnSp>
          <p:nvCxnSpPr>
            <p:cNvPr id="17" name="区切り線01"/>
            <p:cNvCxnSpPr/>
            <p:nvPr/>
          </p:nvCxnSpPr>
          <p:spPr>
            <a:xfrm>
              <a:off x="762000" y="22288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使用例_議題02"/>
          <p:cNvGrpSpPr/>
          <p:nvPr/>
        </p:nvGrpSpPr>
        <p:grpSpPr>
          <a:xfrm>
            <a:off x="762000" y="2400300"/>
            <a:ext cx="5334000" cy="819150"/>
            <a:chOff x="762000" y="2400300"/>
            <a:chExt cx="5334000" cy="819150"/>
          </a:xfrm>
        </p:grpSpPr>
        <p:sp>
          <p:nvSpPr>
            <p:cNvPr id="19" name="番号チップ02"/>
            <p:cNvSpPr/>
            <p:nvPr/>
          </p:nvSpPr>
          <p:spPr>
            <a:xfrm>
              <a:off x="762000" y="2400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番号02"/>
            <p:cNvSpPr/>
            <p:nvPr/>
          </p:nvSpPr>
          <p:spPr>
            <a:xfrm>
              <a:off x="762000" y="24098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02</a:t>
              </a:r>
            </a:p>
          </p:txBody>
        </p:sp>
        <p:sp>
          <p:nvSpPr>
            <p:cNvPr id="21" name="議題名02"/>
            <p:cNvSpPr/>
            <p:nvPr/>
          </p:nvSpPr>
          <p:spPr>
            <a:xfrm>
              <a:off x="1181100" y="2419350"/>
              <a:ext cx="3333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競合3社の価格調査（前回宿題）</a:t>
              </a:r>
            </a:p>
          </p:txBody>
        </p:sp>
        <p:sp>
          <p:nvSpPr>
            <p:cNvPr id="22" name="補足02"/>
            <p:cNvSpPr/>
            <p:nvPr/>
          </p:nvSpPr>
          <p:spPr>
            <a:xfrm>
              <a:off x="1181100" y="2686050"/>
              <a:ext cx="33337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調査完了。詳細は別紙アペンディクスに添付</a:t>
              </a:r>
            </a:p>
          </p:txBody>
        </p:sp>
        <p:sp>
          <p:nvSpPr>
            <p:cNvPr id="23" name="スタンプ枠_済"/>
            <p:cNvSpPr/>
            <p:nvPr/>
          </p:nvSpPr>
          <p:spPr>
            <a:xfrm>
              <a:off x="5105400" y="2438400"/>
              <a:ext cx="9906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スタンプ文字_済"/>
            <p:cNvSpPr/>
            <p:nvPr/>
          </p:nvSpPr>
          <p:spPr>
            <a:xfrm>
              <a:off x="5105400" y="2428875"/>
              <a:ext cx="9906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済</a:t>
              </a:r>
            </a:p>
          </p:txBody>
        </p:sp>
        <p:cxnSp>
          <p:nvCxnSpPr>
            <p:cNvPr id="25" name="区切り線02"/>
            <p:cNvCxnSpPr/>
            <p:nvPr/>
          </p:nvCxnSpPr>
          <p:spPr>
            <a:xfrm>
              <a:off x="762000" y="32194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使用例_議題03"/>
          <p:cNvGrpSpPr/>
          <p:nvPr/>
        </p:nvGrpSpPr>
        <p:grpSpPr>
          <a:xfrm>
            <a:off x="762000" y="3390900"/>
            <a:ext cx="5334000" cy="819150"/>
            <a:chOff x="762000" y="3390900"/>
            <a:chExt cx="5334000" cy="819150"/>
          </a:xfrm>
        </p:grpSpPr>
        <p:sp>
          <p:nvSpPr>
            <p:cNvPr id="27" name="番号チップ03"/>
            <p:cNvSpPr/>
            <p:nvPr/>
          </p:nvSpPr>
          <p:spPr>
            <a:xfrm>
              <a:off x="762000" y="33909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番号03"/>
            <p:cNvSpPr/>
            <p:nvPr/>
          </p:nvSpPr>
          <p:spPr>
            <a:xfrm>
              <a:off x="762000" y="34004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03</a:t>
              </a:r>
            </a:p>
          </p:txBody>
        </p:sp>
        <p:sp>
          <p:nvSpPr>
            <p:cNvPr id="29" name="議題名03"/>
            <p:cNvSpPr/>
            <p:nvPr/>
          </p:nvSpPr>
          <p:spPr>
            <a:xfrm>
              <a:off x="1181100" y="3409950"/>
              <a:ext cx="3333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既存客の移行スケジュール</a:t>
              </a:r>
            </a:p>
          </p:txBody>
        </p:sp>
        <p:sp>
          <p:nvSpPr>
            <p:cNvPr id="30" name="補足03"/>
            <p:cNvSpPr/>
            <p:nvPr/>
          </p:nvSpPr>
          <p:spPr>
            <a:xfrm>
              <a:off x="1181100" y="3676650"/>
              <a:ext cx="33337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段階移行か一括かを継続検討。次回までに影響を試算</a:t>
              </a:r>
            </a:p>
          </p:txBody>
        </p:sp>
        <p:sp>
          <p:nvSpPr>
            <p:cNvPr id="31" name="スタンプ枠_検討中"/>
            <p:cNvSpPr/>
            <p:nvPr/>
          </p:nvSpPr>
          <p:spPr>
            <a:xfrm>
              <a:off x="4876800" y="3429000"/>
              <a:ext cx="1219200" cy="381000"/>
            </a:xfrm>
            <a:prstGeom prst="roundRect">
              <a:avLst>
                <a:gd name="adj" fmla="val 10000"/>
              </a:avLst>
            </a:prstGeom>
            <a:noFill/>
            <a:ln w="14287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スタンプ文字_検討中"/>
            <p:cNvSpPr/>
            <p:nvPr/>
          </p:nvSpPr>
          <p:spPr>
            <a:xfrm>
              <a:off x="4876800" y="3419475"/>
              <a:ext cx="1219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5"/>
                  </a:solidFill>
                </a:rPr>
                <a:t>検討中</a:t>
              </a:r>
            </a:p>
          </p:txBody>
        </p:sp>
        <p:cxnSp>
          <p:nvCxnSpPr>
            <p:cNvPr id="33" name="区切り線03"/>
            <p:cNvCxnSpPr/>
            <p:nvPr/>
          </p:nvCxnSpPr>
          <p:spPr>
            <a:xfrm>
              <a:off x="762000" y="42100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使用例_宿題付箋"/>
          <p:cNvGrpSpPr/>
          <p:nvPr/>
        </p:nvGrpSpPr>
        <p:grpSpPr>
          <a:xfrm>
            <a:off x="914400" y="4629150"/>
            <a:ext cx="3048000" cy="1143000"/>
            <a:chOff x="914400" y="4629150"/>
            <a:chExt cx="3048000" cy="1143000"/>
          </a:xfrm>
        </p:grpSpPr>
        <p:sp>
          <p:nvSpPr>
            <p:cNvPr id="35" name="付箋本体"/>
            <p:cNvSpPr/>
            <p:nvPr/>
          </p:nvSpPr>
          <p:spPr>
            <a:xfrm>
              <a:off x="914400" y="4629150"/>
              <a:ext cx="30480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折り角の切り欠き"/>
            <p:cNvSpPr/>
            <p:nvPr/>
          </p:nvSpPr>
          <p:spPr>
            <a:xfrm>
              <a:off x="3752850" y="55626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  <a:lnTo>
                    <a:pt x="209550" y="2095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折り返し"/>
            <p:cNvSpPr/>
            <p:nvPr/>
          </p:nvSpPr>
          <p:spPr>
            <a:xfrm>
              <a:off x="3752850" y="55626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付箋テキスト"/>
            <p:cNvSpPr/>
            <p:nvPr/>
          </p:nvSpPr>
          <p:spPr>
            <a:xfrm>
              <a:off x="1066800" y="4762500"/>
              <a:ext cx="27432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宿題：移行影響の試算</a:t>
              </a:r>
            </a:p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担当：佐藤　期限：7/24（金）</a:t>
              </a:r>
            </a:p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試算結果は次回定例で報告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6858000" y="1104900"/>
            <a:ext cx="4381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参考データ：解約率の推移</a:t>
            </a:r>
          </a:p>
        </p:txBody>
      </p:sp>
      <p:grpSp>
        <p:nvGrpSpPr>
          <p:cNvPr id="40" name="使用例_解約率グラフ"/>
          <p:cNvGrpSpPr/>
          <p:nvPr/>
        </p:nvGrpSpPr>
        <p:grpSpPr>
          <a:xfrm>
            <a:off x="7048500" y="3048000"/>
            <a:ext cx="4419600" cy="1943100"/>
            <a:chOff x="7048500" y="3048000"/>
            <a:chExt cx="4419600" cy="1943100"/>
          </a:xfrm>
        </p:grpSpPr>
        <p:sp>
          <p:nvSpPr>
            <p:cNvPr id="41" name="棒_FY23"/>
            <p:cNvSpPr/>
            <p:nvPr/>
          </p:nvSpPr>
          <p:spPr>
            <a:xfrm>
              <a:off x="7239000" y="3295650"/>
              <a:ext cx="571500" cy="14668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値_FY23"/>
            <p:cNvSpPr/>
            <p:nvPr/>
          </p:nvSpPr>
          <p:spPr>
            <a:xfrm>
              <a:off x="7162800" y="3048000"/>
              <a:ext cx="7239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3.2%</a:t>
              </a:r>
            </a:p>
          </p:txBody>
        </p:sp>
        <p:sp>
          <p:nvSpPr>
            <p:cNvPr id="43" name="年_FY23"/>
            <p:cNvSpPr/>
            <p:nvPr/>
          </p:nvSpPr>
          <p:spPr>
            <a:xfrm>
              <a:off x="7239000" y="48387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FY23</a:t>
              </a:r>
            </a:p>
          </p:txBody>
        </p:sp>
        <p:sp>
          <p:nvSpPr>
            <p:cNvPr id="44" name="棒_FY24"/>
            <p:cNvSpPr/>
            <p:nvPr/>
          </p:nvSpPr>
          <p:spPr>
            <a:xfrm>
              <a:off x="8305800" y="3486150"/>
              <a:ext cx="571500" cy="1276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値_FY24"/>
            <p:cNvSpPr/>
            <p:nvPr/>
          </p:nvSpPr>
          <p:spPr>
            <a:xfrm>
              <a:off x="8229600" y="3238500"/>
              <a:ext cx="7239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2.8%</a:t>
              </a:r>
            </a:p>
          </p:txBody>
        </p:sp>
        <p:sp>
          <p:nvSpPr>
            <p:cNvPr id="46" name="年_FY24"/>
            <p:cNvSpPr/>
            <p:nvPr/>
          </p:nvSpPr>
          <p:spPr>
            <a:xfrm>
              <a:off x="8305800" y="48387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FY24</a:t>
              </a:r>
            </a:p>
          </p:txBody>
        </p:sp>
        <p:sp>
          <p:nvSpPr>
            <p:cNvPr id="47" name="棒_FY25"/>
            <p:cNvSpPr/>
            <p:nvPr/>
          </p:nvSpPr>
          <p:spPr>
            <a:xfrm>
              <a:off x="9372600" y="3571875"/>
              <a:ext cx="571500" cy="11906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値_FY25"/>
            <p:cNvSpPr/>
            <p:nvPr/>
          </p:nvSpPr>
          <p:spPr>
            <a:xfrm>
              <a:off x="9296400" y="3324225"/>
              <a:ext cx="7239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2.6%</a:t>
              </a:r>
            </a:p>
          </p:txBody>
        </p:sp>
        <p:sp>
          <p:nvSpPr>
            <p:cNvPr id="49" name="年_FY25"/>
            <p:cNvSpPr/>
            <p:nvPr/>
          </p:nvSpPr>
          <p:spPr>
            <a:xfrm>
              <a:off x="9372600" y="48387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FY25</a:t>
              </a:r>
            </a:p>
          </p:txBody>
        </p:sp>
        <p:sp>
          <p:nvSpPr>
            <p:cNvPr id="50" name="棒_FY26"/>
            <p:cNvSpPr/>
            <p:nvPr/>
          </p:nvSpPr>
          <p:spPr>
            <a:xfrm>
              <a:off x="10439400" y="3895725"/>
              <a:ext cx="571500" cy="8667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値_FY26"/>
            <p:cNvSpPr/>
            <p:nvPr/>
          </p:nvSpPr>
          <p:spPr>
            <a:xfrm>
              <a:off x="10363200" y="3648075"/>
              <a:ext cx="7239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1.9%</a:t>
              </a:r>
            </a:p>
          </p:txBody>
        </p:sp>
        <p:sp>
          <p:nvSpPr>
            <p:cNvPr id="52" name="年_FY26"/>
            <p:cNvSpPr/>
            <p:nvPr/>
          </p:nvSpPr>
          <p:spPr>
            <a:xfrm>
              <a:off x="10439400" y="48387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FY26</a:t>
              </a:r>
            </a:p>
          </p:txBody>
        </p:sp>
        <p:cxnSp>
          <p:nvCxnSpPr>
            <p:cNvPr id="53" name="基準線"/>
            <p:cNvCxnSpPr/>
            <p:nvPr/>
          </p:nvCxnSpPr>
          <p:spPr>
            <a:xfrm>
              <a:off x="7048500" y="4762500"/>
              <a:ext cx="4419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使用例_注目注記"/>
          <p:cNvGrpSpPr/>
          <p:nvPr/>
        </p:nvGrpSpPr>
        <p:grpSpPr>
          <a:xfrm>
            <a:off x="9429750" y="2381250"/>
            <a:ext cx="2076450" cy="1514475"/>
            <a:chOff x="9429750" y="2381250"/>
            <a:chExt cx="2076450" cy="1514475"/>
          </a:xfrm>
        </p:grpSpPr>
        <p:sp>
          <p:nvSpPr>
            <p:cNvPr id="55" name="丸囲み_FY26"/>
            <p:cNvSpPr/>
            <p:nvPr/>
          </p:nvSpPr>
          <p:spPr>
            <a:xfrm>
              <a:off x="10306050" y="3590925"/>
              <a:ext cx="838200" cy="3048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レンズ"/>
            <p:cNvSpPr/>
            <p:nvPr/>
          </p:nvSpPr>
          <p:spPr>
            <a:xfrm>
              <a:off x="11010900" y="2990850"/>
              <a:ext cx="419100" cy="4191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レンズの柄"/>
            <p:cNvCxnSpPr/>
            <p:nvPr/>
          </p:nvCxnSpPr>
          <p:spPr>
            <a:xfrm>
              <a:off x="11325225" y="3305175"/>
              <a:ext cx="180975" cy="180975"/>
            </a:xfrm>
            <a:prstGeom prst="bentConnector3">
              <a:avLst/>
            </a:prstGeom>
            <a:ln w="3333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ズーム注記_反転の理由"/>
            <p:cNvSpPr/>
            <p:nvPr/>
          </p:nvSpPr>
          <p:spPr>
            <a:xfrm>
              <a:off x="9429750" y="2381250"/>
              <a:ext cx="1809750" cy="533400"/>
            </a:xfrm>
            <a:custGeom>
              <a:avLst/>
              <a:gdLst/>
              <a:ahLst/>
              <a:cxnLst/>
              <a:rect l="0" t="0" r="1809750" b="419100"/>
              <a:pathLst>
                <a:path w="1809750" h="533400">
                  <a:moveTo>
                    <a:pt x="57150" y="0"/>
                  </a:moveTo>
                  <a:lnTo>
                    <a:pt x="1752600" y="0"/>
                  </a:lnTo>
                  <a:arcTo wR="57150" hR="57150" stAng="16200000" swAng="5400000"/>
                  <a:lnTo>
                    <a:pt x="1809750" y="361950"/>
                  </a:lnTo>
                  <a:arcTo wR="57150" hR="57150" stAng="0" swAng="5400000"/>
                  <a:lnTo>
                    <a:pt x="1614487" y="419100"/>
                  </a:lnTo>
                  <a:lnTo>
                    <a:pt x="1538287" y="533400"/>
                  </a:lnTo>
                  <a:lnTo>
                    <a:pt x="1462087" y="419100"/>
                  </a:lnTo>
                  <a:lnTo>
                    <a:pt x="57150" y="41910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563100" y="2381250"/>
              <a:ext cx="15430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施策B導入後に急改善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7048500" y="5086350"/>
            <a:ext cx="44196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出典：カスタマーサクセス部 月次レポート（2026年6月）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パーツ図鑑｜⑨ スタンプ・注釈 — 組み込み例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パーツ図鑑｜⑩ KPI・数字見せ — 基本5種＋変種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朱（アクセント）は減少バッジの1点のみ。数字はテキスト直編集</a:t>
            </a:r>
          </a:p>
        </p:txBody>
      </p:sp>
      <p:grpSp>
        <p:nvGrpSpPr>
          <p:cNvPr id="5" name="KPI数字01_大数字カード"/>
          <p:cNvGrpSpPr/>
          <p:nvPr/>
        </p:nvGrpSpPr>
        <p:grpSpPr>
          <a:xfrm>
            <a:off x="676275" y="1352550"/>
            <a:ext cx="2095500" cy="1257300"/>
            <a:chOff x="676275" y="1352550"/>
            <a:chExt cx="2095500" cy="1257300"/>
          </a:xfrm>
        </p:grpSpPr>
        <p:sp>
          <p:nvSpPr>
            <p:cNvPr id="6" name="カード"/>
            <p:cNvSpPr/>
            <p:nvPr/>
          </p:nvSpPr>
          <p:spPr>
            <a:xfrm>
              <a:off x="676275" y="1352550"/>
              <a:ext cx="2095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指標名"/>
            <p:cNvSpPr/>
            <p:nvPr/>
          </p:nvSpPr>
          <p:spPr>
            <a:xfrm>
              <a:off x="828675" y="1485900"/>
              <a:ext cx="1790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月次売上高（億円）</a:t>
              </a:r>
            </a:p>
          </p:txBody>
        </p:sp>
        <p:sp>
          <p:nvSpPr>
            <p:cNvPr id="8" name="数値"/>
            <p:cNvSpPr/>
            <p:nvPr/>
          </p:nvSpPr>
          <p:spPr>
            <a:xfrm>
              <a:off x="828675" y="1695450"/>
              <a:ext cx="1790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4.28</a:t>
              </a:r>
            </a:p>
          </p:txBody>
        </p:sp>
        <p:sp>
          <p:nvSpPr>
            <p:cNvPr id="9" name="前年比ラベル"/>
            <p:cNvSpPr/>
            <p:nvPr/>
          </p:nvSpPr>
          <p:spPr>
            <a:xfrm>
              <a:off x="828675" y="230505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0" name="増減三角"/>
            <p:cNvSpPr/>
            <p:nvPr/>
          </p:nvSpPr>
          <p:spPr>
            <a:xfrm>
              <a:off x="1876425" y="2362200"/>
              <a:ext cx="114300" cy="95250"/>
            </a:xfrm>
            <a:custGeom>
              <a:avLst/>
              <a:gdLst/>
              <a:ahLst/>
              <a:cxnLst/>
              <a:rect l="0" t="0" r="114300" b="95250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増減値"/>
            <p:cNvSpPr/>
            <p:nvPr/>
          </p:nvSpPr>
          <p:spPr>
            <a:xfrm>
              <a:off x="2028825" y="2305050"/>
              <a:ext cx="5905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+8.6%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大数字カード（40pt＋前年比）</a:t>
            </a:r>
          </a:p>
        </p:txBody>
      </p:sp>
      <p:grpSp>
        <p:nvGrpSpPr>
          <p:cNvPr id="13" name="KPI数字02_前年比バッジ増"/>
          <p:cNvGrpSpPr/>
          <p:nvPr/>
        </p:nvGrpSpPr>
        <p:grpSpPr>
          <a:xfrm>
            <a:off x="3924300" y="1485900"/>
            <a:ext cx="1428750" cy="342900"/>
            <a:chOff x="3924300" y="1485900"/>
            <a:chExt cx="1428750" cy="342900"/>
          </a:xfrm>
        </p:grpSpPr>
        <p:sp>
          <p:nvSpPr>
            <p:cNvPr id="14" name="チップ地"/>
            <p:cNvSpPr/>
            <p:nvPr/>
          </p:nvSpPr>
          <p:spPr>
            <a:xfrm>
              <a:off x="3924300" y="1485900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三角"/>
            <p:cNvSpPr/>
            <p:nvPr/>
          </p:nvSpPr>
          <p:spPr>
            <a:xfrm>
              <a:off x="4152900" y="1609725"/>
              <a:ext cx="123825" cy="104775"/>
            </a:xfrm>
            <a:custGeom>
              <a:avLst/>
              <a:gdLst/>
              <a:ahLst/>
              <a:cxnLst/>
              <a:rect l="0" t="0" r="123825" b="104775"/>
              <a:pathLst>
                <a:path w="123825" h="104775">
                  <a:moveTo>
                    <a:pt x="61912" y="0"/>
                  </a:moveTo>
                  <a:lnTo>
                    <a:pt x="0" y="104775"/>
                  </a:lnTo>
                  <a:lnTo>
                    <a:pt x="123825" y="1047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増減値"/>
            <p:cNvSpPr/>
            <p:nvPr/>
          </p:nvSpPr>
          <p:spPr>
            <a:xfrm>
              <a:off x="4343400" y="1485900"/>
              <a:ext cx="857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+12.4%</a:t>
              </a:r>
            </a:p>
          </p:txBody>
        </p:sp>
      </p:grpSp>
      <p:grpSp>
        <p:nvGrpSpPr>
          <p:cNvPr id="17" name="KPI数字02_前年比バッジ減"/>
          <p:cNvGrpSpPr/>
          <p:nvPr/>
        </p:nvGrpSpPr>
        <p:grpSpPr>
          <a:xfrm>
            <a:off x="3924300" y="2019300"/>
            <a:ext cx="1428750" cy="342900"/>
            <a:chOff x="3924300" y="2019300"/>
            <a:chExt cx="1428750" cy="342900"/>
          </a:xfrm>
        </p:grpSpPr>
        <p:sp>
          <p:nvSpPr>
            <p:cNvPr id="18" name="チップ地"/>
            <p:cNvSpPr/>
            <p:nvPr/>
          </p:nvSpPr>
          <p:spPr>
            <a:xfrm>
              <a:off x="3924300" y="2019300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三角"/>
            <p:cNvSpPr/>
            <p:nvPr/>
          </p:nvSpPr>
          <p:spPr>
            <a:xfrm>
              <a:off x="4152900" y="2143125"/>
              <a:ext cx="123825" cy="104775"/>
            </a:xfrm>
            <a:custGeom>
              <a:avLst/>
              <a:gdLst/>
              <a:ahLst/>
              <a:cxnLst/>
              <a:rect l="0" t="0" r="123825" b="104775"/>
              <a:pathLst>
                <a:path w="123825" h="104775">
                  <a:moveTo>
                    <a:pt x="0" y="0"/>
                  </a:moveTo>
                  <a:lnTo>
                    <a:pt x="123825" y="0"/>
                  </a:lnTo>
                  <a:lnTo>
                    <a:pt x="61912" y="1047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増減値"/>
            <p:cNvSpPr/>
            <p:nvPr/>
          </p:nvSpPr>
          <p:spPr>
            <a:xfrm>
              <a:off x="4343400" y="2019300"/>
              <a:ext cx="857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-3.2%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前年比バッジ（増＝青・減＝朱1点）</a:t>
            </a:r>
          </a:p>
        </p:txBody>
      </p:sp>
      <p:grpSp>
        <p:nvGrpSpPr>
          <p:cNvPr id="22" name="KPI数字03_KPI3連カード"/>
          <p:cNvGrpSpPr/>
          <p:nvPr/>
        </p:nvGrpSpPr>
        <p:grpSpPr>
          <a:xfrm>
            <a:off x="6315075" y="1352550"/>
            <a:ext cx="5391150" cy="1257300"/>
            <a:chOff x="6315075" y="1352550"/>
            <a:chExt cx="5391150" cy="1257300"/>
          </a:xfrm>
        </p:grpSpPr>
        <p:sp>
          <p:nvSpPr>
            <p:cNvPr id="23" name="カード1"/>
            <p:cNvSpPr/>
            <p:nvPr/>
          </p:nvSpPr>
          <p:spPr>
            <a:xfrm>
              <a:off x="6315075" y="1352550"/>
              <a:ext cx="1714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指標名1"/>
            <p:cNvSpPr/>
            <p:nvPr/>
          </p:nvSpPr>
          <p:spPr>
            <a:xfrm>
              <a:off x="6448425" y="1466850"/>
              <a:ext cx="1447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25" name="数値1"/>
            <p:cNvSpPr/>
            <p:nvPr/>
          </p:nvSpPr>
          <p:spPr>
            <a:xfrm>
              <a:off x="6448425" y="1752600"/>
              <a:ext cx="1447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600" b="1">
                  <a:solidFill>
                    <a:schemeClr val="dk2"/>
                  </a:solidFill>
                </a:rPr>
                <a:t>4.28</a:t>
              </a:r>
            </a:p>
          </p:txBody>
        </p:sp>
        <p:sp>
          <p:nvSpPr>
            <p:cNvPr id="26" name="三角1"/>
            <p:cNvSpPr/>
            <p:nvPr/>
          </p:nvSpPr>
          <p:spPr>
            <a:xfrm>
              <a:off x="7229475" y="2343150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52387" y="0"/>
                  </a:moveTo>
                  <a:lnTo>
                    <a:pt x="0" y="85725"/>
                  </a:lnTo>
                  <a:lnTo>
                    <a:pt x="104775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増減値1"/>
            <p:cNvSpPr/>
            <p:nvPr/>
          </p:nvSpPr>
          <p:spPr>
            <a:xfrm>
              <a:off x="7362825" y="22860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+8.6%</a:t>
              </a:r>
            </a:p>
          </p:txBody>
        </p:sp>
        <p:sp>
          <p:nvSpPr>
            <p:cNvPr id="28" name="カード2"/>
            <p:cNvSpPr/>
            <p:nvPr/>
          </p:nvSpPr>
          <p:spPr>
            <a:xfrm>
              <a:off x="8153400" y="1352550"/>
              <a:ext cx="1714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指標名2"/>
            <p:cNvSpPr/>
            <p:nvPr/>
          </p:nvSpPr>
          <p:spPr>
            <a:xfrm>
              <a:off x="8286750" y="1466850"/>
              <a:ext cx="1447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新規顧客（件）</a:t>
              </a:r>
            </a:p>
          </p:txBody>
        </p:sp>
        <p:sp>
          <p:nvSpPr>
            <p:cNvPr id="30" name="数値2"/>
            <p:cNvSpPr/>
            <p:nvPr/>
          </p:nvSpPr>
          <p:spPr>
            <a:xfrm>
              <a:off x="8286750" y="1752600"/>
              <a:ext cx="1447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600" b="1">
                  <a:solidFill>
                    <a:schemeClr val="dk2"/>
                  </a:solidFill>
                </a:rPr>
                <a:t>132</a:t>
              </a:r>
            </a:p>
          </p:txBody>
        </p:sp>
        <p:sp>
          <p:nvSpPr>
            <p:cNvPr id="31" name="三角2"/>
            <p:cNvSpPr/>
            <p:nvPr/>
          </p:nvSpPr>
          <p:spPr>
            <a:xfrm>
              <a:off x="9067800" y="2343150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52387" y="0"/>
                  </a:moveTo>
                  <a:lnTo>
                    <a:pt x="0" y="85725"/>
                  </a:lnTo>
                  <a:lnTo>
                    <a:pt x="104775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増減値2"/>
            <p:cNvSpPr/>
            <p:nvPr/>
          </p:nvSpPr>
          <p:spPr>
            <a:xfrm>
              <a:off x="9201150" y="22860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+12.0%</a:t>
              </a:r>
            </a:p>
          </p:txBody>
        </p:sp>
        <p:sp>
          <p:nvSpPr>
            <p:cNvPr id="33" name="カード3"/>
            <p:cNvSpPr/>
            <p:nvPr/>
          </p:nvSpPr>
          <p:spPr>
            <a:xfrm>
              <a:off x="9991725" y="1352550"/>
              <a:ext cx="1714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指標名3"/>
            <p:cNvSpPr/>
            <p:nvPr/>
          </p:nvSpPr>
          <p:spPr>
            <a:xfrm>
              <a:off x="10125075" y="1466850"/>
              <a:ext cx="1447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平均単価（万円）</a:t>
              </a:r>
            </a:p>
          </p:txBody>
        </p:sp>
        <p:sp>
          <p:nvSpPr>
            <p:cNvPr id="35" name="数値3"/>
            <p:cNvSpPr/>
            <p:nvPr/>
          </p:nvSpPr>
          <p:spPr>
            <a:xfrm>
              <a:off x="10125075" y="1752600"/>
              <a:ext cx="1447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600" b="1">
                  <a:solidFill>
                    <a:schemeClr val="dk2"/>
                  </a:solidFill>
                </a:rPr>
                <a:t>32.4</a:t>
              </a:r>
            </a:p>
          </p:txBody>
        </p:sp>
        <p:sp>
          <p:nvSpPr>
            <p:cNvPr id="36" name="三角3"/>
            <p:cNvSpPr/>
            <p:nvPr/>
          </p:nvSpPr>
          <p:spPr>
            <a:xfrm>
              <a:off x="10906125" y="2343150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0" y="0"/>
                  </a:moveTo>
                  <a:lnTo>
                    <a:pt x="104775" y="0"/>
                  </a:lnTo>
                  <a:lnTo>
                    <a:pt x="52387" y="857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増減値3"/>
            <p:cNvSpPr/>
            <p:nvPr/>
          </p:nvSpPr>
          <p:spPr>
            <a:xfrm>
              <a:off x="11039475" y="22860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-1.8%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219825" y="33147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KPI3連カード（等幅3枚組。減はmutedで朱を温存）</a:t>
            </a:r>
          </a:p>
        </p:txBody>
      </p:sp>
      <p:grpSp>
        <p:nvGrpSpPr>
          <p:cNvPr id="39" name="KPI数字04_トレンドチップ増"/>
          <p:cNvGrpSpPr/>
          <p:nvPr/>
        </p:nvGrpSpPr>
        <p:grpSpPr>
          <a:xfrm>
            <a:off x="1095375" y="4343400"/>
            <a:ext cx="1257300" cy="285750"/>
            <a:chOff x="1095375" y="4343400"/>
            <a:chExt cx="1257300" cy="285750"/>
          </a:xfrm>
        </p:grpSpPr>
        <p:sp>
          <p:nvSpPr>
            <p:cNvPr id="40" name="チップ地"/>
            <p:cNvSpPr/>
            <p:nvPr/>
          </p:nvSpPr>
          <p:spPr>
            <a:xfrm>
              <a:off x="1095375" y="434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三角"/>
            <p:cNvSpPr/>
            <p:nvPr/>
          </p:nvSpPr>
          <p:spPr>
            <a:xfrm>
              <a:off x="1285875" y="4448175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52387" y="0"/>
                  </a:moveTo>
                  <a:lnTo>
                    <a:pt x="0" y="85725"/>
                  </a:lnTo>
                  <a:lnTo>
                    <a:pt x="104775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増減値"/>
            <p:cNvSpPr/>
            <p:nvPr/>
          </p:nvSpPr>
          <p:spPr>
            <a:xfrm>
              <a:off x="1457325" y="43434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+12.4%</a:t>
              </a:r>
            </a:p>
          </p:txBody>
        </p:sp>
      </p:grpSp>
      <p:grpSp>
        <p:nvGrpSpPr>
          <p:cNvPr id="43" name="KPI数字04_トレンドチップ横ばい"/>
          <p:cNvGrpSpPr/>
          <p:nvPr/>
        </p:nvGrpSpPr>
        <p:grpSpPr>
          <a:xfrm>
            <a:off x="1095375" y="4743450"/>
            <a:ext cx="1257300" cy="285750"/>
            <a:chOff x="1095375" y="4743450"/>
            <a:chExt cx="1257300" cy="285750"/>
          </a:xfrm>
        </p:grpSpPr>
        <p:sp>
          <p:nvSpPr>
            <p:cNvPr id="44" name="チップ地"/>
            <p:cNvSpPr/>
            <p:nvPr/>
          </p:nvSpPr>
          <p:spPr>
            <a:xfrm>
              <a:off x="1095375" y="474345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横ばいバー"/>
            <p:cNvSpPr/>
            <p:nvPr/>
          </p:nvSpPr>
          <p:spPr>
            <a:xfrm>
              <a:off x="1276350" y="4876800"/>
              <a:ext cx="123825" cy="285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増減値"/>
            <p:cNvSpPr/>
            <p:nvPr/>
          </p:nvSpPr>
          <p:spPr>
            <a:xfrm>
              <a:off x="1457325" y="47434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±0.0%</a:t>
              </a:r>
            </a:p>
          </p:txBody>
        </p:sp>
      </p:grpSp>
      <p:grpSp>
        <p:nvGrpSpPr>
          <p:cNvPr id="47" name="KPI数字04_トレンドチップ減"/>
          <p:cNvGrpSpPr/>
          <p:nvPr/>
        </p:nvGrpSpPr>
        <p:grpSpPr>
          <a:xfrm>
            <a:off x="1095375" y="5143500"/>
            <a:ext cx="1257300" cy="285750"/>
            <a:chOff x="1095375" y="5143500"/>
            <a:chExt cx="1257300" cy="285750"/>
          </a:xfrm>
        </p:grpSpPr>
        <p:sp>
          <p:nvSpPr>
            <p:cNvPr id="48" name="チップ地"/>
            <p:cNvSpPr/>
            <p:nvPr/>
          </p:nvSpPr>
          <p:spPr>
            <a:xfrm>
              <a:off x="1095375" y="51435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三角"/>
            <p:cNvSpPr/>
            <p:nvPr/>
          </p:nvSpPr>
          <p:spPr>
            <a:xfrm>
              <a:off x="1285875" y="5248275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0" y="0"/>
                  </a:moveTo>
                  <a:lnTo>
                    <a:pt x="104775" y="0"/>
                  </a:lnTo>
                  <a:lnTo>
                    <a:pt x="52387" y="857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増減値"/>
            <p:cNvSpPr/>
            <p:nvPr/>
          </p:nvSpPr>
          <p:spPr>
            <a:xfrm>
              <a:off x="1457325" y="51435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-3.2%</a:t>
              </a:r>
            </a:p>
          </p:txBody>
        </p:sp>
      </p:grpSp>
      <p:sp>
        <p:nvSpPr>
          <p:cNvPr id="51" name="Rectangle 50"/>
          <p:cNvSpPr/>
          <p:nvPr/>
        </p:nvSpPr>
        <p:spPr>
          <a:xfrm>
            <a:off x="39052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トレンドチップ（増・横ばい・減）</a:t>
            </a:r>
          </a:p>
        </p:txBody>
      </p:sp>
      <p:grpSp>
        <p:nvGrpSpPr>
          <p:cNvPr id="52" name="KPI数字05_達成率カード"/>
          <p:cNvGrpSpPr/>
          <p:nvPr/>
        </p:nvGrpSpPr>
        <p:grpSpPr>
          <a:xfrm>
            <a:off x="3590925" y="4286250"/>
            <a:ext cx="2095500" cy="1257300"/>
            <a:chOff x="3590925" y="4286250"/>
            <a:chExt cx="2095500" cy="1257300"/>
          </a:xfrm>
        </p:grpSpPr>
        <p:sp>
          <p:nvSpPr>
            <p:cNvPr id="53" name="カード"/>
            <p:cNvSpPr/>
            <p:nvPr/>
          </p:nvSpPr>
          <p:spPr>
            <a:xfrm>
              <a:off x="3590925" y="4286250"/>
              <a:ext cx="2095500" cy="1257300"/>
            </a:xfrm>
            <a:prstGeom prst="roundRect">
              <a:avLst>
                <a:gd name="adj" fmla="val 606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指標名"/>
            <p:cNvSpPr/>
            <p:nvPr/>
          </p:nvSpPr>
          <p:spPr>
            <a:xfrm>
              <a:off x="3743325" y="4419600"/>
              <a:ext cx="1790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目標達成率</a:t>
              </a:r>
            </a:p>
          </p:txBody>
        </p:sp>
        <p:sp>
          <p:nvSpPr>
            <p:cNvPr id="55" name="数値"/>
            <p:cNvSpPr/>
            <p:nvPr/>
          </p:nvSpPr>
          <p:spPr>
            <a:xfrm>
              <a:off x="3743325" y="4648200"/>
              <a:ext cx="17907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200" b="1">
                  <a:solidFill>
                    <a:schemeClr val="dk2"/>
                  </a:solidFill>
                </a:rPr>
                <a:t>82%</a:t>
              </a:r>
            </a:p>
          </p:txBody>
        </p:sp>
        <p:sp>
          <p:nvSpPr>
            <p:cNvPr id="56" name="ミニバー地"/>
            <p:cNvSpPr/>
            <p:nvPr/>
          </p:nvSpPr>
          <p:spPr>
            <a:xfrm>
              <a:off x="3743325" y="5238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ミニバー値"/>
            <p:cNvSpPr/>
            <p:nvPr/>
          </p:nvSpPr>
          <p:spPr>
            <a:xfrm>
              <a:off x="3743325" y="5238750"/>
              <a:ext cx="1466850" cy="95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Rectangle 57"/>
          <p:cNvSpPr/>
          <p:nvPr/>
        </p:nvSpPr>
        <p:spPr>
          <a:xfrm>
            <a:off x="3305175" y="62484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達成率カード（ミニバー内蔵）</a:t>
            </a:r>
          </a:p>
        </p:txBody>
      </p:sp>
      <p:grpSp>
        <p:nvGrpSpPr>
          <p:cNvPr id="59" name="KPI数字01b_数字ストリップ"/>
          <p:cNvGrpSpPr/>
          <p:nvPr/>
        </p:nvGrpSpPr>
        <p:grpSpPr>
          <a:xfrm>
            <a:off x="6467475" y="4457700"/>
            <a:ext cx="5067300" cy="857250"/>
            <a:chOff x="6467475" y="4457700"/>
            <a:chExt cx="5067300" cy="857250"/>
          </a:xfrm>
        </p:grpSpPr>
        <p:sp>
          <p:nvSpPr>
            <p:cNvPr id="60" name="指標名1"/>
            <p:cNvSpPr/>
            <p:nvPr/>
          </p:nvSpPr>
          <p:spPr>
            <a:xfrm>
              <a:off x="6467475" y="447675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61" name="数値1"/>
            <p:cNvSpPr/>
            <p:nvPr/>
          </p:nvSpPr>
          <p:spPr>
            <a:xfrm>
              <a:off x="6467475" y="4686300"/>
              <a:ext cx="1485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4.28</a:t>
              </a:r>
            </a:p>
          </p:txBody>
        </p:sp>
        <p:sp>
          <p:nvSpPr>
            <p:cNvPr id="62" name="増減1"/>
            <p:cNvSpPr/>
            <p:nvPr/>
          </p:nvSpPr>
          <p:spPr>
            <a:xfrm>
              <a:off x="6467475" y="514350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前年比 +8.6%</a:t>
              </a:r>
            </a:p>
          </p:txBody>
        </p:sp>
        <p:sp>
          <p:nvSpPr>
            <p:cNvPr id="63" name="指標名2"/>
            <p:cNvSpPr/>
            <p:nvPr/>
          </p:nvSpPr>
          <p:spPr>
            <a:xfrm>
              <a:off x="8258175" y="447675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受注件数（件）</a:t>
              </a:r>
            </a:p>
          </p:txBody>
        </p:sp>
        <p:sp>
          <p:nvSpPr>
            <p:cNvPr id="64" name="数値2"/>
            <p:cNvSpPr/>
            <p:nvPr/>
          </p:nvSpPr>
          <p:spPr>
            <a:xfrm>
              <a:off x="8258175" y="4686300"/>
              <a:ext cx="1485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482</a:t>
              </a:r>
            </a:p>
          </p:txBody>
        </p:sp>
        <p:sp>
          <p:nvSpPr>
            <p:cNvPr id="65" name="増減2"/>
            <p:cNvSpPr/>
            <p:nvPr/>
          </p:nvSpPr>
          <p:spPr>
            <a:xfrm>
              <a:off x="8258175" y="514350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前年比 +12件</a:t>
              </a:r>
            </a:p>
          </p:txBody>
        </p:sp>
        <p:sp>
          <p:nvSpPr>
            <p:cNvPr id="66" name="指標名3"/>
            <p:cNvSpPr/>
            <p:nvPr/>
          </p:nvSpPr>
          <p:spPr>
            <a:xfrm>
              <a:off x="10048875" y="447675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平均単価（万円）</a:t>
              </a:r>
            </a:p>
          </p:txBody>
        </p:sp>
        <p:sp>
          <p:nvSpPr>
            <p:cNvPr id="67" name="数値3"/>
            <p:cNvSpPr/>
            <p:nvPr/>
          </p:nvSpPr>
          <p:spPr>
            <a:xfrm>
              <a:off x="10048875" y="4686300"/>
              <a:ext cx="1485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32.4</a:t>
              </a:r>
            </a:p>
          </p:txBody>
        </p:sp>
        <p:sp>
          <p:nvSpPr>
            <p:cNvPr id="68" name="増減3"/>
            <p:cNvSpPr/>
            <p:nvPr/>
          </p:nvSpPr>
          <p:spPr>
            <a:xfrm>
              <a:off x="10048875" y="514350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前年比 -1.8%</a:t>
              </a:r>
            </a:p>
          </p:txBody>
        </p:sp>
        <p:cxnSp>
          <p:nvCxnSpPr>
            <p:cNvPr id="69" name="区切り罫1"/>
            <p:cNvCxnSpPr/>
            <p:nvPr/>
          </p:nvCxnSpPr>
          <p:spPr>
            <a:xfrm>
              <a:off x="8105775" y="4457700"/>
              <a:ext cx="0" cy="857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区切り罫2"/>
            <p:cNvCxnSpPr/>
            <p:nvPr/>
          </p:nvCxnSpPr>
          <p:spPr>
            <a:xfrm>
              <a:off x="9896475" y="4457700"/>
              <a:ext cx="0" cy="857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01b 数字ストリップ（枠なし・罫で区切る変種）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パーツ図鑑｜⑩ KPI・数字見せ — 進捗・順位・状態5種＋変種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朱（アクセント）は「要対処」ドットの1点のみ</a:t>
            </a:r>
          </a:p>
        </p:txBody>
      </p:sp>
      <p:grpSp>
        <p:nvGrpSpPr>
          <p:cNvPr id="5" name="KPI数字06_進捗バー"/>
          <p:cNvGrpSpPr/>
          <p:nvPr/>
        </p:nvGrpSpPr>
        <p:grpSpPr>
          <a:xfrm>
            <a:off x="676275" y="1733550"/>
            <a:ext cx="2095500" cy="438150"/>
            <a:chOff x="676275" y="1733550"/>
            <a:chExt cx="2095500" cy="438150"/>
          </a:xfrm>
        </p:grpSpPr>
        <p:sp>
          <p:nvSpPr>
            <p:cNvPr id="6" name="ラベル"/>
            <p:cNvSpPr/>
            <p:nvPr/>
          </p:nvSpPr>
          <p:spPr>
            <a:xfrm>
              <a:off x="676275" y="179070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計画消化率</a:t>
              </a:r>
            </a:p>
          </p:txBody>
        </p:sp>
        <p:sp>
          <p:nvSpPr>
            <p:cNvPr id="7" name="数値"/>
            <p:cNvSpPr/>
            <p:nvPr/>
          </p:nvSpPr>
          <p:spPr>
            <a:xfrm>
              <a:off x="2105025" y="173355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68%</a:t>
              </a:r>
            </a:p>
          </p:txBody>
        </p:sp>
        <p:sp>
          <p:nvSpPr>
            <p:cNvPr id="8" name="バー地"/>
            <p:cNvSpPr/>
            <p:nvPr/>
          </p:nvSpPr>
          <p:spPr>
            <a:xfrm>
              <a:off x="676275" y="2057400"/>
              <a:ext cx="20955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バー値"/>
            <p:cNvSpPr/>
            <p:nvPr/>
          </p:nvSpPr>
          <p:spPr>
            <a:xfrm>
              <a:off x="676275" y="20574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ectangle 9"/>
          <p:cNvSpPr/>
          <p:nvPr/>
        </p:nvSpPr>
        <p:spPr>
          <a:xfrm>
            <a:off x="3905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進捗バー（右端%・前景primary）</a:t>
            </a:r>
          </a:p>
        </p:txBody>
      </p:sp>
      <p:grpSp>
        <p:nvGrpSpPr>
          <p:cNvPr id="11" name="KPI数字07_目標対比メーター"/>
          <p:cNvGrpSpPr/>
          <p:nvPr/>
        </p:nvGrpSpPr>
        <p:grpSpPr>
          <a:xfrm>
            <a:off x="3590925" y="1676400"/>
            <a:ext cx="2162175" cy="704850"/>
            <a:chOff x="3590925" y="1676400"/>
            <a:chExt cx="2162175" cy="704850"/>
          </a:xfrm>
        </p:grpSpPr>
        <p:sp>
          <p:nvSpPr>
            <p:cNvPr id="12" name="ラベル"/>
            <p:cNvSpPr/>
            <p:nvPr/>
          </p:nvSpPr>
          <p:spPr>
            <a:xfrm>
              <a:off x="3590925" y="17335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実績</a:t>
              </a:r>
            </a:p>
          </p:txBody>
        </p:sp>
        <p:sp>
          <p:nvSpPr>
            <p:cNvPr id="13" name="数値"/>
            <p:cNvSpPr/>
            <p:nvPr/>
          </p:nvSpPr>
          <p:spPr>
            <a:xfrm>
              <a:off x="5019675" y="167640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72%</a:t>
              </a:r>
            </a:p>
          </p:txBody>
        </p:sp>
        <p:sp>
          <p:nvSpPr>
            <p:cNvPr id="14" name="バー地"/>
            <p:cNvSpPr/>
            <p:nvPr/>
          </p:nvSpPr>
          <p:spPr>
            <a:xfrm>
              <a:off x="3590925" y="2000250"/>
              <a:ext cx="2095500" cy="133350"/>
            </a:xfrm>
            <a:prstGeom prst="roundRect">
              <a:avLst>
                <a:gd name="adj" fmla="val 21428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バー値"/>
            <p:cNvSpPr/>
            <p:nvPr/>
          </p:nvSpPr>
          <p:spPr>
            <a:xfrm>
              <a:off x="3590925" y="2000250"/>
              <a:ext cx="1504950" cy="13335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目標tick"/>
            <p:cNvCxnSpPr/>
            <p:nvPr/>
          </p:nvCxnSpPr>
          <p:spPr>
            <a:xfrm>
              <a:off x="5372100" y="1924050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目標ラベル"/>
            <p:cNvSpPr/>
            <p:nvPr/>
          </p:nvSpPr>
          <p:spPr>
            <a:xfrm>
              <a:off x="4991100" y="2247900"/>
              <a:ext cx="762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目標 85%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33051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目標対比メーター（縦線＝目標）</a:t>
            </a:r>
          </a:p>
        </p:txBody>
      </p:sp>
      <p:grpSp>
        <p:nvGrpSpPr>
          <p:cNvPr id="19" name="KPI数字08_ランキングバッジ"/>
          <p:cNvGrpSpPr/>
          <p:nvPr/>
        </p:nvGrpSpPr>
        <p:grpSpPr>
          <a:xfrm>
            <a:off x="6638925" y="1733550"/>
            <a:ext cx="1828800" cy="666750"/>
            <a:chOff x="6638925" y="1733550"/>
            <a:chExt cx="1828800" cy="666750"/>
          </a:xfrm>
        </p:grpSpPr>
        <p:sp>
          <p:nvSpPr>
            <p:cNvPr id="20" name="丸1位"/>
            <p:cNvSpPr/>
            <p:nvPr/>
          </p:nvSpPr>
          <p:spPr>
            <a:xfrm>
              <a:off x="6715125" y="1733550"/>
              <a:ext cx="419100" cy="419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順位数字"/>
            <p:cNvSpPr/>
            <p:nvPr/>
          </p:nvSpPr>
          <p:spPr>
            <a:xfrm>
              <a:off x="6715125" y="1733550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2" name="順位ラベル1"/>
            <p:cNvSpPr/>
            <p:nvPr/>
          </p:nvSpPr>
          <p:spPr>
            <a:xfrm>
              <a:off x="6638925" y="22479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1位</a:t>
              </a:r>
            </a:p>
          </p:txBody>
        </p:sp>
        <p:sp>
          <p:nvSpPr>
            <p:cNvPr id="23" name="丸2位"/>
            <p:cNvSpPr/>
            <p:nvPr/>
          </p:nvSpPr>
          <p:spPr>
            <a:xfrm>
              <a:off x="7343775" y="17335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順位数字"/>
            <p:cNvSpPr/>
            <p:nvPr/>
          </p:nvSpPr>
          <p:spPr>
            <a:xfrm>
              <a:off x="7343775" y="1733550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2</a:t>
              </a:r>
            </a:p>
          </p:txBody>
        </p:sp>
        <p:sp>
          <p:nvSpPr>
            <p:cNvPr id="25" name="順位ラベル2"/>
            <p:cNvSpPr/>
            <p:nvPr/>
          </p:nvSpPr>
          <p:spPr>
            <a:xfrm>
              <a:off x="7267575" y="22479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2位</a:t>
              </a:r>
            </a:p>
          </p:txBody>
        </p:sp>
        <p:sp>
          <p:nvSpPr>
            <p:cNvPr id="26" name="丸3位"/>
            <p:cNvSpPr/>
            <p:nvPr/>
          </p:nvSpPr>
          <p:spPr>
            <a:xfrm>
              <a:off x="7972425" y="17335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順位数字"/>
            <p:cNvSpPr/>
            <p:nvPr/>
          </p:nvSpPr>
          <p:spPr>
            <a:xfrm>
              <a:off x="7972425" y="1733550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28" name="順位ラベル3"/>
            <p:cNvSpPr/>
            <p:nvPr/>
          </p:nvSpPr>
          <p:spPr>
            <a:xfrm>
              <a:off x="7896225" y="22479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3位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621982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ランキングバッジ（1位のみ濃紺塗り）</a:t>
            </a:r>
          </a:p>
        </p:txBody>
      </p:sp>
      <p:grpSp>
        <p:nvGrpSpPr>
          <p:cNvPr id="30" name="KPI数字09_ミニ推移5本棒"/>
          <p:cNvGrpSpPr/>
          <p:nvPr/>
        </p:nvGrpSpPr>
        <p:grpSpPr>
          <a:xfrm>
            <a:off x="9420225" y="1295400"/>
            <a:ext cx="2133600" cy="1428750"/>
            <a:chOff x="9420225" y="1295400"/>
            <a:chExt cx="2133600" cy="1428750"/>
          </a:xfrm>
        </p:grpSpPr>
        <p:cxnSp>
          <p:nvCxnSpPr>
            <p:cNvPr id="31" name="基準線"/>
            <p:cNvCxnSpPr/>
            <p:nvPr/>
          </p:nvCxnSpPr>
          <p:spPr>
            <a:xfrm>
              <a:off x="9420225" y="2533650"/>
              <a:ext cx="2095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棒1"/>
            <p:cNvSpPr/>
            <p:nvPr/>
          </p:nvSpPr>
          <p:spPr>
            <a:xfrm>
              <a:off x="9534525" y="2038350"/>
              <a:ext cx="266700" cy="49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項目1"/>
            <p:cNvSpPr/>
            <p:nvPr/>
          </p:nvSpPr>
          <p:spPr>
            <a:xfrm>
              <a:off x="9420225" y="25908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34" name="棒2"/>
            <p:cNvSpPr/>
            <p:nvPr/>
          </p:nvSpPr>
          <p:spPr>
            <a:xfrm>
              <a:off x="9934575" y="1885950"/>
              <a:ext cx="266700" cy="647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項目2"/>
            <p:cNvSpPr/>
            <p:nvPr/>
          </p:nvSpPr>
          <p:spPr>
            <a:xfrm>
              <a:off x="9820275" y="25908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36" name="棒3"/>
            <p:cNvSpPr/>
            <p:nvPr/>
          </p:nvSpPr>
          <p:spPr>
            <a:xfrm>
              <a:off x="10334625" y="1962150"/>
              <a:ext cx="266700" cy="57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項目3"/>
            <p:cNvSpPr/>
            <p:nvPr/>
          </p:nvSpPr>
          <p:spPr>
            <a:xfrm>
              <a:off x="10220325" y="25908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38" name="棒4"/>
            <p:cNvSpPr/>
            <p:nvPr/>
          </p:nvSpPr>
          <p:spPr>
            <a:xfrm>
              <a:off x="10734675" y="1733550"/>
              <a:ext cx="266700" cy="800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項目4"/>
            <p:cNvSpPr/>
            <p:nvPr/>
          </p:nvSpPr>
          <p:spPr>
            <a:xfrm>
              <a:off x="10620375" y="25908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40" name="棒5"/>
            <p:cNvSpPr/>
            <p:nvPr/>
          </p:nvSpPr>
          <p:spPr>
            <a:xfrm>
              <a:off x="11134725" y="1504950"/>
              <a:ext cx="266700" cy="1028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項目5"/>
            <p:cNvSpPr/>
            <p:nvPr/>
          </p:nvSpPr>
          <p:spPr>
            <a:xfrm>
              <a:off x="11020425" y="2590800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42" name="最新値"/>
            <p:cNvSpPr/>
            <p:nvPr/>
          </p:nvSpPr>
          <p:spPr>
            <a:xfrm>
              <a:off x="10982325" y="12954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108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9134475" y="3314700"/>
            <a:ext cx="2667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ミニ推移5本棒（最終本のみ濃色）</a:t>
            </a:r>
          </a:p>
        </p:txBody>
      </p:sp>
      <p:grpSp>
        <p:nvGrpSpPr>
          <p:cNvPr id="44" name="KPI数字10_ステータスドット"/>
          <p:cNvGrpSpPr/>
          <p:nvPr/>
        </p:nvGrpSpPr>
        <p:grpSpPr>
          <a:xfrm>
            <a:off x="771525" y="4324350"/>
            <a:ext cx="4191000" cy="1257300"/>
            <a:chOff x="771525" y="4324350"/>
            <a:chExt cx="4191000" cy="1257300"/>
          </a:xfrm>
        </p:grpSpPr>
        <p:sp>
          <p:nvSpPr>
            <p:cNvPr id="45" name="見出し"/>
            <p:cNvSpPr/>
            <p:nvPr/>
          </p:nvSpPr>
          <p:spPr>
            <a:xfrm>
              <a:off x="771525" y="43243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ステータス凡例（3段階）</a:t>
              </a:r>
            </a:p>
          </p:txBody>
        </p:sp>
        <p:sp>
          <p:nvSpPr>
            <p:cNvPr id="46" name="ドット_好調"/>
            <p:cNvSpPr/>
            <p:nvPr/>
          </p:nvSpPr>
          <p:spPr>
            <a:xfrm>
              <a:off x="771525" y="46958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状態_好調"/>
            <p:cNvSpPr/>
            <p:nvPr/>
          </p:nvSpPr>
          <p:spPr>
            <a:xfrm>
              <a:off x="1000125" y="4667250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好調</a:t>
              </a:r>
            </a:p>
          </p:txBody>
        </p:sp>
        <p:sp>
          <p:nvSpPr>
            <p:cNvPr id="48" name="基準_好調"/>
            <p:cNvSpPr/>
            <p:nvPr/>
          </p:nvSpPr>
          <p:spPr>
            <a:xfrm>
              <a:off x="1647825" y="4676775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計画比100%以上。現行方針を継続</a:t>
              </a:r>
            </a:p>
          </p:txBody>
        </p:sp>
        <p:cxnSp>
          <p:nvCxnSpPr>
            <p:cNvPr id="49" name="罫線1"/>
            <p:cNvCxnSpPr/>
            <p:nvPr/>
          </p:nvCxnSpPr>
          <p:spPr>
            <a:xfrm>
              <a:off x="771525" y="4943475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ドット_注意"/>
            <p:cNvSpPr/>
            <p:nvPr/>
          </p:nvSpPr>
          <p:spPr>
            <a:xfrm>
              <a:off x="771525" y="5057775"/>
              <a:ext cx="133350" cy="1333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状態_注意"/>
            <p:cNvSpPr/>
            <p:nvPr/>
          </p:nvSpPr>
          <p:spPr>
            <a:xfrm>
              <a:off x="1000125" y="5029200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注意</a:t>
              </a:r>
            </a:p>
          </p:txBody>
        </p:sp>
        <p:sp>
          <p:nvSpPr>
            <p:cNvPr id="52" name="基準_注意"/>
            <p:cNvSpPr/>
            <p:nvPr/>
          </p:nvSpPr>
          <p:spPr>
            <a:xfrm>
              <a:off x="1647825" y="5038725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計画比90〜100%。翌週に再点検</a:t>
              </a:r>
            </a:p>
          </p:txBody>
        </p:sp>
        <p:cxnSp>
          <p:nvCxnSpPr>
            <p:cNvPr id="53" name="罫線2"/>
            <p:cNvCxnSpPr/>
            <p:nvPr/>
          </p:nvCxnSpPr>
          <p:spPr>
            <a:xfrm>
              <a:off x="771525" y="5305425"/>
              <a:ext cx="4191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ドット_要対処"/>
            <p:cNvSpPr/>
            <p:nvPr/>
          </p:nvSpPr>
          <p:spPr>
            <a:xfrm>
              <a:off x="771525" y="54197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状態_要対処"/>
            <p:cNvSpPr/>
            <p:nvPr/>
          </p:nvSpPr>
          <p:spPr>
            <a:xfrm>
              <a:off x="1000125" y="5391150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要対処</a:t>
              </a:r>
            </a:p>
          </p:txBody>
        </p:sp>
        <p:sp>
          <p:nvSpPr>
            <p:cNvPr id="56" name="基準_要対処"/>
            <p:cNvSpPr/>
            <p:nvPr/>
          </p:nvSpPr>
          <p:spPr>
            <a:xfrm>
              <a:off x="1647825" y="5400675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計画比90%未満。今週中に対策を決める</a:t>
              </a:r>
            </a:p>
          </p:txBody>
        </p:sp>
      </p:grpSp>
      <p:sp>
        <p:nvSpPr>
          <p:cNvPr id="57" name="Rectangle 56"/>
          <p:cNvSpPr/>
          <p:nvPr/>
        </p:nvSpPr>
        <p:spPr>
          <a:xfrm>
            <a:off x="3905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ステータスドット3段階（●要対処の朱は1点まで）</a:t>
            </a:r>
          </a:p>
        </p:txBody>
      </p:sp>
      <p:grpSp>
        <p:nvGrpSpPr>
          <p:cNvPr id="58" name="KPI数字08b_ランキング横棒"/>
          <p:cNvGrpSpPr/>
          <p:nvPr/>
        </p:nvGrpSpPr>
        <p:grpSpPr>
          <a:xfrm>
            <a:off x="6543675" y="4419600"/>
            <a:ext cx="3829050" cy="1409700"/>
            <a:chOff x="6543675" y="4419600"/>
            <a:chExt cx="3829050" cy="1409700"/>
          </a:xfrm>
        </p:grpSpPr>
        <p:sp>
          <p:nvSpPr>
            <p:cNvPr id="59" name="丸1位"/>
            <p:cNvSpPr/>
            <p:nvPr/>
          </p:nvSpPr>
          <p:spPr>
            <a:xfrm>
              <a:off x="6543675" y="4419600"/>
              <a:ext cx="304800" cy="304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順位数字"/>
            <p:cNvSpPr/>
            <p:nvPr/>
          </p:nvSpPr>
          <p:spPr>
            <a:xfrm>
              <a:off x="6543675" y="44196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61" name="項目1"/>
            <p:cNvSpPr/>
            <p:nvPr/>
          </p:nvSpPr>
          <p:spPr>
            <a:xfrm>
              <a:off x="6943725" y="4486275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A事業</a:t>
              </a:r>
            </a:p>
          </p:txBody>
        </p:sp>
        <p:sp>
          <p:nvSpPr>
            <p:cNvPr id="62" name="横棒1"/>
            <p:cNvSpPr/>
            <p:nvPr/>
          </p:nvSpPr>
          <p:spPr>
            <a:xfrm>
              <a:off x="7629525" y="4495800"/>
              <a:ext cx="20955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値1"/>
            <p:cNvSpPr/>
            <p:nvPr/>
          </p:nvSpPr>
          <p:spPr>
            <a:xfrm>
              <a:off x="9801225" y="44958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128</a:t>
              </a:r>
            </a:p>
          </p:txBody>
        </p:sp>
        <p:sp>
          <p:nvSpPr>
            <p:cNvPr id="64" name="丸2位"/>
            <p:cNvSpPr/>
            <p:nvPr/>
          </p:nvSpPr>
          <p:spPr>
            <a:xfrm>
              <a:off x="6543675" y="4838700"/>
              <a:ext cx="304800" cy="30480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順位数字"/>
            <p:cNvSpPr/>
            <p:nvPr/>
          </p:nvSpPr>
          <p:spPr>
            <a:xfrm>
              <a:off x="6543675" y="48387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2</a:t>
              </a:r>
            </a:p>
          </p:txBody>
        </p:sp>
        <p:sp>
          <p:nvSpPr>
            <p:cNvPr id="66" name="項目2"/>
            <p:cNvSpPr/>
            <p:nvPr/>
          </p:nvSpPr>
          <p:spPr>
            <a:xfrm>
              <a:off x="6943725" y="4905375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B事業</a:t>
              </a:r>
            </a:p>
          </p:txBody>
        </p:sp>
        <p:sp>
          <p:nvSpPr>
            <p:cNvPr id="67" name="横棒2"/>
            <p:cNvSpPr/>
            <p:nvPr/>
          </p:nvSpPr>
          <p:spPr>
            <a:xfrm>
              <a:off x="7629525" y="4914900"/>
              <a:ext cx="14097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値2"/>
            <p:cNvSpPr/>
            <p:nvPr/>
          </p:nvSpPr>
          <p:spPr>
            <a:xfrm>
              <a:off x="9115425" y="49149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86</a:t>
              </a:r>
            </a:p>
          </p:txBody>
        </p:sp>
        <p:sp>
          <p:nvSpPr>
            <p:cNvPr id="69" name="丸3位"/>
            <p:cNvSpPr/>
            <p:nvPr/>
          </p:nvSpPr>
          <p:spPr>
            <a:xfrm>
              <a:off x="6543675" y="5257800"/>
              <a:ext cx="304800" cy="304800"/>
            </a:xfrm>
            <a:prstGeom prst="ellipse">
              <a:avLst/>
            </a:prstGeom>
            <a:solidFill>
              <a:schemeClr val="lt1"/>
            </a:solidFill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順位数字"/>
            <p:cNvSpPr/>
            <p:nvPr/>
          </p:nvSpPr>
          <p:spPr>
            <a:xfrm>
              <a:off x="6543675" y="5257800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71" name="項目3"/>
            <p:cNvSpPr/>
            <p:nvPr/>
          </p:nvSpPr>
          <p:spPr>
            <a:xfrm>
              <a:off x="6943725" y="5324475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C事業</a:t>
              </a:r>
            </a:p>
          </p:txBody>
        </p:sp>
        <p:sp>
          <p:nvSpPr>
            <p:cNvPr id="72" name="横棒3"/>
            <p:cNvSpPr/>
            <p:nvPr/>
          </p:nvSpPr>
          <p:spPr>
            <a:xfrm>
              <a:off x="7629525" y="5334000"/>
              <a:ext cx="93345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値3"/>
            <p:cNvSpPr/>
            <p:nvPr/>
          </p:nvSpPr>
          <p:spPr>
            <a:xfrm>
              <a:off x="8639175" y="53340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57</a:t>
              </a:r>
            </a:p>
          </p:txBody>
        </p:sp>
        <p:sp>
          <p:nvSpPr>
            <p:cNvPr id="74" name="単位注記"/>
            <p:cNvSpPr/>
            <p:nvPr/>
          </p:nvSpPr>
          <p:spPr>
            <a:xfrm>
              <a:off x="7629525" y="5695950"/>
              <a:ext cx="2286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単位：億円（棒は原点ゼロ）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6219825" y="624840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08b ランキング×横棒（バッジと棒の組み合わせ変種）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6月は売上・顧客数とも計画超え、解約率の上振れだけが今月の論点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大数字売上"/>
          <p:cNvGrpSpPr/>
          <p:nvPr/>
        </p:nvGrpSpPr>
        <p:grpSpPr>
          <a:xfrm>
            <a:off x="1143000" y="952500"/>
            <a:ext cx="2857500" cy="1333500"/>
            <a:chOff x="1143000" y="952500"/>
            <a:chExt cx="2857500" cy="1333500"/>
          </a:xfrm>
        </p:grpSpPr>
        <p:sp>
          <p:nvSpPr>
            <p:cNvPr id="6" name="カード"/>
            <p:cNvSpPr/>
            <p:nvPr/>
          </p:nvSpPr>
          <p:spPr>
            <a:xfrm>
              <a:off x="1143000" y="95250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指標名"/>
            <p:cNvSpPr/>
            <p:nvPr/>
          </p:nvSpPr>
          <p:spPr>
            <a:xfrm>
              <a:off x="1295400" y="108585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8" name="数値"/>
            <p:cNvSpPr/>
            <p:nvPr/>
          </p:nvSpPr>
          <p:spPr>
            <a:xfrm>
              <a:off x="1295400" y="1295400"/>
              <a:ext cx="2552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4.28</a:t>
              </a:r>
            </a:p>
          </p:txBody>
        </p:sp>
        <p:sp>
          <p:nvSpPr>
            <p:cNvPr id="9" name="前年比ラベル"/>
            <p:cNvSpPr/>
            <p:nvPr/>
          </p:nvSpPr>
          <p:spPr>
            <a:xfrm>
              <a:off x="1295400" y="198120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0" name="増減三角"/>
            <p:cNvSpPr/>
            <p:nvPr/>
          </p:nvSpPr>
          <p:spPr>
            <a:xfrm>
              <a:off x="3105150" y="2038350"/>
              <a:ext cx="114300" cy="95250"/>
            </a:xfrm>
            <a:custGeom>
              <a:avLst/>
              <a:gdLst/>
              <a:ahLst/>
              <a:cxnLst/>
              <a:rect l="0" t="0" r="114300" b="95250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増減値"/>
            <p:cNvSpPr/>
            <p:nvPr/>
          </p:nvSpPr>
          <p:spPr>
            <a:xfrm>
              <a:off x="3257550" y="1981200"/>
              <a:ext cx="5905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+8.6%</a:t>
              </a:r>
            </a:p>
          </p:txBody>
        </p:sp>
      </p:grpSp>
      <p:grpSp>
        <p:nvGrpSpPr>
          <p:cNvPr id="12" name="使用例_大数字顧客"/>
          <p:cNvGrpSpPr/>
          <p:nvPr/>
        </p:nvGrpSpPr>
        <p:grpSpPr>
          <a:xfrm>
            <a:off x="4476750" y="952500"/>
            <a:ext cx="2857500" cy="1333500"/>
            <a:chOff x="4476750" y="952500"/>
            <a:chExt cx="2857500" cy="1333500"/>
          </a:xfrm>
        </p:grpSpPr>
        <p:sp>
          <p:nvSpPr>
            <p:cNvPr id="13" name="カード"/>
            <p:cNvSpPr/>
            <p:nvPr/>
          </p:nvSpPr>
          <p:spPr>
            <a:xfrm>
              <a:off x="4476750" y="95250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指標名"/>
            <p:cNvSpPr/>
            <p:nvPr/>
          </p:nvSpPr>
          <p:spPr>
            <a:xfrm>
              <a:off x="4629150" y="108585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新規顧客（件）</a:t>
              </a:r>
            </a:p>
          </p:txBody>
        </p:sp>
        <p:sp>
          <p:nvSpPr>
            <p:cNvPr id="15" name="数値"/>
            <p:cNvSpPr/>
            <p:nvPr/>
          </p:nvSpPr>
          <p:spPr>
            <a:xfrm>
              <a:off x="4629150" y="1295400"/>
              <a:ext cx="25527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132</a:t>
              </a:r>
            </a:p>
          </p:txBody>
        </p:sp>
        <p:sp>
          <p:nvSpPr>
            <p:cNvPr id="16" name="前年比ラベル"/>
            <p:cNvSpPr/>
            <p:nvPr/>
          </p:nvSpPr>
          <p:spPr>
            <a:xfrm>
              <a:off x="4629150" y="198120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7" name="増減三角"/>
            <p:cNvSpPr/>
            <p:nvPr/>
          </p:nvSpPr>
          <p:spPr>
            <a:xfrm>
              <a:off x="6438900" y="2038350"/>
              <a:ext cx="114300" cy="95250"/>
            </a:xfrm>
            <a:custGeom>
              <a:avLst/>
              <a:gdLst/>
              <a:ahLst/>
              <a:cxnLst/>
              <a:rect l="0" t="0" r="114300" b="95250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増減値"/>
            <p:cNvSpPr/>
            <p:nvPr/>
          </p:nvSpPr>
          <p:spPr>
            <a:xfrm>
              <a:off x="6591300" y="1981200"/>
              <a:ext cx="5905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+12.0%</a:t>
              </a:r>
            </a:p>
          </p:txBody>
        </p:sp>
      </p:grpSp>
      <p:grpSp>
        <p:nvGrpSpPr>
          <p:cNvPr id="19" name="使用例_大数字解約率"/>
          <p:cNvGrpSpPr/>
          <p:nvPr/>
        </p:nvGrpSpPr>
        <p:grpSpPr>
          <a:xfrm>
            <a:off x="7810500" y="952500"/>
            <a:ext cx="2857500" cy="1333500"/>
            <a:chOff x="7810500" y="952500"/>
            <a:chExt cx="2857500" cy="1333500"/>
          </a:xfrm>
        </p:grpSpPr>
        <p:sp>
          <p:nvSpPr>
            <p:cNvPr id="20" name="カード"/>
            <p:cNvSpPr/>
            <p:nvPr/>
          </p:nvSpPr>
          <p:spPr>
            <a:xfrm>
              <a:off x="7810500" y="95250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指標名"/>
            <p:cNvSpPr/>
            <p:nvPr/>
          </p:nvSpPr>
          <p:spPr>
            <a:xfrm>
              <a:off x="7962900" y="1085850"/>
              <a:ext cx="25527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解約率（%）</a:t>
              </a:r>
            </a:p>
          </p:txBody>
        </p:sp>
        <p:sp>
          <p:nvSpPr>
            <p:cNvPr id="22" name="数値"/>
            <p:cNvSpPr/>
            <p:nvPr/>
          </p:nvSpPr>
          <p:spPr>
            <a:xfrm>
              <a:off x="7962900" y="1314450"/>
              <a:ext cx="25527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0.9</a:t>
              </a:r>
            </a:p>
          </p:txBody>
        </p:sp>
        <p:sp>
          <p:nvSpPr>
            <p:cNvPr id="23" name="前月比ラベル"/>
            <p:cNvSpPr/>
            <p:nvPr/>
          </p:nvSpPr>
          <p:spPr>
            <a:xfrm>
              <a:off x="7962900" y="1981200"/>
              <a:ext cx="57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前月比</a:t>
              </a:r>
            </a:p>
          </p:txBody>
        </p:sp>
        <p:sp>
          <p:nvSpPr>
            <p:cNvPr id="24" name="悪化三角"/>
            <p:cNvSpPr/>
            <p:nvPr/>
          </p:nvSpPr>
          <p:spPr>
            <a:xfrm>
              <a:off x="9239250" y="1962150"/>
              <a:ext cx="114300" cy="95250"/>
            </a:xfrm>
            <a:custGeom>
              <a:avLst/>
              <a:gdLst/>
              <a:ahLst/>
              <a:cxnLst/>
              <a:rect l="0" t="0" r="114300" b="95250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悪化値"/>
            <p:cNvSpPr/>
            <p:nvPr/>
          </p:nvSpPr>
          <p:spPr>
            <a:xfrm>
              <a:off x="9391650" y="1905000"/>
              <a:ext cx="1123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 b="1">
                  <a:solidFill>
                    <a:schemeClr val="accent2"/>
                  </a:solidFill>
                </a:rPr>
                <a:t>+0.2pt 要対処</a:t>
              </a:r>
            </a:p>
          </p:txBody>
        </p:sp>
      </p:grpSp>
      <p:grpSp>
        <p:nvGrpSpPr>
          <p:cNvPr id="26" name="使用例_通期進捗"/>
          <p:cNvGrpSpPr/>
          <p:nvPr/>
        </p:nvGrpSpPr>
        <p:grpSpPr>
          <a:xfrm>
            <a:off x="1143000" y="2647950"/>
            <a:ext cx="9525000" cy="781050"/>
            <a:chOff x="1143000" y="2647950"/>
            <a:chExt cx="9525000" cy="781050"/>
          </a:xfrm>
        </p:grpSpPr>
        <p:sp>
          <p:nvSpPr>
            <p:cNvPr id="27" name="ラベル"/>
            <p:cNvSpPr/>
            <p:nvPr/>
          </p:nvSpPr>
          <p:spPr>
            <a:xfrm>
              <a:off x="1143000" y="2724150"/>
              <a:ext cx="4000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通期売上目標（52億円）に対する進捗</a:t>
              </a:r>
            </a:p>
          </p:txBody>
        </p:sp>
        <p:sp>
          <p:nvSpPr>
            <p:cNvPr id="28" name="数値"/>
            <p:cNvSpPr/>
            <p:nvPr/>
          </p:nvSpPr>
          <p:spPr>
            <a:xfrm>
              <a:off x="9525000" y="2647950"/>
              <a:ext cx="1143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46%</a:t>
              </a:r>
            </a:p>
          </p:txBody>
        </p:sp>
        <p:sp>
          <p:nvSpPr>
            <p:cNvPr id="29" name="バー地"/>
            <p:cNvSpPr/>
            <p:nvPr/>
          </p:nvSpPr>
          <p:spPr>
            <a:xfrm>
              <a:off x="1143000" y="3028950"/>
              <a:ext cx="9525000" cy="152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バー値"/>
            <p:cNvSpPr/>
            <p:nvPr/>
          </p:nvSpPr>
          <p:spPr>
            <a:xfrm>
              <a:off x="1143000" y="3028950"/>
              <a:ext cx="4381500" cy="15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目標tick"/>
            <p:cNvCxnSpPr/>
            <p:nvPr/>
          </p:nvCxnSpPr>
          <p:spPr>
            <a:xfrm>
              <a:off x="5905500" y="2952750"/>
              <a:ext cx="0" cy="30480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目標ラベル"/>
            <p:cNvSpPr/>
            <p:nvPr/>
          </p:nvSpPr>
          <p:spPr>
            <a:xfrm>
              <a:off x="5372100" y="3295650"/>
              <a:ext cx="1066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6月末目標 50%</a:t>
              </a:r>
            </a:p>
          </p:txBody>
        </p:sp>
      </p:grpSp>
      <p:grpSp>
        <p:nvGrpSpPr>
          <p:cNvPr id="33" name="使用例_トレンド一覧"/>
          <p:cNvGrpSpPr/>
          <p:nvPr/>
        </p:nvGrpSpPr>
        <p:grpSpPr>
          <a:xfrm>
            <a:off x="1143000" y="3924300"/>
            <a:ext cx="3048000" cy="1428750"/>
            <a:chOff x="1143000" y="3924300"/>
            <a:chExt cx="3048000" cy="1428750"/>
          </a:xfrm>
        </p:grpSpPr>
        <p:sp>
          <p:nvSpPr>
            <p:cNvPr id="34" name="見出し"/>
            <p:cNvSpPr/>
            <p:nvPr/>
          </p:nvSpPr>
          <p:spPr>
            <a:xfrm>
              <a:off x="1143000" y="3924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主要指標の前月比トレンド</a:t>
              </a:r>
            </a:p>
          </p:txBody>
        </p:sp>
        <p:sp>
          <p:nvSpPr>
            <p:cNvPr id="35" name="指標1"/>
            <p:cNvSpPr/>
            <p:nvPr/>
          </p:nvSpPr>
          <p:spPr>
            <a:xfrm>
              <a:off x="1143000" y="4286250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受注件数</a:t>
              </a:r>
            </a:p>
          </p:txBody>
        </p:sp>
        <p:sp>
          <p:nvSpPr>
            <p:cNvPr id="36" name="チップ地"/>
            <p:cNvSpPr/>
            <p:nvPr/>
          </p:nvSpPr>
          <p:spPr>
            <a:xfrm>
              <a:off x="2667000" y="42291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三角"/>
            <p:cNvSpPr/>
            <p:nvPr/>
          </p:nvSpPr>
          <p:spPr>
            <a:xfrm>
              <a:off x="2857500" y="4333875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52387" y="0"/>
                  </a:moveTo>
                  <a:lnTo>
                    <a:pt x="0" y="85725"/>
                  </a:lnTo>
                  <a:lnTo>
                    <a:pt x="104775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増減値"/>
            <p:cNvSpPr/>
            <p:nvPr/>
          </p:nvSpPr>
          <p:spPr>
            <a:xfrm>
              <a:off x="3028950" y="42291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+12.4%</a:t>
              </a:r>
            </a:p>
          </p:txBody>
        </p:sp>
        <p:cxnSp>
          <p:nvCxnSpPr>
            <p:cNvPr id="39" name="罫線1"/>
            <p:cNvCxnSpPr/>
            <p:nvPr/>
          </p:nvCxnSpPr>
          <p:spPr>
            <a:xfrm>
              <a:off x="1143000" y="459105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指標2"/>
            <p:cNvSpPr/>
            <p:nvPr/>
          </p:nvSpPr>
          <p:spPr>
            <a:xfrm>
              <a:off x="1143000" y="4705350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平均単価</a:t>
              </a:r>
            </a:p>
          </p:txBody>
        </p:sp>
        <p:sp>
          <p:nvSpPr>
            <p:cNvPr id="41" name="チップ地"/>
            <p:cNvSpPr/>
            <p:nvPr/>
          </p:nvSpPr>
          <p:spPr>
            <a:xfrm>
              <a:off x="2667000" y="46482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横ばいバー"/>
            <p:cNvSpPr/>
            <p:nvPr/>
          </p:nvSpPr>
          <p:spPr>
            <a:xfrm>
              <a:off x="2847975" y="4781550"/>
              <a:ext cx="123825" cy="285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増減値"/>
            <p:cNvSpPr/>
            <p:nvPr/>
          </p:nvSpPr>
          <p:spPr>
            <a:xfrm>
              <a:off x="3028950" y="46482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±0.0%</a:t>
              </a:r>
            </a:p>
          </p:txBody>
        </p:sp>
        <p:cxnSp>
          <p:nvCxnSpPr>
            <p:cNvPr id="44" name="罫線2"/>
            <p:cNvCxnSpPr/>
            <p:nvPr/>
          </p:nvCxnSpPr>
          <p:spPr>
            <a:xfrm>
              <a:off x="1143000" y="501015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指標3"/>
            <p:cNvSpPr/>
            <p:nvPr/>
          </p:nvSpPr>
          <p:spPr>
            <a:xfrm>
              <a:off x="1143000" y="5124450"/>
              <a:ext cx="133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商談化率</a:t>
              </a:r>
            </a:p>
          </p:txBody>
        </p:sp>
        <p:sp>
          <p:nvSpPr>
            <p:cNvPr id="46" name="チップ地"/>
            <p:cNvSpPr/>
            <p:nvPr/>
          </p:nvSpPr>
          <p:spPr>
            <a:xfrm>
              <a:off x="2667000" y="50673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三角"/>
            <p:cNvSpPr/>
            <p:nvPr/>
          </p:nvSpPr>
          <p:spPr>
            <a:xfrm>
              <a:off x="2857500" y="5172075"/>
              <a:ext cx="104775" cy="85725"/>
            </a:xfrm>
            <a:custGeom>
              <a:avLst/>
              <a:gdLst/>
              <a:ahLst/>
              <a:cxnLst/>
              <a:rect l="0" t="0" r="104775" b="85725"/>
              <a:pathLst>
                <a:path w="104775" h="85725">
                  <a:moveTo>
                    <a:pt x="0" y="0"/>
                  </a:moveTo>
                  <a:lnTo>
                    <a:pt x="104775" y="0"/>
                  </a:lnTo>
                  <a:lnTo>
                    <a:pt x="52387" y="857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増減値"/>
            <p:cNvSpPr/>
            <p:nvPr/>
          </p:nvSpPr>
          <p:spPr>
            <a:xfrm>
              <a:off x="3028950" y="506730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-1.2%</a:t>
              </a:r>
            </a:p>
          </p:txBody>
        </p:sp>
      </p:grpSp>
      <p:grpSp>
        <p:nvGrpSpPr>
          <p:cNvPr id="49" name="使用例_月次推移"/>
          <p:cNvGrpSpPr/>
          <p:nvPr/>
        </p:nvGrpSpPr>
        <p:grpSpPr>
          <a:xfrm>
            <a:off x="7096125" y="3924300"/>
            <a:ext cx="3571875" cy="1790700"/>
            <a:chOff x="7096125" y="3924300"/>
            <a:chExt cx="3571875" cy="1790700"/>
          </a:xfrm>
        </p:grpSpPr>
        <p:sp>
          <p:nvSpPr>
            <p:cNvPr id="50" name="見出し"/>
            <p:cNvSpPr/>
            <p:nvPr/>
          </p:nvSpPr>
          <p:spPr>
            <a:xfrm>
              <a:off x="7096125" y="3924300"/>
              <a:ext cx="357187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月次売上の推移（億円）</a:t>
              </a:r>
            </a:p>
          </p:txBody>
        </p:sp>
        <p:cxnSp>
          <p:nvCxnSpPr>
            <p:cNvPr id="51" name="基準線"/>
            <p:cNvCxnSpPr/>
            <p:nvPr/>
          </p:nvCxnSpPr>
          <p:spPr>
            <a:xfrm>
              <a:off x="7096125" y="5524500"/>
              <a:ext cx="357187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棒1"/>
            <p:cNvSpPr/>
            <p:nvPr/>
          </p:nvSpPr>
          <p:spPr>
            <a:xfrm>
              <a:off x="7277100" y="4619625"/>
              <a:ext cx="457200" cy="9048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項目1"/>
            <p:cNvSpPr/>
            <p:nvPr/>
          </p:nvSpPr>
          <p:spPr>
            <a:xfrm>
              <a:off x="7162800" y="5581650"/>
              <a:ext cx="685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54" name="棒2"/>
            <p:cNvSpPr/>
            <p:nvPr/>
          </p:nvSpPr>
          <p:spPr>
            <a:xfrm>
              <a:off x="7962900" y="4562475"/>
              <a:ext cx="457200" cy="9620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項目2"/>
            <p:cNvSpPr/>
            <p:nvPr/>
          </p:nvSpPr>
          <p:spPr>
            <a:xfrm>
              <a:off x="7848600" y="5581650"/>
              <a:ext cx="685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56" name="棒3"/>
            <p:cNvSpPr/>
            <p:nvPr/>
          </p:nvSpPr>
          <p:spPr>
            <a:xfrm>
              <a:off x="8648700" y="4486275"/>
              <a:ext cx="457200" cy="10382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項目3"/>
            <p:cNvSpPr/>
            <p:nvPr/>
          </p:nvSpPr>
          <p:spPr>
            <a:xfrm>
              <a:off x="8534400" y="5581650"/>
              <a:ext cx="685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58" name="棒4"/>
            <p:cNvSpPr/>
            <p:nvPr/>
          </p:nvSpPr>
          <p:spPr>
            <a:xfrm>
              <a:off x="9334500" y="4429125"/>
              <a:ext cx="457200" cy="10953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項目4"/>
            <p:cNvSpPr/>
            <p:nvPr/>
          </p:nvSpPr>
          <p:spPr>
            <a:xfrm>
              <a:off x="9220200" y="5581650"/>
              <a:ext cx="685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60" name="棒5"/>
            <p:cNvSpPr/>
            <p:nvPr/>
          </p:nvSpPr>
          <p:spPr>
            <a:xfrm>
              <a:off x="10020300" y="4381500"/>
              <a:ext cx="4572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項目5"/>
            <p:cNvSpPr/>
            <p:nvPr/>
          </p:nvSpPr>
          <p:spPr>
            <a:xfrm>
              <a:off x="9906000" y="5581650"/>
              <a:ext cx="685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62" name="最新値"/>
            <p:cNvSpPr/>
            <p:nvPr/>
          </p:nvSpPr>
          <p:spPr>
            <a:xfrm>
              <a:off x="9867900" y="417195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4.28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1143000" y="5867400"/>
            <a:ext cx="4953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出典：経営ダッシュボード（2026年6月度実績）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パーツ図鑑｜⑩ KPI・数字見せ — 組み込み例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パーツ図鑑｜⑪ 体制図・組織 — 基本4種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配色は「デザイン＞配色」の変更に全部品が追従します</a:t>
            </a:r>
          </a:p>
        </p:txBody>
      </p:sp>
      <p:grpSp>
        <p:nvGrpSpPr>
          <p:cNvPr id="5" name="体制01_組織図2階層"/>
          <p:cNvGrpSpPr/>
          <p:nvPr/>
        </p:nvGrpSpPr>
        <p:grpSpPr>
          <a:xfrm>
            <a:off x="657225" y="1238250"/>
            <a:ext cx="5048250" cy="1562100"/>
            <a:chOff x="657225" y="1238250"/>
            <a:chExt cx="5048250" cy="1562100"/>
          </a:xfrm>
        </p:grpSpPr>
        <p:sp>
          <p:nvSpPr>
            <p:cNvPr id="6" name="親箱_統括責任者"/>
            <p:cNvSpPr/>
            <p:nvPr/>
          </p:nvSpPr>
          <p:spPr>
            <a:xfrm>
              <a:off x="2419350" y="1238250"/>
              <a:ext cx="1524000" cy="476250"/>
            </a:xfrm>
            <a:prstGeom prst="roundRect">
              <a:avLst>
                <a:gd name="adj" fmla="val 16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9350" y="13144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統括責任者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419350" y="1514475"/>
              <a:ext cx="1524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4"/>
                  </a:solidFill>
                </a:rPr>
                <a:t>部門・氏名</a:t>
              </a:r>
            </a:p>
          </p:txBody>
        </p:sp>
        <p:cxnSp>
          <p:nvCxnSpPr>
            <p:cNvPr id="9" name="コネクタ_親縦"/>
            <p:cNvCxnSpPr/>
            <p:nvPr/>
          </p:nvCxnSpPr>
          <p:spPr>
            <a:xfrm>
              <a:off x="3181350" y="171450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コネクタ_横バス"/>
            <p:cNvCxnSpPr/>
            <p:nvPr/>
          </p:nvCxnSpPr>
          <p:spPr>
            <a:xfrm>
              <a:off x="1371600" y="1962150"/>
              <a:ext cx="36195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コネクタ_子縦1"/>
            <p:cNvCxnSpPr/>
            <p:nvPr/>
          </p:nvCxnSpPr>
          <p:spPr>
            <a:xfrm>
              <a:off x="1371600" y="1962150"/>
              <a:ext cx="0" cy="2286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コネクタ_子縦2"/>
            <p:cNvCxnSpPr/>
            <p:nvPr/>
          </p:nvCxnSpPr>
          <p:spPr>
            <a:xfrm>
              <a:off x="3181350" y="1962150"/>
              <a:ext cx="0" cy="2286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コネクタ_子縦3"/>
            <p:cNvCxnSpPr/>
            <p:nvPr/>
          </p:nvCxnSpPr>
          <p:spPr>
            <a:xfrm>
              <a:off x="4991100" y="1962150"/>
              <a:ext cx="0" cy="2286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子箱_チームA"/>
            <p:cNvSpPr/>
            <p:nvPr/>
          </p:nvSpPr>
          <p:spPr>
            <a:xfrm>
              <a:off x="657225" y="2190750"/>
              <a:ext cx="142875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57225" y="23050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チームA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57225" y="251460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担当領域・人数</a:t>
              </a:r>
            </a:p>
          </p:txBody>
        </p:sp>
        <p:sp>
          <p:nvSpPr>
            <p:cNvPr id="17" name="子箱_チームB"/>
            <p:cNvSpPr/>
            <p:nvPr/>
          </p:nvSpPr>
          <p:spPr>
            <a:xfrm>
              <a:off x="2466975" y="2190750"/>
              <a:ext cx="142875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66975" y="23050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チームB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466975" y="251460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担当領域・人数</a:t>
              </a:r>
            </a:p>
          </p:txBody>
        </p:sp>
        <p:sp>
          <p:nvSpPr>
            <p:cNvPr id="20" name="子箱_チームC"/>
            <p:cNvSpPr/>
            <p:nvPr/>
          </p:nvSpPr>
          <p:spPr>
            <a:xfrm>
              <a:off x="4276725" y="2190750"/>
              <a:ext cx="142875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76725" y="23050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チームC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276725" y="251460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担当領域・人数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組織図（2階層）｜親1＋子3・直角コネクタ（箱と枝は増減可）</a:t>
            </a:r>
          </a:p>
        </p:txBody>
      </p:sp>
      <p:grpSp>
        <p:nvGrpSpPr>
          <p:cNvPr id="24" name="体制02_体制図2レーン"/>
          <p:cNvGrpSpPr/>
          <p:nvPr/>
        </p:nvGrpSpPr>
        <p:grpSpPr>
          <a:xfrm>
            <a:off x="6505575" y="1181100"/>
            <a:ext cx="5010150" cy="1733550"/>
            <a:chOff x="6505575" y="1181100"/>
            <a:chExt cx="5010150" cy="1733550"/>
          </a:xfrm>
        </p:grpSpPr>
        <p:sp>
          <p:nvSpPr>
            <p:cNvPr id="25" name="レーン札_お客様"/>
            <p:cNvSpPr/>
            <p:nvPr/>
          </p:nvSpPr>
          <p:spPr>
            <a:xfrm>
              <a:off x="6505575" y="1181100"/>
              <a:ext cx="876300" cy="800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5575" y="1181100"/>
              <a:ext cx="8763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お客様</a:t>
              </a:r>
            </a:p>
          </p:txBody>
        </p:sp>
        <p:sp>
          <p:nvSpPr>
            <p:cNvPr id="27" name="レーン帯_お客様"/>
            <p:cNvSpPr/>
            <p:nvPr/>
          </p:nvSpPr>
          <p:spPr>
            <a:xfrm>
              <a:off x="7381875" y="1181100"/>
              <a:ext cx="413385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役割箱_PJオーナー"/>
            <p:cNvSpPr/>
            <p:nvPr/>
          </p:nvSpPr>
          <p:spPr>
            <a:xfrm>
              <a:off x="7572375" y="1314450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572375" y="139065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PJオーナー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572375" y="1581150"/>
              <a:ext cx="1828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意思決定・承認</a:t>
              </a:r>
            </a:p>
          </p:txBody>
        </p:sp>
        <p:sp>
          <p:nvSpPr>
            <p:cNvPr id="31" name="役割箱_業務担当"/>
            <p:cNvSpPr/>
            <p:nvPr/>
          </p:nvSpPr>
          <p:spPr>
            <a:xfrm>
              <a:off x="9591675" y="1314450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591675" y="139065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業務担当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591675" y="1581150"/>
              <a:ext cx="1828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現場要件の提示</a:t>
              </a:r>
            </a:p>
          </p:txBody>
        </p:sp>
        <p:sp>
          <p:nvSpPr>
            <p:cNvPr id="34" name="レーン札_当社"/>
            <p:cNvSpPr/>
            <p:nvPr/>
          </p:nvSpPr>
          <p:spPr>
            <a:xfrm>
              <a:off x="6505575" y="2114550"/>
              <a:ext cx="8763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505575" y="2114550"/>
              <a:ext cx="8763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当社</a:t>
              </a:r>
            </a:p>
          </p:txBody>
        </p:sp>
        <p:sp>
          <p:nvSpPr>
            <p:cNvPr id="36" name="レーン帯_当社"/>
            <p:cNvSpPr/>
            <p:nvPr/>
          </p:nvSpPr>
          <p:spPr>
            <a:xfrm>
              <a:off x="7381875" y="2114550"/>
              <a:ext cx="413385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役割箱_PM"/>
            <p:cNvSpPr/>
            <p:nvPr/>
          </p:nvSpPr>
          <p:spPr>
            <a:xfrm>
              <a:off x="7572375" y="2247900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572375" y="232410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PM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572375" y="2514600"/>
              <a:ext cx="1828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全体推進・品質</a:t>
              </a:r>
            </a:p>
          </p:txBody>
        </p:sp>
        <p:sp>
          <p:nvSpPr>
            <p:cNvPr id="40" name="役割箱_実行チーム"/>
            <p:cNvSpPr/>
            <p:nvPr/>
          </p:nvSpPr>
          <p:spPr>
            <a:xfrm>
              <a:off x="9591675" y="2247900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591675" y="232410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実行チーム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591675" y="2514600"/>
              <a:ext cx="1828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構築・分析・運用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体制図（2レーン）｜お客様×当社の役割分担（提案書の定番）</a:t>
            </a:r>
          </a:p>
        </p:txBody>
      </p:sp>
      <p:grpSp>
        <p:nvGrpSpPr>
          <p:cNvPr id="44" name="体制03_役割カード"/>
          <p:cNvGrpSpPr/>
          <p:nvPr/>
        </p:nvGrpSpPr>
        <p:grpSpPr>
          <a:xfrm>
            <a:off x="895350" y="4076700"/>
            <a:ext cx="4572000" cy="1866900"/>
            <a:chOff x="895350" y="4076700"/>
            <a:chExt cx="4572000" cy="1866900"/>
          </a:xfrm>
        </p:grpSpPr>
        <p:sp>
          <p:nvSpPr>
            <p:cNvPr id="45" name="カード_プロジェクトマネージャー"/>
            <p:cNvSpPr/>
            <p:nvPr/>
          </p:nvSpPr>
          <p:spPr>
            <a:xfrm>
              <a:off x="895350" y="4076700"/>
              <a:ext cx="2095500" cy="1866900"/>
            </a:xfrm>
            <a:prstGeom prst="roundRect">
              <a:avLst>
                <a:gd name="adj" fmla="val 4081"/>
              </a:avLst>
            </a:prstGeom>
            <a:solidFill>
              <a:schemeClr val="lt1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役職帯_プロジェクトマネージャー"/>
            <p:cNvSpPr/>
            <p:nvPr/>
          </p:nvSpPr>
          <p:spPr>
            <a:xfrm>
              <a:off x="895350" y="4076700"/>
              <a:ext cx="20955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役職帯下_プロジェクトマネージャー"/>
            <p:cNvSpPr/>
            <p:nvPr/>
          </p:nvSpPr>
          <p:spPr>
            <a:xfrm>
              <a:off x="895350" y="4248150"/>
              <a:ext cx="209550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95350" y="4076700"/>
              <a:ext cx="2095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プロジェクトマネージャー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95350" y="4514850"/>
              <a:ext cx="2095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山田 太郎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95350" y="47815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（当社・週3日）</a:t>
              </a:r>
            </a:p>
          </p:txBody>
        </p:sp>
        <p:cxnSp>
          <p:nvCxnSpPr>
            <p:cNvPr id="51" name="区切り_プロジェクトマネージャー"/>
            <p:cNvCxnSpPr/>
            <p:nvPr/>
          </p:nvCxnSpPr>
          <p:spPr>
            <a:xfrm>
              <a:off x="1066800" y="5010150"/>
              <a:ext cx="1752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1104900" y="5124450"/>
              <a:ext cx="16764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・進捗・課題の管理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・品質レビュー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・貴社との窓口</a:t>
              </a:r>
            </a:p>
          </p:txBody>
        </p:sp>
        <p:sp>
          <p:nvSpPr>
            <p:cNvPr id="53" name="カード_プロジェクトオーナー"/>
            <p:cNvSpPr/>
            <p:nvPr/>
          </p:nvSpPr>
          <p:spPr>
            <a:xfrm>
              <a:off x="3371850" y="4076700"/>
              <a:ext cx="2095500" cy="1866900"/>
            </a:xfrm>
            <a:prstGeom prst="roundRect">
              <a:avLst>
                <a:gd name="adj" fmla="val 4081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役職帯_プロジェクトオーナー"/>
            <p:cNvSpPr/>
            <p:nvPr/>
          </p:nvSpPr>
          <p:spPr>
            <a:xfrm>
              <a:off x="3371850" y="4076700"/>
              <a:ext cx="2095500" cy="342900"/>
            </a:xfrm>
            <a:prstGeom prst="roundRect">
              <a:avLst>
                <a:gd name="adj" fmla="val 22222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役職帯下_プロジェクトオーナー"/>
            <p:cNvSpPr/>
            <p:nvPr/>
          </p:nvSpPr>
          <p:spPr>
            <a:xfrm>
              <a:off x="3371850" y="4248150"/>
              <a:ext cx="2095500" cy="1714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371850" y="4076700"/>
              <a:ext cx="2095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プロジェクトオーナー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371850" y="4514850"/>
              <a:ext cx="2095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佐藤 花子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371850" y="47815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（貴社・部門長）</a:t>
              </a:r>
            </a:p>
          </p:txBody>
        </p:sp>
        <p:cxnSp>
          <p:nvCxnSpPr>
            <p:cNvPr id="59" name="区切り_プロジェクトオーナー"/>
            <p:cNvCxnSpPr/>
            <p:nvPr/>
          </p:nvCxnSpPr>
          <p:spPr>
            <a:xfrm>
              <a:off x="3543300" y="5010150"/>
              <a:ext cx="1752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3581400" y="5124450"/>
              <a:ext cx="16764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・意思決定・承認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・社内の調整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・投資判断</a:t>
              </a:r>
            </a:p>
          </p:txBody>
        </p:sp>
      </p:grpSp>
      <p:sp>
        <p:nvSpPr>
          <p:cNvPr id="61" name="Rectangle 60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役割カード｜役職帯＋氏名＋担当3行（キーパーソンの明示）</a:t>
            </a:r>
          </a:p>
        </p:txBody>
      </p:sp>
      <p:grpSp>
        <p:nvGrpSpPr>
          <p:cNvPr id="62" name="体制04_フラット人型"/>
          <p:cNvGrpSpPr/>
          <p:nvPr/>
        </p:nvGrpSpPr>
        <p:grpSpPr>
          <a:xfrm>
            <a:off x="7362825" y="4191000"/>
            <a:ext cx="3295650" cy="1733550"/>
            <a:chOff x="7362825" y="4191000"/>
            <a:chExt cx="3295650" cy="1733550"/>
          </a:xfrm>
        </p:grpSpPr>
        <p:sp>
          <p:nvSpPr>
            <p:cNvPr id="63" name="人型大_頭"/>
            <p:cNvSpPr/>
            <p:nvPr/>
          </p:nvSpPr>
          <p:spPr>
            <a:xfrm>
              <a:off x="8153400" y="4191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人型大_胴"/>
            <p:cNvSpPr/>
            <p:nvPr/>
          </p:nvSpPr>
          <p:spPr>
            <a:xfrm>
              <a:off x="7991475" y="4648200"/>
              <a:ext cx="742950" cy="838200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648575" y="5562600"/>
              <a:ext cx="1428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責任者（氏名・役職）</a:t>
              </a:r>
            </a:p>
          </p:txBody>
        </p:sp>
        <p:sp>
          <p:nvSpPr>
            <p:cNvPr id="66" name="人型小_頭"/>
            <p:cNvSpPr/>
            <p:nvPr/>
          </p:nvSpPr>
          <p:spPr>
            <a:xfrm>
              <a:off x="9610725" y="4476750"/>
              <a:ext cx="304800" cy="304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人型小_胴"/>
            <p:cNvSpPr/>
            <p:nvPr/>
          </p:nvSpPr>
          <p:spPr>
            <a:xfrm>
              <a:off x="9486900" y="4819650"/>
              <a:ext cx="552450" cy="62865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191625" y="55626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メンバー</a:t>
              </a:r>
            </a:p>
          </p:txBody>
        </p:sp>
        <p:sp>
          <p:nvSpPr>
            <p:cNvPr id="69" name="補足"/>
            <p:cNvSpPr/>
            <p:nvPr/>
          </p:nvSpPr>
          <p:spPr>
            <a:xfrm>
              <a:off x="7362825" y="5791200"/>
              <a:ext cx="32956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大きさ＝役割の重み。頭＋胴の2図形で拡縮自在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フラット人型｜頭＋胴の2図形（サイズ違いで役割の重みを表現）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パーツ図鑑｜⑪ 体制図・組織 — 運営・プロセス4種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テキストを打ち替えるだけで完成します</a:t>
            </a:r>
          </a:p>
        </p:txBody>
      </p:sp>
      <p:grpSp>
        <p:nvGrpSpPr>
          <p:cNvPr id="5" name="体制05_人数表現"/>
          <p:cNvGrpSpPr/>
          <p:nvPr/>
        </p:nvGrpSpPr>
        <p:grpSpPr>
          <a:xfrm>
            <a:off x="771525" y="1638300"/>
            <a:ext cx="4762500" cy="1047750"/>
            <a:chOff x="771525" y="1638300"/>
            <a:chExt cx="4762500" cy="1047750"/>
          </a:xfrm>
        </p:grpSpPr>
        <p:sp>
          <p:nvSpPr>
            <p:cNvPr id="6" name="人型1_頭"/>
            <p:cNvSpPr/>
            <p:nvPr/>
          </p:nvSpPr>
          <p:spPr>
            <a:xfrm>
              <a:off x="981075" y="16954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人型1_胴"/>
            <p:cNvSpPr/>
            <p:nvPr/>
          </p:nvSpPr>
          <p:spPr>
            <a:xfrm>
              <a:off x="904875" y="1924050"/>
              <a:ext cx="342900" cy="381000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人型2_頭"/>
            <p:cNvSpPr/>
            <p:nvPr/>
          </p:nvSpPr>
          <p:spPr>
            <a:xfrm>
              <a:off x="1533525" y="16954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人型2_胴"/>
            <p:cNvSpPr/>
            <p:nvPr/>
          </p:nvSpPr>
          <p:spPr>
            <a:xfrm>
              <a:off x="1457325" y="1924050"/>
              <a:ext cx="342900" cy="381000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人型3_頭"/>
            <p:cNvSpPr/>
            <p:nvPr/>
          </p:nvSpPr>
          <p:spPr>
            <a:xfrm>
              <a:off x="2085975" y="16954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人型3_胴"/>
            <p:cNvSpPr/>
            <p:nvPr/>
          </p:nvSpPr>
          <p:spPr>
            <a:xfrm>
              <a:off x="2009775" y="1924050"/>
              <a:ext cx="342900" cy="381000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人型4_頭"/>
            <p:cNvSpPr/>
            <p:nvPr/>
          </p:nvSpPr>
          <p:spPr>
            <a:xfrm>
              <a:off x="2638425" y="16954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人型4_胴"/>
            <p:cNvSpPr/>
            <p:nvPr/>
          </p:nvSpPr>
          <p:spPr>
            <a:xfrm>
              <a:off x="2562225" y="1924050"/>
              <a:ext cx="342900" cy="381000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人型5_頭"/>
            <p:cNvSpPr/>
            <p:nvPr/>
          </p:nvSpPr>
          <p:spPr>
            <a:xfrm>
              <a:off x="3190875" y="1695450"/>
              <a:ext cx="190500" cy="190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人型5_胴"/>
            <p:cNvSpPr/>
            <p:nvPr/>
          </p:nvSpPr>
          <p:spPr>
            <a:xfrm>
              <a:off x="3114675" y="1924050"/>
              <a:ext cx="342900" cy="38100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総員数"/>
            <p:cNvSpPr/>
            <p:nvPr/>
          </p:nvSpPr>
          <p:spPr>
            <a:xfrm>
              <a:off x="3895725" y="1638300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000" b="1">
                  <a:solidFill>
                    <a:schemeClr val="dk2"/>
                  </a:solidFill>
                </a:rPr>
                <a:t>45名</a:t>
              </a:r>
            </a:p>
          </p:txBody>
        </p:sp>
        <p:sp>
          <p:nvSpPr>
            <p:cNvPr id="17" name="総員ラベル"/>
            <p:cNvSpPr/>
            <p:nvPr/>
          </p:nvSpPr>
          <p:spPr>
            <a:xfrm>
              <a:off x="3914775" y="213360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推進体制の総員</a:t>
              </a:r>
            </a:p>
          </p:txBody>
        </p:sp>
        <p:sp>
          <p:nvSpPr>
            <p:cNvPr id="18" name="凡例"/>
            <p:cNvSpPr/>
            <p:nvPr/>
          </p:nvSpPr>
          <p:spPr>
            <a:xfrm>
              <a:off x="771525" y="2552700"/>
              <a:ext cx="476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人型1体＝10名（端数は淡色で表現）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人数表現｜人型×5＝総員の見える化（1体＝10名で換算）</a:t>
            </a:r>
          </a:p>
        </p:txBody>
      </p:sp>
      <p:grpSp>
        <p:nvGrpSpPr>
          <p:cNvPr id="20" name="体制06_会議体カード"/>
          <p:cNvGrpSpPr/>
          <p:nvPr/>
        </p:nvGrpSpPr>
        <p:grpSpPr>
          <a:xfrm>
            <a:off x="6505575" y="1276350"/>
            <a:ext cx="5010150" cy="1485900"/>
            <a:chOff x="6505575" y="1276350"/>
            <a:chExt cx="5010150" cy="1485900"/>
          </a:xfrm>
        </p:grpSpPr>
        <p:sp>
          <p:nvSpPr>
            <p:cNvPr id="21" name="会議体_週次定例会"/>
            <p:cNvSpPr/>
            <p:nvPr/>
          </p:nvSpPr>
          <p:spPr>
            <a:xfrm>
              <a:off x="6505575" y="1276350"/>
              <a:ext cx="2381250" cy="1485900"/>
            </a:xfrm>
            <a:prstGeom prst="roundRect">
              <a:avLst>
                <a:gd name="adj" fmla="val 5128"/>
              </a:avLst>
            </a:prstGeom>
            <a:solidFill>
              <a:schemeClr val="lt1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696075" y="1447800"/>
              <a:ext cx="1428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週次定例会</a:t>
              </a:r>
            </a:p>
          </p:txBody>
        </p:sp>
        <p:sp>
          <p:nvSpPr>
            <p:cNvPr id="23" name="頻度チップ_週次定例会"/>
            <p:cNvSpPr/>
            <p:nvPr/>
          </p:nvSpPr>
          <p:spPr>
            <a:xfrm>
              <a:off x="8086725" y="14478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086725" y="1457325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週1回</a:t>
              </a:r>
            </a:p>
          </p:txBody>
        </p:sp>
        <p:cxnSp>
          <p:nvCxnSpPr>
            <p:cNvPr id="25" name="区切り_週次定例会"/>
            <p:cNvCxnSpPr/>
            <p:nvPr/>
          </p:nvCxnSpPr>
          <p:spPr>
            <a:xfrm>
              <a:off x="6696075" y="1809750"/>
              <a:ext cx="2000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6696075" y="19240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出席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15175" y="192405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PM／リーダー／担当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96075" y="21907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議題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115175" y="21907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進捗・課題・次週予定</a:t>
              </a:r>
            </a:p>
          </p:txBody>
        </p:sp>
        <p:sp>
          <p:nvSpPr>
            <p:cNvPr id="30" name="会議体_ステアリングC"/>
            <p:cNvSpPr/>
            <p:nvPr/>
          </p:nvSpPr>
          <p:spPr>
            <a:xfrm>
              <a:off x="9134475" y="1276350"/>
              <a:ext cx="2381250" cy="1485900"/>
            </a:xfrm>
            <a:prstGeom prst="roundRect">
              <a:avLst>
                <a:gd name="adj" fmla="val 5128"/>
              </a:avLst>
            </a:prstGeom>
            <a:solidFill>
              <a:schemeClr val="lt1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324975" y="1447800"/>
              <a:ext cx="1428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ステアリングC</a:t>
              </a:r>
            </a:p>
          </p:txBody>
        </p:sp>
        <p:sp>
          <p:nvSpPr>
            <p:cNvPr id="32" name="頻度チップ_ステアリングC"/>
            <p:cNvSpPr/>
            <p:nvPr/>
          </p:nvSpPr>
          <p:spPr>
            <a:xfrm>
              <a:off x="10715625" y="14478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715625" y="1457325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月1回</a:t>
              </a:r>
            </a:p>
          </p:txBody>
        </p:sp>
        <p:cxnSp>
          <p:nvCxnSpPr>
            <p:cNvPr id="34" name="区切り_ステアリングC"/>
            <p:cNvCxnSpPr/>
            <p:nvPr/>
          </p:nvCxnSpPr>
          <p:spPr>
            <a:xfrm>
              <a:off x="9324975" y="1809750"/>
              <a:ext cx="2000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9324975" y="19240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出席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744075" y="1924050"/>
              <a:ext cx="1619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貴社経営層／当社PM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324975" y="21907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5"/>
                  </a:solidFill>
                </a:rPr>
                <a:t>議題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744075" y="21907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投資判断・方針決定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会議体カード｜会議名＋頻度チップ＋出席者（ガバナンスの明示）</a:t>
            </a:r>
          </a:p>
        </p:txBody>
      </p:sp>
      <p:grpSp>
        <p:nvGrpSpPr>
          <p:cNvPr id="40" name="体制07_エスカレーション"/>
          <p:cNvGrpSpPr/>
          <p:nvPr/>
        </p:nvGrpSpPr>
        <p:grpSpPr>
          <a:xfrm>
            <a:off x="676275" y="4095750"/>
            <a:ext cx="5257800" cy="1790700"/>
            <a:chOff x="676275" y="4095750"/>
            <a:chExt cx="5257800" cy="1790700"/>
          </a:xfrm>
        </p:grpSpPr>
        <p:sp>
          <p:nvSpPr>
            <p:cNvPr id="41" name="箱_現場"/>
            <p:cNvSpPr/>
            <p:nvPr/>
          </p:nvSpPr>
          <p:spPr>
            <a:xfrm>
              <a:off x="676275" y="5391150"/>
              <a:ext cx="1428750" cy="495300"/>
            </a:xfrm>
            <a:prstGeom prst="roundRect">
              <a:avLst>
                <a:gd name="adj" fmla="val 1538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6275" y="54673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現場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76275" y="5667375"/>
              <a:ext cx="1428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両社の実務担当</a:t>
              </a:r>
            </a:p>
          </p:txBody>
        </p:sp>
        <p:sp>
          <p:nvSpPr>
            <p:cNvPr id="44" name="箱_PM"/>
            <p:cNvSpPr/>
            <p:nvPr/>
          </p:nvSpPr>
          <p:spPr>
            <a:xfrm>
              <a:off x="2466975" y="4743450"/>
              <a:ext cx="1428750" cy="495300"/>
            </a:xfrm>
            <a:prstGeom prst="roundRect">
              <a:avLst>
                <a:gd name="adj" fmla="val 1538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466975" y="48196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PM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466975" y="5019675"/>
              <a:ext cx="1428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4"/>
                  </a:solidFill>
                </a:rPr>
                <a:t>当社・推進責任</a:t>
              </a:r>
            </a:p>
          </p:txBody>
        </p:sp>
        <p:sp>
          <p:nvSpPr>
            <p:cNvPr id="47" name="箱_役員"/>
            <p:cNvSpPr/>
            <p:nvPr/>
          </p:nvSpPr>
          <p:spPr>
            <a:xfrm>
              <a:off x="4257675" y="4095750"/>
              <a:ext cx="142875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57675" y="4171950"/>
              <a:ext cx="1428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役員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257675" y="4371975"/>
              <a:ext cx="1428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4"/>
                  </a:solidFill>
                </a:rPr>
                <a:t>貴社・最終判断</a:t>
              </a:r>
            </a:p>
          </p:txBody>
        </p:sp>
        <p:cxnSp>
          <p:nvCxnSpPr>
            <p:cNvPr id="50" name="接続1横"/>
            <p:cNvCxnSpPr/>
            <p:nvPr/>
          </p:nvCxnSpPr>
          <p:spPr>
            <a:xfrm>
              <a:off x="2105025" y="5638800"/>
              <a:ext cx="1076325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接続1縦"/>
            <p:cNvCxnSpPr/>
            <p:nvPr/>
          </p:nvCxnSpPr>
          <p:spPr>
            <a:xfrm flipV="1">
              <a:off x="3181350" y="5276850"/>
              <a:ext cx="0" cy="36195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基準1"/>
            <p:cNvSpPr/>
            <p:nvPr/>
          </p:nvSpPr>
          <p:spPr>
            <a:xfrm>
              <a:off x="3267075" y="5391150"/>
              <a:ext cx="1238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基準：SLA超過</a:t>
              </a:r>
            </a:p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影響度 中以上</a:t>
              </a:r>
            </a:p>
          </p:txBody>
        </p:sp>
        <p:cxnSp>
          <p:nvCxnSpPr>
            <p:cNvPr id="53" name="接続2横"/>
            <p:cNvCxnSpPr/>
            <p:nvPr/>
          </p:nvCxnSpPr>
          <p:spPr>
            <a:xfrm>
              <a:off x="3895725" y="4991100"/>
              <a:ext cx="1076325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接続2縦"/>
            <p:cNvCxnSpPr/>
            <p:nvPr/>
          </p:nvCxnSpPr>
          <p:spPr>
            <a:xfrm flipV="1">
              <a:off x="4972050" y="4629150"/>
              <a:ext cx="0" cy="36195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基準2"/>
            <p:cNvSpPr/>
            <p:nvPr/>
          </p:nvSpPr>
          <p:spPr>
            <a:xfrm>
              <a:off x="5057775" y="4743450"/>
              <a:ext cx="8763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基準：重大</a:t>
              </a:r>
            </a:p>
            <a:p>
              <a:pPr algn="l">
                <a:lnSpc>
                  <a:spcPct val="130000"/>
                </a:lnSpc>
              </a:pPr>
              <a:r>
                <a:rPr sz="800">
                  <a:solidFill>
                    <a:schemeClr val="accent5"/>
                  </a:solidFill>
                </a:rPr>
                <a:t>契約・費用影響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エスカレーションフロー｜現場→PM→役員（判断基準を線に添える）</a:t>
            </a:r>
          </a:p>
        </p:txBody>
      </p:sp>
      <p:grpSp>
        <p:nvGrpSpPr>
          <p:cNvPr id="57" name="体制08_RACI表ヘッダ"/>
          <p:cNvGrpSpPr/>
          <p:nvPr/>
        </p:nvGrpSpPr>
        <p:grpSpPr>
          <a:xfrm>
            <a:off x="6600825" y="4114800"/>
            <a:ext cx="4819650" cy="1771650"/>
            <a:chOff x="6600825" y="4114800"/>
            <a:chExt cx="4819650" cy="1771650"/>
          </a:xfrm>
        </p:grpSpPr>
        <p:sp>
          <p:nvSpPr>
            <p:cNvPr id="58" name="凡例_R"/>
            <p:cNvSpPr/>
            <p:nvPr/>
          </p:nvSpPr>
          <p:spPr>
            <a:xfrm>
              <a:off x="6600825" y="411480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00825" y="41148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905625" y="41624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＝実行</a:t>
              </a:r>
            </a:p>
          </p:txBody>
        </p:sp>
        <p:sp>
          <p:nvSpPr>
            <p:cNvPr id="61" name="凡例_A"/>
            <p:cNvSpPr/>
            <p:nvPr/>
          </p:nvSpPr>
          <p:spPr>
            <a:xfrm>
              <a:off x="7820025" y="4114800"/>
              <a:ext cx="247650" cy="2476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820025" y="41148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124825" y="41624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＝説明責任</a:t>
              </a:r>
            </a:p>
          </p:txBody>
        </p:sp>
        <p:sp>
          <p:nvSpPr>
            <p:cNvPr id="64" name="凡例_C"/>
            <p:cNvSpPr/>
            <p:nvPr/>
          </p:nvSpPr>
          <p:spPr>
            <a:xfrm>
              <a:off x="9039225" y="4114800"/>
              <a:ext cx="247650" cy="2476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039225" y="41148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C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344025" y="41624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＝協議</a:t>
              </a:r>
            </a:p>
          </p:txBody>
        </p:sp>
        <p:sp>
          <p:nvSpPr>
            <p:cNvPr id="67" name="凡例_I"/>
            <p:cNvSpPr/>
            <p:nvPr/>
          </p:nvSpPr>
          <p:spPr>
            <a:xfrm>
              <a:off x="10258425" y="4114800"/>
              <a:ext cx="247650" cy="2476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258425" y="4114800"/>
              <a:ext cx="2476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I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0563225" y="41624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＝報告</a:t>
              </a:r>
            </a:p>
          </p:txBody>
        </p:sp>
        <p:sp>
          <p:nvSpPr>
            <p:cNvPr id="70" name="ヘッダー帯"/>
            <p:cNvSpPr/>
            <p:nvPr/>
          </p:nvSpPr>
          <p:spPr>
            <a:xfrm>
              <a:off x="6600825" y="4667250"/>
              <a:ext cx="48196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696075" y="4733925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タスク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181975" y="4733925"/>
              <a:ext cx="10763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部門A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58300" y="4733925"/>
              <a:ext cx="10763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部門B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334625" y="4733925"/>
              <a:ext cx="10763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部門C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696075" y="504825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タスク1（記入例）</a:t>
              </a:r>
            </a:p>
          </p:txBody>
        </p:sp>
        <p:sp>
          <p:nvSpPr>
            <p:cNvPr id="76" name="R_タスク1（記入例）"/>
            <p:cNvSpPr/>
            <p:nvPr/>
          </p:nvSpPr>
          <p:spPr>
            <a:xfrm>
              <a:off x="8605837" y="50196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8605837" y="5019675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682162" y="5038725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0758487" y="5038725"/>
              <a:ext cx="228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80" name="罫線1"/>
            <p:cNvCxnSpPr/>
            <p:nvPr/>
          </p:nvCxnSpPr>
          <p:spPr>
            <a:xfrm>
              <a:off x="6600825" y="5314950"/>
              <a:ext cx="4819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/>
            <p:cNvSpPr/>
            <p:nvPr/>
          </p:nvSpPr>
          <p:spPr>
            <a:xfrm>
              <a:off x="6696075" y="5410200"/>
              <a:ext cx="14859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（タスクを追記）</a:t>
              </a:r>
            </a:p>
          </p:txBody>
        </p:sp>
        <p:cxnSp>
          <p:nvCxnSpPr>
            <p:cNvPr id="82" name="罫線2"/>
            <p:cNvCxnSpPr/>
            <p:nvPr/>
          </p:nvCxnSpPr>
          <p:spPr>
            <a:xfrm>
              <a:off x="6600825" y="5676900"/>
              <a:ext cx="4819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補足"/>
            <p:cNvSpPr/>
            <p:nvPr/>
          </p:nvSpPr>
          <p:spPr>
            <a:xfrm>
              <a:off x="6600825" y="5753100"/>
              <a:ext cx="48196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行をコピーして増やす。縦罫線なし・横罫線のみが表の規律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RACI表ヘッダ｜凡例チップ＋2行の表ガワ（図形製・行を足して使う）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実施体制：意思決定は貴社に、実行は両社混成チームに置く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体制図2レーン"/>
          <p:cNvGrpSpPr/>
          <p:nvPr/>
        </p:nvGrpSpPr>
        <p:grpSpPr>
          <a:xfrm>
            <a:off x="952500" y="1238250"/>
            <a:ext cx="6191250" cy="2266950"/>
            <a:chOff x="952500" y="1238250"/>
            <a:chExt cx="6191250" cy="2266950"/>
          </a:xfrm>
        </p:grpSpPr>
        <p:sp>
          <p:nvSpPr>
            <p:cNvPr id="6" name="レーン札_お客様"/>
            <p:cNvSpPr/>
            <p:nvPr/>
          </p:nvSpPr>
          <p:spPr>
            <a:xfrm>
              <a:off x="952500" y="1238250"/>
              <a:ext cx="1047750" cy="1066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52500" y="1238250"/>
              <a:ext cx="1047750" cy="106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お客様</a:t>
              </a:r>
            </a:p>
          </p:txBody>
        </p:sp>
        <p:sp>
          <p:nvSpPr>
            <p:cNvPr id="8" name="レーン帯_お客様"/>
            <p:cNvSpPr/>
            <p:nvPr/>
          </p:nvSpPr>
          <p:spPr>
            <a:xfrm>
              <a:off x="2000250" y="1238250"/>
              <a:ext cx="51435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役割箱_プロジェクトオーナー"/>
            <p:cNvSpPr/>
            <p:nvPr/>
          </p:nvSpPr>
          <p:spPr>
            <a:xfrm>
              <a:off x="2190750" y="1438275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90750" y="1552575"/>
              <a:ext cx="2190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プロジェクトオーナー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190750" y="1771650"/>
              <a:ext cx="2190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意思決定・承認</a:t>
              </a:r>
            </a:p>
          </p:txBody>
        </p:sp>
        <p:sp>
          <p:nvSpPr>
            <p:cNvPr id="12" name="役割箱_業務部門リーダー 2名"/>
            <p:cNvSpPr/>
            <p:nvPr/>
          </p:nvSpPr>
          <p:spPr>
            <a:xfrm>
              <a:off x="4629150" y="1438275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9150" y="1552575"/>
              <a:ext cx="2190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業務部門リーダー 2名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9150" y="1771650"/>
              <a:ext cx="2190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現場要件・受け入れ</a:t>
              </a:r>
            </a:p>
          </p:txBody>
        </p:sp>
        <p:sp>
          <p:nvSpPr>
            <p:cNvPr id="15" name="レーン札_当社"/>
            <p:cNvSpPr/>
            <p:nvPr/>
          </p:nvSpPr>
          <p:spPr>
            <a:xfrm>
              <a:off x="952500" y="2438400"/>
              <a:ext cx="1047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52500" y="2438400"/>
              <a:ext cx="1047750" cy="106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当社</a:t>
              </a:r>
            </a:p>
          </p:txBody>
        </p:sp>
        <p:sp>
          <p:nvSpPr>
            <p:cNvPr id="17" name="レーン帯_当社"/>
            <p:cNvSpPr/>
            <p:nvPr/>
          </p:nvSpPr>
          <p:spPr>
            <a:xfrm>
              <a:off x="2000250" y="2438400"/>
              <a:ext cx="51435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役割箱_PM 1名"/>
            <p:cNvSpPr/>
            <p:nvPr/>
          </p:nvSpPr>
          <p:spPr>
            <a:xfrm>
              <a:off x="2190750" y="2638425"/>
              <a:ext cx="150495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90750" y="2752725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PM 1名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190750" y="2971800"/>
              <a:ext cx="15049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全体推進・品質</a:t>
              </a:r>
            </a:p>
          </p:txBody>
        </p:sp>
        <p:sp>
          <p:nvSpPr>
            <p:cNvPr id="21" name="役割箱_コンサルタント 1名"/>
            <p:cNvSpPr/>
            <p:nvPr/>
          </p:nvSpPr>
          <p:spPr>
            <a:xfrm>
              <a:off x="3848100" y="2638425"/>
              <a:ext cx="150495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848100" y="2752725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コンサルタント 1名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8100" y="2971800"/>
              <a:ext cx="15049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業務設計・定着</a:t>
              </a:r>
            </a:p>
          </p:txBody>
        </p:sp>
        <p:sp>
          <p:nvSpPr>
            <p:cNvPr id="24" name="役割箱_AIエンジニア 2名"/>
            <p:cNvSpPr/>
            <p:nvPr/>
          </p:nvSpPr>
          <p:spPr>
            <a:xfrm>
              <a:off x="5505450" y="2638425"/>
              <a:ext cx="150495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05450" y="2752725"/>
              <a:ext cx="15049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AIエンジニア 2名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505450" y="2971800"/>
              <a:ext cx="15049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構築・データ連携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952500" y="3600450"/>
            <a:ext cx="5334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※人数・体制はプロジェクト開始時に確定</a:t>
            </a:r>
          </a:p>
        </p:txBody>
      </p:sp>
      <p:grpSp>
        <p:nvGrpSpPr>
          <p:cNvPr id="28" name="使用例_役割カード"/>
          <p:cNvGrpSpPr/>
          <p:nvPr/>
        </p:nvGrpSpPr>
        <p:grpSpPr>
          <a:xfrm>
            <a:off x="7620000" y="1238250"/>
            <a:ext cx="4076700" cy="2266950"/>
            <a:chOff x="7620000" y="1238250"/>
            <a:chExt cx="4076700" cy="2266950"/>
          </a:xfrm>
        </p:grpSpPr>
        <p:sp>
          <p:nvSpPr>
            <p:cNvPr id="29" name="カード_PM（当社）"/>
            <p:cNvSpPr/>
            <p:nvPr/>
          </p:nvSpPr>
          <p:spPr>
            <a:xfrm>
              <a:off x="7620000" y="1238250"/>
              <a:ext cx="1952625" cy="2266950"/>
            </a:xfrm>
            <a:prstGeom prst="roundRect">
              <a:avLst>
                <a:gd name="adj" fmla="val 3902"/>
              </a:avLst>
            </a:prstGeom>
            <a:solidFill>
              <a:schemeClr val="lt1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役職帯_PM（当社）"/>
            <p:cNvSpPr/>
            <p:nvPr/>
          </p:nvSpPr>
          <p:spPr>
            <a:xfrm>
              <a:off x="7620000" y="1238250"/>
              <a:ext cx="1952625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役職帯下_PM（当社）"/>
            <p:cNvSpPr/>
            <p:nvPr/>
          </p:nvSpPr>
          <p:spPr>
            <a:xfrm>
              <a:off x="7620000" y="1409700"/>
              <a:ext cx="1952625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620000" y="1238250"/>
              <a:ext cx="19526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PM（当社）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620000" y="1676400"/>
              <a:ext cx="19526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山田 太郎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620000" y="1943100"/>
              <a:ext cx="1952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（週3日・常駐なし）</a:t>
              </a:r>
            </a:p>
          </p:txBody>
        </p:sp>
        <p:cxnSp>
          <p:nvCxnSpPr>
            <p:cNvPr id="35" name="区切り_PM（当社）"/>
            <p:cNvCxnSpPr/>
            <p:nvPr/>
          </p:nvCxnSpPr>
          <p:spPr>
            <a:xfrm>
              <a:off x="7791450" y="2171700"/>
              <a:ext cx="16097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7829550" y="2286000"/>
              <a:ext cx="1533525" cy="1123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・進捗・課題の管理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・品質レビュー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・貴社との窓口</a:t>
              </a:r>
            </a:p>
          </p:txBody>
        </p:sp>
        <p:sp>
          <p:nvSpPr>
            <p:cNvPr id="37" name="カード_PJオーナー（貴社）"/>
            <p:cNvSpPr/>
            <p:nvPr/>
          </p:nvSpPr>
          <p:spPr>
            <a:xfrm>
              <a:off x="9744075" y="1238250"/>
              <a:ext cx="1952625" cy="2266950"/>
            </a:xfrm>
            <a:prstGeom prst="roundRect">
              <a:avLst>
                <a:gd name="adj" fmla="val 3902"/>
              </a:avLst>
            </a:prstGeom>
            <a:solidFill>
              <a:schemeClr val="lt1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役職帯_PJオーナー（貴社）"/>
            <p:cNvSpPr/>
            <p:nvPr/>
          </p:nvSpPr>
          <p:spPr>
            <a:xfrm>
              <a:off x="9744075" y="1238250"/>
              <a:ext cx="1952625" cy="342900"/>
            </a:xfrm>
            <a:prstGeom prst="roundRect">
              <a:avLst>
                <a:gd name="adj" fmla="val 22222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役職帯下_PJオーナー（貴社）"/>
            <p:cNvSpPr/>
            <p:nvPr/>
          </p:nvSpPr>
          <p:spPr>
            <a:xfrm>
              <a:off x="9744075" y="1409700"/>
              <a:ext cx="1952625" cy="1714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744075" y="1238250"/>
              <a:ext cx="19526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PJオーナー（貴社）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744075" y="1676400"/>
              <a:ext cx="19526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佐藤 部長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744075" y="1943100"/>
              <a:ext cx="1952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（業務部門長）</a:t>
              </a:r>
            </a:p>
          </p:txBody>
        </p:sp>
        <p:cxnSp>
          <p:nvCxnSpPr>
            <p:cNvPr id="43" name="区切り_PJオーナー（貴社）"/>
            <p:cNvCxnSpPr/>
            <p:nvPr/>
          </p:nvCxnSpPr>
          <p:spPr>
            <a:xfrm>
              <a:off x="9915525" y="2171700"/>
              <a:ext cx="16097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9953625" y="2286000"/>
              <a:ext cx="1533525" cy="1123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・意思決定・承認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・社内の調整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dk1"/>
                  </a:solidFill>
                </a:rPr>
                <a:t>・投資判断</a:t>
              </a:r>
            </a:p>
          </p:txBody>
        </p:sp>
      </p:grpSp>
      <p:grpSp>
        <p:nvGrpSpPr>
          <p:cNvPr id="45" name="使用例_エスカレーション"/>
          <p:cNvGrpSpPr/>
          <p:nvPr/>
        </p:nvGrpSpPr>
        <p:grpSpPr>
          <a:xfrm>
            <a:off x="952500" y="4305300"/>
            <a:ext cx="9429750" cy="1295400"/>
            <a:chOff x="952500" y="4305300"/>
            <a:chExt cx="9429750" cy="1295400"/>
          </a:xfrm>
        </p:grpSpPr>
        <p:sp>
          <p:nvSpPr>
            <p:cNvPr id="46" name="小見出し"/>
            <p:cNvSpPr/>
            <p:nvPr/>
          </p:nvSpPr>
          <p:spPr>
            <a:xfrm>
              <a:off x="952500" y="4305300"/>
              <a:ext cx="5334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エスカレーションライン（障害・課題の発生時）</a:t>
              </a:r>
            </a:p>
          </p:txBody>
        </p:sp>
        <p:sp>
          <p:nvSpPr>
            <p:cNvPr id="47" name="箱_現場"/>
            <p:cNvSpPr/>
            <p:nvPr/>
          </p:nvSpPr>
          <p:spPr>
            <a:xfrm>
              <a:off x="952500" y="4667250"/>
              <a:ext cx="238125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52500" y="4781550"/>
              <a:ext cx="2381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現場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52500" y="4991100"/>
              <a:ext cx="2381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両社の実務担当</a:t>
              </a:r>
            </a:p>
          </p:txBody>
        </p:sp>
        <p:sp>
          <p:nvSpPr>
            <p:cNvPr id="50" name="箱_PM（当社）"/>
            <p:cNvSpPr/>
            <p:nvPr/>
          </p:nvSpPr>
          <p:spPr>
            <a:xfrm>
              <a:off x="4476750" y="4667250"/>
              <a:ext cx="238125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476750" y="4781550"/>
              <a:ext cx="2381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PM（当社）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476750" y="4991100"/>
              <a:ext cx="2381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一次判断・対策指示</a:t>
              </a:r>
            </a:p>
          </p:txBody>
        </p:sp>
        <p:sp>
          <p:nvSpPr>
            <p:cNvPr id="53" name="箱_貴社役員会議"/>
            <p:cNvSpPr/>
            <p:nvPr/>
          </p:nvSpPr>
          <p:spPr>
            <a:xfrm>
              <a:off x="8001000" y="4667250"/>
              <a:ext cx="2381250" cy="609600"/>
            </a:xfrm>
            <a:prstGeom prst="roundRect">
              <a:avLst>
                <a:gd name="adj" fmla="val 125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001000" y="4781550"/>
              <a:ext cx="2381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貴社役員会議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001000" y="4991100"/>
              <a:ext cx="2381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最終判断・投資決定</a:t>
              </a:r>
            </a:p>
          </p:txBody>
        </p:sp>
        <p:cxnSp>
          <p:nvCxnSpPr>
            <p:cNvPr id="56" name="矢印1"/>
            <p:cNvCxnSpPr/>
            <p:nvPr/>
          </p:nvCxnSpPr>
          <p:spPr>
            <a:xfrm>
              <a:off x="3333750" y="4972050"/>
              <a:ext cx="11430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基準1"/>
            <p:cNvSpPr/>
            <p:nvPr/>
          </p:nvSpPr>
          <p:spPr>
            <a:xfrm>
              <a:off x="3352800" y="5143500"/>
              <a:ext cx="1104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1営業日以内に報告</a:t>
              </a:r>
            </a:p>
          </p:txBody>
        </p:sp>
        <p:cxnSp>
          <p:nvCxnSpPr>
            <p:cNvPr id="58" name="矢印2"/>
            <p:cNvCxnSpPr/>
            <p:nvPr/>
          </p:nvCxnSpPr>
          <p:spPr>
            <a:xfrm>
              <a:off x="6858000" y="4972050"/>
              <a:ext cx="114300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重大時チップ"/>
            <p:cNvSpPr/>
            <p:nvPr/>
          </p:nvSpPr>
          <p:spPr>
            <a:xfrm>
              <a:off x="6972300" y="45529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972300" y="4562475"/>
              <a:ext cx="914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重大時は即日</a:t>
              </a:r>
            </a:p>
          </p:txBody>
        </p:sp>
        <p:sp>
          <p:nvSpPr>
            <p:cNvPr id="61" name="基準注記"/>
            <p:cNvSpPr/>
            <p:nvPr/>
          </p:nvSpPr>
          <p:spPr>
            <a:xfrm>
              <a:off x="952500" y="5448300"/>
              <a:ext cx="9429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エスカレーション基準：影響度（大・中・小）×緊急度で判定し、基準は定例会で見直す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パーツ図鑑｜⑪ 体制図・組織 — 組み込み例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パーツ図鑑｜⑫ 表デザイン — 選ばせる表4種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縦罫線は引かない＝コンサルの表の規律</a:t>
            </a:r>
          </a:p>
        </p:txBody>
      </p:sp>
      <p:grpSp>
        <p:nvGrpSpPr>
          <p:cNvPr id="5" name="表01_比較表"/>
          <p:cNvGrpSpPr/>
          <p:nvPr/>
        </p:nvGrpSpPr>
        <p:grpSpPr>
          <a:xfrm>
            <a:off x="676275" y="1200150"/>
            <a:ext cx="5010150" cy="1676400"/>
            <a:chOff x="676275" y="1200150"/>
            <a:chExt cx="5010150" cy="1676400"/>
          </a:xfrm>
        </p:grpSpPr>
        <p:sp>
          <p:nvSpPr>
            <p:cNvPr id="6" name="推奨列淡地"/>
            <p:cNvSpPr/>
            <p:nvPr/>
          </p:nvSpPr>
          <p:spPr>
            <a:xfrm>
              <a:off x="4448175" y="1504950"/>
              <a:ext cx="123825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ヘッダ帯"/>
            <p:cNvSpPr/>
            <p:nvPr/>
          </p:nvSpPr>
          <p:spPr>
            <a:xfrm>
              <a:off x="676275" y="1200150"/>
              <a:ext cx="5010150" cy="304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見出し_比較項目"/>
            <p:cNvSpPr/>
            <p:nvPr/>
          </p:nvSpPr>
          <p:spPr>
            <a:xfrm>
              <a:off x="676275" y="1200150"/>
              <a:ext cx="12954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比較項目</a:t>
              </a:r>
            </a:p>
          </p:txBody>
        </p:sp>
        <p:sp>
          <p:nvSpPr>
            <p:cNvPr id="9" name="見出し_A案"/>
            <p:cNvSpPr/>
            <p:nvPr/>
          </p:nvSpPr>
          <p:spPr>
            <a:xfrm>
              <a:off x="1971675" y="1200150"/>
              <a:ext cx="1238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A案</a:t>
              </a:r>
            </a:p>
          </p:txBody>
        </p:sp>
        <p:sp>
          <p:nvSpPr>
            <p:cNvPr id="10" name="見出し_B案"/>
            <p:cNvSpPr/>
            <p:nvPr/>
          </p:nvSpPr>
          <p:spPr>
            <a:xfrm>
              <a:off x="3209925" y="1200150"/>
              <a:ext cx="1238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B案</a:t>
              </a:r>
            </a:p>
          </p:txBody>
        </p:sp>
        <p:sp>
          <p:nvSpPr>
            <p:cNvPr id="11" name="見出し_C案"/>
            <p:cNvSpPr/>
            <p:nvPr/>
          </p:nvSpPr>
          <p:spPr>
            <a:xfrm>
              <a:off x="4448175" y="1200150"/>
              <a:ext cx="1238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C案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0575" y="15049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初期費用</a:t>
              </a:r>
            </a:p>
          </p:txBody>
        </p:sp>
        <p:sp>
          <p:nvSpPr>
            <p:cNvPr id="13" name="初期費用_A案"/>
            <p:cNvSpPr/>
            <p:nvPr/>
          </p:nvSpPr>
          <p:spPr>
            <a:xfrm>
              <a:off x="1971675" y="15049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120万円</a:t>
              </a:r>
            </a:p>
          </p:txBody>
        </p:sp>
        <p:sp>
          <p:nvSpPr>
            <p:cNvPr id="14" name="初期費用_B案"/>
            <p:cNvSpPr/>
            <p:nvPr/>
          </p:nvSpPr>
          <p:spPr>
            <a:xfrm>
              <a:off x="3209925" y="15049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200万円</a:t>
              </a:r>
            </a:p>
          </p:txBody>
        </p:sp>
        <p:sp>
          <p:nvSpPr>
            <p:cNvPr id="15" name="初期費用_C案"/>
            <p:cNvSpPr/>
            <p:nvPr/>
          </p:nvSpPr>
          <p:spPr>
            <a:xfrm>
              <a:off x="4448175" y="15049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80万円</a:t>
              </a:r>
            </a:p>
          </p:txBody>
        </p:sp>
        <p:cxnSp>
          <p:nvCxnSpPr>
            <p:cNvPr id="16" name="罫線_初期費用"/>
            <p:cNvCxnSpPr/>
            <p:nvPr/>
          </p:nvCxnSpPr>
          <p:spPr>
            <a:xfrm>
              <a:off x="676275" y="18478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790575" y="18478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年間費用</a:t>
              </a:r>
            </a:p>
          </p:txBody>
        </p:sp>
        <p:sp>
          <p:nvSpPr>
            <p:cNvPr id="18" name="年間費用_A案"/>
            <p:cNvSpPr/>
            <p:nvPr/>
          </p:nvSpPr>
          <p:spPr>
            <a:xfrm>
              <a:off x="1971675" y="18478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960万円</a:t>
              </a:r>
            </a:p>
          </p:txBody>
        </p:sp>
        <p:sp>
          <p:nvSpPr>
            <p:cNvPr id="19" name="年間費用_B案"/>
            <p:cNvSpPr/>
            <p:nvPr/>
          </p:nvSpPr>
          <p:spPr>
            <a:xfrm>
              <a:off x="3209925" y="18478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620万円</a:t>
              </a:r>
            </a:p>
          </p:txBody>
        </p:sp>
        <p:sp>
          <p:nvSpPr>
            <p:cNvPr id="20" name="年間費用_C案"/>
            <p:cNvSpPr/>
            <p:nvPr/>
          </p:nvSpPr>
          <p:spPr>
            <a:xfrm>
              <a:off x="4448175" y="18478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480万円</a:t>
              </a:r>
            </a:p>
          </p:txBody>
        </p:sp>
        <p:cxnSp>
          <p:nvCxnSpPr>
            <p:cNvPr id="21" name="罫線_年間費用"/>
            <p:cNvCxnSpPr/>
            <p:nvPr/>
          </p:nvCxnSpPr>
          <p:spPr>
            <a:xfrm>
              <a:off x="676275" y="21907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790575" y="2190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導入期間</a:t>
              </a:r>
            </a:p>
          </p:txBody>
        </p:sp>
        <p:sp>
          <p:nvSpPr>
            <p:cNvPr id="23" name="導入期間_A案"/>
            <p:cNvSpPr/>
            <p:nvPr/>
          </p:nvSpPr>
          <p:spPr>
            <a:xfrm>
              <a:off x="1971675" y="21907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3ヶ月</a:t>
              </a:r>
            </a:p>
          </p:txBody>
        </p:sp>
        <p:sp>
          <p:nvSpPr>
            <p:cNvPr id="24" name="導入期間_B案"/>
            <p:cNvSpPr/>
            <p:nvPr/>
          </p:nvSpPr>
          <p:spPr>
            <a:xfrm>
              <a:off x="3209925" y="21907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2ヶ月</a:t>
              </a:r>
            </a:p>
          </p:txBody>
        </p:sp>
        <p:sp>
          <p:nvSpPr>
            <p:cNvPr id="25" name="導入期間_C案"/>
            <p:cNvSpPr/>
            <p:nvPr/>
          </p:nvSpPr>
          <p:spPr>
            <a:xfrm>
              <a:off x="4448175" y="21907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1.5ヶ月</a:t>
              </a:r>
            </a:p>
          </p:txBody>
        </p:sp>
        <p:cxnSp>
          <p:nvCxnSpPr>
            <p:cNvPr id="26" name="罫線_導入期間"/>
            <p:cNvCxnSpPr/>
            <p:nvPr/>
          </p:nvCxnSpPr>
          <p:spPr>
            <a:xfrm>
              <a:off x="676275" y="25336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790575" y="25336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総合評価</a:t>
              </a:r>
            </a:p>
          </p:txBody>
        </p:sp>
        <p:sp>
          <p:nvSpPr>
            <p:cNvPr id="28" name="総合評価_A案"/>
            <p:cNvSpPr/>
            <p:nvPr/>
          </p:nvSpPr>
          <p:spPr>
            <a:xfrm>
              <a:off x="1971675" y="25336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29" name="総合評価_B案"/>
            <p:cNvSpPr/>
            <p:nvPr/>
          </p:nvSpPr>
          <p:spPr>
            <a:xfrm>
              <a:off x="3209925" y="25336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>
                  <a:solidFill>
                    <a:schemeClr val="accent5"/>
                  </a:solidFill>
                </a:rPr>
                <a:t>○</a:t>
              </a:r>
            </a:p>
          </p:txBody>
        </p:sp>
        <p:sp>
          <p:nvSpPr>
            <p:cNvPr id="30" name="総合評価_C案"/>
            <p:cNvSpPr/>
            <p:nvPr/>
          </p:nvSpPr>
          <p:spPr>
            <a:xfrm>
              <a:off x="4448175" y="2533650"/>
              <a:ext cx="1238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31" name="罫線_総合評価"/>
            <p:cNvCxnSpPr/>
            <p:nvPr/>
          </p:nvCxnSpPr>
          <p:spPr>
            <a:xfrm>
              <a:off x="676275" y="28765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比較表｜選ばせる表の基本形（推奨列を淡地で固定・縦罫なし）</a:t>
            </a:r>
          </a:p>
        </p:txBody>
      </p:sp>
      <p:grpSp>
        <p:nvGrpSpPr>
          <p:cNvPr id="33" name="表02_機能○×表"/>
          <p:cNvGrpSpPr/>
          <p:nvPr/>
        </p:nvGrpSpPr>
        <p:grpSpPr>
          <a:xfrm>
            <a:off x="6505575" y="1181100"/>
            <a:ext cx="5010150" cy="1790700"/>
            <a:chOff x="6505575" y="1181100"/>
            <a:chExt cx="5010150" cy="1790700"/>
          </a:xfrm>
        </p:grpSpPr>
        <p:sp>
          <p:nvSpPr>
            <p:cNvPr id="34" name="ゼブラ1"/>
            <p:cNvSpPr/>
            <p:nvPr/>
          </p:nvSpPr>
          <p:spPr>
            <a:xfrm>
              <a:off x="6505575" y="1447800"/>
              <a:ext cx="50101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ゼブラ3"/>
            <p:cNvSpPr/>
            <p:nvPr/>
          </p:nvSpPr>
          <p:spPr>
            <a:xfrm>
              <a:off x="6505575" y="2057400"/>
              <a:ext cx="50101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ゼブラ5"/>
            <p:cNvSpPr/>
            <p:nvPr/>
          </p:nvSpPr>
          <p:spPr>
            <a:xfrm>
              <a:off x="6505575" y="2667000"/>
              <a:ext cx="50101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619875" y="1181100"/>
              <a:ext cx="17145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機能</a:t>
              </a:r>
            </a:p>
          </p:txBody>
        </p:sp>
        <p:sp>
          <p:nvSpPr>
            <p:cNvPr id="38" name="見出し_ライト"/>
            <p:cNvSpPr/>
            <p:nvPr/>
          </p:nvSpPr>
          <p:spPr>
            <a:xfrm>
              <a:off x="8372475" y="1181100"/>
              <a:ext cx="1047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ライト</a:t>
              </a:r>
            </a:p>
          </p:txBody>
        </p:sp>
        <p:sp>
          <p:nvSpPr>
            <p:cNvPr id="39" name="見出し_標準"/>
            <p:cNvSpPr/>
            <p:nvPr/>
          </p:nvSpPr>
          <p:spPr>
            <a:xfrm>
              <a:off x="9420225" y="1181100"/>
              <a:ext cx="1047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標準</a:t>
              </a:r>
            </a:p>
          </p:txBody>
        </p:sp>
        <p:sp>
          <p:nvSpPr>
            <p:cNvPr id="40" name="見出し_プロ"/>
            <p:cNvSpPr/>
            <p:nvPr/>
          </p:nvSpPr>
          <p:spPr>
            <a:xfrm>
              <a:off x="10467975" y="1181100"/>
              <a:ext cx="1047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プロ</a:t>
              </a:r>
            </a:p>
          </p:txBody>
        </p:sp>
        <p:cxnSp>
          <p:nvCxnSpPr>
            <p:cNvPr id="41" name="ヘッダ下罫"/>
            <p:cNvCxnSpPr/>
            <p:nvPr/>
          </p:nvCxnSpPr>
          <p:spPr>
            <a:xfrm>
              <a:off x="6505575" y="1447800"/>
              <a:ext cx="501015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6619875" y="1447800"/>
              <a:ext cx="171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基本機能</a:t>
              </a:r>
            </a:p>
          </p:txBody>
        </p:sp>
        <p:sp>
          <p:nvSpPr>
            <p:cNvPr id="43" name="基本機能_1"/>
            <p:cNvSpPr/>
            <p:nvPr/>
          </p:nvSpPr>
          <p:spPr>
            <a:xfrm>
              <a:off x="8372475" y="14478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44" name="基本機能_2"/>
            <p:cNvSpPr/>
            <p:nvPr/>
          </p:nvSpPr>
          <p:spPr>
            <a:xfrm>
              <a:off x="9420225" y="14478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45" name="基本機能_3"/>
            <p:cNvSpPr/>
            <p:nvPr/>
          </p:nvSpPr>
          <p:spPr>
            <a:xfrm>
              <a:off x="10467975" y="14478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619875" y="1752600"/>
              <a:ext cx="171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データ連携</a:t>
              </a:r>
            </a:p>
          </p:txBody>
        </p:sp>
        <p:sp>
          <p:nvSpPr>
            <p:cNvPr id="47" name="データ連携_1"/>
            <p:cNvSpPr/>
            <p:nvPr/>
          </p:nvSpPr>
          <p:spPr>
            <a:xfrm>
              <a:off x="8372475" y="17526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○</a:t>
              </a:r>
            </a:p>
          </p:txBody>
        </p:sp>
        <p:sp>
          <p:nvSpPr>
            <p:cNvPr id="48" name="データ連携_2"/>
            <p:cNvSpPr/>
            <p:nvPr/>
          </p:nvSpPr>
          <p:spPr>
            <a:xfrm>
              <a:off x="9420225" y="17526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49" name="データ連携_3"/>
            <p:cNvSpPr/>
            <p:nvPr/>
          </p:nvSpPr>
          <p:spPr>
            <a:xfrm>
              <a:off x="10467975" y="17526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619875" y="2057400"/>
              <a:ext cx="171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権限管理</a:t>
              </a:r>
            </a:p>
          </p:txBody>
        </p:sp>
        <p:sp>
          <p:nvSpPr>
            <p:cNvPr id="51" name="権限管理_1"/>
            <p:cNvSpPr/>
            <p:nvPr/>
          </p:nvSpPr>
          <p:spPr>
            <a:xfrm>
              <a:off x="8372475" y="20574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52" name="権限管理_2"/>
            <p:cNvSpPr/>
            <p:nvPr/>
          </p:nvSpPr>
          <p:spPr>
            <a:xfrm>
              <a:off x="9420225" y="20574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○</a:t>
              </a:r>
            </a:p>
          </p:txBody>
        </p:sp>
        <p:sp>
          <p:nvSpPr>
            <p:cNvPr id="53" name="権限管理_3"/>
            <p:cNvSpPr/>
            <p:nvPr/>
          </p:nvSpPr>
          <p:spPr>
            <a:xfrm>
              <a:off x="10467975" y="20574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619875" y="2362200"/>
              <a:ext cx="171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API公開</a:t>
              </a:r>
            </a:p>
          </p:txBody>
        </p:sp>
        <p:sp>
          <p:nvSpPr>
            <p:cNvPr id="55" name="API公開_1"/>
            <p:cNvSpPr/>
            <p:nvPr/>
          </p:nvSpPr>
          <p:spPr>
            <a:xfrm>
              <a:off x="8372475" y="23622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×</a:t>
              </a:r>
            </a:p>
          </p:txBody>
        </p:sp>
        <p:sp>
          <p:nvSpPr>
            <p:cNvPr id="56" name="API公開_2"/>
            <p:cNvSpPr/>
            <p:nvPr/>
          </p:nvSpPr>
          <p:spPr>
            <a:xfrm>
              <a:off x="9420225" y="23622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57" name="API公開_3"/>
            <p:cNvSpPr/>
            <p:nvPr/>
          </p:nvSpPr>
          <p:spPr>
            <a:xfrm>
              <a:off x="10467975" y="23622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○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619875" y="2667000"/>
              <a:ext cx="171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監査ログ</a:t>
              </a:r>
            </a:p>
          </p:txBody>
        </p:sp>
        <p:sp>
          <p:nvSpPr>
            <p:cNvPr id="59" name="監査ログ_1"/>
            <p:cNvSpPr/>
            <p:nvPr/>
          </p:nvSpPr>
          <p:spPr>
            <a:xfrm>
              <a:off x="8372475" y="26670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×</a:t>
              </a:r>
            </a:p>
          </p:txBody>
        </p:sp>
        <p:sp>
          <p:nvSpPr>
            <p:cNvPr id="60" name="監査ログ_2"/>
            <p:cNvSpPr/>
            <p:nvPr/>
          </p:nvSpPr>
          <p:spPr>
            <a:xfrm>
              <a:off x="9420225" y="26670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×</a:t>
              </a:r>
            </a:p>
          </p:txBody>
        </p:sp>
        <p:sp>
          <p:nvSpPr>
            <p:cNvPr id="61" name="監査ログ_3"/>
            <p:cNvSpPr/>
            <p:nvPr/>
          </p:nvSpPr>
          <p:spPr>
            <a:xfrm>
              <a:off x="10467975" y="2667000"/>
              <a:ext cx="1047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62" name="末尾罫線"/>
            <p:cNvCxnSpPr/>
            <p:nvPr/>
          </p:nvCxnSpPr>
          <p:spPr>
            <a:xfrm>
              <a:off x="6505575" y="29718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機能○×表｜◎○△×は文字で置く（記号フォント不使用・ゼブラで行を追う）</a:t>
            </a:r>
          </a:p>
        </p:txBody>
      </p:sp>
      <p:grpSp>
        <p:nvGrpSpPr>
          <p:cNvPr id="64" name="表03_価格3プラン表"/>
          <p:cNvGrpSpPr/>
          <p:nvPr/>
        </p:nvGrpSpPr>
        <p:grpSpPr>
          <a:xfrm>
            <a:off x="676275" y="4010025"/>
            <a:ext cx="4819650" cy="1743075"/>
            <a:chOff x="676275" y="4010025"/>
            <a:chExt cx="4819650" cy="1743075"/>
          </a:xfrm>
        </p:grpSpPr>
        <p:sp>
          <p:nvSpPr>
            <p:cNvPr id="65" name="枠_ライト"/>
            <p:cNvSpPr/>
            <p:nvPr/>
          </p:nvSpPr>
          <p:spPr>
            <a:xfrm>
              <a:off x="676275" y="4191000"/>
              <a:ext cx="154305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76275" y="4286250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ライト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76275" y="4495800"/>
              <a:ext cx="13144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¥980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76275" y="4781550"/>
              <a:ext cx="15430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/月（税抜）</a:t>
              </a:r>
            </a:p>
          </p:txBody>
        </p:sp>
        <p:cxnSp>
          <p:nvCxnSpPr>
            <p:cNvPr id="69" name="仕切_ライト"/>
            <p:cNvCxnSpPr/>
            <p:nvPr/>
          </p:nvCxnSpPr>
          <p:spPr>
            <a:xfrm>
              <a:off x="828675" y="4972050"/>
              <a:ext cx="123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ライト_1ユーザー"/>
            <p:cNvSpPr/>
            <p:nvPr/>
          </p:nvSpPr>
          <p:spPr>
            <a:xfrm>
              <a:off x="676275" y="50292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1ユーザー</a:t>
              </a:r>
            </a:p>
          </p:txBody>
        </p:sp>
        <p:sp>
          <p:nvSpPr>
            <p:cNvPr id="71" name="ライト_メールサポート"/>
            <p:cNvSpPr/>
            <p:nvPr/>
          </p:nvSpPr>
          <p:spPr>
            <a:xfrm>
              <a:off x="676275" y="523875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メールサポート</a:t>
              </a:r>
            </a:p>
          </p:txBody>
        </p:sp>
        <p:sp>
          <p:nvSpPr>
            <p:cNvPr id="72" name="ライト_基本レポート"/>
            <p:cNvSpPr/>
            <p:nvPr/>
          </p:nvSpPr>
          <p:spPr>
            <a:xfrm>
              <a:off x="676275" y="54483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基本レポート</a:t>
              </a:r>
            </a:p>
          </p:txBody>
        </p:sp>
        <p:sp>
          <p:nvSpPr>
            <p:cNvPr id="73" name="枠_スタンダード（強調）"/>
            <p:cNvSpPr/>
            <p:nvPr/>
          </p:nvSpPr>
          <p:spPr>
            <a:xfrm>
              <a:off x="2257425" y="4114800"/>
              <a:ext cx="1657350" cy="1638300"/>
            </a:xfrm>
            <a:prstGeom prst="roundRect">
              <a:avLst>
                <a:gd name="adj" fmla="val 4651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314575" y="4286250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スタンダード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314575" y="4495800"/>
              <a:ext cx="13144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¥2,980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314575" y="4781550"/>
              <a:ext cx="15430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/月（税抜）</a:t>
              </a:r>
            </a:p>
          </p:txBody>
        </p:sp>
        <p:cxnSp>
          <p:nvCxnSpPr>
            <p:cNvPr id="77" name="仕切_スタンダード"/>
            <p:cNvCxnSpPr/>
            <p:nvPr/>
          </p:nvCxnSpPr>
          <p:spPr>
            <a:xfrm>
              <a:off x="2466975" y="4972050"/>
              <a:ext cx="123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スタンダード_10ユーザー"/>
            <p:cNvSpPr/>
            <p:nvPr/>
          </p:nvSpPr>
          <p:spPr>
            <a:xfrm>
              <a:off x="2314575" y="50292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10ユーザー</a:t>
              </a:r>
            </a:p>
          </p:txBody>
        </p:sp>
        <p:sp>
          <p:nvSpPr>
            <p:cNvPr id="79" name="スタンダード_チャットサポート"/>
            <p:cNvSpPr/>
            <p:nvPr/>
          </p:nvSpPr>
          <p:spPr>
            <a:xfrm>
              <a:off x="2314575" y="523875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チャットサポート</a:t>
              </a:r>
            </a:p>
          </p:txBody>
        </p:sp>
        <p:sp>
          <p:nvSpPr>
            <p:cNvPr id="80" name="スタンダード_分析レポート"/>
            <p:cNvSpPr/>
            <p:nvPr/>
          </p:nvSpPr>
          <p:spPr>
            <a:xfrm>
              <a:off x="2314575" y="54483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分析レポート</a:t>
              </a:r>
            </a:p>
          </p:txBody>
        </p:sp>
        <p:sp>
          <p:nvSpPr>
            <p:cNvPr id="81" name="枠_プロ"/>
            <p:cNvSpPr/>
            <p:nvPr/>
          </p:nvSpPr>
          <p:spPr>
            <a:xfrm>
              <a:off x="3952875" y="4191000"/>
              <a:ext cx="154305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952875" y="4286250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プロ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952875" y="4495800"/>
              <a:ext cx="13144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¥9,800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952875" y="4781550"/>
              <a:ext cx="15430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/月（税抜）</a:t>
              </a:r>
            </a:p>
          </p:txBody>
        </p:sp>
        <p:cxnSp>
          <p:nvCxnSpPr>
            <p:cNvPr id="85" name="仕切_プロ"/>
            <p:cNvCxnSpPr/>
            <p:nvPr/>
          </p:nvCxnSpPr>
          <p:spPr>
            <a:xfrm>
              <a:off x="4105275" y="4972050"/>
              <a:ext cx="12382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プロ_無制限"/>
            <p:cNvSpPr/>
            <p:nvPr/>
          </p:nvSpPr>
          <p:spPr>
            <a:xfrm>
              <a:off x="3952875" y="50292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無制限</a:t>
              </a:r>
            </a:p>
          </p:txBody>
        </p:sp>
        <p:sp>
          <p:nvSpPr>
            <p:cNvPr id="87" name="プロ_専任サポート"/>
            <p:cNvSpPr/>
            <p:nvPr/>
          </p:nvSpPr>
          <p:spPr>
            <a:xfrm>
              <a:off x="3952875" y="523875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専任サポート</a:t>
              </a:r>
            </a:p>
          </p:txBody>
        </p:sp>
        <p:sp>
          <p:nvSpPr>
            <p:cNvPr id="88" name="プロ_カスタムレポート"/>
            <p:cNvSpPr/>
            <p:nvPr/>
          </p:nvSpPr>
          <p:spPr>
            <a:xfrm>
              <a:off x="3952875" y="5448300"/>
              <a:ext cx="1543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dk1"/>
                  </a:solidFill>
                </a:rPr>
                <a:t>カスタムレポート</a:t>
              </a:r>
            </a:p>
          </p:txBody>
        </p:sp>
        <p:sp>
          <p:nvSpPr>
            <p:cNvPr id="89" name="推奨チップ"/>
            <p:cNvSpPr/>
            <p:nvPr/>
          </p:nvSpPr>
          <p:spPr>
            <a:xfrm>
              <a:off x="2819400" y="4010025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819400" y="4019550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推奨</a:t>
              </a:r>
            </a:p>
          </p:txBody>
        </p:sp>
      </p:grpSp>
      <p:sp>
        <p:nvSpPr>
          <p:cNvPr id="91" name="Rectangle 90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価格3プラン表｜真ん中を推す（線強調＋朱チップは1スライド1点）</a:t>
            </a:r>
          </a:p>
        </p:txBody>
      </p:sp>
      <p:grpSp>
        <p:nvGrpSpPr>
          <p:cNvPr id="92" name="表04_最小罫線表"/>
          <p:cNvGrpSpPr/>
          <p:nvPr/>
        </p:nvGrpSpPr>
        <p:grpSpPr>
          <a:xfrm>
            <a:off x="6600825" y="4171950"/>
            <a:ext cx="4819650" cy="1695450"/>
            <a:chOff x="6600825" y="4171950"/>
            <a:chExt cx="4819650" cy="1695450"/>
          </a:xfrm>
        </p:grpSpPr>
        <p:cxnSp>
          <p:nvCxnSpPr>
            <p:cNvPr id="93" name="天罫"/>
            <p:cNvCxnSpPr/>
            <p:nvPr/>
          </p:nvCxnSpPr>
          <p:spPr>
            <a:xfrm>
              <a:off x="6600825" y="4171950"/>
              <a:ext cx="481965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93"/>
            <p:cNvSpPr/>
            <p:nvPr/>
          </p:nvSpPr>
          <p:spPr>
            <a:xfrm>
              <a:off x="6600825" y="4171950"/>
              <a:ext cx="10668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年度</a:t>
              </a:r>
            </a:p>
          </p:txBody>
        </p:sp>
        <p:sp>
          <p:nvSpPr>
            <p:cNvPr id="95" name="見出し_売上高"/>
            <p:cNvSpPr/>
            <p:nvPr/>
          </p:nvSpPr>
          <p:spPr>
            <a:xfrm>
              <a:off x="7743825" y="4171950"/>
              <a:ext cx="1143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売上高</a:t>
              </a:r>
            </a:p>
          </p:txBody>
        </p:sp>
        <p:sp>
          <p:nvSpPr>
            <p:cNvPr id="96" name="見出し_営業利益"/>
            <p:cNvSpPr/>
            <p:nvPr/>
          </p:nvSpPr>
          <p:spPr>
            <a:xfrm>
              <a:off x="9020175" y="4171950"/>
              <a:ext cx="1143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営業利益</a:t>
              </a:r>
            </a:p>
          </p:txBody>
        </p:sp>
        <p:sp>
          <p:nvSpPr>
            <p:cNvPr id="97" name="見出し_利益率"/>
            <p:cNvSpPr/>
            <p:nvPr/>
          </p:nvSpPr>
          <p:spPr>
            <a:xfrm>
              <a:off x="10296525" y="4171950"/>
              <a:ext cx="9906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利益率</a:t>
              </a:r>
            </a:p>
          </p:txBody>
        </p:sp>
        <p:cxnSp>
          <p:nvCxnSpPr>
            <p:cNvPr id="98" name="ヘッダ下罫"/>
            <p:cNvCxnSpPr/>
            <p:nvPr/>
          </p:nvCxnSpPr>
          <p:spPr>
            <a:xfrm>
              <a:off x="6600825" y="4438650"/>
              <a:ext cx="4819650" cy="0"/>
            </a:xfrm>
            <a:prstGeom prst="bentConnector3">
              <a:avLst/>
            </a:prstGeom>
            <a:ln w="9525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/>
            <p:cNvSpPr/>
            <p:nvPr/>
          </p:nvSpPr>
          <p:spPr>
            <a:xfrm>
              <a:off x="6600825" y="443865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FY23</a:t>
              </a:r>
            </a:p>
          </p:txBody>
        </p:sp>
        <p:sp>
          <p:nvSpPr>
            <p:cNvPr id="100" name="FY23_売上高"/>
            <p:cNvSpPr/>
            <p:nvPr/>
          </p:nvSpPr>
          <p:spPr>
            <a:xfrm>
              <a:off x="7743825" y="44386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12,400</a:t>
              </a:r>
            </a:p>
          </p:txBody>
        </p:sp>
        <p:sp>
          <p:nvSpPr>
            <p:cNvPr id="101" name="FY23_営業利益"/>
            <p:cNvSpPr/>
            <p:nvPr/>
          </p:nvSpPr>
          <p:spPr>
            <a:xfrm>
              <a:off x="9020175" y="44386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1,120</a:t>
              </a:r>
            </a:p>
          </p:txBody>
        </p:sp>
        <p:sp>
          <p:nvSpPr>
            <p:cNvPr id="102" name="FY23_利益率"/>
            <p:cNvSpPr/>
            <p:nvPr/>
          </p:nvSpPr>
          <p:spPr>
            <a:xfrm>
              <a:off x="10296525" y="443865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9.0%</a:t>
              </a:r>
            </a:p>
          </p:txBody>
        </p:sp>
        <p:cxnSp>
          <p:nvCxnSpPr>
            <p:cNvPr id="103" name="罫線_FY23"/>
            <p:cNvCxnSpPr/>
            <p:nvPr/>
          </p:nvCxnSpPr>
          <p:spPr>
            <a:xfrm>
              <a:off x="6600825" y="4743450"/>
              <a:ext cx="4819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/>
            <p:cNvSpPr/>
            <p:nvPr/>
          </p:nvSpPr>
          <p:spPr>
            <a:xfrm>
              <a:off x="6600825" y="474345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FY24</a:t>
              </a:r>
            </a:p>
          </p:txBody>
        </p:sp>
        <p:sp>
          <p:nvSpPr>
            <p:cNvPr id="105" name="FY24_売上高"/>
            <p:cNvSpPr/>
            <p:nvPr/>
          </p:nvSpPr>
          <p:spPr>
            <a:xfrm>
              <a:off x="7743825" y="47434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13,900</a:t>
              </a:r>
            </a:p>
          </p:txBody>
        </p:sp>
        <p:sp>
          <p:nvSpPr>
            <p:cNvPr id="106" name="FY24_営業利益"/>
            <p:cNvSpPr/>
            <p:nvPr/>
          </p:nvSpPr>
          <p:spPr>
            <a:xfrm>
              <a:off x="9020175" y="47434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1,480</a:t>
              </a:r>
            </a:p>
          </p:txBody>
        </p:sp>
        <p:sp>
          <p:nvSpPr>
            <p:cNvPr id="107" name="FY24_利益率"/>
            <p:cNvSpPr/>
            <p:nvPr/>
          </p:nvSpPr>
          <p:spPr>
            <a:xfrm>
              <a:off x="10296525" y="474345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10.6%</a:t>
              </a:r>
            </a:p>
          </p:txBody>
        </p:sp>
        <p:cxnSp>
          <p:nvCxnSpPr>
            <p:cNvPr id="108" name="罫線_FY24"/>
            <p:cNvCxnSpPr/>
            <p:nvPr/>
          </p:nvCxnSpPr>
          <p:spPr>
            <a:xfrm>
              <a:off x="6600825" y="5048250"/>
              <a:ext cx="4819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/>
            <p:cNvSpPr/>
            <p:nvPr/>
          </p:nvSpPr>
          <p:spPr>
            <a:xfrm>
              <a:off x="6600825" y="504825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FY25</a:t>
              </a:r>
            </a:p>
          </p:txBody>
        </p:sp>
        <p:sp>
          <p:nvSpPr>
            <p:cNvPr id="110" name="FY25_売上高"/>
            <p:cNvSpPr/>
            <p:nvPr/>
          </p:nvSpPr>
          <p:spPr>
            <a:xfrm>
              <a:off x="7743825" y="50482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15,800</a:t>
              </a:r>
            </a:p>
          </p:txBody>
        </p:sp>
        <p:sp>
          <p:nvSpPr>
            <p:cNvPr id="111" name="FY25_営業利益"/>
            <p:cNvSpPr/>
            <p:nvPr/>
          </p:nvSpPr>
          <p:spPr>
            <a:xfrm>
              <a:off x="9020175" y="50482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2,050</a:t>
              </a:r>
            </a:p>
          </p:txBody>
        </p:sp>
        <p:sp>
          <p:nvSpPr>
            <p:cNvPr id="112" name="FY25_利益率"/>
            <p:cNvSpPr/>
            <p:nvPr/>
          </p:nvSpPr>
          <p:spPr>
            <a:xfrm>
              <a:off x="10296525" y="504825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13.0%</a:t>
              </a:r>
            </a:p>
          </p:txBody>
        </p:sp>
        <p:cxnSp>
          <p:nvCxnSpPr>
            <p:cNvPr id="113" name="罫線_FY25"/>
            <p:cNvCxnSpPr/>
            <p:nvPr/>
          </p:nvCxnSpPr>
          <p:spPr>
            <a:xfrm>
              <a:off x="6600825" y="5353050"/>
              <a:ext cx="48196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/>
            <p:cNvSpPr/>
            <p:nvPr/>
          </p:nvSpPr>
          <p:spPr>
            <a:xfrm>
              <a:off x="6600825" y="5353050"/>
              <a:ext cx="10668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FY26予</a:t>
              </a:r>
            </a:p>
          </p:txBody>
        </p:sp>
        <p:sp>
          <p:nvSpPr>
            <p:cNvPr id="115" name="FY26予_売上高"/>
            <p:cNvSpPr/>
            <p:nvPr/>
          </p:nvSpPr>
          <p:spPr>
            <a:xfrm>
              <a:off x="7743825" y="53530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18,000</a:t>
              </a:r>
            </a:p>
          </p:txBody>
        </p:sp>
        <p:sp>
          <p:nvSpPr>
            <p:cNvPr id="116" name="FY26予_営業利益"/>
            <p:cNvSpPr/>
            <p:nvPr/>
          </p:nvSpPr>
          <p:spPr>
            <a:xfrm>
              <a:off x="9020175" y="5353050"/>
              <a:ext cx="11430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2,700</a:t>
              </a:r>
            </a:p>
          </p:txBody>
        </p:sp>
        <p:sp>
          <p:nvSpPr>
            <p:cNvPr id="117" name="FY26予_利益率"/>
            <p:cNvSpPr/>
            <p:nvPr/>
          </p:nvSpPr>
          <p:spPr>
            <a:xfrm>
              <a:off x="10296525" y="535305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15.0%</a:t>
              </a:r>
            </a:p>
          </p:txBody>
        </p:sp>
        <p:cxnSp>
          <p:nvCxnSpPr>
            <p:cNvPr id="118" name="地罫"/>
            <p:cNvCxnSpPr/>
            <p:nvPr/>
          </p:nvCxnSpPr>
          <p:spPr>
            <a:xfrm>
              <a:off x="6600825" y="5657850"/>
              <a:ext cx="481965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単位注記"/>
            <p:cNvSpPr/>
            <p:nvPr/>
          </p:nvSpPr>
          <p:spPr>
            <a:xfrm>
              <a:off x="6600825" y="5734050"/>
              <a:ext cx="48196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単位：百万円</a:t>
              </a:r>
            </a:p>
          </p:txBody>
        </p:sp>
      </p:grpSp>
      <p:sp>
        <p:nvSpPr>
          <p:cNvPr id="120" name="Rectangle 119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最小罫線表｜横罫のみ・数字は右揃え（コンサル標準の美しい表）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パーツ図鑑｜⑫ 表デザイン — 運用の表4種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数字は右揃え・テキストは左揃えが読みやすい</a:t>
            </a:r>
          </a:p>
        </p:txBody>
      </p:sp>
      <p:grpSp>
        <p:nvGrpSpPr>
          <p:cNvPr id="5" name="表05_スケジュール表"/>
          <p:cNvGrpSpPr/>
          <p:nvPr/>
        </p:nvGrpSpPr>
        <p:grpSpPr>
          <a:xfrm>
            <a:off x="619125" y="1238250"/>
            <a:ext cx="5276850" cy="1771650"/>
            <a:chOff x="619125" y="1238250"/>
            <a:chExt cx="5276850" cy="1771650"/>
          </a:xfrm>
        </p:grpSpPr>
        <p:sp>
          <p:nvSpPr>
            <p:cNvPr id="6" name="月ヘッダ帯"/>
            <p:cNvSpPr/>
            <p:nvPr/>
          </p:nvSpPr>
          <p:spPr>
            <a:xfrm>
              <a:off x="1666875" y="1238250"/>
              <a:ext cx="42291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687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1月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7172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2月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7657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3月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8142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4月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8627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5月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91125" y="1285875"/>
              <a:ext cx="704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6月</a:t>
              </a:r>
            </a:p>
          </p:txBody>
        </p:sp>
        <p:cxnSp>
          <p:nvCxnSpPr>
            <p:cNvPr id="13" name="月目盛1"/>
            <p:cNvCxnSpPr/>
            <p:nvPr/>
          </p:nvCxnSpPr>
          <p:spPr>
            <a:xfrm>
              <a:off x="166687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月目盛2"/>
            <p:cNvCxnSpPr/>
            <p:nvPr/>
          </p:nvCxnSpPr>
          <p:spPr>
            <a:xfrm>
              <a:off x="237172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月目盛3"/>
            <p:cNvCxnSpPr/>
            <p:nvPr/>
          </p:nvCxnSpPr>
          <p:spPr>
            <a:xfrm>
              <a:off x="307657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月目盛4"/>
            <p:cNvCxnSpPr/>
            <p:nvPr/>
          </p:nvCxnSpPr>
          <p:spPr>
            <a:xfrm>
              <a:off x="378142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月目盛5"/>
            <p:cNvCxnSpPr/>
            <p:nvPr/>
          </p:nvCxnSpPr>
          <p:spPr>
            <a:xfrm>
              <a:off x="448627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月目盛6"/>
            <p:cNvCxnSpPr/>
            <p:nvPr/>
          </p:nvCxnSpPr>
          <p:spPr>
            <a:xfrm>
              <a:off x="519112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月目盛7"/>
            <p:cNvCxnSpPr/>
            <p:nvPr/>
          </p:nvCxnSpPr>
          <p:spPr>
            <a:xfrm>
              <a:off x="5895975" y="1485900"/>
              <a:ext cx="0" cy="1524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619125" y="1590675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要件定義</a:t>
              </a:r>
            </a:p>
          </p:txBody>
        </p:sp>
        <p:sp>
          <p:nvSpPr>
            <p:cNvPr id="21" name="バー_要件定義"/>
            <p:cNvSpPr/>
            <p:nvPr/>
          </p:nvSpPr>
          <p:spPr>
            <a:xfrm>
              <a:off x="1704975" y="1590675"/>
              <a:ext cx="981075" cy="1714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罫線_要件定義"/>
            <p:cNvCxnSpPr/>
            <p:nvPr/>
          </p:nvCxnSpPr>
          <p:spPr>
            <a:xfrm>
              <a:off x="619125" y="1866900"/>
              <a:ext cx="52768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619125" y="1971675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設計・開発</a:t>
              </a:r>
            </a:p>
          </p:txBody>
        </p:sp>
        <p:sp>
          <p:nvSpPr>
            <p:cNvPr id="24" name="バー_設計・開発"/>
            <p:cNvSpPr/>
            <p:nvPr/>
          </p:nvSpPr>
          <p:spPr>
            <a:xfrm>
              <a:off x="2409825" y="1971675"/>
              <a:ext cx="1685925" cy="171450"/>
            </a:xfrm>
            <a:prstGeom prst="roundRect">
              <a:avLst>
                <a:gd name="adj" fmla="val 22222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罫線_設計・開発"/>
            <p:cNvCxnSpPr/>
            <p:nvPr/>
          </p:nvCxnSpPr>
          <p:spPr>
            <a:xfrm>
              <a:off x="619125" y="2247900"/>
              <a:ext cx="52768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619125" y="2352675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テスト検証</a:t>
              </a:r>
            </a:p>
          </p:txBody>
        </p:sp>
        <p:sp>
          <p:nvSpPr>
            <p:cNvPr id="27" name="バー_テスト検証"/>
            <p:cNvSpPr/>
            <p:nvPr/>
          </p:nvSpPr>
          <p:spPr>
            <a:xfrm>
              <a:off x="3819525" y="2352675"/>
              <a:ext cx="981075" cy="171450"/>
            </a:xfrm>
            <a:prstGeom prst="roundRect">
              <a:avLst>
                <a:gd name="adj" fmla="val 22222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罫線_テスト検証"/>
            <p:cNvCxnSpPr/>
            <p:nvPr/>
          </p:nvCxnSpPr>
          <p:spPr>
            <a:xfrm>
              <a:off x="619125" y="2628900"/>
              <a:ext cx="52768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619125" y="2733675"/>
              <a:ext cx="952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リリース準備</a:t>
              </a:r>
            </a:p>
          </p:txBody>
        </p:sp>
        <p:sp>
          <p:nvSpPr>
            <p:cNvPr id="30" name="バー_リリース準備"/>
            <p:cNvSpPr/>
            <p:nvPr/>
          </p:nvSpPr>
          <p:spPr>
            <a:xfrm>
              <a:off x="4876800" y="2733675"/>
              <a:ext cx="981075" cy="1714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罫線_リリース準備"/>
            <p:cNvCxnSpPr/>
            <p:nvPr/>
          </p:nvCxnSpPr>
          <p:spPr>
            <a:xfrm>
              <a:off x="619125" y="3009900"/>
              <a:ext cx="52768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スケジュール表｜行=タスク×列=月（帯=期間。行・列は増減可）</a:t>
            </a:r>
          </a:p>
        </p:txBody>
      </p:sp>
      <p:grpSp>
        <p:nvGrpSpPr>
          <p:cNvPr id="33" name="表06_評価マトリクス"/>
          <p:cNvGrpSpPr/>
          <p:nvPr/>
        </p:nvGrpSpPr>
        <p:grpSpPr>
          <a:xfrm>
            <a:off x="6600825" y="1200150"/>
            <a:ext cx="4724400" cy="1809750"/>
            <a:chOff x="6600825" y="1200150"/>
            <a:chExt cx="4724400" cy="1809750"/>
          </a:xfrm>
        </p:grpSpPr>
        <p:sp>
          <p:nvSpPr>
            <p:cNvPr id="34" name="ヘッダ帯"/>
            <p:cNvSpPr/>
            <p:nvPr/>
          </p:nvSpPr>
          <p:spPr>
            <a:xfrm>
              <a:off x="6600825" y="1200150"/>
              <a:ext cx="47244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15125" y="1200150"/>
              <a:ext cx="14668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評価項目</a:t>
              </a:r>
            </a:p>
          </p:txBody>
        </p:sp>
        <p:sp>
          <p:nvSpPr>
            <p:cNvPr id="36" name="見出し_重み"/>
            <p:cNvSpPr/>
            <p:nvPr/>
          </p:nvSpPr>
          <p:spPr>
            <a:xfrm>
              <a:off x="8220075" y="1200150"/>
              <a:ext cx="8572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重み</a:t>
              </a:r>
            </a:p>
          </p:txBody>
        </p:sp>
        <p:sp>
          <p:nvSpPr>
            <p:cNvPr id="37" name="見出し_A案"/>
            <p:cNvSpPr/>
            <p:nvPr/>
          </p:nvSpPr>
          <p:spPr>
            <a:xfrm>
              <a:off x="9077325" y="1200150"/>
              <a:ext cx="11239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A案</a:t>
              </a:r>
            </a:p>
          </p:txBody>
        </p:sp>
        <p:sp>
          <p:nvSpPr>
            <p:cNvPr id="38" name="見出し_B案"/>
            <p:cNvSpPr/>
            <p:nvPr/>
          </p:nvSpPr>
          <p:spPr>
            <a:xfrm>
              <a:off x="10201275" y="1200150"/>
              <a:ext cx="11239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B案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715125" y="1466850"/>
              <a:ext cx="1466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導入コスト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20075" y="1466850"/>
              <a:ext cx="857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30%</a:t>
              </a:r>
            </a:p>
          </p:txBody>
        </p:sp>
        <p:sp>
          <p:nvSpPr>
            <p:cNvPr id="41" name="導入コスト_A"/>
            <p:cNvSpPr/>
            <p:nvPr/>
          </p:nvSpPr>
          <p:spPr>
            <a:xfrm>
              <a:off x="9077325" y="14668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3</a:t>
              </a:r>
            </a:p>
          </p:txBody>
        </p:sp>
        <p:sp>
          <p:nvSpPr>
            <p:cNvPr id="42" name="導入コスト_B"/>
            <p:cNvSpPr/>
            <p:nvPr/>
          </p:nvSpPr>
          <p:spPr>
            <a:xfrm>
              <a:off x="10201275" y="14668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5</a:t>
              </a:r>
            </a:p>
          </p:txBody>
        </p:sp>
        <p:cxnSp>
          <p:nvCxnSpPr>
            <p:cNvPr id="43" name="罫線_導入コスト"/>
            <p:cNvCxnSpPr/>
            <p:nvPr/>
          </p:nvCxnSpPr>
          <p:spPr>
            <a:xfrm>
              <a:off x="6600825" y="177165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6715125" y="1771650"/>
              <a:ext cx="1466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拡張性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220075" y="1771650"/>
              <a:ext cx="857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25%</a:t>
              </a:r>
            </a:p>
          </p:txBody>
        </p:sp>
        <p:sp>
          <p:nvSpPr>
            <p:cNvPr id="46" name="拡張性_A"/>
            <p:cNvSpPr/>
            <p:nvPr/>
          </p:nvSpPr>
          <p:spPr>
            <a:xfrm>
              <a:off x="9077325" y="17716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4</a:t>
              </a:r>
            </a:p>
          </p:txBody>
        </p:sp>
        <p:sp>
          <p:nvSpPr>
            <p:cNvPr id="47" name="拡張性_B"/>
            <p:cNvSpPr/>
            <p:nvPr/>
          </p:nvSpPr>
          <p:spPr>
            <a:xfrm>
              <a:off x="10201275" y="17716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4</a:t>
              </a:r>
            </a:p>
          </p:txBody>
        </p:sp>
        <p:cxnSp>
          <p:nvCxnSpPr>
            <p:cNvPr id="48" name="罫線_拡張性"/>
            <p:cNvCxnSpPr/>
            <p:nvPr/>
          </p:nvCxnSpPr>
          <p:spPr>
            <a:xfrm>
              <a:off x="6600825" y="207645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6715125" y="2076450"/>
              <a:ext cx="1466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運用負荷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220075" y="2076450"/>
              <a:ext cx="857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25%</a:t>
              </a:r>
            </a:p>
          </p:txBody>
        </p:sp>
        <p:sp>
          <p:nvSpPr>
            <p:cNvPr id="51" name="運用負荷_A"/>
            <p:cNvSpPr/>
            <p:nvPr/>
          </p:nvSpPr>
          <p:spPr>
            <a:xfrm>
              <a:off x="9077325" y="20764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3</a:t>
              </a:r>
            </a:p>
          </p:txBody>
        </p:sp>
        <p:sp>
          <p:nvSpPr>
            <p:cNvPr id="52" name="運用負荷_B"/>
            <p:cNvSpPr/>
            <p:nvPr/>
          </p:nvSpPr>
          <p:spPr>
            <a:xfrm>
              <a:off x="10201275" y="20764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4</a:t>
              </a:r>
            </a:p>
          </p:txBody>
        </p:sp>
        <p:cxnSp>
          <p:nvCxnSpPr>
            <p:cNvPr id="53" name="罫線_運用負荷"/>
            <p:cNvCxnSpPr/>
            <p:nvPr/>
          </p:nvCxnSpPr>
          <p:spPr>
            <a:xfrm>
              <a:off x="6600825" y="238125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6715125" y="2381250"/>
              <a:ext cx="1466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導入実績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220075" y="2381250"/>
              <a:ext cx="857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20%</a:t>
              </a:r>
            </a:p>
          </p:txBody>
        </p:sp>
        <p:sp>
          <p:nvSpPr>
            <p:cNvPr id="56" name="導入実績_A"/>
            <p:cNvSpPr/>
            <p:nvPr/>
          </p:nvSpPr>
          <p:spPr>
            <a:xfrm>
              <a:off x="9077325" y="23812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5</a:t>
              </a:r>
            </a:p>
          </p:txBody>
        </p:sp>
        <p:sp>
          <p:nvSpPr>
            <p:cNvPr id="57" name="導入実績_B"/>
            <p:cNvSpPr/>
            <p:nvPr/>
          </p:nvSpPr>
          <p:spPr>
            <a:xfrm>
              <a:off x="10201275" y="2381250"/>
              <a:ext cx="1123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3</a:t>
              </a:r>
            </a:p>
          </p:txBody>
        </p:sp>
        <p:cxnSp>
          <p:nvCxnSpPr>
            <p:cNvPr id="58" name="罫線_導入実績"/>
            <p:cNvCxnSpPr/>
            <p:nvPr/>
          </p:nvCxnSpPr>
          <p:spPr>
            <a:xfrm>
              <a:off x="6600825" y="2686050"/>
              <a:ext cx="4724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合計行帯"/>
            <p:cNvSpPr/>
            <p:nvPr/>
          </p:nvSpPr>
          <p:spPr>
            <a:xfrm>
              <a:off x="6600825" y="2686050"/>
              <a:ext cx="4724400" cy="3238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715125" y="2686050"/>
              <a:ext cx="14668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加重合計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220075" y="2686050"/>
              <a:ext cx="8572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100%</a:t>
              </a:r>
            </a:p>
          </p:txBody>
        </p:sp>
        <p:sp>
          <p:nvSpPr>
            <p:cNvPr id="62" name="合計_A"/>
            <p:cNvSpPr/>
            <p:nvPr/>
          </p:nvSpPr>
          <p:spPr>
            <a:xfrm>
              <a:off x="9077325" y="2686050"/>
              <a:ext cx="11239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4"/>
                  </a:solidFill>
                </a:rPr>
                <a:t>3.7</a:t>
              </a:r>
            </a:p>
          </p:txBody>
        </p:sp>
        <p:sp>
          <p:nvSpPr>
            <p:cNvPr id="63" name="合計_B"/>
            <p:cNvSpPr/>
            <p:nvPr/>
          </p:nvSpPr>
          <p:spPr>
            <a:xfrm>
              <a:off x="10201275" y="2686050"/>
              <a:ext cx="112395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4.1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評価マトリクス｜重み×点数で採点し、合計行（濃色）で結論を出す</a:t>
            </a:r>
          </a:p>
        </p:txBody>
      </p:sp>
      <p:grpSp>
        <p:nvGrpSpPr>
          <p:cNvPr id="65" name="表07_アジェンダ表"/>
          <p:cNvGrpSpPr/>
          <p:nvPr/>
        </p:nvGrpSpPr>
        <p:grpSpPr>
          <a:xfrm>
            <a:off x="676275" y="4152900"/>
            <a:ext cx="5010150" cy="1676400"/>
            <a:chOff x="676275" y="4152900"/>
            <a:chExt cx="5010150" cy="1676400"/>
          </a:xfrm>
        </p:grpSpPr>
        <p:sp>
          <p:nvSpPr>
            <p:cNvPr id="66" name="ヘッダ帯"/>
            <p:cNvSpPr/>
            <p:nvPr/>
          </p:nvSpPr>
          <p:spPr>
            <a:xfrm>
              <a:off x="676275" y="4152900"/>
              <a:ext cx="50101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90575" y="4152900"/>
              <a:ext cx="8001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時刻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590675" y="4152900"/>
              <a:ext cx="22479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議題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838575" y="4152900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担当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886325" y="415290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所要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90575" y="4400550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14:00</a:t>
              </a:r>
            </a:p>
          </p:txBody>
        </p:sp>
        <p:sp>
          <p:nvSpPr>
            <p:cNvPr id="72" name="議題_14:00"/>
            <p:cNvSpPr/>
            <p:nvPr/>
          </p:nvSpPr>
          <p:spPr>
            <a:xfrm>
              <a:off x="1590675" y="4400550"/>
              <a:ext cx="21526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オープニング・目的共有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38575" y="4400550"/>
              <a:ext cx="1047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事務局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886325" y="4400550"/>
              <a:ext cx="66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5分</a:t>
              </a:r>
            </a:p>
          </p:txBody>
        </p:sp>
        <p:cxnSp>
          <p:nvCxnSpPr>
            <p:cNvPr id="75" name="罫線_14:00"/>
            <p:cNvCxnSpPr/>
            <p:nvPr/>
          </p:nvCxnSpPr>
          <p:spPr>
            <a:xfrm>
              <a:off x="676275" y="46863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790575" y="4686300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14:05</a:t>
              </a:r>
            </a:p>
          </p:txBody>
        </p:sp>
        <p:sp>
          <p:nvSpPr>
            <p:cNvPr id="77" name="議題_14:05"/>
            <p:cNvSpPr/>
            <p:nvPr/>
          </p:nvSpPr>
          <p:spPr>
            <a:xfrm>
              <a:off x="1590675" y="4686300"/>
              <a:ext cx="21526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前回宿題の確認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3838575" y="4686300"/>
              <a:ext cx="1047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各部門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886325" y="4686300"/>
              <a:ext cx="66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10分</a:t>
              </a:r>
            </a:p>
          </p:txBody>
        </p:sp>
        <p:cxnSp>
          <p:nvCxnSpPr>
            <p:cNvPr id="80" name="罫線_14:05"/>
            <p:cNvCxnSpPr/>
            <p:nvPr/>
          </p:nvCxnSpPr>
          <p:spPr>
            <a:xfrm>
              <a:off x="676275" y="49720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/>
            <p:cNvSpPr/>
            <p:nvPr/>
          </p:nvSpPr>
          <p:spPr>
            <a:xfrm>
              <a:off x="790575" y="4972050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14:15</a:t>
              </a:r>
            </a:p>
          </p:txBody>
        </p:sp>
        <p:sp>
          <p:nvSpPr>
            <p:cNvPr id="82" name="議題_14:15"/>
            <p:cNvSpPr/>
            <p:nvPr/>
          </p:nvSpPr>
          <p:spPr>
            <a:xfrm>
              <a:off x="1590675" y="4972050"/>
              <a:ext cx="21526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論点討議：来期方針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38575" y="4972050"/>
              <a:ext cx="1047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全員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4886325" y="4972050"/>
              <a:ext cx="66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30分</a:t>
              </a:r>
            </a:p>
          </p:txBody>
        </p:sp>
        <p:cxnSp>
          <p:nvCxnSpPr>
            <p:cNvPr id="85" name="罫線_14:15"/>
            <p:cNvCxnSpPr/>
            <p:nvPr/>
          </p:nvCxnSpPr>
          <p:spPr>
            <a:xfrm>
              <a:off x="676275" y="52578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790575" y="5257800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14:45</a:t>
              </a:r>
            </a:p>
          </p:txBody>
        </p:sp>
        <p:sp>
          <p:nvSpPr>
            <p:cNvPr id="87" name="議題_14:45"/>
            <p:cNvSpPr/>
            <p:nvPr/>
          </p:nvSpPr>
          <p:spPr>
            <a:xfrm>
              <a:off x="1590675" y="5257800"/>
              <a:ext cx="21526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決定事項・宿題の確認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838575" y="5257800"/>
              <a:ext cx="1047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議長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886325" y="5257800"/>
              <a:ext cx="66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10分</a:t>
              </a:r>
            </a:p>
          </p:txBody>
        </p:sp>
        <p:cxnSp>
          <p:nvCxnSpPr>
            <p:cNvPr id="90" name="罫線_14:45"/>
            <p:cNvCxnSpPr/>
            <p:nvPr/>
          </p:nvCxnSpPr>
          <p:spPr>
            <a:xfrm>
              <a:off x="676275" y="554355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/>
            <p:cNvSpPr/>
            <p:nvPr/>
          </p:nvSpPr>
          <p:spPr>
            <a:xfrm>
              <a:off x="790575" y="5543550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14:55</a:t>
              </a:r>
            </a:p>
          </p:txBody>
        </p:sp>
        <p:sp>
          <p:nvSpPr>
            <p:cNvPr id="92" name="議題_14:55"/>
            <p:cNvSpPr/>
            <p:nvPr/>
          </p:nvSpPr>
          <p:spPr>
            <a:xfrm>
              <a:off x="1590675" y="5543550"/>
              <a:ext cx="21526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次回日程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38575" y="5543550"/>
              <a:ext cx="1047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事務局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886325" y="5543550"/>
              <a:ext cx="66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5分</a:t>
              </a:r>
            </a:p>
          </p:txBody>
        </p:sp>
        <p:cxnSp>
          <p:nvCxnSpPr>
            <p:cNvPr id="95" name="罫線_14:55"/>
            <p:cNvCxnSpPr/>
            <p:nvPr/>
          </p:nvCxnSpPr>
          <p:spPr>
            <a:xfrm>
              <a:off x="676275" y="58293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アジェンダ表｜時刻・議題・担当・所要（会議冒頭の定番）</a:t>
            </a:r>
          </a:p>
        </p:txBody>
      </p:sp>
      <p:grpSp>
        <p:nvGrpSpPr>
          <p:cNvPr id="97" name="表08_ゼブラ表"/>
          <p:cNvGrpSpPr/>
          <p:nvPr/>
        </p:nvGrpSpPr>
        <p:grpSpPr>
          <a:xfrm>
            <a:off x="6505575" y="4152900"/>
            <a:ext cx="5010150" cy="1676400"/>
            <a:chOff x="6505575" y="4152900"/>
            <a:chExt cx="5010150" cy="1676400"/>
          </a:xfrm>
        </p:grpSpPr>
        <p:sp>
          <p:nvSpPr>
            <p:cNvPr id="98" name="ゼブラ1"/>
            <p:cNvSpPr/>
            <p:nvPr/>
          </p:nvSpPr>
          <p:spPr>
            <a:xfrm>
              <a:off x="6505575" y="4400550"/>
              <a:ext cx="50101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ゼブラ3"/>
            <p:cNvSpPr/>
            <p:nvPr/>
          </p:nvSpPr>
          <p:spPr>
            <a:xfrm>
              <a:off x="6505575" y="4972050"/>
              <a:ext cx="50101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ゼブラ5"/>
            <p:cNvSpPr/>
            <p:nvPr/>
          </p:nvSpPr>
          <p:spPr>
            <a:xfrm>
              <a:off x="6505575" y="5543550"/>
              <a:ext cx="50101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ヘッダ帯"/>
            <p:cNvSpPr/>
            <p:nvPr/>
          </p:nvSpPr>
          <p:spPr>
            <a:xfrm>
              <a:off x="6505575" y="4152900"/>
              <a:ext cx="5010150" cy="2476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619875" y="4152900"/>
              <a:ext cx="15049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商品名</a:t>
              </a:r>
            </a:p>
          </p:txBody>
        </p:sp>
        <p:sp>
          <p:nvSpPr>
            <p:cNvPr id="103" name="見出し_売上（百万円）"/>
            <p:cNvSpPr/>
            <p:nvPr/>
          </p:nvSpPr>
          <p:spPr>
            <a:xfrm>
              <a:off x="8124825" y="4152900"/>
              <a:ext cx="1028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売上（百万円）</a:t>
              </a:r>
            </a:p>
          </p:txBody>
        </p:sp>
        <p:sp>
          <p:nvSpPr>
            <p:cNvPr id="104" name="見出し_前年比"/>
            <p:cNvSpPr/>
            <p:nvPr/>
          </p:nvSpPr>
          <p:spPr>
            <a:xfrm>
              <a:off x="9286875" y="4152900"/>
              <a:ext cx="971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前年比</a:t>
              </a:r>
            </a:p>
          </p:txBody>
        </p:sp>
        <p:sp>
          <p:nvSpPr>
            <p:cNvPr id="105" name="見出し_構成比"/>
            <p:cNvSpPr/>
            <p:nvPr/>
          </p:nvSpPr>
          <p:spPr>
            <a:xfrm>
              <a:off x="10391775" y="4152900"/>
              <a:ext cx="990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構成比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619875" y="4400550"/>
              <a:ext cx="1504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プロダクトA</a:t>
              </a:r>
            </a:p>
          </p:txBody>
        </p:sp>
        <p:sp>
          <p:nvSpPr>
            <p:cNvPr id="107" name="プロダクトA_1"/>
            <p:cNvSpPr/>
            <p:nvPr/>
          </p:nvSpPr>
          <p:spPr>
            <a:xfrm>
              <a:off x="8124825" y="440055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1,240</a:t>
              </a:r>
            </a:p>
          </p:txBody>
        </p:sp>
        <p:sp>
          <p:nvSpPr>
            <p:cNvPr id="108" name="プロダクトA_2"/>
            <p:cNvSpPr/>
            <p:nvPr/>
          </p:nvSpPr>
          <p:spPr>
            <a:xfrm>
              <a:off x="9286875" y="4400550"/>
              <a:ext cx="9715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+12.4%</a:t>
              </a:r>
            </a:p>
          </p:txBody>
        </p:sp>
        <p:sp>
          <p:nvSpPr>
            <p:cNvPr id="109" name="プロダクトA_3"/>
            <p:cNvSpPr/>
            <p:nvPr/>
          </p:nvSpPr>
          <p:spPr>
            <a:xfrm>
              <a:off x="10391775" y="4400550"/>
              <a:ext cx="990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38.2%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619875" y="4686300"/>
              <a:ext cx="1504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プロダクトB</a:t>
              </a:r>
            </a:p>
          </p:txBody>
        </p:sp>
        <p:sp>
          <p:nvSpPr>
            <p:cNvPr id="111" name="プロダクトB_1"/>
            <p:cNvSpPr/>
            <p:nvPr/>
          </p:nvSpPr>
          <p:spPr>
            <a:xfrm>
              <a:off x="8124825" y="468630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860</a:t>
              </a:r>
            </a:p>
          </p:txBody>
        </p:sp>
        <p:sp>
          <p:nvSpPr>
            <p:cNvPr id="112" name="プロダクトB_2"/>
            <p:cNvSpPr/>
            <p:nvPr/>
          </p:nvSpPr>
          <p:spPr>
            <a:xfrm>
              <a:off x="9286875" y="4686300"/>
              <a:ext cx="9715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+4.1%</a:t>
              </a:r>
            </a:p>
          </p:txBody>
        </p:sp>
        <p:sp>
          <p:nvSpPr>
            <p:cNvPr id="113" name="プロダクトB_3"/>
            <p:cNvSpPr/>
            <p:nvPr/>
          </p:nvSpPr>
          <p:spPr>
            <a:xfrm>
              <a:off x="10391775" y="4686300"/>
              <a:ext cx="990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26.5%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619875" y="4972050"/>
              <a:ext cx="1504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プロダクトC</a:t>
              </a:r>
            </a:p>
          </p:txBody>
        </p:sp>
        <p:sp>
          <p:nvSpPr>
            <p:cNvPr id="115" name="プロダクトC_1"/>
            <p:cNvSpPr/>
            <p:nvPr/>
          </p:nvSpPr>
          <p:spPr>
            <a:xfrm>
              <a:off x="8124825" y="497205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540</a:t>
              </a:r>
            </a:p>
          </p:txBody>
        </p:sp>
        <p:sp>
          <p:nvSpPr>
            <p:cNvPr id="116" name="プロダクトC_2"/>
            <p:cNvSpPr/>
            <p:nvPr/>
          </p:nvSpPr>
          <p:spPr>
            <a:xfrm>
              <a:off x="9286875" y="4972050"/>
              <a:ext cx="9715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−2.8%</a:t>
              </a:r>
            </a:p>
          </p:txBody>
        </p:sp>
        <p:sp>
          <p:nvSpPr>
            <p:cNvPr id="117" name="プロダクトC_3"/>
            <p:cNvSpPr/>
            <p:nvPr/>
          </p:nvSpPr>
          <p:spPr>
            <a:xfrm>
              <a:off x="10391775" y="4972050"/>
              <a:ext cx="990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16.6%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619875" y="5257800"/>
              <a:ext cx="1504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保守サービス</a:t>
              </a:r>
            </a:p>
          </p:txBody>
        </p:sp>
        <p:sp>
          <p:nvSpPr>
            <p:cNvPr id="119" name="保守サービス_1"/>
            <p:cNvSpPr/>
            <p:nvPr/>
          </p:nvSpPr>
          <p:spPr>
            <a:xfrm>
              <a:off x="8124825" y="525780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380</a:t>
              </a:r>
            </a:p>
          </p:txBody>
        </p:sp>
        <p:sp>
          <p:nvSpPr>
            <p:cNvPr id="120" name="保守サービス_2"/>
            <p:cNvSpPr/>
            <p:nvPr/>
          </p:nvSpPr>
          <p:spPr>
            <a:xfrm>
              <a:off x="9286875" y="5257800"/>
              <a:ext cx="9715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+8.9%</a:t>
              </a:r>
            </a:p>
          </p:txBody>
        </p:sp>
        <p:sp>
          <p:nvSpPr>
            <p:cNvPr id="121" name="保守サービス_3"/>
            <p:cNvSpPr/>
            <p:nvPr/>
          </p:nvSpPr>
          <p:spPr>
            <a:xfrm>
              <a:off x="10391775" y="5257800"/>
              <a:ext cx="990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11.7%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619875" y="5543550"/>
              <a:ext cx="15049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その他</a:t>
              </a:r>
            </a:p>
          </p:txBody>
        </p:sp>
        <p:sp>
          <p:nvSpPr>
            <p:cNvPr id="123" name="その他_1"/>
            <p:cNvSpPr/>
            <p:nvPr/>
          </p:nvSpPr>
          <p:spPr>
            <a:xfrm>
              <a:off x="8124825" y="5543550"/>
              <a:ext cx="1028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226</a:t>
              </a:r>
            </a:p>
          </p:txBody>
        </p:sp>
        <p:sp>
          <p:nvSpPr>
            <p:cNvPr id="124" name="その他_2"/>
            <p:cNvSpPr/>
            <p:nvPr/>
          </p:nvSpPr>
          <p:spPr>
            <a:xfrm>
              <a:off x="9286875" y="5543550"/>
              <a:ext cx="9715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+1.2%</a:t>
              </a:r>
            </a:p>
          </p:txBody>
        </p:sp>
        <p:sp>
          <p:nvSpPr>
            <p:cNvPr id="125" name="その他_3"/>
            <p:cNvSpPr/>
            <p:nvPr/>
          </p:nvSpPr>
          <p:spPr>
            <a:xfrm>
              <a:off x="10391775" y="5543550"/>
              <a:ext cx="990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7.0%</a:t>
              </a:r>
            </a:p>
          </p:txBody>
        </p:sp>
        <p:cxnSp>
          <p:nvCxnSpPr>
            <p:cNvPr id="126" name="末尾罫線"/>
            <p:cNvCxnSpPr/>
            <p:nvPr/>
          </p:nvCxnSpPr>
          <p:spPr>
            <a:xfrm>
              <a:off x="6505575" y="5829300"/>
              <a:ext cx="5010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Rectangle 126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データ一覧ゼブラ表｜数字は右揃え・テキストは左揃え（読み手の目線が揃う）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費用対効果で最も優れるC案なら、10月に全社展開できる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8572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このスライドの部品もすべてコピーして使えます</a:t>
            </a:r>
          </a:p>
        </p:txBody>
      </p:sp>
      <p:grpSp>
        <p:nvGrpSpPr>
          <p:cNvPr id="5" name="使用例_比較表"/>
          <p:cNvGrpSpPr/>
          <p:nvPr/>
        </p:nvGrpSpPr>
        <p:grpSpPr>
          <a:xfrm>
            <a:off x="571500" y="1333500"/>
            <a:ext cx="5524500" cy="2324100"/>
            <a:chOff x="571500" y="1333500"/>
            <a:chExt cx="5524500" cy="2324100"/>
          </a:xfrm>
        </p:grpSpPr>
        <p:sp>
          <p:nvSpPr>
            <p:cNvPr id="6" name="推奨列淡地"/>
            <p:cNvSpPr/>
            <p:nvPr/>
          </p:nvSpPr>
          <p:spPr>
            <a:xfrm>
              <a:off x="4572000" y="1676400"/>
              <a:ext cx="152400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ヘッダ帯"/>
            <p:cNvSpPr/>
            <p:nvPr/>
          </p:nvSpPr>
          <p:spPr>
            <a:xfrm>
              <a:off x="571500" y="1333500"/>
              <a:ext cx="5524500" cy="342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見出し_比較項目"/>
            <p:cNvSpPr/>
            <p:nvPr/>
          </p:nvSpPr>
          <p:spPr>
            <a:xfrm>
              <a:off x="571500" y="1333500"/>
              <a:ext cx="1333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比較項目</a:t>
              </a:r>
            </a:p>
          </p:txBody>
        </p:sp>
        <p:sp>
          <p:nvSpPr>
            <p:cNvPr id="9" name="見出し_A案：増員"/>
            <p:cNvSpPr/>
            <p:nvPr/>
          </p:nvSpPr>
          <p:spPr>
            <a:xfrm>
              <a:off x="1905000" y="1333500"/>
              <a:ext cx="1333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A案：増員</a:t>
              </a:r>
            </a:p>
          </p:txBody>
        </p:sp>
        <p:sp>
          <p:nvSpPr>
            <p:cNvPr id="10" name="見出し_B案：外注"/>
            <p:cNvSpPr/>
            <p:nvPr/>
          </p:nvSpPr>
          <p:spPr>
            <a:xfrm>
              <a:off x="3238500" y="1333500"/>
              <a:ext cx="1333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B案：外注</a:t>
              </a:r>
            </a:p>
          </p:txBody>
        </p:sp>
        <p:sp>
          <p:nvSpPr>
            <p:cNvPr id="11" name="見出し_C案：AI活用"/>
            <p:cNvSpPr/>
            <p:nvPr/>
          </p:nvSpPr>
          <p:spPr>
            <a:xfrm>
              <a:off x="4572000" y="1333500"/>
              <a:ext cx="10096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C案：AI活用</a:t>
              </a:r>
            </a:p>
          </p:txBody>
        </p:sp>
        <p:sp>
          <p:nvSpPr>
            <p:cNvPr id="12" name="推奨チップ"/>
            <p:cNvSpPr/>
            <p:nvPr/>
          </p:nvSpPr>
          <p:spPr>
            <a:xfrm>
              <a:off x="5581650" y="1400175"/>
              <a:ext cx="4381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81650" y="1409700"/>
              <a:ext cx="4381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850" y="1676400"/>
              <a:ext cx="11620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初期費用</a:t>
              </a:r>
            </a:p>
          </p:txBody>
        </p:sp>
        <p:sp>
          <p:nvSpPr>
            <p:cNvPr id="15" name="初期費用_A案"/>
            <p:cNvSpPr/>
            <p:nvPr/>
          </p:nvSpPr>
          <p:spPr>
            <a:xfrm>
              <a:off x="1905000" y="16764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120万円</a:t>
              </a:r>
            </a:p>
          </p:txBody>
        </p:sp>
        <p:sp>
          <p:nvSpPr>
            <p:cNvPr id="16" name="初期費用_B案"/>
            <p:cNvSpPr/>
            <p:nvPr/>
          </p:nvSpPr>
          <p:spPr>
            <a:xfrm>
              <a:off x="3238500" y="16764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200万円</a:t>
              </a:r>
            </a:p>
          </p:txBody>
        </p:sp>
        <p:sp>
          <p:nvSpPr>
            <p:cNvPr id="17" name="初期費用_C案"/>
            <p:cNvSpPr/>
            <p:nvPr/>
          </p:nvSpPr>
          <p:spPr>
            <a:xfrm>
              <a:off x="4572000" y="16764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380万円</a:t>
              </a:r>
            </a:p>
          </p:txBody>
        </p:sp>
        <p:cxnSp>
          <p:nvCxnSpPr>
            <p:cNvPr id="18" name="罫線_初期費用"/>
            <p:cNvCxnSpPr/>
            <p:nvPr/>
          </p:nvCxnSpPr>
          <p:spPr>
            <a:xfrm>
              <a:off x="571500" y="2171700"/>
              <a:ext cx="5524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704850" y="2171700"/>
              <a:ext cx="11620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年間費用</a:t>
              </a:r>
            </a:p>
          </p:txBody>
        </p:sp>
        <p:sp>
          <p:nvSpPr>
            <p:cNvPr id="20" name="年間費用_A案"/>
            <p:cNvSpPr/>
            <p:nvPr/>
          </p:nvSpPr>
          <p:spPr>
            <a:xfrm>
              <a:off x="1905000" y="21717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960万円</a:t>
              </a:r>
            </a:p>
          </p:txBody>
        </p:sp>
        <p:sp>
          <p:nvSpPr>
            <p:cNvPr id="21" name="年間費用_B案"/>
            <p:cNvSpPr/>
            <p:nvPr/>
          </p:nvSpPr>
          <p:spPr>
            <a:xfrm>
              <a:off x="3238500" y="21717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1,440万円</a:t>
              </a:r>
            </a:p>
          </p:txBody>
        </p:sp>
        <p:sp>
          <p:nvSpPr>
            <p:cNvPr id="22" name="年間費用_C案"/>
            <p:cNvSpPr/>
            <p:nvPr/>
          </p:nvSpPr>
          <p:spPr>
            <a:xfrm>
              <a:off x="4572000" y="21717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480万円</a:t>
              </a:r>
            </a:p>
          </p:txBody>
        </p:sp>
        <p:cxnSp>
          <p:nvCxnSpPr>
            <p:cNvPr id="23" name="罫線_年間費用"/>
            <p:cNvCxnSpPr/>
            <p:nvPr/>
          </p:nvCxnSpPr>
          <p:spPr>
            <a:xfrm>
              <a:off x="571500" y="2667000"/>
              <a:ext cx="5524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704850" y="2667000"/>
              <a:ext cx="11620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削減効果</a:t>
              </a:r>
            </a:p>
          </p:txBody>
        </p:sp>
        <p:sp>
          <p:nvSpPr>
            <p:cNvPr id="25" name="削減効果_A案"/>
            <p:cNvSpPr/>
            <p:nvPr/>
          </p:nvSpPr>
          <p:spPr>
            <a:xfrm>
              <a:off x="1905000" y="26670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−20%</a:t>
              </a:r>
            </a:p>
          </p:txBody>
        </p:sp>
        <p:sp>
          <p:nvSpPr>
            <p:cNvPr id="26" name="削減効果_B案"/>
            <p:cNvSpPr/>
            <p:nvPr/>
          </p:nvSpPr>
          <p:spPr>
            <a:xfrm>
              <a:off x="3238500" y="26670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−35%</a:t>
              </a:r>
            </a:p>
          </p:txBody>
        </p:sp>
        <p:sp>
          <p:nvSpPr>
            <p:cNvPr id="27" name="削減効果_C案"/>
            <p:cNvSpPr/>
            <p:nvPr/>
          </p:nvSpPr>
          <p:spPr>
            <a:xfrm>
              <a:off x="4572000" y="26670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−50%</a:t>
              </a:r>
            </a:p>
          </p:txBody>
        </p:sp>
        <p:cxnSp>
          <p:nvCxnSpPr>
            <p:cNvPr id="28" name="罫線_削減効果"/>
            <p:cNvCxnSpPr/>
            <p:nvPr/>
          </p:nvCxnSpPr>
          <p:spPr>
            <a:xfrm>
              <a:off x="571500" y="3162300"/>
              <a:ext cx="5524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704850" y="3162300"/>
              <a:ext cx="11620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総合評価</a:t>
              </a:r>
            </a:p>
          </p:txBody>
        </p:sp>
        <p:sp>
          <p:nvSpPr>
            <p:cNvPr id="30" name="総合評価_A案"/>
            <p:cNvSpPr/>
            <p:nvPr/>
          </p:nvSpPr>
          <p:spPr>
            <a:xfrm>
              <a:off x="1905000" y="31623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31" name="総合評価_B案"/>
            <p:cNvSpPr/>
            <p:nvPr/>
          </p:nvSpPr>
          <p:spPr>
            <a:xfrm>
              <a:off x="3238500" y="3162300"/>
              <a:ext cx="1333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>
                  <a:solidFill>
                    <a:schemeClr val="accent5"/>
                  </a:solidFill>
                </a:rPr>
                <a:t>○</a:t>
              </a:r>
            </a:p>
          </p:txBody>
        </p:sp>
        <p:sp>
          <p:nvSpPr>
            <p:cNvPr id="32" name="総合評価_C案"/>
            <p:cNvSpPr/>
            <p:nvPr/>
          </p:nvSpPr>
          <p:spPr>
            <a:xfrm>
              <a:off x="4572000" y="3162300"/>
              <a:ext cx="1524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33" name="罫線_総合評価"/>
            <p:cNvCxnSpPr/>
            <p:nvPr/>
          </p:nvCxnSpPr>
          <p:spPr>
            <a:xfrm>
              <a:off x="571500" y="3657600"/>
              <a:ext cx="5524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571500" y="3771900"/>
            <a:ext cx="5524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出所：各方式の市場水準をもとに社内試算（2026年6月）</a:t>
            </a:r>
          </a:p>
        </p:txBody>
      </p:sp>
      <p:grpSp>
        <p:nvGrpSpPr>
          <p:cNvPr id="35" name="使用例_スケジュール表"/>
          <p:cNvGrpSpPr/>
          <p:nvPr/>
        </p:nvGrpSpPr>
        <p:grpSpPr>
          <a:xfrm>
            <a:off x="6572250" y="1104900"/>
            <a:ext cx="5143500" cy="2476500"/>
            <a:chOff x="6572250" y="1104900"/>
            <a:chExt cx="5143500" cy="2476500"/>
          </a:xfrm>
        </p:grpSpPr>
        <p:sp>
          <p:nvSpPr>
            <p:cNvPr id="36" name="表タイトル"/>
            <p:cNvSpPr/>
            <p:nvPr/>
          </p:nvSpPr>
          <p:spPr>
            <a:xfrm>
              <a:off x="6572250" y="110490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C案採用時の移行スケジュール</a:t>
              </a:r>
            </a:p>
          </p:txBody>
        </p:sp>
        <p:sp>
          <p:nvSpPr>
            <p:cNvPr id="37" name="月ヘッダ帯"/>
            <p:cNvSpPr/>
            <p:nvPr/>
          </p:nvSpPr>
          <p:spPr>
            <a:xfrm>
              <a:off x="7715250" y="1333500"/>
              <a:ext cx="40005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715250" y="1390650"/>
              <a:ext cx="10001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7月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715375" y="1390650"/>
              <a:ext cx="10001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8月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715500" y="1390650"/>
              <a:ext cx="10001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9月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715625" y="1390650"/>
              <a:ext cx="10001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10月</a:t>
              </a:r>
            </a:p>
          </p:txBody>
        </p:sp>
        <p:cxnSp>
          <p:nvCxnSpPr>
            <p:cNvPr id="42" name="月目盛1"/>
            <p:cNvCxnSpPr/>
            <p:nvPr/>
          </p:nvCxnSpPr>
          <p:spPr>
            <a:xfrm>
              <a:off x="7715250" y="1600200"/>
              <a:ext cx="0" cy="1981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月目盛2"/>
            <p:cNvCxnSpPr/>
            <p:nvPr/>
          </p:nvCxnSpPr>
          <p:spPr>
            <a:xfrm>
              <a:off x="8715375" y="1600200"/>
              <a:ext cx="0" cy="1981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月目盛3"/>
            <p:cNvCxnSpPr/>
            <p:nvPr/>
          </p:nvCxnSpPr>
          <p:spPr>
            <a:xfrm>
              <a:off x="9715500" y="1600200"/>
              <a:ext cx="0" cy="1981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月目盛4"/>
            <p:cNvCxnSpPr/>
            <p:nvPr/>
          </p:nvCxnSpPr>
          <p:spPr>
            <a:xfrm>
              <a:off x="10715625" y="1600200"/>
              <a:ext cx="0" cy="1981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月目盛5"/>
            <p:cNvCxnSpPr/>
            <p:nvPr/>
          </p:nvCxnSpPr>
          <p:spPr>
            <a:xfrm>
              <a:off x="11715750" y="1600200"/>
              <a:ext cx="0" cy="19812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6572250" y="176212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契約・準備</a:t>
              </a:r>
            </a:p>
          </p:txBody>
        </p:sp>
        <p:sp>
          <p:nvSpPr>
            <p:cNvPr id="48" name="バー_契約・準備"/>
            <p:cNvSpPr/>
            <p:nvPr/>
          </p:nvSpPr>
          <p:spPr>
            <a:xfrm>
              <a:off x="7762875" y="1752600"/>
              <a:ext cx="704850" cy="1905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罫線_契約・準備"/>
            <p:cNvCxnSpPr/>
            <p:nvPr/>
          </p:nvCxnSpPr>
          <p:spPr>
            <a:xfrm>
              <a:off x="6572250" y="20955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>
              <a:off x="6572250" y="225742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データ移行</a:t>
              </a:r>
            </a:p>
          </p:txBody>
        </p:sp>
        <p:sp>
          <p:nvSpPr>
            <p:cNvPr id="51" name="バー_データ移行"/>
            <p:cNvSpPr/>
            <p:nvPr/>
          </p:nvSpPr>
          <p:spPr>
            <a:xfrm>
              <a:off x="8262937" y="2247900"/>
              <a:ext cx="1404937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罫線_データ移行"/>
            <p:cNvCxnSpPr/>
            <p:nvPr/>
          </p:nvCxnSpPr>
          <p:spPr>
            <a:xfrm>
              <a:off x="6572250" y="2590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6572250" y="275272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教育・研修</a:t>
              </a:r>
            </a:p>
          </p:txBody>
        </p:sp>
        <p:sp>
          <p:nvSpPr>
            <p:cNvPr id="54" name="バー_教育・研修"/>
            <p:cNvSpPr/>
            <p:nvPr/>
          </p:nvSpPr>
          <p:spPr>
            <a:xfrm>
              <a:off x="9763125" y="2743200"/>
              <a:ext cx="904875" cy="19050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罫線_教育・研修"/>
            <p:cNvCxnSpPr/>
            <p:nvPr/>
          </p:nvCxnSpPr>
          <p:spPr>
            <a:xfrm>
              <a:off x="6572250" y="30861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6572250" y="324802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全社展開</a:t>
              </a:r>
            </a:p>
          </p:txBody>
        </p:sp>
        <p:sp>
          <p:nvSpPr>
            <p:cNvPr id="57" name="バー_全社展開"/>
            <p:cNvSpPr/>
            <p:nvPr/>
          </p:nvSpPr>
          <p:spPr>
            <a:xfrm>
              <a:off x="10763250" y="3238500"/>
              <a:ext cx="904875" cy="190500"/>
            </a:xfrm>
            <a:prstGeom prst="roundRect">
              <a:avLst>
                <a:gd name="adj" fmla="val 2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罫線_全社展開"/>
            <p:cNvCxnSpPr/>
            <p:nvPr/>
          </p:nvCxnSpPr>
          <p:spPr>
            <a:xfrm>
              <a:off x="6572250" y="35814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使用例_結論"/>
          <p:cNvGrpSpPr/>
          <p:nvPr/>
        </p:nvGrpSpPr>
        <p:grpSpPr>
          <a:xfrm>
            <a:off x="571500" y="4667250"/>
            <a:ext cx="6096000" cy="1047750"/>
            <a:chOff x="571500" y="4667250"/>
            <a:chExt cx="6096000" cy="1047750"/>
          </a:xfrm>
        </p:grpSpPr>
        <p:sp>
          <p:nvSpPr>
            <p:cNvPr id="60" name="結論パネル"/>
            <p:cNvSpPr/>
            <p:nvPr/>
          </p:nvSpPr>
          <p:spPr>
            <a:xfrm>
              <a:off x="571500" y="4667250"/>
              <a:ext cx="6096000" cy="1047750"/>
            </a:xfrm>
            <a:prstGeom prst="roundRect">
              <a:avLst>
                <a:gd name="adj" fmla="val 909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38200" y="4876800"/>
              <a:ext cx="5562600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 b="1">
                  <a:solidFill>
                    <a:schemeClr val="lt1"/>
                  </a:solidFill>
                </a:rPr>
                <a:t>初期費用はC案が最大だが、年間費用と削減効果で</a:t>
              </a:r>
            </a:p>
            <a:p>
              <a:pPr algn="l">
                <a:lnSpc>
                  <a:spcPct val="150000"/>
                </a:lnSpc>
              </a:pPr>
              <a:r>
                <a:rPr sz="1250" b="1">
                  <a:solidFill>
                    <a:schemeClr val="lt1"/>
                  </a:solidFill>
                </a:rPr>
                <a:t>2年目以降の差は拡大する。8月中の契約で10月展開に間に合う。</a:t>
              </a:r>
            </a:p>
          </p:txBody>
        </p:sp>
      </p:grpSp>
      <p:grpSp>
        <p:nvGrpSpPr>
          <p:cNvPr id="62" name="使用例_前提"/>
          <p:cNvGrpSpPr/>
          <p:nvPr/>
        </p:nvGrpSpPr>
        <p:grpSpPr>
          <a:xfrm>
            <a:off x="7048500" y="4667250"/>
            <a:ext cx="4572000" cy="1047750"/>
            <a:chOff x="7048500" y="4667250"/>
            <a:chExt cx="4572000" cy="1047750"/>
          </a:xfrm>
        </p:grpSpPr>
        <p:sp>
          <p:nvSpPr>
            <p:cNvPr id="63" name="前提カード"/>
            <p:cNvSpPr/>
            <p:nvPr/>
          </p:nvSpPr>
          <p:spPr>
            <a:xfrm>
              <a:off x="7048500" y="4667250"/>
              <a:ext cx="4572000" cy="1047750"/>
            </a:xfrm>
            <a:prstGeom prst="roundRect">
              <a:avLst>
                <a:gd name="adj" fmla="val 909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277100" y="4800600"/>
              <a:ext cx="4114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移行の前提条件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277100" y="5029200"/>
              <a:ext cx="41148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・現行データの整備は8月末までに完了</a:t>
              </a:r>
            </a:p>
            <a:p>
              <a:pPr algn="l">
                <a:lnSpc>
                  <a:spcPct val="160000"/>
                </a:lnSpc>
              </a:pPr>
              <a:r>
                <a:rPr sz="1000">
                  <a:solidFill>
                    <a:schemeClr val="dk1"/>
                  </a:solidFill>
                </a:rPr>
                <a:t>・教育は9月に2回実施（全部門対象）</a:t>
              </a:r>
            </a:p>
          </p:txBody>
        </p:sp>
      </p:grpSp>
      <p:sp>
        <p:nvSpPr>
          <p:cNvPr id="66" name="Rectangle 65"/>
          <p:cNvSpPr/>
          <p:nvPr/>
        </p:nvSpPr>
        <p:spPr>
          <a:xfrm>
            <a:off x="390525" y="641985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パーツ図鑑｜⑫ 表デザイン — 組み込み例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パーツ図鑑｜⑬ グラフの空枠 — 基本4種（棒・折れ線）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配色は「デザイン＞配色」の変更に全グラフが追従します</a:t>
            </a:r>
          </a:p>
        </p:txBody>
      </p:sp>
      <p:grpSp>
        <p:nvGrpSpPr>
          <p:cNvPr id="5" name="グラフ01_縦棒"/>
          <p:cNvGrpSpPr/>
          <p:nvPr/>
        </p:nvGrpSpPr>
        <p:grpSpPr>
          <a:xfrm>
            <a:off x="600075" y="933450"/>
            <a:ext cx="4972050" cy="2257425"/>
            <a:chOff x="600075" y="933450"/>
            <a:chExt cx="4972050" cy="2257425"/>
          </a:xfrm>
        </p:grpSpPr>
        <p:sp>
          <p:nvSpPr>
            <p:cNvPr id="6" name="図タイトル"/>
            <p:cNvSpPr/>
            <p:nvPr/>
          </p:nvSpPr>
          <p:spPr>
            <a:xfrm>
              <a:off x="6762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図タイトル（単位：億円）</a:t>
              </a:r>
            </a:p>
          </p:txBody>
        </p:sp>
        <p:cxnSp>
          <p:nvCxnSpPr>
            <p:cNvPr id="7" name="目盛線4.0"/>
            <p:cNvCxnSpPr/>
            <p:nvPr/>
          </p:nvCxnSpPr>
          <p:spPr>
            <a:xfrm>
              <a:off x="1000125" y="1866900"/>
              <a:ext cx="45720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目盛4.0"/>
            <p:cNvSpPr/>
            <p:nvPr/>
          </p:nvSpPr>
          <p:spPr>
            <a:xfrm>
              <a:off x="600075" y="1800225"/>
              <a:ext cx="361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4.0</a:t>
              </a:r>
            </a:p>
          </p:txBody>
        </p:sp>
        <p:sp>
          <p:nvSpPr>
            <p:cNvPr id="9" name="目盛0"/>
            <p:cNvSpPr/>
            <p:nvPr/>
          </p:nvSpPr>
          <p:spPr>
            <a:xfrm>
              <a:off x="600075" y="2714625"/>
              <a:ext cx="361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0" name="棒1"/>
            <p:cNvSpPr/>
            <p:nvPr/>
          </p:nvSpPr>
          <p:spPr>
            <a:xfrm>
              <a:off x="1304925" y="2049780"/>
              <a:ext cx="514350" cy="7315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値1"/>
            <p:cNvSpPr/>
            <p:nvPr/>
          </p:nvSpPr>
          <p:spPr>
            <a:xfrm>
              <a:off x="1152525" y="187833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3.2</a:t>
              </a:r>
            </a:p>
          </p:txBody>
        </p:sp>
        <p:sp>
          <p:nvSpPr>
            <p:cNvPr id="12" name="項目1"/>
            <p:cNvSpPr/>
            <p:nvPr/>
          </p:nvSpPr>
          <p:spPr>
            <a:xfrm>
              <a:off x="1152525" y="284797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FY22</a:t>
              </a:r>
            </a:p>
          </p:txBody>
        </p:sp>
        <p:sp>
          <p:nvSpPr>
            <p:cNvPr id="13" name="棒2"/>
            <p:cNvSpPr/>
            <p:nvPr/>
          </p:nvSpPr>
          <p:spPr>
            <a:xfrm>
              <a:off x="2143125" y="1844040"/>
              <a:ext cx="514350" cy="937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値2"/>
            <p:cNvSpPr/>
            <p:nvPr/>
          </p:nvSpPr>
          <p:spPr>
            <a:xfrm>
              <a:off x="1990725" y="167259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4.1</a:t>
              </a:r>
            </a:p>
          </p:txBody>
        </p:sp>
        <p:sp>
          <p:nvSpPr>
            <p:cNvPr id="15" name="項目2"/>
            <p:cNvSpPr/>
            <p:nvPr/>
          </p:nvSpPr>
          <p:spPr>
            <a:xfrm>
              <a:off x="1990725" y="284797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FY23</a:t>
              </a:r>
            </a:p>
          </p:txBody>
        </p:sp>
        <p:sp>
          <p:nvSpPr>
            <p:cNvPr id="16" name="棒3"/>
            <p:cNvSpPr/>
            <p:nvPr/>
          </p:nvSpPr>
          <p:spPr>
            <a:xfrm>
              <a:off x="2981325" y="1912620"/>
              <a:ext cx="514350" cy="8686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3"/>
            <p:cNvSpPr/>
            <p:nvPr/>
          </p:nvSpPr>
          <p:spPr>
            <a:xfrm>
              <a:off x="2828925" y="174117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3.8</a:t>
              </a:r>
            </a:p>
          </p:txBody>
        </p:sp>
        <p:sp>
          <p:nvSpPr>
            <p:cNvPr id="18" name="項目3"/>
            <p:cNvSpPr/>
            <p:nvPr/>
          </p:nvSpPr>
          <p:spPr>
            <a:xfrm>
              <a:off x="2828925" y="284797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FY24</a:t>
              </a:r>
            </a:p>
          </p:txBody>
        </p:sp>
        <p:sp>
          <p:nvSpPr>
            <p:cNvPr id="19" name="棒4"/>
            <p:cNvSpPr/>
            <p:nvPr/>
          </p:nvSpPr>
          <p:spPr>
            <a:xfrm>
              <a:off x="3819525" y="1729740"/>
              <a:ext cx="514350" cy="10515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値4"/>
            <p:cNvSpPr/>
            <p:nvPr/>
          </p:nvSpPr>
          <p:spPr>
            <a:xfrm>
              <a:off x="3667125" y="1558290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4.6</a:t>
              </a:r>
            </a:p>
          </p:txBody>
        </p:sp>
        <p:sp>
          <p:nvSpPr>
            <p:cNvPr id="21" name="項目4"/>
            <p:cNvSpPr/>
            <p:nvPr/>
          </p:nvSpPr>
          <p:spPr>
            <a:xfrm>
              <a:off x="3667125" y="284797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FY25</a:t>
              </a:r>
            </a:p>
          </p:txBody>
        </p:sp>
        <p:sp>
          <p:nvSpPr>
            <p:cNvPr id="22" name="棒5"/>
            <p:cNvSpPr/>
            <p:nvPr/>
          </p:nvSpPr>
          <p:spPr>
            <a:xfrm>
              <a:off x="4657725" y="1432559"/>
              <a:ext cx="514350" cy="13487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5"/>
            <p:cNvSpPr/>
            <p:nvPr/>
          </p:nvSpPr>
          <p:spPr>
            <a:xfrm>
              <a:off x="4505325" y="1261109"/>
              <a:ext cx="8191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5.9</a:t>
              </a:r>
            </a:p>
          </p:txBody>
        </p:sp>
        <p:sp>
          <p:nvSpPr>
            <p:cNvPr id="24" name="項目5"/>
            <p:cNvSpPr/>
            <p:nvPr/>
          </p:nvSpPr>
          <p:spPr>
            <a:xfrm>
              <a:off x="4505325" y="284797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FY26</a:t>
              </a:r>
            </a:p>
          </p:txBody>
        </p:sp>
        <p:cxnSp>
          <p:nvCxnSpPr>
            <p:cNvPr id="25" name="基準線"/>
            <p:cNvCxnSpPr/>
            <p:nvPr/>
          </p:nvCxnSpPr>
          <p:spPr>
            <a:xfrm>
              <a:off x="1000125" y="2781300"/>
              <a:ext cx="4572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出典行"/>
            <p:cNvSpPr/>
            <p:nvPr/>
          </p:nvSpPr>
          <p:spPr>
            <a:xfrm>
              <a:off x="6762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 縦棒｜大小・推移：言いたい1本だけ濃く、他は淡色</a:t>
            </a:r>
          </a:p>
        </p:txBody>
      </p:sp>
      <p:grpSp>
        <p:nvGrpSpPr>
          <p:cNvPr id="28" name="グラフ02_横棒"/>
          <p:cNvGrpSpPr/>
          <p:nvPr/>
        </p:nvGrpSpPr>
        <p:grpSpPr>
          <a:xfrm>
            <a:off x="6486525" y="933450"/>
            <a:ext cx="4760595" cy="2257425"/>
            <a:chOff x="6486525" y="933450"/>
            <a:chExt cx="4760595" cy="2257425"/>
          </a:xfrm>
        </p:grpSpPr>
        <p:sp>
          <p:nvSpPr>
            <p:cNvPr id="29" name="図タイトル"/>
            <p:cNvSpPr/>
            <p:nvPr/>
          </p:nvSpPr>
          <p:spPr>
            <a:xfrm>
              <a:off x="65055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図タイトル（単位：件）</a:t>
              </a:r>
            </a:p>
          </p:txBody>
        </p:sp>
        <p:cxnSp>
          <p:nvCxnSpPr>
            <p:cNvPr id="30" name="目盛線50"/>
            <p:cNvCxnSpPr/>
            <p:nvPr/>
          </p:nvCxnSpPr>
          <p:spPr>
            <a:xfrm>
              <a:off x="9505950" y="1181100"/>
              <a:ext cx="0" cy="1590675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目盛50"/>
            <p:cNvSpPr/>
            <p:nvPr/>
          </p:nvSpPr>
          <p:spPr>
            <a:xfrm>
              <a:off x="9315450" y="282892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50</a:t>
              </a:r>
            </a:p>
          </p:txBody>
        </p:sp>
        <p:sp>
          <p:nvSpPr>
            <p:cNvPr id="32" name="目盛0"/>
            <p:cNvSpPr/>
            <p:nvPr/>
          </p:nvSpPr>
          <p:spPr>
            <a:xfrm>
              <a:off x="7458075" y="282892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33" name="ラベル_項目A"/>
            <p:cNvSpPr/>
            <p:nvPr/>
          </p:nvSpPr>
          <p:spPr>
            <a:xfrm>
              <a:off x="6486525" y="1295400"/>
              <a:ext cx="10668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項目A</a:t>
              </a:r>
            </a:p>
          </p:txBody>
        </p:sp>
        <p:sp>
          <p:nvSpPr>
            <p:cNvPr id="34" name="バー_項目A"/>
            <p:cNvSpPr/>
            <p:nvPr/>
          </p:nvSpPr>
          <p:spPr>
            <a:xfrm>
              <a:off x="7648575" y="1257300"/>
              <a:ext cx="3046095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_項目A"/>
            <p:cNvSpPr/>
            <p:nvPr/>
          </p:nvSpPr>
          <p:spPr>
            <a:xfrm>
              <a:off x="10770870" y="1295400"/>
              <a:ext cx="4762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82</a:t>
              </a:r>
            </a:p>
          </p:txBody>
        </p:sp>
        <p:sp>
          <p:nvSpPr>
            <p:cNvPr id="36" name="ラベル_項目B"/>
            <p:cNvSpPr/>
            <p:nvPr/>
          </p:nvSpPr>
          <p:spPr>
            <a:xfrm>
              <a:off x="6486525" y="1609725"/>
              <a:ext cx="10668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項目B</a:t>
              </a:r>
            </a:p>
          </p:txBody>
        </p:sp>
        <p:sp>
          <p:nvSpPr>
            <p:cNvPr id="37" name="バー_項目B"/>
            <p:cNvSpPr/>
            <p:nvPr/>
          </p:nvSpPr>
          <p:spPr>
            <a:xfrm>
              <a:off x="7648575" y="1571625"/>
              <a:ext cx="2414587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_項目B"/>
            <p:cNvSpPr/>
            <p:nvPr/>
          </p:nvSpPr>
          <p:spPr>
            <a:xfrm>
              <a:off x="10139362" y="1609725"/>
              <a:ext cx="4762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65</a:t>
              </a:r>
            </a:p>
          </p:txBody>
        </p:sp>
        <p:sp>
          <p:nvSpPr>
            <p:cNvPr id="39" name="ラベル_項目C"/>
            <p:cNvSpPr/>
            <p:nvPr/>
          </p:nvSpPr>
          <p:spPr>
            <a:xfrm>
              <a:off x="6486525" y="1924050"/>
              <a:ext cx="10668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項目C</a:t>
              </a:r>
            </a:p>
          </p:txBody>
        </p:sp>
        <p:sp>
          <p:nvSpPr>
            <p:cNvPr id="40" name="バー_項目C"/>
            <p:cNvSpPr/>
            <p:nvPr/>
          </p:nvSpPr>
          <p:spPr>
            <a:xfrm>
              <a:off x="7648575" y="1885950"/>
              <a:ext cx="200596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_項目C"/>
            <p:cNvSpPr/>
            <p:nvPr/>
          </p:nvSpPr>
          <p:spPr>
            <a:xfrm>
              <a:off x="9730740" y="1924050"/>
              <a:ext cx="4762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54</a:t>
              </a:r>
            </a:p>
          </p:txBody>
        </p:sp>
        <p:sp>
          <p:nvSpPr>
            <p:cNvPr id="42" name="ラベル_項目D"/>
            <p:cNvSpPr/>
            <p:nvPr/>
          </p:nvSpPr>
          <p:spPr>
            <a:xfrm>
              <a:off x="6486525" y="2238375"/>
              <a:ext cx="10668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項目D</a:t>
              </a:r>
            </a:p>
          </p:txBody>
        </p:sp>
        <p:sp>
          <p:nvSpPr>
            <p:cNvPr id="43" name="バー_項目D"/>
            <p:cNvSpPr/>
            <p:nvPr/>
          </p:nvSpPr>
          <p:spPr>
            <a:xfrm>
              <a:off x="7648575" y="2200275"/>
              <a:ext cx="141160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_項目D"/>
            <p:cNvSpPr/>
            <p:nvPr/>
          </p:nvSpPr>
          <p:spPr>
            <a:xfrm>
              <a:off x="9136380" y="2238375"/>
              <a:ext cx="4762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38</a:t>
              </a:r>
            </a:p>
          </p:txBody>
        </p:sp>
        <p:sp>
          <p:nvSpPr>
            <p:cNvPr id="45" name="ラベル_項目E"/>
            <p:cNvSpPr/>
            <p:nvPr/>
          </p:nvSpPr>
          <p:spPr>
            <a:xfrm>
              <a:off x="6486525" y="2552700"/>
              <a:ext cx="10668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項目E</a:t>
              </a:r>
            </a:p>
          </p:txBody>
        </p:sp>
        <p:sp>
          <p:nvSpPr>
            <p:cNvPr id="46" name="バー_項目E"/>
            <p:cNvSpPr/>
            <p:nvPr/>
          </p:nvSpPr>
          <p:spPr>
            <a:xfrm>
              <a:off x="7648575" y="2514600"/>
              <a:ext cx="965834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値_項目E"/>
            <p:cNvSpPr/>
            <p:nvPr/>
          </p:nvSpPr>
          <p:spPr>
            <a:xfrm>
              <a:off x="8690610" y="2552700"/>
              <a:ext cx="4762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26</a:t>
              </a:r>
            </a:p>
          </p:txBody>
        </p:sp>
        <p:cxnSp>
          <p:nvCxnSpPr>
            <p:cNvPr id="48" name="縦軸"/>
            <p:cNvCxnSpPr/>
            <p:nvPr/>
          </p:nvCxnSpPr>
          <p:spPr>
            <a:xfrm>
              <a:off x="7648575" y="1181100"/>
              <a:ext cx="0" cy="1590675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出典行"/>
            <p:cNvSpPr/>
            <p:nvPr/>
          </p:nvSpPr>
          <p:spPr>
            <a:xfrm>
              <a:off x="65055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02 横棒（ランキング型）｜大小：項目が多いときは横棒で降順に</a:t>
            </a:r>
          </a:p>
        </p:txBody>
      </p:sp>
      <p:grpSp>
        <p:nvGrpSpPr>
          <p:cNvPr id="51" name="グラフ03_折れ線"/>
          <p:cNvGrpSpPr/>
          <p:nvPr/>
        </p:nvGrpSpPr>
        <p:grpSpPr>
          <a:xfrm>
            <a:off x="600075" y="3867150"/>
            <a:ext cx="4943475" cy="2257425"/>
            <a:chOff x="600075" y="3867150"/>
            <a:chExt cx="4943475" cy="2257425"/>
          </a:xfrm>
        </p:grpSpPr>
        <p:sp>
          <p:nvSpPr>
            <p:cNvPr id="52" name="図タイトル"/>
            <p:cNvSpPr/>
            <p:nvPr/>
          </p:nvSpPr>
          <p:spPr>
            <a:xfrm>
              <a:off x="6762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図タイトル（単位：件）</a:t>
              </a:r>
            </a:p>
          </p:txBody>
        </p:sp>
        <p:cxnSp>
          <p:nvCxnSpPr>
            <p:cNvPr id="53" name="目盛線50"/>
            <p:cNvCxnSpPr/>
            <p:nvPr/>
          </p:nvCxnSpPr>
          <p:spPr>
            <a:xfrm>
              <a:off x="1076325" y="5167312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目盛50"/>
            <p:cNvSpPr/>
            <p:nvPr/>
          </p:nvSpPr>
          <p:spPr>
            <a:xfrm>
              <a:off x="600075" y="5100637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50</a:t>
              </a:r>
            </a:p>
          </p:txBody>
        </p:sp>
        <p:cxnSp>
          <p:nvCxnSpPr>
            <p:cNvPr id="55" name="目盛線100"/>
            <p:cNvCxnSpPr/>
            <p:nvPr/>
          </p:nvCxnSpPr>
          <p:spPr>
            <a:xfrm>
              <a:off x="1076325" y="4619625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目盛100"/>
            <p:cNvSpPr/>
            <p:nvPr/>
          </p:nvSpPr>
          <p:spPr>
            <a:xfrm>
              <a:off x="600075" y="4552950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57" name="目盛0"/>
            <p:cNvSpPr/>
            <p:nvPr/>
          </p:nvSpPr>
          <p:spPr>
            <a:xfrm>
              <a:off x="600075" y="5648325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cxnSp>
          <p:nvCxnSpPr>
            <p:cNvPr id="58" name="基準線"/>
            <p:cNvCxnSpPr/>
            <p:nvPr/>
          </p:nvCxnSpPr>
          <p:spPr>
            <a:xfrm>
              <a:off x="1076325" y="5715000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線1"/>
            <p:cNvCxnSpPr/>
            <p:nvPr/>
          </p:nvCxnSpPr>
          <p:spPr>
            <a:xfrm flipV="1">
              <a:off x="1228725" y="5057775"/>
              <a:ext cx="742950" cy="8763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線2"/>
            <p:cNvCxnSpPr/>
            <p:nvPr/>
          </p:nvCxnSpPr>
          <p:spPr>
            <a:xfrm>
              <a:off x="1971675" y="5057775"/>
              <a:ext cx="742950" cy="21907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線3"/>
            <p:cNvCxnSpPr/>
            <p:nvPr/>
          </p:nvCxnSpPr>
          <p:spPr>
            <a:xfrm flipV="1">
              <a:off x="2714625" y="4904422"/>
              <a:ext cx="742950" cy="17526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線4"/>
            <p:cNvCxnSpPr/>
            <p:nvPr/>
          </p:nvCxnSpPr>
          <p:spPr>
            <a:xfrm flipV="1">
              <a:off x="3457575" y="4772977"/>
              <a:ext cx="742950" cy="131445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線5"/>
            <p:cNvCxnSpPr/>
            <p:nvPr/>
          </p:nvCxnSpPr>
          <p:spPr>
            <a:xfrm flipV="1">
              <a:off x="4200525" y="4531995"/>
              <a:ext cx="742950" cy="240982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点1"/>
            <p:cNvSpPr/>
            <p:nvPr/>
          </p:nvSpPr>
          <p:spPr>
            <a:xfrm>
              <a:off x="1195387" y="5112067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点2"/>
            <p:cNvSpPr/>
            <p:nvPr/>
          </p:nvSpPr>
          <p:spPr>
            <a:xfrm>
              <a:off x="1938337" y="5024437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点3"/>
            <p:cNvSpPr/>
            <p:nvPr/>
          </p:nvSpPr>
          <p:spPr>
            <a:xfrm>
              <a:off x="2681287" y="5046345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点4"/>
            <p:cNvSpPr/>
            <p:nvPr/>
          </p:nvSpPr>
          <p:spPr>
            <a:xfrm>
              <a:off x="3424237" y="4871085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点5"/>
            <p:cNvSpPr/>
            <p:nvPr/>
          </p:nvSpPr>
          <p:spPr>
            <a:xfrm>
              <a:off x="4167187" y="4739640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終点"/>
            <p:cNvSpPr/>
            <p:nvPr/>
          </p:nvSpPr>
          <p:spPr>
            <a:xfrm>
              <a:off x="4886325" y="447484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終点ラベル"/>
            <p:cNvSpPr/>
            <p:nvPr/>
          </p:nvSpPr>
          <p:spPr>
            <a:xfrm>
              <a:off x="5048250" y="4446270"/>
              <a:ext cx="4953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108</a:t>
              </a:r>
            </a:p>
          </p:txBody>
        </p:sp>
        <p:sp>
          <p:nvSpPr>
            <p:cNvPr id="71" name="項目1"/>
            <p:cNvSpPr/>
            <p:nvPr/>
          </p:nvSpPr>
          <p:spPr>
            <a:xfrm>
              <a:off x="10382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1月</a:t>
              </a:r>
            </a:p>
          </p:txBody>
        </p:sp>
        <p:sp>
          <p:nvSpPr>
            <p:cNvPr id="72" name="項目2"/>
            <p:cNvSpPr/>
            <p:nvPr/>
          </p:nvSpPr>
          <p:spPr>
            <a:xfrm>
              <a:off x="17811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73" name="項目3"/>
            <p:cNvSpPr/>
            <p:nvPr/>
          </p:nvSpPr>
          <p:spPr>
            <a:xfrm>
              <a:off x="25241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74" name="項目4"/>
            <p:cNvSpPr/>
            <p:nvPr/>
          </p:nvSpPr>
          <p:spPr>
            <a:xfrm>
              <a:off x="32670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75" name="項目5"/>
            <p:cNvSpPr/>
            <p:nvPr/>
          </p:nvSpPr>
          <p:spPr>
            <a:xfrm>
              <a:off x="40100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76" name="項目6"/>
            <p:cNvSpPr/>
            <p:nvPr/>
          </p:nvSpPr>
          <p:spPr>
            <a:xfrm>
              <a:off x="47529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77" name="出典行"/>
            <p:cNvSpPr/>
            <p:nvPr/>
          </p:nvSpPr>
          <p:spPr>
            <a:xfrm>
              <a:off x="6762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78" name="Rectangle 77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03 折れ線｜推移：終点を大きなドット＋ラベルで着地させる</a:t>
            </a:r>
          </a:p>
        </p:txBody>
      </p:sp>
      <p:grpSp>
        <p:nvGrpSpPr>
          <p:cNvPr id="79" name="グラフ04_積み上げ縦棒"/>
          <p:cNvGrpSpPr/>
          <p:nvPr/>
        </p:nvGrpSpPr>
        <p:grpSpPr>
          <a:xfrm>
            <a:off x="6505575" y="3867150"/>
            <a:ext cx="4914900" cy="2257425"/>
            <a:chOff x="6505575" y="3867150"/>
            <a:chExt cx="4914900" cy="2257425"/>
          </a:xfrm>
        </p:grpSpPr>
        <p:sp>
          <p:nvSpPr>
            <p:cNvPr id="80" name="図タイトル"/>
            <p:cNvSpPr/>
            <p:nvPr/>
          </p:nvSpPr>
          <p:spPr>
            <a:xfrm>
              <a:off x="65055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図タイトル（単位：億円）</a:t>
              </a:r>
            </a:p>
          </p:txBody>
        </p:sp>
        <p:sp>
          <p:nvSpPr>
            <p:cNvPr id="81" name="凡例_系列A"/>
            <p:cNvSpPr/>
            <p:nvPr/>
          </p:nvSpPr>
          <p:spPr>
            <a:xfrm>
              <a:off x="9458325" y="39052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凡例文字_系列A"/>
            <p:cNvSpPr/>
            <p:nvPr/>
          </p:nvSpPr>
          <p:spPr>
            <a:xfrm>
              <a:off x="9591675" y="3876675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系列A</a:t>
              </a:r>
            </a:p>
          </p:txBody>
        </p:sp>
        <p:sp>
          <p:nvSpPr>
            <p:cNvPr id="83" name="凡例_系列B"/>
            <p:cNvSpPr/>
            <p:nvPr/>
          </p:nvSpPr>
          <p:spPr>
            <a:xfrm>
              <a:off x="10125075" y="39052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凡例文字_系列B"/>
            <p:cNvSpPr/>
            <p:nvPr/>
          </p:nvSpPr>
          <p:spPr>
            <a:xfrm>
              <a:off x="10258425" y="3876675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系列B</a:t>
              </a:r>
            </a:p>
          </p:txBody>
        </p:sp>
        <p:sp>
          <p:nvSpPr>
            <p:cNvPr id="85" name="凡例_系列C"/>
            <p:cNvSpPr/>
            <p:nvPr/>
          </p:nvSpPr>
          <p:spPr>
            <a:xfrm>
              <a:off x="10791825" y="3905250"/>
              <a:ext cx="952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凡例文字_系列C"/>
            <p:cNvSpPr/>
            <p:nvPr/>
          </p:nvSpPr>
          <p:spPr>
            <a:xfrm>
              <a:off x="10925175" y="3876675"/>
              <a:ext cx="495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系列C</a:t>
              </a:r>
            </a:p>
          </p:txBody>
        </p:sp>
        <p:cxnSp>
          <p:nvCxnSpPr>
            <p:cNvPr id="87" name="目盛線80"/>
            <p:cNvCxnSpPr/>
            <p:nvPr/>
          </p:nvCxnSpPr>
          <p:spPr>
            <a:xfrm>
              <a:off x="6943725" y="4632960"/>
              <a:ext cx="44577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目盛80"/>
            <p:cNvSpPr/>
            <p:nvPr/>
          </p:nvSpPr>
          <p:spPr>
            <a:xfrm>
              <a:off x="6505575" y="456628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80</a:t>
              </a:r>
            </a:p>
          </p:txBody>
        </p:sp>
        <p:sp>
          <p:nvSpPr>
            <p:cNvPr id="89" name="目盛0"/>
            <p:cNvSpPr/>
            <p:nvPr/>
          </p:nvSpPr>
          <p:spPr>
            <a:xfrm>
              <a:off x="6505575" y="564832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90" name="棒1_系列A"/>
            <p:cNvSpPr/>
            <p:nvPr/>
          </p:nvSpPr>
          <p:spPr>
            <a:xfrm>
              <a:off x="7248525" y="5309235"/>
              <a:ext cx="590550" cy="4057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棒1_系列B"/>
            <p:cNvSpPr/>
            <p:nvPr/>
          </p:nvSpPr>
          <p:spPr>
            <a:xfrm>
              <a:off x="7248525" y="5011674"/>
              <a:ext cx="590550" cy="2975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棒1_系列C"/>
            <p:cNvSpPr/>
            <p:nvPr/>
          </p:nvSpPr>
          <p:spPr>
            <a:xfrm>
              <a:off x="7248525" y="4822317"/>
              <a:ext cx="590550" cy="18935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合計1"/>
            <p:cNvSpPr/>
            <p:nvPr/>
          </p:nvSpPr>
          <p:spPr>
            <a:xfrm>
              <a:off x="7096125" y="4650867"/>
              <a:ext cx="895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66</a:t>
              </a:r>
            </a:p>
          </p:txBody>
        </p:sp>
        <p:sp>
          <p:nvSpPr>
            <p:cNvPr id="94" name="項目1"/>
            <p:cNvSpPr/>
            <p:nvPr/>
          </p:nvSpPr>
          <p:spPr>
            <a:xfrm>
              <a:off x="7096125" y="5781675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FY23</a:t>
              </a:r>
            </a:p>
          </p:txBody>
        </p:sp>
        <p:sp>
          <p:nvSpPr>
            <p:cNvPr id="95" name="棒2_系列A"/>
            <p:cNvSpPr/>
            <p:nvPr/>
          </p:nvSpPr>
          <p:spPr>
            <a:xfrm>
              <a:off x="8277225" y="5255133"/>
              <a:ext cx="590550" cy="4598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棒2_系列B"/>
            <p:cNvSpPr/>
            <p:nvPr/>
          </p:nvSpPr>
          <p:spPr>
            <a:xfrm>
              <a:off x="8277225" y="4930521"/>
              <a:ext cx="590550" cy="3246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棒2_系列C"/>
            <p:cNvSpPr/>
            <p:nvPr/>
          </p:nvSpPr>
          <p:spPr>
            <a:xfrm>
              <a:off x="8277225" y="4714113"/>
              <a:ext cx="590550" cy="2164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合計2"/>
            <p:cNvSpPr/>
            <p:nvPr/>
          </p:nvSpPr>
          <p:spPr>
            <a:xfrm>
              <a:off x="8124825" y="4542663"/>
              <a:ext cx="895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74</a:t>
              </a:r>
            </a:p>
          </p:txBody>
        </p:sp>
        <p:sp>
          <p:nvSpPr>
            <p:cNvPr id="99" name="項目2"/>
            <p:cNvSpPr/>
            <p:nvPr/>
          </p:nvSpPr>
          <p:spPr>
            <a:xfrm>
              <a:off x="8124825" y="5781675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FY24</a:t>
              </a:r>
            </a:p>
          </p:txBody>
        </p:sp>
        <p:sp>
          <p:nvSpPr>
            <p:cNvPr id="100" name="棒3_系列A"/>
            <p:cNvSpPr/>
            <p:nvPr/>
          </p:nvSpPr>
          <p:spPr>
            <a:xfrm>
              <a:off x="9305925" y="5173980"/>
              <a:ext cx="590550" cy="5410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棒3_系列B"/>
            <p:cNvSpPr/>
            <p:nvPr/>
          </p:nvSpPr>
          <p:spPr>
            <a:xfrm>
              <a:off x="9305925" y="4822317"/>
              <a:ext cx="590550" cy="3516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棒3_系列C"/>
            <p:cNvSpPr/>
            <p:nvPr/>
          </p:nvSpPr>
          <p:spPr>
            <a:xfrm>
              <a:off x="9305925" y="4605909"/>
              <a:ext cx="590550" cy="2164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合計3"/>
            <p:cNvSpPr/>
            <p:nvPr/>
          </p:nvSpPr>
          <p:spPr>
            <a:xfrm>
              <a:off x="9153525" y="4434459"/>
              <a:ext cx="895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5"/>
                  </a:solidFill>
                </a:rPr>
                <a:t>82</a:t>
              </a:r>
            </a:p>
          </p:txBody>
        </p:sp>
        <p:sp>
          <p:nvSpPr>
            <p:cNvPr id="104" name="項目3"/>
            <p:cNvSpPr/>
            <p:nvPr/>
          </p:nvSpPr>
          <p:spPr>
            <a:xfrm>
              <a:off x="9153525" y="5781675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FY25</a:t>
              </a:r>
            </a:p>
          </p:txBody>
        </p:sp>
        <p:sp>
          <p:nvSpPr>
            <p:cNvPr id="105" name="棒4_系列A"/>
            <p:cNvSpPr/>
            <p:nvPr/>
          </p:nvSpPr>
          <p:spPr>
            <a:xfrm>
              <a:off x="10334625" y="5065776"/>
              <a:ext cx="590550" cy="6492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棒4_系列B"/>
            <p:cNvSpPr/>
            <p:nvPr/>
          </p:nvSpPr>
          <p:spPr>
            <a:xfrm>
              <a:off x="10334625" y="4660011"/>
              <a:ext cx="590550" cy="4057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棒4_系列C"/>
            <p:cNvSpPr/>
            <p:nvPr/>
          </p:nvSpPr>
          <p:spPr>
            <a:xfrm>
              <a:off x="10334625" y="4416552"/>
              <a:ext cx="590550" cy="2434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合計4"/>
            <p:cNvSpPr/>
            <p:nvPr/>
          </p:nvSpPr>
          <p:spPr>
            <a:xfrm>
              <a:off x="10182225" y="4245102"/>
              <a:ext cx="8953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96</a:t>
              </a:r>
            </a:p>
          </p:txBody>
        </p:sp>
        <p:sp>
          <p:nvSpPr>
            <p:cNvPr id="109" name="項目4"/>
            <p:cNvSpPr/>
            <p:nvPr/>
          </p:nvSpPr>
          <p:spPr>
            <a:xfrm>
              <a:off x="10182225" y="5781675"/>
              <a:ext cx="8953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FY26</a:t>
              </a:r>
            </a:p>
          </p:txBody>
        </p:sp>
        <p:cxnSp>
          <p:nvCxnSpPr>
            <p:cNvPr id="110" name="基準線"/>
            <p:cNvCxnSpPr/>
            <p:nvPr/>
          </p:nvCxnSpPr>
          <p:spPr>
            <a:xfrm>
              <a:off x="6943725" y="5715000"/>
              <a:ext cx="4457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出典行"/>
            <p:cNvSpPr/>
            <p:nvPr/>
          </p:nvSpPr>
          <p:spPr>
            <a:xfrm>
              <a:off x="65055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04 積み上げ縦棒｜内訳の推移：凡例は右上・合計を上に添える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パーツ図鑑｜⑬ グラフの空枠 — 構成と増減4種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朱（アクセント）は1スライド1点まで＝要対処の意味に固定</a:t>
            </a:r>
          </a:p>
        </p:txBody>
      </p:sp>
      <p:grpSp>
        <p:nvGrpSpPr>
          <p:cNvPr id="5" name="グラフ05_100%構成比バー"/>
          <p:cNvGrpSpPr/>
          <p:nvPr/>
        </p:nvGrpSpPr>
        <p:grpSpPr>
          <a:xfrm>
            <a:off x="676275" y="933450"/>
            <a:ext cx="5219700" cy="2257425"/>
            <a:chOff x="676275" y="933450"/>
            <a:chExt cx="5219700" cy="2257425"/>
          </a:xfrm>
        </p:grpSpPr>
        <p:sp>
          <p:nvSpPr>
            <p:cNvPr id="6" name="図タイトル"/>
            <p:cNvSpPr/>
            <p:nvPr/>
          </p:nvSpPr>
          <p:spPr>
            <a:xfrm>
              <a:off x="6762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図タイトル（構成比・%）</a:t>
              </a:r>
            </a:p>
          </p:txBody>
        </p:sp>
        <p:sp>
          <p:nvSpPr>
            <p:cNvPr id="7" name="目盛0"/>
            <p:cNvSpPr/>
            <p:nvPr/>
          </p:nvSpPr>
          <p:spPr>
            <a:xfrm>
              <a:off x="1533525" y="1314450"/>
              <a:ext cx="571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0%</a:t>
              </a:r>
            </a:p>
          </p:txBody>
        </p:sp>
        <p:sp>
          <p:nvSpPr>
            <p:cNvPr id="8" name="目盛100"/>
            <p:cNvSpPr/>
            <p:nvPr/>
          </p:nvSpPr>
          <p:spPr>
            <a:xfrm>
              <a:off x="4733925" y="1314450"/>
              <a:ext cx="571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100%</a:t>
              </a:r>
            </a:p>
          </p:txBody>
        </p:sp>
        <p:sp>
          <p:nvSpPr>
            <p:cNvPr id="9" name="行_FY25"/>
            <p:cNvSpPr/>
            <p:nvPr/>
          </p:nvSpPr>
          <p:spPr>
            <a:xfrm>
              <a:off x="771525" y="1609725"/>
              <a:ext cx="66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FY25</a:t>
              </a:r>
            </a:p>
          </p:txBody>
        </p:sp>
        <p:sp>
          <p:nvSpPr>
            <p:cNvPr id="10" name="FY25_項目A"/>
            <p:cNvSpPr/>
            <p:nvPr/>
          </p:nvSpPr>
          <p:spPr>
            <a:xfrm>
              <a:off x="1533525" y="1485900"/>
              <a:ext cx="1697355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Y25_項目Aラベル"/>
            <p:cNvSpPr/>
            <p:nvPr/>
          </p:nvSpPr>
          <p:spPr>
            <a:xfrm>
              <a:off x="1533525" y="1609725"/>
              <a:ext cx="169735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項目A 45%</a:t>
              </a:r>
            </a:p>
          </p:txBody>
        </p:sp>
        <p:sp>
          <p:nvSpPr>
            <p:cNvPr id="12" name="FY25_項目B"/>
            <p:cNvSpPr/>
            <p:nvPr/>
          </p:nvSpPr>
          <p:spPr>
            <a:xfrm>
              <a:off x="3230880" y="1485900"/>
              <a:ext cx="113157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Y25_項目Bラベル"/>
            <p:cNvSpPr/>
            <p:nvPr/>
          </p:nvSpPr>
          <p:spPr>
            <a:xfrm>
              <a:off x="3230880" y="1609725"/>
              <a:ext cx="113157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項目B 30%</a:t>
              </a:r>
            </a:p>
          </p:txBody>
        </p:sp>
        <p:sp>
          <p:nvSpPr>
            <p:cNvPr id="14" name="FY25_項目C"/>
            <p:cNvSpPr/>
            <p:nvPr/>
          </p:nvSpPr>
          <p:spPr>
            <a:xfrm>
              <a:off x="4362450" y="1485900"/>
              <a:ext cx="942975" cy="400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Y25_項目Cラベル"/>
            <p:cNvSpPr/>
            <p:nvPr/>
          </p:nvSpPr>
          <p:spPr>
            <a:xfrm>
              <a:off x="4362450" y="1609725"/>
              <a:ext cx="94297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項目C 25%</a:t>
              </a:r>
            </a:p>
          </p:txBody>
        </p:sp>
        <p:sp>
          <p:nvSpPr>
            <p:cNvPr id="16" name="行_FY26"/>
            <p:cNvSpPr/>
            <p:nvPr/>
          </p:nvSpPr>
          <p:spPr>
            <a:xfrm>
              <a:off x="771525" y="2428875"/>
              <a:ext cx="66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FY26</a:t>
              </a:r>
            </a:p>
          </p:txBody>
        </p:sp>
        <p:sp>
          <p:nvSpPr>
            <p:cNvPr id="17" name="FY26_項目A"/>
            <p:cNvSpPr/>
            <p:nvPr/>
          </p:nvSpPr>
          <p:spPr>
            <a:xfrm>
              <a:off x="1533525" y="2305050"/>
              <a:ext cx="2187702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Y26_項目Aラベル"/>
            <p:cNvSpPr/>
            <p:nvPr/>
          </p:nvSpPr>
          <p:spPr>
            <a:xfrm>
              <a:off x="1533525" y="2428875"/>
              <a:ext cx="2187702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58%</a:t>
              </a:r>
            </a:p>
          </p:txBody>
        </p:sp>
        <p:sp>
          <p:nvSpPr>
            <p:cNvPr id="19" name="FY26_項目B"/>
            <p:cNvSpPr/>
            <p:nvPr/>
          </p:nvSpPr>
          <p:spPr>
            <a:xfrm>
              <a:off x="3721227" y="2305050"/>
              <a:ext cx="980693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Y26_項目Bラベル"/>
            <p:cNvSpPr/>
            <p:nvPr/>
          </p:nvSpPr>
          <p:spPr>
            <a:xfrm>
              <a:off x="3721227" y="2428875"/>
              <a:ext cx="980693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lt1"/>
                  </a:solidFill>
                </a:rPr>
                <a:t>26%</a:t>
              </a:r>
            </a:p>
          </p:txBody>
        </p:sp>
        <p:sp>
          <p:nvSpPr>
            <p:cNvPr id="21" name="FY26_項目C"/>
            <p:cNvSpPr/>
            <p:nvPr/>
          </p:nvSpPr>
          <p:spPr>
            <a:xfrm>
              <a:off x="4701921" y="2305050"/>
              <a:ext cx="603504" cy="400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Y26_項目Cラベル"/>
            <p:cNvSpPr/>
            <p:nvPr/>
          </p:nvSpPr>
          <p:spPr>
            <a:xfrm>
              <a:off x="4701921" y="2428875"/>
              <a:ext cx="603504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16%</a:t>
              </a:r>
            </a:p>
          </p:txBody>
        </p:sp>
        <p:cxnSp>
          <p:nvCxnSpPr>
            <p:cNvPr id="23" name="境界線1"/>
            <p:cNvCxnSpPr/>
            <p:nvPr/>
          </p:nvCxnSpPr>
          <p:spPr>
            <a:xfrm>
              <a:off x="3230880" y="1885950"/>
              <a:ext cx="490347" cy="4191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境界線2"/>
            <p:cNvCxnSpPr/>
            <p:nvPr/>
          </p:nvCxnSpPr>
          <p:spPr>
            <a:xfrm>
              <a:off x="4362450" y="1885950"/>
              <a:ext cx="339471" cy="4191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増分注記"/>
            <p:cNvSpPr/>
            <p:nvPr/>
          </p:nvSpPr>
          <p:spPr>
            <a:xfrm>
              <a:off x="5381625" y="2428875"/>
              <a:ext cx="5143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+13pt</a:t>
              </a:r>
            </a:p>
          </p:txBody>
        </p:sp>
        <p:sp>
          <p:nvSpPr>
            <p:cNvPr id="26" name="出典行"/>
            <p:cNvSpPr/>
            <p:nvPr/>
          </p:nvSpPr>
          <p:spPr>
            <a:xfrm>
              <a:off x="6762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05 100%構成比バー（円の代替）｜構成：円より読み取りやすく、ラベルは中に直接</a:t>
            </a:r>
          </a:p>
        </p:txBody>
      </p:sp>
      <p:grpSp>
        <p:nvGrpSpPr>
          <p:cNvPr id="28" name="グラフ06_滝_最小形"/>
          <p:cNvGrpSpPr/>
          <p:nvPr/>
        </p:nvGrpSpPr>
        <p:grpSpPr>
          <a:xfrm>
            <a:off x="6505575" y="933450"/>
            <a:ext cx="4857750" cy="2257425"/>
            <a:chOff x="6505575" y="933450"/>
            <a:chExt cx="4857750" cy="2257425"/>
          </a:xfrm>
        </p:grpSpPr>
        <p:sp>
          <p:nvSpPr>
            <p:cNvPr id="29" name="図タイトル"/>
            <p:cNvSpPr/>
            <p:nvPr/>
          </p:nvSpPr>
          <p:spPr>
            <a:xfrm>
              <a:off x="65055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図タイトル（単位：百万円）</a:t>
              </a:r>
            </a:p>
          </p:txBody>
        </p:sp>
        <p:cxnSp>
          <p:nvCxnSpPr>
            <p:cNvPr id="30" name="コネクタ1"/>
            <p:cNvCxnSpPr/>
            <p:nvPr/>
          </p:nvCxnSpPr>
          <p:spPr>
            <a:xfrm>
              <a:off x="7762875" y="1676400"/>
              <a:ext cx="4381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コネクタ2"/>
            <p:cNvCxnSpPr/>
            <p:nvPr/>
          </p:nvCxnSpPr>
          <p:spPr>
            <a:xfrm>
              <a:off x="8867775" y="1474089"/>
              <a:ext cx="4381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コネクタ3"/>
            <p:cNvCxnSpPr/>
            <p:nvPr/>
          </p:nvCxnSpPr>
          <p:spPr>
            <a:xfrm>
              <a:off x="9972675" y="1721358"/>
              <a:ext cx="43815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バー_計画"/>
            <p:cNvSpPr/>
            <p:nvPr/>
          </p:nvSpPr>
          <p:spPr>
            <a:xfrm>
              <a:off x="7096125" y="1676400"/>
              <a:ext cx="666750" cy="11239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計画"/>
            <p:cNvSpPr/>
            <p:nvPr/>
          </p:nvSpPr>
          <p:spPr>
            <a:xfrm>
              <a:off x="6943725" y="1504950"/>
              <a:ext cx="9715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100</a:t>
              </a:r>
            </a:p>
          </p:txBody>
        </p:sp>
        <p:sp>
          <p:nvSpPr>
            <p:cNvPr id="35" name="項目_計画"/>
            <p:cNvSpPr/>
            <p:nvPr/>
          </p:nvSpPr>
          <p:spPr>
            <a:xfrm>
              <a:off x="6943725" y="2867025"/>
              <a:ext cx="9715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計画</a:t>
              </a:r>
            </a:p>
          </p:txBody>
        </p:sp>
        <p:sp>
          <p:nvSpPr>
            <p:cNvPr id="36" name="バー_増収"/>
            <p:cNvSpPr/>
            <p:nvPr/>
          </p:nvSpPr>
          <p:spPr>
            <a:xfrm>
              <a:off x="8201025" y="1474089"/>
              <a:ext cx="666750" cy="2023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値_増収"/>
            <p:cNvSpPr/>
            <p:nvPr/>
          </p:nvSpPr>
          <p:spPr>
            <a:xfrm>
              <a:off x="8048625" y="1302639"/>
              <a:ext cx="9715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+18</a:t>
              </a:r>
            </a:p>
          </p:txBody>
        </p:sp>
        <p:sp>
          <p:nvSpPr>
            <p:cNvPr id="38" name="項目_増収"/>
            <p:cNvSpPr/>
            <p:nvPr/>
          </p:nvSpPr>
          <p:spPr>
            <a:xfrm>
              <a:off x="8048625" y="2867025"/>
              <a:ext cx="9715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増収</a:t>
              </a:r>
            </a:p>
          </p:txBody>
        </p:sp>
        <p:sp>
          <p:nvSpPr>
            <p:cNvPr id="39" name="バー_費用増"/>
            <p:cNvSpPr/>
            <p:nvPr/>
          </p:nvSpPr>
          <p:spPr>
            <a:xfrm>
              <a:off x="9305925" y="1474089"/>
              <a:ext cx="666750" cy="2472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値_費用増"/>
            <p:cNvSpPr/>
            <p:nvPr/>
          </p:nvSpPr>
          <p:spPr>
            <a:xfrm>
              <a:off x="9153525" y="1302639"/>
              <a:ext cx="9715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2"/>
                  </a:solidFill>
                </a:rPr>
                <a:t>▲22</a:t>
              </a:r>
            </a:p>
          </p:txBody>
        </p:sp>
        <p:sp>
          <p:nvSpPr>
            <p:cNvPr id="41" name="項目_費用増"/>
            <p:cNvSpPr/>
            <p:nvPr/>
          </p:nvSpPr>
          <p:spPr>
            <a:xfrm>
              <a:off x="9153525" y="2867025"/>
              <a:ext cx="9715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費用増</a:t>
              </a:r>
            </a:p>
          </p:txBody>
        </p:sp>
        <p:sp>
          <p:nvSpPr>
            <p:cNvPr id="42" name="バー_実績"/>
            <p:cNvSpPr/>
            <p:nvPr/>
          </p:nvSpPr>
          <p:spPr>
            <a:xfrm>
              <a:off x="10410825" y="1721358"/>
              <a:ext cx="666750" cy="1078992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値_実績"/>
            <p:cNvSpPr/>
            <p:nvPr/>
          </p:nvSpPr>
          <p:spPr>
            <a:xfrm>
              <a:off x="10258425" y="1549908"/>
              <a:ext cx="9715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96</a:t>
              </a:r>
            </a:p>
          </p:txBody>
        </p:sp>
        <p:sp>
          <p:nvSpPr>
            <p:cNvPr id="44" name="項目_実績"/>
            <p:cNvSpPr/>
            <p:nvPr/>
          </p:nvSpPr>
          <p:spPr>
            <a:xfrm>
              <a:off x="10258425" y="2867025"/>
              <a:ext cx="9715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実績</a:t>
              </a:r>
            </a:p>
          </p:txBody>
        </p:sp>
        <p:cxnSp>
          <p:nvCxnSpPr>
            <p:cNvPr id="45" name="基準線"/>
            <p:cNvCxnSpPr/>
            <p:nvPr/>
          </p:nvCxnSpPr>
          <p:spPr>
            <a:xfrm>
              <a:off x="6829425" y="2800350"/>
              <a:ext cx="4533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目盛0"/>
            <p:cNvSpPr/>
            <p:nvPr/>
          </p:nvSpPr>
          <p:spPr>
            <a:xfrm>
              <a:off x="6505575" y="2733675"/>
              <a:ext cx="285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47" name="出典行"/>
            <p:cNvSpPr/>
            <p:nvPr/>
          </p:nvSpPr>
          <p:spPr>
            <a:xfrm>
              <a:off x="65055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06 滝（最小形4段）｜増減分解：朱＝要対処の減少1本のみ</a:t>
            </a:r>
          </a:p>
        </p:txBody>
      </p:sp>
      <p:grpSp>
        <p:nvGrpSpPr>
          <p:cNvPr id="49" name="グラフ07_面積チャート"/>
          <p:cNvGrpSpPr/>
          <p:nvPr/>
        </p:nvGrpSpPr>
        <p:grpSpPr>
          <a:xfrm>
            <a:off x="600075" y="3867150"/>
            <a:ext cx="4933950" cy="2257425"/>
            <a:chOff x="600075" y="3867150"/>
            <a:chExt cx="4933950" cy="2257425"/>
          </a:xfrm>
        </p:grpSpPr>
        <p:sp>
          <p:nvSpPr>
            <p:cNvPr id="50" name="図タイトル"/>
            <p:cNvSpPr/>
            <p:nvPr/>
          </p:nvSpPr>
          <p:spPr>
            <a:xfrm>
              <a:off x="6762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図タイトル（単位：千人）</a:t>
              </a:r>
            </a:p>
          </p:txBody>
        </p:sp>
        <p:cxnSp>
          <p:nvCxnSpPr>
            <p:cNvPr id="51" name="目盛線50"/>
            <p:cNvCxnSpPr/>
            <p:nvPr/>
          </p:nvCxnSpPr>
          <p:spPr>
            <a:xfrm>
              <a:off x="1076325" y="5119687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目盛50"/>
            <p:cNvSpPr/>
            <p:nvPr/>
          </p:nvSpPr>
          <p:spPr>
            <a:xfrm>
              <a:off x="600075" y="5053012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50</a:t>
              </a:r>
            </a:p>
          </p:txBody>
        </p:sp>
        <p:cxnSp>
          <p:nvCxnSpPr>
            <p:cNvPr id="53" name="目盛線100"/>
            <p:cNvCxnSpPr/>
            <p:nvPr/>
          </p:nvCxnSpPr>
          <p:spPr>
            <a:xfrm>
              <a:off x="1076325" y="4524375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目盛100"/>
            <p:cNvSpPr/>
            <p:nvPr/>
          </p:nvSpPr>
          <p:spPr>
            <a:xfrm>
              <a:off x="600075" y="4457700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55" name="目盛0"/>
            <p:cNvSpPr/>
            <p:nvPr/>
          </p:nvSpPr>
          <p:spPr>
            <a:xfrm>
              <a:off x="600075" y="5648325"/>
              <a:ext cx="4191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56" name="面"/>
            <p:cNvSpPr/>
            <p:nvPr/>
          </p:nvSpPr>
          <p:spPr>
            <a:xfrm>
              <a:off x="1228725" y="4500562"/>
              <a:ext cx="3714750" cy="1214437"/>
            </a:xfrm>
            <a:custGeom>
              <a:avLst/>
              <a:gdLst/>
              <a:ahLst/>
              <a:cxnLst/>
              <a:rect l="0" t="0" r="3714750" b="1214437"/>
              <a:pathLst>
                <a:path w="3714750" h="1214437">
                  <a:moveTo>
                    <a:pt x="0" y="738187"/>
                  </a:moveTo>
                  <a:lnTo>
                    <a:pt x="742950" y="595312"/>
                  </a:lnTo>
                  <a:lnTo>
                    <a:pt x="1485900" y="642937"/>
                  </a:lnTo>
                  <a:lnTo>
                    <a:pt x="2228850" y="428625"/>
                  </a:lnTo>
                  <a:lnTo>
                    <a:pt x="2971800" y="285750"/>
                  </a:lnTo>
                  <a:lnTo>
                    <a:pt x="3714750" y="0"/>
                  </a:lnTo>
                  <a:lnTo>
                    <a:pt x="3714750" y="1214437"/>
                  </a:lnTo>
                  <a:lnTo>
                    <a:pt x="0" y="121443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上辺線1"/>
            <p:cNvCxnSpPr/>
            <p:nvPr/>
          </p:nvCxnSpPr>
          <p:spPr>
            <a:xfrm flipV="1">
              <a:off x="1228725" y="5095875"/>
              <a:ext cx="742950" cy="142875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上辺線2"/>
            <p:cNvCxnSpPr/>
            <p:nvPr/>
          </p:nvCxnSpPr>
          <p:spPr>
            <a:xfrm>
              <a:off x="1971675" y="5095875"/>
              <a:ext cx="742950" cy="47625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上辺線3"/>
            <p:cNvCxnSpPr/>
            <p:nvPr/>
          </p:nvCxnSpPr>
          <p:spPr>
            <a:xfrm flipV="1">
              <a:off x="2714625" y="4929187"/>
              <a:ext cx="742950" cy="214313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上辺線4"/>
            <p:cNvCxnSpPr/>
            <p:nvPr/>
          </p:nvCxnSpPr>
          <p:spPr>
            <a:xfrm flipV="1">
              <a:off x="3457575" y="4786312"/>
              <a:ext cx="742950" cy="142875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上辺線5"/>
            <p:cNvCxnSpPr/>
            <p:nvPr/>
          </p:nvCxnSpPr>
          <p:spPr>
            <a:xfrm flipV="1">
              <a:off x="4200525" y="4500562"/>
              <a:ext cx="742950" cy="28575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終点"/>
            <p:cNvSpPr/>
            <p:nvPr/>
          </p:nvSpPr>
          <p:spPr>
            <a:xfrm>
              <a:off x="4891087" y="4448175"/>
              <a:ext cx="104775" cy="1047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終点ラベル"/>
            <p:cNvSpPr/>
            <p:nvPr/>
          </p:nvSpPr>
          <p:spPr>
            <a:xfrm>
              <a:off x="5038725" y="4414837"/>
              <a:ext cx="4953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102</a:t>
              </a:r>
            </a:p>
          </p:txBody>
        </p:sp>
        <p:cxnSp>
          <p:nvCxnSpPr>
            <p:cNvPr id="64" name="基準線"/>
            <p:cNvCxnSpPr/>
            <p:nvPr/>
          </p:nvCxnSpPr>
          <p:spPr>
            <a:xfrm>
              <a:off x="1076325" y="5715000"/>
              <a:ext cx="4248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項目1"/>
            <p:cNvSpPr/>
            <p:nvPr/>
          </p:nvSpPr>
          <p:spPr>
            <a:xfrm>
              <a:off x="10382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1月</a:t>
              </a:r>
            </a:p>
          </p:txBody>
        </p:sp>
        <p:sp>
          <p:nvSpPr>
            <p:cNvPr id="66" name="項目2"/>
            <p:cNvSpPr/>
            <p:nvPr/>
          </p:nvSpPr>
          <p:spPr>
            <a:xfrm>
              <a:off x="17811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67" name="項目3"/>
            <p:cNvSpPr/>
            <p:nvPr/>
          </p:nvSpPr>
          <p:spPr>
            <a:xfrm>
              <a:off x="25241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68" name="項目4"/>
            <p:cNvSpPr/>
            <p:nvPr/>
          </p:nvSpPr>
          <p:spPr>
            <a:xfrm>
              <a:off x="32670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69" name="項目5"/>
            <p:cNvSpPr/>
            <p:nvPr/>
          </p:nvSpPr>
          <p:spPr>
            <a:xfrm>
              <a:off x="401002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70" name="項目6"/>
            <p:cNvSpPr/>
            <p:nvPr/>
          </p:nvSpPr>
          <p:spPr>
            <a:xfrm>
              <a:off x="4752975" y="5781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71" name="出典行"/>
            <p:cNvSpPr/>
            <p:nvPr/>
          </p:nvSpPr>
          <p:spPr>
            <a:xfrm>
              <a:off x="6762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72" name="Rectangle 71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07 面積チャート｜推移×量感：面で規模、上辺線で伸びを見せる</a:t>
            </a:r>
          </a:p>
        </p:txBody>
      </p:sp>
      <p:grpSp>
        <p:nvGrpSpPr>
          <p:cNvPr id="73" name="グラフ08_散布"/>
          <p:cNvGrpSpPr/>
          <p:nvPr/>
        </p:nvGrpSpPr>
        <p:grpSpPr>
          <a:xfrm>
            <a:off x="6505575" y="3867150"/>
            <a:ext cx="4495800" cy="2257425"/>
            <a:chOff x="6505575" y="3867150"/>
            <a:chExt cx="4495800" cy="2257425"/>
          </a:xfrm>
        </p:grpSpPr>
        <p:sp>
          <p:nvSpPr>
            <p:cNvPr id="74" name="図タイトル"/>
            <p:cNvSpPr/>
            <p:nvPr/>
          </p:nvSpPr>
          <p:spPr>
            <a:xfrm>
              <a:off x="65055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図タイトル（指標A×指標B）</a:t>
              </a:r>
            </a:p>
          </p:txBody>
        </p:sp>
        <p:cxnSp>
          <p:nvCxnSpPr>
            <p:cNvPr id="75" name="象限線縦"/>
            <p:cNvCxnSpPr/>
            <p:nvPr/>
          </p:nvCxnSpPr>
          <p:spPr>
            <a:xfrm>
              <a:off x="9020175" y="4152900"/>
              <a:ext cx="0" cy="154305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象限線横"/>
            <p:cNvCxnSpPr/>
            <p:nvPr/>
          </p:nvCxnSpPr>
          <p:spPr>
            <a:xfrm>
              <a:off x="7210425" y="4924425"/>
              <a:ext cx="36195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縦軸"/>
            <p:cNvCxnSpPr/>
            <p:nvPr/>
          </p:nvCxnSpPr>
          <p:spPr>
            <a:xfrm flipV="1">
              <a:off x="7210425" y="4095750"/>
              <a:ext cx="0" cy="16002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横軸"/>
            <p:cNvCxnSpPr/>
            <p:nvPr/>
          </p:nvCxnSpPr>
          <p:spPr>
            <a:xfrm>
              <a:off x="7210425" y="5695950"/>
              <a:ext cx="367665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縦軸ラベル"/>
            <p:cNvSpPr/>
            <p:nvPr/>
          </p:nvSpPr>
          <p:spPr>
            <a:xfrm>
              <a:off x="7343775" y="4095750"/>
              <a:ext cx="1143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指標A（縦）</a:t>
              </a:r>
            </a:p>
          </p:txBody>
        </p:sp>
        <p:sp>
          <p:nvSpPr>
            <p:cNvPr id="80" name="横軸ラベル"/>
            <p:cNvSpPr/>
            <p:nvPr/>
          </p:nvSpPr>
          <p:spPr>
            <a:xfrm>
              <a:off x="9686925" y="5772150"/>
              <a:ext cx="1143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指標B（横）</a:t>
              </a:r>
            </a:p>
          </p:txBody>
        </p:sp>
        <p:sp>
          <p:nvSpPr>
            <p:cNvPr id="81" name="目盛高縦"/>
            <p:cNvSpPr/>
            <p:nvPr/>
          </p:nvSpPr>
          <p:spPr>
            <a:xfrm>
              <a:off x="7058025" y="4114800"/>
              <a:ext cx="1333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82" name="目盛高横"/>
            <p:cNvSpPr/>
            <p:nvPr/>
          </p:nvSpPr>
          <p:spPr>
            <a:xfrm>
              <a:off x="10868025" y="5543550"/>
              <a:ext cx="133350" cy="114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83" name="点1"/>
            <p:cNvSpPr/>
            <p:nvPr/>
          </p:nvSpPr>
          <p:spPr>
            <a:xfrm>
              <a:off x="7664767" y="4563427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点2"/>
            <p:cNvSpPr/>
            <p:nvPr/>
          </p:nvSpPr>
          <p:spPr>
            <a:xfrm>
              <a:off x="7954327" y="5057203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点3"/>
            <p:cNvSpPr/>
            <p:nvPr/>
          </p:nvSpPr>
          <p:spPr>
            <a:xfrm>
              <a:off x="8388667" y="4779454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点4"/>
            <p:cNvSpPr/>
            <p:nvPr/>
          </p:nvSpPr>
          <p:spPr>
            <a:xfrm>
              <a:off x="8678227" y="5273230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点5"/>
            <p:cNvSpPr/>
            <p:nvPr/>
          </p:nvSpPr>
          <p:spPr>
            <a:xfrm>
              <a:off x="9040177" y="4995481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点6"/>
            <p:cNvSpPr/>
            <p:nvPr/>
          </p:nvSpPr>
          <p:spPr>
            <a:xfrm>
              <a:off x="9329737" y="4656010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点7"/>
            <p:cNvSpPr/>
            <p:nvPr/>
          </p:nvSpPr>
          <p:spPr>
            <a:xfrm>
              <a:off x="9619297" y="5118925"/>
              <a:ext cx="104775" cy="1047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強調点"/>
            <p:cNvSpPr/>
            <p:nvPr/>
          </p:nvSpPr>
          <p:spPr>
            <a:xfrm>
              <a:off x="10174605" y="4323588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強調ラベル"/>
            <p:cNvSpPr/>
            <p:nvPr/>
          </p:nvSpPr>
          <p:spPr>
            <a:xfrm>
              <a:off x="9698355" y="4133088"/>
              <a:ext cx="1104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注力候補</a:t>
              </a:r>
            </a:p>
          </p:txBody>
        </p:sp>
        <p:sp>
          <p:nvSpPr>
            <p:cNvPr id="92" name="出典行"/>
            <p:cNvSpPr/>
            <p:nvPr/>
          </p:nvSpPr>
          <p:spPr>
            <a:xfrm>
              <a:off x="65055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08 散布｜分布：象限線で区切り、右上の1点だけ強調する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72390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chemeClr val="accent5"/>
                </a:solidFill>
              </a:rPr>
              <a:t>パーツ図鑑｜⑬ グラフの空枠 — 密度と比較4種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8025" y="314325"/>
            <a:ext cx="4743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数値はサンプル値。打ち替えるだけで完成します</a:t>
            </a:r>
          </a:p>
        </p:txBody>
      </p:sp>
      <p:grpSp>
        <p:nvGrpSpPr>
          <p:cNvPr id="5" name="グラフ09_ヒートマップ"/>
          <p:cNvGrpSpPr/>
          <p:nvPr/>
        </p:nvGrpSpPr>
        <p:grpSpPr>
          <a:xfrm>
            <a:off x="676275" y="933450"/>
            <a:ext cx="4724400" cy="2257425"/>
            <a:chOff x="676275" y="933450"/>
            <a:chExt cx="4724400" cy="2257425"/>
          </a:xfrm>
        </p:grpSpPr>
        <p:sp>
          <p:nvSpPr>
            <p:cNvPr id="6" name="図タイトル"/>
            <p:cNvSpPr/>
            <p:nvPr/>
          </p:nvSpPr>
          <p:spPr>
            <a:xfrm>
              <a:off x="6762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図タイトル（行×列の密度）</a:t>
              </a:r>
            </a:p>
          </p:txBody>
        </p:sp>
        <p:sp>
          <p:nvSpPr>
            <p:cNvPr id="7" name="凡例低"/>
            <p:cNvSpPr/>
            <p:nvPr/>
          </p:nvSpPr>
          <p:spPr>
            <a:xfrm>
              <a:off x="4333875" y="952500"/>
              <a:ext cx="285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低</a:t>
              </a:r>
            </a:p>
          </p:txBody>
        </p:sp>
        <p:sp>
          <p:nvSpPr>
            <p:cNvPr id="8" name="凡例1"/>
            <p:cNvSpPr/>
            <p:nvPr/>
          </p:nvSpPr>
          <p:spPr>
            <a:xfrm>
              <a:off x="4619625" y="971550"/>
              <a:ext cx="133350" cy="95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凡例2"/>
            <p:cNvSpPr/>
            <p:nvPr/>
          </p:nvSpPr>
          <p:spPr>
            <a:xfrm>
              <a:off x="4791075" y="971550"/>
              <a:ext cx="1333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凡例3"/>
            <p:cNvSpPr/>
            <p:nvPr/>
          </p:nvSpPr>
          <p:spPr>
            <a:xfrm>
              <a:off x="4962525" y="971550"/>
              <a:ext cx="1333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凡例高"/>
            <p:cNvSpPr/>
            <p:nvPr/>
          </p:nvSpPr>
          <p:spPr>
            <a:xfrm>
              <a:off x="5172075" y="952500"/>
              <a:ext cx="2286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12" name="列_1月"/>
            <p:cNvSpPr/>
            <p:nvPr/>
          </p:nvSpPr>
          <p:spPr>
            <a:xfrm>
              <a:off x="1514475" y="12192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1月</a:t>
              </a:r>
            </a:p>
          </p:txBody>
        </p:sp>
        <p:sp>
          <p:nvSpPr>
            <p:cNvPr id="13" name="列_2月"/>
            <p:cNvSpPr/>
            <p:nvPr/>
          </p:nvSpPr>
          <p:spPr>
            <a:xfrm>
              <a:off x="2295525" y="12192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14" name="列_3月"/>
            <p:cNvSpPr/>
            <p:nvPr/>
          </p:nvSpPr>
          <p:spPr>
            <a:xfrm>
              <a:off x="3076575" y="12192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15" name="列_4月"/>
            <p:cNvSpPr/>
            <p:nvPr/>
          </p:nvSpPr>
          <p:spPr>
            <a:xfrm>
              <a:off x="3857625" y="12192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16" name="列_5月"/>
            <p:cNvSpPr/>
            <p:nvPr/>
          </p:nvSpPr>
          <p:spPr>
            <a:xfrm>
              <a:off x="4638675" y="1219200"/>
              <a:ext cx="7429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17" name="行_地域A"/>
            <p:cNvSpPr/>
            <p:nvPr/>
          </p:nvSpPr>
          <p:spPr>
            <a:xfrm>
              <a:off x="771525" y="1485900"/>
              <a:ext cx="6667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地域A</a:t>
              </a:r>
            </a:p>
          </p:txBody>
        </p:sp>
        <p:sp>
          <p:nvSpPr>
            <p:cNvPr id="18" name="マス_地域A1月"/>
            <p:cNvSpPr/>
            <p:nvPr/>
          </p:nvSpPr>
          <p:spPr>
            <a:xfrm>
              <a:off x="1514475" y="1390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値_地域A1月"/>
            <p:cNvSpPr/>
            <p:nvPr/>
          </p:nvSpPr>
          <p:spPr>
            <a:xfrm>
              <a:off x="1514475" y="1485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24</a:t>
              </a:r>
            </a:p>
          </p:txBody>
        </p:sp>
        <p:sp>
          <p:nvSpPr>
            <p:cNvPr id="20" name="マス_地域A2月"/>
            <p:cNvSpPr/>
            <p:nvPr/>
          </p:nvSpPr>
          <p:spPr>
            <a:xfrm>
              <a:off x="2295525" y="1390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地域A2月"/>
            <p:cNvSpPr/>
            <p:nvPr/>
          </p:nvSpPr>
          <p:spPr>
            <a:xfrm>
              <a:off x="2295525" y="1485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41</a:t>
              </a:r>
            </a:p>
          </p:txBody>
        </p:sp>
        <p:sp>
          <p:nvSpPr>
            <p:cNvPr id="22" name="マス_地域A3月"/>
            <p:cNvSpPr/>
            <p:nvPr/>
          </p:nvSpPr>
          <p:spPr>
            <a:xfrm>
              <a:off x="3076575" y="1390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_地域A3月"/>
            <p:cNvSpPr/>
            <p:nvPr/>
          </p:nvSpPr>
          <p:spPr>
            <a:xfrm>
              <a:off x="3076575" y="1485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38</a:t>
              </a:r>
            </a:p>
          </p:txBody>
        </p:sp>
        <p:sp>
          <p:nvSpPr>
            <p:cNvPr id="24" name="マス_地域A4月"/>
            <p:cNvSpPr/>
            <p:nvPr/>
          </p:nvSpPr>
          <p:spPr>
            <a:xfrm>
              <a:off x="3857625" y="1390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値_地域A4月"/>
            <p:cNvSpPr/>
            <p:nvPr/>
          </p:nvSpPr>
          <p:spPr>
            <a:xfrm>
              <a:off x="3857625" y="1485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22</a:t>
              </a:r>
            </a:p>
          </p:txBody>
        </p:sp>
        <p:sp>
          <p:nvSpPr>
            <p:cNvPr id="26" name="マス_地域A5月"/>
            <p:cNvSpPr/>
            <p:nvPr/>
          </p:nvSpPr>
          <p:spPr>
            <a:xfrm>
              <a:off x="4638675" y="1390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値_地域A5月"/>
            <p:cNvSpPr/>
            <p:nvPr/>
          </p:nvSpPr>
          <p:spPr>
            <a:xfrm>
              <a:off x="4638675" y="1485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45</a:t>
              </a:r>
            </a:p>
          </p:txBody>
        </p:sp>
        <p:sp>
          <p:nvSpPr>
            <p:cNvPr id="28" name="行_地域B"/>
            <p:cNvSpPr/>
            <p:nvPr/>
          </p:nvSpPr>
          <p:spPr>
            <a:xfrm>
              <a:off x="771525" y="1866900"/>
              <a:ext cx="6667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地域B</a:t>
              </a:r>
            </a:p>
          </p:txBody>
        </p:sp>
        <p:sp>
          <p:nvSpPr>
            <p:cNvPr id="29" name="マス_地域B1月"/>
            <p:cNvSpPr/>
            <p:nvPr/>
          </p:nvSpPr>
          <p:spPr>
            <a:xfrm>
              <a:off x="1514475" y="1771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値_地域B1月"/>
            <p:cNvSpPr/>
            <p:nvPr/>
          </p:nvSpPr>
          <p:spPr>
            <a:xfrm>
              <a:off x="1514475" y="1866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35</a:t>
              </a:r>
            </a:p>
          </p:txBody>
        </p:sp>
        <p:sp>
          <p:nvSpPr>
            <p:cNvPr id="31" name="マス_地域B2月"/>
            <p:cNvSpPr/>
            <p:nvPr/>
          </p:nvSpPr>
          <p:spPr>
            <a:xfrm>
              <a:off x="2295525" y="1771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_地域B2月"/>
            <p:cNvSpPr/>
            <p:nvPr/>
          </p:nvSpPr>
          <p:spPr>
            <a:xfrm>
              <a:off x="2295525" y="1866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18</a:t>
              </a:r>
            </a:p>
          </p:txBody>
        </p:sp>
        <p:sp>
          <p:nvSpPr>
            <p:cNvPr id="33" name="マス_地域B3月"/>
            <p:cNvSpPr/>
            <p:nvPr/>
          </p:nvSpPr>
          <p:spPr>
            <a:xfrm>
              <a:off x="3076575" y="1771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地域B3月"/>
            <p:cNvSpPr/>
            <p:nvPr/>
          </p:nvSpPr>
          <p:spPr>
            <a:xfrm>
              <a:off x="3076575" y="1866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42</a:t>
              </a:r>
            </a:p>
          </p:txBody>
        </p:sp>
        <p:sp>
          <p:nvSpPr>
            <p:cNvPr id="35" name="マス_地域B4月"/>
            <p:cNvSpPr/>
            <p:nvPr/>
          </p:nvSpPr>
          <p:spPr>
            <a:xfrm>
              <a:off x="3857625" y="1771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値_地域B4月"/>
            <p:cNvSpPr/>
            <p:nvPr/>
          </p:nvSpPr>
          <p:spPr>
            <a:xfrm>
              <a:off x="3857625" y="1866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39</a:t>
              </a:r>
            </a:p>
          </p:txBody>
        </p:sp>
        <p:sp>
          <p:nvSpPr>
            <p:cNvPr id="37" name="マス_地域B5月"/>
            <p:cNvSpPr/>
            <p:nvPr/>
          </p:nvSpPr>
          <p:spPr>
            <a:xfrm>
              <a:off x="4638675" y="1771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_地域B5月"/>
            <p:cNvSpPr/>
            <p:nvPr/>
          </p:nvSpPr>
          <p:spPr>
            <a:xfrm>
              <a:off x="4638675" y="1866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21</a:t>
              </a:r>
            </a:p>
          </p:txBody>
        </p:sp>
        <p:sp>
          <p:nvSpPr>
            <p:cNvPr id="39" name="行_地域C"/>
            <p:cNvSpPr/>
            <p:nvPr/>
          </p:nvSpPr>
          <p:spPr>
            <a:xfrm>
              <a:off x="771525" y="2247900"/>
              <a:ext cx="6667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地域C</a:t>
              </a:r>
            </a:p>
          </p:txBody>
        </p:sp>
        <p:sp>
          <p:nvSpPr>
            <p:cNvPr id="40" name="マス_地域C1月"/>
            <p:cNvSpPr/>
            <p:nvPr/>
          </p:nvSpPr>
          <p:spPr>
            <a:xfrm>
              <a:off x="1514475" y="2152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_地域C1月"/>
            <p:cNvSpPr/>
            <p:nvPr/>
          </p:nvSpPr>
          <p:spPr>
            <a:xfrm>
              <a:off x="1514475" y="2247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40</a:t>
              </a:r>
            </a:p>
          </p:txBody>
        </p:sp>
        <p:sp>
          <p:nvSpPr>
            <p:cNvPr id="42" name="マス_地域C2月"/>
            <p:cNvSpPr/>
            <p:nvPr/>
          </p:nvSpPr>
          <p:spPr>
            <a:xfrm>
              <a:off x="2295525" y="2152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値_地域C2月"/>
            <p:cNvSpPr/>
            <p:nvPr/>
          </p:nvSpPr>
          <p:spPr>
            <a:xfrm>
              <a:off x="2295525" y="2247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47</a:t>
              </a:r>
            </a:p>
          </p:txBody>
        </p:sp>
        <p:sp>
          <p:nvSpPr>
            <p:cNvPr id="44" name="マス_地域C3月"/>
            <p:cNvSpPr/>
            <p:nvPr/>
          </p:nvSpPr>
          <p:spPr>
            <a:xfrm>
              <a:off x="3076575" y="2152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値_地域C3月"/>
            <p:cNvSpPr/>
            <p:nvPr/>
          </p:nvSpPr>
          <p:spPr>
            <a:xfrm>
              <a:off x="3076575" y="2247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52</a:t>
              </a:r>
            </a:p>
          </p:txBody>
        </p:sp>
        <p:sp>
          <p:nvSpPr>
            <p:cNvPr id="46" name="マス_地域C4月"/>
            <p:cNvSpPr/>
            <p:nvPr/>
          </p:nvSpPr>
          <p:spPr>
            <a:xfrm>
              <a:off x="3857625" y="2152650"/>
              <a:ext cx="74295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値_地域C4月"/>
            <p:cNvSpPr/>
            <p:nvPr/>
          </p:nvSpPr>
          <p:spPr>
            <a:xfrm>
              <a:off x="3857625" y="2247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96</a:t>
              </a:r>
            </a:p>
          </p:txBody>
        </p:sp>
        <p:sp>
          <p:nvSpPr>
            <p:cNvPr id="48" name="マス_地域C5月"/>
            <p:cNvSpPr/>
            <p:nvPr/>
          </p:nvSpPr>
          <p:spPr>
            <a:xfrm>
              <a:off x="4638675" y="2152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値_地域C5月"/>
            <p:cNvSpPr/>
            <p:nvPr/>
          </p:nvSpPr>
          <p:spPr>
            <a:xfrm>
              <a:off x="4638675" y="2247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58</a:t>
              </a:r>
            </a:p>
          </p:txBody>
        </p:sp>
        <p:sp>
          <p:nvSpPr>
            <p:cNvPr id="50" name="行_地域D"/>
            <p:cNvSpPr/>
            <p:nvPr/>
          </p:nvSpPr>
          <p:spPr>
            <a:xfrm>
              <a:off x="771525" y="2628900"/>
              <a:ext cx="6667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dk2"/>
                  </a:solidFill>
                </a:rPr>
                <a:t>地域D</a:t>
              </a:r>
            </a:p>
          </p:txBody>
        </p:sp>
        <p:sp>
          <p:nvSpPr>
            <p:cNvPr id="51" name="マス_地域D1月"/>
            <p:cNvSpPr/>
            <p:nvPr/>
          </p:nvSpPr>
          <p:spPr>
            <a:xfrm>
              <a:off x="1514475" y="2533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値_地域D1月"/>
            <p:cNvSpPr/>
            <p:nvPr/>
          </p:nvSpPr>
          <p:spPr>
            <a:xfrm>
              <a:off x="1514475" y="2628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15</a:t>
              </a:r>
            </a:p>
          </p:txBody>
        </p:sp>
        <p:sp>
          <p:nvSpPr>
            <p:cNvPr id="53" name="マス_地域D2月"/>
            <p:cNvSpPr/>
            <p:nvPr/>
          </p:nvSpPr>
          <p:spPr>
            <a:xfrm>
              <a:off x="2295525" y="2533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値_地域D2月"/>
            <p:cNvSpPr/>
            <p:nvPr/>
          </p:nvSpPr>
          <p:spPr>
            <a:xfrm>
              <a:off x="2295525" y="2628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33</a:t>
              </a:r>
            </a:p>
          </p:txBody>
        </p:sp>
        <p:sp>
          <p:nvSpPr>
            <p:cNvPr id="55" name="マス_地域D3月"/>
            <p:cNvSpPr/>
            <p:nvPr/>
          </p:nvSpPr>
          <p:spPr>
            <a:xfrm>
              <a:off x="3076575" y="2533650"/>
              <a:ext cx="74295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値_地域D3月"/>
            <p:cNvSpPr/>
            <p:nvPr/>
          </p:nvSpPr>
          <p:spPr>
            <a:xfrm>
              <a:off x="3076575" y="2628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19</a:t>
              </a:r>
            </a:p>
          </p:txBody>
        </p:sp>
        <p:sp>
          <p:nvSpPr>
            <p:cNvPr id="57" name="マス_地域D4月"/>
            <p:cNvSpPr/>
            <p:nvPr/>
          </p:nvSpPr>
          <p:spPr>
            <a:xfrm>
              <a:off x="3857625" y="2533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値_地域D4月"/>
            <p:cNvSpPr/>
            <p:nvPr/>
          </p:nvSpPr>
          <p:spPr>
            <a:xfrm>
              <a:off x="3857625" y="2628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44</a:t>
              </a:r>
            </a:p>
          </p:txBody>
        </p:sp>
        <p:sp>
          <p:nvSpPr>
            <p:cNvPr id="59" name="マス_地域D5月"/>
            <p:cNvSpPr/>
            <p:nvPr/>
          </p:nvSpPr>
          <p:spPr>
            <a:xfrm>
              <a:off x="4638675" y="2533650"/>
              <a:ext cx="74295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値_地域D5月"/>
            <p:cNvSpPr/>
            <p:nvPr/>
          </p:nvSpPr>
          <p:spPr>
            <a:xfrm>
              <a:off x="4638675" y="2628900"/>
              <a:ext cx="74295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dk2"/>
                  </a:solidFill>
                </a:rPr>
                <a:t>37</a:t>
              </a:r>
            </a:p>
          </p:txBody>
        </p:sp>
        <p:sp>
          <p:nvSpPr>
            <p:cNvPr id="61" name="出典行"/>
            <p:cNvSpPr/>
            <p:nvPr/>
          </p:nvSpPr>
          <p:spPr>
            <a:xfrm>
              <a:off x="6762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3905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09 ヒートマップ｜密度：淡→濃の3段。最濃は1マスだけ＝言いたい所</a:t>
            </a:r>
          </a:p>
        </p:txBody>
      </p:sp>
      <p:grpSp>
        <p:nvGrpSpPr>
          <p:cNvPr id="63" name="グラフ10_ファネル"/>
          <p:cNvGrpSpPr/>
          <p:nvPr/>
        </p:nvGrpSpPr>
        <p:grpSpPr>
          <a:xfrm>
            <a:off x="6486525" y="933450"/>
            <a:ext cx="4457700" cy="2257425"/>
            <a:chOff x="6486525" y="933450"/>
            <a:chExt cx="4457700" cy="2257425"/>
          </a:xfrm>
        </p:grpSpPr>
        <p:sp>
          <p:nvSpPr>
            <p:cNvPr id="64" name="図タイトル"/>
            <p:cNvSpPr/>
            <p:nvPr/>
          </p:nvSpPr>
          <p:spPr>
            <a:xfrm>
              <a:off x="6505575" y="9334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図タイトル（歩留まり）</a:t>
              </a:r>
            </a:p>
          </p:txBody>
        </p:sp>
        <p:sp>
          <p:nvSpPr>
            <p:cNvPr id="65" name="段_認知"/>
            <p:cNvSpPr/>
            <p:nvPr/>
          </p:nvSpPr>
          <p:spPr>
            <a:xfrm>
              <a:off x="6486525" y="1181100"/>
              <a:ext cx="3619500" cy="342900"/>
            </a:xfrm>
            <a:custGeom>
              <a:avLst/>
              <a:gdLst/>
              <a:ahLst/>
              <a:cxnLst/>
              <a:rect l="0" t="0" r="3619500" b="342900"/>
              <a:pathLst>
                <a:path w="3619500" h="342900">
                  <a:moveTo>
                    <a:pt x="0" y="0"/>
                  </a:moveTo>
                  <a:lnTo>
                    <a:pt x="3619500" y="0"/>
                  </a:lnTo>
                  <a:lnTo>
                    <a:pt x="3105150" y="342900"/>
                  </a:lnTo>
                  <a:lnTo>
                    <a:pt x="514350" y="3429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ラベル_認知"/>
            <p:cNvSpPr/>
            <p:nvPr/>
          </p:nvSpPr>
          <p:spPr>
            <a:xfrm>
              <a:off x="7439025" y="127635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認知　10,000</a:t>
              </a:r>
            </a:p>
          </p:txBody>
        </p:sp>
        <p:sp>
          <p:nvSpPr>
            <p:cNvPr id="67" name="段_検討"/>
            <p:cNvSpPr/>
            <p:nvPr/>
          </p:nvSpPr>
          <p:spPr>
            <a:xfrm>
              <a:off x="7000875" y="1647825"/>
              <a:ext cx="2590800" cy="342900"/>
            </a:xfrm>
            <a:custGeom>
              <a:avLst/>
              <a:gdLst/>
              <a:ahLst/>
              <a:cxnLst/>
              <a:rect l="0" t="0" r="2590800" b="342900"/>
              <a:pathLst>
                <a:path w="2590800" h="342900">
                  <a:moveTo>
                    <a:pt x="0" y="0"/>
                  </a:moveTo>
                  <a:lnTo>
                    <a:pt x="2590800" y="0"/>
                  </a:lnTo>
                  <a:lnTo>
                    <a:pt x="2143125" y="342900"/>
                  </a:lnTo>
                  <a:lnTo>
                    <a:pt x="447675" y="3429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ラベル_検討"/>
            <p:cNvSpPr/>
            <p:nvPr/>
          </p:nvSpPr>
          <p:spPr>
            <a:xfrm>
              <a:off x="7439025" y="1743075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検討　3,200</a:t>
              </a:r>
            </a:p>
          </p:txBody>
        </p:sp>
        <p:sp>
          <p:nvSpPr>
            <p:cNvPr id="69" name="段_商談"/>
            <p:cNvSpPr/>
            <p:nvPr/>
          </p:nvSpPr>
          <p:spPr>
            <a:xfrm>
              <a:off x="7448550" y="2114550"/>
              <a:ext cx="1695450" cy="342900"/>
            </a:xfrm>
            <a:custGeom>
              <a:avLst/>
              <a:gdLst/>
              <a:ahLst/>
              <a:cxnLst/>
              <a:rect l="0" t="0" r="1695450" b="342900"/>
              <a:pathLst>
                <a:path w="1695450" h="342900">
                  <a:moveTo>
                    <a:pt x="0" y="0"/>
                  </a:moveTo>
                  <a:lnTo>
                    <a:pt x="1695450" y="0"/>
                  </a:lnTo>
                  <a:lnTo>
                    <a:pt x="1304925" y="342900"/>
                  </a:lnTo>
                  <a:lnTo>
                    <a:pt x="390525" y="342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ラベル_商談"/>
            <p:cNvSpPr/>
            <p:nvPr/>
          </p:nvSpPr>
          <p:spPr>
            <a:xfrm>
              <a:off x="7439025" y="22098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商談　960</a:t>
              </a:r>
            </a:p>
          </p:txBody>
        </p:sp>
        <p:sp>
          <p:nvSpPr>
            <p:cNvPr id="71" name="段_受注"/>
            <p:cNvSpPr/>
            <p:nvPr/>
          </p:nvSpPr>
          <p:spPr>
            <a:xfrm>
              <a:off x="7839075" y="2581275"/>
              <a:ext cx="914400" cy="342900"/>
            </a:xfrm>
            <a:custGeom>
              <a:avLst/>
              <a:gdLst/>
              <a:ahLst/>
              <a:cxnLst/>
              <a:rect l="0" t="0" r="914400" b="342900"/>
              <a:pathLst>
                <a:path w="914400" h="342900">
                  <a:moveTo>
                    <a:pt x="0" y="0"/>
                  </a:moveTo>
                  <a:lnTo>
                    <a:pt x="914400" y="0"/>
                  </a:lnTo>
                  <a:lnTo>
                    <a:pt x="800100" y="342900"/>
                  </a:lnTo>
                  <a:lnTo>
                    <a:pt x="114300" y="3429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ラベル_受注"/>
            <p:cNvSpPr/>
            <p:nvPr/>
          </p:nvSpPr>
          <p:spPr>
            <a:xfrm>
              <a:off x="7439025" y="2676525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受注　240</a:t>
              </a:r>
            </a:p>
          </p:txBody>
        </p:sp>
        <p:sp>
          <p:nvSpPr>
            <p:cNvPr id="73" name="転換率1"/>
            <p:cNvSpPr/>
            <p:nvPr/>
          </p:nvSpPr>
          <p:spPr>
            <a:xfrm>
              <a:off x="10239375" y="1519237"/>
              <a:ext cx="7048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▼ 32%</a:t>
              </a:r>
            </a:p>
          </p:txBody>
        </p:sp>
        <p:sp>
          <p:nvSpPr>
            <p:cNvPr id="74" name="転換率2"/>
            <p:cNvSpPr/>
            <p:nvPr/>
          </p:nvSpPr>
          <p:spPr>
            <a:xfrm>
              <a:off x="10239375" y="1985962"/>
              <a:ext cx="7048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▼ 30%</a:t>
              </a:r>
            </a:p>
          </p:txBody>
        </p:sp>
        <p:sp>
          <p:nvSpPr>
            <p:cNvPr id="75" name="転換率3"/>
            <p:cNvSpPr/>
            <p:nvPr/>
          </p:nvSpPr>
          <p:spPr>
            <a:xfrm>
              <a:off x="10239375" y="2452687"/>
              <a:ext cx="7048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 b="1">
                  <a:solidFill>
                    <a:schemeClr val="accent1"/>
                  </a:solidFill>
                </a:rPr>
                <a:t>▼ 25%</a:t>
              </a:r>
            </a:p>
          </p:txBody>
        </p:sp>
        <p:sp>
          <p:nvSpPr>
            <p:cNvPr id="76" name="出典行"/>
            <p:cNvSpPr/>
            <p:nvPr/>
          </p:nvSpPr>
          <p:spPr>
            <a:xfrm>
              <a:off x="6505575" y="30670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77" name="Rectangle 76"/>
          <p:cNvSpPr/>
          <p:nvPr/>
        </p:nvSpPr>
        <p:spPr>
          <a:xfrm>
            <a:off x="6219825" y="33337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10 ファネル｜歩留まり：段間の転換率で詰まりを特定する</a:t>
            </a:r>
          </a:p>
        </p:txBody>
      </p:sp>
      <p:grpSp>
        <p:nvGrpSpPr>
          <p:cNvPr id="78" name="グラフ11_複合_棒折れ線"/>
          <p:cNvGrpSpPr/>
          <p:nvPr/>
        </p:nvGrpSpPr>
        <p:grpSpPr>
          <a:xfrm>
            <a:off x="657225" y="3867150"/>
            <a:ext cx="5105400" cy="2257425"/>
            <a:chOff x="657225" y="3867150"/>
            <a:chExt cx="5105400" cy="2257425"/>
          </a:xfrm>
        </p:grpSpPr>
        <p:sp>
          <p:nvSpPr>
            <p:cNvPr id="79" name="図タイトル"/>
            <p:cNvSpPr/>
            <p:nvPr/>
          </p:nvSpPr>
          <p:spPr>
            <a:xfrm>
              <a:off x="6762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図タイトル（棒＝売上・線＝利益率）</a:t>
              </a:r>
            </a:p>
          </p:txBody>
        </p:sp>
        <p:sp>
          <p:nvSpPr>
            <p:cNvPr id="80" name="凡例棒"/>
            <p:cNvSpPr/>
            <p:nvPr/>
          </p:nvSpPr>
          <p:spPr>
            <a:xfrm>
              <a:off x="3533775" y="3905250"/>
              <a:ext cx="952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凡例棒文字"/>
            <p:cNvSpPr/>
            <p:nvPr/>
          </p:nvSpPr>
          <p:spPr>
            <a:xfrm>
              <a:off x="3667125" y="3876675"/>
              <a:ext cx="723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売上（左軸）</a:t>
              </a:r>
            </a:p>
          </p:txBody>
        </p:sp>
        <p:cxnSp>
          <p:nvCxnSpPr>
            <p:cNvPr id="82" name="凡例線"/>
            <p:cNvCxnSpPr/>
            <p:nvPr/>
          </p:nvCxnSpPr>
          <p:spPr>
            <a:xfrm>
              <a:off x="4486275" y="3952875"/>
              <a:ext cx="190500" cy="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凡例線文字"/>
            <p:cNvSpPr/>
            <p:nvPr/>
          </p:nvSpPr>
          <p:spPr>
            <a:xfrm>
              <a:off x="4733925" y="3876675"/>
              <a:ext cx="857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利益率（右軸）</a:t>
              </a:r>
            </a:p>
          </p:txBody>
        </p:sp>
        <p:cxnSp>
          <p:nvCxnSpPr>
            <p:cNvPr id="84" name="目盛線4.0"/>
            <p:cNvCxnSpPr/>
            <p:nvPr/>
          </p:nvCxnSpPr>
          <p:spPr>
            <a:xfrm>
              <a:off x="1076325" y="470535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左目盛4.0"/>
            <p:cNvSpPr/>
            <p:nvPr/>
          </p:nvSpPr>
          <p:spPr>
            <a:xfrm>
              <a:off x="657225" y="46386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4.0</a:t>
              </a:r>
            </a:p>
          </p:txBody>
        </p:sp>
        <p:sp>
          <p:nvSpPr>
            <p:cNvPr id="86" name="左目盛0"/>
            <p:cNvSpPr/>
            <p:nvPr/>
          </p:nvSpPr>
          <p:spPr>
            <a:xfrm>
              <a:off x="657225" y="56292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87" name="右目盛20"/>
            <p:cNvSpPr/>
            <p:nvPr/>
          </p:nvSpPr>
          <p:spPr>
            <a:xfrm>
              <a:off x="5381625" y="42195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20%</a:t>
              </a:r>
            </a:p>
          </p:txBody>
        </p:sp>
        <p:sp>
          <p:nvSpPr>
            <p:cNvPr id="88" name="右目盛0"/>
            <p:cNvSpPr/>
            <p:nvPr/>
          </p:nvSpPr>
          <p:spPr>
            <a:xfrm>
              <a:off x="5381625" y="5629275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0%</a:t>
              </a:r>
            </a:p>
          </p:txBody>
        </p:sp>
        <p:sp>
          <p:nvSpPr>
            <p:cNvPr id="89" name="棒1"/>
            <p:cNvSpPr/>
            <p:nvPr/>
          </p:nvSpPr>
          <p:spPr>
            <a:xfrm>
              <a:off x="1381125" y="4853940"/>
              <a:ext cx="476250" cy="8420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項目1"/>
            <p:cNvSpPr/>
            <p:nvPr/>
          </p:nvSpPr>
          <p:spPr>
            <a:xfrm>
              <a:off x="1209675" y="576262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FY22</a:t>
              </a:r>
            </a:p>
          </p:txBody>
        </p:sp>
        <p:sp>
          <p:nvSpPr>
            <p:cNvPr id="91" name="棒2"/>
            <p:cNvSpPr/>
            <p:nvPr/>
          </p:nvSpPr>
          <p:spPr>
            <a:xfrm>
              <a:off x="2200275" y="4754880"/>
              <a:ext cx="476250" cy="94107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項目2"/>
            <p:cNvSpPr/>
            <p:nvPr/>
          </p:nvSpPr>
          <p:spPr>
            <a:xfrm>
              <a:off x="2028825" y="576262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FY23</a:t>
              </a:r>
            </a:p>
          </p:txBody>
        </p:sp>
        <p:sp>
          <p:nvSpPr>
            <p:cNvPr id="93" name="棒3"/>
            <p:cNvSpPr/>
            <p:nvPr/>
          </p:nvSpPr>
          <p:spPr>
            <a:xfrm>
              <a:off x="3019425" y="4680585"/>
              <a:ext cx="476250" cy="101536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項目3"/>
            <p:cNvSpPr/>
            <p:nvPr/>
          </p:nvSpPr>
          <p:spPr>
            <a:xfrm>
              <a:off x="2847975" y="576262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FY24</a:t>
              </a:r>
            </a:p>
          </p:txBody>
        </p:sp>
        <p:sp>
          <p:nvSpPr>
            <p:cNvPr id="95" name="棒4"/>
            <p:cNvSpPr/>
            <p:nvPr/>
          </p:nvSpPr>
          <p:spPr>
            <a:xfrm>
              <a:off x="3838575" y="4581525"/>
              <a:ext cx="476250" cy="11144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項目4"/>
            <p:cNvSpPr/>
            <p:nvPr/>
          </p:nvSpPr>
          <p:spPr>
            <a:xfrm>
              <a:off x="3667125" y="576262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FY25</a:t>
              </a:r>
            </a:p>
          </p:txBody>
        </p:sp>
        <p:sp>
          <p:nvSpPr>
            <p:cNvPr id="97" name="棒5"/>
            <p:cNvSpPr/>
            <p:nvPr/>
          </p:nvSpPr>
          <p:spPr>
            <a:xfrm>
              <a:off x="4657725" y="4408170"/>
              <a:ext cx="476250" cy="12877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項目5"/>
            <p:cNvSpPr/>
            <p:nvPr/>
          </p:nvSpPr>
          <p:spPr>
            <a:xfrm>
              <a:off x="4486275" y="5762625"/>
              <a:ext cx="8191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FY26</a:t>
              </a:r>
            </a:p>
          </p:txBody>
        </p:sp>
        <p:cxnSp>
          <p:nvCxnSpPr>
            <p:cNvPr id="99" name="線1"/>
            <p:cNvCxnSpPr/>
            <p:nvPr/>
          </p:nvCxnSpPr>
          <p:spPr>
            <a:xfrm flipV="1">
              <a:off x="1619250" y="5061585"/>
              <a:ext cx="819150" cy="70485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線2"/>
            <p:cNvCxnSpPr/>
            <p:nvPr/>
          </p:nvCxnSpPr>
          <p:spPr>
            <a:xfrm flipV="1">
              <a:off x="2438400" y="4920615"/>
              <a:ext cx="819150" cy="14097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線3"/>
            <p:cNvCxnSpPr/>
            <p:nvPr/>
          </p:nvCxnSpPr>
          <p:spPr>
            <a:xfrm flipV="1">
              <a:off x="3257550" y="4709160"/>
              <a:ext cx="819150" cy="211455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線4"/>
            <p:cNvCxnSpPr/>
            <p:nvPr/>
          </p:nvCxnSpPr>
          <p:spPr>
            <a:xfrm flipV="1">
              <a:off x="4076700" y="4497705"/>
              <a:ext cx="819150" cy="211455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点1"/>
            <p:cNvSpPr/>
            <p:nvPr/>
          </p:nvSpPr>
          <p:spPr>
            <a:xfrm>
              <a:off x="1585912" y="5098732"/>
              <a:ext cx="66675" cy="666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点2"/>
            <p:cNvSpPr/>
            <p:nvPr/>
          </p:nvSpPr>
          <p:spPr>
            <a:xfrm>
              <a:off x="2405062" y="5028247"/>
              <a:ext cx="66675" cy="666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点3"/>
            <p:cNvSpPr/>
            <p:nvPr/>
          </p:nvSpPr>
          <p:spPr>
            <a:xfrm>
              <a:off x="3224212" y="4887277"/>
              <a:ext cx="66675" cy="666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点4"/>
            <p:cNvSpPr/>
            <p:nvPr/>
          </p:nvSpPr>
          <p:spPr>
            <a:xfrm>
              <a:off x="4043362" y="4675822"/>
              <a:ext cx="66675" cy="6667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終点"/>
            <p:cNvSpPr/>
            <p:nvPr/>
          </p:nvSpPr>
          <p:spPr>
            <a:xfrm>
              <a:off x="4848225" y="4450080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終点ラベル"/>
            <p:cNvSpPr/>
            <p:nvPr/>
          </p:nvSpPr>
          <p:spPr>
            <a:xfrm>
              <a:off x="4457700" y="4250055"/>
              <a:ext cx="8763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17%</a:t>
              </a:r>
            </a:p>
          </p:txBody>
        </p:sp>
        <p:cxnSp>
          <p:nvCxnSpPr>
            <p:cNvPr id="109" name="基準線"/>
            <p:cNvCxnSpPr/>
            <p:nvPr/>
          </p:nvCxnSpPr>
          <p:spPr>
            <a:xfrm>
              <a:off x="1076325" y="569595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出典行"/>
            <p:cNvSpPr/>
            <p:nvPr/>
          </p:nvSpPr>
          <p:spPr>
            <a:xfrm>
              <a:off x="6762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3905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11 複合（棒＋折れ線）｜2指標：左右の軸ラベルと凡例を明記</a:t>
            </a:r>
          </a:p>
        </p:txBody>
      </p:sp>
      <p:grpSp>
        <p:nvGrpSpPr>
          <p:cNvPr id="112" name="グラフ12_ブレットバー"/>
          <p:cNvGrpSpPr/>
          <p:nvPr/>
        </p:nvGrpSpPr>
        <p:grpSpPr>
          <a:xfrm>
            <a:off x="6505575" y="3867150"/>
            <a:ext cx="5219700" cy="2257425"/>
            <a:chOff x="6505575" y="3867150"/>
            <a:chExt cx="5219700" cy="2257425"/>
          </a:xfrm>
        </p:grpSpPr>
        <p:sp>
          <p:nvSpPr>
            <p:cNvPr id="113" name="図タイトル"/>
            <p:cNvSpPr/>
            <p:nvPr/>
          </p:nvSpPr>
          <p:spPr>
            <a:xfrm>
              <a:off x="6505575" y="38671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図タイトル（実績と目標・%）</a:t>
              </a:r>
            </a:p>
          </p:txBody>
        </p:sp>
        <p:sp>
          <p:nvSpPr>
            <p:cNvPr id="114" name="帯名_未達"/>
            <p:cNvSpPr/>
            <p:nvPr/>
          </p:nvSpPr>
          <p:spPr>
            <a:xfrm>
              <a:off x="7439025" y="4362450"/>
              <a:ext cx="21717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未達</a:t>
              </a:r>
            </a:p>
          </p:txBody>
        </p:sp>
        <p:sp>
          <p:nvSpPr>
            <p:cNvPr id="115" name="帯名_標準"/>
            <p:cNvSpPr/>
            <p:nvPr/>
          </p:nvSpPr>
          <p:spPr>
            <a:xfrm>
              <a:off x="9610725" y="4362450"/>
              <a:ext cx="904875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標準</a:t>
              </a:r>
            </a:p>
          </p:txBody>
        </p:sp>
        <p:sp>
          <p:nvSpPr>
            <p:cNvPr id="116" name="帯名_良好"/>
            <p:cNvSpPr/>
            <p:nvPr/>
          </p:nvSpPr>
          <p:spPr>
            <a:xfrm>
              <a:off x="10515600" y="4362450"/>
              <a:ext cx="542925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750">
                  <a:solidFill>
                    <a:schemeClr val="accent5"/>
                  </a:solidFill>
                </a:rPr>
                <a:t>良好</a:t>
              </a:r>
            </a:p>
          </p:txBody>
        </p:sp>
        <p:sp>
          <p:nvSpPr>
            <p:cNvPr id="117" name="行_指標A"/>
            <p:cNvSpPr/>
            <p:nvPr/>
          </p:nvSpPr>
          <p:spPr>
            <a:xfrm>
              <a:off x="6562725" y="4581525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指標A</a:t>
              </a:r>
            </a:p>
          </p:txBody>
        </p:sp>
        <p:sp>
          <p:nvSpPr>
            <p:cNvPr id="118" name="指標A_帯_未達"/>
            <p:cNvSpPr/>
            <p:nvPr/>
          </p:nvSpPr>
          <p:spPr>
            <a:xfrm>
              <a:off x="7439025" y="4533900"/>
              <a:ext cx="2171700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指標A_帯_標準"/>
            <p:cNvSpPr/>
            <p:nvPr/>
          </p:nvSpPr>
          <p:spPr>
            <a:xfrm>
              <a:off x="9610725" y="4533900"/>
              <a:ext cx="904875" cy="2476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指標A_帯_良好"/>
            <p:cNvSpPr/>
            <p:nvPr/>
          </p:nvSpPr>
          <p:spPr>
            <a:xfrm>
              <a:off x="10515600" y="4533900"/>
              <a:ext cx="542925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指標A_実績バー"/>
            <p:cNvSpPr/>
            <p:nvPr/>
          </p:nvSpPr>
          <p:spPr>
            <a:xfrm>
              <a:off x="7439025" y="4610100"/>
              <a:ext cx="282321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指標A_目標tick"/>
            <p:cNvSpPr/>
            <p:nvPr/>
          </p:nvSpPr>
          <p:spPr>
            <a:xfrm>
              <a:off x="10501312" y="4495800"/>
              <a:ext cx="28575" cy="3238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指標A_値"/>
            <p:cNvSpPr/>
            <p:nvPr/>
          </p:nvSpPr>
          <p:spPr>
            <a:xfrm>
              <a:off x="11153775" y="4581525"/>
              <a:ext cx="5715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78%</a:t>
              </a:r>
            </a:p>
          </p:txBody>
        </p:sp>
        <p:sp>
          <p:nvSpPr>
            <p:cNvPr id="124" name="行_指標B"/>
            <p:cNvSpPr/>
            <p:nvPr/>
          </p:nvSpPr>
          <p:spPr>
            <a:xfrm>
              <a:off x="6562725" y="5172075"/>
              <a:ext cx="800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指標B</a:t>
              </a:r>
            </a:p>
          </p:txBody>
        </p:sp>
        <p:sp>
          <p:nvSpPr>
            <p:cNvPr id="125" name="指標B_帯_未達"/>
            <p:cNvSpPr/>
            <p:nvPr/>
          </p:nvSpPr>
          <p:spPr>
            <a:xfrm>
              <a:off x="7439025" y="5124450"/>
              <a:ext cx="2171700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指標B_帯_標準"/>
            <p:cNvSpPr/>
            <p:nvPr/>
          </p:nvSpPr>
          <p:spPr>
            <a:xfrm>
              <a:off x="9610725" y="5124450"/>
              <a:ext cx="904875" cy="2476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指標B_帯_良好"/>
            <p:cNvSpPr/>
            <p:nvPr/>
          </p:nvSpPr>
          <p:spPr>
            <a:xfrm>
              <a:off x="10515600" y="5124450"/>
              <a:ext cx="542925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指標B_実績バー"/>
            <p:cNvSpPr/>
            <p:nvPr/>
          </p:nvSpPr>
          <p:spPr>
            <a:xfrm>
              <a:off x="7439025" y="5200650"/>
              <a:ext cx="188214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指標B_目標tick"/>
            <p:cNvSpPr/>
            <p:nvPr/>
          </p:nvSpPr>
          <p:spPr>
            <a:xfrm>
              <a:off x="9958387" y="5086350"/>
              <a:ext cx="28575" cy="3238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指標B_値"/>
            <p:cNvSpPr/>
            <p:nvPr/>
          </p:nvSpPr>
          <p:spPr>
            <a:xfrm>
              <a:off x="11153775" y="5172075"/>
              <a:ext cx="5715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52%</a:t>
              </a:r>
            </a:p>
          </p:txBody>
        </p:sp>
        <p:sp>
          <p:nvSpPr>
            <p:cNvPr id="131" name="目盛0"/>
            <p:cNvSpPr/>
            <p:nvPr/>
          </p:nvSpPr>
          <p:spPr>
            <a:xfrm>
              <a:off x="7362825" y="5429250"/>
              <a:ext cx="2857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132" name="目盛100"/>
            <p:cNvSpPr/>
            <p:nvPr/>
          </p:nvSpPr>
          <p:spPr>
            <a:xfrm>
              <a:off x="10829925" y="5429250"/>
              <a:ext cx="3810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133" name="凡例"/>
            <p:cNvSpPr/>
            <p:nvPr/>
          </p:nvSpPr>
          <p:spPr>
            <a:xfrm>
              <a:off x="7439025" y="5619750"/>
              <a:ext cx="3238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■ 実績（濃）　▍目標（縦線）</a:t>
              </a:r>
            </a:p>
          </p:txBody>
        </p:sp>
        <p:sp>
          <p:nvSpPr>
            <p:cNvPr id="134" name="出典行"/>
            <p:cNvSpPr/>
            <p:nvPr/>
          </p:nvSpPr>
          <p:spPr>
            <a:xfrm>
              <a:off x="6505575" y="6000750"/>
              <a:ext cx="400050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出典：◯◯◯◯（サンプル値）</a:t>
              </a:r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6219825" y="6267450"/>
            <a:ext cx="55816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12 ブレットバー｜実績vs目標：背景の良否3帯で水準感を示す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" y="285750"/>
            <a:ext cx="104775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chemeClr val="dk2"/>
                </a:solidFill>
              </a:rPr>
              <a:t>グラフは選んでから作る — 型選び1分、数字の流し込み2分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525" y="571500"/>
            <a:ext cx="10477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無料公開中の「グラフ設計プロンプト」で型を決め、この空枠に数字を流すだけ。部品はすべてコピーして使えます</a:t>
            </a:r>
          </a:p>
        </p:txBody>
      </p:sp>
      <p:grpSp>
        <p:nvGrpSpPr>
          <p:cNvPr id="5" name="組み込み例_STEP1"/>
          <p:cNvGrpSpPr/>
          <p:nvPr/>
        </p:nvGrpSpPr>
        <p:grpSpPr>
          <a:xfrm>
            <a:off x="762000" y="990600"/>
            <a:ext cx="3810000" cy="4476750"/>
            <a:chOff x="762000" y="990600"/>
            <a:chExt cx="3810000" cy="4476750"/>
          </a:xfrm>
        </p:grpSpPr>
        <p:sp>
          <p:nvSpPr>
            <p:cNvPr id="6" name="STEP1パネル"/>
            <p:cNvSpPr/>
            <p:nvPr/>
          </p:nvSpPr>
          <p:spPr>
            <a:xfrm>
              <a:off x="762000" y="990600"/>
              <a:ext cx="3810000" cy="447675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番号1"/>
            <p:cNvSpPr/>
            <p:nvPr/>
          </p:nvSpPr>
          <p:spPr>
            <a:xfrm>
              <a:off x="990600" y="12001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番号1文字"/>
            <p:cNvSpPr/>
            <p:nvPr/>
          </p:nvSpPr>
          <p:spPr>
            <a:xfrm>
              <a:off x="990600" y="12096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9" name="見出し1"/>
            <p:cNvSpPr/>
            <p:nvPr/>
          </p:nvSpPr>
          <p:spPr>
            <a:xfrm>
              <a:off x="1428750" y="1257300"/>
              <a:ext cx="2952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プロンプトで「型」を選ぶ</a:t>
              </a:r>
            </a:p>
          </p:txBody>
        </p:sp>
        <p:sp>
          <p:nvSpPr>
            <p:cNvPr id="10" name="説明1"/>
            <p:cNvSpPr/>
            <p:nvPr/>
          </p:nvSpPr>
          <p:spPr>
            <a:xfrm>
              <a:off x="990600" y="1676400"/>
              <a:ext cx="33528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玄関（無料記事）のグラフ設計プロンプトに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「何を言いたいか」を1行入れる</a:t>
              </a:r>
            </a:p>
          </p:txBody>
        </p:sp>
        <p:sp>
          <p:nvSpPr>
            <p:cNvPr id="11" name="入力カード"/>
            <p:cNvSpPr/>
            <p:nvPr/>
          </p:nvSpPr>
          <p:spPr>
            <a:xfrm>
              <a:off x="990600" y="2152650"/>
              <a:ext cx="3352800" cy="1200150"/>
            </a:xfrm>
            <a:prstGeom prst="roundRect">
              <a:avLst>
                <a:gd name="adj" fmla="val 634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入力見出し"/>
            <p:cNvSpPr/>
            <p:nvPr/>
          </p:nvSpPr>
          <p:spPr>
            <a:xfrm>
              <a:off x="1162050" y="230505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言いたいこと：</a:t>
              </a:r>
            </a:p>
          </p:txBody>
        </p:sp>
        <p:sp>
          <p:nvSpPr>
            <p:cNvPr id="13" name="入力例"/>
            <p:cNvSpPr/>
            <p:nvPr/>
          </p:nvSpPr>
          <p:spPr>
            <a:xfrm>
              <a:off x="1162050" y="25146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「施策Aが最も伸びている」</a:t>
              </a:r>
            </a:p>
          </p:txBody>
        </p:sp>
        <p:cxnSp>
          <p:nvCxnSpPr>
            <p:cNvPr id="14" name="入力罫線"/>
            <p:cNvCxnSpPr/>
            <p:nvPr/>
          </p:nvCxnSpPr>
          <p:spPr>
            <a:xfrm>
              <a:off x="1162050" y="2857500"/>
              <a:ext cx="300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入力条件"/>
            <p:cNvSpPr/>
            <p:nvPr/>
          </p:nvSpPr>
          <p:spPr>
            <a:xfrm>
              <a:off x="1162050" y="295275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比べたい軸：施策別（5項目・大小比較）</a:t>
              </a:r>
            </a:p>
          </p:txBody>
        </p:sp>
        <p:sp>
          <p:nvSpPr>
            <p:cNvPr id="16" name="出力チップ"/>
            <p:cNvSpPr/>
            <p:nvPr/>
          </p:nvSpPr>
          <p:spPr>
            <a:xfrm>
              <a:off x="990600" y="3581400"/>
              <a:ext cx="3352800" cy="419100"/>
            </a:xfrm>
            <a:prstGeom prst="roundRect">
              <a:avLst>
                <a:gd name="adj" fmla="val 18181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出力文字"/>
            <p:cNvSpPr/>
            <p:nvPr/>
          </p:nvSpPr>
          <p:spPr>
            <a:xfrm>
              <a:off x="1162050" y="3695700"/>
              <a:ext cx="3048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→ 推奨の型：① 縦棒（強調1本）</a:t>
              </a:r>
            </a:p>
          </p:txBody>
        </p:sp>
        <p:sp>
          <p:nvSpPr>
            <p:cNvPr id="18" name="補足1"/>
            <p:cNvSpPr/>
            <p:nvPr/>
          </p:nvSpPr>
          <p:spPr>
            <a:xfrm>
              <a:off x="990600" y="4191000"/>
              <a:ext cx="3352800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accent5"/>
                  </a:solidFill>
                </a:rPr>
                <a:t>プロンプトは12種から型を選び、強調・並び順・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accent5"/>
                  </a:solidFill>
                </a:rPr>
                <a:t>目盛の指定まで返します。</a:t>
              </a:r>
            </a:p>
            <a:p>
              <a:pPr algn="l">
                <a:lnSpc>
                  <a:spcPct val="160000"/>
                </a:lnSpc>
              </a:pPr>
              <a:r>
                <a:rPr sz="950">
                  <a:solidFill>
                    <a:schemeClr val="accent5"/>
                  </a:solidFill>
                </a:rPr>
                <a:t>12種の選び方早見はこのスライドのノート欄に。</a:t>
              </a:r>
            </a:p>
          </p:txBody>
        </p:sp>
      </p:grpSp>
      <p:grpSp>
        <p:nvGrpSpPr>
          <p:cNvPr id="19" name="組み込み例_接続"/>
          <p:cNvGrpSpPr/>
          <p:nvPr/>
        </p:nvGrpSpPr>
        <p:grpSpPr>
          <a:xfrm>
            <a:off x="4705350" y="3048000"/>
            <a:ext cx="533400" cy="381000"/>
            <a:chOff x="4705350" y="3048000"/>
            <a:chExt cx="533400" cy="381000"/>
          </a:xfrm>
        </p:grpSpPr>
        <p:sp>
          <p:nvSpPr>
            <p:cNvPr id="20" name="接続矢印"/>
            <p:cNvSpPr/>
            <p:nvPr/>
          </p:nvSpPr>
          <p:spPr>
            <a:xfrm>
              <a:off x="4705350" y="3048000"/>
              <a:ext cx="533400" cy="3810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組み込み例_STEP2"/>
          <p:cNvGrpSpPr/>
          <p:nvPr/>
        </p:nvGrpSpPr>
        <p:grpSpPr>
          <a:xfrm>
            <a:off x="5467350" y="1200150"/>
            <a:ext cx="5524500" cy="647700"/>
            <a:chOff x="5467350" y="1200150"/>
            <a:chExt cx="5524500" cy="647700"/>
          </a:xfrm>
        </p:grpSpPr>
        <p:sp>
          <p:nvSpPr>
            <p:cNvPr id="22" name="番号2"/>
            <p:cNvSpPr/>
            <p:nvPr/>
          </p:nvSpPr>
          <p:spPr>
            <a:xfrm>
              <a:off x="5467350" y="12001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2文字"/>
            <p:cNvSpPr/>
            <p:nvPr/>
          </p:nvSpPr>
          <p:spPr>
            <a:xfrm>
              <a:off x="5467350" y="12096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4" name="見出し2"/>
            <p:cNvSpPr/>
            <p:nvPr/>
          </p:nvSpPr>
          <p:spPr>
            <a:xfrm>
              <a:off x="5905500" y="1257300"/>
              <a:ext cx="4000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空枠に数字を流し替える</a:t>
              </a:r>
            </a:p>
          </p:txBody>
        </p:sp>
        <p:sp>
          <p:nvSpPr>
            <p:cNvPr id="25" name="説明2"/>
            <p:cNvSpPr/>
            <p:nvPr/>
          </p:nvSpPr>
          <p:spPr>
            <a:xfrm>
              <a:off x="5467350" y="1676400"/>
              <a:ext cx="552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「01 縦棒」の空枠をコピーし、サンプル値を実数に打ち替えた完成形：</a:t>
              </a:r>
            </a:p>
          </p:txBody>
        </p:sp>
      </p:grpSp>
      <p:grpSp>
        <p:nvGrpSpPr>
          <p:cNvPr id="26" name="組み込み例_完成グラフ"/>
          <p:cNvGrpSpPr/>
          <p:nvPr/>
        </p:nvGrpSpPr>
        <p:grpSpPr>
          <a:xfrm>
            <a:off x="5372100" y="2019300"/>
            <a:ext cx="5638800" cy="3371850"/>
            <a:chOff x="5372100" y="2019300"/>
            <a:chExt cx="5638800" cy="3371850"/>
          </a:xfrm>
        </p:grpSpPr>
        <p:sp>
          <p:nvSpPr>
            <p:cNvPr id="27" name="図タイトル"/>
            <p:cNvSpPr/>
            <p:nvPr/>
          </p:nvSpPr>
          <p:spPr>
            <a:xfrm>
              <a:off x="5715000" y="2019300"/>
              <a:ext cx="4191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施策別の売上増加額（百万円・2026年上期）</a:t>
              </a:r>
            </a:p>
          </p:txBody>
        </p:sp>
        <p:cxnSp>
          <p:nvCxnSpPr>
            <p:cNvPr id="28" name="目盛線100"/>
            <p:cNvCxnSpPr/>
            <p:nvPr/>
          </p:nvCxnSpPr>
          <p:spPr>
            <a:xfrm>
              <a:off x="5753100" y="3409950"/>
              <a:ext cx="52578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目盛100"/>
            <p:cNvSpPr/>
            <p:nvPr/>
          </p:nvSpPr>
          <p:spPr>
            <a:xfrm>
              <a:off x="5372100" y="3343275"/>
              <a:ext cx="3238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30" name="目盛0"/>
            <p:cNvSpPr/>
            <p:nvPr/>
          </p:nvSpPr>
          <p:spPr>
            <a:xfrm>
              <a:off x="5372100" y="4886325"/>
              <a:ext cx="323850" cy="1238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00">
                  <a:solidFill>
                    <a:schemeClr val="accent5"/>
                  </a:solidFill>
                </a:rPr>
                <a:t>0</a:t>
              </a:r>
            </a:p>
          </p:txBody>
        </p:sp>
        <p:sp>
          <p:nvSpPr>
            <p:cNvPr id="31" name="棒_施策A"/>
            <p:cNvSpPr/>
            <p:nvPr/>
          </p:nvSpPr>
          <p:spPr>
            <a:xfrm>
              <a:off x="6096000" y="2977896"/>
              <a:ext cx="609600" cy="1975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_施策A"/>
            <p:cNvSpPr/>
            <p:nvPr/>
          </p:nvSpPr>
          <p:spPr>
            <a:xfrm>
              <a:off x="5943600" y="2787396"/>
              <a:ext cx="9144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128</a:t>
              </a:r>
            </a:p>
          </p:txBody>
        </p:sp>
        <p:sp>
          <p:nvSpPr>
            <p:cNvPr id="33" name="項目_施策A"/>
            <p:cNvSpPr/>
            <p:nvPr/>
          </p:nvSpPr>
          <p:spPr>
            <a:xfrm>
              <a:off x="5943600" y="502920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施策A</a:t>
              </a:r>
            </a:p>
          </p:txBody>
        </p:sp>
        <p:sp>
          <p:nvSpPr>
            <p:cNvPr id="34" name="棒_施策B"/>
            <p:cNvSpPr/>
            <p:nvPr/>
          </p:nvSpPr>
          <p:spPr>
            <a:xfrm>
              <a:off x="7124700" y="3625976"/>
              <a:ext cx="609600" cy="13270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_施策B"/>
            <p:cNvSpPr/>
            <p:nvPr/>
          </p:nvSpPr>
          <p:spPr>
            <a:xfrm>
              <a:off x="6972300" y="3435476"/>
              <a:ext cx="9144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86</a:t>
              </a:r>
            </a:p>
          </p:txBody>
        </p:sp>
        <p:sp>
          <p:nvSpPr>
            <p:cNvPr id="36" name="項目_施策B"/>
            <p:cNvSpPr/>
            <p:nvPr/>
          </p:nvSpPr>
          <p:spPr>
            <a:xfrm>
              <a:off x="6972300" y="502920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施策B</a:t>
              </a:r>
            </a:p>
          </p:txBody>
        </p:sp>
        <p:sp>
          <p:nvSpPr>
            <p:cNvPr id="37" name="棒_施策C"/>
            <p:cNvSpPr/>
            <p:nvPr/>
          </p:nvSpPr>
          <p:spPr>
            <a:xfrm>
              <a:off x="8153400" y="3811143"/>
              <a:ext cx="609600" cy="114185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_施策C"/>
            <p:cNvSpPr/>
            <p:nvPr/>
          </p:nvSpPr>
          <p:spPr>
            <a:xfrm>
              <a:off x="8001000" y="3620643"/>
              <a:ext cx="9144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74</a:t>
              </a:r>
            </a:p>
          </p:txBody>
        </p:sp>
        <p:sp>
          <p:nvSpPr>
            <p:cNvPr id="39" name="項目_施策C"/>
            <p:cNvSpPr/>
            <p:nvPr/>
          </p:nvSpPr>
          <p:spPr>
            <a:xfrm>
              <a:off x="8001000" y="502920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施策C</a:t>
              </a:r>
            </a:p>
          </p:txBody>
        </p:sp>
        <p:sp>
          <p:nvSpPr>
            <p:cNvPr id="40" name="棒_施策D"/>
            <p:cNvSpPr/>
            <p:nvPr/>
          </p:nvSpPr>
          <p:spPr>
            <a:xfrm>
              <a:off x="9182100" y="4150614"/>
              <a:ext cx="609600" cy="8023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_施策D"/>
            <p:cNvSpPr/>
            <p:nvPr/>
          </p:nvSpPr>
          <p:spPr>
            <a:xfrm>
              <a:off x="9029700" y="3960114"/>
              <a:ext cx="9144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52</a:t>
              </a:r>
            </a:p>
          </p:txBody>
        </p:sp>
        <p:sp>
          <p:nvSpPr>
            <p:cNvPr id="42" name="項目_施策D"/>
            <p:cNvSpPr/>
            <p:nvPr/>
          </p:nvSpPr>
          <p:spPr>
            <a:xfrm>
              <a:off x="9029700" y="502920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施策D</a:t>
              </a:r>
            </a:p>
          </p:txBody>
        </p:sp>
        <p:sp>
          <p:nvSpPr>
            <p:cNvPr id="43" name="棒_施策E"/>
            <p:cNvSpPr/>
            <p:nvPr/>
          </p:nvSpPr>
          <p:spPr>
            <a:xfrm>
              <a:off x="10210800" y="4366641"/>
              <a:ext cx="609600" cy="5863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_施策E"/>
            <p:cNvSpPr/>
            <p:nvPr/>
          </p:nvSpPr>
          <p:spPr>
            <a:xfrm>
              <a:off x="10058400" y="4176141"/>
              <a:ext cx="914400" cy="1428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38</a:t>
              </a:r>
            </a:p>
          </p:txBody>
        </p:sp>
        <p:sp>
          <p:nvSpPr>
            <p:cNvPr id="45" name="項目_施策E"/>
            <p:cNvSpPr/>
            <p:nvPr/>
          </p:nvSpPr>
          <p:spPr>
            <a:xfrm>
              <a:off x="10058400" y="5029200"/>
              <a:ext cx="9144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施策E</a:t>
              </a:r>
            </a:p>
          </p:txBody>
        </p:sp>
        <p:cxnSp>
          <p:nvCxnSpPr>
            <p:cNvPr id="46" name="基準線"/>
            <p:cNvCxnSpPr/>
            <p:nvPr/>
          </p:nvCxnSpPr>
          <p:spPr>
            <a:xfrm>
              <a:off x="5753100" y="4953000"/>
              <a:ext cx="5257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出典行"/>
            <p:cNvSpPr/>
            <p:nvPr/>
          </p:nvSpPr>
          <p:spPr>
            <a:xfrm>
              <a:off x="5753100" y="5257800"/>
              <a:ext cx="400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出典：社内実績（2026年1〜6月・サンプル値）</a:t>
              </a:r>
            </a:p>
          </p:txBody>
        </p:sp>
      </p:grpSp>
      <p:grpSp>
        <p:nvGrpSpPr>
          <p:cNvPr id="48" name="組み込み例_早見"/>
          <p:cNvGrpSpPr/>
          <p:nvPr/>
        </p:nvGrpSpPr>
        <p:grpSpPr>
          <a:xfrm>
            <a:off x="762000" y="5695950"/>
            <a:ext cx="10477500" cy="552450"/>
            <a:chOff x="762000" y="5695950"/>
            <a:chExt cx="10477500" cy="552450"/>
          </a:xfrm>
        </p:grpSpPr>
        <p:sp>
          <p:nvSpPr>
            <p:cNvPr id="49" name="早見バンド"/>
            <p:cNvSpPr/>
            <p:nvPr/>
          </p:nvSpPr>
          <p:spPr>
            <a:xfrm>
              <a:off x="762000" y="5695950"/>
              <a:ext cx="104775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早見1"/>
            <p:cNvSpPr/>
            <p:nvPr/>
          </p:nvSpPr>
          <p:spPr>
            <a:xfrm>
              <a:off x="990600" y="5791200"/>
              <a:ext cx="10020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2"/>
                  </a:solidFill>
                </a:rPr>
                <a:t>選び方早見：大小＝縦棒・横棒／推移＝折れ線・面積／構成＝100%バー／増減＝滝／分布＝散布／密度＝ヒートマップ／歩留まり＝ファネル／2指標＝複合／目標対比＝ブレット</a:t>
              </a:r>
            </a:p>
          </p:txBody>
        </p:sp>
        <p:sp>
          <p:nvSpPr>
            <p:cNvPr id="51" name="早見2"/>
            <p:cNvSpPr/>
            <p:nvPr/>
          </p:nvSpPr>
          <p:spPr>
            <a:xfrm>
              <a:off x="990600" y="6000750"/>
              <a:ext cx="10020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強調は1グラフ1点（濃色）・朱は1スライド1点（意味＝要対処）。全12種の詳しい早見はノート欄へ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390525" y="6477000"/>
            <a:ext cx="114109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パーツ図鑑｜⑬ グラフの空枠 — 組み込み例（グラフ設計プロンプトと連結）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