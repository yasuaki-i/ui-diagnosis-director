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_社名"/>
          <p:cNvGrpSpPr/>
          <p:nvPr/>
        </p:nvGrpSpPr>
        <p:grpSpPr>
          <a:xfrm>
            <a:off x="609600" y="419100"/>
            <a:ext cx="10972800" cy="342900"/>
            <a:chOff x="609600" y="419100"/>
            <a:chExt cx="10972800" cy="342900"/>
          </a:xfrm>
        </p:grpSpPr>
        <p:sp>
          <p:nvSpPr>
            <p:cNvPr id="4" name="ロゴワードマーク"/>
            <p:cNvSpPr/>
            <p:nvPr/>
          </p:nvSpPr>
          <p:spPr>
            <a:xfrm>
              <a:off x="609600" y="419100"/>
              <a:ext cx="3810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SAMPLE Inc.</a:t>
              </a:r>
            </a:p>
          </p:txBody>
        </p:sp>
        <p:sp>
          <p:nvSpPr>
            <p:cNvPr id="5" name="資料種別"/>
            <p:cNvSpPr/>
            <p:nvPr/>
          </p:nvSpPr>
          <p:spPr>
            <a:xfrm>
              <a:off x="8153400" y="457200"/>
              <a:ext cx="342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COMPANY PROFILE</a:t>
              </a:r>
            </a:p>
          </p:txBody>
        </p:sp>
        <p:cxnSp>
          <p:nvCxnSpPr>
            <p:cNvPr id="6" name="ロゴ下罫線"/>
            <p:cNvCxnSpPr/>
            <p:nvPr/>
          </p:nvCxnSpPr>
          <p:spPr>
            <a:xfrm>
              <a:off x="609600" y="762000"/>
              <a:ext cx="1143000" cy="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表紙_メッセージ"/>
          <p:cNvGrpSpPr/>
          <p:nvPr/>
        </p:nvGrpSpPr>
        <p:grpSpPr>
          <a:xfrm>
            <a:off x="609600" y="2209800"/>
            <a:ext cx="10477500" cy="2381250"/>
            <a:chOff x="609600" y="2209800"/>
            <a:chExt cx="10477500" cy="2381250"/>
          </a:xfrm>
        </p:grpSpPr>
        <p:sp>
          <p:nvSpPr>
            <p:cNvPr id="8" name="アクセントスクエア"/>
            <p:cNvSpPr/>
            <p:nvPr/>
          </p:nvSpPr>
          <p:spPr>
            <a:xfrm>
              <a:off x="609600" y="22479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キッカー"/>
            <p:cNvSpPr/>
            <p:nvPr/>
          </p:nvSpPr>
          <p:spPr>
            <a:xfrm>
              <a:off x="838200" y="2209800"/>
              <a:ext cx="4762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CORPORATE MESSAGE</a:t>
              </a:r>
            </a:p>
          </p:txBody>
        </p:sp>
        <p:sp>
          <p:nvSpPr>
            <p:cNvPr id="10" name="コーポレートメッセージ"/>
            <p:cNvSpPr/>
            <p:nvPr/>
          </p:nvSpPr>
          <p:spPr>
            <a:xfrm>
              <a:off x="609600" y="2552700"/>
              <a:ext cx="104775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400" b="1">
                  <a:solidFill>
                    <a:schemeClr val="dk2"/>
                  </a:solidFill>
                </a:rPr>
                <a:t>確かな技術で、</a:t>
              </a:r>
            </a:p>
            <a:p>
              <a:pPr algn="l">
                <a:lnSpc>
                  <a:spcPct val="140000"/>
                </a:lnSpc>
              </a:pPr>
              <a:r>
                <a:rPr sz="3400" b="1">
                  <a:solidFill>
                    <a:schemeClr val="dk2"/>
                  </a:solidFill>
                </a:rPr>
                <a:t>明日の“あたりまえ”をつくる。</a:t>
              </a:r>
            </a:p>
          </p:txBody>
        </p:sp>
        <p:sp>
          <p:nvSpPr>
            <p:cNvPr id="11" name="資料名"/>
            <p:cNvSpPr/>
            <p:nvPr/>
          </p:nvSpPr>
          <p:spPr>
            <a:xfrm>
              <a:off x="609600" y="4095750"/>
              <a:ext cx="6667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会社紹介資料｜株式会社サンプル</a:t>
              </a:r>
            </a:p>
          </p:txBody>
        </p:sp>
        <p:sp>
          <p:nvSpPr>
            <p:cNvPr id="12" name="日付"/>
            <p:cNvSpPr/>
            <p:nvPr/>
          </p:nvSpPr>
          <p:spPr>
            <a:xfrm>
              <a:off x="609600" y="4419600"/>
              <a:ext cx="666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2026年7月</a:t>
              </a:r>
            </a:p>
          </p:txBody>
        </p:sp>
      </p:grpSp>
      <p:grpSp>
        <p:nvGrpSpPr>
          <p:cNvPr id="13" name="表紙_モチーフ"/>
          <p:cNvGrpSpPr/>
          <p:nvPr/>
        </p:nvGrpSpPr>
        <p:grpSpPr>
          <a:xfrm>
            <a:off x="8763000" y="4648200"/>
            <a:ext cx="2705100" cy="1447800"/>
            <a:chOff x="8763000" y="4648200"/>
            <a:chExt cx="2705100" cy="1447800"/>
          </a:xfrm>
        </p:grpSpPr>
        <p:sp>
          <p:nvSpPr>
            <p:cNvPr id="14" name="成長バー1"/>
            <p:cNvSpPr/>
            <p:nvPr/>
          </p:nvSpPr>
          <p:spPr>
            <a:xfrm>
              <a:off x="8763000" y="5486400"/>
              <a:ext cx="800100" cy="60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成長バー2"/>
            <p:cNvSpPr/>
            <p:nvPr/>
          </p:nvSpPr>
          <p:spPr>
            <a:xfrm>
              <a:off x="9715500" y="5105400"/>
              <a:ext cx="800100" cy="9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成長バー3"/>
            <p:cNvSpPr/>
            <p:nvPr/>
          </p:nvSpPr>
          <p:spPr>
            <a:xfrm>
              <a:off x="10668000" y="4648200"/>
              <a:ext cx="800100" cy="144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18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本資料の社名・人物・数値はすべて架空のサンプルです</a:t>
              </a:r>
            </a:p>
          </p:txBody>
        </p:sp>
        <p:sp>
          <p:nvSpPr>
            <p:cNvPr id="19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419100"/>
            <a:chOff x="609600" y="266700"/>
            <a:chExt cx="10972800" cy="41910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lt1"/>
                  </a:solidFill>
                </a:rPr>
                <a:t>ミッションを、すべての事業判断の起点にしています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02｜ミッション・ビジョン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ミッション"/>
          <p:cNvGrpSpPr/>
          <p:nvPr/>
        </p:nvGrpSpPr>
        <p:grpSpPr>
          <a:xfrm>
            <a:off x="0" y="1257300"/>
            <a:ext cx="12192000" cy="1162050"/>
            <a:chOff x="0" y="1257300"/>
            <a:chExt cx="12192000" cy="1162050"/>
          </a:xfrm>
        </p:grpSpPr>
        <p:sp>
          <p:nvSpPr>
            <p:cNvPr id="8" name="アクセントスクエア"/>
            <p:cNvSpPr/>
            <p:nvPr/>
          </p:nvSpPr>
          <p:spPr>
            <a:xfrm>
              <a:off x="6038850" y="12573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ラベル"/>
            <p:cNvSpPr/>
            <p:nvPr/>
          </p:nvSpPr>
          <p:spPr>
            <a:xfrm>
              <a:off x="0" y="15430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MISSION</a:t>
              </a:r>
            </a:p>
          </p:txBody>
        </p:sp>
        <p:sp>
          <p:nvSpPr>
            <p:cNvPr id="10" name="ミッション文"/>
            <p:cNvSpPr/>
            <p:nvPr/>
          </p:nvSpPr>
          <p:spPr>
            <a:xfrm>
              <a:off x="0" y="1847850"/>
              <a:ext cx="121920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000" b="1">
                  <a:solidFill>
                    <a:schemeClr val="lt1"/>
                  </a:solidFill>
                </a:rPr>
                <a:t>現場の困りごとを、技術で解き続ける。</a:t>
              </a:r>
            </a:p>
          </p:txBody>
        </p:sp>
      </p:grpSp>
      <p:grpSp>
        <p:nvGrpSpPr>
          <p:cNvPr id="11" name="ビジョン"/>
          <p:cNvGrpSpPr/>
          <p:nvPr/>
        </p:nvGrpSpPr>
        <p:grpSpPr>
          <a:xfrm>
            <a:off x="0" y="2857500"/>
            <a:ext cx="12192000" cy="914400"/>
            <a:chOff x="0" y="2857500"/>
            <a:chExt cx="12192000" cy="914400"/>
          </a:xfrm>
        </p:grpSpPr>
        <p:cxnSp>
          <p:nvCxnSpPr>
            <p:cNvPr id="12" name="区切り線"/>
            <p:cNvCxnSpPr/>
            <p:nvPr/>
          </p:nvCxnSpPr>
          <p:spPr>
            <a:xfrm>
              <a:off x="5715000" y="2857500"/>
              <a:ext cx="76200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ラベル"/>
            <p:cNvSpPr/>
            <p:nvPr/>
          </p:nvSpPr>
          <p:spPr>
            <a:xfrm>
              <a:off x="0" y="31051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VISION</a:t>
              </a:r>
            </a:p>
          </p:txBody>
        </p:sp>
        <p:sp>
          <p:nvSpPr>
            <p:cNvPr id="14" name="ビジョン文"/>
            <p:cNvSpPr/>
            <p:nvPr/>
          </p:nvSpPr>
          <p:spPr>
            <a:xfrm>
              <a:off x="0" y="3390900"/>
              <a:ext cx="12192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100" b="1">
                  <a:solidFill>
                    <a:schemeClr val="lt1"/>
                  </a:solidFill>
                </a:rPr>
                <a:t>2030年、現場データで“ものづくりの生産性”を変える。</a:t>
              </a:r>
            </a:p>
          </p:txBody>
        </p:sp>
      </p:grpSp>
      <p:grpSp>
        <p:nvGrpSpPr>
          <p:cNvPr id="15" name="バリュー"/>
          <p:cNvGrpSpPr/>
          <p:nvPr/>
        </p:nvGrpSpPr>
        <p:grpSpPr>
          <a:xfrm>
            <a:off x="0" y="4305300"/>
            <a:ext cx="12192000" cy="742950"/>
            <a:chOff x="0" y="4305300"/>
            <a:chExt cx="12192000" cy="742950"/>
          </a:xfrm>
        </p:grpSpPr>
        <p:sp>
          <p:nvSpPr>
            <p:cNvPr id="16" name="ラベル"/>
            <p:cNvSpPr/>
            <p:nvPr/>
          </p:nvSpPr>
          <p:spPr>
            <a:xfrm>
              <a:off x="0" y="4305300"/>
              <a:ext cx="1219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VALUE — 私たちの行動基準</a:t>
              </a:r>
            </a:p>
          </p:txBody>
        </p:sp>
        <p:sp>
          <p:nvSpPr>
            <p:cNvPr id="17" name="バリューチップ1"/>
            <p:cNvSpPr/>
            <p:nvPr/>
          </p:nvSpPr>
          <p:spPr>
            <a:xfrm>
              <a:off x="2857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バリュー1"/>
            <p:cNvSpPr/>
            <p:nvPr/>
          </p:nvSpPr>
          <p:spPr>
            <a:xfrm>
              <a:off x="2857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現場起点</a:t>
              </a:r>
            </a:p>
          </p:txBody>
        </p:sp>
        <p:sp>
          <p:nvSpPr>
            <p:cNvPr id="19" name="バリューチップ2"/>
            <p:cNvSpPr/>
            <p:nvPr/>
          </p:nvSpPr>
          <p:spPr>
            <a:xfrm>
              <a:off x="5143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バリュー2"/>
            <p:cNvSpPr/>
            <p:nvPr/>
          </p:nvSpPr>
          <p:spPr>
            <a:xfrm>
              <a:off x="5143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誠実な提案</a:t>
              </a:r>
            </a:p>
          </p:txBody>
        </p:sp>
        <p:sp>
          <p:nvSpPr>
            <p:cNvPr id="21" name="バリューチップ3"/>
            <p:cNvSpPr/>
            <p:nvPr/>
          </p:nvSpPr>
          <p:spPr>
            <a:xfrm>
              <a:off x="7429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バリュー3"/>
            <p:cNvSpPr/>
            <p:nvPr/>
          </p:nvSpPr>
          <p:spPr>
            <a:xfrm>
              <a:off x="7429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継続改善</a:t>
              </a:r>
            </a:p>
          </p:txBody>
        </p:sp>
      </p:grpSp>
      <p:grpSp>
        <p:nvGrpSpPr>
          <p:cNvPr id="23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24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ミッション・ビジョン・バリューの文言はサンプルです</a:t>
              </a:r>
            </a:p>
          </p:txBody>
        </p:sp>
        <p:sp>
          <p:nvSpPr>
            <p:cNvPr id="25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設立12年・社員280名、現場ITの専業会社です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03｜会社概要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会社概要（2026年6月30日時点）</a:t>
              </a:r>
            </a:p>
          </p:txBody>
        </p:sp>
      </p:grpSp>
      <p:grpSp>
        <p:nvGrpSpPr>
          <p:cNvPr id="8" name="会社概要_表左"/>
          <p:cNvGrpSpPr/>
          <p:nvPr/>
        </p:nvGrpSpPr>
        <p:grpSpPr>
          <a:xfrm>
            <a:off x="609600" y="1257300"/>
            <a:ext cx="5143500" cy="2286000"/>
            <a:chOff x="609600" y="1257300"/>
            <a:chExt cx="5143500" cy="2286000"/>
          </a:xfrm>
        </p:grpSpPr>
        <p:cxnSp>
          <p:nvCxnSpPr>
            <p:cNvPr id="9" name="罫線上端"/>
            <p:cNvCxnSpPr/>
            <p:nvPr/>
          </p:nvCxnSpPr>
          <p:spPr>
            <a:xfrm>
              <a:off x="609600" y="1257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項目_会社名"/>
            <p:cNvSpPr/>
            <p:nvPr/>
          </p:nvSpPr>
          <p:spPr>
            <a:xfrm>
              <a:off x="647700" y="1257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会社名</a:t>
              </a:r>
            </a:p>
          </p:txBody>
        </p:sp>
        <p:sp>
          <p:nvSpPr>
            <p:cNvPr id="11" name="内容_会社名"/>
            <p:cNvSpPr/>
            <p:nvPr/>
          </p:nvSpPr>
          <p:spPr>
            <a:xfrm>
              <a:off x="2095500" y="1257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株式会社サンプル</a:t>
              </a:r>
            </a:p>
          </p:txBody>
        </p:sp>
        <p:cxnSp>
          <p:nvCxnSpPr>
            <p:cNvPr id="12" name="罫線1"/>
            <p:cNvCxnSpPr/>
            <p:nvPr/>
          </p:nvCxnSpPr>
          <p:spPr>
            <a:xfrm>
              <a:off x="609600" y="1828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項目_設立"/>
            <p:cNvSpPr/>
            <p:nvPr/>
          </p:nvSpPr>
          <p:spPr>
            <a:xfrm>
              <a:off x="647700" y="1828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設立</a:t>
              </a:r>
            </a:p>
          </p:txBody>
        </p:sp>
        <p:sp>
          <p:nvSpPr>
            <p:cNvPr id="14" name="内容_設立"/>
            <p:cNvSpPr/>
            <p:nvPr/>
          </p:nvSpPr>
          <p:spPr>
            <a:xfrm>
              <a:off x="2095500" y="1828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2014年4月</a:t>
              </a:r>
            </a:p>
          </p:txBody>
        </p:sp>
        <p:cxnSp>
          <p:nvCxnSpPr>
            <p:cNvPr id="15" name="罫線2"/>
            <p:cNvCxnSpPr/>
            <p:nvPr/>
          </p:nvCxnSpPr>
          <p:spPr>
            <a:xfrm>
              <a:off x="609600" y="2400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項目_代表者"/>
            <p:cNvSpPr/>
            <p:nvPr/>
          </p:nvSpPr>
          <p:spPr>
            <a:xfrm>
              <a:off x="647700" y="2400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代表者</a:t>
              </a:r>
            </a:p>
          </p:txBody>
        </p:sp>
        <p:sp>
          <p:nvSpPr>
            <p:cNvPr id="17" name="内容_代表者"/>
            <p:cNvSpPr/>
            <p:nvPr/>
          </p:nvSpPr>
          <p:spPr>
            <a:xfrm>
              <a:off x="2095500" y="2400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代表取締役社長　見本 太郎</a:t>
              </a:r>
            </a:p>
          </p:txBody>
        </p:sp>
        <p:cxnSp>
          <p:nvCxnSpPr>
            <p:cNvPr id="18" name="罫線3"/>
            <p:cNvCxnSpPr/>
            <p:nvPr/>
          </p:nvCxnSpPr>
          <p:spPr>
            <a:xfrm>
              <a:off x="609600" y="2971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資本金"/>
            <p:cNvSpPr/>
            <p:nvPr/>
          </p:nvSpPr>
          <p:spPr>
            <a:xfrm>
              <a:off x="647700" y="2971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資本金</a:t>
              </a:r>
            </a:p>
          </p:txBody>
        </p:sp>
        <p:sp>
          <p:nvSpPr>
            <p:cNvPr id="20" name="内容_資本金"/>
            <p:cNvSpPr/>
            <p:nvPr/>
          </p:nvSpPr>
          <p:spPr>
            <a:xfrm>
              <a:off x="2095500" y="2971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3億2,000万円</a:t>
              </a:r>
            </a:p>
          </p:txBody>
        </p:sp>
        <p:cxnSp>
          <p:nvCxnSpPr>
            <p:cNvPr id="21" name="罫線4"/>
            <p:cNvCxnSpPr/>
            <p:nvPr/>
          </p:nvCxnSpPr>
          <p:spPr>
            <a:xfrm>
              <a:off x="6096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会社概要_表右"/>
          <p:cNvGrpSpPr/>
          <p:nvPr/>
        </p:nvGrpSpPr>
        <p:grpSpPr>
          <a:xfrm>
            <a:off x="6438900" y="1257300"/>
            <a:ext cx="5143500" cy="2286000"/>
            <a:chOff x="6438900" y="1257300"/>
            <a:chExt cx="5143500" cy="2286000"/>
          </a:xfrm>
        </p:grpSpPr>
        <p:cxnSp>
          <p:nvCxnSpPr>
            <p:cNvPr id="23" name="罫線上端"/>
            <p:cNvCxnSpPr/>
            <p:nvPr/>
          </p:nvCxnSpPr>
          <p:spPr>
            <a:xfrm>
              <a:off x="6438900" y="1257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項目_本社所在地"/>
            <p:cNvSpPr/>
            <p:nvPr/>
          </p:nvSpPr>
          <p:spPr>
            <a:xfrm>
              <a:off x="6477000" y="1257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本社所在地</a:t>
              </a:r>
            </a:p>
          </p:txBody>
        </p:sp>
        <p:sp>
          <p:nvSpPr>
            <p:cNvPr id="25" name="内容_本社所在地"/>
            <p:cNvSpPr/>
            <p:nvPr/>
          </p:nvSpPr>
          <p:spPr>
            <a:xfrm>
              <a:off x="7924800" y="1257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東京都サンプル区見本町1-2-3</a:t>
              </a:r>
            </a:p>
          </p:txBody>
        </p:sp>
        <p:cxnSp>
          <p:nvCxnSpPr>
            <p:cNvPr id="26" name="罫線1"/>
            <p:cNvCxnSpPr/>
            <p:nvPr/>
          </p:nvCxnSpPr>
          <p:spPr>
            <a:xfrm>
              <a:off x="6438900" y="1828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従業員数"/>
            <p:cNvSpPr/>
            <p:nvPr/>
          </p:nvSpPr>
          <p:spPr>
            <a:xfrm>
              <a:off x="6477000" y="1828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従業員数</a:t>
              </a:r>
            </a:p>
          </p:txBody>
        </p:sp>
        <p:sp>
          <p:nvSpPr>
            <p:cNvPr id="28" name="内容_従業員数"/>
            <p:cNvSpPr/>
            <p:nvPr/>
          </p:nvSpPr>
          <p:spPr>
            <a:xfrm>
              <a:off x="7924800" y="1828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280名（2026年6月時点）</a:t>
              </a:r>
            </a:p>
          </p:txBody>
        </p:sp>
        <p:cxnSp>
          <p:nvCxnSpPr>
            <p:cNvPr id="29" name="罫線2"/>
            <p:cNvCxnSpPr/>
            <p:nvPr/>
          </p:nvCxnSpPr>
          <p:spPr>
            <a:xfrm>
              <a:off x="6438900" y="2400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項目_事業内容"/>
            <p:cNvSpPr/>
            <p:nvPr/>
          </p:nvSpPr>
          <p:spPr>
            <a:xfrm>
              <a:off x="6477000" y="2400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事業内容</a:t>
              </a:r>
            </a:p>
          </p:txBody>
        </p:sp>
        <p:sp>
          <p:nvSpPr>
            <p:cNvPr id="31" name="内容_事業内容"/>
            <p:cNvSpPr/>
            <p:nvPr/>
          </p:nvSpPr>
          <p:spPr>
            <a:xfrm>
              <a:off x="7924800" y="2400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システム開発／クラウドサービス／データ活用支援</a:t>
              </a:r>
            </a:p>
          </p:txBody>
        </p:sp>
        <p:cxnSp>
          <p:nvCxnSpPr>
            <p:cNvPr id="32" name="罫線3"/>
            <p:cNvCxnSpPr/>
            <p:nvPr/>
          </p:nvCxnSpPr>
          <p:spPr>
            <a:xfrm>
              <a:off x="6438900" y="2971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項目_拠点"/>
            <p:cNvSpPr/>
            <p:nvPr/>
          </p:nvSpPr>
          <p:spPr>
            <a:xfrm>
              <a:off x="6477000" y="2971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拠点</a:t>
              </a:r>
            </a:p>
          </p:txBody>
        </p:sp>
        <p:sp>
          <p:nvSpPr>
            <p:cNvPr id="34" name="内容_拠点"/>
            <p:cNvSpPr/>
            <p:nvPr/>
          </p:nvSpPr>
          <p:spPr>
            <a:xfrm>
              <a:off x="7924800" y="2971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全国5拠点（東京・大阪・名古屋・福岡・仙台）</a:t>
              </a:r>
            </a:p>
          </p:txBody>
        </p:sp>
        <p:cxnSp>
          <p:nvCxnSpPr>
            <p:cNvPr id="35" name="罫線4"/>
            <p:cNvCxnSpPr/>
            <p:nvPr/>
          </p:nvCxnSpPr>
          <p:spPr>
            <a:xfrm>
              <a:off x="64389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会社概要_認証"/>
          <p:cNvGrpSpPr/>
          <p:nvPr/>
        </p:nvGrpSpPr>
        <p:grpSpPr>
          <a:xfrm>
            <a:off x="609600" y="4038600"/>
            <a:ext cx="7486650" cy="628650"/>
            <a:chOff x="609600" y="4038600"/>
            <a:chExt cx="7486650" cy="628650"/>
          </a:xfrm>
        </p:grpSpPr>
        <p:sp>
          <p:nvSpPr>
            <p:cNvPr id="37" name="小見出し"/>
            <p:cNvSpPr/>
            <p:nvPr/>
          </p:nvSpPr>
          <p:spPr>
            <a:xfrm>
              <a:off x="609600" y="4038600"/>
              <a:ext cx="476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登録・認証</a:t>
              </a:r>
            </a:p>
          </p:txBody>
        </p:sp>
        <p:sp>
          <p:nvSpPr>
            <p:cNvPr id="38" name="認証チップ1"/>
            <p:cNvSpPr/>
            <p:nvPr/>
          </p:nvSpPr>
          <p:spPr>
            <a:xfrm>
              <a:off x="6096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認証1"/>
            <p:cNvSpPr/>
            <p:nvPr/>
          </p:nvSpPr>
          <p:spPr>
            <a:xfrm>
              <a:off x="6096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ISO/IEC 27001（ISMS）</a:t>
              </a:r>
            </a:p>
          </p:txBody>
        </p:sp>
        <p:sp>
          <p:nvSpPr>
            <p:cNvPr id="40" name="認証チップ2"/>
            <p:cNvSpPr/>
            <p:nvPr/>
          </p:nvSpPr>
          <p:spPr>
            <a:xfrm>
              <a:off x="31623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認証2"/>
            <p:cNvSpPr/>
            <p:nvPr/>
          </p:nvSpPr>
          <p:spPr>
            <a:xfrm>
              <a:off x="31623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プライバシーマーク</a:t>
              </a:r>
            </a:p>
          </p:txBody>
        </p:sp>
        <p:sp>
          <p:nvSpPr>
            <p:cNvPr id="42" name="認証チップ3"/>
            <p:cNvSpPr/>
            <p:nvPr/>
          </p:nvSpPr>
          <p:spPr>
            <a:xfrm>
              <a:off x="57150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認証3"/>
            <p:cNvSpPr/>
            <p:nvPr/>
          </p:nvSpPr>
          <p:spPr>
            <a:xfrm>
              <a:off x="57150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健康経営優良法人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注：社名・所在地・数値はすべて架空のサンプルです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会社資料（2026年6月）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顧客の課題の広がりとともに、事業を広げてきました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04｜沿革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沿革（2014–2026）</a:t>
              </a:r>
            </a:p>
          </p:txBody>
        </p:sp>
      </p:grpSp>
      <p:grpSp>
        <p:nvGrpSpPr>
          <p:cNvPr id="8" name="沿革_フェーズ帯"/>
          <p:cNvGrpSpPr/>
          <p:nvPr/>
        </p:nvGrpSpPr>
        <p:grpSpPr>
          <a:xfrm>
            <a:off x="609600" y="1181100"/>
            <a:ext cx="10972800" cy="247650"/>
            <a:chOff x="609600" y="1181100"/>
            <a:chExt cx="10972800" cy="247650"/>
          </a:xfrm>
        </p:grpSpPr>
        <p:sp>
          <p:nvSpPr>
            <p:cNvPr id="9" name="帯_創業期"/>
            <p:cNvSpPr/>
            <p:nvPr/>
          </p:nvSpPr>
          <p:spPr>
            <a:xfrm>
              <a:off x="6191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帯名_創業期"/>
            <p:cNvSpPr/>
            <p:nvPr/>
          </p:nvSpPr>
          <p:spPr>
            <a:xfrm>
              <a:off x="6096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創業期（2014–2017）</a:t>
              </a:r>
            </a:p>
          </p:txBody>
        </p:sp>
        <p:sp>
          <p:nvSpPr>
            <p:cNvPr id="11" name="帯_拡大期"/>
            <p:cNvSpPr/>
            <p:nvPr/>
          </p:nvSpPr>
          <p:spPr>
            <a:xfrm>
              <a:off x="42767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帯名_拡大期"/>
            <p:cNvSpPr/>
            <p:nvPr/>
          </p:nvSpPr>
          <p:spPr>
            <a:xfrm>
              <a:off x="42672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拡大期（2018–2022）</a:t>
              </a:r>
            </a:p>
          </p:txBody>
        </p:sp>
        <p:sp>
          <p:nvSpPr>
            <p:cNvPr id="13" name="帯_変革期"/>
            <p:cNvSpPr/>
            <p:nvPr/>
          </p:nvSpPr>
          <p:spPr>
            <a:xfrm>
              <a:off x="79343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帯名_変革期"/>
            <p:cNvSpPr/>
            <p:nvPr/>
          </p:nvSpPr>
          <p:spPr>
            <a:xfrm>
              <a:off x="79248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変革期（2023–）</a:t>
              </a:r>
            </a:p>
          </p:txBody>
        </p:sp>
      </p:grpSp>
      <p:grpSp>
        <p:nvGrpSpPr>
          <p:cNvPr id="15" name="沿革_転機注記"/>
          <p:cNvGrpSpPr/>
          <p:nvPr/>
        </p:nvGrpSpPr>
        <p:grpSpPr>
          <a:xfrm>
            <a:off x="4838700" y="2000250"/>
            <a:ext cx="2514600" cy="552450"/>
            <a:chOff x="4838700" y="2000250"/>
            <a:chExt cx="2514600" cy="552450"/>
          </a:xfrm>
        </p:grpSpPr>
        <p:sp>
          <p:nvSpPr>
            <p:cNvPr id="16" name="転機吹き出し"/>
            <p:cNvSpPr/>
            <p:nvPr/>
          </p:nvSpPr>
          <p:spPr>
            <a:xfrm>
              <a:off x="4838700" y="2000250"/>
              <a:ext cx="2514600" cy="552450"/>
            </a:xfrm>
            <a:custGeom>
              <a:avLst/>
              <a:gdLst/>
              <a:ahLst/>
              <a:cxnLst/>
              <a:rect l="0" t="0" r="2514600" b="438150"/>
              <a:pathLst>
                <a:path w="2514600" h="552450">
                  <a:moveTo>
                    <a:pt x="76200" y="0"/>
                  </a:moveTo>
                  <a:lnTo>
                    <a:pt x="2438400" y="0"/>
                  </a:lnTo>
                  <a:arcTo wR="76200" hR="76200" stAng="16200000" swAng="5400000"/>
                  <a:lnTo>
                    <a:pt x="2514600" y="361950"/>
                  </a:lnTo>
                  <a:arcTo wR="76200" hR="76200" stAng="0" swAng="5400000"/>
                  <a:lnTo>
                    <a:pt x="1333500" y="438150"/>
                  </a:lnTo>
                  <a:lnTo>
                    <a:pt x="1257300" y="552450"/>
                  </a:lnTo>
                  <a:lnTo>
                    <a:pt x="1181100" y="438150"/>
                  </a:lnTo>
                  <a:lnTo>
                    <a:pt x="76200" y="43815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72050" y="2000250"/>
              <a:ext cx="22479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転機：受託中心から自社サービスへ</a:t>
              </a:r>
            </a:p>
          </p:txBody>
        </p:sp>
      </p:grpSp>
      <p:grpSp>
        <p:nvGrpSpPr>
          <p:cNvPr id="18" name="沿革_タイムライン"/>
          <p:cNvGrpSpPr/>
          <p:nvPr/>
        </p:nvGrpSpPr>
        <p:grpSpPr>
          <a:xfrm>
            <a:off x="609599" y="2914650"/>
            <a:ext cx="10972801" cy="1466850"/>
            <a:chOff x="609599" y="2914650"/>
            <a:chExt cx="10972801" cy="1466850"/>
          </a:xfrm>
        </p:grpSpPr>
        <p:cxnSp>
          <p:nvCxnSpPr>
            <p:cNvPr id="19" name="時間軸"/>
            <p:cNvCxnSpPr/>
            <p:nvPr/>
          </p:nvCxnSpPr>
          <p:spPr>
            <a:xfrm>
              <a:off x="1706880" y="3352800"/>
              <a:ext cx="8778240" cy="0"/>
            </a:xfrm>
            <a:prstGeom prst="bentConnector3">
              <a:avLst/>
            </a:prstGeom>
            <a:ln w="19050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ノード2014"/>
            <p:cNvSpPr/>
            <p:nvPr/>
          </p:nvSpPr>
          <p:spPr>
            <a:xfrm>
              <a:off x="163068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年2014"/>
            <p:cNvSpPr/>
            <p:nvPr/>
          </p:nvSpPr>
          <p:spPr>
            <a:xfrm>
              <a:off x="609599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2014</a:t>
              </a:r>
            </a:p>
          </p:txBody>
        </p:sp>
        <p:sp>
          <p:nvSpPr>
            <p:cNvPr id="22" name="出来事2014"/>
            <p:cNvSpPr/>
            <p:nvPr/>
          </p:nvSpPr>
          <p:spPr>
            <a:xfrm>
              <a:off x="723899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製造業向けの受託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システム開発で創業</a:t>
              </a:r>
            </a:p>
          </p:txBody>
        </p:sp>
        <p:sp>
          <p:nvSpPr>
            <p:cNvPr id="23" name="ノード2017"/>
            <p:cNvSpPr/>
            <p:nvPr/>
          </p:nvSpPr>
          <p:spPr>
            <a:xfrm>
              <a:off x="3825239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年2017"/>
            <p:cNvSpPr/>
            <p:nvPr/>
          </p:nvSpPr>
          <p:spPr>
            <a:xfrm>
              <a:off x="280416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2017</a:t>
              </a:r>
            </a:p>
          </p:txBody>
        </p:sp>
        <p:sp>
          <p:nvSpPr>
            <p:cNvPr id="25" name="出来事2017"/>
            <p:cNvSpPr/>
            <p:nvPr/>
          </p:nvSpPr>
          <p:spPr>
            <a:xfrm>
              <a:off x="291846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保守・運用サービス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を開始し安定収益化</a:t>
              </a:r>
            </a:p>
          </p:txBody>
        </p:sp>
        <p:sp>
          <p:nvSpPr>
            <p:cNvPr id="26" name="ノード2020"/>
            <p:cNvSpPr/>
            <p:nvPr/>
          </p:nvSpPr>
          <p:spPr>
            <a:xfrm>
              <a:off x="6019800" y="3276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年2020"/>
            <p:cNvSpPr/>
            <p:nvPr/>
          </p:nvSpPr>
          <p:spPr>
            <a:xfrm>
              <a:off x="499872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2020</a:t>
              </a:r>
            </a:p>
          </p:txBody>
        </p:sp>
        <p:sp>
          <p:nvSpPr>
            <p:cNvPr id="28" name="出来事2020"/>
            <p:cNvSpPr/>
            <p:nvPr/>
          </p:nvSpPr>
          <p:spPr>
            <a:xfrm>
              <a:off x="511302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自社クラウド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「Sample Cloud」提供開始</a:t>
              </a:r>
            </a:p>
          </p:txBody>
        </p:sp>
        <p:sp>
          <p:nvSpPr>
            <p:cNvPr id="29" name="ノード2023"/>
            <p:cNvSpPr/>
            <p:nvPr/>
          </p:nvSpPr>
          <p:spPr>
            <a:xfrm>
              <a:off x="821436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年2023"/>
            <p:cNvSpPr/>
            <p:nvPr/>
          </p:nvSpPr>
          <p:spPr>
            <a:xfrm>
              <a:off x="719328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2023</a:t>
              </a:r>
            </a:p>
          </p:txBody>
        </p:sp>
        <p:sp>
          <p:nvSpPr>
            <p:cNvPr id="31" name="出来事2023"/>
            <p:cNvSpPr/>
            <p:nvPr/>
          </p:nvSpPr>
          <p:spPr>
            <a:xfrm>
              <a:off x="730758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データ活用支援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事業に参入</a:t>
              </a:r>
            </a:p>
          </p:txBody>
        </p:sp>
        <p:sp>
          <p:nvSpPr>
            <p:cNvPr id="32" name="ノード2026"/>
            <p:cNvSpPr/>
            <p:nvPr/>
          </p:nvSpPr>
          <p:spPr>
            <a:xfrm>
              <a:off x="1040892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年2026"/>
            <p:cNvSpPr/>
            <p:nvPr/>
          </p:nvSpPr>
          <p:spPr>
            <a:xfrm>
              <a:off x="938784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2026</a:t>
              </a:r>
            </a:p>
          </p:txBody>
        </p:sp>
        <p:sp>
          <p:nvSpPr>
            <p:cNvPr id="34" name="出来事2026"/>
            <p:cNvSpPr/>
            <p:nvPr/>
          </p:nvSpPr>
          <p:spPr>
            <a:xfrm>
              <a:off x="950214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取引420社・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社員280名に拡大</a:t>
              </a:r>
            </a:p>
          </p:txBody>
        </p:sp>
      </p:grpSp>
      <p:grpSp>
        <p:nvGrpSpPr>
          <p:cNvPr id="35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36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注：年・出来事はサンプルです</a:t>
              </a:r>
            </a:p>
          </p:txBody>
        </p:sp>
        <p:sp>
          <p:nvSpPr>
            <p:cNvPr id="37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</a:t>
              </a:r>
            </a:p>
          </p:txBody>
        </p:sp>
        <p:sp>
          <p:nvSpPr>
            <p:cNvPr id="38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3つの事業で、開発から活用までを一気通貫で担います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05｜事業内容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事業セグメントと売上構成比（FY2025・サンプル値）</a:t>
              </a:r>
            </a:p>
          </p:txBody>
        </p:sp>
      </p:grpSp>
      <p:grpSp>
        <p:nvGrpSpPr>
          <p:cNvPr id="8" name="事業カード01_システム開発"/>
          <p:cNvGrpSpPr/>
          <p:nvPr/>
        </p:nvGrpSpPr>
        <p:grpSpPr>
          <a:xfrm>
            <a:off x="609600" y="1219200"/>
            <a:ext cx="3429000" cy="3581400"/>
            <a:chOff x="609600" y="1219200"/>
            <a:chExt cx="3429000" cy="3581400"/>
          </a:xfrm>
        </p:grpSpPr>
        <p:sp>
          <p:nvSpPr>
            <p:cNvPr id="9" name="カード"/>
            <p:cNvSpPr/>
            <p:nvPr/>
          </p:nvSpPr>
          <p:spPr>
            <a:xfrm>
              <a:off x="6096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番号"/>
            <p:cNvSpPr/>
            <p:nvPr/>
          </p:nvSpPr>
          <p:spPr>
            <a:xfrm>
              <a:off x="8572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1" name="役割チップ"/>
            <p:cNvSpPr/>
            <p:nvPr/>
          </p:nvSpPr>
          <p:spPr>
            <a:xfrm>
              <a:off x="29146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役割"/>
            <p:cNvSpPr/>
            <p:nvPr/>
          </p:nvSpPr>
          <p:spPr>
            <a:xfrm>
              <a:off x="29146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つくる</a:t>
              </a:r>
            </a:p>
          </p:txBody>
        </p:sp>
        <p:sp>
          <p:nvSpPr>
            <p:cNvPr id="13" name="事業名"/>
            <p:cNvSpPr/>
            <p:nvPr/>
          </p:nvSpPr>
          <p:spPr>
            <a:xfrm>
              <a:off x="8572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システム開発事業</a:t>
              </a:r>
            </a:p>
          </p:txBody>
        </p:sp>
        <p:cxnSp>
          <p:nvCxnSpPr>
            <p:cNvPr id="14" name="仕切り線"/>
            <p:cNvCxnSpPr/>
            <p:nvPr/>
          </p:nvCxnSpPr>
          <p:spPr>
            <a:xfrm>
              <a:off x="8572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説明"/>
            <p:cNvSpPr/>
            <p:nvPr/>
          </p:nvSpPr>
          <p:spPr>
            <a:xfrm>
              <a:off x="8572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製造・物流の基幹／現場システムを、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要件定義から運用まで一括で受託。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累計600件超の開発実績。</a:t>
              </a:r>
            </a:p>
          </p:txBody>
        </p:sp>
        <p:sp>
          <p:nvSpPr>
            <p:cNvPr id="16" name="構成比ラベル"/>
            <p:cNvSpPr/>
            <p:nvPr/>
          </p:nvSpPr>
          <p:spPr>
            <a:xfrm>
              <a:off x="8572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17" name="構成比値"/>
            <p:cNvSpPr/>
            <p:nvPr/>
          </p:nvSpPr>
          <p:spPr>
            <a:xfrm>
              <a:off x="30289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55%</a:t>
              </a:r>
            </a:p>
          </p:txBody>
        </p:sp>
        <p:sp>
          <p:nvSpPr>
            <p:cNvPr id="18" name="構成比トラック"/>
            <p:cNvSpPr/>
            <p:nvPr/>
          </p:nvSpPr>
          <p:spPr>
            <a:xfrm>
              <a:off x="8572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構成比バー"/>
            <p:cNvSpPr/>
            <p:nvPr/>
          </p:nvSpPr>
          <p:spPr>
            <a:xfrm>
              <a:off x="857250" y="4267200"/>
              <a:ext cx="161353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事業カード02_クラウドサー"/>
          <p:cNvGrpSpPr/>
          <p:nvPr/>
        </p:nvGrpSpPr>
        <p:grpSpPr>
          <a:xfrm>
            <a:off x="4381500" y="1219200"/>
            <a:ext cx="3429000" cy="3581400"/>
            <a:chOff x="4381500" y="1219200"/>
            <a:chExt cx="3429000" cy="3581400"/>
          </a:xfrm>
        </p:grpSpPr>
        <p:sp>
          <p:nvSpPr>
            <p:cNvPr id="21" name="カード"/>
            <p:cNvSpPr/>
            <p:nvPr/>
          </p:nvSpPr>
          <p:spPr>
            <a:xfrm>
              <a:off x="43815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番号"/>
            <p:cNvSpPr/>
            <p:nvPr/>
          </p:nvSpPr>
          <p:spPr>
            <a:xfrm>
              <a:off x="46291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3" name="役割チップ"/>
            <p:cNvSpPr/>
            <p:nvPr/>
          </p:nvSpPr>
          <p:spPr>
            <a:xfrm>
              <a:off x="66865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役割"/>
            <p:cNvSpPr/>
            <p:nvPr/>
          </p:nvSpPr>
          <p:spPr>
            <a:xfrm>
              <a:off x="66865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ささえる</a:t>
              </a:r>
            </a:p>
          </p:txBody>
        </p:sp>
        <p:sp>
          <p:nvSpPr>
            <p:cNvPr id="25" name="事業名"/>
            <p:cNvSpPr/>
            <p:nvPr/>
          </p:nvSpPr>
          <p:spPr>
            <a:xfrm>
              <a:off x="46291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クラウドサービス事業</a:t>
              </a:r>
            </a:p>
          </p:txBody>
        </p:sp>
        <p:cxnSp>
          <p:nvCxnSpPr>
            <p:cNvPr id="26" name="仕切り線"/>
            <p:cNvCxnSpPr/>
            <p:nvPr/>
          </p:nvCxnSpPr>
          <p:spPr>
            <a:xfrm>
              <a:off x="46291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説明"/>
            <p:cNvSpPr/>
            <p:nvPr/>
          </p:nvSpPr>
          <p:spPr>
            <a:xfrm>
              <a:off x="46291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現場帳票・設備点検をデジタル化する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自社SaaS「Sample Cloud」を提供。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有償利用は310社。</a:t>
              </a:r>
            </a:p>
          </p:txBody>
        </p:sp>
        <p:sp>
          <p:nvSpPr>
            <p:cNvPr id="28" name="構成比ラベル"/>
            <p:cNvSpPr/>
            <p:nvPr/>
          </p:nvSpPr>
          <p:spPr>
            <a:xfrm>
              <a:off x="46291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29" name="構成比値"/>
            <p:cNvSpPr/>
            <p:nvPr/>
          </p:nvSpPr>
          <p:spPr>
            <a:xfrm>
              <a:off x="68008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35%</a:t>
              </a:r>
            </a:p>
          </p:txBody>
        </p:sp>
        <p:sp>
          <p:nvSpPr>
            <p:cNvPr id="30" name="構成比トラック"/>
            <p:cNvSpPr/>
            <p:nvPr/>
          </p:nvSpPr>
          <p:spPr>
            <a:xfrm>
              <a:off x="46291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構成比バー"/>
            <p:cNvSpPr/>
            <p:nvPr/>
          </p:nvSpPr>
          <p:spPr>
            <a:xfrm>
              <a:off x="4629150" y="4267200"/>
              <a:ext cx="102679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事業カード03_データ活用支"/>
          <p:cNvGrpSpPr/>
          <p:nvPr/>
        </p:nvGrpSpPr>
        <p:grpSpPr>
          <a:xfrm>
            <a:off x="8153400" y="1219200"/>
            <a:ext cx="3429000" cy="3581400"/>
            <a:chOff x="8153400" y="1219200"/>
            <a:chExt cx="3429000" cy="3581400"/>
          </a:xfrm>
        </p:grpSpPr>
        <p:sp>
          <p:nvSpPr>
            <p:cNvPr id="33" name="カード"/>
            <p:cNvSpPr/>
            <p:nvPr/>
          </p:nvSpPr>
          <p:spPr>
            <a:xfrm>
              <a:off x="81534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84010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5" name="役割チップ"/>
            <p:cNvSpPr/>
            <p:nvPr/>
          </p:nvSpPr>
          <p:spPr>
            <a:xfrm>
              <a:off x="104584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役割"/>
            <p:cNvSpPr/>
            <p:nvPr/>
          </p:nvSpPr>
          <p:spPr>
            <a:xfrm>
              <a:off x="104584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いかす</a:t>
              </a:r>
            </a:p>
          </p:txBody>
        </p:sp>
        <p:sp>
          <p:nvSpPr>
            <p:cNvPr id="37" name="事業名"/>
            <p:cNvSpPr/>
            <p:nvPr/>
          </p:nvSpPr>
          <p:spPr>
            <a:xfrm>
              <a:off x="84010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データ活用支援事業</a:t>
              </a:r>
            </a:p>
          </p:txBody>
        </p:sp>
        <p:cxnSp>
          <p:nvCxnSpPr>
            <p:cNvPr id="38" name="仕切り線"/>
            <p:cNvCxnSpPr/>
            <p:nvPr/>
          </p:nvCxnSpPr>
          <p:spPr>
            <a:xfrm>
              <a:off x="84010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説明"/>
            <p:cNvSpPr/>
            <p:nvPr/>
          </p:nvSpPr>
          <p:spPr>
            <a:xfrm>
              <a:off x="84010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現場に蓄積したデータの分析・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予測モデルの構築を伴走支援。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専任のデータ人材は40名。</a:t>
              </a:r>
            </a:p>
          </p:txBody>
        </p:sp>
        <p:sp>
          <p:nvSpPr>
            <p:cNvPr id="40" name="構成比ラベル"/>
            <p:cNvSpPr/>
            <p:nvPr/>
          </p:nvSpPr>
          <p:spPr>
            <a:xfrm>
              <a:off x="84010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41" name="構成比値"/>
            <p:cNvSpPr/>
            <p:nvPr/>
          </p:nvSpPr>
          <p:spPr>
            <a:xfrm>
              <a:off x="105727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10%</a:t>
              </a:r>
            </a:p>
          </p:txBody>
        </p:sp>
        <p:sp>
          <p:nvSpPr>
            <p:cNvPr id="42" name="構成比トラック"/>
            <p:cNvSpPr/>
            <p:nvPr/>
          </p:nvSpPr>
          <p:spPr>
            <a:xfrm>
              <a:off x="84010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構成比バー"/>
            <p:cNvSpPr/>
            <p:nvPr/>
          </p:nvSpPr>
          <p:spPr>
            <a:xfrm>
              <a:off x="8401050" y="4267200"/>
              <a:ext cx="29337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事業_ポイント"/>
          <p:cNvGrpSpPr/>
          <p:nvPr/>
        </p:nvGrpSpPr>
        <p:grpSpPr>
          <a:xfrm>
            <a:off x="609600" y="5019675"/>
            <a:ext cx="10972800" cy="752475"/>
            <a:chOff x="609600" y="5019675"/>
            <a:chExt cx="10972800" cy="752475"/>
          </a:xfrm>
        </p:grpSpPr>
        <p:sp>
          <p:nvSpPr>
            <p:cNvPr id="45" name="ポイント枠"/>
            <p:cNvSpPr/>
            <p:nvPr/>
          </p:nvSpPr>
          <p:spPr>
            <a:xfrm>
              <a:off x="609600" y="5124450"/>
              <a:ext cx="10972800" cy="647700"/>
            </a:xfrm>
            <a:prstGeom prst="roundRect">
              <a:avLst>
                <a:gd name="adj" fmla="val 11764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POINTバッジ"/>
            <p:cNvSpPr/>
            <p:nvPr/>
          </p:nvSpPr>
          <p:spPr>
            <a:xfrm>
              <a:off x="819150" y="5019675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バッジ文字"/>
            <p:cNvSpPr/>
            <p:nvPr/>
          </p:nvSpPr>
          <p:spPr>
            <a:xfrm>
              <a:off x="819150" y="5029200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POINT</a:t>
              </a:r>
            </a:p>
          </p:txBody>
        </p:sp>
        <p:sp>
          <p:nvSpPr>
            <p:cNvPr id="48" name="ポイント文"/>
            <p:cNvSpPr/>
            <p:nvPr/>
          </p:nvSpPr>
          <p:spPr>
            <a:xfrm>
              <a:off x="838200" y="5200650"/>
              <a:ext cx="105156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dk1"/>
                  </a:solidFill>
                </a:rPr>
                <a:t>3事業は同じ顧客の現場データでつながり、「つくる→ささえる→いかす」の循環で価値を高めます</a:t>
              </a:r>
            </a:p>
          </p:txBody>
        </p:sp>
      </p:grpSp>
      <p:grpSp>
        <p:nvGrpSpPr>
          <p:cNvPr id="49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0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注：構成比・実績値はサンプルです</a:t>
              </a:r>
            </a:p>
          </p:txBody>
        </p:sp>
        <p:sp>
          <p:nvSpPr>
            <p:cNvPr id="51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出所：自社決算データ（FY2025・サンプル）</a:t>
              </a:r>
            </a:p>
          </p:txBody>
        </p:sp>
        <p:sp>
          <p:nvSpPr>
            <p:cNvPr id="52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継続率98%。選ばれ続けてきたことが数字に表れています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06｜数字で見る当社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主要指標一覧（2026年6月時点・サンプル値）</a:t>
              </a:r>
            </a:p>
          </p:txBody>
        </p:sp>
      </p:grpSp>
      <p:grpSp>
        <p:nvGrpSpPr>
          <p:cNvPr id="8" name="KPIカード_取引社数"/>
          <p:cNvGrpSpPr/>
          <p:nvPr/>
        </p:nvGrpSpPr>
        <p:grpSpPr>
          <a:xfrm>
            <a:off x="609600" y="1257300"/>
            <a:ext cx="3429000" cy="1828800"/>
            <a:chOff x="609600" y="1257300"/>
            <a:chExt cx="3429000" cy="1828800"/>
          </a:xfrm>
        </p:grpSpPr>
        <p:sp>
          <p:nvSpPr>
            <p:cNvPr id="9" name="カード"/>
            <p:cNvSpPr/>
            <p:nvPr/>
          </p:nvSpPr>
          <p:spPr>
            <a:xfrm>
              <a:off x="6096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指標名"/>
            <p:cNvSpPr/>
            <p:nvPr/>
          </p:nvSpPr>
          <p:spPr>
            <a:xfrm>
              <a:off x="8382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取引社数</a:t>
              </a:r>
            </a:p>
          </p:txBody>
        </p:sp>
        <p:sp>
          <p:nvSpPr>
            <p:cNvPr id="11" name="大数字"/>
            <p:cNvSpPr/>
            <p:nvPr/>
          </p:nvSpPr>
          <p:spPr>
            <a:xfrm>
              <a:off x="838200" y="17526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420</a:t>
              </a:r>
            </a:p>
          </p:txBody>
        </p:sp>
        <p:sp>
          <p:nvSpPr>
            <p:cNvPr id="12" name="単位"/>
            <p:cNvSpPr/>
            <p:nvPr/>
          </p:nvSpPr>
          <p:spPr>
            <a:xfrm>
              <a:off x="2200275" y="19812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社</a:t>
              </a:r>
            </a:p>
          </p:txBody>
        </p:sp>
        <p:sp>
          <p:nvSpPr>
            <p:cNvPr id="13" name="補足"/>
            <p:cNvSpPr/>
            <p:nvPr/>
          </p:nvSpPr>
          <p:spPr>
            <a:xfrm>
              <a:off x="8382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2014年比 8.4倍</a:t>
              </a:r>
            </a:p>
          </p:txBody>
        </p:sp>
      </p:grpSp>
      <p:grpSp>
        <p:nvGrpSpPr>
          <p:cNvPr id="14" name="KPIカード_サービス継続率"/>
          <p:cNvGrpSpPr/>
          <p:nvPr/>
        </p:nvGrpSpPr>
        <p:grpSpPr>
          <a:xfrm>
            <a:off x="4381500" y="1257300"/>
            <a:ext cx="3429000" cy="1828800"/>
            <a:chOff x="4381500" y="1257300"/>
            <a:chExt cx="3429000" cy="1828800"/>
          </a:xfrm>
        </p:grpSpPr>
        <p:sp>
          <p:nvSpPr>
            <p:cNvPr id="15" name="カード"/>
            <p:cNvSpPr/>
            <p:nvPr/>
          </p:nvSpPr>
          <p:spPr>
            <a:xfrm>
              <a:off x="43815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指標名"/>
            <p:cNvSpPr/>
            <p:nvPr/>
          </p:nvSpPr>
          <p:spPr>
            <a:xfrm>
              <a:off x="46101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サービス継続率</a:t>
              </a:r>
            </a:p>
          </p:txBody>
        </p:sp>
        <p:sp>
          <p:nvSpPr>
            <p:cNvPr id="17" name="大数字"/>
            <p:cNvSpPr/>
            <p:nvPr/>
          </p:nvSpPr>
          <p:spPr>
            <a:xfrm>
              <a:off x="4610100" y="1752600"/>
              <a:ext cx="1604962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lt1"/>
                  </a:solidFill>
                </a:rPr>
                <a:t>98.2</a:t>
              </a:r>
            </a:p>
          </p:txBody>
        </p:sp>
        <p:sp>
          <p:nvSpPr>
            <p:cNvPr id="18" name="単位"/>
            <p:cNvSpPr/>
            <p:nvPr/>
          </p:nvSpPr>
          <p:spPr>
            <a:xfrm>
              <a:off x="6138862" y="1981200"/>
              <a:ext cx="1443037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%</a:t>
              </a:r>
            </a:p>
          </p:txBody>
        </p:sp>
        <p:sp>
          <p:nvSpPr>
            <p:cNvPr id="19" name="補足"/>
            <p:cNvSpPr/>
            <p:nvPr/>
          </p:nvSpPr>
          <p:spPr>
            <a:xfrm>
              <a:off x="46101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直近3期平均</a:t>
              </a:r>
            </a:p>
          </p:txBody>
        </p:sp>
      </p:grpSp>
      <p:grpSp>
        <p:nvGrpSpPr>
          <p:cNvPr id="20" name="KPIカード_社員数"/>
          <p:cNvGrpSpPr/>
          <p:nvPr/>
        </p:nvGrpSpPr>
        <p:grpSpPr>
          <a:xfrm>
            <a:off x="8153400" y="1257300"/>
            <a:ext cx="3429000" cy="1828800"/>
            <a:chOff x="8153400" y="1257300"/>
            <a:chExt cx="3429000" cy="1828800"/>
          </a:xfrm>
        </p:grpSpPr>
        <p:sp>
          <p:nvSpPr>
            <p:cNvPr id="21" name="カード"/>
            <p:cNvSpPr/>
            <p:nvPr/>
          </p:nvSpPr>
          <p:spPr>
            <a:xfrm>
              <a:off x="81534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指標名"/>
            <p:cNvSpPr/>
            <p:nvPr/>
          </p:nvSpPr>
          <p:spPr>
            <a:xfrm>
              <a:off x="83820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社員数</a:t>
              </a:r>
            </a:p>
          </p:txBody>
        </p:sp>
        <p:sp>
          <p:nvSpPr>
            <p:cNvPr id="23" name="大数字"/>
            <p:cNvSpPr/>
            <p:nvPr/>
          </p:nvSpPr>
          <p:spPr>
            <a:xfrm>
              <a:off x="8382000" y="17526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280</a:t>
              </a:r>
            </a:p>
          </p:txBody>
        </p:sp>
        <p:sp>
          <p:nvSpPr>
            <p:cNvPr id="24" name="単位"/>
            <p:cNvSpPr/>
            <p:nvPr/>
          </p:nvSpPr>
          <p:spPr>
            <a:xfrm>
              <a:off x="9744075" y="19812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名</a:t>
              </a:r>
            </a:p>
          </p:txBody>
        </p:sp>
        <p:sp>
          <p:nvSpPr>
            <p:cNvPr id="25" name="補足"/>
            <p:cNvSpPr/>
            <p:nvPr/>
          </p:nvSpPr>
          <p:spPr>
            <a:xfrm>
              <a:off x="83820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エンジニア比率 64%</a:t>
              </a:r>
            </a:p>
          </p:txBody>
        </p:sp>
      </p:grpSp>
      <p:grpSp>
        <p:nvGrpSpPr>
          <p:cNvPr id="26" name="KPIカード_拠点数"/>
          <p:cNvGrpSpPr/>
          <p:nvPr/>
        </p:nvGrpSpPr>
        <p:grpSpPr>
          <a:xfrm>
            <a:off x="609600" y="3276600"/>
            <a:ext cx="3429000" cy="1828800"/>
            <a:chOff x="609600" y="3276600"/>
            <a:chExt cx="3429000" cy="1828800"/>
          </a:xfrm>
        </p:grpSpPr>
        <p:sp>
          <p:nvSpPr>
            <p:cNvPr id="27" name="カード"/>
            <p:cNvSpPr/>
            <p:nvPr/>
          </p:nvSpPr>
          <p:spPr>
            <a:xfrm>
              <a:off x="6096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指標名"/>
            <p:cNvSpPr/>
            <p:nvPr/>
          </p:nvSpPr>
          <p:spPr>
            <a:xfrm>
              <a:off x="8382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拠点数</a:t>
              </a:r>
            </a:p>
          </p:txBody>
        </p:sp>
        <p:sp>
          <p:nvSpPr>
            <p:cNvPr id="29" name="大数字"/>
            <p:cNvSpPr/>
            <p:nvPr/>
          </p:nvSpPr>
          <p:spPr>
            <a:xfrm>
              <a:off x="838200" y="3771900"/>
              <a:ext cx="58102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5</a:t>
              </a:r>
            </a:p>
          </p:txBody>
        </p:sp>
        <p:sp>
          <p:nvSpPr>
            <p:cNvPr id="30" name="単位"/>
            <p:cNvSpPr/>
            <p:nvPr/>
          </p:nvSpPr>
          <p:spPr>
            <a:xfrm>
              <a:off x="1343025" y="4000500"/>
              <a:ext cx="246697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拠点</a:t>
              </a:r>
            </a:p>
          </p:txBody>
        </p:sp>
        <p:sp>
          <p:nvSpPr>
            <p:cNvPr id="31" name="補足"/>
            <p:cNvSpPr/>
            <p:nvPr/>
          </p:nvSpPr>
          <p:spPr>
            <a:xfrm>
              <a:off x="8382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東京・大阪・名古屋・福岡・仙台</a:t>
              </a:r>
            </a:p>
          </p:txBody>
        </p:sp>
      </p:grpSp>
      <p:grpSp>
        <p:nvGrpSpPr>
          <p:cNvPr id="32" name="KPIカード_平均勤続年数"/>
          <p:cNvGrpSpPr/>
          <p:nvPr/>
        </p:nvGrpSpPr>
        <p:grpSpPr>
          <a:xfrm>
            <a:off x="4381500" y="3276600"/>
            <a:ext cx="3429000" cy="1828800"/>
            <a:chOff x="4381500" y="3276600"/>
            <a:chExt cx="3429000" cy="1828800"/>
          </a:xfrm>
        </p:grpSpPr>
        <p:sp>
          <p:nvSpPr>
            <p:cNvPr id="33" name="カード"/>
            <p:cNvSpPr/>
            <p:nvPr/>
          </p:nvSpPr>
          <p:spPr>
            <a:xfrm>
              <a:off x="43815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指標名"/>
            <p:cNvSpPr/>
            <p:nvPr/>
          </p:nvSpPr>
          <p:spPr>
            <a:xfrm>
              <a:off x="46101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平均勤続年数</a:t>
              </a:r>
            </a:p>
          </p:txBody>
        </p:sp>
        <p:sp>
          <p:nvSpPr>
            <p:cNvPr id="35" name="大数字"/>
            <p:cNvSpPr/>
            <p:nvPr/>
          </p:nvSpPr>
          <p:spPr>
            <a:xfrm>
              <a:off x="4610100" y="3771900"/>
              <a:ext cx="1176337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7.2</a:t>
              </a:r>
            </a:p>
          </p:txBody>
        </p:sp>
        <p:sp>
          <p:nvSpPr>
            <p:cNvPr id="36" name="単位"/>
            <p:cNvSpPr/>
            <p:nvPr/>
          </p:nvSpPr>
          <p:spPr>
            <a:xfrm>
              <a:off x="5710237" y="4000500"/>
              <a:ext cx="1871662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年</a:t>
              </a:r>
            </a:p>
          </p:txBody>
        </p:sp>
        <p:sp>
          <p:nvSpPr>
            <p:cNvPr id="37" name="補足"/>
            <p:cNvSpPr/>
            <p:nvPr/>
          </p:nvSpPr>
          <p:spPr>
            <a:xfrm>
              <a:off x="46101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業界平均 4.8年（サンプル）</a:t>
              </a:r>
            </a:p>
          </p:txBody>
        </p:sp>
      </p:grpSp>
      <p:grpSp>
        <p:nvGrpSpPr>
          <p:cNvPr id="38" name="KPIカード_年間プロジェクト数"/>
          <p:cNvGrpSpPr/>
          <p:nvPr/>
        </p:nvGrpSpPr>
        <p:grpSpPr>
          <a:xfrm>
            <a:off x="8153400" y="3276600"/>
            <a:ext cx="3429000" cy="1828800"/>
            <a:chOff x="8153400" y="3276600"/>
            <a:chExt cx="3429000" cy="1828800"/>
          </a:xfrm>
        </p:grpSpPr>
        <p:sp>
          <p:nvSpPr>
            <p:cNvPr id="39" name="カード"/>
            <p:cNvSpPr/>
            <p:nvPr/>
          </p:nvSpPr>
          <p:spPr>
            <a:xfrm>
              <a:off x="81534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指標名"/>
            <p:cNvSpPr/>
            <p:nvPr/>
          </p:nvSpPr>
          <p:spPr>
            <a:xfrm>
              <a:off x="83820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年間プロジェクト数</a:t>
              </a:r>
            </a:p>
          </p:txBody>
        </p:sp>
        <p:sp>
          <p:nvSpPr>
            <p:cNvPr id="41" name="大数字"/>
            <p:cNvSpPr/>
            <p:nvPr/>
          </p:nvSpPr>
          <p:spPr>
            <a:xfrm>
              <a:off x="8382000" y="37719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150</a:t>
              </a:r>
            </a:p>
          </p:txBody>
        </p:sp>
        <p:sp>
          <p:nvSpPr>
            <p:cNvPr id="42" name="単位"/>
            <p:cNvSpPr/>
            <p:nvPr/>
          </p:nvSpPr>
          <p:spPr>
            <a:xfrm>
              <a:off x="9744075" y="40005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件</a:t>
              </a:r>
            </a:p>
          </p:txBody>
        </p:sp>
        <p:sp>
          <p:nvSpPr>
            <p:cNvPr id="43" name="補足"/>
            <p:cNvSpPr/>
            <p:nvPr/>
          </p:nvSpPr>
          <p:spPr>
            <a:xfrm>
              <a:off x="83820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リピート率 82%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注：数値はすべて架空のサンプルです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強みは「現場理解×技術力×伴走体制」の掛け算です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07｜当社の強み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選ばれる理由の構造（結論と3つの根拠）</a:t>
              </a:r>
            </a:p>
          </p:txBody>
        </p:sp>
      </p:grpSp>
      <p:grpSp>
        <p:nvGrpSpPr>
          <p:cNvPr id="8" name="強み_結論"/>
          <p:cNvGrpSpPr/>
          <p:nvPr/>
        </p:nvGrpSpPr>
        <p:grpSpPr>
          <a:xfrm>
            <a:off x="3619500" y="1123950"/>
            <a:ext cx="4953000" cy="533400"/>
            <a:chOff x="3619500" y="1123950"/>
            <a:chExt cx="4953000" cy="533400"/>
          </a:xfrm>
        </p:grpSpPr>
        <p:sp>
          <p:nvSpPr>
            <p:cNvPr id="9" name="結論ボックス"/>
            <p:cNvSpPr/>
            <p:nvPr/>
          </p:nvSpPr>
          <p:spPr>
            <a:xfrm>
              <a:off x="3619500" y="1123950"/>
              <a:ext cx="4953000" cy="5334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結論文"/>
            <p:cNvSpPr/>
            <p:nvPr/>
          </p:nvSpPr>
          <p:spPr>
            <a:xfrm>
              <a:off x="3619500" y="1123950"/>
              <a:ext cx="4953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3つが揃うから、導入後も成果につながる</a:t>
              </a:r>
            </a:p>
          </p:txBody>
        </p:sp>
      </p:grpSp>
      <p:grpSp>
        <p:nvGrpSpPr>
          <p:cNvPr id="11" name="強み_コネクタ"/>
          <p:cNvGrpSpPr/>
          <p:nvPr/>
        </p:nvGrpSpPr>
        <p:grpSpPr>
          <a:xfrm>
            <a:off x="2324100" y="1657350"/>
            <a:ext cx="7543800" cy="381000"/>
            <a:chOff x="2324100" y="1657350"/>
            <a:chExt cx="7543800" cy="381000"/>
          </a:xfrm>
        </p:grpSpPr>
        <p:cxnSp>
          <p:nvCxnSpPr>
            <p:cNvPr id="12" name="幹"/>
            <p:cNvCxnSpPr/>
            <p:nvPr/>
          </p:nvCxnSpPr>
          <p:spPr>
            <a:xfrm>
              <a:off x="6096000" y="16573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バス"/>
            <p:cNvCxnSpPr/>
            <p:nvPr/>
          </p:nvCxnSpPr>
          <p:spPr>
            <a:xfrm>
              <a:off x="2324100" y="1847850"/>
              <a:ext cx="7543800" cy="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枝1"/>
            <p:cNvCxnSpPr/>
            <p:nvPr/>
          </p:nvCxnSpPr>
          <p:spPr>
            <a:xfrm>
              <a:off x="23241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枝2"/>
            <p:cNvCxnSpPr/>
            <p:nvPr/>
          </p:nvCxnSpPr>
          <p:spPr>
            <a:xfrm>
              <a:off x="60960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枝3"/>
            <p:cNvCxnSpPr/>
            <p:nvPr/>
          </p:nvCxnSpPr>
          <p:spPr>
            <a:xfrm>
              <a:off x="98679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強みカード1_現場理解"/>
          <p:cNvGrpSpPr/>
          <p:nvPr/>
        </p:nvGrpSpPr>
        <p:grpSpPr>
          <a:xfrm>
            <a:off x="609600" y="2038350"/>
            <a:ext cx="3429000" cy="3314700"/>
            <a:chOff x="609600" y="2038350"/>
            <a:chExt cx="3429000" cy="3314700"/>
          </a:xfrm>
        </p:grpSpPr>
        <p:sp>
          <p:nvSpPr>
            <p:cNvPr id="18" name="カード"/>
            <p:cNvSpPr/>
            <p:nvPr/>
          </p:nvSpPr>
          <p:spPr>
            <a:xfrm>
              <a:off x="6096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丸"/>
            <p:cNvSpPr/>
            <p:nvPr/>
          </p:nvSpPr>
          <p:spPr>
            <a:xfrm>
              <a:off x="8382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番号"/>
            <p:cNvSpPr/>
            <p:nvPr/>
          </p:nvSpPr>
          <p:spPr>
            <a:xfrm>
              <a:off x="8382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1" name="強み名"/>
            <p:cNvSpPr/>
            <p:nvPr/>
          </p:nvSpPr>
          <p:spPr>
            <a:xfrm>
              <a:off x="13144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現場理解</a:t>
              </a:r>
            </a:p>
          </p:txBody>
        </p:sp>
        <p:cxnSp>
          <p:nvCxnSpPr>
            <p:cNvPr id="22" name="仕切り線"/>
            <p:cNvCxnSpPr/>
            <p:nvPr/>
          </p:nvCxnSpPr>
          <p:spPr>
            <a:xfrm>
              <a:off x="8382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説明"/>
            <p:cNvSpPr/>
            <p:nvPr/>
          </p:nvSpPr>
          <p:spPr>
            <a:xfrm>
              <a:off x="8382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営業もエンジニアも、まず現場に入り込みます。要件の手前にある“困りごと”から設計します。</a:t>
              </a:r>
            </a:p>
          </p:txBody>
        </p:sp>
        <p:cxnSp>
          <p:nvCxnSpPr>
            <p:cNvPr id="24" name="根拠仕切り"/>
            <p:cNvCxnSpPr/>
            <p:nvPr/>
          </p:nvCxnSpPr>
          <p:spPr>
            <a:xfrm>
              <a:off x="8382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根拠チップ"/>
            <p:cNvSpPr/>
            <p:nvPr/>
          </p:nvSpPr>
          <p:spPr>
            <a:xfrm>
              <a:off x="8382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根拠ラベル"/>
            <p:cNvSpPr/>
            <p:nvPr/>
          </p:nvSpPr>
          <p:spPr>
            <a:xfrm>
              <a:off x="8382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27" name="根拠事実"/>
            <p:cNvSpPr/>
            <p:nvPr/>
          </p:nvSpPr>
          <p:spPr>
            <a:xfrm>
              <a:off x="8382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社員の45%が現場業務の経験者</a:t>
              </a:r>
            </a:p>
          </p:txBody>
        </p:sp>
      </p:grpSp>
      <p:grpSp>
        <p:nvGrpSpPr>
          <p:cNvPr id="28" name="強みカード2_技術力"/>
          <p:cNvGrpSpPr/>
          <p:nvPr/>
        </p:nvGrpSpPr>
        <p:grpSpPr>
          <a:xfrm>
            <a:off x="4381500" y="2038350"/>
            <a:ext cx="3429000" cy="3314700"/>
            <a:chOff x="4381500" y="2038350"/>
            <a:chExt cx="3429000" cy="3314700"/>
          </a:xfrm>
        </p:grpSpPr>
        <p:sp>
          <p:nvSpPr>
            <p:cNvPr id="29" name="カード"/>
            <p:cNvSpPr/>
            <p:nvPr/>
          </p:nvSpPr>
          <p:spPr>
            <a:xfrm>
              <a:off x="43815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番号丸"/>
            <p:cNvSpPr/>
            <p:nvPr/>
          </p:nvSpPr>
          <p:spPr>
            <a:xfrm>
              <a:off x="46101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"/>
            <p:cNvSpPr/>
            <p:nvPr/>
          </p:nvSpPr>
          <p:spPr>
            <a:xfrm>
              <a:off x="46101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2" name="強み名"/>
            <p:cNvSpPr/>
            <p:nvPr/>
          </p:nvSpPr>
          <p:spPr>
            <a:xfrm>
              <a:off x="50863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技術力</a:t>
              </a:r>
            </a:p>
          </p:txBody>
        </p:sp>
        <p:cxnSp>
          <p:nvCxnSpPr>
            <p:cNvPr id="33" name="仕切り線"/>
            <p:cNvCxnSpPr/>
            <p:nvPr/>
          </p:nvCxnSpPr>
          <p:spPr>
            <a:xfrm>
              <a:off x="46101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説明"/>
            <p:cNvSpPr/>
            <p:nvPr/>
          </p:nvSpPr>
          <p:spPr>
            <a:xfrm>
              <a:off x="46101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新技術は横断の技術研究室で検証してから導入。品質レビューを全プロジェクトに義務化しています。</a:t>
              </a:r>
            </a:p>
          </p:txBody>
        </p:sp>
        <p:cxnSp>
          <p:nvCxnSpPr>
            <p:cNvPr id="35" name="根拠仕切り"/>
            <p:cNvCxnSpPr/>
            <p:nvPr/>
          </p:nvCxnSpPr>
          <p:spPr>
            <a:xfrm>
              <a:off x="46101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根拠チップ"/>
            <p:cNvSpPr/>
            <p:nvPr/>
          </p:nvSpPr>
          <p:spPr>
            <a:xfrm>
              <a:off x="46101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根拠ラベル"/>
            <p:cNvSpPr/>
            <p:nvPr/>
          </p:nvSpPr>
          <p:spPr>
            <a:xfrm>
              <a:off x="46101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38" name="根拠事実"/>
            <p:cNvSpPr/>
            <p:nvPr/>
          </p:nvSpPr>
          <p:spPr>
            <a:xfrm>
              <a:off x="46101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有資格エンジニア120名が在籍</a:t>
              </a:r>
            </a:p>
          </p:txBody>
        </p:sp>
      </p:grpSp>
      <p:grpSp>
        <p:nvGrpSpPr>
          <p:cNvPr id="39" name="強みカード3_伴走体制"/>
          <p:cNvGrpSpPr/>
          <p:nvPr/>
        </p:nvGrpSpPr>
        <p:grpSpPr>
          <a:xfrm>
            <a:off x="8153400" y="2038350"/>
            <a:ext cx="3429000" cy="3314700"/>
            <a:chOff x="8153400" y="2038350"/>
            <a:chExt cx="3429000" cy="3314700"/>
          </a:xfrm>
        </p:grpSpPr>
        <p:sp>
          <p:nvSpPr>
            <p:cNvPr id="40" name="カード"/>
            <p:cNvSpPr/>
            <p:nvPr/>
          </p:nvSpPr>
          <p:spPr>
            <a:xfrm>
              <a:off x="81534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番号丸"/>
            <p:cNvSpPr/>
            <p:nvPr/>
          </p:nvSpPr>
          <p:spPr>
            <a:xfrm>
              <a:off x="83820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番号"/>
            <p:cNvSpPr/>
            <p:nvPr/>
          </p:nvSpPr>
          <p:spPr>
            <a:xfrm>
              <a:off x="83820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3" name="強み名"/>
            <p:cNvSpPr/>
            <p:nvPr/>
          </p:nvSpPr>
          <p:spPr>
            <a:xfrm>
              <a:off x="88582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伴走体制</a:t>
              </a:r>
            </a:p>
          </p:txBody>
        </p:sp>
        <p:cxnSp>
          <p:nvCxnSpPr>
            <p:cNvPr id="44" name="仕切り線"/>
            <p:cNvCxnSpPr/>
            <p:nvPr/>
          </p:nvCxnSpPr>
          <p:spPr>
            <a:xfrm>
              <a:off x="83820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説明"/>
            <p:cNvSpPr/>
            <p:nvPr/>
          </p:nvSpPr>
          <p:spPr>
            <a:xfrm>
              <a:off x="83820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導入後は専任のカスタマーサクセスが定着まで支援。四半期ごとに活用度をレポートします。</a:t>
              </a:r>
            </a:p>
          </p:txBody>
        </p:sp>
        <p:cxnSp>
          <p:nvCxnSpPr>
            <p:cNvPr id="46" name="根拠仕切り"/>
            <p:cNvCxnSpPr/>
            <p:nvPr/>
          </p:nvCxnSpPr>
          <p:spPr>
            <a:xfrm>
              <a:off x="83820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根拠チップ"/>
            <p:cNvSpPr/>
            <p:nvPr/>
          </p:nvSpPr>
          <p:spPr>
            <a:xfrm>
              <a:off x="83820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根拠ラベル"/>
            <p:cNvSpPr/>
            <p:nvPr/>
          </p:nvSpPr>
          <p:spPr>
            <a:xfrm>
              <a:off x="83820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49" name="根拠事実"/>
            <p:cNvSpPr/>
            <p:nvPr/>
          </p:nvSpPr>
          <p:spPr>
            <a:xfrm>
              <a:off x="83820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専任担当が全420社をカバー</a:t>
              </a:r>
            </a:p>
          </p:txBody>
        </p:sp>
      </p:grpSp>
      <p:grpSp>
        <p:nvGrpSpPr>
          <p:cNvPr id="50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1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注：根拠の数値はサンプルです</a:t>
              </a:r>
            </a:p>
          </p:txBody>
        </p:sp>
        <p:sp>
          <p:nvSpPr>
            <p:cNvPr id="52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53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3つの事業本部を、2つの横断機能が支える体制です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08｜組織体制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組織図（2026年6月時点）</a:t>
              </a:r>
            </a:p>
          </p:txBody>
        </p:sp>
      </p:grpSp>
      <p:grpSp>
        <p:nvGrpSpPr>
          <p:cNvPr id="8" name="組織図_トップ"/>
          <p:cNvGrpSpPr/>
          <p:nvPr/>
        </p:nvGrpSpPr>
        <p:grpSpPr>
          <a:xfrm>
            <a:off x="4857750" y="1104900"/>
            <a:ext cx="2476500" cy="495300"/>
            <a:chOff x="4857750" y="1104900"/>
            <a:chExt cx="2476500" cy="495300"/>
          </a:xfrm>
        </p:grpSpPr>
        <p:sp>
          <p:nvSpPr>
            <p:cNvPr id="9" name="社長ボックス"/>
            <p:cNvSpPr/>
            <p:nvPr/>
          </p:nvSpPr>
          <p:spPr>
            <a:xfrm>
              <a:off x="4857750" y="1104900"/>
              <a:ext cx="247650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社長"/>
            <p:cNvSpPr/>
            <p:nvPr/>
          </p:nvSpPr>
          <p:spPr>
            <a:xfrm>
              <a:off x="4857750" y="1104900"/>
              <a:ext cx="2476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代表取締役社長</a:t>
              </a:r>
            </a:p>
          </p:txBody>
        </p:sp>
      </p:grpSp>
      <p:grpSp>
        <p:nvGrpSpPr>
          <p:cNvPr id="11" name="組織図_コネクタ"/>
          <p:cNvGrpSpPr/>
          <p:nvPr/>
        </p:nvGrpSpPr>
        <p:grpSpPr>
          <a:xfrm>
            <a:off x="1943100" y="1600200"/>
            <a:ext cx="8229600" cy="419100"/>
            <a:chOff x="1943100" y="1600200"/>
            <a:chExt cx="8229600" cy="419100"/>
          </a:xfrm>
        </p:grpSpPr>
        <p:cxnSp>
          <p:nvCxnSpPr>
            <p:cNvPr id="12" name="幹"/>
            <p:cNvCxnSpPr/>
            <p:nvPr/>
          </p:nvCxnSpPr>
          <p:spPr>
            <a:xfrm>
              <a:off x="6096000" y="1600200"/>
              <a:ext cx="0" cy="2286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バス"/>
            <p:cNvCxnSpPr/>
            <p:nvPr/>
          </p:nvCxnSpPr>
          <p:spPr>
            <a:xfrm>
              <a:off x="1943100" y="1828800"/>
              <a:ext cx="8229600" cy="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枝1"/>
            <p:cNvCxnSpPr/>
            <p:nvPr/>
          </p:nvCxnSpPr>
          <p:spPr>
            <a:xfrm>
              <a:off x="19431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枝2"/>
            <p:cNvCxnSpPr/>
            <p:nvPr/>
          </p:nvCxnSpPr>
          <p:spPr>
            <a:xfrm>
              <a:off x="46863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枝3"/>
            <p:cNvCxnSpPr/>
            <p:nvPr/>
          </p:nvCxnSpPr>
          <p:spPr>
            <a:xfrm>
              <a:off x="74295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枝4"/>
            <p:cNvCxnSpPr/>
            <p:nvPr/>
          </p:nvCxnSpPr>
          <p:spPr>
            <a:xfrm>
              <a:off x="101727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組織図_システム開発本部"/>
          <p:cNvGrpSpPr/>
          <p:nvPr/>
        </p:nvGrpSpPr>
        <p:grpSpPr>
          <a:xfrm>
            <a:off x="800100" y="2019300"/>
            <a:ext cx="2286000" cy="1409700"/>
            <a:chOff x="800100" y="2019300"/>
            <a:chExt cx="2286000" cy="1409700"/>
          </a:xfrm>
        </p:grpSpPr>
        <p:sp>
          <p:nvSpPr>
            <p:cNvPr id="19" name="本部ボックス"/>
            <p:cNvSpPr/>
            <p:nvPr/>
          </p:nvSpPr>
          <p:spPr>
            <a:xfrm>
              <a:off x="8001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本部名"/>
            <p:cNvSpPr/>
            <p:nvPr/>
          </p:nvSpPr>
          <p:spPr>
            <a:xfrm>
              <a:off x="8001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システム開発本部</a:t>
              </a:r>
            </a:p>
          </p:txBody>
        </p:sp>
        <p:sp>
          <p:nvSpPr>
            <p:cNvPr id="21" name="部署"/>
            <p:cNvSpPr/>
            <p:nvPr/>
          </p:nvSpPr>
          <p:spPr>
            <a:xfrm>
              <a:off x="8953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・第1〜第3開発部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・PMO室</a:t>
              </a:r>
            </a:p>
          </p:txBody>
        </p:sp>
        <p:sp>
          <p:nvSpPr>
            <p:cNvPr id="22" name="人数"/>
            <p:cNvSpPr/>
            <p:nvPr/>
          </p:nvSpPr>
          <p:spPr>
            <a:xfrm>
              <a:off x="8001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120名</a:t>
              </a:r>
            </a:p>
          </p:txBody>
        </p:sp>
      </p:grpSp>
      <p:grpSp>
        <p:nvGrpSpPr>
          <p:cNvPr id="23" name="組織図_クラウドサービス本部"/>
          <p:cNvGrpSpPr/>
          <p:nvPr/>
        </p:nvGrpSpPr>
        <p:grpSpPr>
          <a:xfrm>
            <a:off x="3543300" y="2019300"/>
            <a:ext cx="2286000" cy="1409700"/>
            <a:chOff x="3543300" y="2019300"/>
            <a:chExt cx="2286000" cy="1409700"/>
          </a:xfrm>
        </p:grpSpPr>
        <p:sp>
          <p:nvSpPr>
            <p:cNvPr id="24" name="本部ボックス"/>
            <p:cNvSpPr/>
            <p:nvPr/>
          </p:nvSpPr>
          <p:spPr>
            <a:xfrm>
              <a:off x="35433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本部名"/>
            <p:cNvSpPr/>
            <p:nvPr/>
          </p:nvSpPr>
          <p:spPr>
            <a:xfrm>
              <a:off x="35433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クラウドサービス本部</a:t>
              </a:r>
            </a:p>
          </p:txBody>
        </p:sp>
        <p:sp>
          <p:nvSpPr>
            <p:cNvPr id="26" name="部署"/>
            <p:cNvSpPr/>
            <p:nvPr/>
          </p:nvSpPr>
          <p:spPr>
            <a:xfrm>
              <a:off x="36385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・プロダクト開発部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・カスタマーサクセス部</a:t>
              </a:r>
            </a:p>
          </p:txBody>
        </p:sp>
        <p:sp>
          <p:nvSpPr>
            <p:cNvPr id="27" name="人数"/>
            <p:cNvSpPr/>
            <p:nvPr/>
          </p:nvSpPr>
          <p:spPr>
            <a:xfrm>
              <a:off x="35433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80名</a:t>
              </a:r>
            </a:p>
          </p:txBody>
        </p:sp>
      </p:grpSp>
      <p:grpSp>
        <p:nvGrpSpPr>
          <p:cNvPr id="28" name="組織図_データ活用支援本部"/>
          <p:cNvGrpSpPr/>
          <p:nvPr/>
        </p:nvGrpSpPr>
        <p:grpSpPr>
          <a:xfrm>
            <a:off x="6286500" y="2019300"/>
            <a:ext cx="2286000" cy="1409700"/>
            <a:chOff x="6286500" y="2019300"/>
            <a:chExt cx="2286000" cy="1409700"/>
          </a:xfrm>
        </p:grpSpPr>
        <p:sp>
          <p:nvSpPr>
            <p:cNvPr id="29" name="本部ボックス"/>
            <p:cNvSpPr/>
            <p:nvPr/>
          </p:nvSpPr>
          <p:spPr>
            <a:xfrm>
              <a:off x="62865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本部名"/>
            <p:cNvSpPr/>
            <p:nvPr/>
          </p:nvSpPr>
          <p:spPr>
            <a:xfrm>
              <a:off x="62865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データ活用支援本部</a:t>
              </a:r>
            </a:p>
          </p:txBody>
        </p:sp>
        <p:sp>
          <p:nvSpPr>
            <p:cNvPr id="31" name="部署"/>
            <p:cNvSpPr/>
            <p:nvPr/>
          </p:nvSpPr>
          <p:spPr>
            <a:xfrm>
              <a:off x="63817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・データサイエンス部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・データ基盤部</a:t>
              </a:r>
            </a:p>
          </p:txBody>
        </p:sp>
        <p:sp>
          <p:nvSpPr>
            <p:cNvPr id="32" name="人数"/>
            <p:cNvSpPr/>
            <p:nvPr/>
          </p:nvSpPr>
          <p:spPr>
            <a:xfrm>
              <a:off x="62865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40名</a:t>
              </a:r>
            </a:p>
          </p:txBody>
        </p:sp>
      </p:grpSp>
      <p:grpSp>
        <p:nvGrpSpPr>
          <p:cNvPr id="33" name="組織図_コーポレート本部"/>
          <p:cNvGrpSpPr/>
          <p:nvPr/>
        </p:nvGrpSpPr>
        <p:grpSpPr>
          <a:xfrm>
            <a:off x="9029700" y="2019300"/>
            <a:ext cx="2286000" cy="1409700"/>
            <a:chOff x="9029700" y="2019300"/>
            <a:chExt cx="2286000" cy="1409700"/>
          </a:xfrm>
        </p:grpSpPr>
        <p:sp>
          <p:nvSpPr>
            <p:cNvPr id="34" name="本部ボックス"/>
            <p:cNvSpPr/>
            <p:nvPr/>
          </p:nvSpPr>
          <p:spPr>
            <a:xfrm>
              <a:off x="90297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本部名"/>
            <p:cNvSpPr/>
            <p:nvPr/>
          </p:nvSpPr>
          <p:spPr>
            <a:xfrm>
              <a:off x="90297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コーポレート本部</a:t>
              </a:r>
            </a:p>
          </p:txBody>
        </p:sp>
        <p:sp>
          <p:nvSpPr>
            <p:cNvPr id="36" name="部署"/>
            <p:cNvSpPr/>
            <p:nvPr/>
          </p:nvSpPr>
          <p:spPr>
            <a:xfrm>
              <a:off x="91249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・経営企画部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・人事総務部／経理部</a:t>
              </a:r>
            </a:p>
          </p:txBody>
        </p:sp>
        <p:sp>
          <p:nvSpPr>
            <p:cNvPr id="37" name="人数"/>
            <p:cNvSpPr/>
            <p:nvPr/>
          </p:nvSpPr>
          <p:spPr>
            <a:xfrm>
              <a:off x="90297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40名</a:t>
              </a:r>
            </a:p>
          </p:txBody>
        </p:sp>
      </p:grpSp>
      <p:grpSp>
        <p:nvGrpSpPr>
          <p:cNvPr id="38" name="組織図_横断機能"/>
          <p:cNvGrpSpPr/>
          <p:nvPr/>
        </p:nvGrpSpPr>
        <p:grpSpPr>
          <a:xfrm>
            <a:off x="800100" y="3771900"/>
            <a:ext cx="7772400" cy="1085850"/>
            <a:chOff x="800100" y="3771900"/>
            <a:chExt cx="7772400" cy="1085850"/>
          </a:xfrm>
        </p:grpSpPr>
        <p:sp>
          <p:nvSpPr>
            <p:cNvPr id="39" name="小見出し"/>
            <p:cNvSpPr/>
            <p:nvPr/>
          </p:nvSpPr>
          <p:spPr>
            <a:xfrm>
              <a:off x="800100" y="3771900"/>
              <a:ext cx="571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横断機能（3事業本部を横断して支援）</a:t>
              </a:r>
            </a:p>
          </p:txBody>
        </p:sp>
        <p:sp>
          <p:nvSpPr>
            <p:cNvPr id="40" name="帯_品質管理室"/>
            <p:cNvSpPr/>
            <p:nvPr/>
          </p:nvSpPr>
          <p:spPr>
            <a:xfrm>
              <a:off x="800100" y="4019550"/>
              <a:ext cx="7772400" cy="361950"/>
            </a:xfrm>
            <a:prstGeom prst="roundRect">
              <a:avLst>
                <a:gd name="adj" fmla="val 21052"/>
              </a:avLst>
            </a:prstGeom>
            <a:noFill/>
            <a:ln w="11906">
              <a:solidFill>
                <a:schemeClr val="accent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名称_品質管理室"/>
            <p:cNvSpPr/>
            <p:nvPr/>
          </p:nvSpPr>
          <p:spPr>
            <a:xfrm>
              <a:off x="800100" y="4029075"/>
              <a:ext cx="7772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品質管理室 ― 全プロジェクトの品質レビューを実施</a:t>
              </a:r>
            </a:p>
          </p:txBody>
        </p:sp>
        <p:sp>
          <p:nvSpPr>
            <p:cNvPr id="42" name="帯_技術研究室"/>
            <p:cNvSpPr/>
            <p:nvPr/>
          </p:nvSpPr>
          <p:spPr>
            <a:xfrm>
              <a:off x="800100" y="4495800"/>
              <a:ext cx="7772400" cy="361950"/>
            </a:xfrm>
            <a:prstGeom prst="roundRect">
              <a:avLst>
                <a:gd name="adj" fmla="val 21052"/>
              </a:avLst>
            </a:prstGeom>
            <a:noFill/>
            <a:ln w="11906">
              <a:solidFill>
                <a:schemeClr val="accent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名称_技術研究室"/>
            <p:cNvSpPr/>
            <p:nvPr/>
          </p:nvSpPr>
          <p:spPr>
            <a:xfrm>
              <a:off x="800100" y="4505325"/>
              <a:ext cx="7772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技術研究室 ― 新技術の検証と社内標準化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注：組織名・人数はサンプルです（2026年6月時点）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製造を中心に、業界を越えて420社で使われています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09｜実績・取引先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業界別の取引社数と主要お取引先（社数はサンプル）</a:t>
              </a:r>
            </a:p>
          </p:txBody>
        </p:sp>
      </p:grpSp>
      <p:grpSp>
        <p:nvGrpSpPr>
          <p:cNvPr id="8" name="実績_区切り"/>
          <p:cNvGrpSpPr/>
          <p:nvPr/>
        </p:nvGrpSpPr>
        <p:grpSpPr>
          <a:xfrm>
            <a:off x="6124575" y="1219200"/>
            <a:ext cx="19050" cy="4686300"/>
            <a:chOff x="6124575" y="1219200"/>
            <a:chExt cx="19050" cy="4686300"/>
          </a:xfrm>
        </p:grpSpPr>
        <p:cxnSp>
          <p:nvCxnSpPr>
            <p:cNvPr id="9" name="中央区切り線"/>
            <p:cNvCxnSpPr/>
            <p:nvPr/>
          </p:nvCxnSpPr>
          <p:spPr>
            <a:xfrm>
              <a:off x="6134100" y="1219200"/>
              <a:ext cx="0" cy="46863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伸長ダミー"/>
            <p:cNvSpPr/>
            <p:nvPr/>
          </p:nvSpPr>
          <p:spPr>
            <a:xfrm>
              <a:off x="6124575" y="1219200"/>
              <a:ext cx="19050" cy="468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実績_業界内訳"/>
          <p:cNvGrpSpPr/>
          <p:nvPr/>
        </p:nvGrpSpPr>
        <p:grpSpPr>
          <a:xfrm>
            <a:off x="609600" y="1200150"/>
            <a:ext cx="5105400" cy="3657600"/>
            <a:chOff x="609600" y="1200150"/>
            <a:chExt cx="5105400" cy="3657600"/>
          </a:xfrm>
        </p:grpSpPr>
        <p:sp>
          <p:nvSpPr>
            <p:cNvPr id="12" name="小見出し"/>
            <p:cNvSpPr/>
            <p:nvPr/>
          </p:nvSpPr>
          <p:spPr>
            <a:xfrm>
              <a:off x="609600" y="12001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業界別の取引社数</a:t>
              </a:r>
            </a:p>
          </p:txBody>
        </p:sp>
        <p:sp>
          <p:nvSpPr>
            <p:cNvPr id="13" name="タグ_製造"/>
            <p:cNvSpPr/>
            <p:nvPr/>
          </p:nvSpPr>
          <p:spPr>
            <a:xfrm>
              <a:off x="609600" y="15049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業界_製造"/>
            <p:cNvSpPr/>
            <p:nvPr/>
          </p:nvSpPr>
          <p:spPr>
            <a:xfrm>
              <a:off x="609600" y="15144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製造</a:t>
              </a:r>
            </a:p>
          </p:txBody>
        </p:sp>
        <p:sp>
          <p:nvSpPr>
            <p:cNvPr id="15" name="バー_製造"/>
            <p:cNvSpPr/>
            <p:nvPr/>
          </p:nvSpPr>
          <p:spPr>
            <a:xfrm>
              <a:off x="1828800" y="1524000"/>
              <a:ext cx="291465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社数_製造"/>
            <p:cNvSpPr/>
            <p:nvPr/>
          </p:nvSpPr>
          <p:spPr>
            <a:xfrm>
              <a:off x="4838700" y="15240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180社</a:t>
              </a:r>
            </a:p>
          </p:txBody>
        </p:sp>
        <p:sp>
          <p:nvSpPr>
            <p:cNvPr id="17" name="タグ_物流"/>
            <p:cNvSpPr/>
            <p:nvPr/>
          </p:nvSpPr>
          <p:spPr>
            <a:xfrm>
              <a:off x="609600" y="20383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業界_物流"/>
            <p:cNvSpPr/>
            <p:nvPr/>
          </p:nvSpPr>
          <p:spPr>
            <a:xfrm>
              <a:off x="609600" y="20478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物流</a:t>
              </a:r>
            </a:p>
          </p:txBody>
        </p:sp>
        <p:sp>
          <p:nvSpPr>
            <p:cNvPr id="19" name="バー_物流"/>
            <p:cNvSpPr/>
            <p:nvPr/>
          </p:nvSpPr>
          <p:spPr>
            <a:xfrm>
              <a:off x="1828800" y="2057400"/>
              <a:ext cx="145732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社数_物流"/>
            <p:cNvSpPr/>
            <p:nvPr/>
          </p:nvSpPr>
          <p:spPr>
            <a:xfrm>
              <a:off x="3381375" y="20574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90社</a:t>
              </a:r>
            </a:p>
          </p:txBody>
        </p:sp>
        <p:sp>
          <p:nvSpPr>
            <p:cNvPr id="21" name="タグ_小売・流通"/>
            <p:cNvSpPr/>
            <p:nvPr/>
          </p:nvSpPr>
          <p:spPr>
            <a:xfrm>
              <a:off x="609600" y="25717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業界_小売・流通"/>
            <p:cNvSpPr/>
            <p:nvPr/>
          </p:nvSpPr>
          <p:spPr>
            <a:xfrm>
              <a:off x="609600" y="25812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小売・流通</a:t>
              </a:r>
            </a:p>
          </p:txBody>
        </p:sp>
        <p:sp>
          <p:nvSpPr>
            <p:cNvPr id="23" name="バー_小売・流通"/>
            <p:cNvSpPr/>
            <p:nvPr/>
          </p:nvSpPr>
          <p:spPr>
            <a:xfrm>
              <a:off x="1828800" y="2590800"/>
              <a:ext cx="11334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社数_小売・流通"/>
            <p:cNvSpPr/>
            <p:nvPr/>
          </p:nvSpPr>
          <p:spPr>
            <a:xfrm>
              <a:off x="3057525" y="25908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70社</a:t>
              </a:r>
            </a:p>
          </p:txBody>
        </p:sp>
        <p:sp>
          <p:nvSpPr>
            <p:cNvPr id="25" name="タグ_金融・サービス"/>
            <p:cNvSpPr/>
            <p:nvPr/>
          </p:nvSpPr>
          <p:spPr>
            <a:xfrm>
              <a:off x="609600" y="31051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業界_金融・サービス"/>
            <p:cNvSpPr/>
            <p:nvPr/>
          </p:nvSpPr>
          <p:spPr>
            <a:xfrm>
              <a:off x="609600" y="31146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金融・サービス</a:t>
              </a:r>
            </a:p>
          </p:txBody>
        </p:sp>
        <p:sp>
          <p:nvSpPr>
            <p:cNvPr id="27" name="バー_金融・サービス"/>
            <p:cNvSpPr/>
            <p:nvPr/>
          </p:nvSpPr>
          <p:spPr>
            <a:xfrm>
              <a:off x="1828800" y="3124200"/>
              <a:ext cx="80962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社数_金融・サービス"/>
            <p:cNvSpPr/>
            <p:nvPr/>
          </p:nvSpPr>
          <p:spPr>
            <a:xfrm>
              <a:off x="2733675" y="31242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50社</a:t>
              </a:r>
            </a:p>
          </p:txBody>
        </p:sp>
        <p:sp>
          <p:nvSpPr>
            <p:cNvPr id="29" name="タグ_その他"/>
            <p:cNvSpPr/>
            <p:nvPr/>
          </p:nvSpPr>
          <p:spPr>
            <a:xfrm>
              <a:off x="609600" y="36385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業界_その他"/>
            <p:cNvSpPr/>
            <p:nvPr/>
          </p:nvSpPr>
          <p:spPr>
            <a:xfrm>
              <a:off x="609600" y="36480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その他</a:t>
              </a:r>
            </a:p>
          </p:txBody>
        </p:sp>
        <p:sp>
          <p:nvSpPr>
            <p:cNvPr id="31" name="バー_その他"/>
            <p:cNvSpPr/>
            <p:nvPr/>
          </p:nvSpPr>
          <p:spPr>
            <a:xfrm>
              <a:off x="1828800" y="3657600"/>
              <a:ext cx="4857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社数_その他"/>
            <p:cNvSpPr/>
            <p:nvPr/>
          </p:nvSpPr>
          <p:spPr>
            <a:xfrm>
              <a:off x="2409825" y="36576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30社</a:t>
              </a:r>
            </a:p>
          </p:txBody>
        </p:sp>
        <p:cxnSp>
          <p:nvCxnSpPr>
            <p:cNvPr id="33" name="合計線"/>
            <p:cNvCxnSpPr/>
            <p:nvPr/>
          </p:nvCxnSpPr>
          <p:spPr>
            <a:xfrm>
              <a:off x="609600" y="42672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合計"/>
            <p:cNvSpPr/>
            <p:nvPr/>
          </p:nvSpPr>
          <p:spPr>
            <a:xfrm>
              <a:off x="609600" y="4400550"/>
              <a:ext cx="5105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合計 420社（2026年6月時点）</a:t>
              </a:r>
            </a:p>
          </p:txBody>
        </p:sp>
        <p:sp>
          <p:nvSpPr>
            <p:cNvPr id="35" name="継続注記"/>
            <p:cNvSpPr/>
            <p:nvPr/>
          </p:nvSpPr>
          <p:spPr>
            <a:xfrm>
              <a:off x="609600" y="4686300"/>
              <a:ext cx="5105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うち5年以上の継続取引 62%</a:t>
              </a:r>
            </a:p>
          </p:txBody>
        </p:sp>
      </p:grpSp>
      <p:grpSp>
        <p:nvGrpSpPr>
          <p:cNvPr id="36" name="実績_ロゴ配置"/>
          <p:cNvGrpSpPr/>
          <p:nvPr/>
        </p:nvGrpSpPr>
        <p:grpSpPr>
          <a:xfrm>
            <a:off x="6667500" y="1200150"/>
            <a:ext cx="4914900" cy="1905000"/>
            <a:chOff x="6667500" y="1200150"/>
            <a:chExt cx="4914900" cy="1905000"/>
          </a:xfrm>
        </p:grpSpPr>
        <p:sp>
          <p:nvSpPr>
            <p:cNvPr id="37" name="小見出し"/>
            <p:cNvSpPr/>
            <p:nvPr/>
          </p:nvSpPr>
          <p:spPr>
            <a:xfrm>
              <a:off x="6667500" y="120015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主要お取引先（ロゴ配置スペース）</a:t>
              </a:r>
            </a:p>
          </p:txBody>
        </p:sp>
        <p:sp>
          <p:nvSpPr>
            <p:cNvPr id="38" name="ロゴ枠1"/>
            <p:cNvSpPr/>
            <p:nvPr/>
          </p:nvSpPr>
          <p:spPr>
            <a:xfrm>
              <a:off x="666750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ロゴ案内1"/>
            <p:cNvSpPr/>
            <p:nvPr/>
          </p:nvSpPr>
          <p:spPr>
            <a:xfrm>
              <a:off x="666750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0" name="ロゴ枠2"/>
            <p:cNvSpPr/>
            <p:nvPr/>
          </p:nvSpPr>
          <p:spPr>
            <a:xfrm>
              <a:off x="836295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ロゴ案内2"/>
            <p:cNvSpPr/>
            <p:nvPr/>
          </p:nvSpPr>
          <p:spPr>
            <a:xfrm>
              <a:off x="836295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2" name="ロゴ枠3"/>
            <p:cNvSpPr/>
            <p:nvPr/>
          </p:nvSpPr>
          <p:spPr>
            <a:xfrm>
              <a:off x="1005840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ロゴ案内3"/>
            <p:cNvSpPr/>
            <p:nvPr/>
          </p:nvSpPr>
          <p:spPr>
            <a:xfrm>
              <a:off x="1005840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4" name="ロゴ枠4"/>
            <p:cNvSpPr/>
            <p:nvPr/>
          </p:nvSpPr>
          <p:spPr>
            <a:xfrm>
              <a:off x="666750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ロゴ案内4"/>
            <p:cNvSpPr/>
            <p:nvPr/>
          </p:nvSpPr>
          <p:spPr>
            <a:xfrm>
              <a:off x="666750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6" name="ロゴ枠5"/>
            <p:cNvSpPr/>
            <p:nvPr/>
          </p:nvSpPr>
          <p:spPr>
            <a:xfrm>
              <a:off x="836295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ロゴ案内5"/>
            <p:cNvSpPr/>
            <p:nvPr/>
          </p:nvSpPr>
          <p:spPr>
            <a:xfrm>
              <a:off x="836295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8" name="ロゴ枠6"/>
            <p:cNvSpPr/>
            <p:nvPr/>
          </p:nvSpPr>
          <p:spPr>
            <a:xfrm>
              <a:off x="1005840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ロゴ案内6"/>
            <p:cNvSpPr/>
            <p:nvPr/>
          </p:nvSpPr>
          <p:spPr>
            <a:xfrm>
              <a:off x="1005840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</p:grpSp>
      <p:grpSp>
        <p:nvGrpSpPr>
          <p:cNvPr id="50" name="実績_代表事例"/>
          <p:cNvGrpSpPr/>
          <p:nvPr/>
        </p:nvGrpSpPr>
        <p:grpSpPr>
          <a:xfrm>
            <a:off x="6667500" y="3543300"/>
            <a:ext cx="4914900" cy="1619250"/>
            <a:chOff x="6667500" y="3543300"/>
            <a:chExt cx="4914900" cy="1619250"/>
          </a:xfrm>
        </p:grpSpPr>
        <p:sp>
          <p:nvSpPr>
            <p:cNvPr id="51" name="小見出し"/>
            <p:cNvSpPr/>
            <p:nvPr/>
          </p:nvSpPr>
          <p:spPr>
            <a:xfrm>
              <a:off x="6667500" y="354330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代表的なプロジェクト（サンプル）</a:t>
              </a:r>
            </a:p>
          </p:txBody>
        </p:sp>
        <p:sp>
          <p:nvSpPr>
            <p:cNvPr id="52" name="ビュレット1"/>
            <p:cNvSpPr/>
            <p:nvPr/>
          </p:nvSpPr>
          <p:spPr>
            <a:xfrm>
              <a:off x="6667500" y="38862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事例1"/>
            <p:cNvSpPr/>
            <p:nvPr/>
          </p:nvSpPr>
          <p:spPr>
            <a:xfrm>
              <a:off x="6858000" y="382905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製造A社｜基幹システム刷新と現場データ連携（12ヶ月）</a:t>
              </a:r>
            </a:p>
          </p:txBody>
        </p:sp>
        <p:sp>
          <p:nvSpPr>
            <p:cNvPr id="54" name="ビュレット2"/>
            <p:cNvSpPr/>
            <p:nvPr/>
          </p:nvSpPr>
          <p:spPr>
            <a:xfrm>
              <a:off x="6667500" y="43624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事例2"/>
            <p:cNvSpPr/>
            <p:nvPr/>
          </p:nvSpPr>
          <p:spPr>
            <a:xfrm>
              <a:off x="6858000" y="430530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物流B社｜配車計画SaaSを3ヶ月で全12拠点に導入</a:t>
              </a:r>
            </a:p>
          </p:txBody>
        </p:sp>
        <p:sp>
          <p:nvSpPr>
            <p:cNvPr id="56" name="ビュレット3"/>
            <p:cNvSpPr/>
            <p:nvPr/>
          </p:nvSpPr>
          <p:spPr>
            <a:xfrm>
              <a:off x="6667500" y="48387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事例3"/>
            <p:cNvSpPr/>
            <p:nvPr/>
          </p:nvSpPr>
          <p:spPr>
            <a:xfrm>
              <a:off x="6858000" y="478155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小売C社｜需要予測モデルの構築と内製化を伴走支援</a:t>
              </a:r>
            </a:p>
          </p:txBody>
        </p:sp>
      </p:grpSp>
      <p:grpSp>
        <p:nvGrpSpPr>
          <p:cNvPr id="58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9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注：社数・社名・案件名はすべて架空のサンプルです。ロゴは承諾を得たもののみ掲載してください</a:t>
              </a:r>
            </a:p>
          </p:txBody>
        </p:sp>
        <p:sp>
          <p:nvSpPr>
            <p:cNvPr id="60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61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学びと裁量への投資が、サービスの質を支えています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10｜働く環境・カルチャー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主な制度と社員の声（内容はサンプル）</a:t>
              </a:r>
            </a:p>
          </p:txBody>
        </p:sp>
      </p:grpSp>
      <p:grpSp>
        <p:nvGrpSpPr>
          <p:cNvPr id="8" name="環境_制度リスト"/>
          <p:cNvGrpSpPr/>
          <p:nvPr/>
        </p:nvGrpSpPr>
        <p:grpSpPr>
          <a:xfrm>
            <a:off x="609600" y="1200150"/>
            <a:ext cx="5486400" cy="3200400"/>
            <a:chOff x="609600" y="1200150"/>
            <a:chExt cx="5486400" cy="3200400"/>
          </a:xfrm>
        </p:grpSpPr>
        <p:sp>
          <p:nvSpPr>
            <p:cNvPr id="9" name="小見出し"/>
            <p:cNvSpPr/>
            <p:nvPr/>
          </p:nvSpPr>
          <p:spPr>
            <a:xfrm>
              <a:off x="609600" y="12001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主な制度</a:t>
              </a:r>
            </a:p>
          </p:txBody>
        </p:sp>
        <p:sp>
          <p:nvSpPr>
            <p:cNvPr id="10" name="分類_1"/>
            <p:cNvSpPr/>
            <p:nvPr/>
          </p:nvSpPr>
          <p:spPr>
            <a:xfrm>
              <a:off x="609600" y="15621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分類名1"/>
            <p:cNvSpPr/>
            <p:nvPr/>
          </p:nvSpPr>
          <p:spPr>
            <a:xfrm>
              <a:off x="609600" y="15716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働き方</a:t>
              </a:r>
            </a:p>
          </p:txBody>
        </p:sp>
        <p:sp>
          <p:nvSpPr>
            <p:cNvPr id="12" name="制度名1"/>
            <p:cNvSpPr/>
            <p:nvPr/>
          </p:nvSpPr>
          <p:spPr>
            <a:xfrm>
              <a:off x="1485900" y="15240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フルフレックス×リモート併用</a:t>
              </a:r>
            </a:p>
          </p:txBody>
        </p:sp>
        <p:sp>
          <p:nvSpPr>
            <p:cNvPr id="13" name="説明1"/>
            <p:cNvSpPr/>
            <p:nvPr/>
          </p:nvSpPr>
          <p:spPr>
            <a:xfrm>
              <a:off x="1485900" y="17526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コアタイムなし。働く場所と時間は成果で選ぶ</a:t>
              </a:r>
            </a:p>
          </p:txBody>
        </p:sp>
        <p:cxnSp>
          <p:nvCxnSpPr>
            <p:cNvPr id="14" name="罫線1"/>
            <p:cNvCxnSpPr/>
            <p:nvPr/>
          </p:nvCxnSpPr>
          <p:spPr>
            <a:xfrm>
              <a:off x="609600" y="20383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分類_2"/>
            <p:cNvSpPr/>
            <p:nvPr/>
          </p:nvSpPr>
          <p:spPr>
            <a:xfrm>
              <a:off x="609600" y="215265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分類名2"/>
            <p:cNvSpPr/>
            <p:nvPr/>
          </p:nvSpPr>
          <p:spPr>
            <a:xfrm>
              <a:off x="609600" y="216217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働き方</a:t>
              </a:r>
            </a:p>
          </p:txBody>
        </p:sp>
        <p:sp>
          <p:nvSpPr>
            <p:cNvPr id="17" name="制度名2"/>
            <p:cNvSpPr/>
            <p:nvPr/>
          </p:nvSpPr>
          <p:spPr>
            <a:xfrm>
              <a:off x="1485900" y="211455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週1「ノー会議デー」</a:t>
              </a:r>
            </a:p>
          </p:txBody>
        </p:sp>
        <p:sp>
          <p:nvSpPr>
            <p:cNvPr id="18" name="説明2"/>
            <p:cNvSpPr/>
            <p:nvPr/>
          </p:nvSpPr>
          <p:spPr>
            <a:xfrm>
              <a:off x="1485900" y="234315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集中して考える時間を全社で確保</a:t>
              </a:r>
            </a:p>
          </p:txBody>
        </p:sp>
        <p:cxnSp>
          <p:nvCxnSpPr>
            <p:cNvPr id="19" name="罫線2"/>
            <p:cNvCxnSpPr/>
            <p:nvPr/>
          </p:nvCxnSpPr>
          <p:spPr>
            <a:xfrm>
              <a:off x="609600" y="26289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分類_3"/>
            <p:cNvSpPr/>
            <p:nvPr/>
          </p:nvSpPr>
          <p:spPr>
            <a:xfrm>
              <a:off x="609600" y="27432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分類名3"/>
            <p:cNvSpPr/>
            <p:nvPr/>
          </p:nvSpPr>
          <p:spPr>
            <a:xfrm>
              <a:off x="609600" y="27527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学び</a:t>
              </a:r>
            </a:p>
          </p:txBody>
        </p:sp>
        <p:sp>
          <p:nvSpPr>
            <p:cNvPr id="22" name="制度名3"/>
            <p:cNvSpPr/>
            <p:nvPr/>
          </p:nvSpPr>
          <p:spPr>
            <a:xfrm>
              <a:off x="1485900" y="27051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資格取得支援</a:t>
              </a:r>
            </a:p>
          </p:txBody>
        </p:sp>
        <p:sp>
          <p:nvSpPr>
            <p:cNvPr id="23" name="説明3"/>
            <p:cNvSpPr/>
            <p:nvPr/>
          </p:nvSpPr>
          <p:spPr>
            <a:xfrm>
              <a:off x="1485900" y="29337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受験料・更新料は全額会社負担、合格報奨金つき</a:t>
              </a:r>
            </a:p>
          </p:txBody>
        </p:sp>
        <p:cxnSp>
          <p:nvCxnSpPr>
            <p:cNvPr id="24" name="罫線3"/>
            <p:cNvCxnSpPr/>
            <p:nvPr/>
          </p:nvCxnSpPr>
          <p:spPr>
            <a:xfrm>
              <a:off x="609600" y="32194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分類_4"/>
            <p:cNvSpPr/>
            <p:nvPr/>
          </p:nvSpPr>
          <p:spPr>
            <a:xfrm>
              <a:off x="609600" y="333375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分類名4"/>
            <p:cNvSpPr/>
            <p:nvPr/>
          </p:nvSpPr>
          <p:spPr>
            <a:xfrm>
              <a:off x="609600" y="334327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学び</a:t>
              </a:r>
            </a:p>
          </p:txBody>
        </p:sp>
        <p:sp>
          <p:nvSpPr>
            <p:cNvPr id="27" name="制度名4"/>
            <p:cNvSpPr/>
            <p:nvPr/>
          </p:nvSpPr>
          <p:spPr>
            <a:xfrm>
              <a:off x="1485900" y="329565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社内勉強会「現場ゼミ」</a:t>
              </a:r>
            </a:p>
          </p:txBody>
        </p:sp>
        <p:sp>
          <p:nvSpPr>
            <p:cNvPr id="28" name="説明4"/>
            <p:cNvSpPr/>
            <p:nvPr/>
          </p:nvSpPr>
          <p:spPr>
            <a:xfrm>
              <a:off x="1485900" y="352425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毎週金曜、現場の学びを持ち寄り共有</a:t>
              </a:r>
            </a:p>
          </p:txBody>
        </p:sp>
        <p:cxnSp>
          <p:nvCxnSpPr>
            <p:cNvPr id="29" name="罫線4"/>
            <p:cNvCxnSpPr/>
            <p:nvPr/>
          </p:nvCxnSpPr>
          <p:spPr>
            <a:xfrm>
              <a:off x="609600" y="38100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分類_5"/>
            <p:cNvSpPr/>
            <p:nvPr/>
          </p:nvSpPr>
          <p:spPr>
            <a:xfrm>
              <a:off x="609600" y="39243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分類名5"/>
            <p:cNvSpPr/>
            <p:nvPr/>
          </p:nvSpPr>
          <p:spPr>
            <a:xfrm>
              <a:off x="609600" y="39338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健康</a:t>
              </a:r>
            </a:p>
          </p:txBody>
        </p:sp>
        <p:sp>
          <p:nvSpPr>
            <p:cNvPr id="32" name="制度名5"/>
            <p:cNvSpPr/>
            <p:nvPr/>
          </p:nvSpPr>
          <p:spPr>
            <a:xfrm>
              <a:off x="1485900" y="38862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リフレッシュ休暇</a:t>
              </a:r>
            </a:p>
          </p:txBody>
        </p:sp>
        <p:sp>
          <p:nvSpPr>
            <p:cNvPr id="33" name="説明5"/>
            <p:cNvSpPr/>
            <p:nvPr/>
          </p:nvSpPr>
          <p:spPr>
            <a:xfrm>
              <a:off x="1485900" y="41148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年1回・5連休。取得率100%（サンプル）</a:t>
              </a:r>
            </a:p>
          </p:txBody>
        </p:sp>
        <p:cxnSp>
          <p:nvCxnSpPr>
            <p:cNvPr id="34" name="罫線5"/>
            <p:cNvCxnSpPr/>
            <p:nvPr/>
          </p:nvCxnSpPr>
          <p:spPr>
            <a:xfrm>
              <a:off x="609600" y="44005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環境_区切り"/>
          <p:cNvGrpSpPr/>
          <p:nvPr/>
        </p:nvGrpSpPr>
        <p:grpSpPr>
          <a:xfrm>
            <a:off x="6124575" y="1219200"/>
            <a:ext cx="19050" cy="4686300"/>
            <a:chOff x="6124575" y="1219200"/>
            <a:chExt cx="19050" cy="4686300"/>
          </a:xfrm>
        </p:grpSpPr>
        <p:cxnSp>
          <p:nvCxnSpPr>
            <p:cNvPr id="36" name="中央区切り線"/>
            <p:cNvCxnSpPr/>
            <p:nvPr/>
          </p:nvCxnSpPr>
          <p:spPr>
            <a:xfrm>
              <a:off x="6134100" y="1219200"/>
              <a:ext cx="0" cy="46863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伸長ダミー"/>
            <p:cNvSpPr/>
            <p:nvPr/>
          </p:nvSpPr>
          <p:spPr>
            <a:xfrm>
              <a:off x="6124575" y="1219200"/>
              <a:ext cx="19050" cy="468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環境_声カード1"/>
          <p:cNvGrpSpPr/>
          <p:nvPr/>
        </p:nvGrpSpPr>
        <p:grpSpPr>
          <a:xfrm>
            <a:off x="6667500" y="1200150"/>
            <a:ext cx="4914900" cy="1809750"/>
            <a:chOff x="6667500" y="1200150"/>
            <a:chExt cx="4914900" cy="1809750"/>
          </a:xfrm>
        </p:grpSpPr>
        <p:sp>
          <p:nvSpPr>
            <p:cNvPr id="39" name="小見出し"/>
            <p:cNvSpPr/>
            <p:nvPr/>
          </p:nvSpPr>
          <p:spPr>
            <a:xfrm>
              <a:off x="6667500" y="120015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社員の声</a:t>
              </a:r>
            </a:p>
          </p:txBody>
        </p:sp>
        <p:sp>
          <p:nvSpPr>
            <p:cNvPr id="40" name="声吹き出し1"/>
            <p:cNvSpPr/>
            <p:nvPr/>
          </p:nvSpPr>
          <p:spPr>
            <a:xfrm>
              <a:off x="6667500" y="1504950"/>
              <a:ext cx="4914900" cy="1047750"/>
            </a:xfrm>
            <a:custGeom>
              <a:avLst/>
              <a:gdLst/>
              <a:ahLst/>
              <a:cxnLst/>
              <a:rect l="0" t="0" r="4914900" b="876300"/>
              <a:pathLst>
                <a:path w="4914900" h="1047750">
                  <a:moveTo>
                    <a:pt x="76200" y="0"/>
                  </a:moveTo>
                  <a:lnTo>
                    <a:pt x="4838700" y="0"/>
                  </a:lnTo>
                  <a:arcTo wR="76200" hR="76200" stAng="16200000" swAng="5400000"/>
                  <a:lnTo>
                    <a:pt x="4914900" y="800100"/>
                  </a:lnTo>
                  <a:arcTo wR="76200" hR="76200" stAng="0" swAng="5400000"/>
                  <a:lnTo>
                    <a:pt x="694563" y="876300"/>
                  </a:lnTo>
                  <a:lnTo>
                    <a:pt x="589788" y="1047750"/>
                  </a:lnTo>
                  <a:lnTo>
                    <a:pt x="485013" y="876300"/>
                  </a:lnTo>
                  <a:lnTo>
                    <a:pt x="76200" y="8763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800850" y="1504950"/>
              <a:ext cx="46482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「まず現場へ行こう」が合言葉。机の上の想像で仕様を決めない文化が、私の誇りです。</a:t>
              </a:r>
            </a:p>
          </p:txBody>
        </p:sp>
        <p:sp>
          <p:nvSpPr>
            <p:cNvPr id="42" name="話者1頭文字"/>
            <p:cNvSpPr/>
            <p:nvPr/>
          </p:nvSpPr>
          <p:spPr>
            <a:xfrm>
              <a:off x="6781800" y="27051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頭文字1"/>
            <p:cNvSpPr/>
            <p:nvPr/>
          </p:nvSpPr>
          <p:spPr>
            <a:xfrm>
              <a:off x="6781800" y="2714625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E</a:t>
              </a:r>
            </a:p>
          </p:txBody>
        </p:sp>
        <p:sp>
          <p:nvSpPr>
            <p:cNvPr id="44" name="話者1"/>
            <p:cNvSpPr/>
            <p:nvPr/>
          </p:nvSpPr>
          <p:spPr>
            <a:xfrm>
              <a:off x="7200900" y="2714625"/>
              <a:ext cx="3810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エンジニア職｜入社5年目</a:t>
              </a:r>
            </a:p>
          </p:txBody>
        </p:sp>
      </p:grpSp>
      <p:grpSp>
        <p:nvGrpSpPr>
          <p:cNvPr id="45" name="環境_声カード2"/>
          <p:cNvGrpSpPr/>
          <p:nvPr/>
        </p:nvGrpSpPr>
        <p:grpSpPr>
          <a:xfrm>
            <a:off x="6667500" y="3390900"/>
            <a:ext cx="4914900" cy="1504950"/>
            <a:chOff x="6667500" y="3390900"/>
            <a:chExt cx="4914900" cy="1504950"/>
          </a:xfrm>
        </p:grpSpPr>
        <p:sp>
          <p:nvSpPr>
            <p:cNvPr id="46" name="声吹き出し2"/>
            <p:cNvSpPr/>
            <p:nvPr/>
          </p:nvSpPr>
          <p:spPr>
            <a:xfrm>
              <a:off x="6667500" y="3390900"/>
              <a:ext cx="4914900" cy="1047750"/>
            </a:xfrm>
            <a:custGeom>
              <a:avLst/>
              <a:gdLst/>
              <a:ahLst/>
              <a:cxnLst/>
              <a:rect l="0" t="0" r="4914900" b="876300"/>
              <a:pathLst>
                <a:path w="4914900" h="1047750">
                  <a:moveTo>
                    <a:pt x="76200" y="0"/>
                  </a:moveTo>
                  <a:lnTo>
                    <a:pt x="4838700" y="0"/>
                  </a:lnTo>
                  <a:arcTo wR="76200" hR="76200" stAng="16200000" swAng="5400000"/>
                  <a:lnTo>
                    <a:pt x="4914900" y="800100"/>
                  </a:lnTo>
                  <a:arcTo wR="76200" hR="76200" stAng="0" swAng="5400000"/>
                  <a:lnTo>
                    <a:pt x="694563" y="876300"/>
                  </a:lnTo>
                  <a:lnTo>
                    <a:pt x="589788" y="1047750"/>
                  </a:lnTo>
                  <a:lnTo>
                    <a:pt x="485013" y="876300"/>
                  </a:lnTo>
                  <a:lnTo>
                    <a:pt x="76200" y="8763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00850" y="3390900"/>
              <a:ext cx="46482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資格も勉強会も“業務の一部”。学んだ分だけ、任される範囲が広がっていきます。</a:t>
              </a:r>
            </a:p>
          </p:txBody>
        </p:sp>
        <p:sp>
          <p:nvSpPr>
            <p:cNvPr id="48" name="話者2頭文字"/>
            <p:cNvSpPr/>
            <p:nvPr/>
          </p:nvSpPr>
          <p:spPr>
            <a:xfrm>
              <a:off x="6781800" y="45910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頭文字2"/>
            <p:cNvSpPr/>
            <p:nvPr/>
          </p:nvSpPr>
          <p:spPr>
            <a:xfrm>
              <a:off x="6781800" y="4600575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S</a:t>
              </a:r>
            </a:p>
          </p:txBody>
        </p:sp>
        <p:sp>
          <p:nvSpPr>
            <p:cNvPr id="50" name="話者2"/>
            <p:cNvSpPr/>
            <p:nvPr/>
          </p:nvSpPr>
          <p:spPr>
            <a:xfrm>
              <a:off x="7200900" y="4600575"/>
              <a:ext cx="3810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営業職｜入社3年目</a:t>
              </a:r>
            </a:p>
          </p:txBody>
        </p:sp>
      </p:grpSp>
      <p:grpSp>
        <p:nvGrpSpPr>
          <p:cNvPr id="51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2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注：制度・コメントはサンプルです</a:t>
              </a:r>
            </a:p>
          </p:txBody>
        </p:sp>
        <p:sp>
          <p:nvSpPr>
            <p:cNvPr id="53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出所：社内制度資料・社員インタビュー（サンプル）</a:t>
              </a:r>
            </a:p>
          </p:txBody>
        </p:sp>
        <p:sp>
          <p:nvSpPr>
            <p:cNvPr id="54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2028年、「現場データ基盤」の提供企業へ進化します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11｜今後の展望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中期ロードマップ（2026→2028・計画はサンプル）</a:t>
              </a:r>
            </a:p>
          </p:txBody>
        </p:sp>
      </p:grpSp>
      <p:grpSp>
        <p:nvGrpSpPr>
          <p:cNvPr id="8" name="展望_年ヘッダ"/>
          <p:cNvGrpSpPr/>
          <p:nvPr/>
        </p:nvGrpSpPr>
        <p:grpSpPr>
          <a:xfrm>
            <a:off x="1752600" y="1200150"/>
            <a:ext cx="9829800" cy="419100"/>
            <a:chOff x="1752600" y="1200150"/>
            <a:chExt cx="9829800" cy="419100"/>
          </a:xfrm>
        </p:grpSpPr>
        <p:sp>
          <p:nvSpPr>
            <p:cNvPr id="9" name="ヘッダ2026"/>
            <p:cNvSpPr/>
            <p:nvPr/>
          </p:nvSpPr>
          <p:spPr>
            <a:xfrm>
              <a:off x="17621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年2026"/>
            <p:cNvSpPr/>
            <p:nvPr/>
          </p:nvSpPr>
          <p:spPr>
            <a:xfrm>
              <a:off x="17526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2026</a:t>
              </a:r>
            </a:p>
          </p:txBody>
        </p:sp>
        <p:sp>
          <p:nvSpPr>
            <p:cNvPr id="11" name="フェーズ2026"/>
            <p:cNvSpPr/>
            <p:nvPr/>
          </p:nvSpPr>
          <p:spPr>
            <a:xfrm>
              <a:off x="17526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基盤強化</a:t>
              </a:r>
            </a:p>
          </p:txBody>
        </p:sp>
        <p:sp>
          <p:nvSpPr>
            <p:cNvPr id="12" name="ヘッダ2027"/>
            <p:cNvSpPr/>
            <p:nvPr/>
          </p:nvSpPr>
          <p:spPr>
            <a:xfrm>
              <a:off x="50387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年2027"/>
            <p:cNvSpPr/>
            <p:nvPr/>
          </p:nvSpPr>
          <p:spPr>
            <a:xfrm>
              <a:off x="50292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2027</a:t>
              </a:r>
            </a:p>
          </p:txBody>
        </p:sp>
        <p:sp>
          <p:nvSpPr>
            <p:cNvPr id="14" name="フェーズ2027"/>
            <p:cNvSpPr/>
            <p:nvPr/>
          </p:nvSpPr>
          <p:spPr>
            <a:xfrm>
              <a:off x="50292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領域拡大</a:t>
              </a:r>
            </a:p>
          </p:txBody>
        </p:sp>
        <p:sp>
          <p:nvSpPr>
            <p:cNvPr id="15" name="ヘッダ2028"/>
            <p:cNvSpPr/>
            <p:nvPr/>
          </p:nvSpPr>
          <p:spPr>
            <a:xfrm>
              <a:off x="83153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年2028"/>
            <p:cNvSpPr/>
            <p:nvPr/>
          </p:nvSpPr>
          <p:spPr>
            <a:xfrm>
              <a:off x="83058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2028</a:t>
              </a:r>
            </a:p>
          </p:txBody>
        </p:sp>
        <p:sp>
          <p:nvSpPr>
            <p:cNvPr id="17" name="フェーズ2028"/>
            <p:cNvSpPr/>
            <p:nvPr/>
          </p:nvSpPr>
          <p:spPr>
            <a:xfrm>
              <a:off x="83058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事業進化</a:t>
              </a:r>
            </a:p>
          </p:txBody>
        </p:sp>
      </p:grpSp>
      <p:grpSp>
        <p:nvGrpSpPr>
          <p:cNvPr id="18" name="展望_グリッド"/>
          <p:cNvGrpSpPr/>
          <p:nvPr/>
        </p:nvGrpSpPr>
        <p:grpSpPr>
          <a:xfrm>
            <a:off x="1752600" y="1695450"/>
            <a:ext cx="9829800" cy="2552700"/>
            <a:chOff x="1752600" y="1695450"/>
            <a:chExt cx="9829800" cy="2552700"/>
          </a:xfrm>
        </p:grpSpPr>
        <p:cxnSp>
          <p:nvCxnSpPr>
            <p:cNvPr id="19" name="目盛1"/>
            <p:cNvCxnSpPr/>
            <p:nvPr/>
          </p:nvCxnSpPr>
          <p:spPr>
            <a:xfrm>
              <a:off x="17526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目盛2"/>
            <p:cNvCxnSpPr/>
            <p:nvPr/>
          </p:nvCxnSpPr>
          <p:spPr>
            <a:xfrm>
              <a:off x="50292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目盛3"/>
            <p:cNvCxnSpPr/>
            <p:nvPr/>
          </p:nvCxnSpPr>
          <p:spPr>
            <a:xfrm>
              <a:off x="83058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目盛4"/>
            <p:cNvCxnSpPr/>
            <p:nvPr/>
          </p:nvCxnSpPr>
          <p:spPr>
            <a:xfrm>
              <a:off x="115824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行仕切り268"/>
            <p:cNvCxnSpPr/>
            <p:nvPr/>
          </p:nvCxnSpPr>
          <p:spPr>
            <a:xfrm>
              <a:off x="1752600" y="2552700"/>
              <a:ext cx="9829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行仕切り358"/>
            <p:cNvCxnSpPr/>
            <p:nvPr/>
          </p:nvCxnSpPr>
          <p:spPr>
            <a:xfrm>
              <a:off x="1752600" y="3409950"/>
              <a:ext cx="9829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展望_レーン名"/>
          <p:cNvGrpSpPr/>
          <p:nvPr/>
        </p:nvGrpSpPr>
        <p:grpSpPr>
          <a:xfrm>
            <a:off x="609600" y="2038350"/>
            <a:ext cx="1028700" cy="1885950"/>
            <a:chOff x="609600" y="2038350"/>
            <a:chExt cx="1028700" cy="1885950"/>
          </a:xfrm>
        </p:grpSpPr>
        <p:sp>
          <p:nvSpPr>
            <p:cNvPr id="26" name="レーン_事業"/>
            <p:cNvSpPr/>
            <p:nvPr/>
          </p:nvSpPr>
          <p:spPr>
            <a:xfrm>
              <a:off x="609600" y="203835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事業</a:t>
              </a:r>
            </a:p>
          </p:txBody>
        </p:sp>
        <p:sp>
          <p:nvSpPr>
            <p:cNvPr id="27" name="レーン_プロダクト"/>
            <p:cNvSpPr/>
            <p:nvPr/>
          </p:nvSpPr>
          <p:spPr>
            <a:xfrm>
              <a:off x="609600" y="289560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プロダクト</a:t>
              </a:r>
            </a:p>
          </p:txBody>
        </p:sp>
        <p:sp>
          <p:nvSpPr>
            <p:cNvPr id="28" name="レーン_組織"/>
            <p:cNvSpPr/>
            <p:nvPr/>
          </p:nvSpPr>
          <p:spPr>
            <a:xfrm>
              <a:off x="609600" y="375285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組織</a:t>
              </a:r>
            </a:p>
          </p:txBody>
        </p:sp>
      </p:grpSp>
      <p:grpSp>
        <p:nvGrpSpPr>
          <p:cNvPr id="29" name="展望_バー"/>
          <p:cNvGrpSpPr/>
          <p:nvPr/>
        </p:nvGrpSpPr>
        <p:grpSpPr>
          <a:xfrm>
            <a:off x="1866900" y="1962150"/>
            <a:ext cx="9601200" cy="2038350"/>
            <a:chOff x="1866900" y="1962150"/>
            <a:chExt cx="9601200" cy="2038350"/>
          </a:xfrm>
        </p:grpSpPr>
        <p:sp>
          <p:nvSpPr>
            <p:cNvPr id="30" name="事業バー1"/>
            <p:cNvSpPr/>
            <p:nvPr/>
          </p:nvSpPr>
          <p:spPr>
            <a:xfrm>
              <a:off x="1866900" y="1962150"/>
              <a:ext cx="4686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事業施策1"/>
            <p:cNvSpPr/>
            <p:nvPr/>
          </p:nvSpPr>
          <p:spPr>
            <a:xfrm>
              <a:off x="1866900" y="1962150"/>
              <a:ext cx="46863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3事業のデータ連携を標準化</a:t>
              </a:r>
            </a:p>
          </p:txBody>
        </p:sp>
        <p:sp>
          <p:nvSpPr>
            <p:cNvPr id="32" name="事業バー2"/>
            <p:cNvSpPr/>
            <p:nvPr/>
          </p:nvSpPr>
          <p:spPr>
            <a:xfrm>
              <a:off x="8420100" y="1962150"/>
              <a:ext cx="3048000" cy="323850"/>
            </a:xfrm>
            <a:prstGeom prst="roundRect">
              <a:avLst>
                <a:gd name="adj" fmla="val 23529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事業施策2"/>
            <p:cNvSpPr/>
            <p:nvPr/>
          </p:nvSpPr>
          <p:spPr>
            <a:xfrm>
              <a:off x="8420100" y="1962150"/>
              <a:ext cx="30480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現場データ基盤サービス開始</a:t>
              </a:r>
            </a:p>
          </p:txBody>
        </p:sp>
        <p:sp>
          <p:nvSpPr>
            <p:cNvPr id="34" name="マイルストーン"/>
            <p:cNvSpPr/>
            <p:nvPr/>
          </p:nvSpPr>
          <p:spPr>
            <a:xfrm>
              <a:off x="8239125" y="20574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プロダクトバー"/>
            <p:cNvSpPr/>
            <p:nvPr/>
          </p:nvSpPr>
          <p:spPr>
            <a:xfrm>
              <a:off x="1866900" y="2819400"/>
              <a:ext cx="6324600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プロダクト施策"/>
            <p:cNvSpPr/>
            <p:nvPr/>
          </p:nvSpPr>
          <p:spPr>
            <a:xfrm>
              <a:off x="1866900" y="2819400"/>
              <a:ext cx="63246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「Sample Cloud」にAI予測機能を拡張</a:t>
              </a:r>
            </a:p>
          </p:txBody>
        </p:sp>
        <p:sp>
          <p:nvSpPr>
            <p:cNvPr id="37" name="組織バー"/>
            <p:cNvSpPr/>
            <p:nvPr/>
          </p:nvSpPr>
          <p:spPr>
            <a:xfrm>
              <a:off x="5143500" y="3676650"/>
              <a:ext cx="6324600" cy="323850"/>
            </a:xfrm>
            <a:prstGeom prst="roundRect">
              <a:avLst>
                <a:gd name="adj" fmla="val 23529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組織施策"/>
            <p:cNvSpPr/>
            <p:nvPr/>
          </p:nvSpPr>
          <p:spPr>
            <a:xfrm>
              <a:off x="5143500" y="3676650"/>
              <a:ext cx="63246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データ人材を40名から80名へ倍増</a:t>
              </a:r>
            </a:p>
          </p:txBody>
        </p:sp>
      </p:grpSp>
      <p:grpSp>
        <p:nvGrpSpPr>
          <p:cNvPr id="39" name="展望_経営目標"/>
          <p:cNvGrpSpPr/>
          <p:nvPr/>
        </p:nvGrpSpPr>
        <p:grpSpPr>
          <a:xfrm>
            <a:off x="609600" y="4476750"/>
            <a:ext cx="10972800" cy="800100"/>
            <a:chOff x="609600" y="4476750"/>
            <a:chExt cx="10972800" cy="800100"/>
          </a:xfrm>
        </p:grpSpPr>
        <p:cxnSp>
          <p:nvCxnSpPr>
            <p:cNvPr id="40" name="仕切り線"/>
            <p:cNvCxnSpPr/>
            <p:nvPr/>
          </p:nvCxnSpPr>
          <p:spPr>
            <a:xfrm>
              <a:off x="609600" y="4476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小見出し"/>
            <p:cNvSpPr/>
            <p:nvPr/>
          </p:nvSpPr>
          <p:spPr>
            <a:xfrm>
              <a:off x="609600" y="461010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2028年の経営目標（サンプル）</a:t>
              </a:r>
            </a:p>
          </p:txBody>
        </p:sp>
        <p:sp>
          <p:nvSpPr>
            <p:cNvPr id="42" name="目標_売上高"/>
            <p:cNvSpPr/>
            <p:nvPr/>
          </p:nvSpPr>
          <p:spPr>
            <a:xfrm>
              <a:off x="18669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売上高</a:t>
              </a:r>
            </a:p>
          </p:txBody>
        </p:sp>
        <p:sp>
          <p:nvSpPr>
            <p:cNvPr id="43" name="目標値_売上高"/>
            <p:cNvSpPr/>
            <p:nvPr/>
          </p:nvSpPr>
          <p:spPr>
            <a:xfrm>
              <a:off x="18669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52億円 → 100億円</a:t>
              </a:r>
            </a:p>
          </p:txBody>
        </p:sp>
        <p:sp>
          <p:nvSpPr>
            <p:cNvPr id="44" name="目標_取引社数"/>
            <p:cNvSpPr/>
            <p:nvPr/>
          </p:nvSpPr>
          <p:spPr>
            <a:xfrm>
              <a:off x="51435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取引社数</a:t>
              </a:r>
            </a:p>
          </p:txBody>
        </p:sp>
        <p:sp>
          <p:nvSpPr>
            <p:cNvPr id="45" name="目標値_取引社数"/>
            <p:cNvSpPr/>
            <p:nvPr/>
          </p:nvSpPr>
          <p:spPr>
            <a:xfrm>
              <a:off x="51435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420社 → 600社</a:t>
              </a:r>
            </a:p>
          </p:txBody>
        </p:sp>
        <p:sp>
          <p:nvSpPr>
            <p:cNvPr id="46" name="目標_データ人材"/>
            <p:cNvSpPr/>
            <p:nvPr/>
          </p:nvSpPr>
          <p:spPr>
            <a:xfrm>
              <a:off x="84201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データ人材</a:t>
              </a:r>
            </a:p>
          </p:txBody>
        </p:sp>
        <p:sp>
          <p:nvSpPr>
            <p:cNvPr id="47" name="目標値_データ人材"/>
            <p:cNvSpPr/>
            <p:nvPr/>
          </p:nvSpPr>
          <p:spPr>
            <a:xfrm>
              <a:off x="84201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40名 → 80名</a:t>
              </a:r>
            </a:p>
          </p:txBody>
        </p:sp>
      </p:grpSp>
      <p:grpSp>
        <p:nvGrpSpPr>
          <p:cNvPr id="48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9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注：計画・目標値はすべてサンプルです</a:t>
              </a:r>
            </a:p>
          </p:txBody>
        </p:sp>
        <p:sp>
          <p:nvSpPr>
            <p:cNvPr id="50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出所：中期経営計画（2026–2028・サンプル）</a:t>
              </a:r>
            </a:p>
          </p:txBody>
        </p:sp>
        <p:sp>
          <p:nvSpPr>
            <p:cNvPr id="51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まずは、現場の困りごとからお聞かせください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12｜お問い合わせ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連絡先とご相談の流れ</a:t>
              </a:r>
            </a:p>
          </p:txBody>
        </p:sp>
      </p:grpSp>
      <p:grpSp>
        <p:nvGrpSpPr>
          <p:cNvPr id="8" name="問い合わせ_結論ボックス"/>
          <p:cNvGrpSpPr/>
          <p:nvPr/>
        </p:nvGrpSpPr>
        <p:grpSpPr>
          <a:xfrm>
            <a:off x="609600" y="1123950"/>
            <a:ext cx="10972800" cy="1600200"/>
            <a:chOff x="609600" y="1123950"/>
            <a:chExt cx="10972800" cy="1600200"/>
          </a:xfrm>
        </p:grpSpPr>
        <p:sp>
          <p:nvSpPr>
            <p:cNvPr id="9" name="結論ボックス"/>
            <p:cNvSpPr/>
            <p:nvPr/>
          </p:nvSpPr>
          <p:spPr>
            <a:xfrm>
              <a:off x="609600" y="1123950"/>
              <a:ext cx="10972800" cy="1600200"/>
            </a:xfrm>
            <a:prstGeom prst="roundRect">
              <a:avLst>
                <a:gd name="adj" fmla="val 714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ラベル"/>
            <p:cNvSpPr/>
            <p:nvPr/>
          </p:nvSpPr>
          <p:spPr>
            <a:xfrm>
              <a:off x="609600" y="1333500"/>
              <a:ext cx="10972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CONTACT</a:t>
              </a:r>
            </a:p>
          </p:txBody>
        </p:sp>
        <p:sp>
          <p:nvSpPr>
            <p:cNvPr id="11" name="結論文"/>
            <p:cNvSpPr/>
            <p:nvPr/>
          </p:nvSpPr>
          <p:spPr>
            <a:xfrm>
              <a:off x="1181100" y="1562100"/>
              <a:ext cx="98298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sz="1500" b="1">
                  <a:solidFill>
                    <a:schemeClr val="lt1"/>
                  </a:solidFill>
                </a:rPr>
                <a:t>情報収集の段階でも歓迎します。貴社の現場に近い活用例を添えて、</a:t>
              </a:r>
            </a:p>
            <a:p>
              <a:pPr algn="ctr">
                <a:lnSpc>
                  <a:spcPct val="150000"/>
                </a:lnSpc>
              </a:pPr>
              <a:r>
                <a:rPr sz="1500" b="1">
                  <a:solidFill>
                    <a:schemeClr val="lt1"/>
                  </a:solidFill>
                </a:rPr>
                <a:t>1営業日以内にご返信します。</a:t>
              </a:r>
            </a:p>
          </p:txBody>
        </p:sp>
        <p:sp>
          <p:nvSpPr>
            <p:cNvPr id="12" name="CTAボタン"/>
            <p:cNvSpPr/>
            <p:nvPr/>
          </p:nvSpPr>
          <p:spPr>
            <a:xfrm>
              <a:off x="5048250" y="2190750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TA文言"/>
            <p:cNvSpPr/>
            <p:nvPr/>
          </p:nvSpPr>
          <p:spPr>
            <a:xfrm>
              <a:off x="5048250" y="2200275"/>
              <a:ext cx="20955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無料相談を申し込む</a:t>
              </a:r>
            </a:p>
          </p:txBody>
        </p:sp>
      </p:grpSp>
      <p:grpSp>
        <p:nvGrpSpPr>
          <p:cNvPr id="14" name="問い合わせ_連絡先左"/>
          <p:cNvGrpSpPr/>
          <p:nvPr/>
        </p:nvGrpSpPr>
        <p:grpSpPr>
          <a:xfrm>
            <a:off x="609600" y="3048000"/>
            <a:ext cx="5143500" cy="990600"/>
            <a:chOff x="609600" y="3048000"/>
            <a:chExt cx="5143500" cy="990600"/>
          </a:xfrm>
        </p:grpSpPr>
        <p:cxnSp>
          <p:nvCxnSpPr>
            <p:cNvPr id="15" name="罫線上端"/>
            <p:cNvCxnSpPr/>
            <p:nvPr/>
          </p:nvCxnSpPr>
          <p:spPr>
            <a:xfrm>
              <a:off x="609600" y="30480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項目_窓口"/>
            <p:cNvSpPr/>
            <p:nvPr/>
          </p:nvSpPr>
          <p:spPr>
            <a:xfrm>
              <a:off x="647700" y="30480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窓口</a:t>
              </a:r>
            </a:p>
          </p:txBody>
        </p:sp>
        <p:sp>
          <p:nvSpPr>
            <p:cNvPr id="17" name="内容_窓口"/>
            <p:cNvSpPr/>
            <p:nvPr/>
          </p:nvSpPr>
          <p:spPr>
            <a:xfrm>
              <a:off x="1809750" y="30480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営業企画部 お客様相談窓口</a:t>
              </a:r>
            </a:p>
          </p:txBody>
        </p:sp>
        <p:cxnSp>
          <p:nvCxnSpPr>
            <p:cNvPr id="18" name="罫線1"/>
            <p:cNvCxnSpPr/>
            <p:nvPr/>
          </p:nvCxnSpPr>
          <p:spPr>
            <a:xfrm>
              <a:off x="6096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TEL"/>
            <p:cNvSpPr/>
            <p:nvPr/>
          </p:nvSpPr>
          <p:spPr>
            <a:xfrm>
              <a:off x="647700" y="35433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TEL</a:t>
              </a:r>
            </a:p>
          </p:txBody>
        </p:sp>
        <p:sp>
          <p:nvSpPr>
            <p:cNvPr id="20" name="内容_TEL"/>
            <p:cNvSpPr/>
            <p:nvPr/>
          </p:nvSpPr>
          <p:spPr>
            <a:xfrm>
              <a:off x="1809750" y="35433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03-0000-0000（平日 9:00–18:00）</a:t>
              </a:r>
            </a:p>
          </p:txBody>
        </p:sp>
        <p:cxnSp>
          <p:nvCxnSpPr>
            <p:cNvPr id="21" name="罫線2"/>
            <p:cNvCxnSpPr/>
            <p:nvPr/>
          </p:nvCxnSpPr>
          <p:spPr>
            <a:xfrm>
              <a:off x="609600" y="40386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問い合わせ_連絡先右"/>
          <p:cNvGrpSpPr/>
          <p:nvPr/>
        </p:nvGrpSpPr>
        <p:grpSpPr>
          <a:xfrm>
            <a:off x="6438900" y="3048000"/>
            <a:ext cx="5143500" cy="990600"/>
            <a:chOff x="6438900" y="3048000"/>
            <a:chExt cx="5143500" cy="990600"/>
          </a:xfrm>
        </p:grpSpPr>
        <p:cxnSp>
          <p:nvCxnSpPr>
            <p:cNvPr id="23" name="罫線上端"/>
            <p:cNvCxnSpPr/>
            <p:nvPr/>
          </p:nvCxnSpPr>
          <p:spPr>
            <a:xfrm>
              <a:off x="6438900" y="30480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項目_MAIL"/>
            <p:cNvSpPr/>
            <p:nvPr/>
          </p:nvSpPr>
          <p:spPr>
            <a:xfrm>
              <a:off x="6477000" y="30480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MAIL</a:t>
              </a:r>
            </a:p>
          </p:txBody>
        </p:sp>
        <p:sp>
          <p:nvSpPr>
            <p:cNvPr id="25" name="内容_MAIL"/>
            <p:cNvSpPr/>
            <p:nvPr/>
          </p:nvSpPr>
          <p:spPr>
            <a:xfrm>
              <a:off x="7639050" y="30480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info@sample.example.jp</a:t>
              </a:r>
            </a:p>
          </p:txBody>
        </p:sp>
        <p:cxnSp>
          <p:nvCxnSpPr>
            <p:cNvPr id="26" name="罫線1"/>
            <p:cNvCxnSpPr/>
            <p:nvPr/>
          </p:nvCxnSpPr>
          <p:spPr>
            <a:xfrm>
              <a:off x="64389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WEB"/>
            <p:cNvSpPr/>
            <p:nvPr/>
          </p:nvSpPr>
          <p:spPr>
            <a:xfrm>
              <a:off x="6477000" y="35433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WEB</a:t>
              </a:r>
            </a:p>
          </p:txBody>
        </p:sp>
        <p:sp>
          <p:nvSpPr>
            <p:cNvPr id="28" name="内容_WEB"/>
            <p:cNvSpPr/>
            <p:nvPr/>
          </p:nvSpPr>
          <p:spPr>
            <a:xfrm>
              <a:off x="7639050" y="35433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https://www.sample.example.jp</a:t>
              </a:r>
            </a:p>
          </p:txBody>
        </p:sp>
        <p:cxnSp>
          <p:nvCxnSpPr>
            <p:cNvPr id="29" name="罫線2"/>
            <p:cNvCxnSpPr/>
            <p:nvPr/>
          </p:nvCxnSpPr>
          <p:spPr>
            <a:xfrm>
              <a:off x="6438900" y="40386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問い合わせ_相談の流れ"/>
          <p:cNvGrpSpPr/>
          <p:nvPr/>
        </p:nvGrpSpPr>
        <p:grpSpPr>
          <a:xfrm>
            <a:off x="609600" y="4400550"/>
            <a:ext cx="10972800" cy="857250"/>
            <a:chOff x="609600" y="4400550"/>
            <a:chExt cx="10972800" cy="857250"/>
          </a:xfrm>
        </p:grpSpPr>
        <p:sp>
          <p:nvSpPr>
            <p:cNvPr id="31" name="小見出し"/>
            <p:cNvSpPr/>
            <p:nvPr/>
          </p:nvSpPr>
          <p:spPr>
            <a:xfrm>
              <a:off x="609600" y="44005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ご相談の流れ</a:t>
              </a:r>
            </a:p>
          </p:txBody>
        </p:sp>
        <p:sp>
          <p:nvSpPr>
            <p:cNvPr id="32" name="ステップ枠1"/>
            <p:cNvSpPr/>
            <p:nvPr/>
          </p:nvSpPr>
          <p:spPr>
            <a:xfrm>
              <a:off x="60960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ステップ1"/>
            <p:cNvSpPr/>
            <p:nvPr/>
          </p:nvSpPr>
          <p:spPr>
            <a:xfrm>
              <a:off x="60960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1｜お問い合わせ</a:t>
              </a:r>
            </a:p>
          </p:txBody>
        </p:sp>
        <p:sp>
          <p:nvSpPr>
            <p:cNvPr id="34" name="ステップ補足1"/>
            <p:cNvSpPr/>
            <p:nvPr/>
          </p:nvSpPr>
          <p:spPr>
            <a:xfrm>
              <a:off x="60960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フォームまたはメールで受付</a:t>
              </a:r>
            </a:p>
          </p:txBody>
        </p:sp>
        <p:sp>
          <p:nvSpPr>
            <p:cNvPr id="35" name="矢印1"/>
            <p:cNvSpPr/>
            <p:nvPr/>
          </p:nvSpPr>
          <p:spPr>
            <a:xfrm rot="5400000">
              <a:off x="4000500" y="4857750"/>
              <a:ext cx="171450" cy="1905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ステップ枠2"/>
            <p:cNvSpPr/>
            <p:nvPr/>
          </p:nvSpPr>
          <p:spPr>
            <a:xfrm>
              <a:off x="447675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ステップ2"/>
            <p:cNvSpPr/>
            <p:nvPr/>
          </p:nvSpPr>
          <p:spPr>
            <a:xfrm>
              <a:off x="447675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2｜ヒアリング</a:t>
              </a:r>
            </a:p>
          </p:txBody>
        </p:sp>
        <p:sp>
          <p:nvSpPr>
            <p:cNvPr id="38" name="ステップ補足2"/>
            <p:cNvSpPr/>
            <p:nvPr/>
          </p:nvSpPr>
          <p:spPr>
            <a:xfrm>
              <a:off x="447675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オンライン30分で現状を整理</a:t>
              </a:r>
            </a:p>
          </p:txBody>
        </p:sp>
        <p:sp>
          <p:nvSpPr>
            <p:cNvPr id="39" name="矢印2"/>
            <p:cNvSpPr/>
            <p:nvPr/>
          </p:nvSpPr>
          <p:spPr>
            <a:xfrm rot="5400000">
              <a:off x="7867650" y="4857750"/>
              <a:ext cx="171450" cy="1905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ステップ枠3"/>
            <p:cNvSpPr/>
            <p:nvPr/>
          </p:nvSpPr>
          <p:spPr>
            <a:xfrm>
              <a:off x="834390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ステップ3"/>
            <p:cNvSpPr/>
            <p:nvPr/>
          </p:nvSpPr>
          <p:spPr>
            <a:xfrm>
              <a:off x="834390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3｜ご提案</a:t>
              </a:r>
            </a:p>
          </p:txBody>
        </p:sp>
        <p:sp>
          <p:nvSpPr>
            <p:cNvPr id="42" name="ステップ補足3"/>
            <p:cNvSpPr/>
            <p:nvPr/>
          </p:nvSpPr>
          <p:spPr>
            <a:xfrm>
              <a:off x="834390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最短2週間でお見積りを提示</a:t>
              </a:r>
            </a:p>
          </p:txBody>
        </p:sp>
      </p:grpSp>
      <p:grpSp>
        <p:nvGrpSpPr>
          <p:cNvPr id="43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4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注：連絡先・社名はすべて架空のサンプルです</a:t>
              </a:r>
            </a:p>
          </p:txBody>
        </p:sp>
        <p:sp>
          <p:nvSpPr>
            <p:cNvPr id="45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出所：株式会社サンプル（サンプル資料）</a:t>
              </a:r>
            </a:p>
          </p:txBody>
        </p:sp>
        <p:sp>
          <p:nvSpPr>
            <p:cNvPr id="46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