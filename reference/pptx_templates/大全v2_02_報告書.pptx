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背景装飾"/>
          <p:cNvGrpSpPr/>
          <p:nvPr/>
        </p:nvGrpSpPr>
        <p:grpSpPr>
          <a:xfrm>
            <a:off x="7810500" y="1047750"/>
            <a:ext cx="3714750" cy="2476500"/>
            <a:chOff x="7810500" y="1047750"/>
            <a:chExt cx="3714750" cy="2476500"/>
          </a:xfrm>
        </p:grpSpPr>
        <p:sp>
          <p:nvSpPr>
            <p:cNvPr id="4" name="月数字"/>
            <p:cNvSpPr/>
            <p:nvPr/>
          </p:nvSpPr>
          <p:spPr>
            <a:xfrm>
              <a:off x="7810500" y="1047750"/>
              <a:ext cx="3714750" cy="2476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17000" b="1">
                  <a:solidFill>
                    <a:schemeClr val="lt2"/>
                  </a:solidFill>
                </a:rPr>
                <a:t>06</a:t>
              </a:r>
            </a:p>
          </p:txBody>
        </p:sp>
      </p:grpSp>
      <p:grpSp>
        <p:nvGrpSpPr>
          <p:cNvPr id="5" name="ブランドマーク"/>
          <p:cNvGrpSpPr/>
          <p:nvPr/>
        </p:nvGrpSpPr>
        <p:grpSpPr>
          <a:xfrm>
            <a:off x="666750" y="609600"/>
            <a:ext cx="552450" cy="133350"/>
            <a:chOff x="666750" y="609600"/>
            <a:chExt cx="552450" cy="133350"/>
          </a:xfrm>
        </p:grpSpPr>
        <p:sp>
          <p:nvSpPr>
            <p:cNvPr id="6" name="マーク1"/>
            <p:cNvSpPr/>
            <p:nvPr/>
          </p:nvSpPr>
          <p:spPr>
            <a:xfrm>
              <a:off x="666750" y="60960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マーク2"/>
            <p:cNvSpPr/>
            <p:nvPr/>
          </p:nvSpPr>
          <p:spPr>
            <a:xfrm>
              <a:off x="876300" y="609600"/>
              <a:ext cx="133350" cy="133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マーク3"/>
            <p:cNvSpPr/>
            <p:nvPr/>
          </p:nvSpPr>
          <p:spPr>
            <a:xfrm>
              <a:off x="1085850" y="609600"/>
              <a:ext cx="133350" cy="1333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表紙タイトル"/>
          <p:cNvGrpSpPr/>
          <p:nvPr/>
        </p:nvGrpSpPr>
        <p:grpSpPr>
          <a:xfrm>
            <a:off x="666750" y="2133600"/>
            <a:ext cx="9525000" cy="1619250"/>
            <a:chOff x="666750" y="2133600"/>
            <a:chExt cx="9525000" cy="1619250"/>
          </a:xfrm>
        </p:grpSpPr>
        <p:sp>
          <p:nvSpPr>
            <p:cNvPr id="10" name="英字ラベル"/>
            <p:cNvSpPr/>
            <p:nvPr/>
          </p:nvSpPr>
          <p:spPr>
            <a:xfrm>
              <a:off x="666750" y="2133600"/>
              <a:ext cx="7620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MONTHLY BUSINESS REPORT</a:t>
              </a:r>
            </a:p>
          </p:txBody>
        </p:sp>
        <p:sp>
          <p:nvSpPr>
            <p:cNvPr id="11" name="タイトル"/>
            <p:cNvSpPr/>
            <p:nvPr/>
          </p:nvSpPr>
          <p:spPr>
            <a:xfrm>
              <a:off x="666750" y="2438400"/>
              <a:ext cx="9525000" cy="609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4000" b="1">
                  <a:solidFill>
                    <a:schemeClr val="dk2"/>
                  </a:solidFill>
                </a:rPr>
                <a:t>2026年6月度　業績報告</a:t>
              </a:r>
            </a:p>
          </p:txBody>
        </p:sp>
        <p:sp>
          <p:nvSpPr>
            <p:cNvPr id="12" name="アクセント線"/>
            <p:cNvSpPr/>
            <p:nvPr/>
          </p:nvSpPr>
          <p:spPr>
            <a:xfrm>
              <a:off x="666750" y="3257550"/>
              <a:ext cx="533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リードメッセージ"/>
            <p:cNvSpPr/>
            <p:nvPr/>
          </p:nvSpPr>
          <p:spPr>
            <a:xfrm>
              <a:off x="666750" y="3524250"/>
              <a:ext cx="8953500" cy="2286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500">
                  <a:solidFill>
                    <a:schemeClr val="dk1"/>
                  </a:solidFill>
                </a:rPr>
                <a:t>売上は計画超過も、粗利率と新規受注に要対処の火種</a:t>
              </a:r>
            </a:p>
          </p:txBody>
        </p:sp>
      </p:grpSp>
      <p:grpSp>
        <p:nvGrpSpPr>
          <p:cNvPr id="14" name="会議情報"/>
          <p:cNvGrpSpPr/>
          <p:nvPr/>
        </p:nvGrpSpPr>
        <p:grpSpPr>
          <a:xfrm>
            <a:off x="666750" y="5334000"/>
            <a:ext cx="4953000" cy="533400"/>
            <a:chOff x="666750" y="5334000"/>
            <a:chExt cx="4953000" cy="533400"/>
          </a:xfrm>
        </p:grpSpPr>
        <p:cxnSp>
          <p:nvCxnSpPr>
            <p:cNvPr id="15" name="罫線"/>
            <p:cNvCxnSpPr/>
            <p:nvPr/>
          </p:nvCxnSpPr>
          <p:spPr>
            <a:xfrm>
              <a:off x="666750" y="5334000"/>
              <a:ext cx="4953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会議体・部署"/>
            <p:cNvSpPr/>
            <p:nvPr/>
          </p:nvSpPr>
          <p:spPr>
            <a:xfrm>
              <a:off x="666750" y="5486400"/>
              <a:ext cx="4000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経営会議資料｜経営企画部</a:t>
              </a:r>
            </a:p>
          </p:txBody>
        </p:sp>
        <p:sp>
          <p:nvSpPr>
            <p:cNvPr id="17" name="日付"/>
            <p:cNvSpPr/>
            <p:nvPr/>
          </p:nvSpPr>
          <p:spPr>
            <a:xfrm>
              <a:off x="666750" y="5715000"/>
              <a:ext cx="4000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2026年7月3日</a:t>
              </a:r>
            </a:p>
          </p:txBody>
        </p:sp>
      </p:grpSp>
      <p:grpSp>
        <p:nvGrpSpPr>
          <p:cNvPr id="18" name="フッター"/>
          <p:cNvGrpSpPr/>
          <p:nvPr/>
        </p:nvGrpSpPr>
        <p:grpSpPr>
          <a:xfrm>
            <a:off x="666750" y="6419850"/>
            <a:ext cx="10858500" cy="152400"/>
            <a:chOff x="666750" y="6419850"/>
            <a:chExt cx="10858500" cy="152400"/>
          </a:xfrm>
        </p:grpSpPr>
        <p:sp>
          <p:nvSpPr>
            <p:cNvPr id="19" name="出所"/>
            <p:cNvSpPr/>
            <p:nvPr/>
          </p:nvSpPr>
          <p:spPr>
            <a:xfrm>
              <a:off x="666750" y="6438900"/>
              <a:ext cx="5715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2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2026年6月度｜今月のサマリー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増収増益を確保。ただし粗利率の低下が利益を圧迫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注：6月度は速報値。前年比は2025年6月度実績との比較。▲はマイナス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02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主要KPIの当月着地</a:t>
              </a:r>
            </a:p>
          </p:txBody>
        </p:sp>
      </p:grpSp>
      <p:grpSp>
        <p:nvGrpSpPr>
          <p:cNvPr id="14" name="KPIカード_売上高"/>
          <p:cNvGrpSpPr/>
          <p:nvPr/>
        </p:nvGrpSpPr>
        <p:grpSpPr>
          <a:xfrm>
            <a:off x="666750" y="1504950"/>
            <a:ext cx="3467100" cy="1428750"/>
            <a:chOff x="666750" y="1504950"/>
            <a:chExt cx="3467100" cy="1428750"/>
          </a:xfrm>
        </p:grpSpPr>
        <p:sp>
          <p:nvSpPr>
            <p:cNvPr id="15" name="カード"/>
            <p:cNvSpPr/>
            <p:nvPr/>
          </p:nvSpPr>
          <p:spPr>
            <a:xfrm>
              <a:off x="6667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指標名"/>
            <p:cNvSpPr/>
            <p:nvPr/>
          </p:nvSpPr>
          <p:spPr>
            <a:xfrm>
              <a:off x="8572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売上高（億円）</a:t>
              </a:r>
            </a:p>
          </p:txBody>
        </p:sp>
        <p:sp>
          <p:nvSpPr>
            <p:cNvPr id="17" name="数値"/>
            <p:cNvSpPr/>
            <p:nvPr/>
          </p:nvSpPr>
          <p:spPr>
            <a:xfrm>
              <a:off x="8572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12.8</a:t>
              </a:r>
            </a:p>
          </p:txBody>
        </p:sp>
        <p:sp>
          <p:nvSpPr>
            <p:cNvPr id="18" name="比較基準"/>
            <p:cNvSpPr/>
            <p:nvPr/>
          </p:nvSpPr>
          <p:spPr>
            <a:xfrm>
              <a:off x="8572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19" name="増減記号"/>
            <p:cNvSpPr/>
            <p:nvPr/>
          </p:nvSpPr>
          <p:spPr>
            <a:xfrm>
              <a:off x="3143250" y="26289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増減値"/>
            <p:cNvSpPr/>
            <p:nvPr/>
          </p:nvSpPr>
          <p:spPr>
            <a:xfrm>
              <a:off x="32956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+9.4%</a:t>
              </a:r>
            </a:p>
          </p:txBody>
        </p:sp>
      </p:grpSp>
      <p:grpSp>
        <p:nvGrpSpPr>
          <p:cNvPr id="21" name="KPIカード_営業利益"/>
          <p:cNvGrpSpPr/>
          <p:nvPr/>
        </p:nvGrpSpPr>
        <p:grpSpPr>
          <a:xfrm>
            <a:off x="4362450" y="1504950"/>
            <a:ext cx="3467100" cy="1428750"/>
            <a:chOff x="4362450" y="1504950"/>
            <a:chExt cx="3467100" cy="1428750"/>
          </a:xfrm>
        </p:grpSpPr>
        <p:sp>
          <p:nvSpPr>
            <p:cNvPr id="22" name="カード"/>
            <p:cNvSpPr/>
            <p:nvPr/>
          </p:nvSpPr>
          <p:spPr>
            <a:xfrm>
              <a:off x="43624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指標名"/>
            <p:cNvSpPr/>
            <p:nvPr/>
          </p:nvSpPr>
          <p:spPr>
            <a:xfrm>
              <a:off x="45529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営業利益（億円）</a:t>
              </a:r>
            </a:p>
          </p:txBody>
        </p:sp>
        <p:sp>
          <p:nvSpPr>
            <p:cNvPr id="24" name="数値"/>
            <p:cNvSpPr/>
            <p:nvPr/>
          </p:nvSpPr>
          <p:spPr>
            <a:xfrm>
              <a:off x="45529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25" name="比較基準"/>
            <p:cNvSpPr/>
            <p:nvPr/>
          </p:nvSpPr>
          <p:spPr>
            <a:xfrm>
              <a:off x="45529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26" name="増減記号"/>
            <p:cNvSpPr/>
            <p:nvPr/>
          </p:nvSpPr>
          <p:spPr>
            <a:xfrm>
              <a:off x="6838950" y="26289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増減値"/>
            <p:cNvSpPr/>
            <p:nvPr/>
          </p:nvSpPr>
          <p:spPr>
            <a:xfrm>
              <a:off x="69913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1"/>
                  </a:solidFill>
                </a:rPr>
                <a:t>+3.8%</a:t>
              </a:r>
            </a:p>
          </p:txBody>
        </p:sp>
      </p:grpSp>
      <p:grpSp>
        <p:nvGrpSpPr>
          <p:cNvPr id="28" name="KPIカード_粗利率"/>
          <p:cNvGrpSpPr/>
          <p:nvPr/>
        </p:nvGrpSpPr>
        <p:grpSpPr>
          <a:xfrm>
            <a:off x="8058150" y="1504950"/>
            <a:ext cx="3467100" cy="1428750"/>
            <a:chOff x="8058150" y="1504950"/>
            <a:chExt cx="3467100" cy="1428750"/>
          </a:xfrm>
        </p:grpSpPr>
        <p:sp>
          <p:nvSpPr>
            <p:cNvPr id="29" name="カード"/>
            <p:cNvSpPr/>
            <p:nvPr/>
          </p:nvSpPr>
          <p:spPr>
            <a:xfrm>
              <a:off x="8058150" y="1504950"/>
              <a:ext cx="3467100" cy="1428750"/>
            </a:xfrm>
            <a:prstGeom prst="roundRect">
              <a:avLst>
                <a:gd name="adj" fmla="val 5333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指標名"/>
            <p:cNvSpPr/>
            <p:nvPr/>
          </p:nvSpPr>
          <p:spPr>
            <a:xfrm>
              <a:off x="8248650" y="1657350"/>
              <a:ext cx="3086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粗利率（%）</a:t>
              </a:r>
            </a:p>
          </p:txBody>
        </p:sp>
        <p:sp>
          <p:nvSpPr>
            <p:cNvPr id="31" name="数値"/>
            <p:cNvSpPr/>
            <p:nvPr/>
          </p:nvSpPr>
          <p:spPr>
            <a:xfrm>
              <a:off x="8248650" y="1885950"/>
              <a:ext cx="30861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4000" b="1">
                  <a:solidFill>
                    <a:schemeClr val="dk2"/>
                  </a:solidFill>
                </a:rPr>
                <a:t>31.4</a:t>
              </a:r>
            </a:p>
          </p:txBody>
        </p:sp>
        <p:sp>
          <p:nvSpPr>
            <p:cNvPr id="32" name="比較基準"/>
            <p:cNvSpPr/>
            <p:nvPr/>
          </p:nvSpPr>
          <p:spPr>
            <a:xfrm>
              <a:off x="8248650" y="2590800"/>
              <a:ext cx="762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前年比</a:t>
              </a:r>
            </a:p>
          </p:txBody>
        </p:sp>
        <p:sp>
          <p:nvSpPr>
            <p:cNvPr id="33" name="増減記号"/>
            <p:cNvSpPr/>
            <p:nvPr/>
          </p:nvSpPr>
          <p:spPr>
            <a:xfrm rot="10800000">
              <a:off x="10534650" y="262890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増減値"/>
            <p:cNvSpPr/>
            <p:nvPr/>
          </p:nvSpPr>
          <p:spPr>
            <a:xfrm>
              <a:off x="10687050" y="2590800"/>
              <a:ext cx="6477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100" b="1">
                  <a:solidFill>
                    <a:schemeClr val="accent2"/>
                  </a:solidFill>
                </a:rPr>
                <a:t>▲1.6pt</a:t>
              </a:r>
            </a:p>
          </p:txBody>
        </p:sp>
      </p:grpSp>
      <p:grpSp>
        <p:nvGrpSpPr>
          <p:cNvPr id="35" name="今月の総括"/>
          <p:cNvGrpSpPr/>
          <p:nvPr/>
        </p:nvGrpSpPr>
        <p:grpSpPr>
          <a:xfrm>
            <a:off x="666750" y="3219450"/>
            <a:ext cx="10858500" cy="1352550"/>
            <a:chOff x="666750" y="3219450"/>
            <a:chExt cx="10858500" cy="1352550"/>
          </a:xfrm>
        </p:grpSpPr>
        <p:sp>
          <p:nvSpPr>
            <p:cNvPr id="36" name="総括パネル"/>
            <p:cNvSpPr/>
            <p:nvPr/>
          </p:nvSpPr>
          <p:spPr>
            <a:xfrm>
              <a:off x="666750" y="3352800"/>
              <a:ext cx="10858500" cy="1219200"/>
            </a:xfrm>
            <a:prstGeom prst="roundRect">
              <a:avLst>
                <a:gd name="adj" fmla="val 625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ラベル帯"/>
            <p:cNvSpPr/>
            <p:nvPr/>
          </p:nvSpPr>
          <p:spPr>
            <a:xfrm>
              <a:off x="895350" y="3219450"/>
              <a:ext cx="104775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ラベル帯文字"/>
            <p:cNvSpPr/>
            <p:nvPr/>
          </p:nvSpPr>
          <p:spPr>
            <a:xfrm>
              <a:off x="895350" y="3228975"/>
              <a:ext cx="104775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今月の総括</a:t>
              </a:r>
            </a:p>
          </p:txBody>
        </p:sp>
        <p:sp>
          <p:nvSpPr>
            <p:cNvPr id="39" name="総括本文"/>
            <p:cNvSpPr/>
            <p:nvPr/>
          </p:nvSpPr>
          <p:spPr>
            <a:xfrm>
              <a:off x="933450" y="3657600"/>
              <a:ext cx="103251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250">
                  <a:solidFill>
                    <a:schemeClr val="dk1"/>
                  </a:solidFill>
                </a:rPr>
                <a:t>増収増益を確保した一方、2つの火種が顕在化した。粗利率の低下（前年比▲1.6pt）は価格改定の前倒しで、</a:t>
              </a:r>
            </a:p>
            <a:p>
              <a:pPr algn="l">
                <a:lnSpc>
                  <a:spcPct val="160000"/>
                </a:lnSpc>
              </a:pPr>
              <a:r>
                <a:rPr sz="1250">
                  <a:solidFill>
                    <a:schemeClr val="dk1"/>
                  </a:solidFill>
                </a:rPr>
                <a:t>新規受注の減少（前月比▲8%）はリード獲得策で、いずれも7月中に対処する</a:t>
              </a:r>
            </a:p>
          </p:txBody>
        </p:sp>
      </p:grpSp>
      <p:grpSp>
        <p:nvGrpSpPr>
          <p:cNvPr id="40" name="通期進捗"/>
          <p:cNvGrpSpPr/>
          <p:nvPr/>
        </p:nvGrpSpPr>
        <p:grpSpPr>
          <a:xfrm>
            <a:off x="666750" y="4876800"/>
            <a:ext cx="10858500" cy="704850"/>
            <a:chOff x="666750" y="4876800"/>
            <a:chExt cx="10858500" cy="704850"/>
          </a:xfrm>
        </p:grpSpPr>
        <p:sp>
          <p:nvSpPr>
            <p:cNvPr id="41" name="進捗ラベル"/>
            <p:cNvSpPr/>
            <p:nvPr/>
          </p:nvSpPr>
          <p:spPr>
            <a:xfrm>
              <a:off x="666750" y="4972050"/>
              <a:ext cx="5905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通期売上計画 150億円に対する進捗（1〜6月累計 72.5億円）</a:t>
              </a:r>
            </a:p>
          </p:txBody>
        </p:sp>
        <p:sp>
          <p:nvSpPr>
            <p:cNvPr id="42" name="進捗数値"/>
            <p:cNvSpPr/>
            <p:nvPr/>
          </p:nvSpPr>
          <p:spPr>
            <a:xfrm>
              <a:off x="10382250" y="4876800"/>
              <a:ext cx="11430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700" b="1">
                  <a:solidFill>
                    <a:schemeClr val="dk2"/>
                  </a:solidFill>
                </a:rPr>
                <a:t>48%</a:t>
              </a:r>
            </a:p>
          </p:txBody>
        </p:sp>
        <p:sp>
          <p:nvSpPr>
            <p:cNvPr id="43" name="バー地"/>
            <p:cNvSpPr/>
            <p:nvPr/>
          </p:nvSpPr>
          <p:spPr>
            <a:xfrm>
              <a:off x="666750" y="5219700"/>
              <a:ext cx="108585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バー実績"/>
            <p:cNvSpPr/>
            <p:nvPr/>
          </p:nvSpPr>
          <p:spPr>
            <a:xfrm>
              <a:off x="666750" y="5219700"/>
              <a:ext cx="5210175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5" name="上期目安線"/>
            <p:cNvCxnSpPr/>
            <p:nvPr/>
          </p:nvCxnSpPr>
          <p:spPr>
            <a:xfrm>
              <a:off x="6096000" y="5162550"/>
              <a:ext cx="0" cy="2476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目安ラベル"/>
            <p:cNvSpPr/>
            <p:nvPr/>
          </p:nvSpPr>
          <p:spPr>
            <a:xfrm>
              <a:off x="5429250" y="5448300"/>
              <a:ext cx="1333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上期の単純進捗目安 50%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2026年6月度｜業績ハイライト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売上高12.8億円は直近12ヶ月で最高。3ヶ月連続の計画超過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注：6月は速報値。計画は月次販売計画に基づく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03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売上高の月次推移（億円・直近12ヶ月）</a:t>
              </a:r>
            </a:p>
          </p:txBody>
        </p:sp>
      </p:grpSp>
      <p:grpSp>
        <p:nvGrpSpPr>
          <p:cNvPr id="14" name="売上推移グラフ"/>
          <p:cNvGrpSpPr/>
          <p:nvPr/>
        </p:nvGrpSpPr>
        <p:grpSpPr>
          <a:xfrm>
            <a:off x="666750" y="1971675"/>
            <a:ext cx="10858500" cy="3552825"/>
            <a:chOff x="666750" y="1971675"/>
            <a:chExt cx="10858500" cy="3552825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3340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棒1"/>
            <p:cNvSpPr/>
            <p:nvPr/>
          </p:nvSpPr>
          <p:spPr>
            <a:xfrm>
              <a:off x="1123950" y="2809875"/>
              <a:ext cx="609600" cy="25241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値1"/>
            <p:cNvSpPr/>
            <p:nvPr/>
          </p:nvSpPr>
          <p:spPr>
            <a:xfrm>
              <a:off x="1009650" y="26193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10.2</a:t>
              </a:r>
            </a:p>
          </p:txBody>
        </p:sp>
        <p:sp>
          <p:nvSpPr>
            <p:cNvPr id="18" name="項目1"/>
            <p:cNvSpPr/>
            <p:nvPr/>
          </p:nvSpPr>
          <p:spPr>
            <a:xfrm>
              <a:off x="10096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'25/7</a:t>
              </a:r>
            </a:p>
          </p:txBody>
        </p:sp>
        <p:sp>
          <p:nvSpPr>
            <p:cNvPr id="19" name="棒2"/>
            <p:cNvSpPr/>
            <p:nvPr/>
          </p:nvSpPr>
          <p:spPr>
            <a:xfrm>
              <a:off x="1971675" y="2733675"/>
              <a:ext cx="609600" cy="26003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値2"/>
            <p:cNvSpPr/>
            <p:nvPr/>
          </p:nvSpPr>
          <p:spPr>
            <a:xfrm>
              <a:off x="1857375" y="25431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10.5</a:t>
              </a:r>
            </a:p>
          </p:txBody>
        </p:sp>
        <p:sp>
          <p:nvSpPr>
            <p:cNvPr id="21" name="項目2"/>
            <p:cNvSpPr/>
            <p:nvPr/>
          </p:nvSpPr>
          <p:spPr>
            <a:xfrm>
              <a:off x="18573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8</a:t>
              </a:r>
            </a:p>
          </p:txBody>
        </p:sp>
        <p:sp>
          <p:nvSpPr>
            <p:cNvPr id="22" name="棒3"/>
            <p:cNvSpPr/>
            <p:nvPr/>
          </p:nvSpPr>
          <p:spPr>
            <a:xfrm>
              <a:off x="2819400" y="2828925"/>
              <a:ext cx="609600" cy="25050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値3"/>
            <p:cNvSpPr/>
            <p:nvPr/>
          </p:nvSpPr>
          <p:spPr>
            <a:xfrm>
              <a:off x="2705100" y="26384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10.1</a:t>
              </a:r>
            </a:p>
          </p:txBody>
        </p:sp>
        <p:sp>
          <p:nvSpPr>
            <p:cNvPr id="24" name="項目3"/>
            <p:cNvSpPr/>
            <p:nvPr/>
          </p:nvSpPr>
          <p:spPr>
            <a:xfrm>
              <a:off x="27051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9</a:t>
              </a:r>
            </a:p>
          </p:txBody>
        </p:sp>
        <p:sp>
          <p:nvSpPr>
            <p:cNvPr id="25" name="棒4"/>
            <p:cNvSpPr/>
            <p:nvPr/>
          </p:nvSpPr>
          <p:spPr>
            <a:xfrm>
              <a:off x="3667125" y="2657475"/>
              <a:ext cx="609600" cy="2676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値4"/>
            <p:cNvSpPr/>
            <p:nvPr/>
          </p:nvSpPr>
          <p:spPr>
            <a:xfrm>
              <a:off x="3552825" y="24669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10.8</a:t>
              </a:r>
            </a:p>
          </p:txBody>
        </p:sp>
        <p:sp>
          <p:nvSpPr>
            <p:cNvPr id="27" name="項目4"/>
            <p:cNvSpPr/>
            <p:nvPr/>
          </p:nvSpPr>
          <p:spPr>
            <a:xfrm>
              <a:off x="35528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10</a:t>
              </a:r>
            </a:p>
          </p:txBody>
        </p:sp>
        <p:sp>
          <p:nvSpPr>
            <p:cNvPr id="28" name="棒5"/>
            <p:cNvSpPr/>
            <p:nvPr/>
          </p:nvSpPr>
          <p:spPr>
            <a:xfrm>
              <a:off x="4514850" y="2562225"/>
              <a:ext cx="609600" cy="27717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5"/>
            <p:cNvSpPr/>
            <p:nvPr/>
          </p:nvSpPr>
          <p:spPr>
            <a:xfrm>
              <a:off x="4400550" y="237172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11.2</a:t>
              </a:r>
            </a:p>
          </p:txBody>
        </p:sp>
        <p:sp>
          <p:nvSpPr>
            <p:cNvPr id="30" name="項目5"/>
            <p:cNvSpPr/>
            <p:nvPr/>
          </p:nvSpPr>
          <p:spPr>
            <a:xfrm>
              <a:off x="44005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11</a:t>
              </a:r>
            </a:p>
          </p:txBody>
        </p:sp>
        <p:sp>
          <p:nvSpPr>
            <p:cNvPr id="31" name="棒6"/>
            <p:cNvSpPr/>
            <p:nvPr/>
          </p:nvSpPr>
          <p:spPr>
            <a:xfrm>
              <a:off x="5362575" y="2609850"/>
              <a:ext cx="609600" cy="27241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値6"/>
            <p:cNvSpPr/>
            <p:nvPr/>
          </p:nvSpPr>
          <p:spPr>
            <a:xfrm>
              <a:off x="5248275" y="24193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11.0</a:t>
              </a:r>
            </a:p>
          </p:txBody>
        </p:sp>
        <p:sp>
          <p:nvSpPr>
            <p:cNvPr id="33" name="項目6"/>
            <p:cNvSpPr/>
            <p:nvPr/>
          </p:nvSpPr>
          <p:spPr>
            <a:xfrm>
              <a:off x="52482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12</a:t>
              </a:r>
            </a:p>
          </p:txBody>
        </p:sp>
        <p:sp>
          <p:nvSpPr>
            <p:cNvPr id="34" name="棒7"/>
            <p:cNvSpPr/>
            <p:nvPr/>
          </p:nvSpPr>
          <p:spPr>
            <a:xfrm>
              <a:off x="6210300" y="2514600"/>
              <a:ext cx="609600" cy="2819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値7"/>
            <p:cNvSpPr/>
            <p:nvPr/>
          </p:nvSpPr>
          <p:spPr>
            <a:xfrm>
              <a:off x="6096000" y="23241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11.4</a:t>
              </a:r>
            </a:p>
          </p:txBody>
        </p:sp>
        <p:sp>
          <p:nvSpPr>
            <p:cNvPr id="36" name="項目7"/>
            <p:cNvSpPr/>
            <p:nvPr/>
          </p:nvSpPr>
          <p:spPr>
            <a:xfrm>
              <a:off x="60960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'26/1</a:t>
              </a:r>
            </a:p>
          </p:txBody>
        </p:sp>
        <p:sp>
          <p:nvSpPr>
            <p:cNvPr id="37" name="棒8"/>
            <p:cNvSpPr/>
            <p:nvPr/>
          </p:nvSpPr>
          <p:spPr>
            <a:xfrm>
              <a:off x="7058025" y="2457450"/>
              <a:ext cx="609600" cy="2876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値8"/>
            <p:cNvSpPr/>
            <p:nvPr/>
          </p:nvSpPr>
          <p:spPr>
            <a:xfrm>
              <a:off x="6943725" y="226695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11.6</a:t>
              </a:r>
            </a:p>
          </p:txBody>
        </p:sp>
        <p:sp>
          <p:nvSpPr>
            <p:cNvPr id="39" name="項目8"/>
            <p:cNvSpPr/>
            <p:nvPr/>
          </p:nvSpPr>
          <p:spPr>
            <a:xfrm>
              <a:off x="69437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2</a:t>
              </a:r>
            </a:p>
          </p:txBody>
        </p:sp>
        <p:sp>
          <p:nvSpPr>
            <p:cNvPr id="40" name="棒9"/>
            <p:cNvSpPr/>
            <p:nvPr/>
          </p:nvSpPr>
          <p:spPr>
            <a:xfrm>
              <a:off x="7905750" y="2362200"/>
              <a:ext cx="609600" cy="2971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値9"/>
            <p:cNvSpPr/>
            <p:nvPr/>
          </p:nvSpPr>
          <p:spPr>
            <a:xfrm>
              <a:off x="7791450" y="2171700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12.0</a:t>
              </a:r>
            </a:p>
          </p:txBody>
        </p:sp>
        <p:sp>
          <p:nvSpPr>
            <p:cNvPr id="42" name="項目9"/>
            <p:cNvSpPr/>
            <p:nvPr/>
          </p:nvSpPr>
          <p:spPr>
            <a:xfrm>
              <a:off x="779145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3</a:t>
              </a:r>
            </a:p>
          </p:txBody>
        </p:sp>
        <p:sp>
          <p:nvSpPr>
            <p:cNvPr id="43" name="棒10"/>
            <p:cNvSpPr/>
            <p:nvPr/>
          </p:nvSpPr>
          <p:spPr>
            <a:xfrm>
              <a:off x="8753475" y="2314575"/>
              <a:ext cx="609600" cy="30194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値10"/>
            <p:cNvSpPr/>
            <p:nvPr/>
          </p:nvSpPr>
          <p:spPr>
            <a:xfrm>
              <a:off x="8639175" y="21240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12.2</a:t>
              </a:r>
            </a:p>
          </p:txBody>
        </p:sp>
        <p:sp>
          <p:nvSpPr>
            <p:cNvPr id="45" name="項目10"/>
            <p:cNvSpPr/>
            <p:nvPr/>
          </p:nvSpPr>
          <p:spPr>
            <a:xfrm>
              <a:off x="863917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4</a:t>
              </a:r>
            </a:p>
          </p:txBody>
        </p:sp>
        <p:sp>
          <p:nvSpPr>
            <p:cNvPr id="46" name="棒11"/>
            <p:cNvSpPr/>
            <p:nvPr/>
          </p:nvSpPr>
          <p:spPr>
            <a:xfrm>
              <a:off x="9601200" y="2238375"/>
              <a:ext cx="609600" cy="30956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値11"/>
            <p:cNvSpPr/>
            <p:nvPr/>
          </p:nvSpPr>
          <p:spPr>
            <a:xfrm>
              <a:off x="9486900" y="20478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12.5</a:t>
              </a:r>
            </a:p>
          </p:txBody>
        </p:sp>
        <p:sp>
          <p:nvSpPr>
            <p:cNvPr id="48" name="項目11"/>
            <p:cNvSpPr/>
            <p:nvPr/>
          </p:nvSpPr>
          <p:spPr>
            <a:xfrm>
              <a:off x="9486900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5</a:t>
              </a:r>
            </a:p>
          </p:txBody>
        </p:sp>
        <p:sp>
          <p:nvSpPr>
            <p:cNvPr id="49" name="棒12"/>
            <p:cNvSpPr/>
            <p:nvPr/>
          </p:nvSpPr>
          <p:spPr>
            <a:xfrm>
              <a:off x="10448925" y="2162175"/>
              <a:ext cx="609600" cy="3171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値12"/>
            <p:cNvSpPr/>
            <p:nvPr/>
          </p:nvSpPr>
          <p:spPr>
            <a:xfrm>
              <a:off x="10334625" y="1971675"/>
              <a:ext cx="8382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12.8</a:t>
              </a:r>
            </a:p>
          </p:txBody>
        </p:sp>
        <p:sp>
          <p:nvSpPr>
            <p:cNvPr id="51" name="項目12"/>
            <p:cNvSpPr/>
            <p:nvPr/>
          </p:nvSpPr>
          <p:spPr>
            <a:xfrm>
              <a:off x="10334625" y="5391150"/>
              <a:ext cx="8382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</a:t>
              </a:r>
            </a:p>
          </p:txBody>
        </p:sp>
      </p:grpSp>
      <p:grpSp>
        <p:nvGrpSpPr>
          <p:cNvPr id="52" name="計画超注記"/>
          <p:cNvGrpSpPr/>
          <p:nvPr/>
        </p:nvGrpSpPr>
        <p:grpSpPr>
          <a:xfrm>
            <a:off x="8562975" y="1676400"/>
            <a:ext cx="2686050" cy="304800"/>
            <a:chOff x="8562975" y="1676400"/>
            <a:chExt cx="2686050" cy="304800"/>
          </a:xfrm>
        </p:grpSpPr>
        <p:cxnSp>
          <p:nvCxnSpPr>
            <p:cNvPr id="53" name="範囲線"/>
            <p:cNvCxnSpPr/>
            <p:nvPr/>
          </p:nvCxnSpPr>
          <p:spPr>
            <a:xfrm>
              <a:off x="8753475" y="1905000"/>
              <a:ext cx="2305050" cy="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範囲線左"/>
            <p:cNvCxnSpPr/>
            <p:nvPr/>
          </p:nvCxnSpPr>
          <p:spPr>
            <a:xfrm>
              <a:off x="8753475" y="1905000"/>
              <a:ext cx="0" cy="7620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範囲線右"/>
            <p:cNvCxnSpPr/>
            <p:nvPr/>
          </p:nvCxnSpPr>
          <p:spPr>
            <a:xfrm>
              <a:off x="11058525" y="1905000"/>
              <a:ext cx="0" cy="76200"/>
            </a:xfrm>
            <a:prstGeom prst="bentConnector3">
              <a:avLst/>
            </a:prstGeom>
            <a:ln w="14287">
              <a:solidFill>
                <a:schemeClr val="accent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範囲ラベル"/>
            <p:cNvSpPr/>
            <p:nvPr/>
          </p:nvSpPr>
          <p:spPr>
            <a:xfrm>
              <a:off x="8562975" y="1676400"/>
              <a:ext cx="26860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3ヶ月連続 計画超（6月は計画比107%）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2026年6月度｜予実差異の要因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利益は計画比▲0.1億円。要対処は原価上昇▲0.2億円のみ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注：「内部」＝自社でコントロール可能な要因。販促費増は受注反転に向けた計画内の前倒し投資（P.09）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04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営業利益の予実差異（億円）</a:t>
              </a:r>
            </a:p>
          </p:txBody>
        </p:sp>
      </p:grpSp>
      <p:grpSp>
        <p:nvGrpSpPr>
          <p:cNvPr id="14" name="滝グラフ"/>
          <p:cNvGrpSpPr/>
          <p:nvPr/>
        </p:nvGrpSpPr>
        <p:grpSpPr>
          <a:xfrm>
            <a:off x="476250" y="1604962"/>
            <a:ext cx="11239500" cy="4338638"/>
            <a:chOff x="476250" y="1604962"/>
            <a:chExt cx="11239500" cy="4338638"/>
          </a:xfrm>
        </p:grpSpPr>
        <p:cxnSp>
          <p:nvCxnSpPr>
            <p:cNvPr id="15" name="基準線"/>
            <p:cNvCxnSpPr/>
            <p:nvPr/>
          </p:nvCxnSpPr>
          <p:spPr>
            <a:xfrm>
              <a:off x="666750" y="54483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コネクタ1"/>
            <p:cNvCxnSpPr/>
            <p:nvPr/>
          </p:nvCxnSpPr>
          <p:spPr>
            <a:xfrm>
              <a:off x="1809750" y="2305050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コネクタ2"/>
            <p:cNvCxnSpPr/>
            <p:nvPr/>
          </p:nvCxnSpPr>
          <p:spPr>
            <a:xfrm>
              <a:off x="4238625" y="1833562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3"/>
            <p:cNvCxnSpPr/>
            <p:nvPr/>
          </p:nvCxnSpPr>
          <p:spPr>
            <a:xfrm>
              <a:off x="6667500" y="2147887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コネクタ4"/>
            <p:cNvCxnSpPr/>
            <p:nvPr/>
          </p:nvCxnSpPr>
          <p:spPr>
            <a:xfrm>
              <a:off x="9096375" y="2462212"/>
              <a:ext cx="1285875" cy="0"/>
            </a:xfrm>
            <a:prstGeom prst="bentConnector3">
              <a:avLst/>
            </a:prstGeom>
            <a:ln w="9525">
              <a:solidFill>
                <a:schemeClr val="accent5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バー_計画"/>
            <p:cNvSpPr/>
            <p:nvPr/>
          </p:nvSpPr>
          <p:spPr>
            <a:xfrm>
              <a:off x="666750" y="2305050"/>
              <a:ext cx="1143000" cy="31432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値_計画"/>
            <p:cNvSpPr/>
            <p:nvPr/>
          </p:nvSpPr>
          <p:spPr>
            <a:xfrm>
              <a:off x="476250" y="20764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2.0</a:t>
              </a:r>
            </a:p>
          </p:txBody>
        </p:sp>
        <p:sp>
          <p:nvSpPr>
            <p:cNvPr id="22" name="項目_計画"/>
            <p:cNvSpPr/>
            <p:nvPr/>
          </p:nvSpPr>
          <p:spPr>
            <a:xfrm>
              <a:off x="4762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計画</a:t>
              </a:r>
            </a:p>
          </p:txBody>
        </p:sp>
        <p:sp>
          <p:nvSpPr>
            <p:cNvPr id="23" name="バー_増収効果"/>
            <p:cNvSpPr/>
            <p:nvPr/>
          </p:nvSpPr>
          <p:spPr>
            <a:xfrm>
              <a:off x="3095625" y="1833562"/>
              <a:ext cx="1143000" cy="4714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値_増収効果"/>
            <p:cNvSpPr/>
            <p:nvPr/>
          </p:nvSpPr>
          <p:spPr>
            <a:xfrm>
              <a:off x="2905125" y="160496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1"/>
                  </a:solidFill>
                </a:rPr>
                <a:t>+0.3</a:t>
              </a:r>
            </a:p>
          </p:txBody>
        </p:sp>
        <p:sp>
          <p:nvSpPr>
            <p:cNvPr id="25" name="項目_増収効果"/>
            <p:cNvSpPr/>
            <p:nvPr/>
          </p:nvSpPr>
          <p:spPr>
            <a:xfrm>
              <a:off x="290512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増収効果</a:t>
              </a:r>
            </a:p>
          </p:txBody>
        </p:sp>
        <p:sp>
          <p:nvSpPr>
            <p:cNvPr id="26" name="区分_増収効果"/>
            <p:cNvSpPr/>
            <p:nvPr/>
          </p:nvSpPr>
          <p:spPr>
            <a:xfrm>
              <a:off x="340042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区分_増収効果文字"/>
            <p:cNvSpPr/>
            <p:nvPr/>
          </p:nvSpPr>
          <p:spPr>
            <a:xfrm>
              <a:off x="340042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28" name="バー_原価上昇"/>
            <p:cNvSpPr/>
            <p:nvPr/>
          </p:nvSpPr>
          <p:spPr>
            <a:xfrm>
              <a:off x="5524500" y="1833562"/>
              <a:ext cx="1143000" cy="3143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値_原価上昇"/>
            <p:cNvSpPr/>
            <p:nvPr/>
          </p:nvSpPr>
          <p:spPr>
            <a:xfrm>
              <a:off x="5334000" y="160496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2"/>
                  </a:solidFill>
                </a:rPr>
                <a:t>▲0.2</a:t>
              </a:r>
            </a:p>
          </p:txBody>
        </p:sp>
        <p:sp>
          <p:nvSpPr>
            <p:cNvPr id="30" name="項目_原価上昇"/>
            <p:cNvSpPr/>
            <p:nvPr/>
          </p:nvSpPr>
          <p:spPr>
            <a:xfrm>
              <a:off x="533400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原価上昇</a:t>
              </a:r>
            </a:p>
          </p:txBody>
        </p:sp>
        <p:sp>
          <p:nvSpPr>
            <p:cNvPr id="31" name="区分_原価上昇"/>
            <p:cNvSpPr/>
            <p:nvPr/>
          </p:nvSpPr>
          <p:spPr>
            <a:xfrm>
              <a:off x="5829300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区分_原価上昇文字"/>
            <p:cNvSpPr/>
            <p:nvPr/>
          </p:nvSpPr>
          <p:spPr>
            <a:xfrm>
              <a:off x="5829300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外部</a:t>
              </a:r>
            </a:p>
          </p:txBody>
        </p:sp>
        <p:sp>
          <p:nvSpPr>
            <p:cNvPr id="33" name="バー_販促費増"/>
            <p:cNvSpPr/>
            <p:nvPr/>
          </p:nvSpPr>
          <p:spPr>
            <a:xfrm>
              <a:off x="7953375" y="2147887"/>
              <a:ext cx="1143000" cy="3143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値_販促費増"/>
            <p:cNvSpPr/>
            <p:nvPr/>
          </p:nvSpPr>
          <p:spPr>
            <a:xfrm>
              <a:off x="7762875" y="1919287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accent3"/>
                  </a:solidFill>
                </a:rPr>
                <a:t>▲0.2</a:t>
              </a:r>
            </a:p>
          </p:txBody>
        </p:sp>
        <p:sp>
          <p:nvSpPr>
            <p:cNvPr id="35" name="項目_販促費増"/>
            <p:cNvSpPr/>
            <p:nvPr/>
          </p:nvSpPr>
          <p:spPr>
            <a:xfrm>
              <a:off x="7762875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販促費増</a:t>
              </a:r>
            </a:p>
          </p:txBody>
        </p:sp>
        <p:sp>
          <p:nvSpPr>
            <p:cNvPr id="36" name="区分_販促費増"/>
            <p:cNvSpPr/>
            <p:nvPr/>
          </p:nvSpPr>
          <p:spPr>
            <a:xfrm>
              <a:off x="8258175" y="5753100"/>
              <a:ext cx="533400" cy="1905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区分_販促費増文字"/>
            <p:cNvSpPr/>
            <p:nvPr/>
          </p:nvSpPr>
          <p:spPr>
            <a:xfrm>
              <a:off x="8258175" y="5762625"/>
              <a:ext cx="533400" cy="18097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dk2"/>
                  </a:solidFill>
                </a:rPr>
                <a:t>内部</a:t>
              </a:r>
            </a:p>
          </p:txBody>
        </p:sp>
        <p:sp>
          <p:nvSpPr>
            <p:cNvPr id="38" name="バー_実績"/>
            <p:cNvSpPr/>
            <p:nvPr/>
          </p:nvSpPr>
          <p:spPr>
            <a:xfrm>
              <a:off x="10382250" y="2462212"/>
              <a:ext cx="1143000" cy="2986087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値_実績"/>
            <p:cNvSpPr/>
            <p:nvPr/>
          </p:nvSpPr>
          <p:spPr>
            <a:xfrm>
              <a:off x="10191750" y="2233612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1.9</a:t>
              </a:r>
            </a:p>
          </p:txBody>
        </p:sp>
        <p:sp>
          <p:nvSpPr>
            <p:cNvPr id="40" name="項目_実績"/>
            <p:cNvSpPr/>
            <p:nvPr/>
          </p:nvSpPr>
          <p:spPr>
            <a:xfrm>
              <a:off x="10191750" y="5543550"/>
              <a:ext cx="1524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実績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2026年6月度｜セグメント別の状況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A・B事業の2桁成長が牽引。C事業のみ前年割れが継続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注：右端は前年同月比。セグメント区分は2026年度の管理区分に基づく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05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セグメント別売上（6月・億円）</a:t>
              </a:r>
            </a:p>
          </p:txBody>
        </p:sp>
      </p:grpSp>
      <p:grpSp>
        <p:nvGrpSpPr>
          <p:cNvPr id="14" name="凡例"/>
          <p:cNvGrpSpPr/>
          <p:nvPr/>
        </p:nvGrpSpPr>
        <p:grpSpPr>
          <a:xfrm>
            <a:off x="9048750" y="1228725"/>
            <a:ext cx="1809750" cy="152400"/>
            <a:chOff x="9048750" y="1228725"/>
            <a:chExt cx="1809750" cy="152400"/>
          </a:xfrm>
        </p:grpSpPr>
        <p:sp>
          <p:nvSpPr>
            <p:cNvPr id="15" name="凡例_当月色"/>
            <p:cNvSpPr/>
            <p:nvPr/>
          </p:nvSpPr>
          <p:spPr>
            <a:xfrm>
              <a:off x="9048750" y="1257300"/>
              <a:ext cx="133350" cy="9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凡例_当月"/>
            <p:cNvSpPr/>
            <p:nvPr/>
          </p:nvSpPr>
          <p:spPr>
            <a:xfrm>
              <a:off x="9239250" y="1228725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当月</a:t>
              </a:r>
            </a:p>
          </p:txBody>
        </p:sp>
        <p:sp>
          <p:nvSpPr>
            <p:cNvPr id="17" name="凡例_前年色"/>
            <p:cNvSpPr/>
            <p:nvPr/>
          </p:nvSpPr>
          <p:spPr>
            <a:xfrm>
              <a:off x="9810750" y="1257300"/>
              <a:ext cx="133350" cy="952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凡例_前年"/>
            <p:cNvSpPr/>
            <p:nvPr/>
          </p:nvSpPr>
          <p:spPr>
            <a:xfrm>
              <a:off x="10001250" y="1228725"/>
              <a:ext cx="857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前年同月</a:t>
              </a:r>
            </a:p>
          </p:txBody>
        </p:sp>
      </p:grpSp>
      <p:grpSp>
        <p:nvGrpSpPr>
          <p:cNvPr id="19" name="セグメント_A事業"/>
          <p:cNvGrpSpPr/>
          <p:nvPr/>
        </p:nvGrpSpPr>
        <p:grpSpPr>
          <a:xfrm>
            <a:off x="666750" y="1619250"/>
            <a:ext cx="10858500" cy="590550"/>
            <a:chOff x="666750" y="1619250"/>
            <a:chExt cx="10858500" cy="590550"/>
          </a:xfrm>
        </p:grpSpPr>
        <p:sp>
          <p:nvSpPr>
            <p:cNvPr id="20" name="事業名"/>
            <p:cNvSpPr/>
            <p:nvPr/>
          </p:nvSpPr>
          <p:spPr>
            <a:xfrm>
              <a:off x="666750" y="17145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A事業</a:t>
              </a:r>
            </a:p>
          </p:txBody>
        </p:sp>
        <p:sp>
          <p:nvSpPr>
            <p:cNvPr id="21" name="事業説明"/>
            <p:cNvSpPr/>
            <p:nvPr/>
          </p:nvSpPr>
          <p:spPr>
            <a:xfrm>
              <a:off x="666750" y="19431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主力製品</a:t>
              </a:r>
            </a:p>
          </p:txBody>
        </p:sp>
        <p:cxnSp>
          <p:nvCxnSpPr>
            <p:cNvPr id="22" name="基準線"/>
            <p:cNvCxnSpPr/>
            <p:nvPr/>
          </p:nvCxnSpPr>
          <p:spPr>
            <a:xfrm>
              <a:off x="2381250" y="161925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当月バー"/>
            <p:cNvSpPr/>
            <p:nvPr/>
          </p:nvSpPr>
          <p:spPr>
            <a:xfrm>
              <a:off x="2381250" y="1676400"/>
              <a:ext cx="5143500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当月値"/>
            <p:cNvSpPr/>
            <p:nvPr/>
          </p:nvSpPr>
          <p:spPr>
            <a:xfrm>
              <a:off x="7620000" y="17049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6.0</a:t>
              </a:r>
            </a:p>
          </p:txBody>
        </p:sp>
        <p:sp>
          <p:nvSpPr>
            <p:cNvPr id="25" name="前年バー"/>
            <p:cNvSpPr/>
            <p:nvPr/>
          </p:nvSpPr>
          <p:spPr>
            <a:xfrm>
              <a:off x="2381250" y="1943100"/>
              <a:ext cx="445770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前年値"/>
            <p:cNvSpPr/>
            <p:nvPr/>
          </p:nvSpPr>
          <p:spPr>
            <a:xfrm>
              <a:off x="6934200" y="19716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5.2</a:t>
              </a:r>
            </a:p>
          </p:txBody>
        </p:sp>
        <p:sp>
          <p:nvSpPr>
            <p:cNvPr id="27" name="増減記号"/>
            <p:cNvSpPr/>
            <p:nvPr/>
          </p:nvSpPr>
          <p:spPr>
            <a:xfrm>
              <a:off x="8382000" y="184785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前年比"/>
            <p:cNvSpPr/>
            <p:nvPr/>
          </p:nvSpPr>
          <p:spPr>
            <a:xfrm>
              <a:off x="8534400" y="180975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+15%</a:t>
              </a:r>
            </a:p>
          </p:txBody>
        </p:sp>
        <p:sp>
          <p:nvSpPr>
            <p:cNvPr id="29" name="コメント"/>
            <p:cNvSpPr/>
            <p:nvPr/>
          </p:nvSpPr>
          <p:spPr>
            <a:xfrm>
              <a:off x="9296400" y="175260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大手向けの更新需要が堅調</a:t>
              </a:r>
            </a:p>
          </p:txBody>
        </p:sp>
      </p:grpSp>
      <p:grpSp>
        <p:nvGrpSpPr>
          <p:cNvPr id="30" name="セグメント_B事業"/>
          <p:cNvGrpSpPr/>
          <p:nvPr/>
        </p:nvGrpSpPr>
        <p:grpSpPr>
          <a:xfrm>
            <a:off x="666750" y="2743200"/>
            <a:ext cx="10858500" cy="590550"/>
            <a:chOff x="666750" y="2743200"/>
            <a:chExt cx="10858500" cy="590550"/>
          </a:xfrm>
        </p:grpSpPr>
        <p:sp>
          <p:nvSpPr>
            <p:cNvPr id="31" name="事業名"/>
            <p:cNvSpPr/>
            <p:nvPr/>
          </p:nvSpPr>
          <p:spPr>
            <a:xfrm>
              <a:off x="666750" y="283845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B事業</a:t>
              </a:r>
            </a:p>
          </p:txBody>
        </p:sp>
        <p:sp>
          <p:nvSpPr>
            <p:cNvPr id="32" name="事業説明"/>
            <p:cNvSpPr/>
            <p:nvPr/>
          </p:nvSpPr>
          <p:spPr>
            <a:xfrm>
              <a:off x="666750" y="306705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サービス</a:t>
              </a:r>
            </a:p>
          </p:txBody>
        </p:sp>
        <p:cxnSp>
          <p:nvCxnSpPr>
            <p:cNvPr id="33" name="基準線"/>
            <p:cNvCxnSpPr/>
            <p:nvPr/>
          </p:nvCxnSpPr>
          <p:spPr>
            <a:xfrm>
              <a:off x="2381250" y="274320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当月バー"/>
            <p:cNvSpPr/>
            <p:nvPr/>
          </p:nvSpPr>
          <p:spPr>
            <a:xfrm>
              <a:off x="2381250" y="2800350"/>
              <a:ext cx="3514724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当月値"/>
            <p:cNvSpPr/>
            <p:nvPr/>
          </p:nvSpPr>
          <p:spPr>
            <a:xfrm>
              <a:off x="5991225" y="282892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4.1</a:t>
              </a:r>
            </a:p>
          </p:txBody>
        </p:sp>
        <p:sp>
          <p:nvSpPr>
            <p:cNvPr id="36" name="前年バー"/>
            <p:cNvSpPr/>
            <p:nvPr/>
          </p:nvSpPr>
          <p:spPr>
            <a:xfrm>
              <a:off x="2381250" y="3067050"/>
              <a:ext cx="2914650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前年値"/>
            <p:cNvSpPr/>
            <p:nvPr/>
          </p:nvSpPr>
          <p:spPr>
            <a:xfrm>
              <a:off x="5391150" y="309562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3.4</a:t>
              </a:r>
            </a:p>
          </p:txBody>
        </p:sp>
        <p:sp>
          <p:nvSpPr>
            <p:cNvPr id="38" name="増減記号"/>
            <p:cNvSpPr/>
            <p:nvPr/>
          </p:nvSpPr>
          <p:spPr>
            <a:xfrm>
              <a:off x="8382000" y="2971800"/>
              <a:ext cx="114300" cy="9525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前年比"/>
            <p:cNvSpPr/>
            <p:nvPr/>
          </p:nvSpPr>
          <p:spPr>
            <a:xfrm>
              <a:off x="8534400" y="293370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1"/>
                  </a:solidFill>
                </a:rPr>
                <a:t>+21%</a:t>
              </a:r>
            </a:p>
          </p:txBody>
        </p:sp>
        <p:sp>
          <p:nvSpPr>
            <p:cNvPr id="40" name="コメント"/>
            <p:cNvSpPr/>
            <p:nvPr/>
          </p:nvSpPr>
          <p:spPr>
            <a:xfrm>
              <a:off x="9296400" y="287655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新サービスが計画超で伸長</a:t>
              </a:r>
            </a:p>
          </p:txBody>
        </p:sp>
      </p:grpSp>
      <p:grpSp>
        <p:nvGrpSpPr>
          <p:cNvPr id="41" name="セグメント_C事業"/>
          <p:cNvGrpSpPr/>
          <p:nvPr/>
        </p:nvGrpSpPr>
        <p:grpSpPr>
          <a:xfrm>
            <a:off x="666750" y="3867150"/>
            <a:ext cx="10858500" cy="590550"/>
            <a:chOff x="666750" y="3867150"/>
            <a:chExt cx="10858500" cy="590550"/>
          </a:xfrm>
        </p:grpSpPr>
        <p:sp>
          <p:nvSpPr>
            <p:cNvPr id="42" name="事業名"/>
            <p:cNvSpPr/>
            <p:nvPr/>
          </p:nvSpPr>
          <p:spPr>
            <a:xfrm>
              <a:off x="666750" y="3962400"/>
              <a:ext cx="1524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C事業</a:t>
              </a:r>
            </a:p>
          </p:txBody>
        </p:sp>
        <p:sp>
          <p:nvSpPr>
            <p:cNvPr id="43" name="事業説明"/>
            <p:cNvSpPr/>
            <p:nvPr/>
          </p:nvSpPr>
          <p:spPr>
            <a:xfrm>
              <a:off x="666750" y="41910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受託開発</a:t>
              </a:r>
            </a:p>
          </p:txBody>
        </p:sp>
        <p:cxnSp>
          <p:nvCxnSpPr>
            <p:cNvPr id="44" name="基準線"/>
            <p:cNvCxnSpPr/>
            <p:nvPr/>
          </p:nvCxnSpPr>
          <p:spPr>
            <a:xfrm>
              <a:off x="2381250" y="3867150"/>
              <a:ext cx="0" cy="59055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当月バー"/>
            <p:cNvSpPr/>
            <p:nvPr/>
          </p:nvSpPr>
          <p:spPr>
            <a:xfrm>
              <a:off x="2381250" y="3924300"/>
              <a:ext cx="2314575" cy="209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当月値"/>
            <p:cNvSpPr/>
            <p:nvPr/>
          </p:nvSpPr>
          <p:spPr>
            <a:xfrm>
              <a:off x="4791075" y="39528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 b="1">
                  <a:solidFill>
                    <a:schemeClr val="dk2"/>
                  </a:solidFill>
                </a:rPr>
                <a:t>2.7</a:t>
              </a:r>
            </a:p>
          </p:txBody>
        </p:sp>
        <p:sp>
          <p:nvSpPr>
            <p:cNvPr id="47" name="前年バー"/>
            <p:cNvSpPr/>
            <p:nvPr/>
          </p:nvSpPr>
          <p:spPr>
            <a:xfrm>
              <a:off x="2381250" y="4191000"/>
              <a:ext cx="2657475" cy="2095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前年値"/>
            <p:cNvSpPr/>
            <p:nvPr/>
          </p:nvSpPr>
          <p:spPr>
            <a:xfrm>
              <a:off x="5133975" y="4219575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3.1</a:t>
              </a:r>
            </a:p>
          </p:txBody>
        </p:sp>
        <p:sp>
          <p:nvSpPr>
            <p:cNvPr id="49" name="増減記号"/>
            <p:cNvSpPr/>
            <p:nvPr/>
          </p:nvSpPr>
          <p:spPr>
            <a:xfrm rot="10800000">
              <a:off x="8382000" y="4095750"/>
              <a:ext cx="114300" cy="9525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前年比"/>
            <p:cNvSpPr/>
            <p:nvPr/>
          </p:nvSpPr>
          <p:spPr>
            <a:xfrm>
              <a:off x="8534400" y="4057650"/>
              <a:ext cx="6096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▲13%</a:t>
              </a:r>
            </a:p>
          </p:txBody>
        </p:sp>
        <p:sp>
          <p:nvSpPr>
            <p:cNvPr id="51" name="コメント"/>
            <p:cNvSpPr/>
            <p:nvPr/>
          </p:nvSpPr>
          <p:spPr>
            <a:xfrm>
              <a:off x="9296400" y="4000500"/>
              <a:ext cx="222885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新規受注の減少が直撃（P.08）</a:t>
              </a:r>
            </a:p>
          </p:txBody>
        </p:sp>
      </p:grpSp>
      <p:grpSp>
        <p:nvGrpSpPr>
          <p:cNvPr id="52" name="示唆"/>
          <p:cNvGrpSpPr/>
          <p:nvPr/>
        </p:nvGrpSpPr>
        <p:grpSpPr>
          <a:xfrm>
            <a:off x="666750" y="5067300"/>
            <a:ext cx="10858500" cy="876300"/>
            <a:chOff x="666750" y="5067300"/>
            <a:chExt cx="10858500" cy="876300"/>
          </a:xfrm>
        </p:grpSpPr>
        <p:sp>
          <p:nvSpPr>
            <p:cNvPr id="53" name="示唆パネル"/>
            <p:cNvSpPr/>
            <p:nvPr/>
          </p:nvSpPr>
          <p:spPr>
            <a:xfrm>
              <a:off x="666750" y="5200650"/>
              <a:ext cx="10858500" cy="742950"/>
            </a:xfrm>
            <a:prstGeom prst="roundRect">
              <a:avLst>
                <a:gd name="adj" fmla="val 10256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ラベル帯"/>
            <p:cNvSpPr/>
            <p:nvPr/>
          </p:nvSpPr>
          <p:spPr>
            <a:xfrm>
              <a:off x="895350" y="5067300"/>
              <a:ext cx="609600" cy="266700"/>
            </a:xfrm>
            <a:prstGeom prst="roundRect">
              <a:avLst>
                <a:gd name="adj" fmla="val 14285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ラベル帯文字"/>
            <p:cNvSpPr/>
            <p:nvPr/>
          </p:nvSpPr>
          <p:spPr>
            <a:xfrm>
              <a:off x="895350" y="5076825"/>
              <a:ext cx="6096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示唆</a:t>
              </a:r>
            </a:p>
          </p:txBody>
        </p:sp>
        <p:sp>
          <p:nvSpPr>
            <p:cNvPr id="56" name="示唆本文"/>
            <p:cNvSpPr/>
            <p:nvPr/>
          </p:nvSpPr>
          <p:spPr>
            <a:xfrm>
              <a:off x="933450" y="5448300"/>
              <a:ext cx="103251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00">
                  <a:solidFill>
                    <a:schemeClr val="dk1"/>
                  </a:solidFill>
                </a:rPr>
                <a:t>C事業の減速は市況要因ではなく新規受注の減少による。粗利改善と並行して、7月はリード獲得策を集中投下する（P.09）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2026年6月度｜重点施策の進捗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重点4施策は概ね計画線。原価低減のみ20pt遅延で要対処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注：進捗はマイルストーン消化率。縦線は6月末時点の計画値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出所：各施策の週次報告（2026年6月27日時点）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06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Q2重点施策の進捗（6月末時点・計画対比）</a:t>
              </a:r>
            </a:p>
          </p:txBody>
        </p:sp>
      </p:grpSp>
      <p:grpSp>
        <p:nvGrpSpPr>
          <p:cNvPr id="14" name="列見出し"/>
          <p:cNvGrpSpPr/>
          <p:nvPr/>
        </p:nvGrpSpPr>
        <p:grpSpPr>
          <a:xfrm>
            <a:off x="666750" y="1504950"/>
            <a:ext cx="10858500" cy="133350"/>
            <a:chOff x="666750" y="1504950"/>
            <a:chExt cx="10858500" cy="133350"/>
          </a:xfrm>
        </p:grpSpPr>
        <p:sp>
          <p:nvSpPr>
            <p:cNvPr id="15" name="列_施策"/>
            <p:cNvSpPr/>
            <p:nvPr/>
          </p:nvSpPr>
          <p:spPr>
            <a:xfrm>
              <a:off x="666750" y="1504950"/>
              <a:ext cx="2476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施策</a:t>
              </a:r>
            </a:p>
          </p:txBody>
        </p:sp>
        <p:sp>
          <p:nvSpPr>
            <p:cNvPr id="16" name="列_進捗"/>
            <p:cNvSpPr/>
            <p:nvPr/>
          </p:nvSpPr>
          <p:spPr>
            <a:xfrm>
              <a:off x="3429000" y="1504950"/>
              <a:ext cx="3429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進捗（バー＝実績、縦線＝計画）</a:t>
              </a:r>
            </a:p>
          </p:txBody>
        </p:sp>
        <p:sp>
          <p:nvSpPr>
            <p:cNvPr id="17" name="列_実績"/>
            <p:cNvSpPr/>
            <p:nvPr/>
          </p:nvSpPr>
          <p:spPr>
            <a:xfrm>
              <a:off x="7096125" y="150495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実績</a:t>
              </a:r>
            </a:p>
          </p:txBody>
        </p:sp>
        <p:sp>
          <p:nvSpPr>
            <p:cNvPr id="18" name="列_状況"/>
            <p:cNvSpPr/>
            <p:nvPr/>
          </p:nvSpPr>
          <p:spPr>
            <a:xfrm>
              <a:off x="7762875" y="1504950"/>
              <a:ext cx="857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状況</a:t>
              </a:r>
            </a:p>
          </p:txBody>
        </p:sp>
        <p:sp>
          <p:nvSpPr>
            <p:cNvPr id="19" name="列_備考"/>
            <p:cNvSpPr/>
            <p:nvPr/>
          </p:nvSpPr>
          <p:spPr>
            <a:xfrm>
              <a:off x="8810625" y="1504950"/>
              <a:ext cx="2714625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備考</a:t>
              </a:r>
            </a:p>
          </p:txBody>
        </p:sp>
      </p:grpSp>
      <p:grpSp>
        <p:nvGrpSpPr>
          <p:cNvPr id="20" name="施策1_新製品シリー"/>
          <p:cNvGrpSpPr/>
          <p:nvPr/>
        </p:nvGrpSpPr>
        <p:grpSpPr>
          <a:xfrm>
            <a:off x="666750" y="1828800"/>
            <a:ext cx="10858500" cy="419100"/>
            <a:chOff x="666750" y="1828800"/>
            <a:chExt cx="10858500" cy="419100"/>
          </a:xfrm>
        </p:grpSpPr>
        <p:sp>
          <p:nvSpPr>
            <p:cNvPr id="21" name="施策名"/>
            <p:cNvSpPr/>
            <p:nvPr/>
          </p:nvSpPr>
          <p:spPr>
            <a:xfrm>
              <a:off x="666750" y="1847850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新製品シリーズ拡販</a:t>
              </a:r>
            </a:p>
          </p:txBody>
        </p:sp>
        <p:sp>
          <p:nvSpPr>
            <p:cNvPr id="22" name="担当"/>
            <p:cNvSpPr/>
            <p:nvPr/>
          </p:nvSpPr>
          <p:spPr>
            <a:xfrm>
              <a:off x="666750" y="2095500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担当：営業本部</a:t>
              </a:r>
            </a:p>
          </p:txBody>
        </p:sp>
        <p:sp>
          <p:nvSpPr>
            <p:cNvPr id="23" name="バー地"/>
            <p:cNvSpPr/>
            <p:nvPr/>
          </p:nvSpPr>
          <p:spPr>
            <a:xfrm>
              <a:off x="3429000" y="1943100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バー実績"/>
            <p:cNvSpPr/>
            <p:nvPr/>
          </p:nvSpPr>
          <p:spPr>
            <a:xfrm>
              <a:off x="3429000" y="1943100"/>
              <a:ext cx="257175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計画線"/>
            <p:cNvCxnSpPr/>
            <p:nvPr/>
          </p:nvCxnSpPr>
          <p:spPr>
            <a:xfrm>
              <a:off x="5829300" y="1866900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実績値"/>
            <p:cNvSpPr/>
            <p:nvPr/>
          </p:nvSpPr>
          <p:spPr>
            <a:xfrm>
              <a:off x="7096125" y="190500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75%</a:t>
              </a:r>
            </a:p>
          </p:txBody>
        </p:sp>
        <p:sp>
          <p:nvSpPr>
            <p:cNvPr id="27" name="状況ピル"/>
            <p:cNvSpPr/>
            <p:nvPr/>
          </p:nvSpPr>
          <p:spPr>
            <a:xfrm>
              <a:off x="7762875" y="188595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状況ピル文字"/>
            <p:cNvSpPr/>
            <p:nvPr/>
          </p:nvSpPr>
          <p:spPr>
            <a:xfrm>
              <a:off x="7762875" y="1895475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順調</a:t>
              </a:r>
            </a:p>
          </p:txBody>
        </p:sp>
        <p:sp>
          <p:nvSpPr>
            <p:cNvPr id="29" name="備考"/>
            <p:cNvSpPr/>
            <p:nvPr/>
          </p:nvSpPr>
          <p:spPr>
            <a:xfrm>
              <a:off x="8810625" y="1828800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大手2社で採用が決定。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下期の量産化に向け準備中</a:t>
              </a:r>
            </a:p>
          </p:txBody>
        </p:sp>
      </p:grpSp>
      <p:grpSp>
        <p:nvGrpSpPr>
          <p:cNvPr id="30" name="施策2_原価低減プロ"/>
          <p:cNvGrpSpPr/>
          <p:nvPr/>
        </p:nvGrpSpPr>
        <p:grpSpPr>
          <a:xfrm>
            <a:off x="666750" y="2676525"/>
            <a:ext cx="10858500" cy="571500"/>
            <a:chOff x="666750" y="2676525"/>
            <a:chExt cx="10858500" cy="571500"/>
          </a:xfrm>
        </p:grpSpPr>
        <p:cxnSp>
          <p:nvCxnSpPr>
            <p:cNvPr id="31" name="行区切り"/>
            <p:cNvCxnSpPr/>
            <p:nvPr/>
          </p:nvCxnSpPr>
          <p:spPr>
            <a:xfrm>
              <a:off x="666750" y="267652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施策名"/>
            <p:cNvSpPr/>
            <p:nvPr/>
          </p:nvSpPr>
          <p:spPr>
            <a:xfrm>
              <a:off x="666750" y="2847975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原価低減プログラム</a:t>
              </a:r>
            </a:p>
          </p:txBody>
        </p:sp>
        <p:sp>
          <p:nvSpPr>
            <p:cNvPr id="33" name="担当"/>
            <p:cNvSpPr/>
            <p:nvPr/>
          </p:nvSpPr>
          <p:spPr>
            <a:xfrm>
              <a:off x="666750" y="3095625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担当：購買部</a:t>
              </a:r>
            </a:p>
          </p:txBody>
        </p:sp>
        <p:sp>
          <p:nvSpPr>
            <p:cNvPr id="34" name="バー地"/>
            <p:cNvSpPr/>
            <p:nvPr/>
          </p:nvSpPr>
          <p:spPr>
            <a:xfrm>
              <a:off x="3429000" y="2943225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バー実績"/>
            <p:cNvSpPr/>
            <p:nvPr/>
          </p:nvSpPr>
          <p:spPr>
            <a:xfrm>
              <a:off x="3429000" y="2943225"/>
              <a:ext cx="13716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計画線"/>
            <p:cNvCxnSpPr/>
            <p:nvPr/>
          </p:nvCxnSpPr>
          <p:spPr>
            <a:xfrm>
              <a:off x="5486400" y="2867025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実績値"/>
            <p:cNvSpPr/>
            <p:nvPr/>
          </p:nvSpPr>
          <p:spPr>
            <a:xfrm>
              <a:off x="7096125" y="2905125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40%</a:t>
              </a:r>
            </a:p>
          </p:txBody>
        </p:sp>
        <p:sp>
          <p:nvSpPr>
            <p:cNvPr id="38" name="状況ピル"/>
            <p:cNvSpPr/>
            <p:nvPr/>
          </p:nvSpPr>
          <p:spPr>
            <a:xfrm>
              <a:off x="7762875" y="2886075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状況ピル文字"/>
            <p:cNvSpPr/>
            <p:nvPr/>
          </p:nvSpPr>
          <p:spPr>
            <a:xfrm>
              <a:off x="7762875" y="2895600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遅延</a:t>
              </a:r>
            </a:p>
          </p:txBody>
        </p:sp>
        <p:sp>
          <p:nvSpPr>
            <p:cNvPr id="40" name="備考"/>
            <p:cNvSpPr/>
            <p:nvPr/>
          </p:nvSpPr>
          <p:spPr>
            <a:xfrm>
              <a:off x="8810625" y="2828925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主要品目の調達交渉が難航。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体制増強を要請（P.10）</a:t>
              </a:r>
            </a:p>
          </p:txBody>
        </p:sp>
      </p:grpSp>
      <p:grpSp>
        <p:nvGrpSpPr>
          <p:cNvPr id="41" name="施策3_海外チャネル"/>
          <p:cNvGrpSpPr/>
          <p:nvPr/>
        </p:nvGrpSpPr>
        <p:grpSpPr>
          <a:xfrm>
            <a:off x="666750" y="3676650"/>
            <a:ext cx="10858500" cy="571500"/>
            <a:chOff x="666750" y="3676650"/>
            <a:chExt cx="10858500" cy="571500"/>
          </a:xfrm>
        </p:grpSpPr>
        <p:cxnSp>
          <p:nvCxnSpPr>
            <p:cNvPr id="42" name="行区切り"/>
            <p:cNvCxnSpPr/>
            <p:nvPr/>
          </p:nvCxnSpPr>
          <p:spPr>
            <a:xfrm>
              <a:off x="666750" y="36766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施策名"/>
            <p:cNvSpPr/>
            <p:nvPr/>
          </p:nvSpPr>
          <p:spPr>
            <a:xfrm>
              <a:off x="666750" y="3848100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海外チャネル開拓</a:t>
              </a:r>
            </a:p>
          </p:txBody>
        </p:sp>
        <p:sp>
          <p:nvSpPr>
            <p:cNvPr id="44" name="担当"/>
            <p:cNvSpPr/>
            <p:nvPr/>
          </p:nvSpPr>
          <p:spPr>
            <a:xfrm>
              <a:off x="666750" y="4095750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担当：海外事業部</a:t>
              </a:r>
            </a:p>
          </p:txBody>
        </p:sp>
        <p:sp>
          <p:nvSpPr>
            <p:cNvPr id="45" name="バー地"/>
            <p:cNvSpPr/>
            <p:nvPr/>
          </p:nvSpPr>
          <p:spPr>
            <a:xfrm>
              <a:off x="3429000" y="3943350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バー実績"/>
            <p:cNvSpPr/>
            <p:nvPr/>
          </p:nvSpPr>
          <p:spPr>
            <a:xfrm>
              <a:off x="3429000" y="3943350"/>
              <a:ext cx="222885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7" name="計画線"/>
            <p:cNvCxnSpPr/>
            <p:nvPr/>
          </p:nvCxnSpPr>
          <p:spPr>
            <a:xfrm>
              <a:off x="5486400" y="3867150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実績値"/>
            <p:cNvSpPr/>
            <p:nvPr/>
          </p:nvSpPr>
          <p:spPr>
            <a:xfrm>
              <a:off x="7096125" y="390525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65%</a:t>
              </a:r>
            </a:p>
          </p:txBody>
        </p:sp>
        <p:sp>
          <p:nvSpPr>
            <p:cNvPr id="49" name="状況ピル"/>
            <p:cNvSpPr/>
            <p:nvPr/>
          </p:nvSpPr>
          <p:spPr>
            <a:xfrm>
              <a:off x="7762875" y="3886200"/>
              <a:ext cx="85725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状況ピル文字"/>
            <p:cNvSpPr/>
            <p:nvPr/>
          </p:nvSpPr>
          <p:spPr>
            <a:xfrm>
              <a:off x="7762875" y="3895725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順調</a:t>
              </a:r>
            </a:p>
          </p:txBody>
        </p:sp>
        <p:sp>
          <p:nvSpPr>
            <p:cNvPr id="51" name="備考"/>
            <p:cNvSpPr/>
            <p:nvPr/>
          </p:nvSpPr>
          <p:spPr>
            <a:xfrm>
              <a:off x="8810625" y="3829050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販売代理店2社と基本合意。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9月の販売開始へ順調</a:t>
              </a:r>
            </a:p>
          </p:txBody>
        </p:sp>
      </p:grpSp>
      <p:grpSp>
        <p:nvGrpSpPr>
          <p:cNvPr id="52" name="施策4_営業DXツー"/>
          <p:cNvGrpSpPr/>
          <p:nvPr/>
        </p:nvGrpSpPr>
        <p:grpSpPr>
          <a:xfrm>
            <a:off x="666750" y="4676775"/>
            <a:ext cx="10858500" cy="571500"/>
            <a:chOff x="666750" y="4676775"/>
            <a:chExt cx="10858500" cy="571500"/>
          </a:xfrm>
        </p:grpSpPr>
        <p:cxnSp>
          <p:nvCxnSpPr>
            <p:cNvPr id="53" name="行区切り"/>
            <p:cNvCxnSpPr/>
            <p:nvPr/>
          </p:nvCxnSpPr>
          <p:spPr>
            <a:xfrm>
              <a:off x="666750" y="467677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施策名"/>
            <p:cNvSpPr/>
            <p:nvPr/>
          </p:nvSpPr>
          <p:spPr>
            <a:xfrm>
              <a:off x="666750" y="4848225"/>
              <a:ext cx="2571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営業DXツール導入</a:t>
              </a:r>
            </a:p>
          </p:txBody>
        </p:sp>
        <p:sp>
          <p:nvSpPr>
            <p:cNvPr id="55" name="担当"/>
            <p:cNvSpPr/>
            <p:nvPr/>
          </p:nvSpPr>
          <p:spPr>
            <a:xfrm>
              <a:off x="666750" y="5095875"/>
              <a:ext cx="2571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担当：営業企画部</a:t>
              </a:r>
            </a:p>
          </p:txBody>
        </p:sp>
        <p:sp>
          <p:nvSpPr>
            <p:cNvPr id="56" name="バー地"/>
            <p:cNvSpPr/>
            <p:nvPr/>
          </p:nvSpPr>
          <p:spPr>
            <a:xfrm>
              <a:off x="3429000" y="4943475"/>
              <a:ext cx="3429000" cy="1333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バー実績"/>
            <p:cNvSpPr/>
            <p:nvPr/>
          </p:nvSpPr>
          <p:spPr>
            <a:xfrm>
              <a:off x="3429000" y="4943475"/>
              <a:ext cx="1714500" cy="1333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8" name="計画線"/>
            <p:cNvCxnSpPr/>
            <p:nvPr/>
          </p:nvCxnSpPr>
          <p:spPr>
            <a:xfrm>
              <a:off x="5314950" y="4867275"/>
              <a:ext cx="0" cy="285750"/>
            </a:xfrm>
            <a:prstGeom prst="bentConnector3">
              <a:avLst/>
            </a:prstGeom>
            <a:ln w="19050">
              <a:solidFill>
                <a:schemeClr val="dk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実績値"/>
            <p:cNvSpPr/>
            <p:nvPr/>
          </p:nvSpPr>
          <p:spPr>
            <a:xfrm>
              <a:off x="7096125" y="4905375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50%</a:t>
              </a:r>
            </a:p>
          </p:txBody>
        </p:sp>
        <p:sp>
          <p:nvSpPr>
            <p:cNvPr id="60" name="状況ピル"/>
            <p:cNvSpPr/>
            <p:nvPr/>
          </p:nvSpPr>
          <p:spPr>
            <a:xfrm>
              <a:off x="7762875" y="4886325"/>
              <a:ext cx="857250" cy="247650"/>
            </a:xfrm>
            <a:prstGeom prst="roundRect">
              <a:avLst>
                <a:gd name="adj" fmla="val 50000"/>
              </a:avLst>
            </a:prstGeom>
            <a:noFill/>
            <a:ln w="11906">
              <a:solidFill>
                <a:schemeClr val="dk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状況ピル文字"/>
            <p:cNvSpPr/>
            <p:nvPr/>
          </p:nvSpPr>
          <p:spPr>
            <a:xfrm>
              <a:off x="7762875" y="4895850"/>
              <a:ext cx="85725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dk2"/>
                  </a:solidFill>
                </a:rPr>
                <a:t>注意</a:t>
              </a:r>
            </a:p>
          </p:txBody>
        </p:sp>
        <p:sp>
          <p:nvSpPr>
            <p:cNvPr id="62" name="備考"/>
            <p:cNvSpPr/>
            <p:nvPr/>
          </p:nvSpPr>
          <p:spPr>
            <a:xfrm>
              <a:off x="8810625" y="4829175"/>
              <a:ext cx="2714625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現場の利用定着に遅れ。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7月に追加研修を実施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2026年6月度｜今月の課題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粗利低下の真因は価格転嫁の遅れ。改定を7月に前倒す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注：影響ptは粗利率換算。回復見込みは価格改定と調達複線化の合算（＋1.2pt）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07</a:t>
              </a:r>
            </a:p>
          </p:txBody>
        </p:sp>
      </p:grpSp>
      <p:grpSp>
        <p:nvGrpSpPr>
          <p:cNvPr id="11" name="見出し_問題"/>
          <p:cNvGrpSpPr/>
          <p:nvPr/>
        </p:nvGrpSpPr>
        <p:grpSpPr>
          <a:xfrm>
            <a:off x="666750" y="1276350"/>
            <a:ext cx="3238500" cy="4324350"/>
            <a:chOff x="666750" y="1276350"/>
            <a:chExt cx="3238500" cy="4324350"/>
          </a:xfrm>
        </p:grpSpPr>
        <p:sp>
          <p:nvSpPr>
            <p:cNvPr id="12" name="見出し帯"/>
            <p:cNvSpPr/>
            <p:nvPr/>
          </p:nvSpPr>
          <p:spPr>
            <a:xfrm>
              <a:off x="66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見出し文字"/>
            <p:cNvSpPr/>
            <p:nvPr/>
          </p:nvSpPr>
          <p:spPr>
            <a:xfrm>
              <a:off x="66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問題｜何が起きているか</a:t>
              </a:r>
            </a:p>
          </p:txBody>
        </p:sp>
        <p:sp>
          <p:nvSpPr>
            <p:cNvPr id="14" name="カード"/>
            <p:cNvSpPr/>
            <p:nvPr/>
          </p:nvSpPr>
          <p:spPr>
            <a:xfrm>
              <a:off x="66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見出し_原因"/>
          <p:cNvGrpSpPr/>
          <p:nvPr/>
        </p:nvGrpSpPr>
        <p:grpSpPr>
          <a:xfrm>
            <a:off x="4476750" y="1276350"/>
            <a:ext cx="3238500" cy="4324350"/>
            <a:chOff x="4476750" y="1276350"/>
            <a:chExt cx="3238500" cy="4324350"/>
          </a:xfrm>
        </p:grpSpPr>
        <p:sp>
          <p:nvSpPr>
            <p:cNvPr id="16" name="見出し帯"/>
            <p:cNvSpPr/>
            <p:nvPr/>
          </p:nvSpPr>
          <p:spPr>
            <a:xfrm>
              <a:off x="447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見出し文字"/>
            <p:cNvSpPr/>
            <p:nvPr/>
          </p:nvSpPr>
          <p:spPr>
            <a:xfrm>
              <a:off x="447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原因｜なぜ起きたか</a:t>
              </a:r>
            </a:p>
          </p:txBody>
        </p:sp>
        <p:sp>
          <p:nvSpPr>
            <p:cNvPr id="18" name="カード"/>
            <p:cNvSpPr/>
            <p:nvPr/>
          </p:nvSpPr>
          <p:spPr>
            <a:xfrm>
              <a:off x="447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" name="見出し_打ち"/>
          <p:cNvGrpSpPr/>
          <p:nvPr/>
        </p:nvGrpSpPr>
        <p:grpSpPr>
          <a:xfrm>
            <a:off x="8286750" y="1276350"/>
            <a:ext cx="3238500" cy="4324350"/>
            <a:chOff x="8286750" y="1276350"/>
            <a:chExt cx="3238500" cy="4324350"/>
          </a:xfrm>
        </p:grpSpPr>
        <p:sp>
          <p:nvSpPr>
            <p:cNvPr id="20" name="見出し帯"/>
            <p:cNvSpPr/>
            <p:nvPr/>
          </p:nvSpPr>
          <p:spPr>
            <a:xfrm>
              <a:off x="8286750" y="1276350"/>
              <a:ext cx="3238500" cy="361950"/>
            </a:xfrm>
            <a:prstGeom prst="roundRect">
              <a:avLst>
                <a:gd name="adj" fmla="val 10526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見出し文字"/>
            <p:cNvSpPr/>
            <p:nvPr/>
          </p:nvSpPr>
          <p:spPr>
            <a:xfrm>
              <a:off x="8286750" y="1285875"/>
              <a:ext cx="3238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打ち手｜どう対処するか</a:t>
              </a:r>
            </a:p>
          </p:txBody>
        </p:sp>
        <p:sp>
          <p:nvSpPr>
            <p:cNvPr id="22" name="カード"/>
            <p:cNvSpPr/>
            <p:nvPr/>
          </p:nvSpPr>
          <p:spPr>
            <a:xfrm>
              <a:off x="8286750" y="1771650"/>
              <a:ext cx="3238500" cy="3829050"/>
            </a:xfrm>
            <a:prstGeom prst="roundRect">
              <a:avLst>
                <a:gd name="adj" fmla="val 235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" name="接続矢印"/>
          <p:cNvGrpSpPr/>
          <p:nvPr/>
        </p:nvGrpSpPr>
        <p:grpSpPr>
          <a:xfrm>
            <a:off x="4038600" y="3505200"/>
            <a:ext cx="4019550" cy="247650"/>
            <a:chOff x="4038600" y="3505200"/>
            <a:chExt cx="4019550" cy="247650"/>
          </a:xfrm>
        </p:grpSpPr>
        <p:sp>
          <p:nvSpPr>
            <p:cNvPr id="24" name="矢印1"/>
            <p:cNvSpPr/>
            <p:nvPr/>
          </p:nvSpPr>
          <p:spPr>
            <a:xfrm rot="5400000">
              <a:off x="403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矢印2"/>
            <p:cNvSpPr/>
            <p:nvPr/>
          </p:nvSpPr>
          <p:spPr>
            <a:xfrm rot="5400000">
              <a:off x="7848600" y="3505200"/>
              <a:ext cx="209550" cy="24765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" name="問題"/>
          <p:cNvGrpSpPr/>
          <p:nvPr/>
        </p:nvGrpSpPr>
        <p:grpSpPr>
          <a:xfrm>
            <a:off x="857250" y="2038350"/>
            <a:ext cx="2857500" cy="3162300"/>
            <a:chOff x="857250" y="2038350"/>
            <a:chExt cx="2857500" cy="3162300"/>
          </a:xfrm>
        </p:grpSpPr>
        <p:sp>
          <p:nvSpPr>
            <p:cNvPr id="27" name="ラベル"/>
            <p:cNvSpPr/>
            <p:nvPr/>
          </p:nvSpPr>
          <p:spPr>
            <a:xfrm>
              <a:off x="857250" y="203835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00">
                  <a:solidFill>
                    <a:schemeClr val="accent5"/>
                  </a:solidFill>
                </a:rPr>
                <a:t>粗利率（6月実績）</a:t>
              </a:r>
            </a:p>
          </p:txBody>
        </p:sp>
        <p:sp>
          <p:nvSpPr>
            <p:cNvPr id="28" name="大数字"/>
            <p:cNvSpPr/>
            <p:nvPr/>
          </p:nvSpPr>
          <p:spPr>
            <a:xfrm>
              <a:off x="857250" y="2286000"/>
              <a:ext cx="28575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4600" b="1">
                  <a:solidFill>
                    <a:schemeClr val="dk2"/>
                  </a:solidFill>
                </a:rPr>
                <a:t>31.4%</a:t>
              </a:r>
            </a:p>
          </p:txBody>
        </p:sp>
        <p:sp>
          <p:nvSpPr>
            <p:cNvPr id="29" name="下降記号"/>
            <p:cNvSpPr/>
            <p:nvPr/>
          </p:nvSpPr>
          <p:spPr>
            <a:xfrm rot="10800000">
              <a:off x="1466850" y="3143250"/>
              <a:ext cx="123825" cy="10477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下落幅"/>
            <p:cNvSpPr/>
            <p:nvPr/>
          </p:nvSpPr>
          <p:spPr>
            <a:xfrm>
              <a:off x="1657350" y="3086100"/>
              <a:ext cx="20574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accent2"/>
                  </a:solidFill>
                </a:rPr>
                <a:t>前年同月比 ▲1.6pt</a:t>
              </a:r>
            </a:p>
          </p:txBody>
        </p:sp>
        <p:cxnSp>
          <p:nvCxnSpPr>
            <p:cNvPr id="31" name="区切り線"/>
            <p:cNvCxnSpPr/>
            <p:nvPr/>
          </p:nvCxnSpPr>
          <p:spPr>
            <a:xfrm>
              <a:off x="952500" y="3486150"/>
              <a:ext cx="2667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補足"/>
            <p:cNvSpPr/>
            <p:nvPr/>
          </p:nvSpPr>
          <p:spPr>
            <a:xfrm>
              <a:off x="952500" y="3676650"/>
              <a:ext cx="2705100" cy="1524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・計画33.0%に対しても▲1.6pt</a:t>
              </a:r>
            </a:p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・営業利益▲0.2億円に相当</a:t>
              </a:r>
            </a:p>
            <a:p>
              <a:pPr algn="l">
                <a:lnSpc>
                  <a:spcPct val="200000"/>
                </a:lnSpc>
              </a:pPr>
              <a:r>
                <a:rPr sz="1150">
                  <a:solidFill>
                    <a:schemeClr val="dk1"/>
                  </a:solidFill>
                </a:rPr>
                <a:t>・低下は4ヶ月連続で拡大傾向</a:t>
              </a:r>
            </a:p>
          </p:txBody>
        </p:sp>
      </p:grpSp>
      <p:grpSp>
        <p:nvGrpSpPr>
          <p:cNvPr id="33" name="原因"/>
          <p:cNvGrpSpPr/>
          <p:nvPr/>
        </p:nvGrpSpPr>
        <p:grpSpPr>
          <a:xfrm>
            <a:off x="4705350" y="2038350"/>
            <a:ext cx="2800350" cy="3009900"/>
            <a:chOff x="4705350" y="2038350"/>
            <a:chExt cx="2800350" cy="3009900"/>
          </a:xfrm>
        </p:grpSpPr>
        <p:sp>
          <p:nvSpPr>
            <p:cNvPr id="34" name="番号1"/>
            <p:cNvSpPr/>
            <p:nvPr/>
          </p:nvSpPr>
          <p:spPr>
            <a:xfrm>
              <a:off x="470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番号文字1"/>
            <p:cNvSpPr/>
            <p:nvPr/>
          </p:nvSpPr>
          <p:spPr>
            <a:xfrm>
              <a:off x="470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36" name="原因名1"/>
            <p:cNvSpPr/>
            <p:nvPr/>
          </p:nvSpPr>
          <p:spPr>
            <a:xfrm>
              <a:off x="5086350" y="20574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材料価格の高騰</a:t>
              </a:r>
            </a:p>
          </p:txBody>
        </p:sp>
        <p:sp>
          <p:nvSpPr>
            <p:cNvPr id="37" name="影響1"/>
            <p:cNvSpPr/>
            <p:nvPr/>
          </p:nvSpPr>
          <p:spPr>
            <a:xfrm>
              <a:off x="5086350" y="22860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影響 ▲1.0pt（外部要因）</a:t>
              </a:r>
            </a:p>
          </p:txBody>
        </p:sp>
        <p:sp>
          <p:nvSpPr>
            <p:cNvPr id="38" name="番号2"/>
            <p:cNvSpPr/>
            <p:nvPr/>
          </p:nvSpPr>
          <p:spPr>
            <a:xfrm>
              <a:off x="4705350" y="3105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番号文字2"/>
            <p:cNvSpPr/>
            <p:nvPr/>
          </p:nvSpPr>
          <p:spPr>
            <a:xfrm>
              <a:off x="4705350" y="3114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40" name="原因名2"/>
            <p:cNvSpPr/>
            <p:nvPr/>
          </p:nvSpPr>
          <p:spPr>
            <a:xfrm>
              <a:off x="5086350" y="31242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外注費単価の上昇</a:t>
              </a:r>
            </a:p>
          </p:txBody>
        </p:sp>
        <p:sp>
          <p:nvSpPr>
            <p:cNvPr id="41" name="影響2"/>
            <p:cNvSpPr/>
            <p:nvPr/>
          </p:nvSpPr>
          <p:spPr>
            <a:xfrm>
              <a:off x="5086350" y="33528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影響 ▲0.6pt（外部要因）</a:t>
              </a:r>
            </a:p>
          </p:txBody>
        </p:sp>
        <p:sp>
          <p:nvSpPr>
            <p:cNvPr id="42" name="番号3"/>
            <p:cNvSpPr/>
            <p:nvPr/>
          </p:nvSpPr>
          <p:spPr>
            <a:xfrm>
              <a:off x="4705350" y="4171950"/>
              <a:ext cx="266700" cy="2667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番号文字3"/>
            <p:cNvSpPr/>
            <p:nvPr/>
          </p:nvSpPr>
          <p:spPr>
            <a:xfrm>
              <a:off x="4705350" y="41814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4" name="原因名3"/>
            <p:cNvSpPr/>
            <p:nvPr/>
          </p:nvSpPr>
          <p:spPr>
            <a:xfrm>
              <a:off x="5086350" y="4191000"/>
              <a:ext cx="18097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価格転嫁の遅れ</a:t>
              </a:r>
            </a:p>
          </p:txBody>
        </p:sp>
        <p:sp>
          <p:nvSpPr>
            <p:cNvPr id="45" name="影響3"/>
            <p:cNvSpPr/>
            <p:nvPr/>
          </p:nvSpPr>
          <p:spPr>
            <a:xfrm>
              <a:off x="5086350" y="44196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回収 0pt（計画では＋0.9pt）</a:t>
              </a:r>
            </a:p>
          </p:txBody>
        </p:sp>
        <p:sp>
          <p:nvSpPr>
            <p:cNvPr id="46" name="真因ピル"/>
            <p:cNvSpPr/>
            <p:nvPr/>
          </p:nvSpPr>
          <p:spPr>
            <a:xfrm>
              <a:off x="6934200" y="4191000"/>
              <a:ext cx="552450" cy="20955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真因ピル文字"/>
            <p:cNvSpPr/>
            <p:nvPr/>
          </p:nvSpPr>
          <p:spPr>
            <a:xfrm>
              <a:off x="6934200" y="4200525"/>
              <a:ext cx="552450" cy="2000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00" b="1">
                  <a:solidFill>
                    <a:schemeClr val="lt1"/>
                  </a:solidFill>
                </a:rPr>
                <a:t>真因</a:t>
              </a:r>
            </a:p>
          </p:txBody>
        </p:sp>
        <p:sp>
          <p:nvSpPr>
            <p:cNvPr id="48" name="真因説明"/>
            <p:cNvSpPr/>
            <p:nvPr/>
          </p:nvSpPr>
          <p:spPr>
            <a:xfrm>
              <a:off x="5086350" y="4629150"/>
              <a:ext cx="24193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dk1"/>
                  </a:solidFill>
                </a:rPr>
                <a:t>改定が年1回のルールのため、コスト上昇を機動的に転嫁できていない</a:t>
              </a:r>
            </a:p>
          </p:txBody>
        </p:sp>
      </p:grpSp>
      <p:grpSp>
        <p:nvGrpSpPr>
          <p:cNvPr id="49" name="打ち手"/>
          <p:cNvGrpSpPr/>
          <p:nvPr/>
        </p:nvGrpSpPr>
        <p:grpSpPr>
          <a:xfrm>
            <a:off x="8477250" y="2009775"/>
            <a:ext cx="2895600" cy="3362325"/>
            <a:chOff x="8477250" y="2009775"/>
            <a:chExt cx="2895600" cy="3362325"/>
          </a:xfrm>
        </p:grpSpPr>
        <p:sp>
          <p:nvSpPr>
            <p:cNvPr id="50" name="番号1"/>
            <p:cNvSpPr/>
            <p:nvPr/>
          </p:nvSpPr>
          <p:spPr>
            <a:xfrm>
              <a:off x="8515350" y="20383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番号文字1"/>
            <p:cNvSpPr/>
            <p:nvPr/>
          </p:nvSpPr>
          <p:spPr>
            <a:xfrm>
              <a:off x="8515350" y="20478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52" name="打ち手名1"/>
            <p:cNvSpPr/>
            <p:nvPr/>
          </p:nvSpPr>
          <p:spPr>
            <a:xfrm>
              <a:off x="8896350" y="20097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価格改定を10月→7月に前倒し</a:t>
              </a:r>
            </a:p>
          </p:txBody>
        </p:sp>
        <p:sp>
          <p:nvSpPr>
            <p:cNvPr id="53" name="効果1"/>
            <p:cNvSpPr/>
            <p:nvPr/>
          </p:nvSpPr>
          <p:spPr>
            <a:xfrm>
              <a:off x="8896350" y="23622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回復 ＋0.9pt（8月から寄与）</a:t>
              </a:r>
            </a:p>
          </p:txBody>
        </p:sp>
        <p:sp>
          <p:nvSpPr>
            <p:cNvPr id="54" name="番号2"/>
            <p:cNvSpPr/>
            <p:nvPr/>
          </p:nvSpPr>
          <p:spPr>
            <a:xfrm>
              <a:off x="8515350" y="29527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番号文字2"/>
            <p:cNvSpPr/>
            <p:nvPr/>
          </p:nvSpPr>
          <p:spPr>
            <a:xfrm>
              <a:off x="8515350" y="29622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56" name="打ち手名2"/>
            <p:cNvSpPr/>
            <p:nvPr/>
          </p:nvSpPr>
          <p:spPr>
            <a:xfrm>
              <a:off x="8896350" y="29241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調達先の複線化（主要2品目）</a:t>
              </a:r>
            </a:p>
          </p:txBody>
        </p:sp>
        <p:sp>
          <p:nvSpPr>
            <p:cNvPr id="57" name="効果2"/>
            <p:cNvSpPr/>
            <p:nvPr/>
          </p:nvSpPr>
          <p:spPr>
            <a:xfrm>
              <a:off x="8896350" y="32766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回復 ＋0.3pt（9月から寄与）</a:t>
              </a:r>
            </a:p>
          </p:txBody>
        </p:sp>
        <p:sp>
          <p:nvSpPr>
            <p:cNvPr id="58" name="番号3"/>
            <p:cNvSpPr/>
            <p:nvPr/>
          </p:nvSpPr>
          <p:spPr>
            <a:xfrm>
              <a:off x="8515350" y="38671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番号文字3"/>
            <p:cNvSpPr/>
            <p:nvPr/>
          </p:nvSpPr>
          <p:spPr>
            <a:xfrm>
              <a:off x="8515350" y="3876675"/>
              <a:ext cx="2667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60" name="打ち手名3"/>
            <p:cNvSpPr/>
            <p:nvPr/>
          </p:nvSpPr>
          <p:spPr>
            <a:xfrm>
              <a:off x="8896350" y="3838575"/>
              <a:ext cx="2476500" cy="342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200" b="1">
                  <a:solidFill>
                    <a:schemeClr val="dk2"/>
                  </a:solidFill>
                </a:rPr>
                <a:t>価格改定サイクルの半期化</a:t>
              </a:r>
            </a:p>
          </p:txBody>
        </p:sp>
        <p:sp>
          <p:nvSpPr>
            <p:cNvPr id="61" name="効果3"/>
            <p:cNvSpPr/>
            <p:nvPr/>
          </p:nvSpPr>
          <p:spPr>
            <a:xfrm>
              <a:off x="8896350" y="4191000"/>
              <a:ext cx="2381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>
                  <a:solidFill>
                    <a:schemeClr val="accent5"/>
                  </a:solidFill>
                </a:rPr>
                <a:t>再発防止（社内規程を改定）</a:t>
              </a:r>
            </a:p>
          </p:txBody>
        </p:sp>
        <p:sp>
          <p:nvSpPr>
            <p:cNvPr id="62" name="結論帯"/>
            <p:cNvSpPr/>
            <p:nvPr/>
          </p:nvSpPr>
          <p:spPr>
            <a:xfrm>
              <a:off x="8477250" y="4914900"/>
              <a:ext cx="2857500" cy="4572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結論文字"/>
            <p:cNvSpPr/>
            <p:nvPr/>
          </p:nvSpPr>
          <p:spPr>
            <a:xfrm>
              <a:off x="8477250" y="4924425"/>
              <a:ext cx="2857500" cy="4381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9月までに粗利率32%台へ回復する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2026年6月度｜リスクと先行指標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先行指標は新規受注のみ警戒。3ヶ月後の売上に下振れ余地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注：新規受注は約3ヶ月後の売上に先行する。警戒基準は過去24ヶ月の変動幅から設定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出所：営業管理システム（2026年6月末時点）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08</a:t>
              </a:r>
            </a:p>
          </p:txBody>
        </p:sp>
      </p:grpSp>
      <p:grpSp>
        <p:nvGrpSpPr>
          <p:cNvPr id="11" name="図表タイトル"/>
          <p:cNvGrpSpPr/>
          <p:nvPr/>
        </p:nvGrpSpPr>
        <p:grpSpPr>
          <a:xfrm>
            <a:off x="666750" y="1219200"/>
            <a:ext cx="7372350" cy="171450"/>
            <a:chOff x="666750" y="1219200"/>
            <a:chExt cx="7372350" cy="171450"/>
          </a:xfrm>
        </p:grpSpPr>
        <p:sp>
          <p:nvSpPr>
            <p:cNvPr id="12" name="マーカー"/>
            <p:cNvSpPr/>
            <p:nvPr/>
          </p:nvSpPr>
          <p:spPr>
            <a:xfrm>
              <a:off x="666750" y="1238250"/>
              <a:ext cx="47625" cy="1428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図表タイトル"/>
            <p:cNvSpPr/>
            <p:nvPr/>
          </p:nvSpPr>
          <p:spPr>
            <a:xfrm>
              <a:off x="800100" y="1219200"/>
              <a:ext cx="723900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250" b="1">
                  <a:solidFill>
                    <a:schemeClr val="dk2"/>
                  </a:solidFill>
                </a:rPr>
                <a:t>先行指標の警戒サイン一覧</a:t>
              </a:r>
            </a:p>
          </p:txBody>
        </p:sp>
      </p:grpSp>
      <p:grpSp>
        <p:nvGrpSpPr>
          <p:cNvPr id="14" name="表見出し"/>
          <p:cNvGrpSpPr/>
          <p:nvPr/>
        </p:nvGrpSpPr>
        <p:grpSpPr>
          <a:xfrm>
            <a:off x="666750" y="1504950"/>
            <a:ext cx="10858500" cy="304800"/>
            <a:chOff x="666750" y="1504950"/>
            <a:chExt cx="10858500" cy="304800"/>
          </a:xfrm>
        </p:grpSpPr>
        <p:sp>
          <p:nvSpPr>
            <p:cNvPr id="15" name="見出し地"/>
            <p:cNvSpPr/>
            <p:nvPr/>
          </p:nvSpPr>
          <p:spPr>
            <a:xfrm>
              <a:off x="666750" y="1504950"/>
              <a:ext cx="10858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見出し_先行指標"/>
            <p:cNvSpPr/>
            <p:nvPr/>
          </p:nvSpPr>
          <p:spPr>
            <a:xfrm>
              <a:off x="800100" y="1514475"/>
              <a:ext cx="20002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先行指標</a:t>
              </a:r>
            </a:p>
          </p:txBody>
        </p:sp>
        <p:sp>
          <p:nvSpPr>
            <p:cNvPr id="17" name="見出し_当月の状況"/>
            <p:cNvSpPr/>
            <p:nvPr/>
          </p:nvSpPr>
          <p:spPr>
            <a:xfrm>
              <a:off x="2952750" y="1514475"/>
              <a:ext cx="2857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当月の状況</a:t>
              </a:r>
            </a:p>
          </p:txBody>
        </p:sp>
        <p:sp>
          <p:nvSpPr>
            <p:cNvPr id="18" name="見出し_警戒基準"/>
            <p:cNvSpPr/>
            <p:nvPr/>
          </p:nvSpPr>
          <p:spPr>
            <a:xfrm>
              <a:off x="6000750" y="1514475"/>
              <a:ext cx="2095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警戒基準</a:t>
              </a:r>
            </a:p>
          </p:txBody>
        </p:sp>
        <p:sp>
          <p:nvSpPr>
            <p:cNvPr id="19" name="見出し_判定"/>
            <p:cNvSpPr/>
            <p:nvPr/>
          </p:nvSpPr>
          <p:spPr>
            <a:xfrm>
              <a:off x="8286750" y="1514475"/>
              <a:ext cx="952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判定</a:t>
              </a:r>
            </a:p>
          </p:txBody>
        </p:sp>
        <p:sp>
          <p:nvSpPr>
            <p:cNvPr id="20" name="見出し_次の一手"/>
            <p:cNvSpPr/>
            <p:nvPr/>
          </p:nvSpPr>
          <p:spPr>
            <a:xfrm>
              <a:off x="9334500" y="1514475"/>
              <a:ext cx="219075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次の一手</a:t>
              </a:r>
            </a:p>
          </p:txBody>
        </p:sp>
      </p:grpSp>
      <p:grpSp>
        <p:nvGrpSpPr>
          <p:cNvPr id="21" name="指標1_新規受注件数"/>
          <p:cNvGrpSpPr/>
          <p:nvPr/>
        </p:nvGrpSpPr>
        <p:grpSpPr>
          <a:xfrm>
            <a:off x="666750" y="1809750"/>
            <a:ext cx="10858500" cy="723900"/>
            <a:chOff x="666750" y="1809750"/>
            <a:chExt cx="10858500" cy="723900"/>
          </a:xfrm>
        </p:grpSpPr>
        <p:cxnSp>
          <p:nvCxnSpPr>
            <p:cNvPr id="22" name="行区切り"/>
            <p:cNvCxnSpPr/>
            <p:nvPr/>
          </p:nvCxnSpPr>
          <p:spPr>
            <a:xfrm>
              <a:off x="666750" y="25336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指標名"/>
            <p:cNvSpPr/>
            <p:nvPr/>
          </p:nvSpPr>
          <p:spPr>
            <a:xfrm>
              <a:off x="800100" y="18097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新規受注件数</a:t>
              </a:r>
            </a:p>
          </p:txBody>
        </p:sp>
        <p:sp>
          <p:nvSpPr>
            <p:cNvPr id="24" name="当月の状況"/>
            <p:cNvSpPr/>
            <p:nvPr/>
          </p:nvSpPr>
          <p:spPr>
            <a:xfrm>
              <a:off x="2952750" y="18097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 b="1">
                  <a:solidFill>
                    <a:schemeClr val="dk1"/>
                  </a:solidFill>
                </a:rPr>
                <a:t>214件（前月比▲8%）</a:t>
              </a:r>
            </a:p>
            <a:p>
              <a:pPr algn="l">
                <a:lnSpc>
                  <a:spcPct val="150000"/>
                </a:lnSpc>
              </a:pPr>
              <a:r>
                <a:rPr sz="1050" b="1">
                  <a:solidFill>
                    <a:schemeClr val="dk1"/>
                  </a:solidFill>
                </a:rPr>
                <a:t>2ヶ月連続の減少</a:t>
              </a:r>
            </a:p>
          </p:txBody>
        </p:sp>
        <p:sp>
          <p:nvSpPr>
            <p:cNvPr id="25" name="警戒基準"/>
            <p:cNvSpPr/>
            <p:nvPr/>
          </p:nvSpPr>
          <p:spPr>
            <a:xfrm>
              <a:off x="6000750" y="18097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前月比▲5%超、また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は2ヶ月連続の減少</a:t>
              </a:r>
            </a:p>
          </p:txBody>
        </p:sp>
        <p:sp>
          <p:nvSpPr>
            <p:cNvPr id="26" name="判定ピル"/>
            <p:cNvSpPr/>
            <p:nvPr/>
          </p:nvSpPr>
          <p:spPr>
            <a:xfrm>
              <a:off x="8439150" y="20478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判定ピル文字"/>
            <p:cNvSpPr/>
            <p:nvPr/>
          </p:nvSpPr>
          <p:spPr>
            <a:xfrm>
              <a:off x="8439150" y="20574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lt1"/>
                  </a:solidFill>
                </a:rPr>
                <a:t>警戒</a:t>
              </a:r>
            </a:p>
          </p:txBody>
        </p:sp>
        <p:sp>
          <p:nvSpPr>
            <p:cNvPr id="28" name="次の一手"/>
            <p:cNvSpPr/>
            <p:nvPr/>
          </p:nvSpPr>
          <p:spPr>
            <a:xfrm>
              <a:off x="9334500" y="18097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リード獲得策を</a:t>
              </a:r>
            </a:p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7/10に開始（P.09）</a:t>
              </a:r>
            </a:p>
          </p:txBody>
        </p:sp>
      </p:grpSp>
      <p:grpSp>
        <p:nvGrpSpPr>
          <p:cNvPr id="29" name="指標2_商談パイプラ"/>
          <p:cNvGrpSpPr/>
          <p:nvPr/>
        </p:nvGrpSpPr>
        <p:grpSpPr>
          <a:xfrm>
            <a:off x="666750" y="2533650"/>
            <a:ext cx="10858500" cy="723900"/>
            <a:chOff x="666750" y="2533650"/>
            <a:chExt cx="10858500" cy="723900"/>
          </a:xfrm>
        </p:grpSpPr>
        <p:cxnSp>
          <p:nvCxnSpPr>
            <p:cNvPr id="30" name="行区切り"/>
            <p:cNvCxnSpPr/>
            <p:nvPr/>
          </p:nvCxnSpPr>
          <p:spPr>
            <a:xfrm>
              <a:off x="666750" y="32575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指標名"/>
            <p:cNvSpPr/>
            <p:nvPr/>
          </p:nvSpPr>
          <p:spPr>
            <a:xfrm>
              <a:off x="800100" y="25336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商談パイプライン</a:t>
              </a:r>
            </a:p>
          </p:txBody>
        </p:sp>
        <p:sp>
          <p:nvSpPr>
            <p:cNvPr id="32" name="当月の状況"/>
            <p:cNvSpPr/>
            <p:nvPr/>
          </p:nvSpPr>
          <p:spPr>
            <a:xfrm>
              <a:off x="2952750" y="25336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38.5億円（前月比+5%）</a:t>
              </a:r>
            </a:p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月次売上3.0ヶ月分を確保</a:t>
              </a:r>
            </a:p>
          </p:txBody>
        </p:sp>
        <p:sp>
          <p:nvSpPr>
            <p:cNvPr id="33" name="警戒基準"/>
            <p:cNvSpPr/>
            <p:nvPr/>
          </p:nvSpPr>
          <p:spPr>
            <a:xfrm>
              <a:off x="6000750" y="25336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月次売上の</a:t>
              </a:r>
            </a:p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3ヶ月分未満</a:t>
              </a:r>
            </a:p>
          </p:txBody>
        </p:sp>
        <p:sp>
          <p:nvSpPr>
            <p:cNvPr id="34" name="判定ピル"/>
            <p:cNvSpPr/>
            <p:nvPr/>
          </p:nvSpPr>
          <p:spPr>
            <a:xfrm>
              <a:off x="8439150" y="27717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判定ピル文字"/>
            <p:cNvSpPr/>
            <p:nvPr/>
          </p:nvSpPr>
          <p:spPr>
            <a:xfrm>
              <a:off x="8439150" y="27813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36" name="次の一手"/>
            <p:cNvSpPr/>
            <p:nvPr/>
          </p:nvSpPr>
          <p:spPr>
            <a:xfrm>
              <a:off x="9334500" y="25336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大型案件の育成を継続</a:t>
              </a:r>
            </a:p>
          </p:txBody>
        </p:sp>
      </p:grpSp>
      <p:grpSp>
        <p:nvGrpSpPr>
          <p:cNvPr id="37" name="指標3_平均受注単価"/>
          <p:cNvGrpSpPr/>
          <p:nvPr/>
        </p:nvGrpSpPr>
        <p:grpSpPr>
          <a:xfrm>
            <a:off x="666750" y="3257550"/>
            <a:ext cx="10858500" cy="723900"/>
            <a:chOff x="666750" y="3257550"/>
            <a:chExt cx="10858500" cy="723900"/>
          </a:xfrm>
        </p:grpSpPr>
        <p:cxnSp>
          <p:nvCxnSpPr>
            <p:cNvPr id="38" name="行区切り"/>
            <p:cNvCxnSpPr/>
            <p:nvPr/>
          </p:nvCxnSpPr>
          <p:spPr>
            <a:xfrm>
              <a:off x="666750" y="39814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指標名"/>
            <p:cNvSpPr/>
            <p:nvPr/>
          </p:nvSpPr>
          <p:spPr>
            <a:xfrm>
              <a:off x="800100" y="32575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平均受注単価</a:t>
              </a:r>
            </a:p>
          </p:txBody>
        </p:sp>
        <p:sp>
          <p:nvSpPr>
            <p:cNvPr id="40" name="当月の状況"/>
            <p:cNvSpPr/>
            <p:nvPr/>
          </p:nvSpPr>
          <p:spPr>
            <a:xfrm>
              <a:off x="2952750" y="32575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598万円（前年比+2%）</a:t>
              </a:r>
            </a:p>
          </p:txBody>
        </p:sp>
        <p:sp>
          <p:nvSpPr>
            <p:cNvPr id="41" name="警戒基準"/>
            <p:cNvSpPr/>
            <p:nvPr/>
          </p:nvSpPr>
          <p:spPr>
            <a:xfrm>
              <a:off x="6000750" y="32575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前年比▲3%超の下落</a:t>
              </a:r>
            </a:p>
          </p:txBody>
        </p:sp>
        <p:sp>
          <p:nvSpPr>
            <p:cNvPr id="42" name="判定ピル"/>
            <p:cNvSpPr/>
            <p:nvPr/>
          </p:nvSpPr>
          <p:spPr>
            <a:xfrm>
              <a:off x="8439150" y="34956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判定ピル文字"/>
            <p:cNvSpPr/>
            <p:nvPr/>
          </p:nvSpPr>
          <p:spPr>
            <a:xfrm>
              <a:off x="8439150" y="35052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44" name="次の一手"/>
            <p:cNvSpPr/>
            <p:nvPr/>
          </p:nvSpPr>
          <p:spPr>
            <a:xfrm>
              <a:off x="9334500" y="32575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値引き承認ルールを維持</a:t>
              </a:r>
            </a:p>
          </p:txBody>
        </p:sp>
      </p:grpSp>
      <p:grpSp>
        <p:nvGrpSpPr>
          <p:cNvPr id="45" name="指標4_主要顧客の解"/>
          <p:cNvGrpSpPr/>
          <p:nvPr/>
        </p:nvGrpSpPr>
        <p:grpSpPr>
          <a:xfrm>
            <a:off x="666750" y="3981450"/>
            <a:ext cx="10858500" cy="723900"/>
            <a:chOff x="666750" y="3981450"/>
            <a:chExt cx="10858500" cy="723900"/>
          </a:xfrm>
        </p:grpSpPr>
        <p:cxnSp>
          <p:nvCxnSpPr>
            <p:cNvPr id="46" name="行区切り"/>
            <p:cNvCxnSpPr/>
            <p:nvPr/>
          </p:nvCxnSpPr>
          <p:spPr>
            <a:xfrm>
              <a:off x="666750" y="470535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指標名"/>
            <p:cNvSpPr/>
            <p:nvPr/>
          </p:nvSpPr>
          <p:spPr>
            <a:xfrm>
              <a:off x="800100" y="3981450"/>
              <a:ext cx="20002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主要顧客の解約兆候</a:t>
              </a:r>
            </a:p>
          </p:txBody>
        </p:sp>
        <p:sp>
          <p:nvSpPr>
            <p:cNvPr id="48" name="当月の状況"/>
            <p:cNvSpPr/>
            <p:nvPr/>
          </p:nvSpPr>
          <p:spPr>
            <a:xfrm>
              <a:off x="2952750" y="3981450"/>
              <a:ext cx="2857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50">
                  <a:solidFill>
                    <a:schemeClr val="dk1"/>
                  </a:solidFill>
                </a:rPr>
                <a:t>該当なし（32社を監視）</a:t>
              </a:r>
            </a:p>
          </p:txBody>
        </p:sp>
        <p:sp>
          <p:nvSpPr>
            <p:cNvPr id="49" name="警戒基準"/>
            <p:cNvSpPr/>
            <p:nvPr/>
          </p:nvSpPr>
          <p:spPr>
            <a:xfrm>
              <a:off x="6000750" y="3981450"/>
              <a:ext cx="209550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950">
                  <a:solidFill>
                    <a:schemeClr val="accent5"/>
                  </a:solidFill>
                </a:rPr>
                <a:t>1社以上の発生</a:t>
              </a:r>
            </a:p>
          </p:txBody>
        </p:sp>
        <p:sp>
          <p:nvSpPr>
            <p:cNvPr id="50" name="判定ピル"/>
            <p:cNvSpPr/>
            <p:nvPr/>
          </p:nvSpPr>
          <p:spPr>
            <a:xfrm>
              <a:off x="8439150" y="4219575"/>
              <a:ext cx="6477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判定ピル文字"/>
            <p:cNvSpPr/>
            <p:nvPr/>
          </p:nvSpPr>
          <p:spPr>
            <a:xfrm>
              <a:off x="8439150" y="4229100"/>
              <a:ext cx="6477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 b="1">
                  <a:solidFill>
                    <a:schemeClr val="accent1"/>
                  </a:solidFill>
                </a:rPr>
                <a:t>正常</a:t>
              </a:r>
            </a:p>
          </p:txBody>
        </p:sp>
        <p:sp>
          <p:nvSpPr>
            <p:cNvPr id="52" name="次の一手"/>
            <p:cNvSpPr/>
            <p:nvPr/>
          </p:nvSpPr>
          <p:spPr>
            <a:xfrm>
              <a:off x="9334500" y="3981450"/>
              <a:ext cx="2190750" cy="7239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四半期レビューで監視</a:t>
              </a:r>
            </a:p>
          </p:txBody>
        </p:sp>
      </p:grpSp>
      <p:grpSp>
        <p:nvGrpSpPr>
          <p:cNvPr id="53" name="受注推移"/>
          <p:cNvGrpSpPr/>
          <p:nvPr/>
        </p:nvGrpSpPr>
        <p:grpSpPr>
          <a:xfrm>
            <a:off x="666750" y="4914900"/>
            <a:ext cx="10191750" cy="781050"/>
            <a:chOff x="666750" y="4914900"/>
            <a:chExt cx="10191750" cy="781050"/>
          </a:xfrm>
        </p:grpSpPr>
        <p:sp>
          <p:nvSpPr>
            <p:cNvPr id="54" name="ラベル"/>
            <p:cNvSpPr/>
            <p:nvPr/>
          </p:nvSpPr>
          <p:spPr>
            <a:xfrm>
              <a:off x="666750" y="4914900"/>
              <a:ext cx="3048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新規受注件数の推移（'26/1〜6月・件）</a:t>
              </a:r>
            </a:p>
          </p:txBody>
        </p:sp>
        <p:sp>
          <p:nvSpPr>
            <p:cNvPr id="55" name="折れ線"/>
            <p:cNvSpPr/>
            <p:nvPr/>
          </p:nvSpPr>
          <p:spPr>
            <a:xfrm>
              <a:off x="666750" y="5143500"/>
              <a:ext cx="2476500" cy="533400"/>
            </a:xfrm>
            <a:custGeom>
              <a:avLst/>
              <a:gdLst/>
              <a:ahLst/>
              <a:cxnLst/>
              <a:rect l="0" t="0" r="2476500" b="533400"/>
              <a:pathLst>
                <a:path w="2476500" h="533400" fill="none">
                  <a:moveTo>
                    <a:pt x="0" y="191303"/>
                  </a:moveTo>
                  <a:lnTo>
                    <a:pt x="495300" y="93272"/>
                  </a:lnTo>
                  <a:lnTo>
                    <a:pt x="990600" y="142288"/>
                  </a:lnTo>
                  <a:lnTo>
                    <a:pt x="1485900" y="32004"/>
                  </a:lnTo>
                  <a:lnTo>
                    <a:pt x="1981200" y="252572"/>
                  </a:lnTo>
                  <a:lnTo>
                    <a:pt x="2476500" y="485393"/>
                  </a:lnTo>
                </a:path>
              </a:pathLst>
            </a:custGeom>
            <a:noFill/>
            <a:ln w="19050" cap="rnd">
              <a:solidFill>
                <a:schemeClr val="accent1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終点ドット"/>
            <p:cNvSpPr/>
            <p:nvPr/>
          </p:nvSpPr>
          <p:spPr>
            <a:xfrm>
              <a:off x="3105150" y="5590794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最新値"/>
            <p:cNvSpPr/>
            <p:nvPr/>
          </p:nvSpPr>
          <p:spPr>
            <a:xfrm>
              <a:off x="3257550" y="5505450"/>
              <a:ext cx="5715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214</a:t>
              </a:r>
            </a:p>
          </p:txBody>
        </p:sp>
        <p:sp>
          <p:nvSpPr>
            <p:cNvPr id="58" name="最新月"/>
            <p:cNvSpPr/>
            <p:nvPr/>
          </p:nvSpPr>
          <p:spPr>
            <a:xfrm>
              <a:off x="3810000" y="5543550"/>
              <a:ext cx="571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6月</a:t>
              </a:r>
            </a:p>
          </p:txBody>
        </p:sp>
        <p:sp>
          <p:nvSpPr>
            <p:cNvPr id="59" name="読み筋"/>
            <p:cNvSpPr/>
            <p:nvPr/>
          </p:nvSpPr>
          <p:spPr>
            <a:xfrm>
              <a:off x="4953000" y="5143500"/>
              <a:ext cx="5905500" cy="533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受注は4月をピークに2ヶ月連続で減少。7月中に反転しない場合、</a:t>
              </a:r>
            </a:p>
            <a:p>
              <a:pPr algn="l">
                <a:lnSpc>
                  <a:spcPct val="160000"/>
                </a:lnSpc>
              </a:pPr>
              <a:r>
                <a:rPr sz="1050">
                  <a:solidFill>
                    <a:schemeClr val="dk1"/>
                  </a:solidFill>
                </a:rPr>
                <a:t>Q3売上の下方修正が必要になる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2026年6月度｜来月の重点アクション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7月は粗利回復と受注反転へ、4アクションを期日つきで実行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注：期待効果は粗利率・受注件数への寄与見込み。優先度順に記載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出所：経営企画部とりまとめ（2026年7月3日時点）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09</a:t>
              </a:r>
            </a:p>
          </p:txBody>
        </p:sp>
      </p:grpSp>
      <p:grpSp>
        <p:nvGrpSpPr>
          <p:cNvPr id="11" name="列見出し"/>
          <p:cNvGrpSpPr/>
          <p:nvPr/>
        </p:nvGrpSpPr>
        <p:grpSpPr>
          <a:xfrm>
            <a:off x="666750" y="1409700"/>
            <a:ext cx="10858500" cy="133350"/>
            <a:chOff x="666750" y="1409700"/>
            <a:chExt cx="10858500" cy="133350"/>
          </a:xfrm>
        </p:grpSpPr>
        <p:sp>
          <p:nvSpPr>
            <p:cNvPr id="12" name="列_優先"/>
            <p:cNvSpPr/>
            <p:nvPr/>
          </p:nvSpPr>
          <p:spPr>
            <a:xfrm>
              <a:off x="666750" y="1409700"/>
              <a:ext cx="5715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優先</a:t>
              </a:r>
            </a:p>
          </p:txBody>
        </p:sp>
        <p:sp>
          <p:nvSpPr>
            <p:cNvPr id="13" name="列_アクション"/>
            <p:cNvSpPr/>
            <p:nvPr/>
          </p:nvSpPr>
          <p:spPr>
            <a:xfrm>
              <a:off x="1428750" y="1409700"/>
              <a:ext cx="4953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アクション</a:t>
              </a:r>
            </a:p>
          </p:txBody>
        </p:sp>
        <p:sp>
          <p:nvSpPr>
            <p:cNvPr id="14" name="列_担当"/>
            <p:cNvSpPr/>
            <p:nvPr/>
          </p:nvSpPr>
          <p:spPr>
            <a:xfrm>
              <a:off x="6667500" y="1409700"/>
              <a:ext cx="1524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担当</a:t>
              </a:r>
            </a:p>
          </p:txBody>
        </p:sp>
        <p:sp>
          <p:nvSpPr>
            <p:cNvPr id="15" name="列_期日"/>
            <p:cNvSpPr/>
            <p:nvPr/>
          </p:nvSpPr>
          <p:spPr>
            <a:xfrm>
              <a:off x="8382000" y="1409700"/>
              <a:ext cx="8001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期日</a:t>
              </a:r>
            </a:p>
          </p:txBody>
        </p:sp>
        <p:sp>
          <p:nvSpPr>
            <p:cNvPr id="16" name="列_効果"/>
            <p:cNvSpPr/>
            <p:nvPr/>
          </p:nvSpPr>
          <p:spPr>
            <a:xfrm>
              <a:off x="9525000" y="1409700"/>
              <a:ext cx="20002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期待効果</a:t>
              </a:r>
            </a:p>
          </p:txBody>
        </p:sp>
      </p:grpSp>
      <p:grpSp>
        <p:nvGrpSpPr>
          <p:cNvPr id="17" name="アクション1"/>
          <p:cNvGrpSpPr/>
          <p:nvPr/>
        </p:nvGrpSpPr>
        <p:grpSpPr>
          <a:xfrm>
            <a:off x="704850" y="1771650"/>
            <a:ext cx="10820400" cy="438150"/>
            <a:chOff x="704850" y="1771650"/>
            <a:chExt cx="10820400" cy="438150"/>
          </a:xfrm>
        </p:grpSpPr>
        <p:sp>
          <p:nvSpPr>
            <p:cNvPr id="18" name="優先度"/>
            <p:cNvSpPr/>
            <p:nvPr/>
          </p:nvSpPr>
          <p:spPr>
            <a:xfrm>
              <a:off x="704850" y="1828800"/>
              <a:ext cx="381000" cy="381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優先度番号"/>
            <p:cNvSpPr/>
            <p:nvPr/>
          </p:nvSpPr>
          <p:spPr>
            <a:xfrm>
              <a:off x="704850" y="183832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20" name="アクション名"/>
            <p:cNvSpPr/>
            <p:nvPr/>
          </p:nvSpPr>
          <p:spPr>
            <a:xfrm>
              <a:off x="1428750" y="1790700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価格改定の顧客交渉（上位30社から順次）</a:t>
              </a:r>
            </a:p>
          </p:txBody>
        </p:sp>
        <p:sp>
          <p:nvSpPr>
            <p:cNvPr id="21" name="詳細"/>
            <p:cNvSpPr/>
            <p:nvPr/>
          </p:nvSpPr>
          <p:spPr>
            <a:xfrm>
              <a:off x="1428750" y="2057400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改定率は平均＋3%。説明資料は準備済み</a:t>
              </a:r>
            </a:p>
          </p:txBody>
        </p:sp>
        <p:sp>
          <p:nvSpPr>
            <p:cNvPr id="22" name="担当"/>
            <p:cNvSpPr/>
            <p:nvPr/>
          </p:nvSpPr>
          <p:spPr>
            <a:xfrm>
              <a:off x="6667500" y="1790700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営業本部長</a:t>
              </a:r>
            </a:p>
          </p:txBody>
        </p:sp>
        <p:sp>
          <p:nvSpPr>
            <p:cNvPr id="23" name="期日チップ"/>
            <p:cNvSpPr/>
            <p:nvPr/>
          </p:nvSpPr>
          <p:spPr>
            <a:xfrm>
              <a:off x="8382000" y="1866900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期日"/>
            <p:cNvSpPr/>
            <p:nvPr/>
          </p:nvSpPr>
          <p:spPr>
            <a:xfrm>
              <a:off x="8382000" y="187642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7/15</a:t>
              </a:r>
            </a:p>
          </p:txBody>
        </p:sp>
        <p:sp>
          <p:nvSpPr>
            <p:cNvPr id="25" name="効果"/>
            <p:cNvSpPr/>
            <p:nvPr/>
          </p:nvSpPr>
          <p:spPr>
            <a:xfrm>
              <a:off x="9525000" y="1771650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粗利率 ＋0.9pt</a:t>
              </a:r>
            </a:p>
          </p:txBody>
        </p:sp>
        <p:sp>
          <p:nvSpPr>
            <p:cNvPr id="26" name="効果補足"/>
            <p:cNvSpPr/>
            <p:nvPr/>
          </p:nvSpPr>
          <p:spPr>
            <a:xfrm>
              <a:off x="9525000" y="201930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8月度から寄与</a:t>
              </a:r>
            </a:p>
          </p:txBody>
        </p:sp>
      </p:grpSp>
      <p:grpSp>
        <p:nvGrpSpPr>
          <p:cNvPr id="27" name="アクション2"/>
          <p:cNvGrpSpPr/>
          <p:nvPr/>
        </p:nvGrpSpPr>
        <p:grpSpPr>
          <a:xfrm>
            <a:off x="666750" y="2600325"/>
            <a:ext cx="10858500" cy="628650"/>
            <a:chOff x="666750" y="2600325"/>
            <a:chExt cx="10858500" cy="628650"/>
          </a:xfrm>
        </p:grpSpPr>
        <p:cxnSp>
          <p:nvCxnSpPr>
            <p:cNvPr id="28" name="行区切り"/>
            <p:cNvCxnSpPr/>
            <p:nvPr/>
          </p:nvCxnSpPr>
          <p:spPr>
            <a:xfrm>
              <a:off x="666750" y="260032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優先度"/>
            <p:cNvSpPr/>
            <p:nvPr/>
          </p:nvSpPr>
          <p:spPr>
            <a:xfrm>
              <a:off x="704850" y="2847975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優先度番号"/>
            <p:cNvSpPr/>
            <p:nvPr/>
          </p:nvSpPr>
          <p:spPr>
            <a:xfrm>
              <a:off x="704850" y="2857500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31" name="アクション名"/>
            <p:cNvSpPr/>
            <p:nvPr/>
          </p:nvSpPr>
          <p:spPr>
            <a:xfrm>
              <a:off x="1428750" y="2809875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調達先の複線化（主要2品目の契約締結)</a:t>
              </a:r>
            </a:p>
          </p:txBody>
        </p:sp>
        <p:sp>
          <p:nvSpPr>
            <p:cNvPr id="32" name="詳細"/>
            <p:cNvSpPr/>
            <p:nvPr/>
          </p:nvSpPr>
          <p:spPr>
            <a:xfrm>
              <a:off x="1428750" y="3076575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単価▲4%の見積を取得済み</a:t>
              </a:r>
            </a:p>
          </p:txBody>
        </p:sp>
        <p:sp>
          <p:nvSpPr>
            <p:cNvPr id="33" name="担当"/>
            <p:cNvSpPr/>
            <p:nvPr/>
          </p:nvSpPr>
          <p:spPr>
            <a:xfrm>
              <a:off x="6667500" y="2809875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購買部長</a:t>
              </a:r>
            </a:p>
          </p:txBody>
        </p:sp>
        <p:sp>
          <p:nvSpPr>
            <p:cNvPr id="34" name="期日チップ"/>
            <p:cNvSpPr/>
            <p:nvPr/>
          </p:nvSpPr>
          <p:spPr>
            <a:xfrm>
              <a:off x="8382000" y="2886075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期日"/>
            <p:cNvSpPr/>
            <p:nvPr/>
          </p:nvSpPr>
          <p:spPr>
            <a:xfrm>
              <a:off x="8382000" y="2895600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7/31</a:t>
              </a:r>
            </a:p>
          </p:txBody>
        </p:sp>
        <p:sp>
          <p:nvSpPr>
            <p:cNvPr id="36" name="効果"/>
            <p:cNvSpPr/>
            <p:nvPr/>
          </p:nvSpPr>
          <p:spPr>
            <a:xfrm>
              <a:off x="9525000" y="2790825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粗利率 ＋0.3pt</a:t>
              </a:r>
            </a:p>
          </p:txBody>
        </p:sp>
        <p:sp>
          <p:nvSpPr>
            <p:cNvPr id="37" name="効果補足"/>
            <p:cNvSpPr/>
            <p:nvPr/>
          </p:nvSpPr>
          <p:spPr>
            <a:xfrm>
              <a:off x="9525000" y="3038475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9月度から寄与</a:t>
              </a:r>
            </a:p>
          </p:txBody>
        </p:sp>
      </p:grpSp>
      <p:grpSp>
        <p:nvGrpSpPr>
          <p:cNvPr id="38" name="アクション3"/>
          <p:cNvGrpSpPr/>
          <p:nvPr/>
        </p:nvGrpSpPr>
        <p:grpSpPr>
          <a:xfrm>
            <a:off x="666750" y="3619500"/>
            <a:ext cx="10858500" cy="628650"/>
            <a:chOff x="666750" y="3619500"/>
            <a:chExt cx="10858500" cy="628650"/>
          </a:xfrm>
        </p:grpSpPr>
        <p:cxnSp>
          <p:nvCxnSpPr>
            <p:cNvPr id="39" name="行区切り"/>
            <p:cNvCxnSpPr/>
            <p:nvPr/>
          </p:nvCxnSpPr>
          <p:spPr>
            <a:xfrm>
              <a:off x="666750" y="36195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優先度"/>
            <p:cNvSpPr/>
            <p:nvPr/>
          </p:nvSpPr>
          <p:spPr>
            <a:xfrm>
              <a:off x="704850" y="386715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優先度番号"/>
            <p:cNvSpPr/>
            <p:nvPr/>
          </p:nvSpPr>
          <p:spPr>
            <a:xfrm>
              <a:off x="704850" y="3876675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42" name="アクション名"/>
            <p:cNvSpPr/>
            <p:nvPr/>
          </p:nvSpPr>
          <p:spPr>
            <a:xfrm>
              <a:off x="1428750" y="3829050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新規リード獲得キャンペーンの開始</a:t>
              </a:r>
            </a:p>
          </p:txBody>
        </p:sp>
        <p:sp>
          <p:nvSpPr>
            <p:cNvPr id="43" name="詳細"/>
            <p:cNvSpPr/>
            <p:nvPr/>
          </p:nvSpPr>
          <p:spPr>
            <a:xfrm>
              <a:off x="1428750" y="4095750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展示会と連動したデジタル施策</a:t>
              </a:r>
            </a:p>
          </p:txBody>
        </p:sp>
        <p:sp>
          <p:nvSpPr>
            <p:cNvPr id="44" name="担当"/>
            <p:cNvSpPr/>
            <p:nvPr/>
          </p:nvSpPr>
          <p:spPr>
            <a:xfrm>
              <a:off x="6667500" y="3829050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マーケティング部長</a:t>
              </a:r>
            </a:p>
          </p:txBody>
        </p:sp>
        <p:sp>
          <p:nvSpPr>
            <p:cNvPr id="45" name="期日チップ"/>
            <p:cNvSpPr/>
            <p:nvPr/>
          </p:nvSpPr>
          <p:spPr>
            <a:xfrm>
              <a:off x="8382000" y="3905250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期日"/>
            <p:cNvSpPr/>
            <p:nvPr/>
          </p:nvSpPr>
          <p:spPr>
            <a:xfrm>
              <a:off x="8382000" y="3914775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7/10</a:t>
              </a:r>
            </a:p>
          </p:txBody>
        </p:sp>
        <p:sp>
          <p:nvSpPr>
            <p:cNvPr id="47" name="効果"/>
            <p:cNvSpPr/>
            <p:nvPr/>
          </p:nvSpPr>
          <p:spPr>
            <a:xfrm>
              <a:off x="9525000" y="3810000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受注 前月比プラス</a:t>
              </a:r>
            </a:p>
          </p:txBody>
        </p:sp>
        <p:sp>
          <p:nvSpPr>
            <p:cNvPr id="48" name="効果補足"/>
            <p:cNvSpPr/>
            <p:nvPr/>
          </p:nvSpPr>
          <p:spPr>
            <a:xfrm>
              <a:off x="9525000" y="4057650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7月末に効果検証</a:t>
              </a:r>
            </a:p>
          </p:txBody>
        </p:sp>
      </p:grpSp>
      <p:grpSp>
        <p:nvGrpSpPr>
          <p:cNvPr id="49" name="アクション4"/>
          <p:cNvGrpSpPr/>
          <p:nvPr/>
        </p:nvGrpSpPr>
        <p:grpSpPr>
          <a:xfrm>
            <a:off x="666750" y="4638675"/>
            <a:ext cx="10858500" cy="628650"/>
            <a:chOff x="666750" y="4638675"/>
            <a:chExt cx="10858500" cy="628650"/>
          </a:xfrm>
        </p:grpSpPr>
        <p:cxnSp>
          <p:nvCxnSpPr>
            <p:cNvPr id="50" name="行区切り"/>
            <p:cNvCxnSpPr/>
            <p:nvPr/>
          </p:nvCxnSpPr>
          <p:spPr>
            <a:xfrm>
              <a:off x="666750" y="4638675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優先度"/>
            <p:cNvSpPr/>
            <p:nvPr/>
          </p:nvSpPr>
          <p:spPr>
            <a:xfrm>
              <a:off x="704850" y="4886325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優先度番号"/>
            <p:cNvSpPr/>
            <p:nvPr/>
          </p:nvSpPr>
          <p:spPr>
            <a:xfrm>
              <a:off x="704850" y="4895850"/>
              <a:ext cx="381000" cy="3619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500" b="1">
                  <a:solidFill>
                    <a:schemeClr val="lt1"/>
                  </a:solidFill>
                </a:rPr>
                <a:t>4</a:t>
              </a:r>
            </a:p>
          </p:txBody>
        </p:sp>
        <p:sp>
          <p:nvSpPr>
            <p:cNvPr id="53" name="アクション名"/>
            <p:cNvSpPr/>
            <p:nvPr/>
          </p:nvSpPr>
          <p:spPr>
            <a:xfrm>
              <a:off x="1428750" y="4848225"/>
              <a:ext cx="504825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 b="1">
                  <a:solidFill>
                    <a:schemeClr val="dk2"/>
                  </a:solidFill>
                </a:rPr>
                <a:t>原価低減PJの体制増強（2名増員）</a:t>
              </a:r>
            </a:p>
          </p:txBody>
        </p:sp>
        <p:sp>
          <p:nvSpPr>
            <p:cNvPr id="54" name="詳細"/>
            <p:cNvSpPr/>
            <p:nvPr/>
          </p:nvSpPr>
          <p:spPr>
            <a:xfrm>
              <a:off x="1428750" y="5114925"/>
              <a:ext cx="5048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P.10の承認後、即日発令</a:t>
              </a:r>
            </a:p>
          </p:txBody>
        </p:sp>
        <p:sp>
          <p:nvSpPr>
            <p:cNvPr id="55" name="担当"/>
            <p:cNvSpPr/>
            <p:nvPr/>
          </p:nvSpPr>
          <p:spPr>
            <a:xfrm>
              <a:off x="6667500" y="4848225"/>
              <a:ext cx="1619250" cy="4191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00">
                  <a:solidFill>
                    <a:schemeClr val="dk1"/>
                  </a:solidFill>
                </a:rPr>
                <a:t>経営企画部長</a:t>
              </a:r>
            </a:p>
          </p:txBody>
        </p:sp>
        <p:sp>
          <p:nvSpPr>
            <p:cNvPr id="56" name="期日チップ"/>
            <p:cNvSpPr/>
            <p:nvPr/>
          </p:nvSpPr>
          <p:spPr>
            <a:xfrm>
              <a:off x="8382000" y="4924425"/>
              <a:ext cx="800100" cy="285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期日"/>
            <p:cNvSpPr/>
            <p:nvPr/>
          </p:nvSpPr>
          <p:spPr>
            <a:xfrm>
              <a:off x="8382000" y="4933950"/>
              <a:ext cx="800100" cy="2667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200" b="1">
                  <a:solidFill>
                    <a:schemeClr val="dk2"/>
                  </a:solidFill>
                </a:rPr>
                <a:t>7/8</a:t>
              </a:r>
            </a:p>
          </p:txBody>
        </p:sp>
        <p:sp>
          <p:nvSpPr>
            <p:cNvPr id="58" name="効果"/>
            <p:cNvSpPr/>
            <p:nvPr/>
          </p:nvSpPr>
          <p:spPr>
            <a:xfrm>
              <a:off x="9525000" y="4829175"/>
              <a:ext cx="2000250" cy="1714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150" b="1">
                  <a:solidFill>
                    <a:schemeClr val="dk2"/>
                  </a:solidFill>
                </a:rPr>
                <a:t>遅延20ptの解消</a:t>
              </a:r>
            </a:p>
          </p:txBody>
        </p:sp>
        <p:sp>
          <p:nvSpPr>
            <p:cNvPr id="59" name="効果補足"/>
            <p:cNvSpPr/>
            <p:nvPr/>
          </p:nvSpPr>
          <p:spPr>
            <a:xfrm>
              <a:off x="9525000" y="5076825"/>
              <a:ext cx="200025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8月末に計画へ復帰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2026年6月度｜ご相談・依頼事項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ご決定いただきたい事項は3点。最優先は価格改定の承認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注：いずれも可否（Yes／No）でご判断いただける形に論点を整理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出所：経営企画部とりまとめ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10</a:t>
              </a:r>
            </a:p>
          </p:txBody>
        </p:sp>
      </p:grpSp>
      <p:grpSp>
        <p:nvGrpSpPr>
          <p:cNvPr id="11" name="相談1"/>
          <p:cNvGrpSpPr/>
          <p:nvPr/>
        </p:nvGrpSpPr>
        <p:grpSpPr>
          <a:xfrm>
            <a:off x="666750" y="1409700"/>
            <a:ext cx="10858500" cy="1066800"/>
            <a:chOff x="666750" y="1409700"/>
            <a:chExt cx="10858500" cy="1066800"/>
          </a:xfrm>
        </p:grpSpPr>
        <p:sp>
          <p:nvSpPr>
            <p:cNvPr id="12" name="カード"/>
            <p:cNvSpPr/>
            <p:nvPr/>
          </p:nvSpPr>
          <p:spPr>
            <a:xfrm>
              <a:off x="666750" y="14097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番号タイル"/>
            <p:cNvSpPr/>
            <p:nvPr/>
          </p:nvSpPr>
          <p:spPr>
            <a:xfrm>
              <a:off x="895350" y="16383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番号"/>
            <p:cNvSpPr/>
            <p:nvPr/>
          </p:nvSpPr>
          <p:spPr>
            <a:xfrm>
              <a:off x="895350" y="16478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1</a:t>
              </a:r>
            </a:p>
          </p:txBody>
        </p:sp>
        <p:sp>
          <p:nvSpPr>
            <p:cNvPr id="15" name="お諮りする論点"/>
            <p:cNvSpPr/>
            <p:nvPr/>
          </p:nvSpPr>
          <p:spPr>
            <a:xfrm>
              <a:off x="1543050" y="16002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価格改定（平均＋3%）の7月前倒し実施を承認いただけますか</a:t>
              </a:r>
            </a:p>
          </p:txBody>
        </p:sp>
        <p:sp>
          <p:nvSpPr>
            <p:cNvPr id="16" name="背景"/>
            <p:cNvSpPr/>
            <p:nvPr/>
          </p:nvSpPr>
          <p:spPr>
            <a:xfrm>
              <a:off x="1543050" y="19050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背景：当初は10月予定。粗利率＋0.9ptの回復に必須で、主要顧客向けの説明資料は準備済み</a:t>
              </a:r>
            </a:p>
          </p:txBody>
        </p:sp>
        <p:cxnSp>
          <p:nvCxnSpPr>
            <p:cNvPr id="17" name="仕切り線"/>
            <p:cNvCxnSpPr/>
            <p:nvPr/>
          </p:nvCxnSpPr>
          <p:spPr>
            <a:xfrm>
              <a:off x="8191500" y="15811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期限ラベル"/>
            <p:cNvSpPr/>
            <p:nvPr/>
          </p:nvSpPr>
          <p:spPr>
            <a:xfrm>
              <a:off x="8458200" y="15811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19" name="期限"/>
            <p:cNvSpPr/>
            <p:nvPr/>
          </p:nvSpPr>
          <p:spPr>
            <a:xfrm>
              <a:off x="8458200" y="17526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本日</a:t>
              </a:r>
            </a:p>
          </p:txBody>
        </p:sp>
        <p:sp>
          <p:nvSpPr>
            <p:cNvPr id="20" name="効果"/>
            <p:cNvSpPr/>
            <p:nvPr/>
          </p:nvSpPr>
          <p:spPr>
            <a:xfrm>
              <a:off x="8458200" y="20955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効果：粗利率 ＋0.9pt</a:t>
              </a:r>
            </a:p>
          </p:txBody>
        </p:sp>
      </p:grpSp>
      <p:grpSp>
        <p:nvGrpSpPr>
          <p:cNvPr id="21" name="相談2"/>
          <p:cNvGrpSpPr/>
          <p:nvPr/>
        </p:nvGrpSpPr>
        <p:grpSpPr>
          <a:xfrm>
            <a:off x="666750" y="2628900"/>
            <a:ext cx="10858500" cy="1066800"/>
            <a:chOff x="666750" y="2628900"/>
            <a:chExt cx="10858500" cy="1066800"/>
          </a:xfrm>
        </p:grpSpPr>
        <p:sp>
          <p:nvSpPr>
            <p:cNvPr id="22" name="カード"/>
            <p:cNvSpPr/>
            <p:nvPr/>
          </p:nvSpPr>
          <p:spPr>
            <a:xfrm>
              <a:off x="666750" y="26289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番号タイル"/>
            <p:cNvSpPr/>
            <p:nvPr/>
          </p:nvSpPr>
          <p:spPr>
            <a:xfrm>
              <a:off x="895350" y="28575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番号"/>
            <p:cNvSpPr/>
            <p:nvPr/>
          </p:nvSpPr>
          <p:spPr>
            <a:xfrm>
              <a:off x="895350" y="28670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2</a:t>
              </a:r>
            </a:p>
          </p:txBody>
        </p:sp>
        <p:sp>
          <p:nvSpPr>
            <p:cNvPr id="25" name="お諮りする論点"/>
            <p:cNvSpPr/>
            <p:nvPr/>
          </p:nvSpPr>
          <p:spPr>
            <a:xfrm>
              <a:off x="1543050" y="28194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原価低減PJへの増員2名（管理部門から異動）を承認いただけますか</a:t>
              </a:r>
            </a:p>
          </p:txBody>
        </p:sp>
        <p:sp>
          <p:nvSpPr>
            <p:cNvPr id="26" name="背景"/>
            <p:cNvSpPr/>
            <p:nvPr/>
          </p:nvSpPr>
          <p:spPr>
            <a:xfrm>
              <a:off x="1543050" y="31242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背景：進捗20pt遅延の解消に必要。異動での対応のため、人件費の追加負担はなし</a:t>
              </a:r>
            </a:p>
          </p:txBody>
        </p:sp>
        <p:cxnSp>
          <p:nvCxnSpPr>
            <p:cNvPr id="27" name="仕切り線"/>
            <p:cNvCxnSpPr/>
            <p:nvPr/>
          </p:nvCxnSpPr>
          <p:spPr>
            <a:xfrm>
              <a:off x="8191500" y="28003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期限ラベル"/>
            <p:cNvSpPr/>
            <p:nvPr/>
          </p:nvSpPr>
          <p:spPr>
            <a:xfrm>
              <a:off x="8458200" y="28003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29" name="期限"/>
            <p:cNvSpPr/>
            <p:nvPr/>
          </p:nvSpPr>
          <p:spPr>
            <a:xfrm>
              <a:off x="8458200" y="29718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7/8</a:t>
              </a:r>
            </a:p>
          </p:txBody>
        </p:sp>
        <p:sp>
          <p:nvSpPr>
            <p:cNvPr id="30" name="効果"/>
            <p:cNvSpPr/>
            <p:nvPr/>
          </p:nvSpPr>
          <p:spPr>
            <a:xfrm>
              <a:off x="8458200" y="33147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効果：施策遅延の解消</a:t>
              </a:r>
            </a:p>
          </p:txBody>
        </p:sp>
      </p:grpSp>
      <p:grpSp>
        <p:nvGrpSpPr>
          <p:cNvPr id="31" name="相談3"/>
          <p:cNvGrpSpPr/>
          <p:nvPr/>
        </p:nvGrpSpPr>
        <p:grpSpPr>
          <a:xfrm>
            <a:off x="666750" y="3848100"/>
            <a:ext cx="10858500" cy="1066800"/>
            <a:chOff x="666750" y="3848100"/>
            <a:chExt cx="10858500" cy="1066800"/>
          </a:xfrm>
        </p:grpSpPr>
        <p:sp>
          <p:nvSpPr>
            <p:cNvPr id="32" name="カード"/>
            <p:cNvSpPr/>
            <p:nvPr/>
          </p:nvSpPr>
          <p:spPr>
            <a:xfrm>
              <a:off x="666750" y="3848100"/>
              <a:ext cx="10858500" cy="1066800"/>
            </a:xfrm>
            <a:prstGeom prst="roundRect">
              <a:avLst>
                <a:gd name="adj" fmla="val 7142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番号タイル"/>
            <p:cNvSpPr/>
            <p:nvPr/>
          </p:nvSpPr>
          <p:spPr>
            <a:xfrm>
              <a:off x="895350" y="4076700"/>
              <a:ext cx="419100" cy="419100"/>
            </a:xfrm>
            <a:prstGeom prst="roundRect">
              <a:avLst>
                <a:gd name="adj" fmla="val 13636"/>
              </a:avLst>
            </a:prstGeom>
            <a:solidFill>
              <a:schemeClr val="dk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番号"/>
            <p:cNvSpPr/>
            <p:nvPr/>
          </p:nvSpPr>
          <p:spPr>
            <a:xfrm>
              <a:off x="895350" y="4086225"/>
              <a:ext cx="419100" cy="4000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700" b="1">
                  <a:solidFill>
                    <a:schemeClr val="lt1"/>
                  </a:solidFill>
                </a:rPr>
                <a:t>3</a:t>
              </a:r>
            </a:p>
          </p:txBody>
        </p:sp>
        <p:sp>
          <p:nvSpPr>
            <p:cNvPr id="35" name="お諮りする論点"/>
            <p:cNvSpPr/>
            <p:nvPr/>
          </p:nvSpPr>
          <p:spPr>
            <a:xfrm>
              <a:off x="1543050" y="4038600"/>
              <a:ext cx="62865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販促予算300万円の前倒し執行を承認いただけますか</a:t>
              </a:r>
            </a:p>
          </p:txBody>
        </p:sp>
        <p:sp>
          <p:nvSpPr>
            <p:cNvPr id="36" name="背景"/>
            <p:cNvSpPr/>
            <p:nvPr/>
          </p:nvSpPr>
          <p:spPr>
            <a:xfrm>
              <a:off x="1543050" y="4343400"/>
              <a:ext cx="6286500" cy="3810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50000"/>
                </a:lnSpc>
              </a:pPr>
              <a:r>
                <a:rPr sz="1000">
                  <a:solidFill>
                    <a:schemeClr val="accent5"/>
                  </a:solidFill>
                </a:rPr>
                <a:t>背景：受注反転キャンペーンの原資。Q3予算内の付け替えで追加予算は不要</a:t>
              </a:r>
            </a:p>
          </p:txBody>
        </p:sp>
        <p:cxnSp>
          <p:nvCxnSpPr>
            <p:cNvPr id="37" name="仕切り線"/>
            <p:cNvCxnSpPr/>
            <p:nvPr/>
          </p:nvCxnSpPr>
          <p:spPr>
            <a:xfrm>
              <a:off x="8191500" y="4019550"/>
              <a:ext cx="0" cy="72390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期限ラベル"/>
            <p:cNvSpPr/>
            <p:nvPr/>
          </p:nvSpPr>
          <p:spPr>
            <a:xfrm>
              <a:off x="8458200" y="4019550"/>
              <a:ext cx="142875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00">
                  <a:solidFill>
                    <a:schemeClr val="accent5"/>
                  </a:solidFill>
                </a:rPr>
                <a:t>ご決定期限</a:t>
              </a:r>
            </a:p>
          </p:txBody>
        </p:sp>
        <p:sp>
          <p:nvSpPr>
            <p:cNvPr id="39" name="期限"/>
            <p:cNvSpPr/>
            <p:nvPr/>
          </p:nvSpPr>
          <p:spPr>
            <a:xfrm>
              <a:off x="8458200" y="4191000"/>
              <a:ext cx="17145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600" b="1">
                  <a:solidFill>
                    <a:schemeClr val="dk2"/>
                  </a:solidFill>
                </a:rPr>
                <a:t>7/10</a:t>
              </a:r>
            </a:p>
          </p:txBody>
        </p:sp>
        <p:sp>
          <p:nvSpPr>
            <p:cNvPr id="40" name="効果"/>
            <p:cNvSpPr/>
            <p:nvPr/>
          </p:nvSpPr>
          <p:spPr>
            <a:xfrm>
              <a:off x="8458200" y="4533900"/>
              <a:ext cx="2857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00" b="1">
                  <a:solidFill>
                    <a:schemeClr val="accent1"/>
                  </a:solidFill>
                </a:rPr>
                <a:t>効果：受注 前月比プラス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2026年6月度｜まとめ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6月は増収増益を維持。7月に粗利と受注を立て直す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419850"/>
            <a:ext cx="10858500" cy="152400"/>
            <a:chOff x="666750" y="6419850"/>
            <a:chExt cx="10858500" cy="152400"/>
          </a:xfrm>
        </p:grpSpPr>
        <p:sp>
          <p:nvSpPr>
            <p:cNvPr id="8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9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11</a:t>
              </a:r>
            </a:p>
          </p:txBody>
        </p:sp>
      </p:grpSp>
      <p:grpSp>
        <p:nvGrpSpPr>
          <p:cNvPr id="10" name="今月の総括"/>
          <p:cNvGrpSpPr/>
          <p:nvPr/>
        </p:nvGrpSpPr>
        <p:grpSpPr>
          <a:xfrm>
            <a:off x="666750" y="1181100"/>
            <a:ext cx="10858500" cy="1543050"/>
            <a:chOff x="666750" y="1181100"/>
            <a:chExt cx="10858500" cy="1543050"/>
          </a:xfrm>
        </p:grpSpPr>
        <p:sp>
          <p:nvSpPr>
            <p:cNvPr id="11" name="総括ボックス"/>
            <p:cNvSpPr/>
            <p:nvPr/>
          </p:nvSpPr>
          <p:spPr>
            <a:xfrm>
              <a:off x="666750" y="1314450"/>
              <a:ext cx="10858500" cy="1409700"/>
            </a:xfrm>
            <a:prstGeom prst="roundRect">
              <a:avLst>
                <a:gd name="adj" fmla="val 6756"/>
              </a:avLst>
            </a:prstGeom>
            <a:solidFill>
              <a:schemeClr val="dk2"/>
            </a:solidFill>
            <a:ln>
              <a:noFill/>
            </a:ln>
            <a:effectLst>
              <a:outerShdw blurRad="80000" dist="38000" dir="5400000" rotWithShape="0">
                <a:srgbClr val="063048">
                  <a:alpha val="16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ラベル帯"/>
            <p:cNvSpPr/>
            <p:nvPr/>
          </p:nvSpPr>
          <p:spPr>
            <a:xfrm>
              <a:off x="933450" y="1181100"/>
              <a:ext cx="1104900" cy="266700"/>
            </a:xfrm>
            <a:prstGeom prst="roundRect">
              <a:avLst>
                <a:gd name="adj" fmla="val 14285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ラベル帯文字"/>
            <p:cNvSpPr/>
            <p:nvPr/>
          </p:nvSpPr>
          <p:spPr>
            <a:xfrm>
              <a:off x="933450" y="1190625"/>
              <a:ext cx="11049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dk2"/>
                  </a:solidFill>
                </a:rPr>
                <a:t>今月の総括</a:t>
              </a:r>
            </a:p>
          </p:txBody>
        </p:sp>
        <p:sp>
          <p:nvSpPr>
            <p:cNvPr id="14" name="総括文"/>
            <p:cNvSpPr/>
            <p:nvPr/>
          </p:nvSpPr>
          <p:spPr>
            <a:xfrm>
              <a:off x="1085850" y="1600200"/>
              <a:ext cx="100203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lt1"/>
                  </a:solidFill>
                </a:rPr>
                <a:t>6月は増収増益を確保した。一方で、粗利率の低下と新規受注の減少という</a:t>
              </a:r>
            </a:p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lt1"/>
                  </a:solidFill>
                </a:rPr>
                <a:t>2つの火種が顕在化した</a:t>
              </a:r>
            </a:p>
          </p:txBody>
        </p:sp>
      </p:grpSp>
      <p:grpSp>
        <p:nvGrpSpPr>
          <p:cNvPr id="15" name="接続"/>
          <p:cNvGrpSpPr/>
          <p:nvPr/>
        </p:nvGrpSpPr>
        <p:grpSpPr>
          <a:xfrm>
            <a:off x="5972175" y="2857500"/>
            <a:ext cx="247650" cy="152400"/>
            <a:chOff x="5972175" y="2857500"/>
            <a:chExt cx="247650" cy="152400"/>
          </a:xfrm>
        </p:grpSpPr>
        <p:sp>
          <p:nvSpPr>
            <p:cNvPr id="16" name="下向き矢印"/>
            <p:cNvSpPr/>
            <p:nvPr/>
          </p:nvSpPr>
          <p:spPr>
            <a:xfrm rot="10800000">
              <a:off x="5972175" y="2857500"/>
              <a:ext cx="247650" cy="15240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来月の約束"/>
          <p:cNvGrpSpPr/>
          <p:nvPr/>
        </p:nvGrpSpPr>
        <p:grpSpPr>
          <a:xfrm>
            <a:off x="666750" y="3009900"/>
            <a:ext cx="10858500" cy="1543050"/>
            <a:chOff x="666750" y="3009900"/>
            <a:chExt cx="10858500" cy="1543050"/>
          </a:xfrm>
        </p:grpSpPr>
        <p:sp>
          <p:nvSpPr>
            <p:cNvPr id="18" name="約束ボックス"/>
            <p:cNvSpPr/>
            <p:nvPr/>
          </p:nvSpPr>
          <p:spPr>
            <a:xfrm>
              <a:off x="666750" y="3143250"/>
              <a:ext cx="10858500" cy="1409700"/>
            </a:xfrm>
            <a:prstGeom prst="roundRect">
              <a:avLst>
                <a:gd name="adj" fmla="val 6756"/>
              </a:avLst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ラベル帯"/>
            <p:cNvSpPr/>
            <p:nvPr/>
          </p:nvSpPr>
          <p:spPr>
            <a:xfrm>
              <a:off x="933450" y="3009900"/>
              <a:ext cx="1104900" cy="266700"/>
            </a:xfrm>
            <a:prstGeom prst="roundRect">
              <a:avLst>
                <a:gd name="adj" fmla="val 14285"/>
              </a:avLst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ラベル帯文字"/>
            <p:cNvSpPr/>
            <p:nvPr/>
          </p:nvSpPr>
          <p:spPr>
            <a:xfrm>
              <a:off x="933450" y="3019425"/>
              <a:ext cx="1104900" cy="2476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50" b="1">
                  <a:solidFill>
                    <a:schemeClr val="lt1"/>
                  </a:solidFill>
                </a:rPr>
                <a:t>来月の約束</a:t>
              </a:r>
            </a:p>
          </p:txBody>
        </p:sp>
        <p:sp>
          <p:nvSpPr>
            <p:cNvPr id="21" name="約束文"/>
            <p:cNvSpPr/>
            <p:nvPr/>
          </p:nvSpPr>
          <p:spPr>
            <a:xfrm>
              <a:off x="1085850" y="3429000"/>
              <a:ext cx="10020300" cy="952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dk2"/>
                  </a:solidFill>
                </a:rPr>
                <a:t>7月は価格改定と受注反転策をやり切り、</a:t>
              </a:r>
            </a:p>
            <a:p>
              <a:pPr algn="l">
                <a:lnSpc>
                  <a:spcPct val="160000"/>
                </a:lnSpc>
              </a:pPr>
              <a:r>
                <a:rPr sz="1650" b="1">
                  <a:solidFill>
                    <a:schemeClr val="dk2"/>
                  </a:solidFill>
                </a:rPr>
                <a:t>粗利率32%台・新規受注の前月比プラスへ回復させる</a:t>
              </a:r>
            </a:p>
          </p:txBody>
        </p:sp>
      </p:grpSp>
      <p:grpSp>
        <p:nvGrpSpPr>
          <p:cNvPr id="22" name="7月目標_売上"/>
          <p:cNvGrpSpPr/>
          <p:nvPr/>
        </p:nvGrpSpPr>
        <p:grpSpPr>
          <a:xfrm>
            <a:off x="666750" y="4876800"/>
            <a:ext cx="3467100" cy="723900"/>
            <a:chOff x="666750" y="4876800"/>
            <a:chExt cx="3467100" cy="723900"/>
          </a:xfrm>
        </p:grpSpPr>
        <p:sp>
          <p:nvSpPr>
            <p:cNvPr id="23" name="目標カード"/>
            <p:cNvSpPr/>
            <p:nvPr/>
          </p:nvSpPr>
          <p:spPr>
            <a:xfrm>
              <a:off x="6667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目標ラベル"/>
            <p:cNvSpPr/>
            <p:nvPr/>
          </p:nvSpPr>
          <p:spPr>
            <a:xfrm>
              <a:off x="8953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7月の目標｜売上</a:t>
              </a:r>
            </a:p>
          </p:txBody>
        </p:sp>
        <p:sp>
          <p:nvSpPr>
            <p:cNvPr id="25" name="目標値"/>
            <p:cNvSpPr/>
            <p:nvPr/>
          </p:nvSpPr>
          <p:spPr>
            <a:xfrm>
              <a:off x="8953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計画比100%超を維持</a:t>
              </a:r>
            </a:p>
          </p:txBody>
        </p:sp>
      </p:grpSp>
      <p:grpSp>
        <p:nvGrpSpPr>
          <p:cNvPr id="26" name="7月目標_粗利率"/>
          <p:cNvGrpSpPr/>
          <p:nvPr/>
        </p:nvGrpSpPr>
        <p:grpSpPr>
          <a:xfrm>
            <a:off x="4362450" y="4876800"/>
            <a:ext cx="3467100" cy="723900"/>
            <a:chOff x="4362450" y="4876800"/>
            <a:chExt cx="3467100" cy="723900"/>
          </a:xfrm>
        </p:grpSpPr>
        <p:sp>
          <p:nvSpPr>
            <p:cNvPr id="27" name="目標カード"/>
            <p:cNvSpPr/>
            <p:nvPr/>
          </p:nvSpPr>
          <p:spPr>
            <a:xfrm>
              <a:off x="43624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目標ラベル"/>
            <p:cNvSpPr/>
            <p:nvPr/>
          </p:nvSpPr>
          <p:spPr>
            <a:xfrm>
              <a:off x="45910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7月の目標｜粗利率</a:t>
              </a:r>
            </a:p>
          </p:txBody>
        </p:sp>
        <p:sp>
          <p:nvSpPr>
            <p:cNvPr id="29" name="目標値"/>
            <p:cNvSpPr/>
            <p:nvPr/>
          </p:nvSpPr>
          <p:spPr>
            <a:xfrm>
              <a:off x="45910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32%台へ回復</a:t>
              </a:r>
            </a:p>
          </p:txBody>
        </p:sp>
      </p:grpSp>
      <p:grpSp>
        <p:nvGrpSpPr>
          <p:cNvPr id="30" name="7月目標_新規受注"/>
          <p:cNvGrpSpPr/>
          <p:nvPr/>
        </p:nvGrpSpPr>
        <p:grpSpPr>
          <a:xfrm>
            <a:off x="8058150" y="4876800"/>
            <a:ext cx="3467100" cy="723900"/>
            <a:chOff x="8058150" y="4876800"/>
            <a:chExt cx="3467100" cy="723900"/>
          </a:xfrm>
        </p:grpSpPr>
        <p:sp>
          <p:nvSpPr>
            <p:cNvPr id="31" name="目標カード"/>
            <p:cNvSpPr/>
            <p:nvPr/>
          </p:nvSpPr>
          <p:spPr>
            <a:xfrm>
              <a:off x="8058150" y="4876800"/>
              <a:ext cx="3467100" cy="723900"/>
            </a:xfrm>
            <a:prstGeom prst="roundRect">
              <a:avLst>
                <a:gd name="adj" fmla="val 10526"/>
              </a:avLst>
            </a:prstGeom>
            <a:solidFill>
              <a:schemeClr val="lt1"/>
            </a:solidFill>
            <a:ln w="952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目標ラベル"/>
            <p:cNvSpPr/>
            <p:nvPr/>
          </p:nvSpPr>
          <p:spPr>
            <a:xfrm>
              <a:off x="8286750" y="5010150"/>
              <a:ext cx="30099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950">
                  <a:solidFill>
                    <a:schemeClr val="accent5"/>
                  </a:solidFill>
                </a:rPr>
                <a:t>7月の目標｜新規受注</a:t>
              </a:r>
            </a:p>
          </p:txBody>
        </p:sp>
        <p:sp>
          <p:nvSpPr>
            <p:cNvPr id="33" name="目標値"/>
            <p:cNvSpPr/>
            <p:nvPr/>
          </p:nvSpPr>
          <p:spPr>
            <a:xfrm>
              <a:off x="8286750" y="5200650"/>
              <a:ext cx="30099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50" b="1">
                  <a:solidFill>
                    <a:schemeClr val="dk2"/>
                  </a:solidFill>
                </a:rPr>
                <a:t>前月比プラスへ転換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ヘッダー"/>
          <p:cNvGrpSpPr/>
          <p:nvPr/>
        </p:nvGrpSpPr>
        <p:grpSpPr>
          <a:xfrm>
            <a:off x="666750" y="266700"/>
            <a:ext cx="10858500" cy="723900"/>
            <a:chOff x="666750" y="266700"/>
            <a:chExt cx="10858500" cy="723900"/>
          </a:xfrm>
        </p:grpSpPr>
        <p:sp>
          <p:nvSpPr>
            <p:cNvPr id="4" name="キッカー"/>
            <p:cNvSpPr/>
            <p:nvPr/>
          </p:nvSpPr>
          <p:spPr>
            <a:xfrm>
              <a:off x="666750" y="266700"/>
              <a:ext cx="85725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 b="1">
                  <a:solidFill>
                    <a:schemeClr val="accent5"/>
                  </a:solidFill>
                </a:rPr>
                <a:t>月次業績報告 2026年6月度｜Appendix</a:t>
              </a:r>
            </a:p>
          </p:txBody>
        </p:sp>
        <p:sp>
          <p:nvSpPr>
            <p:cNvPr id="5" name="ヘッドメッセージ"/>
            <p:cNvSpPr/>
            <p:nvPr/>
          </p:nvSpPr>
          <p:spPr>
            <a:xfrm>
              <a:off x="666750" y="495300"/>
              <a:ext cx="10858500" cy="285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900" b="1">
                  <a:solidFill>
                    <a:schemeClr val="dk2"/>
                  </a:solidFill>
                </a:rPr>
                <a:t>以降は補足データ。本編の根拠数値と定義を収載</a:t>
              </a:r>
            </a:p>
          </p:txBody>
        </p:sp>
        <p:cxnSp>
          <p:nvCxnSpPr>
            <p:cNvPr id="6" name="仕切り線"/>
            <p:cNvCxnSpPr/>
            <p:nvPr/>
          </p:nvCxnSpPr>
          <p:spPr>
            <a:xfrm>
              <a:off x="666750" y="990600"/>
              <a:ext cx="108585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フッター"/>
          <p:cNvGrpSpPr/>
          <p:nvPr/>
        </p:nvGrpSpPr>
        <p:grpSpPr>
          <a:xfrm>
            <a:off x="666750" y="6248400"/>
            <a:ext cx="10858500" cy="323850"/>
            <a:chOff x="666750" y="6248400"/>
            <a:chExt cx="10858500" cy="323850"/>
          </a:xfrm>
        </p:grpSpPr>
        <p:sp>
          <p:nvSpPr>
            <p:cNvPr id="8" name="脚注"/>
            <p:cNvSpPr/>
            <p:nvPr/>
          </p:nvSpPr>
          <p:spPr>
            <a:xfrm>
              <a:off x="666750" y="62484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注：本資料に記載の組織名・数値はすべて架空のサンプルです</a:t>
              </a:r>
            </a:p>
          </p:txBody>
        </p:sp>
        <p:sp>
          <p:nvSpPr>
            <p:cNvPr id="9" name="出所"/>
            <p:cNvSpPr/>
            <p:nvPr/>
          </p:nvSpPr>
          <p:spPr>
            <a:xfrm>
              <a:off x="666750" y="6438900"/>
              <a:ext cx="10287000" cy="1333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850">
                  <a:solidFill>
                    <a:schemeClr val="accent5"/>
                  </a:solidFill>
                </a:rPr>
                <a:t>出所：社内管理会計（2026年6月度）</a:t>
              </a:r>
            </a:p>
          </p:txBody>
        </p:sp>
        <p:sp>
          <p:nvSpPr>
            <p:cNvPr id="10" name="ページ番号"/>
            <p:cNvSpPr/>
            <p:nvPr/>
          </p:nvSpPr>
          <p:spPr>
            <a:xfrm>
              <a:off x="11106150" y="6419850"/>
              <a:ext cx="4191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r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12</a:t>
              </a:r>
            </a:p>
          </p:txBody>
        </p:sp>
      </p:grpSp>
      <p:grpSp>
        <p:nvGrpSpPr>
          <p:cNvPr id="11" name="背景装飾"/>
          <p:cNvGrpSpPr/>
          <p:nvPr/>
        </p:nvGrpSpPr>
        <p:grpSpPr>
          <a:xfrm>
            <a:off x="7810500" y="1238250"/>
            <a:ext cx="3714750" cy="2857500"/>
            <a:chOff x="7810500" y="1238250"/>
            <a:chExt cx="3714750" cy="2857500"/>
          </a:xfrm>
        </p:grpSpPr>
        <p:sp>
          <p:nvSpPr>
            <p:cNvPr id="12" name="章装飾"/>
            <p:cNvSpPr/>
            <p:nvPr/>
          </p:nvSpPr>
          <p:spPr>
            <a:xfrm>
              <a:off x="7810500" y="1238250"/>
              <a:ext cx="3714750" cy="2857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sz="20000" b="1">
                  <a:solidFill>
                    <a:schemeClr val="lt2"/>
                  </a:solidFill>
                </a:rPr>
                <a:t>A</a:t>
              </a:r>
            </a:p>
          </p:txBody>
        </p:sp>
      </p:grpSp>
      <p:grpSp>
        <p:nvGrpSpPr>
          <p:cNvPr id="13" name="章扉"/>
          <p:cNvGrpSpPr/>
          <p:nvPr/>
        </p:nvGrpSpPr>
        <p:grpSpPr>
          <a:xfrm>
            <a:off x="666750" y="1676400"/>
            <a:ext cx="6667500" cy="1104900"/>
            <a:chOff x="666750" y="1676400"/>
            <a:chExt cx="6667500" cy="1104900"/>
          </a:xfrm>
        </p:grpSpPr>
        <p:sp>
          <p:nvSpPr>
            <p:cNvPr id="14" name="章名"/>
            <p:cNvSpPr/>
            <p:nvPr/>
          </p:nvSpPr>
          <p:spPr>
            <a:xfrm>
              <a:off x="666750" y="1676400"/>
              <a:ext cx="6667500" cy="6667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4400" b="1">
                  <a:solidFill>
                    <a:schemeClr val="dk2"/>
                  </a:solidFill>
                </a:rPr>
                <a:t>Appendix</a:t>
              </a:r>
            </a:p>
          </p:txBody>
        </p:sp>
        <p:sp>
          <p:nvSpPr>
            <p:cNvPr id="15" name="章名和文"/>
            <p:cNvSpPr/>
            <p:nvPr/>
          </p:nvSpPr>
          <p:spPr>
            <a:xfrm>
              <a:off x="666750" y="2381250"/>
              <a:ext cx="3810000" cy="20955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300">
                  <a:solidFill>
                    <a:schemeClr val="accent5"/>
                  </a:solidFill>
                </a:rPr>
                <a:t>補足データ</a:t>
              </a:r>
            </a:p>
          </p:txBody>
        </p:sp>
        <p:sp>
          <p:nvSpPr>
            <p:cNvPr id="16" name="アクセント線"/>
            <p:cNvSpPr/>
            <p:nvPr/>
          </p:nvSpPr>
          <p:spPr>
            <a:xfrm>
              <a:off x="666750" y="2743200"/>
              <a:ext cx="533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目次_A-1"/>
          <p:cNvGrpSpPr/>
          <p:nvPr/>
        </p:nvGrpSpPr>
        <p:grpSpPr>
          <a:xfrm>
            <a:off x="666750" y="3352800"/>
            <a:ext cx="6858000" cy="419100"/>
            <a:chOff x="666750" y="3352800"/>
            <a:chExt cx="6858000" cy="419100"/>
          </a:xfrm>
        </p:grpSpPr>
        <p:sp>
          <p:nvSpPr>
            <p:cNvPr id="18" name="番号チップ"/>
            <p:cNvSpPr/>
            <p:nvPr/>
          </p:nvSpPr>
          <p:spPr>
            <a:xfrm>
              <a:off x="666750" y="33718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番号チップ文字"/>
            <p:cNvSpPr/>
            <p:nvPr/>
          </p:nvSpPr>
          <p:spPr>
            <a:xfrm>
              <a:off x="666750" y="33813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A-1</a:t>
              </a:r>
            </a:p>
          </p:txBody>
        </p:sp>
        <p:sp>
          <p:nvSpPr>
            <p:cNvPr id="20" name="項目名"/>
            <p:cNvSpPr/>
            <p:nvPr/>
          </p:nvSpPr>
          <p:spPr>
            <a:xfrm>
              <a:off x="1428750" y="33528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セグメント別損益明細</a:t>
              </a:r>
            </a:p>
          </p:txBody>
        </p:sp>
        <p:sp>
          <p:nvSpPr>
            <p:cNvPr id="21" name="項目説明"/>
            <p:cNvSpPr/>
            <p:nvPr/>
          </p:nvSpPr>
          <p:spPr>
            <a:xfrm>
              <a:off x="1428750" y="36195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事業別のPLと前年比較（月次・累計）</a:t>
              </a:r>
            </a:p>
          </p:txBody>
        </p:sp>
      </p:grpSp>
      <p:grpSp>
        <p:nvGrpSpPr>
          <p:cNvPr id="22" name="目次_A-2"/>
          <p:cNvGrpSpPr/>
          <p:nvPr/>
        </p:nvGrpSpPr>
        <p:grpSpPr>
          <a:xfrm>
            <a:off x="666750" y="4000500"/>
            <a:ext cx="7239000" cy="571500"/>
            <a:chOff x="666750" y="4000500"/>
            <a:chExt cx="7239000" cy="571500"/>
          </a:xfrm>
        </p:grpSpPr>
        <p:cxnSp>
          <p:nvCxnSpPr>
            <p:cNvPr id="23" name="区切り線"/>
            <p:cNvCxnSpPr/>
            <p:nvPr/>
          </p:nvCxnSpPr>
          <p:spPr>
            <a:xfrm>
              <a:off x="666750" y="4000500"/>
              <a:ext cx="723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番号チップ"/>
            <p:cNvSpPr/>
            <p:nvPr/>
          </p:nvSpPr>
          <p:spPr>
            <a:xfrm>
              <a:off x="666750" y="41719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番号チップ文字"/>
            <p:cNvSpPr/>
            <p:nvPr/>
          </p:nvSpPr>
          <p:spPr>
            <a:xfrm>
              <a:off x="666750" y="41814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A-2</a:t>
              </a:r>
            </a:p>
          </p:txBody>
        </p:sp>
        <p:sp>
          <p:nvSpPr>
            <p:cNvPr id="26" name="項目名"/>
            <p:cNvSpPr/>
            <p:nvPr/>
          </p:nvSpPr>
          <p:spPr>
            <a:xfrm>
              <a:off x="1428750" y="41529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KPI推移一覧（13ヶ月）</a:t>
              </a:r>
            </a:p>
          </p:txBody>
        </p:sp>
        <p:sp>
          <p:nvSpPr>
            <p:cNvPr id="27" name="項目説明"/>
            <p:cNvSpPr/>
            <p:nvPr/>
          </p:nvSpPr>
          <p:spPr>
            <a:xfrm>
              <a:off x="1428750" y="44196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売上・粗利率・受注件数・受注単価の月次推移</a:t>
              </a:r>
            </a:p>
          </p:txBody>
        </p:sp>
      </p:grpSp>
      <p:grpSp>
        <p:nvGrpSpPr>
          <p:cNvPr id="28" name="目次_A-3"/>
          <p:cNvGrpSpPr/>
          <p:nvPr/>
        </p:nvGrpSpPr>
        <p:grpSpPr>
          <a:xfrm>
            <a:off x="666750" y="4800600"/>
            <a:ext cx="7239000" cy="571500"/>
            <a:chOff x="666750" y="4800600"/>
            <a:chExt cx="7239000" cy="571500"/>
          </a:xfrm>
        </p:grpSpPr>
        <p:cxnSp>
          <p:nvCxnSpPr>
            <p:cNvPr id="29" name="区切り線"/>
            <p:cNvCxnSpPr/>
            <p:nvPr/>
          </p:nvCxnSpPr>
          <p:spPr>
            <a:xfrm>
              <a:off x="666750" y="4800600"/>
              <a:ext cx="7239000" cy="0"/>
            </a:xfrm>
            <a:prstGeom prst="bentConnector3">
              <a:avLst/>
            </a:prstGeom>
            <a:ln w="9525">
              <a:solidFill>
                <a:schemeClr val="accent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番号チップ"/>
            <p:cNvSpPr/>
            <p:nvPr/>
          </p:nvSpPr>
          <p:spPr>
            <a:xfrm>
              <a:off x="666750" y="4972050"/>
              <a:ext cx="533400" cy="2476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番号チップ文字"/>
            <p:cNvSpPr/>
            <p:nvPr/>
          </p:nvSpPr>
          <p:spPr>
            <a:xfrm>
              <a:off x="666750" y="4981575"/>
              <a:ext cx="533400" cy="238125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0" rIns="0" tIns="0" bIns="0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1000" b="1">
                  <a:solidFill>
                    <a:schemeClr val="dk2"/>
                  </a:solidFill>
                </a:rPr>
                <a:t>A-3</a:t>
              </a:r>
            </a:p>
          </p:txBody>
        </p:sp>
        <p:sp>
          <p:nvSpPr>
            <p:cNvPr id="32" name="項目名"/>
            <p:cNvSpPr/>
            <p:nvPr/>
          </p:nvSpPr>
          <p:spPr>
            <a:xfrm>
              <a:off x="1428750" y="4953000"/>
              <a:ext cx="3810000" cy="1905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400" b="1">
                  <a:solidFill>
                    <a:schemeClr val="dk2"/>
                  </a:solidFill>
                </a:rPr>
                <a:t>先行指標の定義</a:t>
              </a:r>
            </a:p>
          </p:txBody>
        </p:sp>
        <p:sp>
          <p:nvSpPr>
            <p:cNvPr id="33" name="項目説明"/>
            <p:cNvSpPr/>
            <p:nvPr/>
          </p:nvSpPr>
          <p:spPr>
            <a:xfrm>
              <a:off x="1428750" y="5219700"/>
              <a:ext cx="6096000" cy="152400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wrap="square" lIns="0" rIns="0" tIns="0" bIns="0">
              <a:noAutofit/>
            </a:bodyPr>
            <a:lstStyle/>
            <a:p>
              <a:pPr algn="l">
                <a:lnSpc>
                  <a:spcPct val="140000"/>
                </a:lnSpc>
              </a:pPr>
              <a:r>
                <a:rPr sz="1050">
                  <a:solidFill>
                    <a:schemeClr val="accent5"/>
                  </a:solidFill>
                </a:rPr>
                <a:t>各指標の算出方法と警戒基準の設定根拠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063048"/>
      </a:dk2>
      <a:lt2>
        <a:srgbClr val="E7F1F6"/>
      </a:lt2>
      <a:accent1>
        <a:srgbClr val="065A82"/>
      </a:accent1>
      <a:accent2>
        <a:srgbClr val="D97706"/>
      </a:accent2>
      <a:accent3>
        <a:srgbClr val="3E8DAE"/>
      </a:accent3>
      <a:accent4>
        <a:srgbClr val="B9D7E4"/>
      </a:accent4>
      <a:accent5>
        <a:srgbClr val="6B7C85"/>
      </a:accent5>
      <a:accent6>
        <a:srgbClr val="DBE6E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