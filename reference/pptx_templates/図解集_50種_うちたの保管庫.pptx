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【この合本について】noteメンバーシップ「うちたの保管庫」の会員特典。個別ファイルを1冊に結合した全部入り版です。</a:t>
            </a:r>
          </a:p>
          <a:p>
            <a:r>
              <a:t>【探し方】このスライドの収録一覧のスライド番号へ移動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381000"/>
            <a:ext cx="10972800" cy="781050"/>
            <a:chOff x="609600" y="381000"/>
            <a:chExt cx="10972800" cy="781050"/>
          </a:xfrm>
        </p:grpSpPr>
        <p:sp>
          <p:nvSpPr>
            <p:cNvPr id="4" name="タイトル"/>
            <p:cNvSpPr/>
            <p:nvPr/>
          </p:nvSpPr>
          <p:spPr>
            <a:xfrm>
              <a:off x="609600" y="381000"/>
              <a:ext cx="109728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400" b="1">
                  <a:solidFill>
                    <a:schemeClr val="dk2"/>
                  </a:solidFill>
                </a:rPr>
                <a:t>図解集 全50種｜うちたの保管庫</a:t>
              </a:r>
            </a:p>
          </p:txBody>
        </p:sp>
        <p:sp>
          <p:nvSpPr>
            <p:cNvPr id="5" name="サブ"/>
            <p:cNvSpPr/>
            <p:nvPr/>
          </p:nvSpPr>
          <p:spPr>
            <a:xfrm>
              <a:off x="609600" y="838200"/>
              <a:ext cx="109728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accent5"/>
                  </a:solidFill>
                </a:rPr>
                <a:t>テキストを打ち替えるだけで完成する図解50種の全部入り合本です（比較・変化系と量と流れ系を追加）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620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収録一覧"/>
          <p:cNvGrpSpPr/>
          <p:nvPr/>
        </p:nvGrpSpPr>
        <p:grpSpPr>
          <a:xfrm>
            <a:off x="609600" y="1314450"/>
            <a:ext cx="4762500" cy="190500"/>
            <a:chOff x="609600" y="1314450"/>
            <a:chExt cx="4762500" cy="190500"/>
          </a:xfrm>
        </p:grpSpPr>
        <p:sp>
          <p:nvSpPr>
            <p:cNvPr id="8" name="一覧見出し"/>
            <p:cNvSpPr/>
            <p:nvPr/>
          </p:nvSpPr>
          <p:spPr>
            <a:xfrm>
              <a:off x="609600" y="1314450"/>
              <a:ext cx="4762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収録一覧（スライド番号で飛べます）</a:t>
              </a:r>
            </a:p>
          </p:txBody>
        </p:sp>
      </p:grpSp>
      <p:grpSp>
        <p:nvGrpSpPr>
          <p:cNvPr id="9" name="収録01"/>
          <p:cNvGrpSpPr/>
          <p:nvPr/>
        </p:nvGrpSpPr>
        <p:grpSpPr>
          <a:xfrm>
            <a:off x="609600" y="1600200"/>
            <a:ext cx="10972800" cy="419100"/>
            <a:chOff x="609600" y="1600200"/>
            <a:chExt cx="10972800" cy="419100"/>
          </a:xfrm>
        </p:grpSpPr>
        <p:sp>
          <p:nvSpPr>
            <p:cNvPr id="10" name="行地"/>
            <p:cNvSpPr/>
            <p:nvPr/>
          </p:nvSpPr>
          <p:spPr>
            <a:xfrm>
              <a:off x="609600" y="1600200"/>
              <a:ext cx="1097280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章名"/>
            <p:cNvSpPr/>
            <p:nvPr/>
          </p:nvSpPr>
          <p:spPr>
            <a:xfrm>
              <a:off x="800100" y="1714500"/>
              <a:ext cx="4095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基本の図解（ベン図・ピラミッド・マトリクスほか）</a:t>
              </a:r>
            </a:p>
          </p:txBody>
        </p:sp>
        <p:sp>
          <p:nvSpPr>
            <p:cNvPr id="12" name="種数"/>
            <p:cNvSpPr/>
            <p:nvPr/>
          </p:nvSpPr>
          <p:spPr>
            <a:xfrm>
              <a:off x="5086350" y="1714500"/>
              <a:ext cx="2095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12種</a:t>
              </a:r>
            </a:p>
          </p:txBody>
        </p:sp>
        <p:sp>
          <p:nvSpPr>
            <p:cNvPr id="13" name="スライド番号"/>
            <p:cNvSpPr/>
            <p:nvPr/>
          </p:nvSpPr>
          <p:spPr>
            <a:xfrm>
              <a:off x="7658100" y="1714500"/>
              <a:ext cx="3733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スライド 2–5</a:t>
              </a:r>
            </a:p>
          </p:txBody>
        </p:sp>
      </p:grpSp>
      <p:grpSp>
        <p:nvGrpSpPr>
          <p:cNvPr id="14" name="収録02"/>
          <p:cNvGrpSpPr/>
          <p:nvPr/>
        </p:nvGrpSpPr>
        <p:grpSpPr>
          <a:xfrm>
            <a:off x="800100" y="2133600"/>
            <a:ext cx="10591800" cy="190500"/>
            <a:chOff x="800100" y="2133600"/>
            <a:chExt cx="10591800" cy="190500"/>
          </a:xfrm>
        </p:grpSpPr>
        <p:sp>
          <p:nvSpPr>
            <p:cNvPr id="15" name="章名"/>
            <p:cNvSpPr/>
            <p:nvPr/>
          </p:nvSpPr>
          <p:spPr>
            <a:xfrm>
              <a:off x="800100" y="2133600"/>
              <a:ext cx="4095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鉄板の図解（SWOT・3C・KPIツリー・ガントほか）</a:t>
              </a:r>
            </a:p>
          </p:txBody>
        </p:sp>
        <p:sp>
          <p:nvSpPr>
            <p:cNvPr id="16" name="種数"/>
            <p:cNvSpPr/>
            <p:nvPr/>
          </p:nvSpPr>
          <p:spPr>
            <a:xfrm>
              <a:off x="5086350" y="2133600"/>
              <a:ext cx="2095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14種</a:t>
              </a:r>
            </a:p>
          </p:txBody>
        </p:sp>
        <p:sp>
          <p:nvSpPr>
            <p:cNvPr id="17" name="スライド番号"/>
            <p:cNvSpPr/>
            <p:nvPr/>
          </p:nvSpPr>
          <p:spPr>
            <a:xfrm>
              <a:off x="7658100" y="2133600"/>
              <a:ext cx="3733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スライド 6–10</a:t>
              </a:r>
            </a:p>
          </p:txBody>
        </p:sp>
      </p:grpSp>
      <p:grpSp>
        <p:nvGrpSpPr>
          <p:cNvPr id="18" name="収録03"/>
          <p:cNvGrpSpPr/>
          <p:nvPr/>
        </p:nvGrpSpPr>
        <p:grpSpPr>
          <a:xfrm>
            <a:off x="609600" y="2438400"/>
            <a:ext cx="10972800" cy="419100"/>
            <a:chOff x="609600" y="2438400"/>
            <a:chExt cx="10972800" cy="419100"/>
          </a:xfrm>
        </p:grpSpPr>
        <p:sp>
          <p:nvSpPr>
            <p:cNvPr id="19" name="行地"/>
            <p:cNvSpPr/>
            <p:nvPr/>
          </p:nvSpPr>
          <p:spPr>
            <a:xfrm>
              <a:off x="609600" y="2438400"/>
              <a:ext cx="1097280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章名"/>
            <p:cNvSpPr/>
            <p:nvPr/>
          </p:nvSpPr>
          <p:spPr>
            <a:xfrm>
              <a:off x="800100" y="2552700"/>
              <a:ext cx="4095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比較・変化 NEW（Before/After・ボトルネック比較ほか）</a:t>
              </a:r>
            </a:p>
          </p:txBody>
        </p:sp>
        <p:sp>
          <p:nvSpPr>
            <p:cNvPr id="21" name="種数"/>
            <p:cNvSpPr/>
            <p:nvPr/>
          </p:nvSpPr>
          <p:spPr>
            <a:xfrm>
              <a:off x="5086350" y="2552700"/>
              <a:ext cx="2095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12種</a:t>
              </a:r>
            </a:p>
          </p:txBody>
        </p:sp>
        <p:sp>
          <p:nvSpPr>
            <p:cNvPr id="22" name="スライド番号"/>
            <p:cNvSpPr/>
            <p:nvPr/>
          </p:nvSpPr>
          <p:spPr>
            <a:xfrm>
              <a:off x="7658100" y="2552700"/>
              <a:ext cx="3733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スライド 11–15</a:t>
              </a:r>
            </a:p>
          </p:txBody>
        </p:sp>
      </p:grpSp>
      <p:grpSp>
        <p:nvGrpSpPr>
          <p:cNvPr id="23" name="収録04"/>
          <p:cNvGrpSpPr/>
          <p:nvPr/>
        </p:nvGrpSpPr>
        <p:grpSpPr>
          <a:xfrm>
            <a:off x="800100" y="2971800"/>
            <a:ext cx="10591800" cy="190500"/>
            <a:chOff x="800100" y="2971800"/>
            <a:chExt cx="10591800" cy="190500"/>
          </a:xfrm>
        </p:grpSpPr>
        <p:sp>
          <p:nvSpPr>
            <p:cNvPr id="24" name="章名"/>
            <p:cNvSpPr/>
            <p:nvPr/>
          </p:nvSpPr>
          <p:spPr>
            <a:xfrm>
              <a:off x="800100" y="2971800"/>
              <a:ext cx="4095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量と流れ NEW（滝＋打ち手・面積図・散布図応用ほか）</a:t>
              </a:r>
            </a:p>
          </p:txBody>
        </p:sp>
        <p:sp>
          <p:nvSpPr>
            <p:cNvPr id="25" name="種数"/>
            <p:cNvSpPr/>
            <p:nvPr/>
          </p:nvSpPr>
          <p:spPr>
            <a:xfrm>
              <a:off x="5086350" y="2971800"/>
              <a:ext cx="2095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12種</a:t>
              </a:r>
            </a:p>
          </p:txBody>
        </p:sp>
        <p:sp>
          <p:nvSpPr>
            <p:cNvPr id="26" name="スライド番号"/>
            <p:cNvSpPr/>
            <p:nvPr/>
          </p:nvSpPr>
          <p:spPr>
            <a:xfrm>
              <a:off x="7658100" y="2971800"/>
              <a:ext cx="3733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スライド 16–21</a:t>
              </a:r>
            </a:p>
          </p:txBody>
        </p:sp>
      </p:grpSp>
      <p:grpSp>
        <p:nvGrpSpPr>
          <p:cNvPr id="27" name="使い方"/>
          <p:cNvGrpSpPr/>
          <p:nvPr/>
        </p:nvGrpSpPr>
        <p:grpSpPr>
          <a:xfrm>
            <a:off x="609600" y="3429000"/>
            <a:ext cx="10972800" cy="914400"/>
            <a:chOff x="609600" y="3429000"/>
            <a:chExt cx="10972800" cy="914400"/>
          </a:xfrm>
        </p:grpSpPr>
        <p:sp>
          <p:nvSpPr>
            <p:cNvPr id="28" name="使い方カード"/>
            <p:cNvSpPr/>
            <p:nvPr/>
          </p:nvSpPr>
          <p:spPr>
            <a:xfrm>
              <a:off x="609600" y="3429000"/>
              <a:ext cx="10972800" cy="914400"/>
            </a:xfrm>
            <a:prstGeom prst="roundRect">
              <a:avLst>
                <a:gd name="adj" fmla="val 10416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使い方文"/>
            <p:cNvSpPr/>
            <p:nvPr/>
          </p:nvSpPr>
          <p:spPr>
            <a:xfrm>
              <a:off x="876300" y="3581400"/>
              <a:ext cx="104394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lt1"/>
                  </a:solidFill>
                </a:rPr>
                <a:t>使い方：①グループごとコピーして自分の資料へ　②「デザイン＞配色」でワンクリック自社色　③各スライドの発表者ノートにガイド入り</a:t>
              </a:r>
            </a:p>
          </p:txBody>
        </p:sp>
        <p:sp>
          <p:nvSpPr>
            <p:cNvPr id="30" name="使い方サブ"/>
            <p:cNvSpPr/>
            <p:nvPr/>
          </p:nvSpPr>
          <p:spPr>
            <a:xfrm>
              <a:off x="876300" y="3886200"/>
              <a:ext cx="104394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4"/>
                  </a:solidFill>
                </a:rPr>
                <a:t>迷ったら各図解のラベル「構造：比較／順序／分類…」から逆引きしてください</a:t>
              </a:r>
            </a:p>
          </p:txBody>
        </p:sp>
      </p:grpSp>
      <p:grpSp>
        <p:nvGrpSpPr>
          <p:cNvPr id="31" name="ライセンス"/>
          <p:cNvGrpSpPr/>
          <p:nvPr/>
        </p:nvGrpSpPr>
        <p:grpSpPr>
          <a:xfrm>
            <a:off x="609600" y="6172200"/>
            <a:ext cx="10972800" cy="285750"/>
            <a:chOff x="609600" y="6172200"/>
            <a:chExt cx="10972800" cy="285750"/>
          </a:xfrm>
        </p:grpSpPr>
        <p:sp>
          <p:nvSpPr>
            <p:cNvPr id="32" name="ライセンス"/>
            <p:cNvSpPr/>
            <p:nvPr/>
          </p:nvSpPr>
          <p:spPr>
            <a:xfrm>
              <a:off x="609600" y="6172200"/>
              <a:ext cx="109728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ご利用について：個人・社内利用OK／再配布・転売・自作発言はご遠慮ください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72390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パーツ図鑑｜⑥ 図解パターン — 基本4種（分類・ピラミッド・比較・順序）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配色は「デザイン＞配色」の変更に全図解が追従します</a:t>
            </a:r>
          </a:p>
        </p:txBody>
      </p:sp>
      <p:grpSp>
        <p:nvGrpSpPr>
          <p:cNvPr id="5" name="図解01_ベン図2円"/>
          <p:cNvGrpSpPr/>
          <p:nvPr/>
        </p:nvGrpSpPr>
        <p:grpSpPr>
          <a:xfrm>
            <a:off x="733425" y="1390650"/>
            <a:ext cx="1981200" cy="1238250"/>
            <a:chOff x="733425" y="1390650"/>
            <a:chExt cx="1981200" cy="1238250"/>
          </a:xfrm>
        </p:grpSpPr>
        <p:sp>
          <p:nvSpPr>
            <p:cNvPr id="6" name="円A（塗り）"/>
            <p:cNvSpPr/>
            <p:nvPr/>
          </p:nvSpPr>
          <p:spPr>
            <a:xfrm>
              <a:off x="733425" y="1390650"/>
              <a:ext cx="1238250" cy="12382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円B（前面・線のみ）"/>
            <p:cNvSpPr/>
            <p:nvPr/>
          </p:nvSpPr>
          <p:spPr>
            <a:xfrm>
              <a:off x="1476375" y="1390650"/>
              <a:ext cx="1238250" cy="1238250"/>
            </a:xfrm>
            <a:prstGeom prst="ellipse">
              <a:avLst/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771525" y="1895475"/>
              <a:ext cx="6477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要素A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2028825" y="1895475"/>
              <a:ext cx="6477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accent1"/>
                  </a:solidFill>
                </a:rPr>
                <a:t>要素B</a:t>
              </a:r>
            </a:p>
          </p:txBody>
        </p:sp>
      </p:grpSp>
      <p:grpSp>
        <p:nvGrpSpPr>
          <p:cNvPr id="10" name="図解01_ベン図3円"/>
          <p:cNvGrpSpPr/>
          <p:nvPr/>
        </p:nvGrpSpPr>
        <p:grpSpPr>
          <a:xfrm>
            <a:off x="3533775" y="1238250"/>
            <a:ext cx="1771650" cy="1676400"/>
            <a:chOff x="3533775" y="1238250"/>
            <a:chExt cx="1771650" cy="1676400"/>
          </a:xfrm>
        </p:grpSpPr>
        <p:sp>
          <p:nvSpPr>
            <p:cNvPr id="11" name="円A（塗り）"/>
            <p:cNvSpPr/>
            <p:nvPr/>
          </p:nvSpPr>
          <p:spPr>
            <a:xfrm>
              <a:off x="3533775" y="1238250"/>
              <a:ext cx="1143000" cy="1143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円B（塗り）"/>
            <p:cNvSpPr/>
            <p:nvPr/>
          </p:nvSpPr>
          <p:spPr>
            <a:xfrm>
              <a:off x="4162425" y="1238250"/>
              <a:ext cx="1143000" cy="1143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円C（前面・線のみ）"/>
            <p:cNvSpPr/>
            <p:nvPr/>
          </p:nvSpPr>
          <p:spPr>
            <a:xfrm>
              <a:off x="3848100" y="1771650"/>
              <a:ext cx="1143000" cy="1143000"/>
            </a:xfrm>
            <a:prstGeom prst="ellipse">
              <a:avLst/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609975" y="1600200"/>
              <a:ext cx="6096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要素A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638675" y="1600200"/>
              <a:ext cx="6096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要素B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114800" y="2552700"/>
              <a:ext cx="6096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accent1"/>
                  </a:solidFill>
                </a:rPr>
                <a:t>要素C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390525" y="33337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01 ベン図 2円・3円｜構造：分類（前面の円は線のみ＝重なりが濁らない）</a:t>
            </a:r>
          </a:p>
        </p:txBody>
      </p:sp>
      <p:grpSp>
        <p:nvGrpSpPr>
          <p:cNvPr id="18" name="図解02_ピラミッド3層"/>
          <p:cNvGrpSpPr/>
          <p:nvPr/>
        </p:nvGrpSpPr>
        <p:grpSpPr>
          <a:xfrm>
            <a:off x="7029450" y="1123950"/>
            <a:ext cx="3962400" cy="1771650"/>
            <a:chOff x="7029450" y="1123950"/>
            <a:chExt cx="3962400" cy="1771650"/>
          </a:xfrm>
        </p:grpSpPr>
        <p:sp>
          <p:nvSpPr>
            <p:cNvPr id="19" name="層1"/>
            <p:cNvSpPr/>
            <p:nvPr/>
          </p:nvSpPr>
          <p:spPr>
            <a:xfrm>
              <a:off x="8210550" y="1123950"/>
              <a:ext cx="1600200" cy="590550"/>
            </a:xfrm>
            <a:custGeom>
              <a:avLst/>
              <a:gdLst/>
              <a:ahLst/>
              <a:cxnLst/>
              <a:rect l="0" t="0" r="1600200" b="590550"/>
              <a:pathLst>
                <a:path w="1600200" h="590550">
                  <a:moveTo>
                    <a:pt x="590550" y="0"/>
                  </a:moveTo>
                  <a:lnTo>
                    <a:pt x="1009650" y="0"/>
                  </a:lnTo>
                  <a:lnTo>
                    <a:pt x="1600200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chemeClr val="l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343900" y="1304925"/>
              <a:ext cx="1333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要素A</a:t>
              </a:r>
            </a:p>
          </p:txBody>
        </p:sp>
        <p:sp>
          <p:nvSpPr>
            <p:cNvPr id="21" name="層2"/>
            <p:cNvSpPr/>
            <p:nvPr/>
          </p:nvSpPr>
          <p:spPr>
            <a:xfrm>
              <a:off x="7620000" y="1714500"/>
              <a:ext cx="2781300" cy="590550"/>
            </a:xfrm>
            <a:custGeom>
              <a:avLst/>
              <a:gdLst/>
              <a:ahLst/>
              <a:cxnLst/>
              <a:rect l="0" t="0" r="2781300" b="590550"/>
              <a:pathLst>
                <a:path w="2781300" h="590550">
                  <a:moveTo>
                    <a:pt x="590550" y="0"/>
                  </a:moveTo>
                  <a:lnTo>
                    <a:pt x="2190750" y="0"/>
                  </a:lnTo>
                  <a:lnTo>
                    <a:pt x="2781300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343900" y="1895475"/>
              <a:ext cx="1333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要素B</a:t>
              </a:r>
            </a:p>
          </p:txBody>
        </p:sp>
        <p:sp>
          <p:nvSpPr>
            <p:cNvPr id="23" name="層3"/>
            <p:cNvSpPr/>
            <p:nvPr/>
          </p:nvSpPr>
          <p:spPr>
            <a:xfrm>
              <a:off x="7029450" y="2305050"/>
              <a:ext cx="3962400" cy="590550"/>
            </a:xfrm>
            <a:custGeom>
              <a:avLst/>
              <a:gdLst/>
              <a:ahLst/>
              <a:cxnLst/>
              <a:rect l="0" t="0" r="3962400" b="590550"/>
              <a:pathLst>
                <a:path w="3962400" h="590550">
                  <a:moveTo>
                    <a:pt x="590550" y="0"/>
                  </a:moveTo>
                  <a:lnTo>
                    <a:pt x="3371850" y="0"/>
                  </a:lnTo>
                  <a:lnTo>
                    <a:pt x="3962400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chemeClr val="accent4"/>
            </a:solidFill>
            <a:ln w="19050">
              <a:solidFill>
                <a:schemeClr val="l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8343900" y="2486025"/>
              <a:ext cx="1333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要素C</a:t>
              </a:r>
            </a:p>
          </p:txBody>
        </p:sp>
      </p:grpSp>
      <p:sp>
        <p:nvSpPr>
          <p:cNvPr id="25" name="Rectangle 24"/>
          <p:cNvSpPr/>
          <p:nvPr/>
        </p:nvSpPr>
        <p:spPr>
          <a:xfrm>
            <a:off x="6219825" y="33337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02 ピラミッド3層｜構造：ピラミッド（上位ほど抽象・下位ほど具体）</a:t>
            </a:r>
          </a:p>
        </p:txBody>
      </p:sp>
      <p:grpSp>
        <p:nvGrpSpPr>
          <p:cNvPr id="26" name="図解03_2軸マトリクス"/>
          <p:cNvGrpSpPr/>
          <p:nvPr/>
        </p:nvGrpSpPr>
        <p:grpSpPr>
          <a:xfrm>
            <a:off x="1019175" y="3867150"/>
            <a:ext cx="4191000" cy="2152650"/>
            <a:chOff x="1019175" y="3867150"/>
            <a:chExt cx="4191000" cy="2152650"/>
          </a:xfrm>
        </p:grpSpPr>
        <p:sp>
          <p:nvSpPr>
            <p:cNvPr id="27" name="注力象限ティント"/>
            <p:cNvSpPr/>
            <p:nvPr/>
          </p:nvSpPr>
          <p:spPr>
            <a:xfrm>
              <a:off x="3171825" y="4076700"/>
              <a:ext cx="1905000" cy="8572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外枠"/>
            <p:cNvSpPr/>
            <p:nvPr/>
          </p:nvSpPr>
          <p:spPr>
            <a:xfrm>
              <a:off x="1266825" y="4076700"/>
              <a:ext cx="3810000" cy="171450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9" name="縦仕切り"/>
            <p:cNvCxnSpPr/>
            <p:nvPr/>
          </p:nvCxnSpPr>
          <p:spPr>
            <a:xfrm>
              <a:off x="3171825" y="4076700"/>
              <a:ext cx="0" cy="17145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横仕切り"/>
            <p:cNvCxnSpPr/>
            <p:nvPr/>
          </p:nvCxnSpPr>
          <p:spPr>
            <a:xfrm>
              <a:off x="1266825" y="4933950"/>
              <a:ext cx="3810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縦軸"/>
            <p:cNvCxnSpPr/>
            <p:nvPr/>
          </p:nvCxnSpPr>
          <p:spPr>
            <a:xfrm flipV="1">
              <a:off x="1266825" y="4000500"/>
              <a:ext cx="0" cy="1790700"/>
            </a:xfrm>
            <a:prstGeom prst="bentConnector3">
              <a:avLst/>
            </a:prstGeom>
            <a:ln w="14287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横軸"/>
            <p:cNvCxnSpPr/>
            <p:nvPr/>
          </p:nvCxnSpPr>
          <p:spPr>
            <a:xfrm>
              <a:off x="1266825" y="5791200"/>
              <a:ext cx="3886200" cy="0"/>
            </a:xfrm>
            <a:prstGeom prst="bentConnector3">
              <a:avLst/>
            </a:prstGeom>
            <a:ln w="14287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/>
            <p:cNvSpPr/>
            <p:nvPr/>
          </p:nvSpPr>
          <p:spPr>
            <a:xfrm>
              <a:off x="1362075" y="3867150"/>
              <a:ext cx="1333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軸ラベル（縦）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505075" y="5867400"/>
              <a:ext cx="1333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軸ラベル（横）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019175" y="4057650"/>
              <a:ext cx="1714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高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5038725" y="5867400"/>
              <a:ext cx="1714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高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171825" y="4410075"/>
              <a:ext cx="1905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象限A（注力）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266825" y="4410075"/>
              <a:ext cx="1905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象限B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266825" y="5267325"/>
              <a:ext cx="1905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象限C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171825" y="5267325"/>
              <a:ext cx="1905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象限D</a:t>
              </a:r>
            </a:p>
          </p:txBody>
        </p:sp>
      </p:grpSp>
      <p:sp>
        <p:nvSpPr>
          <p:cNvPr id="41" name="Rectangle 40"/>
          <p:cNvSpPr/>
          <p:nvPr/>
        </p:nvSpPr>
        <p:spPr>
          <a:xfrm>
            <a:off x="390525" y="62674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03 2軸マトリクス4象限｜構造：比較（施策の優先順位づけの定番）</a:t>
            </a:r>
          </a:p>
        </p:txBody>
      </p:sp>
      <p:grpSp>
        <p:nvGrpSpPr>
          <p:cNvPr id="42" name="図解04_プロセスフロー"/>
          <p:cNvGrpSpPr/>
          <p:nvPr/>
        </p:nvGrpSpPr>
        <p:grpSpPr>
          <a:xfrm>
            <a:off x="6334125" y="4695825"/>
            <a:ext cx="5353050" cy="609600"/>
            <a:chOff x="6334125" y="4695825"/>
            <a:chExt cx="5353050" cy="609600"/>
          </a:xfrm>
        </p:grpSpPr>
        <p:sp>
          <p:nvSpPr>
            <p:cNvPr id="43" name="工程1"/>
            <p:cNvSpPr/>
            <p:nvPr/>
          </p:nvSpPr>
          <p:spPr>
            <a:xfrm>
              <a:off x="6334125" y="4695825"/>
              <a:ext cx="1181100" cy="6096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334125" y="4810125"/>
              <a:ext cx="11811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ステップ1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6334125" y="5038725"/>
              <a:ext cx="1181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テキスト</a:t>
              </a:r>
            </a:p>
          </p:txBody>
        </p:sp>
        <p:cxnSp>
          <p:nvCxnSpPr>
            <p:cNvPr id="46" name="矢印1"/>
            <p:cNvCxnSpPr/>
            <p:nvPr/>
          </p:nvCxnSpPr>
          <p:spPr>
            <a:xfrm>
              <a:off x="7553325" y="5000625"/>
              <a:ext cx="133350" cy="0"/>
            </a:xfrm>
            <a:prstGeom prst="bentConnector3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工程2"/>
            <p:cNvSpPr/>
            <p:nvPr/>
          </p:nvSpPr>
          <p:spPr>
            <a:xfrm>
              <a:off x="7724775" y="4695825"/>
              <a:ext cx="1181100" cy="6096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7724775" y="4810125"/>
              <a:ext cx="11811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ステップ2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7724775" y="5038725"/>
              <a:ext cx="1181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テキスト</a:t>
              </a:r>
            </a:p>
          </p:txBody>
        </p:sp>
        <p:cxnSp>
          <p:nvCxnSpPr>
            <p:cNvPr id="50" name="矢印2"/>
            <p:cNvCxnSpPr/>
            <p:nvPr/>
          </p:nvCxnSpPr>
          <p:spPr>
            <a:xfrm>
              <a:off x="8943975" y="5000625"/>
              <a:ext cx="133350" cy="0"/>
            </a:xfrm>
            <a:prstGeom prst="bentConnector3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工程3"/>
            <p:cNvSpPr/>
            <p:nvPr/>
          </p:nvSpPr>
          <p:spPr>
            <a:xfrm>
              <a:off x="9115425" y="4695825"/>
              <a:ext cx="1181100" cy="6096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9115425" y="4810125"/>
              <a:ext cx="11811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ステップ3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9115425" y="5038725"/>
              <a:ext cx="1181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テキスト</a:t>
              </a:r>
            </a:p>
          </p:txBody>
        </p:sp>
        <p:cxnSp>
          <p:nvCxnSpPr>
            <p:cNvPr id="54" name="矢印3"/>
            <p:cNvCxnSpPr/>
            <p:nvPr/>
          </p:nvCxnSpPr>
          <p:spPr>
            <a:xfrm>
              <a:off x="10334625" y="5000625"/>
              <a:ext cx="133350" cy="0"/>
            </a:xfrm>
            <a:prstGeom prst="bentConnector3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工程4"/>
            <p:cNvSpPr/>
            <p:nvPr/>
          </p:nvSpPr>
          <p:spPr>
            <a:xfrm>
              <a:off x="10506075" y="4695825"/>
              <a:ext cx="1181100" cy="609600"/>
            </a:xfrm>
            <a:prstGeom prst="roundRect">
              <a:avLst>
                <a:gd name="adj" fmla="val 125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0506075" y="4810125"/>
              <a:ext cx="11811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ステップ4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10506075" y="5038725"/>
              <a:ext cx="1181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4"/>
                  </a:solidFill>
                </a:rPr>
                <a:t>テキスト</a:t>
              </a:r>
            </a:p>
          </p:txBody>
        </p:sp>
      </p:grpSp>
      <p:sp>
        <p:nvSpPr>
          <p:cNvPr id="58" name="Rectangle 57"/>
          <p:cNvSpPr/>
          <p:nvPr/>
        </p:nvSpPr>
        <p:spPr>
          <a:xfrm>
            <a:off x="6219825" y="62674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04 プロセスフロー4段｜構造：順序（流れは左→右で統一）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72390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パーツ図鑑｜⑥ 図解パターン — 展開4種（循環・絞り込み・時間軸・分解）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テキストを打ち替えるだけで完成します</a:t>
            </a:r>
          </a:p>
        </p:txBody>
      </p:sp>
      <p:grpSp>
        <p:nvGrpSpPr>
          <p:cNvPr id="5" name="図解05_サイクル図"/>
          <p:cNvGrpSpPr/>
          <p:nvPr/>
        </p:nvGrpSpPr>
        <p:grpSpPr>
          <a:xfrm>
            <a:off x="1514475" y="1123950"/>
            <a:ext cx="3333750" cy="1866900"/>
            <a:chOff x="1514475" y="1123950"/>
            <a:chExt cx="3333750" cy="1866900"/>
          </a:xfrm>
        </p:grpSpPr>
        <p:sp>
          <p:nvSpPr>
            <p:cNvPr id="6" name="要素1"/>
            <p:cNvSpPr/>
            <p:nvPr/>
          </p:nvSpPr>
          <p:spPr>
            <a:xfrm>
              <a:off x="1514475" y="1123950"/>
              <a:ext cx="1143000" cy="457200"/>
            </a:xfrm>
            <a:prstGeom prst="roundRect">
              <a:avLst>
                <a:gd name="adj" fmla="val 16666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514475" y="1123950"/>
              <a:ext cx="1143000" cy="457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要素A</a:t>
              </a:r>
            </a:p>
          </p:txBody>
        </p:sp>
        <p:sp>
          <p:nvSpPr>
            <p:cNvPr id="8" name="要素2"/>
            <p:cNvSpPr/>
            <p:nvPr/>
          </p:nvSpPr>
          <p:spPr>
            <a:xfrm>
              <a:off x="3705225" y="1123950"/>
              <a:ext cx="1143000" cy="457200"/>
            </a:xfrm>
            <a:prstGeom prst="roundRect">
              <a:avLst>
                <a:gd name="adj" fmla="val 16666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705225" y="1123950"/>
              <a:ext cx="1143000" cy="457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要素B</a:t>
              </a:r>
            </a:p>
          </p:txBody>
        </p:sp>
        <p:sp>
          <p:nvSpPr>
            <p:cNvPr id="10" name="要素3"/>
            <p:cNvSpPr/>
            <p:nvPr/>
          </p:nvSpPr>
          <p:spPr>
            <a:xfrm>
              <a:off x="3705225" y="2533650"/>
              <a:ext cx="1143000" cy="457200"/>
            </a:xfrm>
            <a:prstGeom prst="roundRect">
              <a:avLst>
                <a:gd name="adj" fmla="val 16666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705225" y="2533650"/>
              <a:ext cx="1143000" cy="457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要素C</a:t>
              </a:r>
            </a:p>
          </p:txBody>
        </p:sp>
        <p:sp>
          <p:nvSpPr>
            <p:cNvPr id="12" name="要素4"/>
            <p:cNvSpPr/>
            <p:nvPr/>
          </p:nvSpPr>
          <p:spPr>
            <a:xfrm>
              <a:off x="1514475" y="2533650"/>
              <a:ext cx="1143000" cy="457200"/>
            </a:xfrm>
            <a:prstGeom prst="roundRect">
              <a:avLst>
                <a:gd name="adj" fmla="val 16666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514475" y="2533650"/>
              <a:ext cx="1143000" cy="457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要素D</a:t>
              </a:r>
            </a:p>
          </p:txBody>
        </p:sp>
        <p:cxnSp>
          <p:nvCxnSpPr>
            <p:cNvPr id="14" name="矢印1"/>
            <p:cNvCxnSpPr/>
            <p:nvPr/>
          </p:nvCxnSpPr>
          <p:spPr>
            <a:xfrm>
              <a:off x="2714625" y="1352550"/>
              <a:ext cx="933450" cy="0"/>
            </a:xfrm>
            <a:prstGeom prst="bentConnector3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矢印2"/>
            <p:cNvCxnSpPr/>
            <p:nvPr/>
          </p:nvCxnSpPr>
          <p:spPr>
            <a:xfrm>
              <a:off x="4276725" y="1638300"/>
              <a:ext cx="0" cy="838200"/>
            </a:xfrm>
            <a:prstGeom prst="bentConnector3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矢印3"/>
            <p:cNvCxnSpPr/>
            <p:nvPr/>
          </p:nvCxnSpPr>
          <p:spPr>
            <a:xfrm flipH="1">
              <a:off x="2714625" y="2762250"/>
              <a:ext cx="933450" cy="0"/>
            </a:xfrm>
            <a:prstGeom prst="bentConnector3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矢印4"/>
            <p:cNvCxnSpPr/>
            <p:nvPr/>
          </p:nvCxnSpPr>
          <p:spPr>
            <a:xfrm flipV="1">
              <a:off x="2085975" y="1638300"/>
              <a:ext cx="0" cy="838200"/>
            </a:xfrm>
            <a:prstGeom prst="bentConnector3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2657475" y="1943100"/>
              <a:ext cx="10477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循環テーマ</a:t>
              </a:r>
            </a:p>
          </p:txBody>
        </p:sp>
      </p:grpSp>
      <p:sp>
        <p:nvSpPr>
          <p:cNvPr id="19" name="Rectangle 18"/>
          <p:cNvSpPr/>
          <p:nvPr/>
        </p:nvSpPr>
        <p:spPr>
          <a:xfrm>
            <a:off x="390525" y="33337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05 サイクル図4要素｜構造：順序（循環）</a:t>
            </a:r>
          </a:p>
        </p:txBody>
      </p:sp>
      <p:grpSp>
        <p:nvGrpSpPr>
          <p:cNvPr id="20" name="図解06_ファネル"/>
          <p:cNvGrpSpPr/>
          <p:nvPr/>
        </p:nvGrpSpPr>
        <p:grpSpPr>
          <a:xfrm>
            <a:off x="6553200" y="1009650"/>
            <a:ext cx="4867275" cy="2000250"/>
            <a:chOff x="6553200" y="1009650"/>
            <a:chExt cx="4867275" cy="2000250"/>
          </a:xfrm>
        </p:grpSpPr>
        <p:sp>
          <p:nvSpPr>
            <p:cNvPr id="21" name="段1"/>
            <p:cNvSpPr/>
            <p:nvPr/>
          </p:nvSpPr>
          <p:spPr>
            <a:xfrm>
              <a:off x="6553200" y="1009650"/>
              <a:ext cx="3619500" cy="457200"/>
            </a:xfrm>
            <a:custGeom>
              <a:avLst/>
              <a:gdLst/>
              <a:ahLst/>
              <a:cxnLst/>
              <a:rect l="0" t="0" r="3619500" b="457200"/>
              <a:pathLst>
                <a:path w="3619500" h="457200">
                  <a:moveTo>
                    <a:pt x="0" y="0"/>
                  </a:moveTo>
                  <a:lnTo>
                    <a:pt x="3619500" y="0"/>
                  </a:lnTo>
                  <a:lnTo>
                    <a:pt x="3286125" y="457200"/>
                  </a:lnTo>
                  <a:lnTo>
                    <a:pt x="333375" y="45720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chemeClr val="l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696200" y="1123950"/>
              <a:ext cx="1333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段階1</a:t>
              </a:r>
            </a:p>
          </p:txBody>
        </p:sp>
        <p:sp>
          <p:nvSpPr>
            <p:cNvPr id="23" name="数値1"/>
            <p:cNvSpPr/>
            <p:nvPr/>
          </p:nvSpPr>
          <p:spPr>
            <a:xfrm>
              <a:off x="10372725" y="1152525"/>
              <a:ext cx="1047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100%</a:t>
              </a:r>
            </a:p>
          </p:txBody>
        </p:sp>
        <p:sp>
          <p:nvSpPr>
            <p:cNvPr id="24" name="段2"/>
            <p:cNvSpPr/>
            <p:nvPr/>
          </p:nvSpPr>
          <p:spPr>
            <a:xfrm>
              <a:off x="6929437" y="1524000"/>
              <a:ext cx="2867025" cy="457200"/>
            </a:xfrm>
            <a:custGeom>
              <a:avLst/>
              <a:gdLst/>
              <a:ahLst/>
              <a:cxnLst/>
              <a:rect l="0" t="0" r="2867025" b="457200"/>
              <a:pathLst>
                <a:path w="2867025" h="457200">
                  <a:moveTo>
                    <a:pt x="0" y="0"/>
                  </a:moveTo>
                  <a:lnTo>
                    <a:pt x="2867025" y="0"/>
                  </a:lnTo>
                  <a:lnTo>
                    <a:pt x="2533650" y="457200"/>
                  </a:lnTo>
                  <a:lnTo>
                    <a:pt x="333375" y="45720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696200" y="1638300"/>
              <a:ext cx="1333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段階2</a:t>
              </a:r>
            </a:p>
          </p:txBody>
        </p:sp>
        <p:sp>
          <p:nvSpPr>
            <p:cNvPr id="26" name="数値2"/>
            <p:cNvSpPr/>
            <p:nvPr/>
          </p:nvSpPr>
          <p:spPr>
            <a:xfrm>
              <a:off x="10372725" y="1666875"/>
              <a:ext cx="1047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45%</a:t>
              </a:r>
            </a:p>
          </p:txBody>
        </p:sp>
        <p:sp>
          <p:nvSpPr>
            <p:cNvPr id="27" name="段3"/>
            <p:cNvSpPr/>
            <p:nvPr/>
          </p:nvSpPr>
          <p:spPr>
            <a:xfrm>
              <a:off x="7305675" y="2038350"/>
              <a:ext cx="2114550" cy="457200"/>
            </a:xfrm>
            <a:custGeom>
              <a:avLst/>
              <a:gdLst/>
              <a:ahLst/>
              <a:cxnLst/>
              <a:rect l="0" t="0" r="2114550" b="457200"/>
              <a:pathLst>
                <a:path w="2114550" h="457200">
                  <a:moveTo>
                    <a:pt x="0" y="0"/>
                  </a:moveTo>
                  <a:lnTo>
                    <a:pt x="2114550" y="0"/>
                  </a:lnTo>
                  <a:lnTo>
                    <a:pt x="1781175" y="457200"/>
                  </a:lnTo>
                  <a:lnTo>
                    <a:pt x="333375" y="457200"/>
                  </a:lnTo>
                  <a:close/>
                </a:path>
              </a:pathLst>
            </a:custGeom>
            <a:solidFill>
              <a:schemeClr val="accent3"/>
            </a:solidFill>
            <a:ln w="19050">
              <a:solidFill>
                <a:schemeClr val="l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696200" y="2152650"/>
              <a:ext cx="1333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段階3</a:t>
              </a:r>
            </a:p>
          </p:txBody>
        </p:sp>
        <p:sp>
          <p:nvSpPr>
            <p:cNvPr id="29" name="数値3"/>
            <p:cNvSpPr/>
            <p:nvPr/>
          </p:nvSpPr>
          <p:spPr>
            <a:xfrm>
              <a:off x="10372725" y="2181225"/>
              <a:ext cx="1047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20%</a:t>
              </a:r>
            </a:p>
          </p:txBody>
        </p:sp>
        <p:sp>
          <p:nvSpPr>
            <p:cNvPr id="30" name="段4"/>
            <p:cNvSpPr/>
            <p:nvPr/>
          </p:nvSpPr>
          <p:spPr>
            <a:xfrm>
              <a:off x="7681912" y="2552700"/>
              <a:ext cx="1362075" cy="457200"/>
            </a:xfrm>
            <a:custGeom>
              <a:avLst/>
              <a:gdLst/>
              <a:ahLst/>
              <a:cxnLst/>
              <a:rect l="0" t="0" r="1362075" b="457200"/>
              <a:pathLst>
                <a:path w="1362075" h="457200">
                  <a:moveTo>
                    <a:pt x="0" y="0"/>
                  </a:moveTo>
                  <a:lnTo>
                    <a:pt x="1362075" y="0"/>
                  </a:lnTo>
                  <a:lnTo>
                    <a:pt x="1028700" y="457200"/>
                  </a:lnTo>
                  <a:lnTo>
                    <a:pt x="333375" y="457200"/>
                  </a:lnTo>
                  <a:close/>
                </a:path>
              </a:pathLst>
            </a:custGeom>
            <a:solidFill>
              <a:schemeClr val="accent4"/>
            </a:solidFill>
            <a:ln w="19050">
              <a:solidFill>
                <a:schemeClr val="l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696200" y="2667000"/>
              <a:ext cx="1333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段階4</a:t>
              </a:r>
            </a:p>
          </p:txBody>
        </p:sp>
        <p:sp>
          <p:nvSpPr>
            <p:cNvPr id="32" name="数値4"/>
            <p:cNvSpPr/>
            <p:nvPr/>
          </p:nvSpPr>
          <p:spPr>
            <a:xfrm>
              <a:off x="10372725" y="2695575"/>
              <a:ext cx="1047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8%</a:t>
              </a:r>
            </a:p>
          </p:txBody>
        </p:sp>
      </p:grpSp>
      <p:sp>
        <p:nvSpPr>
          <p:cNvPr id="33" name="Rectangle 32"/>
          <p:cNvSpPr/>
          <p:nvPr/>
        </p:nvSpPr>
        <p:spPr>
          <a:xfrm>
            <a:off x="6219825" y="33337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06 ファネル4段｜構造：順序（絞り込み。数値はテキスト打ち替え）</a:t>
            </a:r>
          </a:p>
        </p:txBody>
      </p:sp>
      <p:grpSp>
        <p:nvGrpSpPr>
          <p:cNvPr id="34" name="図解07_ロードマップ"/>
          <p:cNvGrpSpPr/>
          <p:nvPr/>
        </p:nvGrpSpPr>
        <p:grpSpPr>
          <a:xfrm>
            <a:off x="676275" y="4038600"/>
            <a:ext cx="5010150" cy="1714500"/>
            <a:chOff x="676275" y="4038600"/>
            <a:chExt cx="5010150" cy="1714500"/>
          </a:xfrm>
        </p:grpSpPr>
        <p:sp>
          <p:nvSpPr>
            <p:cNvPr id="35" name="Q1ヘッダ"/>
            <p:cNvSpPr/>
            <p:nvPr/>
          </p:nvSpPr>
          <p:spPr>
            <a:xfrm>
              <a:off x="1504950" y="4038600"/>
              <a:ext cx="1028700" cy="247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495425" y="4048125"/>
              <a:ext cx="10477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Q1</a:t>
              </a:r>
            </a:p>
          </p:txBody>
        </p:sp>
        <p:sp>
          <p:nvSpPr>
            <p:cNvPr id="37" name="Q2ヘッダ"/>
            <p:cNvSpPr/>
            <p:nvPr/>
          </p:nvSpPr>
          <p:spPr>
            <a:xfrm>
              <a:off x="2552700" y="4038600"/>
              <a:ext cx="1028700" cy="247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543175" y="4048125"/>
              <a:ext cx="10477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Q2</a:t>
              </a:r>
            </a:p>
          </p:txBody>
        </p:sp>
        <p:sp>
          <p:nvSpPr>
            <p:cNvPr id="39" name="Q3ヘッダ"/>
            <p:cNvSpPr/>
            <p:nvPr/>
          </p:nvSpPr>
          <p:spPr>
            <a:xfrm>
              <a:off x="3600450" y="4038600"/>
              <a:ext cx="1028700" cy="247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590925" y="4048125"/>
              <a:ext cx="10477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Q3</a:t>
              </a:r>
            </a:p>
          </p:txBody>
        </p:sp>
        <p:sp>
          <p:nvSpPr>
            <p:cNvPr id="41" name="Q4ヘッダ"/>
            <p:cNvSpPr/>
            <p:nvPr/>
          </p:nvSpPr>
          <p:spPr>
            <a:xfrm>
              <a:off x="4648200" y="4038600"/>
              <a:ext cx="1028700" cy="247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638675" y="4048125"/>
              <a:ext cx="10477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Q4</a:t>
              </a:r>
            </a:p>
          </p:txBody>
        </p:sp>
        <p:cxnSp>
          <p:nvCxnSpPr>
            <p:cNvPr id="43" name="目盛1"/>
            <p:cNvCxnSpPr/>
            <p:nvPr/>
          </p:nvCxnSpPr>
          <p:spPr>
            <a:xfrm>
              <a:off x="1495425" y="4343400"/>
              <a:ext cx="0" cy="14097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目盛2"/>
            <p:cNvCxnSpPr/>
            <p:nvPr/>
          </p:nvCxnSpPr>
          <p:spPr>
            <a:xfrm>
              <a:off x="2543175" y="4343400"/>
              <a:ext cx="0" cy="14097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目盛3"/>
            <p:cNvCxnSpPr/>
            <p:nvPr/>
          </p:nvCxnSpPr>
          <p:spPr>
            <a:xfrm>
              <a:off x="3590925" y="4343400"/>
              <a:ext cx="0" cy="14097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目盛4"/>
            <p:cNvCxnSpPr/>
            <p:nvPr/>
          </p:nvCxnSpPr>
          <p:spPr>
            <a:xfrm>
              <a:off x="4638675" y="4343400"/>
              <a:ext cx="0" cy="14097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目盛5"/>
            <p:cNvCxnSpPr/>
            <p:nvPr/>
          </p:nvCxnSpPr>
          <p:spPr>
            <a:xfrm>
              <a:off x="5686425" y="4343400"/>
              <a:ext cx="0" cy="14097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行仕切り"/>
            <p:cNvCxnSpPr/>
            <p:nvPr/>
          </p:nvCxnSpPr>
          <p:spPr>
            <a:xfrm>
              <a:off x="1495425" y="5048250"/>
              <a:ext cx="4191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tangle 48"/>
            <p:cNvSpPr/>
            <p:nvPr/>
          </p:nvSpPr>
          <p:spPr>
            <a:xfrm>
              <a:off x="676275" y="45148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レーンA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676275" y="525780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レーンB</a:t>
              </a:r>
            </a:p>
          </p:txBody>
        </p:sp>
        <p:sp>
          <p:nvSpPr>
            <p:cNvPr id="51" name="バーA"/>
            <p:cNvSpPr/>
            <p:nvPr/>
          </p:nvSpPr>
          <p:spPr>
            <a:xfrm>
              <a:off x="1552575" y="4476750"/>
              <a:ext cx="1981200" cy="28575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552575" y="4476750"/>
              <a:ext cx="19812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施策テーマA</a:t>
              </a:r>
            </a:p>
          </p:txBody>
        </p:sp>
        <p:sp>
          <p:nvSpPr>
            <p:cNvPr id="53" name="バーB"/>
            <p:cNvSpPr/>
            <p:nvPr/>
          </p:nvSpPr>
          <p:spPr>
            <a:xfrm>
              <a:off x="2600325" y="5219700"/>
              <a:ext cx="3028950" cy="285750"/>
            </a:xfrm>
            <a:prstGeom prst="roundRect">
              <a:avLst>
                <a:gd name="adj" fmla="val 2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2600325" y="5219700"/>
              <a:ext cx="30289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施策テーマB</a:t>
              </a:r>
            </a:p>
          </p:txBody>
        </p:sp>
        <p:sp>
          <p:nvSpPr>
            <p:cNvPr id="55" name="マイルストーン"/>
            <p:cNvSpPr/>
            <p:nvPr/>
          </p:nvSpPr>
          <p:spPr>
            <a:xfrm>
              <a:off x="3543300" y="4572000"/>
              <a:ext cx="95250" cy="9525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6" name="Rectangle 55"/>
          <p:cNvSpPr/>
          <p:nvPr/>
        </p:nvSpPr>
        <p:spPr>
          <a:xfrm>
            <a:off x="390525" y="62674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07 ロードマップ Q1–Q4×2行｜構造：順序（時間軸）</a:t>
            </a:r>
          </a:p>
        </p:txBody>
      </p:sp>
      <p:grpSp>
        <p:nvGrpSpPr>
          <p:cNvPr id="57" name="図解08_ロジックツリー"/>
          <p:cNvGrpSpPr/>
          <p:nvPr/>
        </p:nvGrpSpPr>
        <p:grpSpPr>
          <a:xfrm>
            <a:off x="6791325" y="4000500"/>
            <a:ext cx="4191000" cy="1981200"/>
            <a:chOff x="6791325" y="4000500"/>
            <a:chExt cx="4191000" cy="1981200"/>
          </a:xfrm>
        </p:grpSpPr>
        <p:sp>
          <p:nvSpPr>
            <p:cNvPr id="58" name="親（論点）"/>
            <p:cNvSpPr/>
            <p:nvPr/>
          </p:nvSpPr>
          <p:spPr>
            <a:xfrm>
              <a:off x="6791325" y="4743450"/>
              <a:ext cx="1257300" cy="495300"/>
            </a:xfrm>
            <a:prstGeom prst="roundRect">
              <a:avLst>
                <a:gd name="adj" fmla="val 15384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6791325" y="4743450"/>
              <a:ext cx="12573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lt1"/>
                  </a:solidFill>
                </a:rPr>
                <a:t>論点</a:t>
              </a:r>
            </a:p>
          </p:txBody>
        </p:sp>
        <p:cxnSp>
          <p:nvCxnSpPr>
            <p:cNvPr id="60" name="幹"/>
            <p:cNvCxnSpPr/>
            <p:nvPr/>
          </p:nvCxnSpPr>
          <p:spPr>
            <a:xfrm>
              <a:off x="8048625" y="4991100"/>
              <a:ext cx="70485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枝の背骨"/>
            <p:cNvCxnSpPr/>
            <p:nvPr/>
          </p:nvCxnSpPr>
          <p:spPr>
            <a:xfrm>
              <a:off x="8753475" y="4248150"/>
              <a:ext cx="0" cy="148590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枝1"/>
            <p:cNvCxnSpPr/>
            <p:nvPr/>
          </p:nvCxnSpPr>
          <p:spPr>
            <a:xfrm>
              <a:off x="8753475" y="4248150"/>
              <a:ext cx="64770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子要素1"/>
            <p:cNvSpPr/>
            <p:nvPr/>
          </p:nvSpPr>
          <p:spPr>
            <a:xfrm>
              <a:off x="9458325" y="4000500"/>
              <a:ext cx="1524000" cy="495300"/>
            </a:xfrm>
            <a:prstGeom prst="roundRect">
              <a:avLst>
                <a:gd name="adj" fmla="val 15384"/>
              </a:avLst>
            </a:prstGeom>
            <a:noFill/>
            <a:ln w="11906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9458325" y="4000500"/>
              <a:ext cx="15240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dk2"/>
                  </a:solidFill>
                </a:rPr>
                <a:t>要素A</a:t>
              </a:r>
            </a:p>
          </p:txBody>
        </p:sp>
        <p:cxnSp>
          <p:nvCxnSpPr>
            <p:cNvPr id="65" name="枝2"/>
            <p:cNvCxnSpPr/>
            <p:nvPr/>
          </p:nvCxnSpPr>
          <p:spPr>
            <a:xfrm>
              <a:off x="8753475" y="4991100"/>
              <a:ext cx="64770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子要素2"/>
            <p:cNvSpPr/>
            <p:nvPr/>
          </p:nvSpPr>
          <p:spPr>
            <a:xfrm>
              <a:off x="9458325" y="4743450"/>
              <a:ext cx="1524000" cy="495300"/>
            </a:xfrm>
            <a:prstGeom prst="roundRect">
              <a:avLst>
                <a:gd name="adj" fmla="val 15384"/>
              </a:avLst>
            </a:prstGeom>
            <a:noFill/>
            <a:ln w="11906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9458325" y="4743450"/>
              <a:ext cx="15240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dk2"/>
                  </a:solidFill>
                </a:rPr>
                <a:t>要素B</a:t>
              </a:r>
            </a:p>
          </p:txBody>
        </p:sp>
        <p:cxnSp>
          <p:nvCxnSpPr>
            <p:cNvPr id="68" name="枝3"/>
            <p:cNvCxnSpPr/>
            <p:nvPr/>
          </p:nvCxnSpPr>
          <p:spPr>
            <a:xfrm>
              <a:off x="8753475" y="5734050"/>
              <a:ext cx="64770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子要素3"/>
            <p:cNvSpPr/>
            <p:nvPr/>
          </p:nvSpPr>
          <p:spPr>
            <a:xfrm>
              <a:off x="9458325" y="5486400"/>
              <a:ext cx="1524000" cy="495300"/>
            </a:xfrm>
            <a:prstGeom prst="roundRect">
              <a:avLst>
                <a:gd name="adj" fmla="val 15384"/>
              </a:avLst>
            </a:prstGeom>
            <a:noFill/>
            <a:ln w="11906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9458325" y="5486400"/>
              <a:ext cx="15240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dk2"/>
                  </a:solidFill>
                </a:rPr>
                <a:t>要素C</a:t>
              </a:r>
            </a:p>
          </p:txBody>
        </p:sp>
      </p:grpSp>
      <p:sp>
        <p:nvSpPr>
          <p:cNvPr id="71" name="Rectangle 70"/>
          <p:cNvSpPr/>
          <p:nvPr/>
        </p:nvSpPr>
        <p:spPr>
          <a:xfrm>
            <a:off x="6219825" y="62674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08 ロジックツリー 1→3｜構造：分類（MECEに分解）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72390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パーツ図鑑｜⑥ 図解パターン — 対比・統合4種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朱（アクセント）は1スライド1点まで</a:t>
            </a:r>
          </a:p>
        </p:txBody>
      </p:sp>
      <p:grpSp>
        <p:nvGrpSpPr>
          <p:cNvPr id="5" name="図解09_BeforeAfter"/>
          <p:cNvGrpSpPr/>
          <p:nvPr/>
        </p:nvGrpSpPr>
        <p:grpSpPr>
          <a:xfrm>
            <a:off x="714375" y="1143000"/>
            <a:ext cx="4933950" cy="1714500"/>
            <a:chOff x="714375" y="1143000"/>
            <a:chExt cx="4933950" cy="1714500"/>
          </a:xfrm>
        </p:grpSpPr>
        <p:sp>
          <p:nvSpPr>
            <p:cNvPr id="6" name="Beforeカード"/>
            <p:cNvSpPr/>
            <p:nvPr/>
          </p:nvSpPr>
          <p:spPr>
            <a:xfrm>
              <a:off x="714375" y="1143000"/>
              <a:ext cx="1952625" cy="1714500"/>
            </a:xfrm>
            <a:prstGeom prst="roundRect">
              <a:avLst>
                <a:gd name="adj" fmla="val 4444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714375" y="1276350"/>
              <a:ext cx="1952625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accent5"/>
                  </a:solidFill>
                </a:rPr>
                <a:t>Before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923925" y="1600200"/>
              <a:ext cx="1571625" cy="1047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70000"/>
                </a:lnSpc>
              </a:pPr>
              <a:r>
                <a:rPr sz="1050">
                  <a:solidFill>
                    <a:schemeClr val="accent5"/>
                  </a:solidFill>
                </a:rPr>
                <a:t>・テキストテキスト</a:t>
              </a:r>
            </a:p>
            <a:p>
              <a:pPr algn="l">
                <a:lnSpc>
                  <a:spcPct val="170000"/>
                </a:lnSpc>
              </a:pPr>
              <a:r>
                <a:rPr sz="1050">
                  <a:solidFill>
                    <a:schemeClr val="accent5"/>
                  </a:solidFill>
                </a:rPr>
                <a:t>・テキストテキスト</a:t>
              </a:r>
            </a:p>
            <a:p>
              <a:pPr algn="l">
                <a:lnSpc>
                  <a:spcPct val="170000"/>
                </a:lnSpc>
              </a:pPr>
              <a:r>
                <a:rPr sz="1050">
                  <a:solidFill>
                    <a:schemeClr val="accent5"/>
                  </a:solidFill>
                </a:rPr>
                <a:t>・テキストテキスト</a:t>
              </a:r>
            </a:p>
          </p:txBody>
        </p:sp>
        <p:sp>
          <p:nvSpPr>
            <p:cNvPr id="9" name="Afterカード"/>
            <p:cNvSpPr/>
            <p:nvPr/>
          </p:nvSpPr>
          <p:spPr>
            <a:xfrm>
              <a:off x="3695700" y="1143000"/>
              <a:ext cx="1952625" cy="1714500"/>
            </a:xfrm>
            <a:prstGeom prst="roundRect">
              <a:avLst>
                <a:gd name="adj" fmla="val 4444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695700" y="1276350"/>
              <a:ext cx="1952625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After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905250" y="1600200"/>
              <a:ext cx="1571625" cy="1047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70000"/>
                </a:lnSpc>
              </a:pPr>
              <a:r>
                <a:rPr sz="1050">
                  <a:solidFill>
                    <a:schemeClr val="lt1"/>
                  </a:solidFill>
                </a:rPr>
                <a:t>・テキストテキスト</a:t>
              </a:r>
            </a:p>
            <a:p>
              <a:pPr algn="l">
                <a:lnSpc>
                  <a:spcPct val="170000"/>
                </a:lnSpc>
              </a:pPr>
              <a:r>
                <a:rPr sz="1050">
                  <a:solidFill>
                    <a:schemeClr val="lt1"/>
                  </a:solidFill>
                </a:rPr>
                <a:t>・テキストテキスト</a:t>
              </a:r>
            </a:p>
            <a:p>
              <a:pPr algn="l">
                <a:lnSpc>
                  <a:spcPct val="170000"/>
                </a:lnSpc>
              </a:pPr>
              <a:r>
                <a:rPr sz="1050">
                  <a:solidFill>
                    <a:schemeClr val="lt1"/>
                  </a:solidFill>
                </a:rPr>
                <a:t>・テキストテキスト</a:t>
              </a:r>
            </a:p>
          </p:txBody>
        </p:sp>
        <p:sp>
          <p:nvSpPr>
            <p:cNvPr id="12" name="変化の矢印"/>
            <p:cNvSpPr/>
            <p:nvPr/>
          </p:nvSpPr>
          <p:spPr>
            <a:xfrm>
              <a:off x="2790825" y="1790700"/>
              <a:ext cx="781050" cy="438150"/>
            </a:xfrm>
            <a:prstGeom prst="rightArrow">
              <a:avLst>
                <a:gd name="adj1" fmla="val 50000"/>
                <a:gd name="adj2" fmla="val 35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効果ラベル"/>
            <p:cNvSpPr/>
            <p:nvPr/>
          </p:nvSpPr>
          <p:spPr>
            <a:xfrm>
              <a:off x="2828925" y="1447800"/>
              <a:ext cx="704850" cy="228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828925" y="1457325"/>
              <a:ext cx="7048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−60%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390525" y="33337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09 Before-After対比｜構造：問題解決（効果ラベルの朱は1スライド1点）</a:t>
            </a:r>
          </a:p>
        </p:txBody>
      </p:sp>
      <p:grpSp>
        <p:nvGrpSpPr>
          <p:cNvPr id="16" name="図解10_同心円3層"/>
          <p:cNvGrpSpPr/>
          <p:nvPr/>
        </p:nvGrpSpPr>
        <p:grpSpPr>
          <a:xfrm>
            <a:off x="8020050" y="1047750"/>
            <a:ext cx="1981200" cy="1981200"/>
            <a:chOff x="8020050" y="1047750"/>
            <a:chExt cx="1981200" cy="1981200"/>
          </a:xfrm>
        </p:grpSpPr>
        <p:sp>
          <p:nvSpPr>
            <p:cNvPr id="17" name="第3層（外周）"/>
            <p:cNvSpPr/>
            <p:nvPr/>
          </p:nvSpPr>
          <p:spPr>
            <a:xfrm>
              <a:off x="8020050" y="1047750"/>
              <a:ext cx="1981200" cy="1981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第2層"/>
            <p:cNvSpPr/>
            <p:nvPr/>
          </p:nvSpPr>
          <p:spPr>
            <a:xfrm>
              <a:off x="8343900" y="1371600"/>
              <a:ext cx="1333500" cy="1333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コア"/>
            <p:cNvSpPr/>
            <p:nvPr/>
          </p:nvSpPr>
          <p:spPr>
            <a:xfrm>
              <a:off x="8667750" y="1695450"/>
              <a:ext cx="685800" cy="685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667750" y="1933575"/>
              <a:ext cx="6858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要素A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8629650" y="2428875"/>
              <a:ext cx="762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要素B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629650" y="2752725"/>
              <a:ext cx="762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dk2"/>
                  </a:solidFill>
                </a:rPr>
                <a:t>要素C</a:t>
              </a:r>
            </a:p>
          </p:txBody>
        </p:sp>
      </p:grpSp>
      <p:sp>
        <p:nvSpPr>
          <p:cNvPr id="23" name="Rectangle 22"/>
          <p:cNvSpPr/>
          <p:nvPr/>
        </p:nvSpPr>
        <p:spPr>
          <a:xfrm>
            <a:off x="6219825" y="33337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10 同心円3層｜構造：分類（中心＝コア、外側ほど周辺）</a:t>
            </a:r>
          </a:p>
        </p:txBody>
      </p:sp>
      <p:grpSp>
        <p:nvGrpSpPr>
          <p:cNvPr id="24" name="図解11_階段ステップ"/>
          <p:cNvGrpSpPr/>
          <p:nvPr/>
        </p:nvGrpSpPr>
        <p:grpSpPr>
          <a:xfrm>
            <a:off x="819150" y="4076700"/>
            <a:ext cx="4762500" cy="1924050"/>
            <a:chOff x="819150" y="4076700"/>
            <a:chExt cx="4762500" cy="1924050"/>
          </a:xfrm>
        </p:grpSpPr>
        <p:sp>
          <p:nvSpPr>
            <p:cNvPr id="25" name="段1"/>
            <p:cNvSpPr/>
            <p:nvPr/>
          </p:nvSpPr>
          <p:spPr>
            <a:xfrm>
              <a:off x="819150" y="5448300"/>
              <a:ext cx="1162050" cy="5524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819150" y="5524500"/>
              <a:ext cx="11620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STEP 1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19150" y="5715000"/>
              <a:ext cx="11620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テキスト</a:t>
              </a:r>
            </a:p>
          </p:txBody>
        </p:sp>
        <p:sp>
          <p:nvSpPr>
            <p:cNvPr id="28" name="段2"/>
            <p:cNvSpPr/>
            <p:nvPr/>
          </p:nvSpPr>
          <p:spPr>
            <a:xfrm>
              <a:off x="2019300" y="4991100"/>
              <a:ext cx="1162050" cy="10096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019300" y="5067300"/>
              <a:ext cx="11620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STEP 2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019300" y="5257800"/>
              <a:ext cx="11620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4"/>
                  </a:solidFill>
                </a:rPr>
                <a:t>テキスト</a:t>
              </a:r>
            </a:p>
          </p:txBody>
        </p:sp>
        <p:sp>
          <p:nvSpPr>
            <p:cNvPr id="31" name="段3"/>
            <p:cNvSpPr/>
            <p:nvPr/>
          </p:nvSpPr>
          <p:spPr>
            <a:xfrm>
              <a:off x="3219450" y="4533900"/>
              <a:ext cx="1162050" cy="1466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219450" y="4610100"/>
              <a:ext cx="11620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STEP 3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219450" y="4800600"/>
              <a:ext cx="11620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4"/>
                  </a:solidFill>
                </a:rPr>
                <a:t>テキスト</a:t>
              </a:r>
            </a:p>
          </p:txBody>
        </p:sp>
        <p:sp>
          <p:nvSpPr>
            <p:cNvPr id="34" name="段4"/>
            <p:cNvSpPr/>
            <p:nvPr/>
          </p:nvSpPr>
          <p:spPr>
            <a:xfrm>
              <a:off x="4419600" y="4076700"/>
              <a:ext cx="1162050" cy="192405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4419600" y="4152900"/>
              <a:ext cx="11620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STEP 4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4419600" y="4343400"/>
              <a:ext cx="11620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4"/>
                  </a:solidFill>
                </a:rPr>
                <a:t>テキスト</a:t>
              </a:r>
            </a:p>
          </p:txBody>
        </p:sp>
      </p:grpSp>
      <p:sp>
        <p:nvSpPr>
          <p:cNvPr id="37" name="Rectangle 36"/>
          <p:cNvSpPr/>
          <p:nvPr/>
        </p:nvSpPr>
        <p:spPr>
          <a:xfrm>
            <a:off x="390525" y="62674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11 階段ステップ4段｜構造：順序（段階的な到達を見せる）</a:t>
            </a:r>
          </a:p>
        </p:txBody>
      </p:sp>
      <p:grpSp>
        <p:nvGrpSpPr>
          <p:cNvPr id="38" name="図解12_収束発散"/>
          <p:cNvGrpSpPr/>
          <p:nvPr/>
        </p:nvGrpSpPr>
        <p:grpSpPr>
          <a:xfrm>
            <a:off x="6505575" y="4114800"/>
            <a:ext cx="5010150" cy="1752600"/>
            <a:chOff x="6505575" y="4114800"/>
            <a:chExt cx="5010150" cy="1752600"/>
          </a:xfrm>
        </p:grpSpPr>
        <p:cxnSp>
          <p:nvCxnSpPr>
            <p:cNvPr id="39" name="収束の背骨"/>
            <p:cNvCxnSpPr/>
            <p:nvPr/>
          </p:nvCxnSpPr>
          <p:spPr>
            <a:xfrm>
              <a:off x="8086725" y="4324350"/>
              <a:ext cx="0" cy="133350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発散の背骨"/>
            <p:cNvCxnSpPr/>
            <p:nvPr/>
          </p:nvCxnSpPr>
          <p:spPr>
            <a:xfrm>
              <a:off x="9934575" y="4324350"/>
              <a:ext cx="0" cy="133350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入力1"/>
            <p:cNvSpPr/>
            <p:nvPr/>
          </p:nvSpPr>
          <p:spPr>
            <a:xfrm>
              <a:off x="6505575" y="4114800"/>
              <a:ext cx="1123950" cy="419100"/>
            </a:xfrm>
            <a:prstGeom prst="roundRect">
              <a:avLst>
                <a:gd name="adj" fmla="val 18181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505575" y="4114800"/>
              <a:ext cx="112395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dk2"/>
                  </a:solidFill>
                </a:rPr>
                <a:t>要素A</a:t>
              </a:r>
            </a:p>
          </p:txBody>
        </p:sp>
        <p:cxnSp>
          <p:nvCxnSpPr>
            <p:cNvPr id="43" name="収束線1"/>
            <p:cNvCxnSpPr/>
            <p:nvPr/>
          </p:nvCxnSpPr>
          <p:spPr>
            <a:xfrm>
              <a:off x="7629525" y="4324350"/>
              <a:ext cx="45720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展開1"/>
            <p:cNvSpPr/>
            <p:nvPr/>
          </p:nvSpPr>
          <p:spPr>
            <a:xfrm>
              <a:off x="10391775" y="4114800"/>
              <a:ext cx="1123950" cy="419100"/>
            </a:xfrm>
            <a:prstGeom prst="roundRect">
              <a:avLst>
                <a:gd name="adj" fmla="val 18181"/>
              </a:avLst>
            </a:prstGeom>
            <a:noFill/>
            <a:ln w="11906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0391775" y="4114800"/>
              <a:ext cx="112395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dk2"/>
                  </a:solidFill>
                </a:rPr>
                <a:t>展開A</a:t>
              </a:r>
            </a:p>
          </p:txBody>
        </p:sp>
        <p:cxnSp>
          <p:nvCxnSpPr>
            <p:cNvPr id="46" name="発散線1"/>
            <p:cNvCxnSpPr/>
            <p:nvPr/>
          </p:nvCxnSpPr>
          <p:spPr>
            <a:xfrm>
              <a:off x="9934575" y="4324350"/>
              <a:ext cx="419100" cy="0"/>
            </a:xfrm>
            <a:prstGeom prst="bentConnector3">
              <a:avLst/>
            </a:prstGeom>
            <a:ln w="11906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入力2"/>
            <p:cNvSpPr/>
            <p:nvPr/>
          </p:nvSpPr>
          <p:spPr>
            <a:xfrm>
              <a:off x="6505575" y="4781550"/>
              <a:ext cx="1123950" cy="419100"/>
            </a:xfrm>
            <a:prstGeom prst="roundRect">
              <a:avLst>
                <a:gd name="adj" fmla="val 18181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505575" y="4781550"/>
              <a:ext cx="112395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dk2"/>
                  </a:solidFill>
                </a:rPr>
                <a:t>要素B</a:t>
              </a:r>
            </a:p>
          </p:txBody>
        </p:sp>
        <p:cxnSp>
          <p:nvCxnSpPr>
            <p:cNvPr id="49" name="収束線2"/>
            <p:cNvCxnSpPr/>
            <p:nvPr/>
          </p:nvCxnSpPr>
          <p:spPr>
            <a:xfrm>
              <a:off x="7629525" y="4991100"/>
              <a:ext cx="45720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展開2"/>
            <p:cNvSpPr/>
            <p:nvPr/>
          </p:nvSpPr>
          <p:spPr>
            <a:xfrm>
              <a:off x="10391775" y="4781550"/>
              <a:ext cx="1123950" cy="419100"/>
            </a:xfrm>
            <a:prstGeom prst="roundRect">
              <a:avLst>
                <a:gd name="adj" fmla="val 18181"/>
              </a:avLst>
            </a:prstGeom>
            <a:noFill/>
            <a:ln w="11906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0391775" y="4781550"/>
              <a:ext cx="112395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dk2"/>
                  </a:solidFill>
                </a:rPr>
                <a:t>展開B</a:t>
              </a:r>
            </a:p>
          </p:txBody>
        </p:sp>
        <p:cxnSp>
          <p:nvCxnSpPr>
            <p:cNvPr id="52" name="発散線2"/>
            <p:cNvCxnSpPr/>
            <p:nvPr/>
          </p:nvCxnSpPr>
          <p:spPr>
            <a:xfrm>
              <a:off x="9934575" y="4991100"/>
              <a:ext cx="419100" cy="0"/>
            </a:xfrm>
            <a:prstGeom prst="bentConnector3">
              <a:avLst/>
            </a:prstGeom>
            <a:ln w="11906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入力3"/>
            <p:cNvSpPr/>
            <p:nvPr/>
          </p:nvSpPr>
          <p:spPr>
            <a:xfrm>
              <a:off x="6505575" y="5448300"/>
              <a:ext cx="1123950" cy="419100"/>
            </a:xfrm>
            <a:prstGeom prst="roundRect">
              <a:avLst>
                <a:gd name="adj" fmla="val 18181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505575" y="5448300"/>
              <a:ext cx="112395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dk2"/>
                  </a:solidFill>
                </a:rPr>
                <a:t>要素C</a:t>
              </a:r>
            </a:p>
          </p:txBody>
        </p:sp>
        <p:cxnSp>
          <p:nvCxnSpPr>
            <p:cNvPr id="55" name="収束線3"/>
            <p:cNvCxnSpPr/>
            <p:nvPr/>
          </p:nvCxnSpPr>
          <p:spPr>
            <a:xfrm>
              <a:off x="7629525" y="5657850"/>
              <a:ext cx="45720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展開3"/>
            <p:cNvSpPr/>
            <p:nvPr/>
          </p:nvSpPr>
          <p:spPr>
            <a:xfrm>
              <a:off x="10391775" y="5448300"/>
              <a:ext cx="1123950" cy="419100"/>
            </a:xfrm>
            <a:prstGeom prst="roundRect">
              <a:avLst>
                <a:gd name="adj" fmla="val 18181"/>
              </a:avLst>
            </a:prstGeom>
            <a:noFill/>
            <a:ln w="11906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10391775" y="5448300"/>
              <a:ext cx="112395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dk2"/>
                  </a:solidFill>
                </a:rPr>
                <a:t>展開C</a:t>
              </a:r>
            </a:p>
          </p:txBody>
        </p:sp>
        <p:cxnSp>
          <p:nvCxnSpPr>
            <p:cNvPr id="58" name="発散線3"/>
            <p:cNvCxnSpPr/>
            <p:nvPr/>
          </p:nvCxnSpPr>
          <p:spPr>
            <a:xfrm>
              <a:off x="9934575" y="5657850"/>
              <a:ext cx="419100" cy="0"/>
            </a:xfrm>
            <a:prstGeom prst="bentConnector3">
              <a:avLst/>
            </a:prstGeom>
            <a:ln w="11906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収束の矢印"/>
            <p:cNvCxnSpPr/>
            <p:nvPr/>
          </p:nvCxnSpPr>
          <p:spPr>
            <a:xfrm>
              <a:off x="8086725" y="4991100"/>
              <a:ext cx="485775" cy="0"/>
            </a:xfrm>
            <a:prstGeom prst="bentConnector3">
              <a:avLst/>
            </a:prstGeom>
            <a:ln w="11906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発散の幹"/>
            <p:cNvCxnSpPr/>
            <p:nvPr/>
          </p:nvCxnSpPr>
          <p:spPr>
            <a:xfrm>
              <a:off x="9410700" y="4991100"/>
              <a:ext cx="523875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統合点"/>
            <p:cNvSpPr/>
            <p:nvPr/>
          </p:nvSpPr>
          <p:spPr>
            <a:xfrm>
              <a:off x="8610600" y="4591050"/>
              <a:ext cx="800100" cy="800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8610600" y="4876800"/>
              <a:ext cx="8001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統合</a:t>
              </a:r>
            </a:p>
          </p:txBody>
        </p:sp>
      </p:grpSp>
      <p:sp>
        <p:nvSpPr>
          <p:cNvPr id="63" name="Rectangle 62"/>
          <p:cNvSpPr/>
          <p:nvPr/>
        </p:nvSpPr>
        <p:spPr>
          <a:xfrm>
            <a:off x="6219825" y="62674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12 収束-発散｜構造：因果（複数の入力を束ね、複数の打ち手へ）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95250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chemeClr val="dk2"/>
                </a:solidFill>
              </a:rPr>
              <a:t>注力すべきは、効果大×負荷小の3施策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390525" y="571500"/>
            <a:ext cx="8572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このスライドの部品もすべてコピーして使えます</a:t>
            </a:r>
          </a:p>
        </p:txBody>
      </p:sp>
      <p:grpSp>
        <p:nvGrpSpPr>
          <p:cNvPr id="5" name="使用例_マトリクス"/>
          <p:cNvGrpSpPr/>
          <p:nvPr/>
        </p:nvGrpSpPr>
        <p:grpSpPr>
          <a:xfrm>
            <a:off x="876300" y="1085850"/>
            <a:ext cx="5772150" cy="4114800"/>
            <a:chOff x="876300" y="1085850"/>
            <a:chExt cx="5772150" cy="4114800"/>
          </a:xfrm>
        </p:grpSpPr>
        <p:sp>
          <p:nvSpPr>
            <p:cNvPr id="6" name="注力象限ティント"/>
            <p:cNvSpPr/>
            <p:nvPr/>
          </p:nvSpPr>
          <p:spPr>
            <a:xfrm>
              <a:off x="1143000" y="1333500"/>
              <a:ext cx="2667000" cy="1809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外枠"/>
            <p:cNvSpPr/>
            <p:nvPr/>
          </p:nvSpPr>
          <p:spPr>
            <a:xfrm>
              <a:off x="1143000" y="1333500"/>
              <a:ext cx="5334000" cy="361950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縦仕切り"/>
            <p:cNvCxnSpPr/>
            <p:nvPr/>
          </p:nvCxnSpPr>
          <p:spPr>
            <a:xfrm>
              <a:off x="3810000" y="1333500"/>
              <a:ext cx="0" cy="36195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横仕切り"/>
            <p:cNvCxnSpPr/>
            <p:nvPr/>
          </p:nvCxnSpPr>
          <p:spPr>
            <a:xfrm>
              <a:off x="1143000" y="3143250"/>
              <a:ext cx="5334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縦軸（効果）"/>
            <p:cNvCxnSpPr/>
            <p:nvPr/>
          </p:nvCxnSpPr>
          <p:spPr>
            <a:xfrm flipV="1">
              <a:off x="1143000" y="1238250"/>
              <a:ext cx="0" cy="3714750"/>
            </a:xfrm>
            <a:prstGeom prst="bentConnector3">
              <a:avLst/>
            </a:prstGeom>
            <a:ln w="14287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横軸（負荷）"/>
            <p:cNvCxnSpPr/>
            <p:nvPr/>
          </p:nvCxnSpPr>
          <p:spPr>
            <a:xfrm>
              <a:off x="1143000" y="4953000"/>
              <a:ext cx="5429250" cy="0"/>
            </a:xfrm>
            <a:prstGeom prst="bentConnector3">
              <a:avLst/>
            </a:prstGeom>
            <a:ln w="14287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/>
            <p:cNvSpPr/>
            <p:nvPr/>
          </p:nvSpPr>
          <p:spPr>
            <a:xfrm>
              <a:off x="1257300" y="1085850"/>
              <a:ext cx="1524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効果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952750" y="5048250"/>
              <a:ext cx="1714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実行負荷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76300" y="1295400"/>
              <a:ext cx="190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高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457950" y="5048250"/>
              <a:ext cx="190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高</a:t>
              </a:r>
            </a:p>
          </p:txBody>
        </p:sp>
        <p:sp>
          <p:nvSpPr>
            <p:cNvPr id="16" name="最優先タグ"/>
            <p:cNvSpPr/>
            <p:nvPr/>
          </p:nvSpPr>
          <p:spPr>
            <a:xfrm>
              <a:off x="1295400" y="1466850"/>
              <a:ext cx="609600" cy="209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295400" y="1476375"/>
              <a:ext cx="6096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最優先</a:t>
              </a:r>
            </a:p>
          </p:txBody>
        </p:sp>
        <p:sp>
          <p:nvSpPr>
            <p:cNvPr id="18" name="施策Aプロット"/>
            <p:cNvSpPr/>
            <p:nvPr/>
          </p:nvSpPr>
          <p:spPr>
            <a:xfrm>
              <a:off x="1809750" y="1962150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000250" y="1933575"/>
              <a:ext cx="571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施策A</a:t>
              </a:r>
            </a:p>
          </p:txBody>
        </p:sp>
        <p:sp>
          <p:nvSpPr>
            <p:cNvPr id="20" name="施策Bプロット"/>
            <p:cNvSpPr/>
            <p:nvPr/>
          </p:nvSpPr>
          <p:spPr>
            <a:xfrm>
              <a:off x="2762250" y="2457450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952750" y="2428875"/>
              <a:ext cx="571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施策B</a:t>
              </a:r>
            </a:p>
          </p:txBody>
        </p:sp>
        <p:sp>
          <p:nvSpPr>
            <p:cNvPr id="22" name="施策Cプロット"/>
            <p:cNvSpPr/>
            <p:nvPr/>
          </p:nvSpPr>
          <p:spPr>
            <a:xfrm>
              <a:off x="2057400" y="2781300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247900" y="2752725"/>
              <a:ext cx="571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施策C</a:t>
              </a:r>
            </a:p>
          </p:txBody>
        </p:sp>
        <p:sp>
          <p:nvSpPr>
            <p:cNvPr id="24" name="施策Dプロット"/>
            <p:cNvSpPr/>
            <p:nvPr/>
          </p:nvSpPr>
          <p:spPr>
            <a:xfrm>
              <a:off x="4629150" y="2095500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819650" y="2066925"/>
              <a:ext cx="571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施策D</a:t>
              </a:r>
            </a:p>
          </p:txBody>
        </p:sp>
        <p:sp>
          <p:nvSpPr>
            <p:cNvPr id="26" name="施策Eプロット"/>
            <p:cNvSpPr/>
            <p:nvPr/>
          </p:nvSpPr>
          <p:spPr>
            <a:xfrm>
              <a:off x="4362450" y="4057650"/>
              <a:ext cx="133350" cy="1333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552950" y="4029075"/>
              <a:ext cx="571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施策E</a:t>
              </a:r>
            </a:p>
          </p:txBody>
        </p:sp>
        <p:sp>
          <p:nvSpPr>
            <p:cNvPr id="28" name="施策Fプロット"/>
            <p:cNvSpPr/>
            <p:nvPr/>
          </p:nvSpPr>
          <p:spPr>
            <a:xfrm>
              <a:off x="2362200" y="4248150"/>
              <a:ext cx="133350" cy="1333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552700" y="4219575"/>
              <a:ext cx="571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施策F</a:t>
              </a:r>
            </a:p>
          </p:txBody>
        </p:sp>
      </p:grpSp>
      <p:sp>
        <p:nvSpPr>
          <p:cNvPr id="30" name="Rectangle 29"/>
          <p:cNvSpPr/>
          <p:nvPr/>
        </p:nvSpPr>
        <p:spPr>
          <a:xfrm>
            <a:off x="1143000" y="5295900"/>
            <a:ext cx="4953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850">
                <a:solidFill>
                  <a:schemeClr val="accent5"/>
                </a:solidFill>
              </a:rPr>
              <a:t>出典：社内検討資料（2026年6月・対象6施策）</a:t>
            </a:r>
          </a:p>
        </p:txBody>
      </p:sp>
      <p:grpSp>
        <p:nvGrpSpPr>
          <p:cNvPr id="31" name="使用例_結論ボックス"/>
          <p:cNvGrpSpPr/>
          <p:nvPr/>
        </p:nvGrpSpPr>
        <p:grpSpPr>
          <a:xfrm>
            <a:off x="7048500" y="1428750"/>
            <a:ext cx="4381500" cy="1123950"/>
            <a:chOff x="7048500" y="1428750"/>
            <a:chExt cx="4381500" cy="1123950"/>
          </a:xfrm>
        </p:grpSpPr>
        <p:sp>
          <p:nvSpPr>
            <p:cNvPr id="32" name="結論パネル"/>
            <p:cNvSpPr/>
            <p:nvPr/>
          </p:nvSpPr>
          <p:spPr>
            <a:xfrm>
              <a:off x="7048500" y="1428750"/>
              <a:ext cx="4381500" cy="1123950"/>
            </a:xfrm>
            <a:prstGeom prst="roundRect">
              <a:avLst>
                <a:gd name="adj" fmla="val 8474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7315200" y="1638300"/>
              <a:ext cx="3848100" cy="457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400" b="1">
                  <a:solidFill>
                    <a:schemeClr val="lt1"/>
                  </a:solidFill>
                </a:rPr>
                <a:t>効果大×負荷小に集まった</a:t>
              </a:r>
            </a:p>
            <a:p>
              <a:pPr algn="l">
                <a:lnSpc>
                  <a:spcPct val="150000"/>
                </a:lnSpc>
              </a:pPr>
              <a:r>
                <a:rPr sz="1400" b="1">
                  <a:solidFill>
                    <a:schemeClr val="lt1"/>
                  </a:solidFill>
                </a:rPr>
                <a:t>施策A・B・Cから着手する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315200" y="2209800"/>
              <a:ext cx="3848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4"/>
                  </a:solidFill>
                </a:rPr>
                <a:t>根拠：全6施策を効果×実行負荷の2軸で評価</a:t>
              </a:r>
            </a:p>
          </p:txBody>
        </p:sp>
      </p:grpSp>
      <p:grpSp>
        <p:nvGrpSpPr>
          <p:cNvPr id="35" name="使用例_次アクション"/>
          <p:cNvGrpSpPr/>
          <p:nvPr/>
        </p:nvGrpSpPr>
        <p:grpSpPr>
          <a:xfrm>
            <a:off x="7048500" y="2857500"/>
            <a:ext cx="4381500" cy="1600200"/>
            <a:chOff x="7048500" y="2857500"/>
            <a:chExt cx="4381500" cy="1600200"/>
          </a:xfrm>
        </p:grpSpPr>
        <p:sp>
          <p:nvSpPr>
            <p:cNvPr id="36" name="次アクションカード"/>
            <p:cNvSpPr/>
            <p:nvPr/>
          </p:nvSpPr>
          <p:spPr>
            <a:xfrm>
              <a:off x="7048500" y="2857500"/>
              <a:ext cx="4381500" cy="1600200"/>
            </a:xfrm>
            <a:prstGeom prst="roundRect">
              <a:avLst>
                <a:gd name="adj" fmla="val 5952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7315200" y="3028950"/>
              <a:ext cx="38481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次のアクション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7315200" y="3314700"/>
              <a:ext cx="3848100" cy="952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80000"/>
                </a:lnSpc>
              </a:pPr>
              <a:r>
                <a:rPr sz="1050">
                  <a:solidFill>
                    <a:schemeClr val="dk1"/>
                  </a:solidFill>
                </a:rPr>
                <a:t>・施策A：今週中に着手（担当：営業企画）</a:t>
              </a:r>
            </a:p>
            <a:p>
              <a:pPr algn="l">
                <a:lnSpc>
                  <a:spcPct val="180000"/>
                </a:lnSpc>
              </a:pPr>
              <a:r>
                <a:rPr sz="1050">
                  <a:solidFill>
                    <a:schemeClr val="dk1"/>
                  </a:solidFill>
                </a:rPr>
                <a:t>・施策B：来週の定例で担当をアサイン</a:t>
              </a:r>
            </a:p>
            <a:p>
              <a:pPr algn="l">
                <a:lnSpc>
                  <a:spcPct val="180000"/>
                </a:lnSpc>
              </a:pPr>
              <a:r>
                <a:rPr sz="1050">
                  <a:solidFill>
                    <a:schemeClr val="dk1"/>
                  </a:solidFill>
                </a:rPr>
                <a:t>・施策C：外部見積もりを取得して規模を確定</a:t>
              </a:r>
            </a:p>
          </p:txBody>
        </p:sp>
      </p:grpSp>
      <p:grpSp>
        <p:nvGrpSpPr>
          <p:cNvPr id="39" name="使用例_評価軸メモ"/>
          <p:cNvGrpSpPr/>
          <p:nvPr/>
        </p:nvGrpSpPr>
        <p:grpSpPr>
          <a:xfrm>
            <a:off x="7048500" y="4724400"/>
            <a:ext cx="4267200" cy="704850"/>
            <a:chOff x="7048500" y="4724400"/>
            <a:chExt cx="4267200" cy="704850"/>
          </a:xfrm>
        </p:grpSpPr>
        <p:sp>
          <p:nvSpPr>
            <p:cNvPr id="40" name="引用バー"/>
            <p:cNvSpPr/>
            <p:nvPr/>
          </p:nvSpPr>
          <p:spPr>
            <a:xfrm>
              <a:off x="7048500" y="4724400"/>
              <a:ext cx="38100" cy="704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219950" y="4762500"/>
              <a:ext cx="4095750" cy="457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評価のものさしは「効果」と「実行負荷」の2軸に固定。</a:t>
              </a:r>
            </a:p>
            <a:p>
              <a:pPr algn="l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議論が発散したら、この図に戻って位置を確認する。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7219950" y="5257800"/>
              <a:ext cx="40957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— 検討会メモより</a:t>
              </a:r>
            </a:p>
          </p:txBody>
        </p:sp>
      </p:grpSp>
      <p:sp>
        <p:nvSpPr>
          <p:cNvPr id="43" name="Rectangle 42"/>
          <p:cNvSpPr/>
          <p:nvPr/>
        </p:nvSpPr>
        <p:spPr>
          <a:xfrm>
            <a:off x="390525" y="6419850"/>
            <a:ext cx="114109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パーツ図鑑｜⑥ 図解パターン — 組み込み例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72390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パーツ図鑑｜⑥ 図解パターン拡充 — 鉄板フレームワーク4種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配色は「デザイン＞配色」の変更に全図解が追従します</a:t>
            </a:r>
          </a:p>
        </p:txBody>
      </p:sp>
      <p:grpSp>
        <p:nvGrpSpPr>
          <p:cNvPr id="5" name="図解13_SWOT"/>
          <p:cNvGrpSpPr/>
          <p:nvPr/>
        </p:nvGrpSpPr>
        <p:grpSpPr>
          <a:xfrm>
            <a:off x="600075" y="1028700"/>
            <a:ext cx="4991100" cy="2076450"/>
            <a:chOff x="600075" y="1028700"/>
            <a:chExt cx="4991100" cy="2076450"/>
          </a:xfrm>
        </p:grpSpPr>
        <p:sp>
          <p:nvSpPr>
            <p:cNvPr id="6" name="上軸ラベル1"/>
            <p:cNvSpPr/>
            <p:nvPr/>
          </p:nvSpPr>
          <p:spPr>
            <a:xfrm>
              <a:off x="1457325" y="1028700"/>
              <a:ext cx="20383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プラス要因</a:t>
              </a:r>
            </a:p>
          </p:txBody>
        </p:sp>
        <p:sp>
          <p:nvSpPr>
            <p:cNvPr id="7" name="上軸ラベル2"/>
            <p:cNvSpPr/>
            <p:nvPr/>
          </p:nvSpPr>
          <p:spPr>
            <a:xfrm>
              <a:off x="3552825" y="1028700"/>
              <a:ext cx="20383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マイナス要因</a:t>
              </a:r>
            </a:p>
          </p:txBody>
        </p:sp>
        <p:sp>
          <p:nvSpPr>
            <p:cNvPr id="8" name="左軸ラベル1"/>
            <p:cNvSpPr/>
            <p:nvPr/>
          </p:nvSpPr>
          <p:spPr>
            <a:xfrm>
              <a:off x="600075" y="1609725"/>
              <a:ext cx="8001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内部環境</a:t>
              </a:r>
            </a:p>
          </p:txBody>
        </p:sp>
        <p:sp>
          <p:nvSpPr>
            <p:cNvPr id="9" name="左軸ラベル2"/>
            <p:cNvSpPr/>
            <p:nvPr/>
          </p:nvSpPr>
          <p:spPr>
            <a:xfrm>
              <a:off x="600075" y="2581275"/>
              <a:ext cx="8001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外部環境</a:t>
              </a:r>
            </a:p>
          </p:txBody>
        </p:sp>
        <p:sp>
          <p:nvSpPr>
            <p:cNvPr id="10" name="S象限"/>
            <p:cNvSpPr/>
            <p:nvPr/>
          </p:nvSpPr>
          <p:spPr>
            <a:xfrm>
              <a:off x="1457325" y="1219200"/>
              <a:ext cx="2038350" cy="914400"/>
            </a:xfrm>
            <a:prstGeom prst="roundRect">
              <a:avLst>
                <a:gd name="adj" fmla="val 625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590675" y="1295400"/>
              <a:ext cx="2476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S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876425" y="1343025"/>
              <a:ext cx="1143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強み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590675" y="1600200"/>
              <a:ext cx="177165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900">
                  <a:solidFill>
                    <a:schemeClr val="accent5"/>
                  </a:solidFill>
                </a:rPr>
                <a:t>テキストテキストテキスト</a:t>
              </a:r>
            </a:p>
          </p:txBody>
        </p:sp>
        <p:sp>
          <p:nvSpPr>
            <p:cNvPr id="14" name="W象限"/>
            <p:cNvSpPr/>
            <p:nvPr/>
          </p:nvSpPr>
          <p:spPr>
            <a:xfrm>
              <a:off x="3552825" y="1219200"/>
              <a:ext cx="2038350" cy="914400"/>
            </a:xfrm>
            <a:prstGeom prst="roundRect">
              <a:avLst>
                <a:gd name="adj" fmla="val 625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686175" y="1295400"/>
              <a:ext cx="2476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W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971925" y="1343025"/>
              <a:ext cx="1143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弱み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686175" y="1600200"/>
              <a:ext cx="177165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900">
                  <a:solidFill>
                    <a:schemeClr val="accent5"/>
                  </a:solidFill>
                </a:rPr>
                <a:t>テキストテキストテキスト</a:t>
              </a:r>
            </a:p>
          </p:txBody>
        </p:sp>
        <p:sp>
          <p:nvSpPr>
            <p:cNvPr id="18" name="O象限"/>
            <p:cNvSpPr/>
            <p:nvPr/>
          </p:nvSpPr>
          <p:spPr>
            <a:xfrm>
              <a:off x="1457325" y="2190750"/>
              <a:ext cx="2038350" cy="914400"/>
            </a:xfrm>
            <a:prstGeom prst="roundRect">
              <a:avLst>
                <a:gd name="adj" fmla="val 625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590675" y="2266950"/>
              <a:ext cx="2476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O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876425" y="2314575"/>
              <a:ext cx="1143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機会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590675" y="2571750"/>
              <a:ext cx="177165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900">
                  <a:solidFill>
                    <a:schemeClr val="accent5"/>
                  </a:solidFill>
                </a:rPr>
                <a:t>テキストテキストテキスト</a:t>
              </a:r>
            </a:p>
          </p:txBody>
        </p:sp>
        <p:sp>
          <p:nvSpPr>
            <p:cNvPr id="22" name="T象限"/>
            <p:cNvSpPr/>
            <p:nvPr/>
          </p:nvSpPr>
          <p:spPr>
            <a:xfrm>
              <a:off x="3552825" y="2190750"/>
              <a:ext cx="2038350" cy="914400"/>
            </a:xfrm>
            <a:prstGeom prst="roundRect">
              <a:avLst>
                <a:gd name="adj" fmla="val 625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686175" y="2266950"/>
              <a:ext cx="2476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T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971925" y="2314575"/>
              <a:ext cx="1143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脅威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686175" y="2571750"/>
              <a:ext cx="177165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900">
                  <a:solidFill>
                    <a:schemeClr val="accent5"/>
                  </a:solidFill>
                </a:rPr>
                <a:t>テキストテキストテキスト</a:t>
              </a:r>
            </a:p>
          </p:txBody>
        </p:sp>
      </p:grpSp>
      <p:sp>
        <p:nvSpPr>
          <p:cNvPr id="26" name="Rectangle 25"/>
          <p:cNvSpPr/>
          <p:nvPr/>
        </p:nvSpPr>
        <p:spPr>
          <a:xfrm>
            <a:off x="390525" y="33337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13 SWOT（2×2）｜構造：分類（内部×外部・プラス×マイナス）</a:t>
            </a:r>
          </a:p>
        </p:txBody>
      </p:sp>
      <p:grpSp>
        <p:nvGrpSpPr>
          <p:cNvPr id="27" name="図解14_3C分析"/>
          <p:cNvGrpSpPr/>
          <p:nvPr/>
        </p:nvGrpSpPr>
        <p:grpSpPr>
          <a:xfrm>
            <a:off x="7458075" y="1095375"/>
            <a:ext cx="3105150" cy="1952625"/>
            <a:chOff x="7458075" y="1095375"/>
            <a:chExt cx="3105150" cy="1952625"/>
          </a:xfrm>
        </p:grpSpPr>
        <p:cxnSp>
          <p:nvCxnSpPr>
            <p:cNvPr id="28" name="関係線1"/>
            <p:cNvCxnSpPr/>
            <p:nvPr/>
          </p:nvCxnSpPr>
          <p:spPr>
            <a:xfrm flipH="1">
              <a:off x="7943850" y="1581150"/>
              <a:ext cx="1066800" cy="981075"/>
            </a:xfrm>
            <a:prstGeom prst="bentConnector3">
              <a:avLst/>
            </a:prstGeom>
            <a:ln w="11906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関係線2"/>
            <p:cNvCxnSpPr/>
            <p:nvPr/>
          </p:nvCxnSpPr>
          <p:spPr>
            <a:xfrm>
              <a:off x="9010650" y="1581150"/>
              <a:ext cx="1066800" cy="981075"/>
            </a:xfrm>
            <a:prstGeom prst="bentConnector3">
              <a:avLst/>
            </a:prstGeom>
            <a:ln w="11906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関係線3"/>
            <p:cNvCxnSpPr/>
            <p:nvPr/>
          </p:nvCxnSpPr>
          <p:spPr>
            <a:xfrm>
              <a:off x="7943850" y="2562225"/>
              <a:ext cx="2133600" cy="0"/>
            </a:xfrm>
            <a:prstGeom prst="bentConnector3">
              <a:avLst/>
            </a:prstGeom>
            <a:ln w="11906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円_顧客"/>
            <p:cNvSpPr/>
            <p:nvPr/>
          </p:nvSpPr>
          <p:spPr>
            <a:xfrm>
              <a:off x="8524875" y="1095375"/>
              <a:ext cx="971550" cy="9715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524875" y="1409700"/>
              <a:ext cx="9715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顧客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8524875" y="1647825"/>
              <a:ext cx="97155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750">
                  <a:solidFill>
                    <a:schemeClr val="accent5"/>
                  </a:solidFill>
                </a:rPr>
                <a:t>Customer</a:t>
              </a:r>
            </a:p>
          </p:txBody>
        </p:sp>
        <p:sp>
          <p:nvSpPr>
            <p:cNvPr id="34" name="円_競合"/>
            <p:cNvSpPr/>
            <p:nvPr/>
          </p:nvSpPr>
          <p:spPr>
            <a:xfrm>
              <a:off x="7458075" y="2076450"/>
              <a:ext cx="971550" cy="9715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458075" y="2390775"/>
              <a:ext cx="9715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競合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458075" y="2628900"/>
              <a:ext cx="97155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750">
                  <a:solidFill>
                    <a:schemeClr val="accent5"/>
                  </a:solidFill>
                </a:rPr>
                <a:t>Competitor</a:t>
              </a:r>
            </a:p>
          </p:txBody>
        </p:sp>
        <p:sp>
          <p:nvSpPr>
            <p:cNvPr id="37" name="円_自社"/>
            <p:cNvSpPr/>
            <p:nvPr/>
          </p:nvSpPr>
          <p:spPr>
            <a:xfrm>
              <a:off x="9591675" y="2076450"/>
              <a:ext cx="971550" cy="971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9591675" y="2390775"/>
              <a:ext cx="9715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lt1"/>
                  </a:solidFill>
                </a:rPr>
                <a:t>自社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9591675" y="2628900"/>
              <a:ext cx="97155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750">
                  <a:solidFill>
                    <a:schemeClr val="accent4"/>
                  </a:solidFill>
                </a:rPr>
                <a:t>Company</a:t>
              </a:r>
            </a:p>
          </p:txBody>
        </p:sp>
      </p:grpSp>
      <p:sp>
        <p:nvSpPr>
          <p:cNvPr id="40" name="Rectangle 39"/>
          <p:cNvSpPr/>
          <p:nvPr/>
        </p:nvSpPr>
        <p:spPr>
          <a:xfrm>
            <a:off x="6219825" y="33337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14 3C分析｜構造：分類（顧客・競合・自社で市場を俯瞰）</a:t>
            </a:r>
          </a:p>
        </p:txBody>
      </p:sp>
      <p:grpSp>
        <p:nvGrpSpPr>
          <p:cNvPr id="41" name="図解15_KPIツリー"/>
          <p:cNvGrpSpPr/>
          <p:nvPr/>
        </p:nvGrpSpPr>
        <p:grpSpPr>
          <a:xfrm>
            <a:off x="619125" y="4019550"/>
            <a:ext cx="4781550" cy="1638300"/>
            <a:chOff x="619125" y="4019550"/>
            <a:chExt cx="4781550" cy="1638300"/>
          </a:xfrm>
        </p:grpSpPr>
        <p:sp>
          <p:nvSpPr>
            <p:cNvPr id="42" name="KGI"/>
            <p:cNvSpPr/>
            <p:nvPr/>
          </p:nvSpPr>
          <p:spPr>
            <a:xfrm>
              <a:off x="619125" y="4743450"/>
              <a:ext cx="1143000" cy="533400"/>
            </a:xfrm>
            <a:prstGeom prst="roundRect">
              <a:avLst>
                <a:gd name="adj" fmla="val 14285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619125" y="4838700"/>
              <a:ext cx="1143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lt1"/>
                  </a:solidFill>
                </a:rPr>
                <a:t>KGI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19125" y="5038725"/>
              <a:ext cx="1143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4"/>
                  </a:solidFill>
                </a:rPr>
                <a:t>数値目標</a:t>
              </a:r>
            </a:p>
          </p:txBody>
        </p:sp>
        <p:cxnSp>
          <p:nvCxnSpPr>
            <p:cNvPr id="45" name="幹"/>
            <p:cNvCxnSpPr/>
            <p:nvPr/>
          </p:nvCxnSpPr>
          <p:spPr>
            <a:xfrm>
              <a:off x="1762125" y="5010150"/>
              <a:ext cx="34290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背骨1"/>
            <p:cNvCxnSpPr/>
            <p:nvPr/>
          </p:nvCxnSpPr>
          <p:spPr>
            <a:xfrm>
              <a:off x="2105025" y="4533900"/>
              <a:ext cx="0" cy="91440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枝1a"/>
            <p:cNvCxnSpPr/>
            <p:nvPr/>
          </p:nvCxnSpPr>
          <p:spPr>
            <a:xfrm>
              <a:off x="2105025" y="4533900"/>
              <a:ext cx="28575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枝1b"/>
            <p:cNvCxnSpPr/>
            <p:nvPr/>
          </p:nvCxnSpPr>
          <p:spPr>
            <a:xfrm>
              <a:off x="2105025" y="5448300"/>
              <a:ext cx="28575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KPI①"/>
            <p:cNvSpPr/>
            <p:nvPr/>
          </p:nvSpPr>
          <p:spPr>
            <a:xfrm>
              <a:off x="2390775" y="4324350"/>
              <a:ext cx="1143000" cy="419100"/>
            </a:xfrm>
            <a:prstGeom prst="roundRect">
              <a:avLst>
                <a:gd name="adj" fmla="val 18181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2390775" y="4324350"/>
              <a:ext cx="114300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KPI①</a:t>
              </a:r>
            </a:p>
          </p:txBody>
        </p:sp>
        <p:sp>
          <p:nvSpPr>
            <p:cNvPr id="51" name="KPI②"/>
            <p:cNvSpPr/>
            <p:nvPr/>
          </p:nvSpPr>
          <p:spPr>
            <a:xfrm>
              <a:off x="2390775" y="5238750"/>
              <a:ext cx="1143000" cy="419100"/>
            </a:xfrm>
            <a:prstGeom prst="roundRect">
              <a:avLst>
                <a:gd name="adj" fmla="val 18181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2390775" y="5238750"/>
              <a:ext cx="114300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KPI②</a:t>
              </a:r>
            </a:p>
          </p:txBody>
        </p:sp>
        <p:sp>
          <p:nvSpPr>
            <p:cNvPr id="53" name="演算子×"/>
            <p:cNvSpPr/>
            <p:nvPr/>
          </p:nvSpPr>
          <p:spPr>
            <a:xfrm>
              <a:off x="2828925" y="4857750"/>
              <a:ext cx="266700" cy="266700"/>
            </a:xfrm>
            <a:prstGeom prst="ellipse">
              <a:avLst/>
            </a:prstGeom>
            <a:solidFill>
              <a:schemeClr val="lt1"/>
            </a:solidFill>
            <a:ln w="11906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2828925" y="4857750"/>
              <a:ext cx="2667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×</a:t>
              </a:r>
            </a:p>
          </p:txBody>
        </p:sp>
        <p:cxnSp>
          <p:nvCxnSpPr>
            <p:cNvPr id="55" name="幹2"/>
            <p:cNvCxnSpPr/>
            <p:nvPr/>
          </p:nvCxnSpPr>
          <p:spPr>
            <a:xfrm>
              <a:off x="3533775" y="4533900"/>
              <a:ext cx="34290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背骨2"/>
            <p:cNvCxnSpPr/>
            <p:nvPr/>
          </p:nvCxnSpPr>
          <p:spPr>
            <a:xfrm>
              <a:off x="3876675" y="4210050"/>
              <a:ext cx="0" cy="66675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枝2a"/>
            <p:cNvCxnSpPr/>
            <p:nvPr/>
          </p:nvCxnSpPr>
          <p:spPr>
            <a:xfrm>
              <a:off x="3876675" y="4210050"/>
              <a:ext cx="28575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枝2b"/>
            <p:cNvCxnSpPr/>
            <p:nvPr/>
          </p:nvCxnSpPr>
          <p:spPr>
            <a:xfrm>
              <a:off x="3876675" y="4876800"/>
              <a:ext cx="28575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指標a"/>
            <p:cNvSpPr/>
            <p:nvPr/>
          </p:nvSpPr>
          <p:spPr>
            <a:xfrm>
              <a:off x="4162425" y="4019550"/>
              <a:ext cx="1238250" cy="381000"/>
            </a:xfrm>
            <a:prstGeom prst="roundRect">
              <a:avLst>
                <a:gd name="adj" fmla="val 20000"/>
              </a:avLst>
            </a:prstGeom>
            <a:noFill/>
            <a:ln w="11906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4162425" y="4019550"/>
              <a:ext cx="12382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dk2"/>
                  </a:solidFill>
                </a:rPr>
                <a:t>指標a</a:t>
              </a:r>
            </a:p>
          </p:txBody>
        </p:sp>
        <p:sp>
          <p:nvSpPr>
            <p:cNvPr id="61" name="指標b"/>
            <p:cNvSpPr/>
            <p:nvPr/>
          </p:nvSpPr>
          <p:spPr>
            <a:xfrm>
              <a:off x="4162425" y="4686300"/>
              <a:ext cx="1238250" cy="381000"/>
            </a:xfrm>
            <a:prstGeom prst="roundRect">
              <a:avLst>
                <a:gd name="adj" fmla="val 20000"/>
              </a:avLst>
            </a:prstGeom>
            <a:noFill/>
            <a:ln w="11906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4162425" y="4686300"/>
              <a:ext cx="12382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dk2"/>
                  </a:solidFill>
                </a:rPr>
                <a:t>指標b</a:t>
              </a:r>
            </a:p>
          </p:txBody>
        </p:sp>
        <p:sp>
          <p:nvSpPr>
            <p:cNvPr id="63" name="演算子＋"/>
            <p:cNvSpPr/>
            <p:nvPr/>
          </p:nvSpPr>
          <p:spPr>
            <a:xfrm>
              <a:off x="4648200" y="4410075"/>
              <a:ext cx="266700" cy="266700"/>
            </a:xfrm>
            <a:prstGeom prst="ellipse">
              <a:avLst/>
            </a:prstGeom>
            <a:solidFill>
              <a:schemeClr val="lt1"/>
            </a:solidFill>
            <a:ln w="11906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4648200" y="4410075"/>
              <a:ext cx="2667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＋</a:t>
              </a:r>
            </a:p>
          </p:txBody>
        </p:sp>
      </p:grpSp>
      <p:sp>
        <p:nvSpPr>
          <p:cNvPr id="65" name="Rectangle 64"/>
          <p:cNvSpPr/>
          <p:nvPr/>
        </p:nvSpPr>
        <p:spPr>
          <a:xfrm>
            <a:off x="390525" y="62674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15 KPIツリー｜構造：因果（KGI＝KPI①×KPI②と演算で分解）</a:t>
            </a:r>
          </a:p>
        </p:txBody>
      </p:sp>
      <p:grpSp>
        <p:nvGrpSpPr>
          <p:cNvPr id="66" name="図解16_PDCAサイクル"/>
          <p:cNvGrpSpPr/>
          <p:nvPr/>
        </p:nvGrpSpPr>
        <p:grpSpPr>
          <a:xfrm>
            <a:off x="7581900" y="3924300"/>
            <a:ext cx="2857500" cy="2095500"/>
            <a:chOff x="7581900" y="3924300"/>
            <a:chExt cx="2857500" cy="2095500"/>
          </a:xfrm>
        </p:grpSpPr>
        <p:sp>
          <p:nvSpPr>
            <p:cNvPr id="67" name="円_P"/>
            <p:cNvSpPr/>
            <p:nvPr/>
          </p:nvSpPr>
          <p:spPr>
            <a:xfrm>
              <a:off x="8648700" y="3924300"/>
              <a:ext cx="723900" cy="72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8648700" y="4076700"/>
              <a:ext cx="7239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P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8648700" y="4343400"/>
              <a:ext cx="7239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4"/>
                  </a:solidFill>
                </a:rPr>
                <a:t>計画</a:t>
              </a:r>
            </a:p>
          </p:txBody>
        </p:sp>
        <p:sp>
          <p:nvSpPr>
            <p:cNvPr id="70" name="円_D"/>
            <p:cNvSpPr/>
            <p:nvPr/>
          </p:nvSpPr>
          <p:spPr>
            <a:xfrm>
              <a:off x="9715500" y="4610100"/>
              <a:ext cx="723900" cy="723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9715500" y="4762500"/>
              <a:ext cx="7239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D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9715500" y="5029200"/>
              <a:ext cx="7239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実行</a:t>
              </a:r>
            </a:p>
          </p:txBody>
        </p:sp>
        <p:sp>
          <p:nvSpPr>
            <p:cNvPr id="73" name="円_C"/>
            <p:cNvSpPr/>
            <p:nvPr/>
          </p:nvSpPr>
          <p:spPr>
            <a:xfrm>
              <a:off x="8648700" y="5295900"/>
              <a:ext cx="723900" cy="723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8648700" y="5448300"/>
              <a:ext cx="7239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C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8648700" y="5715000"/>
              <a:ext cx="7239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評価</a:t>
              </a:r>
            </a:p>
          </p:txBody>
        </p:sp>
        <p:sp>
          <p:nvSpPr>
            <p:cNvPr id="76" name="円_A"/>
            <p:cNvSpPr/>
            <p:nvPr/>
          </p:nvSpPr>
          <p:spPr>
            <a:xfrm>
              <a:off x="7581900" y="4610100"/>
              <a:ext cx="723900" cy="723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7581900" y="4762500"/>
              <a:ext cx="7239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A</a:t>
              </a: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7581900" y="5029200"/>
              <a:ext cx="7239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改善</a:t>
              </a:r>
            </a:p>
          </p:txBody>
        </p:sp>
        <p:cxnSp>
          <p:nvCxnSpPr>
            <p:cNvPr id="79" name="矢印1"/>
            <p:cNvCxnSpPr/>
            <p:nvPr/>
          </p:nvCxnSpPr>
          <p:spPr>
            <a:xfrm>
              <a:off x="9344025" y="4505325"/>
              <a:ext cx="400050" cy="247650"/>
            </a:xfrm>
            <a:prstGeom prst="bentConnector3">
              <a:avLst/>
            </a:prstGeom>
            <a:ln w="14287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矢印2"/>
            <p:cNvCxnSpPr/>
            <p:nvPr/>
          </p:nvCxnSpPr>
          <p:spPr>
            <a:xfrm flipH="1">
              <a:off x="9344025" y="5191125"/>
              <a:ext cx="400050" cy="247650"/>
            </a:xfrm>
            <a:prstGeom prst="bentConnector3">
              <a:avLst/>
            </a:prstGeom>
            <a:ln w="14287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矢印3"/>
            <p:cNvCxnSpPr/>
            <p:nvPr/>
          </p:nvCxnSpPr>
          <p:spPr>
            <a:xfrm flipH="1" flipV="1">
              <a:off x="8277225" y="5191125"/>
              <a:ext cx="400050" cy="247650"/>
            </a:xfrm>
            <a:prstGeom prst="bentConnector3">
              <a:avLst/>
            </a:prstGeom>
            <a:ln w="14287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矢印4"/>
            <p:cNvCxnSpPr/>
            <p:nvPr/>
          </p:nvCxnSpPr>
          <p:spPr>
            <a:xfrm flipV="1">
              <a:off x="8277225" y="4505325"/>
              <a:ext cx="400050" cy="247650"/>
            </a:xfrm>
            <a:prstGeom prst="bentConnector3">
              <a:avLst/>
            </a:prstGeom>
            <a:ln w="14287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中心テーマ"/>
            <p:cNvSpPr/>
            <p:nvPr/>
          </p:nvSpPr>
          <p:spPr>
            <a:xfrm>
              <a:off x="8582025" y="4857750"/>
              <a:ext cx="8572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継続的改善</a:t>
              </a:r>
            </a:p>
          </p:txBody>
        </p:sp>
      </p:grpSp>
      <p:sp>
        <p:nvSpPr>
          <p:cNvPr id="84" name="Rectangle 83"/>
          <p:cNvSpPr/>
          <p:nvPr/>
        </p:nvSpPr>
        <p:spPr>
          <a:xfrm>
            <a:off x="6219825" y="62674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16 PDCAサイクル｜構造：順序（循環。Pが起点で時計回り）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72390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パーツ図鑑｜⑥ 図解パターン拡充 — プロセス・因果4種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テキストを打ち替えるだけで完成します</a:t>
            </a:r>
          </a:p>
        </p:txBody>
      </p:sp>
      <p:grpSp>
        <p:nvGrpSpPr>
          <p:cNvPr id="5" name="図解17_バリューチェーン"/>
          <p:cNvGrpSpPr/>
          <p:nvPr/>
        </p:nvGrpSpPr>
        <p:grpSpPr>
          <a:xfrm>
            <a:off x="676275" y="933450"/>
            <a:ext cx="4552950" cy="1905000"/>
            <a:chOff x="676275" y="933450"/>
            <a:chExt cx="4552950" cy="1905000"/>
          </a:xfrm>
        </p:grpSpPr>
        <p:sp>
          <p:nvSpPr>
            <p:cNvPr id="6" name="区分1"/>
            <p:cNvSpPr/>
            <p:nvPr/>
          </p:nvSpPr>
          <p:spPr>
            <a:xfrm>
              <a:off x="676275" y="933450"/>
              <a:ext cx="114300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支援活動</a:t>
              </a:r>
            </a:p>
          </p:txBody>
        </p:sp>
        <p:sp>
          <p:nvSpPr>
            <p:cNvPr id="7" name="支援帯_経営管理"/>
            <p:cNvSpPr/>
            <p:nvPr/>
          </p:nvSpPr>
          <p:spPr>
            <a:xfrm>
              <a:off x="676275" y="1085850"/>
              <a:ext cx="4476750" cy="209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790575" y="1114425"/>
              <a:ext cx="190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経営管理</a:t>
              </a:r>
            </a:p>
          </p:txBody>
        </p:sp>
        <p:sp>
          <p:nvSpPr>
            <p:cNvPr id="9" name="支援帯_人事・労務"/>
            <p:cNvSpPr/>
            <p:nvPr/>
          </p:nvSpPr>
          <p:spPr>
            <a:xfrm>
              <a:off x="676275" y="1333500"/>
              <a:ext cx="4476750" cy="209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790575" y="1362075"/>
              <a:ext cx="190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人事・労務</a:t>
              </a:r>
            </a:p>
          </p:txBody>
        </p:sp>
        <p:sp>
          <p:nvSpPr>
            <p:cNvPr id="11" name="支援帯_技術開発"/>
            <p:cNvSpPr/>
            <p:nvPr/>
          </p:nvSpPr>
          <p:spPr>
            <a:xfrm>
              <a:off x="676275" y="1581150"/>
              <a:ext cx="4476750" cy="209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90575" y="1609725"/>
              <a:ext cx="190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技術開発</a:t>
              </a:r>
            </a:p>
          </p:txBody>
        </p:sp>
        <p:sp>
          <p:nvSpPr>
            <p:cNvPr id="13" name="支援帯_調達"/>
            <p:cNvSpPr/>
            <p:nvPr/>
          </p:nvSpPr>
          <p:spPr>
            <a:xfrm>
              <a:off x="676275" y="1828800"/>
              <a:ext cx="4476750" cy="209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90575" y="1857375"/>
              <a:ext cx="190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調達</a:t>
              </a:r>
            </a:p>
          </p:txBody>
        </p:sp>
        <p:sp>
          <p:nvSpPr>
            <p:cNvPr id="15" name="区分2"/>
            <p:cNvSpPr/>
            <p:nvPr/>
          </p:nvSpPr>
          <p:spPr>
            <a:xfrm>
              <a:off x="676275" y="2095500"/>
              <a:ext cx="114300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主活動</a:t>
              </a:r>
            </a:p>
          </p:txBody>
        </p:sp>
        <p:sp>
          <p:nvSpPr>
            <p:cNvPr id="16" name="主活動_調達"/>
            <p:cNvSpPr/>
            <p:nvPr/>
          </p:nvSpPr>
          <p:spPr>
            <a:xfrm>
              <a:off x="676275" y="2247900"/>
              <a:ext cx="895350" cy="590550"/>
            </a:xfrm>
            <a:custGeom>
              <a:avLst/>
              <a:gdLst/>
              <a:ahLst/>
              <a:cxnLst/>
              <a:rect l="0" t="0" r="895350" b="590550"/>
              <a:pathLst>
                <a:path w="895350" h="590550">
                  <a:moveTo>
                    <a:pt x="0" y="0"/>
                  </a:moveTo>
                  <a:lnTo>
                    <a:pt x="742950" y="0"/>
                  </a:lnTo>
                  <a:lnTo>
                    <a:pt x="895350" y="295275"/>
                  </a:lnTo>
                  <a:lnTo>
                    <a:pt x="742950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33425" y="2457450"/>
              <a:ext cx="7048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調達</a:t>
              </a:r>
            </a:p>
          </p:txBody>
        </p:sp>
        <p:sp>
          <p:nvSpPr>
            <p:cNvPr id="18" name="主活動_製造"/>
            <p:cNvSpPr/>
            <p:nvPr/>
          </p:nvSpPr>
          <p:spPr>
            <a:xfrm>
              <a:off x="1590675" y="2247900"/>
              <a:ext cx="895350" cy="590550"/>
            </a:xfrm>
            <a:custGeom>
              <a:avLst/>
              <a:gdLst/>
              <a:ahLst/>
              <a:cxnLst/>
              <a:rect l="0" t="0" r="895350" b="590550"/>
              <a:pathLst>
                <a:path w="895350" h="590550">
                  <a:moveTo>
                    <a:pt x="0" y="0"/>
                  </a:moveTo>
                  <a:lnTo>
                    <a:pt x="742950" y="0"/>
                  </a:lnTo>
                  <a:lnTo>
                    <a:pt x="895350" y="295275"/>
                  </a:lnTo>
                  <a:lnTo>
                    <a:pt x="742950" y="590550"/>
                  </a:lnTo>
                  <a:lnTo>
                    <a:pt x="0" y="590550"/>
                  </a:lnTo>
                  <a:lnTo>
                    <a:pt x="152400" y="29527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724025" y="2457450"/>
              <a:ext cx="7048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製造</a:t>
              </a:r>
            </a:p>
          </p:txBody>
        </p:sp>
        <p:sp>
          <p:nvSpPr>
            <p:cNvPr id="20" name="主活動_物流"/>
            <p:cNvSpPr/>
            <p:nvPr/>
          </p:nvSpPr>
          <p:spPr>
            <a:xfrm>
              <a:off x="2505075" y="2247900"/>
              <a:ext cx="895350" cy="590550"/>
            </a:xfrm>
            <a:custGeom>
              <a:avLst/>
              <a:gdLst/>
              <a:ahLst/>
              <a:cxnLst/>
              <a:rect l="0" t="0" r="895350" b="590550"/>
              <a:pathLst>
                <a:path w="895350" h="590550">
                  <a:moveTo>
                    <a:pt x="0" y="0"/>
                  </a:moveTo>
                  <a:lnTo>
                    <a:pt x="742950" y="0"/>
                  </a:lnTo>
                  <a:lnTo>
                    <a:pt x="895350" y="295275"/>
                  </a:lnTo>
                  <a:lnTo>
                    <a:pt x="742950" y="590550"/>
                  </a:lnTo>
                  <a:lnTo>
                    <a:pt x="0" y="590550"/>
                  </a:lnTo>
                  <a:lnTo>
                    <a:pt x="152400" y="29527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638425" y="2457450"/>
              <a:ext cx="7048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物流</a:t>
              </a:r>
            </a:p>
          </p:txBody>
        </p:sp>
        <p:sp>
          <p:nvSpPr>
            <p:cNvPr id="22" name="主活動_販売"/>
            <p:cNvSpPr/>
            <p:nvPr/>
          </p:nvSpPr>
          <p:spPr>
            <a:xfrm>
              <a:off x="3419475" y="2247900"/>
              <a:ext cx="895350" cy="590550"/>
            </a:xfrm>
            <a:custGeom>
              <a:avLst/>
              <a:gdLst/>
              <a:ahLst/>
              <a:cxnLst/>
              <a:rect l="0" t="0" r="895350" b="590550"/>
              <a:pathLst>
                <a:path w="895350" h="590550">
                  <a:moveTo>
                    <a:pt x="0" y="0"/>
                  </a:moveTo>
                  <a:lnTo>
                    <a:pt x="742950" y="0"/>
                  </a:lnTo>
                  <a:lnTo>
                    <a:pt x="895350" y="295275"/>
                  </a:lnTo>
                  <a:lnTo>
                    <a:pt x="742950" y="590550"/>
                  </a:lnTo>
                  <a:lnTo>
                    <a:pt x="0" y="590550"/>
                  </a:lnTo>
                  <a:lnTo>
                    <a:pt x="152400" y="29527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552825" y="2457450"/>
              <a:ext cx="7048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販売</a:t>
              </a:r>
            </a:p>
          </p:txBody>
        </p:sp>
        <p:sp>
          <p:nvSpPr>
            <p:cNvPr id="24" name="主活動_保守"/>
            <p:cNvSpPr/>
            <p:nvPr/>
          </p:nvSpPr>
          <p:spPr>
            <a:xfrm>
              <a:off x="4333875" y="2247900"/>
              <a:ext cx="895350" cy="590550"/>
            </a:xfrm>
            <a:custGeom>
              <a:avLst/>
              <a:gdLst/>
              <a:ahLst/>
              <a:cxnLst/>
              <a:rect l="0" t="0" r="895350" b="590550"/>
              <a:pathLst>
                <a:path w="895350" h="590550">
                  <a:moveTo>
                    <a:pt x="0" y="0"/>
                  </a:moveTo>
                  <a:lnTo>
                    <a:pt x="742950" y="0"/>
                  </a:lnTo>
                  <a:lnTo>
                    <a:pt x="895350" y="295275"/>
                  </a:lnTo>
                  <a:lnTo>
                    <a:pt x="742950" y="590550"/>
                  </a:lnTo>
                  <a:lnTo>
                    <a:pt x="0" y="590550"/>
                  </a:lnTo>
                  <a:lnTo>
                    <a:pt x="152400" y="29527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467225" y="2457450"/>
              <a:ext cx="7048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保守</a:t>
              </a:r>
            </a:p>
          </p:txBody>
        </p:sp>
      </p:grpSp>
      <p:sp>
        <p:nvSpPr>
          <p:cNvPr id="26" name="Rectangle 25"/>
          <p:cNvSpPr/>
          <p:nvPr/>
        </p:nvSpPr>
        <p:spPr>
          <a:xfrm>
            <a:off x="390525" y="33337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17 バリューチェーン｜構造：順序（支援活動×主活動。工程名は打ち替え）</a:t>
            </a:r>
          </a:p>
        </p:txBody>
      </p:sp>
      <p:grpSp>
        <p:nvGrpSpPr>
          <p:cNvPr id="27" name="図解18_フィッシュボーン"/>
          <p:cNvGrpSpPr/>
          <p:nvPr/>
        </p:nvGrpSpPr>
        <p:grpSpPr>
          <a:xfrm>
            <a:off x="6505575" y="1028700"/>
            <a:ext cx="5067300" cy="2133600"/>
            <a:chOff x="6505575" y="1028700"/>
            <a:chExt cx="5067300" cy="2133600"/>
          </a:xfrm>
        </p:grpSpPr>
        <p:cxnSp>
          <p:nvCxnSpPr>
            <p:cNvPr id="28" name="背骨"/>
            <p:cNvCxnSpPr/>
            <p:nvPr/>
          </p:nvCxnSpPr>
          <p:spPr>
            <a:xfrm>
              <a:off x="6505575" y="2095500"/>
              <a:ext cx="3886200" cy="0"/>
            </a:xfrm>
            <a:prstGeom prst="bentConnector3">
              <a:avLst/>
            </a:prstGeom>
            <a:ln w="14287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結果"/>
            <p:cNvSpPr/>
            <p:nvPr/>
          </p:nvSpPr>
          <p:spPr>
            <a:xfrm>
              <a:off x="10467975" y="1847850"/>
              <a:ext cx="1104900" cy="495300"/>
            </a:xfrm>
            <a:prstGeom prst="roundRect">
              <a:avLst>
                <a:gd name="adj" fmla="val 15384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467975" y="1847850"/>
              <a:ext cx="11049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結果・課題</a:t>
              </a:r>
            </a:p>
          </p:txBody>
        </p:sp>
        <p:cxnSp>
          <p:nvCxnSpPr>
            <p:cNvPr id="31" name="大骨1"/>
            <p:cNvCxnSpPr/>
            <p:nvPr/>
          </p:nvCxnSpPr>
          <p:spPr>
            <a:xfrm flipH="1" flipV="1">
              <a:off x="7153275" y="1276350"/>
              <a:ext cx="495300" cy="81915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小骨1"/>
            <p:cNvCxnSpPr/>
            <p:nvPr/>
          </p:nvCxnSpPr>
          <p:spPr>
            <a:xfrm>
              <a:off x="7400925" y="1685925"/>
              <a:ext cx="2476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箱_要因A"/>
            <p:cNvSpPr/>
            <p:nvPr/>
          </p:nvSpPr>
          <p:spPr>
            <a:xfrm>
              <a:off x="6734175" y="1028700"/>
              <a:ext cx="838200" cy="247650"/>
            </a:xfrm>
            <a:prstGeom prst="roundRect">
              <a:avLst>
                <a:gd name="adj" fmla="val 23076"/>
              </a:avLst>
            </a:prstGeom>
            <a:noFill/>
            <a:ln w="11906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734175" y="1028700"/>
              <a:ext cx="8382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dk2"/>
                  </a:solidFill>
                </a:rPr>
                <a:t>要因A</a:t>
              </a:r>
            </a:p>
          </p:txBody>
        </p:sp>
        <p:cxnSp>
          <p:nvCxnSpPr>
            <p:cNvPr id="35" name="大骨2"/>
            <p:cNvCxnSpPr/>
            <p:nvPr/>
          </p:nvCxnSpPr>
          <p:spPr>
            <a:xfrm flipH="1" flipV="1">
              <a:off x="8486775" y="1276350"/>
              <a:ext cx="495300" cy="81915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小骨2"/>
            <p:cNvCxnSpPr/>
            <p:nvPr/>
          </p:nvCxnSpPr>
          <p:spPr>
            <a:xfrm>
              <a:off x="8734425" y="1685925"/>
              <a:ext cx="2476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箱_要因B"/>
            <p:cNvSpPr/>
            <p:nvPr/>
          </p:nvSpPr>
          <p:spPr>
            <a:xfrm>
              <a:off x="8067675" y="1028700"/>
              <a:ext cx="838200" cy="247650"/>
            </a:xfrm>
            <a:prstGeom prst="roundRect">
              <a:avLst>
                <a:gd name="adj" fmla="val 23076"/>
              </a:avLst>
            </a:prstGeom>
            <a:noFill/>
            <a:ln w="11906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8067675" y="1028700"/>
              <a:ext cx="8382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dk2"/>
                  </a:solidFill>
                </a:rPr>
                <a:t>要因B</a:t>
              </a:r>
            </a:p>
          </p:txBody>
        </p:sp>
        <p:cxnSp>
          <p:nvCxnSpPr>
            <p:cNvPr id="39" name="大骨3"/>
            <p:cNvCxnSpPr/>
            <p:nvPr/>
          </p:nvCxnSpPr>
          <p:spPr>
            <a:xfrm flipH="1">
              <a:off x="7820025" y="2095500"/>
              <a:ext cx="495300" cy="81915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小骨3"/>
            <p:cNvCxnSpPr/>
            <p:nvPr/>
          </p:nvCxnSpPr>
          <p:spPr>
            <a:xfrm>
              <a:off x="8067675" y="2505075"/>
              <a:ext cx="2476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箱_要因C"/>
            <p:cNvSpPr/>
            <p:nvPr/>
          </p:nvSpPr>
          <p:spPr>
            <a:xfrm>
              <a:off x="7400925" y="2914650"/>
              <a:ext cx="838200" cy="247650"/>
            </a:xfrm>
            <a:prstGeom prst="roundRect">
              <a:avLst>
                <a:gd name="adj" fmla="val 23076"/>
              </a:avLst>
            </a:prstGeom>
            <a:noFill/>
            <a:ln w="11906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7400925" y="2914650"/>
              <a:ext cx="8382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dk2"/>
                  </a:solidFill>
                </a:rPr>
                <a:t>要因C</a:t>
              </a:r>
            </a:p>
          </p:txBody>
        </p:sp>
        <p:cxnSp>
          <p:nvCxnSpPr>
            <p:cNvPr id="43" name="大骨4"/>
            <p:cNvCxnSpPr/>
            <p:nvPr/>
          </p:nvCxnSpPr>
          <p:spPr>
            <a:xfrm flipH="1">
              <a:off x="9153525" y="2095500"/>
              <a:ext cx="495300" cy="81915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小骨4"/>
            <p:cNvCxnSpPr/>
            <p:nvPr/>
          </p:nvCxnSpPr>
          <p:spPr>
            <a:xfrm>
              <a:off x="9401175" y="2505075"/>
              <a:ext cx="2476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箱_要因D"/>
            <p:cNvSpPr/>
            <p:nvPr/>
          </p:nvSpPr>
          <p:spPr>
            <a:xfrm>
              <a:off x="8734425" y="2914650"/>
              <a:ext cx="838200" cy="247650"/>
            </a:xfrm>
            <a:prstGeom prst="roundRect">
              <a:avLst>
                <a:gd name="adj" fmla="val 23076"/>
              </a:avLst>
            </a:prstGeom>
            <a:noFill/>
            <a:ln w="11906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8734425" y="2914650"/>
              <a:ext cx="8382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dk2"/>
                  </a:solidFill>
                </a:rPr>
                <a:t>要因D</a:t>
              </a:r>
            </a:p>
          </p:txBody>
        </p:sp>
      </p:grpSp>
      <p:sp>
        <p:nvSpPr>
          <p:cNvPr id="47" name="Rectangle 46"/>
          <p:cNvSpPr/>
          <p:nvPr/>
        </p:nvSpPr>
        <p:spPr>
          <a:xfrm>
            <a:off x="6219825" y="33337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18 フィッシュボーン（特性要因図）｜構造：因果（要因を骨で分解）</a:t>
            </a:r>
          </a:p>
        </p:txBody>
      </p:sp>
      <p:grpSp>
        <p:nvGrpSpPr>
          <p:cNvPr id="48" name="図解23_ステージゲート"/>
          <p:cNvGrpSpPr/>
          <p:nvPr/>
        </p:nvGrpSpPr>
        <p:grpSpPr>
          <a:xfrm>
            <a:off x="714375" y="4552950"/>
            <a:ext cx="4762500" cy="952500"/>
            <a:chOff x="714375" y="4552950"/>
            <a:chExt cx="4762500" cy="952500"/>
          </a:xfrm>
        </p:grpSpPr>
        <p:cxnSp>
          <p:nvCxnSpPr>
            <p:cNvPr id="49" name="ベースライン"/>
            <p:cNvCxnSpPr/>
            <p:nvPr/>
          </p:nvCxnSpPr>
          <p:spPr>
            <a:xfrm>
              <a:off x="714375" y="4857750"/>
              <a:ext cx="4762500" cy="0"/>
            </a:xfrm>
            <a:prstGeom prst="bentConnector3">
              <a:avLst/>
            </a:prstGeom>
            <a:ln w="11906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フェーズ1"/>
            <p:cNvSpPr/>
            <p:nvPr/>
          </p:nvSpPr>
          <p:spPr>
            <a:xfrm>
              <a:off x="714375" y="4552950"/>
              <a:ext cx="1219200" cy="6096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714375" y="4686300"/>
              <a:ext cx="12192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フェーズ1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14375" y="4895850"/>
              <a:ext cx="1219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テキスト</a:t>
              </a:r>
            </a:p>
          </p:txBody>
        </p:sp>
        <p:sp>
          <p:nvSpPr>
            <p:cNvPr id="53" name="フェーズ2"/>
            <p:cNvSpPr/>
            <p:nvPr/>
          </p:nvSpPr>
          <p:spPr>
            <a:xfrm>
              <a:off x="2486025" y="4552950"/>
              <a:ext cx="1219200" cy="6096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2486025" y="4686300"/>
              <a:ext cx="12192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フェーズ2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2486025" y="4895850"/>
              <a:ext cx="1219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テキスト</a:t>
              </a:r>
            </a:p>
          </p:txBody>
        </p:sp>
        <p:sp>
          <p:nvSpPr>
            <p:cNvPr id="56" name="フェーズ3"/>
            <p:cNvSpPr/>
            <p:nvPr/>
          </p:nvSpPr>
          <p:spPr>
            <a:xfrm>
              <a:off x="4257675" y="4552950"/>
              <a:ext cx="1219200" cy="609600"/>
            </a:xfrm>
            <a:prstGeom prst="roundRect">
              <a:avLst>
                <a:gd name="adj" fmla="val 125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257675" y="4686300"/>
              <a:ext cx="12192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フェーズ3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4257675" y="4895850"/>
              <a:ext cx="1219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4"/>
                  </a:solidFill>
                </a:rPr>
                <a:t>テキスト</a:t>
              </a:r>
            </a:p>
          </p:txBody>
        </p:sp>
        <p:sp>
          <p:nvSpPr>
            <p:cNvPr id="59" name="ゲートG1"/>
            <p:cNvSpPr/>
            <p:nvPr/>
          </p:nvSpPr>
          <p:spPr>
            <a:xfrm>
              <a:off x="1990725" y="4638675"/>
              <a:ext cx="438150" cy="438150"/>
            </a:xfrm>
            <a:custGeom>
              <a:avLst/>
              <a:gdLst/>
              <a:ahLst/>
              <a:cxnLst/>
              <a:rect l="0" t="0" r="438150" b="438150"/>
              <a:pathLst>
                <a:path w="438150" h="438150">
                  <a:moveTo>
                    <a:pt x="219075" y="0"/>
                  </a:moveTo>
                  <a:lnTo>
                    <a:pt x="438150" y="219075"/>
                  </a:lnTo>
                  <a:lnTo>
                    <a:pt x="219075" y="438150"/>
                  </a:lnTo>
                  <a:lnTo>
                    <a:pt x="0" y="219075"/>
                  </a:lnTo>
                  <a:close/>
                </a:path>
              </a:pathLst>
            </a:custGeom>
            <a:solidFill>
              <a:schemeClr val="lt1"/>
            </a:solidFill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066925" y="4772025"/>
              <a:ext cx="285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G1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1600200" y="5219700"/>
              <a:ext cx="12192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判定基準：テキスト</a:t>
              </a:r>
            </a:p>
          </p:txBody>
        </p:sp>
        <p:sp>
          <p:nvSpPr>
            <p:cNvPr id="62" name="ゲートG2"/>
            <p:cNvSpPr/>
            <p:nvPr/>
          </p:nvSpPr>
          <p:spPr>
            <a:xfrm>
              <a:off x="3762375" y="4638675"/>
              <a:ext cx="438150" cy="438150"/>
            </a:xfrm>
            <a:custGeom>
              <a:avLst/>
              <a:gdLst/>
              <a:ahLst/>
              <a:cxnLst/>
              <a:rect l="0" t="0" r="438150" b="438150"/>
              <a:pathLst>
                <a:path w="438150" h="438150">
                  <a:moveTo>
                    <a:pt x="219075" y="0"/>
                  </a:moveTo>
                  <a:lnTo>
                    <a:pt x="438150" y="219075"/>
                  </a:lnTo>
                  <a:lnTo>
                    <a:pt x="219075" y="438150"/>
                  </a:lnTo>
                  <a:lnTo>
                    <a:pt x="0" y="219075"/>
                  </a:lnTo>
                  <a:close/>
                </a:path>
              </a:pathLst>
            </a:custGeom>
            <a:solidFill>
              <a:schemeClr val="lt1"/>
            </a:solidFill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3838575" y="4772025"/>
              <a:ext cx="285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G2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3371850" y="5219700"/>
              <a:ext cx="12192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判定基準：テキスト</a:t>
              </a:r>
            </a:p>
          </p:txBody>
        </p:sp>
      </p:grpSp>
      <p:sp>
        <p:nvSpPr>
          <p:cNvPr id="65" name="Rectangle 64"/>
          <p:cNvSpPr/>
          <p:nvPr/>
        </p:nvSpPr>
        <p:spPr>
          <a:xfrm>
            <a:off x="390525" y="62674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23 ステージゲート｜構造：順序（フェーズ×ゲート判定で投資を絞る）</a:t>
            </a:r>
          </a:p>
        </p:txBody>
      </p:sp>
      <p:grpSp>
        <p:nvGrpSpPr>
          <p:cNvPr id="66" name="図解20_天秤トレードオフ"/>
          <p:cNvGrpSpPr/>
          <p:nvPr/>
        </p:nvGrpSpPr>
        <p:grpSpPr>
          <a:xfrm>
            <a:off x="6353175" y="4248150"/>
            <a:ext cx="5314950" cy="1485900"/>
            <a:chOff x="6353175" y="4248150"/>
            <a:chExt cx="5314950" cy="1485900"/>
          </a:xfrm>
        </p:grpSpPr>
        <p:cxnSp>
          <p:nvCxnSpPr>
            <p:cNvPr id="67" name="竿"/>
            <p:cNvCxnSpPr/>
            <p:nvPr/>
          </p:nvCxnSpPr>
          <p:spPr>
            <a:xfrm flipV="1">
              <a:off x="7915275" y="4705350"/>
              <a:ext cx="2190750" cy="228600"/>
            </a:xfrm>
            <a:prstGeom prst="bentConnector3">
              <a:avLst/>
            </a:prstGeom>
            <a:ln w="28575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支点"/>
            <p:cNvSpPr/>
            <p:nvPr/>
          </p:nvSpPr>
          <p:spPr>
            <a:xfrm>
              <a:off x="8820150" y="4819650"/>
              <a:ext cx="381000" cy="533400"/>
            </a:xfrm>
            <a:custGeom>
              <a:avLst/>
              <a:gdLst/>
              <a:ahLst/>
              <a:cxnLst/>
              <a:rect l="0" t="0" r="381000" b="533400"/>
              <a:pathLst>
                <a:path w="381000" h="533400">
                  <a:moveTo>
                    <a:pt x="190500" y="0"/>
                  </a:moveTo>
                  <a:lnTo>
                    <a:pt x="381000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土台"/>
            <p:cNvSpPr/>
            <p:nvPr/>
          </p:nvSpPr>
          <p:spPr>
            <a:xfrm>
              <a:off x="8629650" y="5353050"/>
              <a:ext cx="762000" cy="76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0" name="吊り左"/>
            <p:cNvCxnSpPr/>
            <p:nvPr/>
          </p:nvCxnSpPr>
          <p:spPr>
            <a:xfrm>
              <a:off x="7915275" y="4933950"/>
              <a:ext cx="0" cy="133350"/>
            </a:xfrm>
            <a:prstGeom prst="bentConnector3">
              <a:avLst/>
            </a:prstGeom>
            <a:ln w="14287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皿左"/>
            <p:cNvSpPr/>
            <p:nvPr/>
          </p:nvSpPr>
          <p:spPr>
            <a:xfrm>
              <a:off x="7705725" y="5067300"/>
              <a:ext cx="419100" cy="5715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分銅左"/>
            <p:cNvSpPr/>
            <p:nvPr/>
          </p:nvSpPr>
          <p:spPr>
            <a:xfrm>
              <a:off x="7762875" y="4781550"/>
              <a:ext cx="304800" cy="28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3" name="吊り右"/>
            <p:cNvCxnSpPr/>
            <p:nvPr/>
          </p:nvCxnSpPr>
          <p:spPr>
            <a:xfrm>
              <a:off x="10106025" y="4705350"/>
              <a:ext cx="0" cy="133350"/>
            </a:xfrm>
            <a:prstGeom prst="bentConnector3">
              <a:avLst/>
            </a:prstGeom>
            <a:ln w="14287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皿右"/>
            <p:cNvSpPr/>
            <p:nvPr/>
          </p:nvSpPr>
          <p:spPr>
            <a:xfrm>
              <a:off x="9896475" y="4838700"/>
              <a:ext cx="419100" cy="5715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分銅右"/>
            <p:cNvSpPr/>
            <p:nvPr/>
          </p:nvSpPr>
          <p:spPr>
            <a:xfrm>
              <a:off x="9953625" y="4629150"/>
              <a:ext cx="247650" cy="2095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判定タグ"/>
            <p:cNvSpPr/>
            <p:nvPr/>
          </p:nvSpPr>
          <p:spPr>
            <a:xfrm>
              <a:off x="8553450" y="5524500"/>
              <a:ext cx="914400" cy="2095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8553450" y="5534025"/>
              <a:ext cx="9144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 b="1">
                  <a:solidFill>
                    <a:schemeClr val="dk2"/>
                  </a:solidFill>
                </a:rPr>
                <a:t>メリット優位</a:t>
              </a:r>
            </a:p>
          </p:txBody>
        </p:sp>
        <p:sp>
          <p:nvSpPr>
            <p:cNvPr id="78" name="カード_メリット"/>
            <p:cNvSpPr/>
            <p:nvPr/>
          </p:nvSpPr>
          <p:spPr>
            <a:xfrm>
              <a:off x="6353175" y="4248150"/>
              <a:ext cx="1428750" cy="1333500"/>
            </a:xfrm>
            <a:prstGeom prst="roundRect">
              <a:avLst>
                <a:gd name="adj" fmla="val 5714"/>
              </a:avLst>
            </a:prstGeom>
            <a:noFill/>
            <a:ln w="11906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6505575" y="4362450"/>
              <a:ext cx="11239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メリット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6505575" y="4610100"/>
              <a:ext cx="1123950" cy="857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70000"/>
                </a:lnSpc>
              </a:pPr>
              <a:r>
                <a:rPr sz="950">
                  <a:solidFill>
                    <a:schemeClr val="dk1"/>
                  </a:solidFill>
                </a:rPr>
                <a:t>・テキスト</a:t>
              </a:r>
            </a:p>
            <a:p>
              <a:pPr algn="l">
                <a:lnSpc>
                  <a:spcPct val="170000"/>
                </a:lnSpc>
              </a:pPr>
              <a:r>
                <a:rPr sz="950">
                  <a:solidFill>
                    <a:schemeClr val="dk1"/>
                  </a:solidFill>
                </a:rPr>
                <a:t>・テキスト</a:t>
              </a:r>
            </a:p>
            <a:p>
              <a:pPr algn="l">
                <a:lnSpc>
                  <a:spcPct val="170000"/>
                </a:lnSpc>
              </a:pPr>
              <a:r>
                <a:rPr sz="950">
                  <a:solidFill>
                    <a:schemeClr val="dk1"/>
                  </a:solidFill>
                </a:rPr>
                <a:t>・テキスト</a:t>
              </a:r>
            </a:p>
          </p:txBody>
        </p:sp>
        <p:sp>
          <p:nvSpPr>
            <p:cNvPr id="81" name="カード_デメリット"/>
            <p:cNvSpPr/>
            <p:nvPr/>
          </p:nvSpPr>
          <p:spPr>
            <a:xfrm>
              <a:off x="10239375" y="4248150"/>
              <a:ext cx="1428750" cy="1333500"/>
            </a:xfrm>
            <a:prstGeom prst="roundRect">
              <a:avLst>
                <a:gd name="adj" fmla="val 5714"/>
              </a:avLst>
            </a:prstGeom>
            <a:noFill/>
            <a:ln w="11906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10391775" y="4362450"/>
              <a:ext cx="11239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デメリット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10391775" y="4610100"/>
              <a:ext cx="1123950" cy="857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70000"/>
                </a:lnSpc>
              </a:pPr>
              <a:r>
                <a:rPr sz="950">
                  <a:solidFill>
                    <a:schemeClr val="dk1"/>
                  </a:solidFill>
                </a:rPr>
                <a:t>・テキスト</a:t>
              </a:r>
            </a:p>
            <a:p>
              <a:pPr algn="l">
                <a:lnSpc>
                  <a:spcPct val="170000"/>
                </a:lnSpc>
              </a:pPr>
              <a:r>
                <a:rPr sz="950">
                  <a:solidFill>
                    <a:schemeClr val="dk1"/>
                  </a:solidFill>
                </a:rPr>
                <a:t>・テキスト</a:t>
              </a:r>
            </a:p>
            <a:p>
              <a:pPr algn="l">
                <a:lnSpc>
                  <a:spcPct val="170000"/>
                </a:lnSpc>
              </a:pPr>
              <a:r>
                <a:rPr sz="950">
                  <a:solidFill>
                    <a:schemeClr val="dk1"/>
                  </a:solidFill>
                </a:rPr>
                <a:t>・テキスト</a:t>
              </a:r>
            </a:p>
          </p:txBody>
        </p:sp>
      </p:grpSp>
      <p:sp>
        <p:nvSpPr>
          <p:cNvPr id="84" name="Rectangle 83"/>
          <p:cNvSpPr/>
          <p:nvPr/>
        </p:nvSpPr>
        <p:spPr>
          <a:xfrm>
            <a:off x="6219825" y="62674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20 天秤・トレードオフ比較｜構造：比較（賛否の重みを傾きで示す）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72390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パーツ図鑑｜⑥ 図解パターン拡充 — 定量・体制4種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表は縦罫線なし・横罫線のみ（コンサルの表の規律）</a:t>
            </a:r>
          </a:p>
        </p:txBody>
      </p:sp>
      <p:grpSp>
        <p:nvGrpSpPr>
          <p:cNvPr id="5" name="図解21_面積図モザイク"/>
          <p:cNvGrpSpPr/>
          <p:nvPr/>
        </p:nvGrpSpPr>
        <p:grpSpPr>
          <a:xfrm>
            <a:off x="809625" y="942975"/>
            <a:ext cx="4514850" cy="2085975"/>
            <a:chOff x="809625" y="942975"/>
            <a:chExt cx="4514850" cy="2085975"/>
          </a:xfrm>
        </p:grpSpPr>
        <p:sp>
          <p:nvSpPr>
            <p:cNvPr id="6" name="凡例1"/>
            <p:cNvSpPr/>
            <p:nvPr/>
          </p:nvSpPr>
          <p:spPr>
            <a:xfrm>
              <a:off x="3952875" y="971550"/>
              <a:ext cx="9525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086225" y="942975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系列1</a:t>
              </a:r>
            </a:p>
          </p:txBody>
        </p:sp>
        <p:sp>
          <p:nvSpPr>
            <p:cNvPr id="8" name="凡例2"/>
            <p:cNvSpPr/>
            <p:nvPr/>
          </p:nvSpPr>
          <p:spPr>
            <a:xfrm>
              <a:off x="4619625" y="971550"/>
              <a:ext cx="95250" cy="952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752975" y="942975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系列2</a:t>
              </a:r>
            </a:p>
          </p:txBody>
        </p:sp>
        <p:cxnSp>
          <p:nvCxnSpPr>
            <p:cNvPr id="10" name="縦軸"/>
            <p:cNvCxnSpPr/>
            <p:nvPr/>
          </p:nvCxnSpPr>
          <p:spPr>
            <a:xfrm>
              <a:off x="1247775" y="1200150"/>
              <a:ext cx="0" cy="161925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/>
            <p:cNvSpPr/>
            <p:nvPr/>
          </p:nvSpPr>
          <p:spPr>
            <a:xfrm>
              <a:off x="809625" y="1143000"/>
              <a:ext cx="41910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100%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809625" y="2743200"/>
              <a:ext cx="41910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0%</a:t>
              </a:r>
            </a:p>
          </p:txBody>
        </p:sp>
        <p:sp>
          <p:nvSpPr>
            <p:cNvPr id="13" name="項目A（50%）_系列1"/>
            <p:cNvSpPr/>
            <p:nvPr/>
          </p:nvSpPr>
          <p:spPr>
            <a:xfrm>
              <a:off x="1266825" y="1200150"/>
              <a:ext cx="1962150" cy="971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項目A（50%）_系列2"/>
            <p:cNvSpPr/>
            <p:nvPr/>
          </p:nvSpPr>
          <p:spPr>
            <a:xfrm>
              <a:off x="1266825" y="2171700"/>
              <a:ext cx="1962150" cy="6477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266825" y="1609725"/>
              <a:ext cx="19621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60%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266825" y="2419350"/>
              <a:ext cx="19621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dk2"/>
                  </a:solidFill>
                </a:rPr>
                <a:t>40%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266825" y="2895600"/>
              <a:ext cx="19621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項目A（50%）</a:t>
              </a:r>
            </a:p>
          </p:txBody>
        </p:sp>
        <p:sp>
          <p:nvSpPr>
            <p:cNvPr id="18" name="項目B（30%）_系列1"/>
            <p:cNvSpPr/>
            <p:nvPr/>
          </p:nvSpPr>
          <p:spPr>
            <a:xfrm>
              <a:off x="3295650" y="1200150"/>
              <a:ext cx="1162050" cy="64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項目B（30%）_系列2"/>
            <p:cNvSpPr/>
            <p:nvPr/>
          </p:nvSpPr>
          <p:spPr>
            <a:xfrm>
              <a:off x="3295650" y="1847850"/>
              <a:ext cx="1162050" cy="9715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295650" y="1447800"/>
              <a:ext cx="11620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40%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295650" y="2257425"/>
              <a:ext cx="11620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dk2"/>
                  </a:solidFill>
                </a:rPr>
                <a:t>60%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295650" y="2895600"/>
              <a:ext cx="11620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項目B（30%）</a:t>
              </a:r>
            </a:p>
          </p:txBody>
        </p:sp>
        <p:sp>
          <p:nvSpPr>
            <p:cNvPr id="23" name="項目C（20%）_系列1"/>
            <p:cNvSpPr/>
            <p:nvPr/>
          </p:nvSpPr>
          <p:spPr>
            <a:xfrm>
              <a:off x="4524375" y="1200150"/>
              <a:ext cx="762000" cy="400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項目C（20%）_系列2"/>
            <p:cNvSpPr/>
            <p:nvPr/>
          </p:nvSpPr>
          <p:spPr>
            <a:xfrm>
              <a:off x="4524375" y="1600200"/>
              <a:ext cx="762000" cy="1219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524375" y="1323975"/>
              <a:ext cx="762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25%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524375" y="2133600"/>
              <a:ext cx="762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dk2"/>
                  </a:solidFill>
                </a:rPr>
                <a:t>75%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524375" y="2895600"/>
              <a:ext cx="762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項目C（20%）</a:t>
              </a:r>
            </a:p>
          </p:txBody>
        </p:sp>
      </p:grpSp>
      <p:sp>
        <p:nvSpPr>
          <p:cNvPr id="28" name="Rectangle 27"/>
          <p:cNvSpPr/>
          <p:nvPr/>
        </p:nvSpPr>
        <p:spPr>
          <a:xfrm>
            <a:off x="390525" y="33337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21 面積図（モザイク）｜構造：比較（横幅＝規模×縦＝構成比）</a:t>
            </a:r>
          </a:p>
        </p:txBody>
      </p:sp>
      <p:grpSp>
        <p:nvGrpSpPr>
          <p:cNvPr id="29" name="図解22_散布図軌跡"/>
          <p:cNvGrpSpPr/>
          <p:nvPr/>
        </p:nvGrpSpPr>
        <p:grpSpPr>
          <a:xfrm>
            <a:off x="6867525" y="933450"/>
            <a:ext cx="4191000" cy="2133600"/>
            <a:chOff x="6867525" y="933450"/>
            <a:chExt cx="4191000" cy="2133600"/>
          </a:xfrm>
        </p:grpSpPr>
        <p:cxnSp>
          <p:nvCxnSpPr>
            <p:cNvPr id="30" name="縦軸"/>
            <p:cNvCxnSpPr/>
            <p:nvPr/>
          </p:nvCxnSpPr>
          <p:spPr>
            <a:xfrm flipV="1">
              <a:off x="7096125" y="1066800"/>
              <a:ext cx="0" cy="1790700"/>
            </a:xfrm>
            <a:prstGeom prst="bentConnector3">
              <a:avLst/>
            </a:prstGeom>
            <a:ln w="14287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横軸"/>
            <p:cNvCxnSpPr/>
            <p:nvPr/>
          </p:nvCxnSpPr>
          <p:spPr>
            <a:xfrm>
              <a:off x="7096125" y="2857500"/>
              <a:ext cx="3886200" cy="0"/>
            </a:xfrm>
            <a:prstGeom prst="bentConnector3">
              <a:avLst/>
            </a:prstGeom>
            <a:ln w="14287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31"/>
            <p:cNvSpPr/>
            <p:nvPr/>
          </p:nvSpPr>
          <p:spPr>
            <a:xfrm>
              <a:off x="7191375" y="933450"/>
              <a:ext cx="1333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指標A（縦）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8429625" y="2933700"/>
              <a:ext cx="1143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指標B（横）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867525" y="1123950"/>
              <a:ext cx="17145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高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0887075" y="2933700"/>
              <a:ext cx="17145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高</a:t>
              </a:r>
            </a:p>
          </p:txBody>
        </p:sp>
        <p:cxnSp>
          <p:nvCxnSpPr>
            <p:cNvPr id="36" name="軌跡1"/>
            <p:cNvCxnSpPr/>
            <p:nvPr/>
          </p:nvCxnSpPr>
          <p:spPr>
            <a:xfrm flipV="1">
              <a:off x="7629525" y="2209800"/>
              <a:ext cx="685800" cy="323850"/>
            </a:xfrm>
            <a:prstGeom prst="bentConnector3">
              <a:avLst/>
            </a:prstGeom>
            <a:ln w="14287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軌跡2"/>
            <p:cNvCxnSpPr/>
            <p:nvPr/>
          </p:nvCxnSpPr>
          <p:spPr>
            <a:xfrm flipV="1">
              <a:off x="8315325" y="1943100"/>
              <a:ext cx="762000" cy="266700"/>
            </a:xfrm>
            <a:prstGeom prst="bentConnector3">
              <a:avLst/>
            </a:prstGeom>
            <a:ln w="14287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軌跡3"/>
            <p:cNvCxnSpPr/>
            <p:nvPr/>
          </p:nvCxnSpPr>
          <p:spPr>
            <a:xfrm flipV="1">
              <a:off x="9077325" y="1847850"/>
              <a:ext cx="609600" cy="95250"/>
            </a:xfrm>
            <a:prstGeom prst="bentConnector3">
              <a:avLst/>
            </a:prstGeom>
            <a:ln w="14287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軌跡4"/>
            <p:cNvCxnSpPr/>
            <p:nvPr/>
          </p:nvCxnSpPr>
          <p:spPr>
            <a:xfrm flipV="1">
              <a:off x="9686925" y="1390650"/>
              <a:ext cx="228600" cy="457200"/>
            </a:xfrm>
            <a:prstGeom prst="bentConnector3">
              <a:avLst/>
            </a:prstGeom>
            <a:ln w="14287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点_FY22"/>
            <p:cNvSpPr/>
            <p:nvPr/>
          </p:nvSpPr>
          <p:spPr>
            <a:xfrm>
              <a:off x="7577137" y="2481262"/>
              <a:ext cx="104775" cy="10477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477125" y="2628900"/>
              <a:ext cx="38100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FY22</a:t>
              </a:r>
            </a:p>
          </p:txBody>
        </p:sp>
        <p:sp>
          <p:nvSpPr>
            <p:cNvPr id="42" name="点_FY23"/>
            <p:cNvSpPr/>
            <p:nvPr/>
          </p:nvSpPr>
          <p:spPr>
            <a:xfrm>
              <a:off x="8262937" y="2157412"/>
              <a:ext cx="104775" cy="10477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8162925" y="2305050"/>
              <a:ext cx="38100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FY23</a:t>
              </a:r>
            </a:p>
          </p:txBody>
        </p:sp>
        <p:sp>
          <p:nvSpPr>
            <p:cNvPr id="44" name="点_FY24"/>
            <p:cNvSpPr/>
            <p:nvPr/>
          </p:nvSpPr>
          <p:spPr>
            <a:xfrm>
              <a:off x="9024937" y="1890712"/>
              <a:ext cx="104775" cy="10477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8924925" y="2038350"/>
              <a:ext cx="38100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FY24</a:t>
              </a:r>
            </a:p>
          </p:txBody>
        </p:sp>
        <p:sp>
          <p:nvSpPr>
            <p:cNvPr id="46" name="点_FY25"/>
            <p:cNvSpPr/>
            <p:nvPr/>
          </p:nvSpPr>
          <p:spPr>
            <a:xfrm>
              <a:off x="9634537" y="1795462"/>
              <a:ext cx="104775" cy="10477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534525" y="1943100"/>
              <a:ext cx="38100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FY25</a:t>
              </a:r>
            </a:p>
          </p:txBody>
        </p:sp>
        <p:sp>
          <p:nvSpPr>
            <p:cNvPr id="48" name="点_FY26"/>
            <p:cNvSpPr/>
            <p:nvPr/>
          </p:nvSpPr>
          <p:spPr>
            <a:xfrm>
              <a:off x="9844087" y="1319212"/>
              <a:ext cx="142875" cy="142875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0029825" y="1333500"/>
              <a:ext cx="4191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 b="1">
                  <a:solidFill>
                    <a:schemeClr val="dk2"/>
                  </a:solidFill>
                </a:rPr>
                <a:t>FY26</a:t>
              </a:r>
            </a:p>
          </p:txBody>
        </p:sp>
      </p:grpSp>
      <p:sp>
        <p:nvSpPr>
          <p:cNvPr id="50" name="Rectangle 49"/>
          <p:cNvSpPr/>
          <p:nvPr/>
        </p:nvSpPr>
        <p:spPr>
          <a:xfrm>
            <a:off x="6219825" y="33337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22 散布図＋軌跡線｜構造：順序（2指標の時系列の動きを線で結ぶ）</a:t>
            </a:r>
          </a:p>
        </p:txBody>
      </p:sp>
      <p:grpSp>
        <p:nvGrpSpPr>
          <p:cNvPr id="51" name="図解19_ステークホルダーマップ"/>
          <p:cNvGrpSpPr/>
          <p:nvPr/>
        </p:nvGrpSpPr>
        <p:grpSpPr>
          <a:xfrm>
            <a:off x="581025" y="3867150"/>
            <a:ext cx="5200650" cy="2266950"/>
            <a:chOff x="581025" y="3867150"/>
            <a:chExt cx="5200650" cy="2266950"/>
          </a:xfrm>
        </p:grpSpPr>
        <p:sp>
          <p:nvSpPr>
            <p:cNvPr id="52" name="凡例"/>
            <p:cNvSpPr/>
            <p:nvPr/>
          </p:nvSpPr>
          <p:spPr>
            <a:xfrm>
              <a:off x="581025" y="3867150"/>
              <a:ext cx="520065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円の大きさ＝影響力／実線＝直接・点線＝間接の関与</a:t>
              </a:r>
            </a:p>
          </p:txBody>
        </p:sp>
        <p:cxnSp>
          <p:nvCxnSpPr>
            <p:cNvPr id="53" name="関与線_経営層"/>
            <p:cNvCxnSpPr/>
            <p:nvPr/>
          </p:nvCxnSpPr>
          <p:spPr>
            <a:xfrm flipV="1">
              <a:off x="3181350" y="4152900"/>
              <a:ext cx="0" cy="857250"/>
            </a:xfrm>
            <a:prstGeom prst="bentConnector3">
              <a:avLst/>
            </a:prstGeom>
            <a:ln w="11906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関与線_事業部門"/>
            <p:cNvCxnSpPr/>
            <p:nvPr/>
          </p:nvCxnSpPr>
          <p:spPr>
            <a:xfrm flipV="1">
              <a:off x="3181350" y="4457700"/>
              <a:ext cx="1352550" cy="552450"/>
            </a:xfrm>
            <a:prstGeom prst="bentConnector3">
              <a:avLst/>
            </a:prstGeom>
            <a:ln w="11906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関与線_顧客"/>
            <p:cNvCxnSpPr/>
            <p:nvPr/>
          </p:nvCxnSpPr>
          <p:spPr>
            <a:xfrm>
              <a:off x="3181350" y="5010150"/>
              <a:ext cx="1400175" cy="495300"/>
            </a:xfrm>
            <a:prstGeom prst="bentConnector3">
              <a:avLst/>
            </a:prstGeom>
            <a:ln w="11906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関与線_取引先"/>
            <p:cNvCxnSpPr/>
            <p:nvPr/>
          </p:nvCxnSpPr>
          <p:spPr>
            <a:xfrm>
              <a:off x="3181350" y="5010150"/>
              <a:ext cx="0" cy="895350"/>
            </a:xfrm>
            <a:prstGeom prst="bentConnector3">
              <a:avLst/>
            </a:prstGeom>
            <a:ln w="11906">
              <a:solidFill>
                <a:schemeClr val="accent6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関与線_行政"/>
            <p:cNvCxnSpPr/>
            <p:nvPr/>
          </p:nvCxnSpPr>
          <p:spPr>
            <a:xfrm flipH="1">
              <a:off x="1819275" y="5010150"/>
              <a:ext cx="1362075" cy="638175"/>
            </a:xfrm>
            <a:prstGeom prst="bentConnector3">
              <a:avLst/>
            </a:prstGeom>
            <a:ln w="11906">
              <a:solidFill>
                <a:schemeClr val="accent6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関与線_従業員"/>
            <p:cNvCxnSpPr/>
            <p:nvPr/>
          </p:nvCxnSpPr>
          <p:spPr>
            <a:xfrm flipH="1" flipV="1">
              <a:off x="1771650" y="4381500"/>
              <a:ext cx="1409700" cy="628650"/>
            </a:xfrm>
            <a:prstGeom prst="bentConnector3">
              <a:avLst/>
            </a:prstGeom>
            <a:ln w="11906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中心_プロジェクト"/>
            <p:cNvSpPr/>
            <p:nvPr/>
          </p:nvSpPr>
          <p:spPr>
            <a:xfrm>
              <a:off x="2743200" y="4572000"/>
              <a:ext cx="876300" cy="876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781300" y="4876800"/>
              <a:ext cx="8001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プロジェクト</a:t>
              </a:r>
            </a:p>
          </p:txBody>
        </p:sp>
        <p:sp>
          <p:nvSpPr>
            <p:cNvPr id="61" name="関係者_経営層"/>
            <p:cNvSpPr/>
            <p:nvPr/>
          </p:nvSpPr>
          <p:spPr>
            <a:xfrm>
              <a:off x="2914650" y="388620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2914650" y="4086225"/>
              <a:ext cx="5334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 b="1">
                  <a:solidFill>
                    <a:schemeClr val="lt1"/>
                  </a:solidFill>
                </a:rPr>
                <a:t>経営層</a:t>
              </a:r>
            </a:p>
          </p:txBody>
        </p:sp>
        <p:sp>
          <p:nvSpPr>
            <p:cNvPr id="63" name="関係者_事業部門"/>
            <p:cNvSpPr/>
            <p:nvPr/>
          </p:nvSpPr>
          <p:spPr>
            <a:xfrm>
              <a:off x="4267200" y="4191000"/>
              <a:ext cx="533400" cy="53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4267200" y="4391025"/>
              <a:ext cx="5334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 b="1">
                  <a:solidFill>
                    <a:schemeClr val="dk2"/>
                  </a:solidFill>
                </a:rPr>
                <a:t>事業部門</a:t>
              </a:r>
            </a:p>
          </p:txBody>
        </p:sp>
        <p:sp>
          <p:nvSpPr>
            <p:cNvPr id="65" name="関係者_顧客"/>
            <p:cNvSpPr/>
            <p:nvPr/>
          </p:nvSpPr>
          <p:spPr>
            <a:xfrm>
              <a:off x="4276725" y="5200650"/>
              <a:ext cx="609600" cy="60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4276725" y="5438775"/>
              <a:ext cx="6096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 b="1">
                  <a:solidFill>
                    <a:schemeClr val="lt1"/>
                  </a:solidFill>
                </a:rPr>
                <a:t>顧客</a:t>
              </a:r>
            </a:p>
          </p:txBody>
        </p:sp>
        <p:sp>
          <p:nvSpPr>
            <p:cNvPr id="67" name="関係者_取引先"/>
            <p:cNvSpPr/>
            <p:nvPr/>
          </p:nvSpPr>
          <p:spPr>
            <a:xfrm>
              <a:off x="2952750" y="5676900"/>
              <a:ext cx="457200" cy="457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2952750" y="5838825"/>
              <a:ext cx="457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 b="1">
                  <a:solidFill>
                    <a:schemeClr val="dk2"/>
                  </a:solidFill>
                </a:rPr>
                <a:t>取引先</a:t>
              </a:r>
            </a:p>
          </p:txBody>
        </p:sp>
        <p:sp>
          <p:nvSpPr>
            <p:cNvPr id="69" name="関係者_行政"/>
            <p:cNvSpPr/>
            <p:nvPr/>
          </p:nvSpPr>
          <p:spPr>
            <a:xfrm>
              <a:off x="1609725" y="5438775"/>
              <a:ext cx="419100" cy="419100"/>
            </a:xfrm>
            <a:prstGeom prst="ellipse">
              <a:avLst/>
            </a:prstGeom>
            <a:noFill/>
            <a:ln w="11906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1609725" y="5581650"/>
              <a:ext cx="4191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 b="1">
                  <a:solidFill>
                    <a:schemeClr val="dk2"/>
                  </a:solidFill>
                </a:rPr>
                <a:t>行政</a:t>
              </a:r>
            </a:p>
          </p:txBody>
        </p:sp>
        <p:sp>
          <p:nvSpPr>
            <p:cNvPr id="71" name="関係者_従業員"/>
            <p:cNvSpPr/>
            <p:nvPr/>
          </p:nvSpPr>
          <p:spPr>
            <a:xfrm>
              <a:off x="1543050" y="4152900"/>
              <a:ext cx="457200" cy="457200"/>
            </a:xfrm>
            <a:prstGeom prst="ellipse">
              <a:avLst/>
            </a:prstGeom>
            <a:noFill/>
            <a:ln w="11906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543050" y="4314825"/>
              <a:ext cx="457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 b="1">
                  <a:solidFill>
                    <a:schemeClr val="dk2"/>
                  </a:solidFill>
                </a:rPr>
                <a:t>従業員</a:t>
              </a:r>
            </a:p>
          </p:txBody>
        </p:sp>
      </p:grpSp>
      <p:sp>
        <p:nvSpPr>
          <p:cNvPr id="73" name="Rectangle 72"/>
          <p:cNvSpPr/>
          <p:nvPr/>
        </p:nvSpPr>
        <p:spPr>
          <a:xfrm>
            <a:off x="390525" y="62674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19 ステークホルダーマップ｜構造：分類（大きさ＝影響力・線＝関与）</a:t>
            </a:r>
          </a:p>
        </p:txBody>
      </p:sp>
      <p:grpSp>
        <p:nvGrpSpPr>
          <p:cNvPr id="74" name="図解24_RACI表"/>
          <p:cNvGrpSpPr/>
          <p:nvPr/>
        </p:nvGrpSpPr>
        <p:grpSpPr>
          <a:xfrm>
            <a:off x="6505575" y="4114800"/>
            <a:ext cx="5010150" cy="1866900"/>
            <a:chOff x="6505575" y="4114800"/>
            <a:chExt cx="5010150" cy="1866900"/>
          </a:xfrm>
        </p:grpSpPr>
        <p:sp>
          <p:nvSpPr>
            <p:cNvPr id="75" name="ヘッダー帯"/>
            <p:cNvSpPr/>
            <p:nvPr/>
          </p:nvSpPr>
          <p:spPr>
            <a:xfrm>
              <a:off x="6505575" y="4114800"/>
              <a:ext cx="5010150" cy="285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6600825" y="4181475"/>
              <a:ext cx="14859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タスク</a:t>
              </a: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8086725" y="4181475"/>
              <a:ext cx="857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部門A</a:t>
              </a: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8943975" y="4181475"/>
              <a:ext cx="857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部門B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9801225" y="4181475"/>
              <a:ext cx="857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部門C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10658475" y="4181475"/>
              <a:ext cx="857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部門D</a:t>
              </a: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6600825" y="4486275"/>
              <a:ext cx="14859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タスク1</a:t>
              </a:r>
            </a:p>
          </p:txBody>
        </p:sp>
        <p:sp>
          <p:nvSpPr>
            <p:cNvPr id="82" name="R_タスク1"/>
            <p:cNvSpPr/>
            <p:nvPr/>
          </p:nvSpPr>
          <p:spPr>
            <a:xfrm>
              <a:off x="8401050" y="44577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8401050" y="4457700"/>
              <a:ext cx="2286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R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9258300" y="4476750"/>
              <a:ext cx="2286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A</a:t>
              </a:r>
            </a:p>
          </p:txBody>
        </p:sp>
        <p:sp>
          <p:nvSpPr>
            <p:cNvPr id="85" name="Rectangle 84"/>
            <p:cNvSpPr/>
            <p:nvPr/>
          </p:nvSpPr>
          <p:spPr>
            <a:xfrm>
              <a:off x="10115550" y="4476750"/>
              <a:ext cx="2286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C</a:t>
              </a: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10972800" y="4476750"/>
              <a:ext cx="2286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I</a:t>
              </a:r>
            </a:p>
          </p:txBody>
        </p:sp>
        <p:cxnSp>
          <p:nvCxnSpPr>
            <p:cNvPr id="87" name="罫線1"/>
            <p:cNvCxnSpPr/>
            <p:nvPr/>
          </p:nvCxnSpPr>
          <p:spPr>
            <a:xfrm>
              <a:off x="6505575" y="4743450"/>
              <a:ext cx="50101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Rectangle 87"/>
            <p:cNvSpPr/>
            <p:nvPr/>
          </p:nvSpPr>
          <p:spPr>
            <a:xfrm>
              <a:off x="6600825" y="4829175"/>
              <a:ext cx="14859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タスク2</a:t>
              </a: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8401050" y="4819650"/>
              <a:ext cx="2286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C</a:t>
              </a:r>
            </a:p>
          </p:txBody>
        </p:sp>
        <p:sp>
          <p:nvSpPr>
            <p:cNvPr id="90" name="R_タスク2"/>
            <p:cNvSpPr/>
            <p:nvPr/>
          </p:nvSpPr>
          <p:spPr>
            <a:xfrm>
              <a:off x="9258300" y="48006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9258300" y="4800600"/>
              <a:ext cx="2286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R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10115550" y="4819650"/>
              <a:ext cx="2286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A</a:t>
              </a: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10972800" y="4819650"/>
              <a:ext cx="2286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I</a:t>
              </a:r>
            </a:p>
          </p:txBody>
        </p:sp>
        <p:cxnSp>
          <p:nvCxnSpPr>
            <p:cNvPr id="94" name="罫線2"/>
            <p:cNvCxnSpPr/>
            <p:nvPr/>
          </p:nvCxnSpPr>
          <p:spPr>
            <a:xfrm>
              <a:off x="6505575" y="5086350"/>
              <a:ext cx="50101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ectangle 94"/>
            <p:cNvSpPr/>
            <p:nvPr/>
          </p:nvSpPr>
          <p:spPr>
            <a:xfrm>
              <a:off x="6600825" y="5172075"/>
              <a:ext cx="14859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タスク3</a:t>
              </a: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8401050" y="5162550"/>
              <a:ext cx="2286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I</a:t>
              </a: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9258300" y="5162550"/>
              <a:ext cx="2286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C</a:t>
              </a:r>
            </a:p>
          </p:txBody>
        </p:sp>
        <p:sp>
          <p:nvSpPr>
            <p:cNvPr id="98" name="R_タスク3"/>
            <p:cNvSpPr/>
            <p:nvPr/>
          </p:nvSpPr>
          <p:spPr>
            <a:xfrm>
              <a:off x="10115550" y="51435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10115550" y="5143500"/>
              <a:ext cx="2286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R</a:t>
              </a: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10972800" y="5162550"/>
              <a:ext cx="2286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A</a:t>
              </a:r>
            </a:p>
          </p:txBody>
        </p:sp>
        <p:cxnSp>
          <p:nvCxnSpPr>
            <p:cNvPr id="101" name="罫線3"/>
            <p:cNvCxnSpPr/>
            <p:nvPr/>
          </p:nvCxnSpPr>
          <p:spPr>
            <a:xfrm>
              <a:off x="6505575" y="5429250"/>
              <a:ext cx="50101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Rectangle 101"/>
            <p:cNvSpPr/>
            <p:nvPr/>
          </p:nvSpPr>
          <p:spPr>
            <a:xfrm>
              <a:off x="6600825" y="5514975"/>
              <a:ext cx="14859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タスク4</a:t>
              </a:r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8401050" y="5505450"/>
              <a:ext cx="2286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A</a:t>
              </a:r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9258300" y="5505450"/>
              <a:ext cx="2286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I</a:t>
              </a:r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10115550" y="5505450"/>
              <a:ext cx="2286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C</a:t>
              </a:r>
            </a:p>
          </p:txBody>
        </p:sp>
        <p:sp>
          <p:nvSpPr>
            <p:cNvPr id="106" name="R_タスク4"/>
            <p:cNvSpPr/>
            <p:nvPr/>
          </p:nvSpPr>
          <p:spPr>
            <a:xfrm>
              <a:off x="10972800" y="54864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10972800" y="5486400"/>
              <a:ext cx="2286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R</a:t>
              </a:r>
            </a:p>
          </p:txBody>
        </p:sp>
        <p:cxnSp>
          <p:nvCxnSpPr>
            <p:cNvPr id="108" name="罫線4"/>
            <p:cNvCxnSpPr/>
            <p:nvPr/>
          </p:nvCxnSpPr>
          <p:spPr>
            <a:xfrm>
              <a:off x="6505575" y="5772150"/>
              <a:ext cx="50101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凡例"/>
            <p:cNvSpPr/>
            <p:nvPr/>
          </p:nvSpPr>
          <p:spPr>
            <a:xfrm>
              <a:off x="6505575" y="5848350"/>
              <a:ext cx="50101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R＝実行責任　A＝説明責任　C＝協議　I＝報告</a:t>
              </a:r>
            </a:p>
          </p:txBody>
        </p:sp>
      </p:grpSp>
      <p:sp>
        <p:nvSpPr>
          <p:cNvPr id="110" name="Rectangle 109"/>
          <p:cNvSpPr/>
          <p:nvPr/>
        </p:nvSpPr>
        <p:spPr>
          <a:xfrm>
            <a:off x="6219825" y="62674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24 RACI表｜構造：分類（役割分担。縦罫線なし・横罫線のみ）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72390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パーツ図鑑｜⑥ 図解パターン拡充 — 大型2種（ガント・スイムレーン）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全幅サイズ。グループ解除で行・列を増減できます</a:t>
            </a:r>
          </a:p>
        </p:txBody>
      </p:sp>
      <p:grpSp>
        <p:nvGrpSpPr>
          <p:cNvPr id="5" name="図解25_ガントチャート"/>
          <p:cNvGrpSpPr/>
          <p:nvPr/>
        </p:nvGrpSpPr>
        <p:grpSpPr>
          <a:xfrm>
            <a:off x="581025" y="933450"/>
            <a:ext cx="10801350" cy="2133600"/>
            <a:chOff x="581025" y="933450"/>
            <a:chExt cx="10801350" cy="2133600"/>
          </a:xfrm>
        </p:grpSpPr>
        <p:sp>
          <p:nvSpPr>
            <p:cNvPr id="6" name="月ヘッダー帯"/>
            <p:cNvSpPr/>
            <p:nvPr/>
          </p:nvSpPr>
          <p:spPr>
            <a:xfrm>
              <a:off x="2009775" y="1085850"/>
              <a:ext cx="9372600" cy="247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009775" y="1133475"/>
              <a:ext cx="1562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1月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571875" y="1133475"/>
              <a:ext cx="1562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2月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133975" y="1133475"/>
              <a:ext cx="1562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3月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696075" y="1133475"/>
              <a:ext cx="1562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4月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258175" y="1133475"/>
              <a:ext cx="1562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5月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820275" y="1133475"/>
              <a:ext cx="1562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6月</a:t>
              </a:r>
            </a:p>
          </p:txBody>
        </p:sp>
        <p:cxnSp>
          <p:nvCxnSpPr>
            <p:cNvPr id="13" name="目盛1"/>
            <p:cNvCxnSpPr/>
            <p:nvPr/>
          </p:nvCxnSpPr>
          <p:spPr>
            <a:xfrm>
              <a:off x="2009775" y="1352550"/>
              <a:ext cx="0" cy="17145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目盛2"/>
            <p:cNvCxnSpPr/>
            <p:nvPr/>
          </p:nvCxnSpPr>
          <p:spPr>
            <a:xfrm>
              <a:off x="3571875" y="1352550"/>
              <a:ext cx="0" cy="17145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目盛3"/>
            <p:cNvCxnSpPr/>
            <p:nvPr/>
          </p:nvCxnSpPr>
          <p:spPr>
            <a:xfrm>
              <a:off x="5133975" y="1352550"/>
              <a:ext cx="0" cy="17145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目盛4"/>
            <p:cNvCxnSpPr/>
            <p:nvPr/>
          </p:nvCxnSpPr>
          <p:spPr>
            <a:xfrm>
              <a:off x="6696075" y="1352550"/>
              <a:ext cx="0" cy="17145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目盛5"/>
            <p:cNvCxnSpPr/>
            <p:nvPr/>
          </p:nvCxnSpPr>
          <p:spPr>
            <a:xfrm>
              <a:off x="8258175" y="1352550"/>
              <a:ext cx="0" cy="17145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目盛6"/>
            <p:cNvCxnSpPr/>
            <p:nvPr/>
          </p:nvCxnSpPr>
          <p:spPr>
            <a:xfrm>
              <a:off x="9820275" y="1352550"/>
              <a:ext cx="0" cy="17145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目盛7"/>
            <p:cNvCxnSpPr/>
            <p:nvPr/>
          </p:nvCxnSpPr>
          <p:spPr>
            <a:xfrm>
              <a:off x="11382375" y="1352550"/>
              <a:ext cx="0" cy="17145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/>
            <p:cNvSpPr/>
            <p:nvPr/>
          </p:nvSpPr>
          <p:spPr>
            <a:xfrm>
              <a:off x="581025" y="1514475"/>
              <a:ext cx="1333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タスクA</a:t>
              </a:r>
            </a:p>
          </p:txBody>
        </p:sp>
        <p:sp>
          <p:nvSpPr>
            <p:cNvPr id="21" name="バー_タスクA"/>
            <p:cNvSpPr/>
            <p:nvPr/>
          </p:nvSpPr>
          <p:spPr>
            <a:xfrm>
              <a:off x="2085975" y="1476375"/>
              <a:ext cx="2190750" cy="247650"/>
            </a:xfrm>
            <a:prstGeom prst="roundRect">
              <a:avLst>
                <a:gd name="adj" fmla="val 23076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085975" y="1476375"/>
              <a:ext cx="21907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lt1"/>
                  </a:solidFill>
                </a:rPr>
                <a:t>テキスト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81025" y="1933575"/>
              <a:ext cx="1333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タスクB</a:t>
              </a:r>
            </a:p>
          </p:txBody>
        </p:sp>
        <p:sp>
          <p:nvSpPr>
            <p:cNvPr id="24" name="バー_タスクB"/>
            <p:cNvSpPr/>
            <p:nvPr/>
          </p:nvSpPr>
          <p:spPr>
            <a:xfrm>
              <a:off x="3648075" y="1895475"/>
              <a:ext cx="3752850" cy="247650"/>
            </a:xfrm>
            <a:prstGeom prst="roundRect">
              <a:avLst>
                <a:gd name="adj" fmla="val 23076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648075" y="1895475"/>
              <a:ext cx="37528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テキスト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81025" y="2352675"/>
              <a:ext cx="1333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タスクC</a:t>
              </a:r>
            </a:p>
          </p:txBody>
        </p:sp>
        <p:sp>
          <p:nvSpPr>
            <p:cNvPr id="27" name="バー_タスクC"/>
            <p:cNvSpPr/>
            <p:nvPr/>
          </p:nvSpPr>
          <p:spPr>
            <a:xfrm>
              <a:off x="6772275" y="2314575"/>
              <a:ext cx="2971800" cy="247650"/>
            </a:xfrm>
            <a:prstGeom prst="roundRect">
              <a:avLst>
                <a:gd name="adj" fmla="val 23076"/>
              </a:avLst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772275" y="2314575"/>
              <a:ext cx="29718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lt1"/>
                  </a:solidFill>
                </a:rPr>
                <a:t>テキスト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81025" y="2771775"/>
              <a:ext cx="1333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タスクD</a:t>
              </a:r>
            </a:p>
          </p:txBody>
        </p:sp>
        <p:sp>
          <p:nvSpPr>
            <p:cNvPr id="30" name="バー_タスクD"/>
            <p:cNvSpPr/>
            <p:nvPr/>
          </p:nvSpPr>
          <p:spPr>
            <a:xfrm>
              <a:off x="9115425" y="2733675"/>
              <a:ext cx="2190750" cy="247650"/>
            </a:xfrm>
            <a:prstGeom prst="roundRect">
              <a:avLst>
                <a:gd name="adj" fmla="val 23076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9115425" y="2733675"/>
              <a:ext cx="21907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lt1"/>
                  </a:solidFill>
                </a:rPr>
                <a:t>テキスト</a:t>
              </a:r>
            </a:p>
          </p:txBody>
        </p:sp>
        <p:sp>
          <p:nvSpPr>
            <p:cNvPr id="32" name="マイルストーン"/>
            <p:cNvSpPr/>
            <p:nvPr/>
          </p:nvSpPr>
          <p:spPr>
            <a:xfrm>
              <a:off x="7381875" y="1924050"/>
              <a:ext cx="190500" cy="190500"/>
            </a:xfrm>
            <a:custGeom>
              <a:avLst/>
              <a:gdLst/>
              <a:ahLst/>
              <a:cxnLst/>
              <a:rect l="0" t="0" r="190500" b="190500"/>
              <a:pathLst>
                <a:path w="190500" h="190500">
                  <a:moveTo>
                    <a:pt x="95250" y="0"/>
                  </a:moveTo>
                  <a:lnTo>
                    <a:pt x="190500" y="95250"/>
                  </a:lnTo>
                  <a:lnTo>
                    <a:pt x="95250" y="19050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7610475" y="1952625"/>
              <a:ext cx="1047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 b="1">
                  <a:solidFill>
                    <a:schemeClr val="dk2"/>
                  </a:solidFill>
                </a:rPr>
                <a:t>マイルストーン</a:t>
              </a:r>
            </a:p>
          </p:txBody>
        </p:sp>
        <p:cxnSp>
          <p:nvCxnSpPr>
            <p:cNvPr id="34" name="現在線"/>
            <p:cNvCxnSpPr/>
            <p:nvPr/>
          </p:nvCxnSpPr>
          <p:spPr>
            <a:xfrm>
              <a:off x="4087368" y="1085850"/>
              <a:ext cx="0" cy="198120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/>
            <p:cNvSpPr/>
            <p:nvPr/>
          </p:nvSpPr>
          <p:spPr>
            <a:xfrm>
              <a:off x="4144518" y="933450"/>
              <a:ext cx="38100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現在</a:t>
              </a:r>
            </a:p>
          </p:txBody>
        </p:sp>
      </p:grpSp>
      <p:sp>
        <p:nvSpPr>
          <p:cNvPr id="36" name="Rectangle 35"/>
          <p:cNvSpPr/>
          <p:nvPr/>
        </p:nvSpPr>
        <p:spPr>
          <a:xfrm>
            <a:off x="390525" y="3333750"/>
            <a:ext cx="114109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25 ガントチャート（月×タスク）｜構造：順序（帯＝期間・◆＝マイルストーン・点線＝現在）</a:t>
            </a:r>
          </a:p>
        </p:txBody>
      </p:sp>
      <p:grpSp>
        <p:nvGrpSpPr>
          <p:cNvPr id="37" name="図解26_スイムレーン承認フロー"/>
          <p:cNvGrpSpPr/>
          <p:nvPr/>
        </p:nvGrpSpPr>
        <p:grpSpPr>
          <a:xfrm>
            <a:off x="619125" y="3905250"/>
            <a:ext cx="10763250" cy="1981200"/>
            <a:chOff x="619125" y="3905250"/>
            <a:chExt cx="10763250" cy="1981200"/>
          </a:xfrm>
        </p:grpSpPr>
        <p:sp>
          <p:nvSpPr>
            <p:cNvPr id="38" name="工程_申請"/>
            <p:cNvSpPr/>
            <p:nvPr/>
          </p:nvSpPr>
          <p:spPr>
            <a:xfrm>
              <a:off x="1666875" y="3905250"/>
              <a:ext cx="1905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申請</a:t>
              </a:r>
            </a:p>
          </p:txBody>
        </p:sp>
        <p:sp>
          <p:nvSpPr>
            <p:cNvPr id="39" name="工程_審査"/>
            <p:cNvSpPr/>
            <p:nvPr/>
          </p:nvSpPr>
          <p:spPr>
            <a:xfrm>
              <a:off x="3571875" y="3905250"/>
              <a:ext cx="3333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審査</a:t>
              </a:r>
            </a:p>
          </p:txBody>
        </p:sp>
        <p:sp>
          <p:nvSpPr>
            <p:cNvPr id="40" name="工程_決裁・完了"/>
            <p:cNvSpPr/>
            <p:nvPr/>
          </p:nvSpPr>
          <p:spPr>
            <a:xfrm>
              <a:off x="6905625" y="3905250"/>
              <a:ext cx="4476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決裁・完了</a:t>
              </a:r>
            </a:p>
          </p:txBody>
        </p:sp>
        <p:cxnSp>
          <p:nvCxnSpPr>
            <p:cNvPr id="41" name="工程区切り"/>
            <p:cNvCxnSpPr/>
            <p:nvPr/>
          </p:nvCxnSpPr>
          <p:spPr>
            <a:xfrm>
              <a:off x="3571875" y="4114800"/>
              <a:ext cx="0" cy="1771650"/>
            </a:xfrm>
            <a:prstGeom prst="bentConnector3">
              <a:avLst/>
            </a:prstGeom>
            <a:ln w="9525">
              <a:solidFill>
                <a:schemeClr val="accent6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工程区切り"/>
            <p:cNvCxnSpPr/>
            <p:nvPr/>
          </p:nvCxnSpPr>
          <p:spPr>
            <a:xfrm>
              <a:off x="6905625" y="4114800"/>
              <a:ext cx="0" cy="1771650"/>
            </a:xfrm>
            <a:prstGeom prst="bentConnector3">
              <a:avLst/>
            </a:prstGeom>
            <a:ln w="9525">
              <a:solidFill>
                <a:schemeClr val="accent6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レーン札_起案部門"/>
            <p:cNvSpPr/>
            <p:nvPr/>
          </p:nvSpPr>
          <p:spPr>
            <a:xfrm>
              <a:off x="619125" y="4114800"/>
              <a:ext cx="952500" cy="590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19125" y="4333875"/>
              <a:ext cx="95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起案部門</a:t>
              </a:r>
            </a:p>
          </p:txBody>
        </p:sp>
        <p:sp>
          <p:nvSpPr>
            <p:cNvPr id="45" name="レーン札_審査部門"/>
            <p:cNvSpPr/>
            <p:nvPr/>
          </p:nvSpPr>
          <p:spPr>
            <a:xfrm>
              <a:off x="619125" y="4705350"/>
              <a:ext cx="952500" cy="590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19125" y="4924425"/>
              <a:ext cx="95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審査部門</a:t>
              </a:r>
            </a:p>
          </p:txBody>
        </p:sp>
        <p:sp>
          <p:nvSpPr>
            <p:cNvPr id="47" name="レーン札_決裁者"/>
            <p:cNvSpPr/>
            <p:nvPr/>
          </p:nvSpPr>
          <p:spPr>
            <a:xfrm>
              <a:off x="619125" y="5295900"/>
              <a:ext cx="952500" cy="590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19125" y="5514975"/>
              <a:ext cx="95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決裁者</a:t>
              </a:r>
            </a:p>
          </p:txBody>
        </p:sp>
        <p:cxnSp>
          <p:nvCxnSpPr>
            <p:cNvPr id="49" name="レーン線1"/>
            <p:cNvCxnSpPr/>
            <p:nvPr/>
          </p:nvCxnSpPr>
          <p:spPr>
            <a:xfrm>
              <a:off x="619125" y="4114800"/>
              <a:ext cx="107632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レーン線2"/>
            <p:cNvCxnSpPr/>
            <p:nvPr/>
          </p:nvCxnSpPr>
          <p:spPr>
            <a:xfrm>
              <a:off x="619125" y="4705350"/>
              <a:ext cx="107632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レーン線3"/>
            <p:cNvCxnSpPr/>
            <p:nvPr/>
          </p:nvCxnSpPr>
          <p:spPr>
            <a:xfrm>
              <a:off x="619125" y="5295900"/>
              <a:ext cx="107632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レーン線4"/>
            <p:cNvCxnSpPr/>
            <p:nvPr/>
          </p:nvCxnSpPr>
          <p:spPr>
            <a:xfrm>
              <a:off x="619125" y="5886450"/>
              <a:ext cx="107632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起案・申請"/>
            <p:cNvSpPr/>
            <p:nvPr/>
          </p:nvSpPr>
          <p:spPr>
            <a:xfrm>
              <a:off x="1952625" y="4238625"/>
              <a:ext cx="1143000" cy="342900"/>
            </a:xfrm>
            <a:prstGeom prst="roundRect">
              <a:avLst>
                <a:gd name="adj" fmla="val 22222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1952625" y="4238625"/>
              <a:ext cx="11430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起案・申請</a:t>
              </a:r>
            </a:p>
          </p:txBody>
        </p:sp>
        <p:cxnSp>
          <p:nvCxnSpPr>
            <p:cNvPr id="55" name="接続1縦"/>
            <p:cNvCxnSpPr/>
            <p:nvPr/>
          </p:nvCxnSpPr>
          <p:spPr>
            <a:xfrm>
              <a:off x="2524125" y="4581525"/>
              <a:ext cx="0" cy="41910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接続1横"/>
            <p:cNvCxnSpPr/>
            <p:nvPr/>
          </p:nvCxnSpPr>
          <p:spPr>
            <a:xfrm>
              <a:off x="2524125" y="5000625"/>
              <a:ext cx="628650" cy="0"/>
            </a:xfrm>
            <a:prstGeom prst="bentConnector3">
              <a:avLst/>
            </a:prstGeom>
            <a:ln w="11906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形式チェック"/>
            <p:cNvSpPr/>
            <p:nvPr/>
          </p:nvSpPr>
          <p:spPr>
            <a:xfrm>
              <a:off x="3190875" y="4829175"/>
              <a:ext cx="1143000" cy="342900"/>
            </a:xfrm>
            <a:prstGeom prst="roundRect">
              <a:avLst>
                <a:gd name="adj" fmla="val 22222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3190875" y="4829175"/>
              <a:ext cx="11430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dk2"/>
                  </a:solidFill>
                </a:rPr>
                <a:t>形式チェック</a:t>
              </a:r>
            </a:p>
          </p:txBody>
        </p:sp>
        <p:cxnSp>
          <p:nvCxnSpPr>
            <p:cNvPr id="59" name="接続2"/>
            <p:cNvCxnSpPr/>
            <p:nvPr/>
          </p:nvCxnSpPr>
          <p:spPr>
            <a:xfrm>
              <a:off x="4333875" y="5000625"/>
              <a:ext cx="1123950" cy="0"/>
            </a:xfrm>
            <a:prstGeom prst="bentConnector3">
              <a:avLst/>
            </a:prstGeom>
            <a:ln w="11906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判定ゲート"/>
            <p:cNvSpPr/>
            <p:nvPr/>
          </p:nvSpPr>
          <p:spPr>
            <a:xfrm>
              <a:off x="5495925" y="4752975"/>
              <a:ext cx="914400" cy="495300"/>
            </a:xfrm>
            <a:custGeom>
              <a:avLst/>
              <a:gdLst/>
              <a:ahLst/>
              <a:cxnLst/>
              <a:rect l="0" t="0" r="914400" b="495300"/>
              <a:pathLst>
                <a:path w="914400" h="495300">
                  <a:moveTo>
                    <a:pt x="0" y="247650"/>
                  </a:moveTo>
                  <a:lnTo>
                    <a:pt x="457200" y="0"/>
                  </a:lnTo>
                  <a:lnTo>
                    <a:pt x="914400" y="247650"/>
                  </a:lnTo>
                  <a:lnTo>
                    <a:pt x="457200" y="495300"/>
                  </a:lnTo>
                  <a:close/>
                </a:path>
              </a:pathLst>
            </a:custGeom>
            <a:solidFill>
              <a:schemeClr val="lt1"/>
            </a:solidFill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5724525" y="4914900"/>
              <a:ext cx="4572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accent1"/>
                  </a:solidFill>
                </a:rPr>
                <a:t>判定</a:t>
              </a:r>
            </a:p>
          </p:txBody>
        </p:sp>
        <p:cxnSp>
          <p:nvCxnSpPr>
            <p:cNvPr id="62" name="承認線"/>
            <p:cNvCxnSpPr/>
            <p:nvPr/>
          </p:nvCxnSpPr>
          <p:spPr>
            <a:xfrm>
              <a:off x="5953125" y="5248275"/>
              <a:ext cx="0" cy="133350"/>
            </a:xfrm>
            <a:prstGeom prst="bentConnector3">
              <a:avLst/>
            </a:prstGeom>
            <a:ln w="11906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Rectangle 62"/>
            <p:cNvSpPr/>
            <p:nvPr/>
          </p:nvSpPr>
          <p:spPr>
            <a:xfrm>
              <a:off x="6029325" y="5286375"/>
              <a:ext cx="3810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承認</a:t>
              </a:r>
            </a:p>
          </p:txBody>
        </p:sp>
        <p:sp>
          <p:nvSpPr>
            <p:cNvPr id="64" name="決裁・承認"/>
            <p:cNvSpPr/>
            <p:nvPr/>
          </p:nvSpPr>
          <p:spPr>
            <a:xfrm>
              <a:off x="5381625" y="5419725"/>
              <a:ext cx="1143000" cy="342900"/>
            </a:xfrm>
            <a:prstGeom prst="roundRect">
              <a:avLst>
                <a:gd name="adj" fmla="val 22222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5381625" y="5419725"/>
              <a:ext cx="11430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決裁・承認</a:t>
              </a:r>
            </a:p>
          </p:txBody>
        </p:sp>
        <p:cxnSp>
          <p:nvCxnSpPr>
            <p:cNvPr id="66" name="差戻し縦"/>
            <p:cNvCxnSpPr/>
            <p:nvPr/>
          </p:nvCxnSpPr>
          <p:spPr>
            <a:xfrm flipV="1">
              <a:off x="5953125" y="4410075"/>
              <a:ext cx="0" cy="342900"/>
            </a:xfrm>
            <a:prstGeom prst="bentConnector3">
              <a:avLst/>
            </a:prstGeom>
            <a:ln w="11906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差戻し横"/>
            <p:cNvCxnSpPr/>
            <p:nvPr/>
          </p:nvCxnSpPr>
          <p:spPr>
            <a:xfrm flipH="1">
              <a:off x="3133725" y="4410075"/>
              <a:ext cx="2819400" cy="0"/>
            </a:xfrm>
            <a:prstGeom prst="bentConnector3">
              <a:avLst/>
            </a:prstGeom>
            <a:ln w="11906">
              <a:solidFill>
                <a:schemeClr val="accent5"/>
              </a:solidFill>
              <a:prstDash val="dash"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ectangle 67"/>
            <p:cNvSpPr/>
            <p:nvPr/>
          </p:nvSpPr>
          <p:spPr>
            <a:xfrm>
              <a:off x="4238625" y="4248150"/>
              <a:ext cx="7620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差戻し</a:t>
              </a:r>
            </a:p>
          </p:txBody>
        </p:sp>
        <p:cxnSp>
          <p:nvCxnSpPr>
            <p:cNvPr id="69" name="接続3横"/>
            <p:cNvCxnSpPr/>
            <p:nvPr/>
          </p:nvCxnSpPr>
          <p:spPr>
            <a:xfrm>
              <a:off x="6524625" y="5591175"/>
              <a:ext cx="133350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接続3縦"/>
            <p:cNvCxnSpPr/>
            <p:nvPr/>
          </p:nvCxnSpPr>
          <p:spPr>
            <a:xfrm flipV="1">
              <a:off x="7858125" y="4619625"/>
              <a:ext cx="0" cy="971550"/>
            </a:xfrm>
            <a:prstGeom prst="bentConnector3">
              <a:avLst/>
            </a:prstGeom>
            <a:ln w="11906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完了・通知"/>
            <p:cNvSpPr/>
            <p:nvPr/>
          </p:nvSpPr>
          <p:spPr>
            <a:xfrm>
              <a:off x="7286625" y="4238625"/>
              <a:ext cx="1143000" cy="342900"/>
            </a:xfrm>
            <a:prstGeom prst="roundRect">
              <a:avLst>
                <a:gd name="adj" fmla="val 22222"/>
              </a:avLst>
            </a:prstGeom>
            <a:noFill/>
            <a:ln w="11906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7286625" y="4238625"/>
              <a:ext cx="11430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dk2"/>
                  </a:solidFill>
                </a:rPr>
                <a:t>完了・通知</a:t>
              </a:r>
            </a:p>
          </p:txBody>
        </p:sp>
      </p:grpSp>
      <p:sp>
        <p:nvSpPr>
          <p:cNvPr id="73" name="Rectangle 72"/>
          <p:cNvSpPr/>
          <p:nvPr/>
        </p:nvSpPr>
        <p:spPr>
          <a:xfrm>
            <a:off x="390525" y="6267450"/>
            <a:ext cx="114109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26 スイムレーン承認フロー｜構造：順序（縦＝部署×横＝工程・点線＝差戻し）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104775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chemeClr val="dk2"/>
                </a:solidFill>
              </a:rPr>
              <a:t>システム移行は6カ月で完了できる — 山場は10月の移行判定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390525" y="571500"/>
            <a:ext cx="8572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このスライドの部品もすべてコピーして使えます</a:t>
            </a:r>
          </a:p>
        </p:txBody>
      </p:sp>
      <p:grpSp>
        <p:nvGrpSpPr>
          <p:cNvPr id="5" name="使用例_ガント"/>
          <p:cNvGrpSpPr/>
          <p:nvPr/>
        </p:nvGrpSpPr>
        <p:grpSpPr>
          <a:xfrm>
            <a:off x="952500" y="1143000"/>
            <a:ext cx="10191750" cy="3009900"/>
            <a:chOff x="952500" y="1143000"/>
            <a:chExt cx="10191750" cy="3009900"/>
          </a:xfrm>
        </p:grpSpPr>
        <p:sp>
          <p:nvSpPr>
            <p:cNvPr id="6" name="月ヘッダー帯"/>
            <p:cNvSpPr/>
            <p:nvPr/>
          </p:nvSpPr>
          <p:spPr>
            <a:xfrm>
              <a:off x="2571750" y="1143000"/>
              <a:ext cx="8572500" cy="266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571750" y="1200150"/>
              <a:ext cx="14287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7月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000500" y="1200150"/>
              <a:ext cx="14287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8月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429250" y="1200150"/>
              <a:ext cx="14287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9月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858000" y="1200150"/>
              <a:ext cx="14287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10月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286750" y="1200150"/>
              <a:ext cx="14287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11月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715500" y="1200150"/>
              <a:ext cx="14287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12月</a:t>
              </a:r>
            </a:p>
          </p:txBody>
        </p:sp>
        <p:cxnSp>
          <p:nvCxnSpPr>
            <p:cNvPr id="13" name="目盛1"/>
            <p:cNvCxnSpPr/>
            <p:nvPr/>
          </p:nvCxnSpPr>
          <p:spPr>
            <a:xfrm>
              <a:off x="2571750" y="1447800"/>
              <a:ext cx="0" cy="27051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目盛2"/>
            <p:cNvCxnSpPr/>
            <p:nvPr/>
          </p:nvCxnSpPr>
          <p:spPr>
            <a:xfrm>
              <a:off x="4000500" y="1447800"/>
              <a:ext cx="0" cy="27051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目盛3"/>
            <p:cNvCxnSpPr/>
            <p:nvPr/>
          </p:nvCxnSpPr>
          <p:spPr>
            <a:xfrm>
              <a:off x="5429250" y="1447800"/>
              <a:ext cx="0" cy="27051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目盛4"/>
            <p:cNvCxnSpPr/>
            <p:nvPr/>
          </p:nvCxnSpPr>
          <p:spPr>
            <a:xfrm>
              <a:off x="6858000" y="1447800"/>
              <a:ext cx="0" cy="27051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目盛5"/>
            <p:cNvCxnSpPr/>
            <p:nvPr/>
          </p:nvCxnSpPr>
          <p:spPr>
            <a:xfrm>
              <a:off x="8286750" y="1447800"/>
              <a:ext cx="0" cy="27051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目盛6"/>
            <p:cNvCxnSpPr/>
            <p:nvPr/>
          </p:nvCxnSpPr>
          <p:spPr>
            <a:xfrm>
              <a:off x="9715500" y="1447800"/>
              <a:ext cx="0" cy="27051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目盛7"/>
            <p:cNvCxnSpPr/>
            <p:nvPr/>
          </p:nvCxnSpPr>
          <p:spPr>
            <a:xfrm>
              <a:off x="11144250" y="1447800"/>
              <a:ext cx="0" cy="27051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/>
            <p:cNvSpPr/>
            <p:nvPr/>
          </p:nvSpPr>
          <p:spPr>
            <a:xfrm>
              <a:off x="952500" y="1657350"/>
              <a:ext cx="15049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要件整理</a:t>
              </a:r>
            </a:p>
          </p:txBody>
        </p:sp>
        <p:sp>
          <p:nvSpPr>
            <p:cNvPr id="21" name="バー_要件整理"/>
            <p:cNvSpPr/>
            <p:nvPr/>
          </p:nvSpPr>
          <p:spPr>
            <a:xfrm>
              <a:off x="2628900" y="1609725"/>
              <a:ext cx="2028825" cy="28575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628900" y="1609725"/>
              <a:ext cx="2028825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lt1"/>
                  </a:solidFill>
                </a:rPr>
                <a:t>テキスト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952500" y="2190750"/>
              <a:ext cx="15049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開発・設定</a:t>
              </a:r>
            </a:p>
          </p:txBody>
        </p:sp>
        <p:sp>
          <p:nvSpPr>
            <p:cNvPr id="24" name="バー_開発・設定"/>
            <p:cNvSpPr/>
            <p:nvPr/>
          </p:nvSpPr>
          <p:spPr>
            <a:xfrm>
              <a:off x="4057650" y="2143125"/>
              <a:ext cx="2743200" cy="28575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057650" y="2143125"/>
              <a:ext cx="27432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lt1"/>
                  </a:solidFill>
                </a:rPr>
                <a:t>テキスト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52500" y="2724150"/>
              <a:ext cx="15049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移行リハーサル</a:t>
              </a:r>
            </a:p>
          </p:txBody>
        </p:sp>
        <p:sp>
          <p:nvSpPr>
            <p:cNvPr id="27" name="バー_移行リハーサル"/>
            <p:cNvSpPr/>
            <p:nvPr/>
          </p:nvSpPr>
          <p:spPr>
            <a:xfrm>
              <a:off x="6200775" y="2676525"/>
              <a:ext cx="1314450" cy="285750"/>
            </a:xfrm>
            <a:prstGeom prst="roundRect">
              <a:avLst>
                <a:gd name="adj" fmla="val 2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200775" y="2676525"/>
              <a:ext cx="13144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dk2"/>
                  </a:solidFill>
                </a:rPr>
                <a:t>テキスト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952500" y="3257550"/>
              <a:ext cx="15049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全社展開</a:t>
              </a:r>
            </a:p>
          </p:txBody>
        </p:sp>
        <p:sp>
          <p:nvSpPr>
            <p:cNvPr id="30" name="バー_全社展開"/>
            <p:cNvSpPr/>
            <p:nvPr/>
          </p:nvSpPr>
          <p:spPr>
            <a:xfrm>
              <a:off x="7629525" y="3209925"/>
              <a:ext cx="2743200" cy="28575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629525" y="3209925"/>
              <a:ext cx="27432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lt1"/>
                  </a:solidFill>
                </a:rPr>
                <a:t>テキスト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952500" y="3790950"/>
              <a:ext cx="15049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定着支援</a:t>
              </a:r>
            </a:p>
          </p:txBody>
        </p:sp>
        <p:sp>
          <p:nvSpPr>
            <p:cNvPr id="33" name="バー_定着支援"/>
            <p:cNvSpPr/>
            <p:nvPr/>
          </p:nvSpPr>
          <p:spPr>
            <a:xfrm>
              <a:off x="9772650" y="3743325"/>
              <a:ext cx="1314450" cy="285750"/>
            </a:xfrm>
            <a:prstGeom prst="roundRect">
              <a:avLst>
                <a:gd name="adj" fmla="val 2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9772650" y="3743325"/>
              <a:ext cx="13144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dk2"/>
                  </a:solidFill>
                </a:rPr>
                <a:t>テキスト</a:t>
              </a:r>
            </a:p>
          </p:txBody>
        </p:sp>
        <p:sp>
          <p:nvSpPr>
            <p:cNvPr id="35" name="移行判定マイルストーン"/>
            <p:cNvSpPr/>
            <p:nvPr/>
          </p:nvSpPr>
          <p:spPr>
            <a:xfrm>
              <a:off x="7458075" y="2705100"/>
              <a:ext cx="228600" cy="228600"/>
            </a:xfrm>
            <a:custGeom>
              <a:avLst/>
              <a:gdLst/>
              <a:ahLst/>
              <a:cxnLst/>
              <a:rect l="0" t="0" r="228600" b="228600"/>
              <a:pathLst>
                <a:path w="228600" h="228600">
                  <a:moveTo>
                    <a:pt x="114300" y="0"/>
                  </a:moveTo>
                  <a:lnTo>
                    <a:pt x="228600" y="114300"/>
                  </a:lnTo>
                  <a:lnTo>
                    <a:pt x="114300" y="2286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724775" y="2743200"/>
              <a:ext cx="857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移行判定</a:t>
              </a:r>
            </a:p>
          </p:txBody>
        </p:sp>
        <p:sp>
          <p:nvSpPr>
            <p:cNvPr id="37" name="山場タグ"/>
            <p:cNvSpPr/>
            <p:nvPr/>
          </p:nvSpPr>
          <p:spPr>
            <a:xfrm>
              <a:off x="7267575" y="2381250"/>
              <a:ext cx="609600" cy="209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7267575" y="2390775"/>
              <a:ext cx="6096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lt1"/>
                  </a:solidFill>
                </a:rPr>
                <a:t>山場</a:t>
              </a:r>
            </a:p>
          </p:txBody>
        </p:sp>
        <p:cxnSp>
          <p:nvCxnSpPr>
            <p:cNvPr id="39" name="現在線"/>
            <p:cNvCxnSpPr/>
            <p:nvPr/>
          </p:nvCxnSpPr>
          <p:spPr>
            <a:xfrm>
              <a:off x="2857500" y="1447800"/>
              <a:ext cx="0" cy="270510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/>
            <p:cNvSpPr/>
            <p:nvPr/>
          </p:nvSpPr>
          <p:spPr>
            <a:xfrm>
              <a:off x="2914650" y="1485900"/>
              <a:ext cx="38100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現在</a:t>
              </a:r>
            </a:p>
          </p:txBody>
        </p:sp>
      </p:grpSp>
      <p:sp>
        <p:nvSpPr>
          <p:cNvPr id="41" name="Rectangle 40"/>
          <p:cNvSpPr/>
          <p:nvPr/>
        </p:nvSpPr>
        <p:spPr>
          <a:xfrm>
            <a:off x="952500" y="4286250"/>
            <a:ext cx="4953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850">
                <a:solidFill>
                  <a:schemeClr val="accent5"/>
                </a:solidFill>
              </a:rPr>
              <a:t>出典：移行計画書 v1.2（2026年6月版）</a:t>
            </a:r>
          </a:p>
        </p:txBody>
      </p:sp>
      <p:grpSp>
        <p:nvGrpSpPr>
          <p:cNvPr id="42" name="使用例_結論"/>
          <p:cNvGrpSpPr/>
          <p:nvPr/>
        </p:nvGrpSpPr>
        <p:grpSpPr>
          <a:xfrm>
            <a:off x="952500" y="4857750"/>
            <a:ext cx="6096000" cy="914400"/>
            <a:chOff x="952500" y="4857750"/>
            <a:chExt cx="6096000" cy="914400"/>
          </a:xfrm>
        </p:grpSpPr>
        <p:sp>
          <p:nvSpPr>
            <p:cNvPr id="43" name="結論パネル"/>
            <p:cNvSpPr/>
            <p:nvPr/>
          </p:nvSpPr>
          <p:spPr>
            <a:xfrm>
              <a:off x="952500" y="4857750"/>
              <a:ext cx="6096000" cy="914400"/>
            </a:xfrm>
            <a:prstGeom prst="roundRect">
              <a:avLst>
                <a:gd name="adj" fmla="val 10416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219200" y="5029200"/>
              <a:ext cx="55626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300" b="1">
                  <a:solidFill>
                    <a:schemeClr val="lt1"/>
                  </a:solidFill>
                </a:rPr>
                <a:t>10月の移行判定でGo/No-Goを決める。</a:t>
              </a:r>
            </a:p>
            <a:p>
              <a:pPr algn="l">
                <a:lnSpc>
                  <a:spcPct val="150000"/>
                </a:lnSpc>
              </a:pPr>
              <a:r>
                <a:rPr sz="1300" b="1">
                  <a:solidFill>
                    <a:schemeClr val="lt1"/>
                  </a:solidFill>
                </a:rPr>
                <a:t>9月末までにリハーサル環境の準備を完了させる。</a:t>
              </a:r>
            </a:p>
          </p:txBody>
        </p:sp>
      </p:grpSp>
      <p:grpSp>
        <p:nvGrpSpPr>
          <p:cNvPr id="45" name="使用例_判定基準"/>
          <p:cNvGrpSpPr/>
          <p:nvPr/>
        </p:nvGrpSpPr>
        <p:grpSpPr>
          <a:xfrm>
            <a:off x="7429500" y="4857750"/>
            <a:ext cx="3810000" cy="914400"/>
            <a:chOff x="7429500" y="4857750"/>
            <a:chExt cx="3810000" cy="914400"/>
          </a:xfrm>
        </p:grpSpPr>
        <p:sp>
          <p:nvSpPr>
            <p:cNvPr id="46" name="判定基準カード"/>
            <p:cNvSpPr/>
            <p:nvPr/>
          </p:nvSpPr>
          <p:spPr>
            <a:xfrm>
              <a:off x="7429500" y="4857750"/>
              <a:ext cx="3810000" cy="914400"/>
            </a:xfrm>
            <a:prstGeom prst="roundRect">
              <a:avLst>
                <a:gd name="adj" fmla="val 10416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7658100" y="4972050"/>
              <a:ext cx="3352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移行判定の基準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7658100" y="5200650"/>
              <a:ext cx="3352800" cy="457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000">
                  <a:solidFill>
                    <a:schemeClr val="dk1"/>
                  </a:solidFill>
                </a:rPr>
                <a:t>・リハーサル完走率 100%</a:t>
              </a:r>
            </a:p>
            <a:p>
              <a:pPr algn="l">
                <a:lnSpc>
                  <a:spcPct val="160000"/>
                </a:lnSpc>
              </a:pPr>
              <a:r>
                <a:rPr sz="1000">
                  <a:solidFill>
                    <a:schemeClr val="dk1"/>
                  </a:solidFill>
                </a:rPr>
                <a:t>・重大インシデント 0件</a:t>
              </a:r>
            </a:p>
          </p:txBody>
        </p:sp>
      </p:grpSp>
      <p:sp>
        <p:nvSpPr>
          <p:cNvPr id="49" name="Rectangle 48"/>
          <p:cNvSpPr/>
          <p:nvPr/>
        </p:nvSpPr>
        <p:spPr>
          <a:xfrm>
            <a:off x="390525" y="6419850"/>
            <a:ext cx="114109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パーツ図鑑｜⑥ 図解パターン拡充 — 組み込み例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72390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パーツ図鑑｜⑥ 図解パターン 比較・変化 — 変化を見せる4種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配色は「デザイン＞配色」の変更に全図解が追従します</a:t>
            </a:r>
          </a:p>
        </p:txBody>
      </p:sp>
      <p:grpSp>
        <p:nvGrpSpPr>
          <p:cNvPr id="5" name="図解27_プロセス差分"/>
          <p:cNvGrpSpPr/>
          <p:nvPr/>
        </p:nvGrpSpPr>
        <p:grpSpPr>
          <a:xfrm>
            <a:off x="542925" y="1219200"/>
            <a:ext cx="5257800" cy="1752600"/>
            <a:chOff x="542925" y="1219200"/>
            <a:chExt cx="5257800" cy="1752600"/>
          </a:xfrm>
        </p:grpSpPr>
        <p:sp>
          <p:nvSpPr>
            <p:cNvPr id="6" name="行ラベルBefore"/>
            <p:cNvSpPr/>
            <p:nvPr/>
          </p:nvSpPr>
          <p:spPr>
            <a:xfrm>
              <a:off x="542925" y="1352550"/>
              <a:ext cx="5905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Before</a:t>
              </a:r>
            </a:p>
          </p:txBody>
        </p:sp>
        <p:sp>
          <p:nvSpPr>
            <p:cNvPr id="7" name="Before工程1"/>
            <p:cNvSpPr/>
            <p:nvPr/>
          </p:nvSpPr>
          <p:spPr>
            <a:xfrm>
              <a:off x="1209675" y="1219200"/>
              <a:ext cx="857250" cy="438150"/>
            </a:xfrm>
            <a:prstGeom prst="roundRect">
              <a:avLst>
                <a:gd name="adj" fmla="val 13043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209675" y="1219200"/>
              <a:ext cx="857250" cy="4381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工程1</a:t>
              </a:r>
            </a:p>
          </p:txBody>
        </p:sp>
        <p:sp>
          <p:nvSpPr>
            <p:cNvPr id="9" name="Before工程2"/>
            <p:cNvSpPr/>
            <p:nvPr/>
          </p:nvSpPr>
          <p:spPr>
            <a:xfrm>
              <a:off x="2143125" y="1219200"/>
              <a:ext cx="857250" cy="438150"/>
            </a:xfrm>
            <a:prstGeom prst="roundRect">
              <a:avLst>
                <a:gd name="adj" fmla="val 13043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143125" y="1219200"/>
              <a:ext cx="857250" cy="4381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工程2</a:t>
              </a:r>
            </a:p>
          </p:txBody>
        </p:sp>
        <p:sp>
          <p:nvSpPr>
            <p:cNvPr id="11" name="Before工程3"/>
            <p:cNvSpPr/>
            <p:nvPr/>
          </p:nvSpPr>
          <p:spPr>
            <a:xfrm>
              <a:off x="3076575" y="1219200"/>
              <a:ext cx="857250" cy="438150"/>
            </a:xfrm>
            <a:prstGeom prst="roundRect">
              <a:avLst>
                <a:gd name="adj" fmla="val 13043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76575" y="1219200"/>
              <a:ext cx="857250" cy="4381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工程3</a:t>
              </a:r>
            </a:p>
          </p:txBody>
        </p:sp>
        <p:sp>
          <p:nvSpPr>
            <p:cNvPr id="13" name="Before工程4"/>
            <p:cNvSpPr/>
            <p:nvPr/>
          </p:nvSpPr>
          <p:spPr>
            <a:xfrm>
              <a:off x="4010025" y="1219200"/>
              <a:ext cx="857250" cy="438150"/>
            </a:xfrm>
            <a:prstGeom prst="roundRect">
              <a:avLst>
                <a:gd name="adj" fmla="val 13043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010025" y="1219200"/>
              <a:ext cx="857250" cy="4381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工程4</a:t>
              </a:r>
            </a:p>
          </p:txBody>
        </p:sp>
        <p:sp>
          <p:nvSpPr>
            <p:cNvPr id="15" name="Before工程5"/>
            <p:cNvSpPr/>
            <p:nvPr/>
          </p:nvSpPr>
          <p:spPr>
            <a:xfrm>
              <a:off x="4943475" y="1219200"/>
              <a:ext cx="857250" cy="438150"/>
            </a:xfrm>
            <a:prstGeom prst="roundRect">
              <a:avLst>
                <a:gd name="adj" fmla="val 13043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943475" y="1219200"/>
              <a:ext cx="857250" cy="4381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工程5</a:t>
              </a:r>
            </a:p>
          </p:txBody>
        </p:sp>
        <p:sp>
          <p:nvSpPr>
            <p:cNvPr id="17" name="行ラベルAfter"/>
            <p:cNvSpPr/>
            <p:nvPr/>
          </p:nvSpPr>
          <p:spPr>
            <a:xfrm>
              <a:off x="542925" y="2419350"/>
              <a:ext cx="5905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After</a:t>
              </a:r>
            </a:p>
          </p:txBody>
        </p:sp>
        <p:sp>
          <p:nvSpPr>
            <p:cNvPr id="18" name="After工程1"/>
            <p:cNvSpPr/>
            <p:nvPr/>
          </p:nvSpPr>
          <p:spPr>
            <a:xfrm>
              <a:off x="1209675" y="2286000"/>
              <a:ext cx="857250" cy="438150"/>
            </a:xfrm>
            <a:prstGeom prst="roundRect">
              <a:avLst>
                <a:gd name="adj" fmla="val 13043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209675" y="2286000"/>
              <a:ext cx="857250" cy="4381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工程1</a:t>
              </a:r>
            </a:p>
          </p:txBody>
        </p:sp>
        <p:sp>
          <p:nvSpPr>
            <p:cNvPr id="20" name="After工程2（廃止）"/>
            <p:cNvSpPr/>
            <p:nvPr/>
          </p:nvSpPr>
          <p:spPr>
            <a:xfrm>
              <a:off x="2143125" y="2286000"/>
              <a:ext cx="857250" cy="438150"/>
            </a:xfrm>
            <a:prstGeom prst="roundRect">
              <a:avLst>
                <a:gd name="adj" fmla="val 13043"/>
              </a:avLst>
            </a:prstGeom>
            <a:noFill/>
            <a:ln w="11906">
              <a:solidFill>
                <a:schemeClr val="accent5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143125" y="2286000"/>
              <a:ext cx="857250" cy="4381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廃止</a:t>
              </a:r>
            </a:p>
          </p:txBody>
        </p:sp>
        <p:sp>
          <p:nvSpPr>
            <p:cNvPr id="22" name="After工程3"/>
            <p:cNvSpPr/>
            <p:nvPr/>
          </p:nvSpPr>
          <p:spPr>
            <a:xfrm>
              <a:off x="3076575" y="2286000"/>
              <a:ext cx="857250" cy="438150"/>
            </a:xfrm>
            <a:prstGeom prst="roundRect">
              <a:avLst>
                <a:gd name="adj" fmla="val 13043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076575" y="2286000"/>
              <a:ext cx="857250" cy="4381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工程3</a:t>
              </a:r>
            </a:p>
          </p:txBody>
        </p:sp>
        <p:sp>
          <p:nvSpPr>
            <p:cNvPr id="24" name="After工程4（廃止）"/>
            <p:cNvSpPr/>
            <p:nvPr/>
          </p:nvSpPr>
          <p:spPr>
            <a:xfrm>
              <a:off x="4010025" y="2286000"/>
              <a:ext cx="857250" cy="438150"/>
            </a:xfrm>
            <a:prstGeom prst="roundRect">
              <a:avLst>
                <a:gd name="adj" fmla="val 13043"/>
              </a:avLst>
            </a:prstGeom>
            <a:noFill/>
            <a:ln w="11906">
              <a:solidFill>
                <a:schemeClr val="accent5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010025" y="2286000"/>
              <a:ext cx="857250" cy="4381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廃止</a:t>
              </a:r>
            </a:p>
          </p:txBody>
        </p:sp>
        <p:sp>
          <p:nvSpPr>
            <p:cNvPr id="26" name="After工程5"/>
            <p:cNvSpPr/>
            <p:nvPr/>
          </p:nvSpPr>
          <p:spPr>
            <a:xfrm>
              <a:off x="4943475" y="2286000"/>
              <a:ext cx="857250" cy="438150"/>
            </a:xfrm>
            <a:prstGeom prst="roundRect">
              <a:avLst>
                <a:gd name="adj" fmla="val 13043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943475" y="2286000"/>
              <a:ext cx="857250" cy="4381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工程5</a:t>
              </a:r>
            </a:p>
          </p:txBody>
        </p:sp>
        <p:cxnSp>
          <p:nvCxnSpPr>
            <p:cNvPr id="28" name="変化の矢印"/>
            <p:cNvCxnSpPr/>
            <p:nvPr/>
          </p:nvCxnSpPr>
          <p:spPr>
            <a:xfrm>
              <a:off x="3181350" y="1752600"/>
              <a:ext cx="0" cy="457200"/>
            </a:xfrm>
            <a:prstGeom prst="bentConnector3">
              <a:avLst/>
            </a:prstGeom>
            <a:ln w="23812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効果ラベル"/>
            <p:cNvSpPr/>
            <p:nvPr/>
          </p:nvSpPr>
          <p:spPr>
            <a:xfrm>
              <a:off x="3400425" y="1866900"/>
              <a:ext cx="742950" cy="228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400425" y="1876425"/>
              <a:ext cx="7429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−40%</a:t>
              </a:r>
            </a:p>
          </p:txBody>
        </p:sp>
        <p:sp>
          <p:nvSpPr>
            <p:cNvPr id="31" name="凡例"/>
            <p:cNvSpPr/>
            <p:nvPr/>
          </p:nvSpPr>
          <p:spPr>
            <a:xfrm>
              <a:off x="1209675" y="2838450"/>
              <a:ext cx="45910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破線＝廃止する工程／実線＝残す工程。工程の位置は上下で変えない</a:t>
              </a:r>
            </a:p>
          </p:txBody>
        </p:sp>
      </p:grpSp>
      <p:sp>
        <p:nvSpPr>
          <p:cNvPr id="32" name="Rectangle 31"/>
          <p:cNvSpPr/>
          <p:nvPr/>
        </p:nvSpPr>
        <p:spPr>
          <a:xfrm>
            <a:off x="390525" y="33337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27 プロセスBefore/After差分｜構造：問題解決（位置不変・消える工程だけ破線）</a:t>
            </a:r>
          </a:p>
        </p:txBody>
      </p:sp>
      <p:grpSp>
        <p:nvGrpSpPr>
          <p:cNvPr id="33" name="図解28_従来今後マトリクス"/>
          <p:cNvGrpSpPr/>
          <p:nvPr/>
        </p:nvGrpSpPr>
        <p:grpSpPr>
          <a:xfrm>
            <a:off x="6429375" y="1143000"/>
            <a:ext cx="5086350" cy="2114550"/>
            <a:chOff x="6429375" y="1143000"/>
            <a:chExt cx="5086350" cy="2114550"/>
          </a:xfrm>
        </p:grpSpPr>
        <p:sp>
          <p:nvSpPr>
            <p:cNvPr id="34" name="列ヘッダ従来"/>
            <p:cNvSpPr/>
            <p:nvPr/>
          </p:nvSpPr>
          <p:spPr>
            <a:xfrm>
              <a:off x="7419975" y="1143000"/>
              <a:ext cx="171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従来</a:t>
              </a:r>
            </a:p>
          </p:txBody>
        </p:sp>
        <p:sp>
          <p:nvSpPr>
            <p:cNvPr id="35" name="列ヘッダ今後"/>
            <p:cNvSpPr/>
            <p:nvPr/>
          </p:nvSpPr>
          <p:spPr>
            <a:xfrm>
              <a:off x="9705975" y="1143000"/>
              <a:ext cx="1809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今後</a:t>
              </a:r>
            </a:p>
          </p:txBody>
        </p:sp>
        <p:sp>
          <p:nvSpPr>
            <p:cNvPr id="36" name="行ラベル1"/>
            <p:cNvSpPr/>
            <p:nvPr/>
          </p:nvSpPr>
          <p:spPr>
            <a:xfrm>
              <a:off x="6429375" y="1562100"/>
              <a:ext cx="876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要素A</a:t>
              </a:r>
            </a:p>
          </p:txBody>
        </p:sp>
        <p:sp>
          <p:nvSpPr>
            <p:cNvPr id="37" name="従来セル1"/>
            <p:cNvSpPr/>
            <p:nvPr/>
          </p:nvSpPr>
          <p:spPr>
            <a:xfrm>
              <a:off x="7419975" y="1409700"/>
              <a:ext cx="1714500" cy="476250"/>
            </a:xfrm>
            <a:prstGeom prst="roundRect">
              <a:avLst>
                <a:gd name="adj" fmla="val 12000"/>
              </a:avLst>
            </a:prstGeom>
            <a:noFill/>
            <a:ln w="11906">
              <a:solidFill>
                <a:schemeClr val="accent5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7419975" y="1409700"/>
              <a:ext cx="1714500" cy="476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従来の姿：テキスト</a:t>
              </a:r>
            </a:p>
          </p:txBody>
        </p:sp>
        <p:cxnSp>
          <p:nvCxnSpPr>
            <p:cNvPr id="39" name="変化矢印1"/>
            <p:cNvCxnSpPr/>
            <p:nvPr/>
          </p:nvCxnSpPr>
          <p:spPr>
            <a:xfrm>
              <a:off x="9191625" y="1647825"/>
              <a:ext cx="457200" cy="0"/>
            </a:xfrm>
            <a:prstGeom prst="bentConnector3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今後セル1"/>
            <p:cNvSpPr/>
            <p:nvPr/>
          </p:nvSpPr>
          <p:spPr>
            <a:xfrm>
              <a:off x="9705975" y="1409700"/>
              <a:ext cx="1809750" cy="476250"/>
            </a:xfrm>
            <a:prstGeom prst="roundRect">
              <a:avLst>
                <a:gd name="adj" fmla="val 12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9705975" y="1409700"/>
              <a:ext cx="1809750" cy="476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lt1"/>
                  </a:solidFill>
                </a:rPr>
                <a:t>目指す姿：テキスト</a:t>
              </a:r>
            </a:p>
          </p:txBody>
        </p:sp>
        <p:sp>
          <p:nvSpPr>
            <p:cNvPr id="42" name="行ラベル2"/>
            <p:cNvSpPr/>
            <p:nvPr/>
          </p:nvSpPr>
          <p:spPr>
            <a:xfrm>
              <a:off x="6429375" y="2152650"/>
              <a:ext cx="876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要素B</a:t>
              </a:r>
            </a:p>
          </p:txBody>
        </p:sp>
        <p:sp>
          <p:nvSpPr>
            <p:cNvPr id="43" name="従来セル2"/>
            <p:cNvSpPr/>
            <p:nvPr/>
          </p:nvSpPr>
          <p:spPr>
            <a:xfrm>
              <a:off x="7419975" y="2000250"/>
              <a:ext cx="1714500" cy="476250"/>
            </a:xfrm>
            <a:prstGeom prst="roundRect">
              <a:avLst>
                <a:gd name="adj" fmla="val 12000"/>
              </a:avLst>
            </a:prstGeom>
            <a:noFill/>
            <a:ln w="11906">
              <a:solidFill>
                <a:schemeClr val="accent5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7419975" y="2000250"/>
              <a:ext cx="1714500" cy="476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従来の姿：テキスト</a:t>
              </a:r>
            </a:p>
          </p:txBody>
        </p:sp>
        <p:cxnSp>
          <p:nvCxnSpPr>
            <p:cNvPr id="45" name="変化矢印2"/>
            <p:cNvCxnSpPr/>
            <p:nvPr/>
          </p:nvCxnSpPr>
          <p:spPr>
            <a:xfrm>
              <a:off x="9191625" y="2238375"/>
              <a:ext cx="457200" cy="0"/>
            </a:xfrm>
            <a:prstGeom prst="bentConnector3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今後セル2"/>
            <p:cNvSpPr/>
            <p:nvPr/>
          </p:nvSpPr>
          <p:spPr>
            <a:xfrm>
              <a:off x="9705975" y="2000250"/>
              <a:ext cx="1809750" cy="476250"/>
            </a:xfrm>
            <a:prstGeom prst="roundRect">
              <a:avLst>
                <a:gd name="adj" fmla="val 12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705975" y="2000250"/>
              <a:ext cx="1809750" cy="476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lt1"/>
                  </a:solidFill>
                </a:rPr>
                <a:t>目指す姿：テキスト</a:t>
              </a:r>
            </a:p>
          </p:txBody>
        </p:sp>
        <p:sp>
          <p:nvSpPr>
            <p:cNvPr id="48" name="行ラベル3"/>
            <p:cNvSpPr/>
            <p:nvPr/>
          </p:nvSpPr>
          <p:spPr>
            <a:xfrm>
              <a:off x="6429375" y="2743200"/>
              <a:ext cx="876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要素C</a:t>
              </a:r>
            </a:p>
          </p:txBody>
        </p:sp>
        <p:sp>
          <p:nvSpPr>
            <p:cNvPr id="49" name="従来セル3"/>
            <p:cNvSpPr/>
            <p:nvPr/>
          </p:nvSpPr>
          <p:spPr>
            <a:xfrm>
              <a:off x="7419975" y="2590800"/>
              <a:ext cx="1714500" cy="476250"/>
            </a:xfrm>
            <a:prstGeom prst="roundRect">
              <a:avLst>
                <a:gd name="adj" fmla="val 12000"/>
              </a:avLst>
            </a:prstGeom>
            <a:noFill/>
            <a:ln w="11906">
              <a:solidFill>
                <a:schemeClr val="accent5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7419975" y="2590800"/>
              <a:ext cx="1714500" cy="476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従来の姿：テキスト</a:t>
              </a:r>
            </a:p>
          </p:txBody>
        </p:sp>
        <p:cxnSp>
          <p:nvCxnSpPr>
            <p:cNvPr id="51" name="変化矢印3"/>
            <p:cNvCxnSpPr/>
            <p:nvPr/>
          </p:nvCxnSpPr>
          <p:spPr>
            <a:xfrm>
              <a:off x="9191625" y="2828925"/>
              <a:ext cx="457200" cy="0"/>
            </a:xfrm>
            <a:prstGeom prst="bentConnector3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今後セル3"/>
            <p:cNvSpPr/>
            <p:nvPr/>
          </p:nvSpPr>
          <p:spPr>
            <a:xfrm>
              <a:off x="9705975" y="2590800"/>
              <a:ext cx="1809750" cy="476250"/>
            </a:xfrm>
            <a:prstGeom prst="roundRect">
              <a:avLst>
                <a:gd name="adj" fmla="val 12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9705975" y="2590800"/>
              <a:ext cx="1809750" cy="476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lt1"/>
                  </a:solidFill>
                </a:rPr>
                <a:t>目指す姿：テキスト</a:t>
              </a:r>
            </a:p>
          </p:txBody>
        </p:sp>
        <p:sp>
          <p:nvSpPr>
            <p:cNvPr id="54" name="凡例"/>
            <p:cNvSpPr/>
            <p:nvPr/>
          </p:nvSpPr>
          <p:spPr>
            <a:xfrm>
              <a:off x="7419975" y="3124200"/>
              <a:ext cx="4095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破線＝従来／実線＝今後。言葉は行ごとに「対」で書く</a:t>
              </a:r>
            </a:p>
          </p:txBody>
        </p:sp>
      </p:grpSp>
      <p:sp>
        <p:nvSpPr>
          <p:cNvPr id="55" name="Rectangle 54"/>
          <p:cNvSpPr/>
          <p:nvPr/>
        </p:nvSpPr>
        <p:spPr>
          <a:xfrm>
            <a:off x="6219825" y="33337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28 従来→今後マトリクス｜構造：比較（要素ごとに時点を対で並べる）</a:t>
            </a:r>
          </a:p>
        </p:txBody>
      </p:sp>
      <p:grpSp>
        <p:nvGrpSpPr>
          <p:cNvPr id="56" name="図解29_襷がけ補完"/>
          <p:cNvGrpSpPr/>
          <p:nvPr/>
        </p:nvGrpSpPr>
        <p:grpSpPr>
          <a:xfrm>
            <a:off x="771525" y="4038600"/>
            <a:ext cx="4648200" cy="2190750"/>
            <a:chOff x="771525" y="4038600"/>
            <a:chExt cx="4648200" cy="2190750"/>
          </a:xfrm>
        </p:grpSpPr>
        <p:sp>
          <p:nvSpPr>
            <p:cNvPr id="57" name="列ヘッダA"/>
            <p:cNvSpPr/>
            <p:nvPr/>
          </p:nvSpPr>
          <p:spPr>
            <a:xfrm>
              <a:off x="1514475" y="4038600"/>
              <a:ext cx="1714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対象A</a:t>
              </a:r>
            </a:p>
          </p:txBody>
        </p:sp>
        <p:sp>
          <p:nvSpPr>
            <p:cNvPr id="58" name="列ヘッダB"/>
            <p:cNvSpPr/>
            <p:nvPr/>
          </p:nvSpPr>
          <p:spPr>
            <a:xfrm>
              <a:off x="3705225" y="4038600"/>
              <a:ext cx="1714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対象B</a:t>
              </a:r>
            </a:p>
          </p:txBody>
        </p:sp>
        <p:sp>
          <p:nvSpPr>
            <p:cNvPr id="59" name="行ラベル強み"/>
            <p:cNvSpPr/>
            <p:nvPr/>
          </p:nvSpPr>
          <p:spPr>
            <a:xfrm>
              <a:off x="771525" y="4495800"/>
              <a:ext cx="57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強み</a:t>
              </a:r>
            </a:p>
          </p:txBody>
        </p:sp>
        <p:sp>
          <p:nvSpPr>
            <p:cNvPr id="60" name="行ラベル課題"/>
            <p:cNvSpPr/>
            <p:nvPr/>
          </p:nvSpPr>
          <p:spPr>
            <a:xfrm>
              <a:off x="771525" y="5638800"/>
              <a:ext cx="57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課題</a:t>
              </a:r>
            </a:p>
          </p:txBody>
        </p:sp>
        <p:sp>
          <p:nvSpPr>
            <p:cNvPr id="61" name="強みA"/>
            <p:cNvSpPr/>
            <p:nvPr/>
          </p:nvSpPr>
          <p:spPr>
            <a:xfrm>
              <a:off x="1514475" y="4267200"/>
              <a:ext cx="1714500" cy="609600"/>
            </a:xfrm>
            <a:prstGeom prst="roundRect">
              <a:avLst>
                <a:gd name="adj" fmla="val 9375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514475" y="4267200"/>
              <a:ext cx="1714500" cy="609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強み：テキスト</a:t>
              </a:r>
            </a:p>
          </p:txBody>
        </p:sp>
        <p:sp>
          <p:nvSpPr>
            <p:cNvPr id="63" name="課題A"/>
            <p:cNvSpPr/>
            <p:nvPr/>
          </p:nvSpPr>
          <p:spPr>
            <a:xfrm>
              <a:off x="1514475" y="5410200"/>
              <a:ext cx="1714500" cy="609600"/>
            </a:xfrm>
            <a:prstGeom prst="roundRect">
              <a:avLst>
                <a:gd name="adj" fmla="val 9375"/>
              </a:avLst>
            </a:prstGeom>
            <a:noFill/>
            <a:ln w="11906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514475" y="5410200"/>
              <a:ext cx="1714500" cy="609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課題：テキスト</a:t>
              </a:r>
            </a:p>
          </p:txBody>
        </p:sp>
        <p:sp>
          <p:nvSpPr>
            <p:cNvPr id="65" name="強みB"/>
            <p:cNvSpPr/>
            <p:nvPr/>
          </p:nvSpPr>
          <p:spPr>
            <a:xfrm>
              <a:off x="3705225" y="4267200"/>
              <a:ext cx="1714500" cy="609600"/>
            </a:xfrm>
            <a:prstGeom prst="roundRect">
              <a:avLst>
                <a:gd name="adj" fmla="val 9375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3705225" y="4267200"/>
              <a:ext cx="1714500" cy="609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強み：テキスト</a:t>
              </a:r>
            </a:p>
          </p:txBody>
        </p:sp>
        <p:sp>
          <p:nvSpPr>
            <p:cNvPr id="67" name="課題B"/>
            <p:cNvSpPr/>
            <p:nvPr/>
          </p:nvSpPr>
          <p:spPr>
            <a:xfrm>
              <a:off x="3705225" y="5410200"/>
              <a:ext cx="1714500" cy="609600"/>
            </a:xfrm>
            <a:prstGeom prst="roundRect">
              <a:avLst>
                <a:gd name="adj" fmla="val 9375"/>
              </a:avLst>
            </a:prstGeom>
            <a:noFill/>
            <a:ln w="11906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3705225" y="5410200"/>
              <a:ext cx="1714500" cy="609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課題：テキスト</a:t>
              </a:r>
            </a:p>
          </p:txBody>
        </p:sp>
        <p:cxnSp>
          <p:nvCxnSpPr>
            <p:cNvPr id="69" name="補完矢印A→B"/>
            <p:cNvCxnSpPr/>
            <p:nvPr/>
          </p:nvCxnSpPr>
          <p:spPr>
            <a:xfrm>
              <a:off x="2943225" y="4876800"/>
              <a:ext cx="1085850" cy="514350"/>
            </a:xfrm>
            <a:prstGeom prst="bentConnector3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補完矢印B→A"/>
            <p:cNvCxnSpPr/>
            <p:nvPr/>
          </p:nvCxnSpPr>
          <p:spPr>
            <a:xfrm flipH="1">
              <a:off x="2905125" y="4876800"/>
              <a:ext cx="1085850" cy="514350"/>
            </a:xfrm>
            <a:prstGeom prst="bentConnector3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補完バッジ"/>
            <p:cNvSpPr/>
            <p:nvPr/>
          </p:nvSpPr>
          <p:spPr>
            <a:xfrm>
              <a:off x="3257550" y="4933950"/>
              <a:ext cx="419100" cy="419100"/>
            </a:xfrm>
            <a:prstGeom prst="ellipse">
              <a:avLst/>
            </a:prstGeom>
            <a:solidFill>
              <a:schemeClr val="lt1"/>
            </a:solidFill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3257550" y="4933950"/>
              <a:ext cx="41910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accent1"/>
                  </a:solidFill>
                </a:rPr>
                <a:t>補完</a:t>
              </a:r>
            </a:p>
          </p:txBody>
        </p:sp>
        <p:sp>
          <p:nvSpPr>
            <p:cNvPr id="73" name="凡例"/>
            <p:cNvSpPr/>
            <p:nvPr/>
          </p:nvSpPr>
          <p:spPr>
            <a:xfrm>
              <a:off x="1514475" y="6096000"/>
              <a:ext cx="39052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対角の矢印＝一方の強みが他方の課題を補う。言葉を対にする</a:t>
              </a:r>
            </a:p>
          </p:txBody>
        </p:sp>
      </p:grpSp>
      <p:sp>
        <p:nvSpPr>
          <p:cNvPr id="74" name="Rectangle 73"/>
          <p:cNvSpPr/>
          <p:nvPr/>
        </p:nvSpPr>
        <p:spPr>
          <a:xfrm>
            <a:off x="390525" y="62674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29 襷がけ補完（2×2）｜構造：比較（対角で補完シナジーを読ませる）</a:t>
            </a:r>
          </a:p>
        </p:txBody>
      </p:sp>
      <p:grpSp>
        <p:nvGrpSpPr>
          <p:cNvPr id="75" name="図解30_マトリクス抽出ロジック"/>
          <p:cNvGrpSpPr/>
          <p:nvPr/>
        </p:nvGrpSpPr>
        <p:grpSpPr>
          <a:xfrm>
            <a:off x="6791325" y="4076700"/>
            <a:ext cx="4781550" cy="1981200"/>
            <a:chOff x="6791325" y="4076700"/>
            <a:chExt cx="4781550" cy="1981200"/>
          </a:xfrm>
        </p:grpSpPr>
        <p:sp>
          <p:nvSpPr>
            <p:cNvPr id="76" name="優先象限ティント"/>
            <p:cNvSpPr/>
            <p:nvPr/>
          </p:nvSpPr>
          <p:spPr>
            <a:xfrm>
              <a:off x="8020050" y="4324350"/>
              <a:ext cx="1190625" cy="762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外枠"/>
            <p:cNvSpPr/>
            <p:nvPr/>
          </p:nvSpPr>
          <p:spPr>
            <a:xfrm>
              <a:off x="6829425" y="4324350"/>
              <a:ext cx="2381250" cy="152400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8" name="縦仕切り"/>
            <p:cNvCxnSpPr/>
            <p:nvPr/>
          </p:nvCxnSpPr>
          <p:spPr>
            <a:xfrm>
              <a:off x="8020050" y="4324350"/>
              <a:ext cx="0" cy="15240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横仕切り"/>
            <p:cNvCxnSpPr/>
            <p:nvPr/>
          </p:nvCxnSpPr>
          <p:spPr>
            <a:xfrm>
              <a:off x="6829425" y="5086350"/>
              <a:ext cx="23812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縦軸"/>
            <p:cNvCxnSpPr/>
            <p:nvPr/>
          </p:nvCxnSpPr>
          <p:spPr>
            <a:xfrm flipV="1">
              <a:off x="6829425" y="4229100"/>
              <a:ext cx="0" cy="1619250"/>
            </a:xfrm>
            <a:prstGeom prst="bentConnector3">
              <a:avLst/>
            </a:prstGeom>
            <a:ln w="14287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横軸"/>
            <p:cNvCxnSpPr/>
            <p:nvPr/>
          </p:nvCxnSpPr>
          <p:spPr>
            <a:xfrm>
              <a:off x="6829425" y="5848350"/>
              <a:ext cx="2476500" cy="0"/>
            </a:xfrm>
            <a:prstGeom prst="bentConnector3">
              <a:avLst/>
            </a:prstGeom>
            <a:ln w="14287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縦軸ラベル"/>
            <p:cNvSpPr/>
            <p:nvPr/>
          </p:nvSpPr>
          <p:spPr>
            <a:xfrm>
              <a:off x="6791325" y="4076700"/>
              <a:ext cx="12382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軸ラベル（縦）</a:t>
              </a:r>
            </a:p>
          </p:txBody>
        </p:sp>
        <p:sp>
          <p:nvSpPr>
            <p:cNvPr id="83" name="横軸ラベル"/>
            <p:cNvSpPr/>
            <p:nvPr/>
          </p:nvSpPr>
          <p:spPr>
            <a:xfrm>
              <a:off x="7448550" y="5924550"/>
              <a:ext cx="1143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軸ラベル（横）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8020050" y="4457700"/>
              <a:ext cx="1190625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優先領域</a:t>
              </a:r>
            </a:p>
          </p:txBody>
        </p:sp>
        <p:sp>
          <p:nvSpPr>
            <p:cNvPr id="85" name="プロット1"/>
            <p:cNvSpPr/>
            <p:nvPr/>
          </p:nvSpPr>
          <p:spPr>
            <a:xfrm>
              <a:off x="8524875" y="4648200"/>
              <a:ext cx="104775" cy="104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プロット2"/>
            <p:cNvSpPr/>
            <p:nvPr/>
          </p:nvSpPr>
          <p:spPr>
            <a:xfrm>
              <a:off x="8772525" y="4876800"/>
              <a:ext cx="104775" cy="104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プロット3"/>
            <p:cNvSpPr/>
            <p:nvPr/>
          </p:nvSpPr>
          <p:spPr>
            <a:xfrm>
              <a:off x="7381875" y="5334000"/>
              <a:ext cx="104775" cy="10477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判断基準1"/>
            <p:cNvSpPr/>
            <p:nvPr/>
          </p:nvSpPr>
          <p:spPr>
            <a:xfrm>
              <a:off x="9705975" y="4343400"/>
              <a:ext cx="1866900" cy="571500"/>
            </a:xfrm>
            <a:prstGeom prst="roundRect">
              <a:avLst>
                <a:gd name="adj" fmla="val 10000"/>
              </a:avLst>
            </a:prstGeom>
            <a:noFill/>
            <a:ln w="11906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9820275" y="4429125"/>
              <a:ext cx="16383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 b="1">
                  <a:solidFill>
                    <a:schemeClr val="dk2"/>
                  </a:solidFill>
                </a:rPr>
                <a:t>判断基準①（縦軸）</a:t>
              </a: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9820275" y="4629150"/>
              <a:ext cx="16383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テキストテキスト</a:t>
              </a:r>
            </a:p>
          </p:txBody>
        </p:sp>
        <p:sp>
          <p:nvSpPr>
            <p:cNvPr id="91" name="判断基準2"/>
            <p:cNvSpPr/>
            <p:nvPr/>
          </p:nvSpPr>
          <p:spPr>
            <a:xfrm>
              <a:off x="9705975" y="5181600"/>
              <a:ext cx="1866900" cy="571500"/>
            </a:xfrm>
            <a:prstGeom prst="roundRect">
              <a:avLst>
                <a:gd name="adj" fmla="val 10000"/>
              </a:avLst>
            </a:prstGeom>
            <a:noFill/>
            <a:ln w="11906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9820275" y="5267325"/>
              <a:ext cx="16383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 b="1">
                  <a:solidFill>
                    <a:schemeClr val="dk2"/>
                  </a:solidFill>
                </a:rPr>
                <a:t>判断基準②（横軸）</a:t>
              </a: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9820275" y="5467350"/>
              <a:ext cx="16383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テキストテキスト</a:t>
              </a:r>
            </a:p>
          </p:txBody>
        </p:sp>
        <p:cxnSp>
          <p:nvCxnSpPr>
            <p:cNvPr id="94" name="接続_縦軸へ"/>
            <p:cNvCxnSpPr/>
            <p:nvPr/>
          </p:nvCxnSpPr>
          <p:spPr>
            <a:xfrm flipH="1" flipV="1">
              <a:off x="7153275" y="4152900"/>
              <a:ext cx="2686050" cy="152400"/>
            </a:xfrm>
            <a:prstGeom prst="bentConnector3">
              <a:avLst/>
            </a:prstGeom>
            <a:ln w="11906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接続_横軸へ"/>
            <p:cNvCxnSpPr/>
            <p:nvPr/>
          </p:nvCxnSpPr>
          <p:spPr>
            <a:xfrm flipH="1">
              <a:off x="9382125" y="5467350"/>
              <a:ext cx="285750" cy="361950"/>
            </a:xfrm>
            <a:prstGeom prst="bentConnector3">
              <a:avLst/>
            </a:prstGeom>
            <a:ln w="11906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Rectangle 95"/>
          <p:cNvSpPr/>
          <p:nvPr/>
        </p:nvSpPr>
        <p:spPr>
          <a:xfrm>
            <a:off x="6219825" y="62674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30 マトリクス＋抽出ロジック｜構造：比較（判断根拠を右に括り出し軸へ接続）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72390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パーツ図鑑｜⑥ 図解パターン 比較・変化 — 軸を揃えて比べる4種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テキストを打ち替えるだけで完成します</a:t>
            </a:r>
          </a:p>
        </p:txBody>
      </p:sp>
      <p:grpSp>
        <p:nvGrpSpPr>
          <p:cNvPr id="5" name="図解31_ライフサイクル現在地"/>
          <p:cNvGrpSpPr/>
          <p:nvPr/>
        </p:nvGrpSpPr>
        <p:grpSpPr>
          <a:xfrm>
            <a:off x="504825" y="971550"/>
            <a:ext cx="4991100" cy="1847850"/>
            <a:chOff x="504825" y="971550"/>
            <a:chExt cx="4991100" cy="1847850"/>
          </a:xfrm>
        </p:grpSpPr>
        <p:sp>
          <p:nvSpPr>
            <p:cNvPr id="6" name="縦ラベル"/>
            <p:cNvSpPr/>
            <p:nvPr/>
          </p:nvSpPr>
          <p:spPr>
            <a:xfrm>
              <a:off x="504825" y="1219200"/>
              <a:ext cx="7620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800">
                  <a:solidFill>
                    <a:schemeClr val="accent5"/>
                  </a:solidFill>
                </a:rPr>
                <a:t>事業の</a:t>
              </a:r>
            </a:p>
            <a:p>
              <a:pPr algn="l">
                <a:lnSpc>
                  <a:spcPct val="130000"/>
                </a:lnSpc>
              </a:pPr>
              <a:r>
                <a:rPr sz="800">
                  <a:solidFill>
                    <a:schemeClr val="accent5"/>
                  </a:solidFill>
                </a:rPr>
                <a:t>成長カーブ</a:t>
              </a:r>
            </a:p>
          </p:txBody>
        </p:sp>
        <p:cxnSp>
          <p:nvCxnSpPr>
            <p:cNvPr id="7" name="ベースライン"/>
            <p:cNvCxnSpPr/>
            <p:nvPr/>
          </p:nvCxnSpPr>
          <p:spPr>
            <a:xfrm>
              <a:off x="1304925" y="2171700"/>
              <a:ext cx="4191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局面区切り1"/>
            <p:cNvCxnSpPr/>
            <p:nvPr/>
          </p:nvCxnSpPr>
          <p:spPr>
            <a:xfrm>
              <a:off x="2352675" y="1181100"/>
              <a:ext cx="0" cy="9906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局面区切り2"/>
            <p:cNvCxnSpPr/>
            <p:nvPr/>
          </p:nvCxnSpPr>
          <p:spPr>
            <a:xfrm>
              <a:off x="3400425" y="1181100"/>
              <a:ext cx="0" cy="9906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局面区切り3"/>
            <p:cNvCxnSpPr/>
            <p:nvPr/>
          </p:nvCxnSpPr>
          <p:spPr>
            <a:xfrm>
              <a:off x="4448175" y="1181100"/>
              <a:ext cx="0" cy="9906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カーブ1"/>
            <p:cNvCxnSpPr/>
            <p:nvPr/>
          </p:nvCxnSpPr>
          <p:spPr>
            <a:xfrm flipV="1">
              <a:off x="1304925" y="1981200"/>
              <a:ext cx="523875" cy="76200"/>
            </a:xfrm>
            <a:prstGeom prst="bentConnector3">
              <a:avLst/>
            </a:prstGeom>
            <a:ln w="19050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カーブ2"/>
            <p:cNvCxnSpPr/>
            <p:nvPr/>
          </p:nvCxnSpPr>
          <p:spPr>
            <a:xfrm flipV="1">
              <a:off x="1828800" y="1828800"/>
              <a:ext cx="523875" cy="152400"/>
            </a:xfrm>
            <a:prstGeom prst="bentConnector3">
              <a:avLst/>
            </a:prstGeom>
            <a:ln w="19050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カーブ3"/>
            <p:cNvCxnSpPr/>
            <p:nvPr/>
          </p:nvCxnSpPr>
          <p:spPr>
            <a:xfrm flipV="1">
              <a:off x="2352675" y="1600200"/>
              <a:ext cx="381000" cy="228600"/>
            </a:xfrm>
            <a:prstGeom prst="bentConnector3">
              <a:avLst/>
            </a:prstGeom>
            <a:ln w="19050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カーブ4"/>
            <p:cNvCxnSpPr/>
            <p:nvPr/>
          </p:nvCxnSpPr>
          <p:spPr>
            <a:xfrm flipV="1">
              <a:off x="2733675" y="1390650"/>
              <a:ext cx="381000" cy="209550"/>
            </a:xfrm>
            <a:prstGeom prst="bentConnector3">
              <a:avLst/>
            </a:prstGeom>
            <a:ln w="19050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カーブ5"/>
            <p:cNvCxnSpPr/>
            <p:nvPr/>
          </p:nvCxnSpPr>
          <p:spPr>
            <a:xfrm flipV="1">
              <a:off x="3114675" y="1295400"/>
              <a:ext cx="285750" cy="95250"/>
            </a:xfrm>
            <a:prstGeom prst="bentConnector3">
              <a:avLst/>
            </a:prstGeom>
            <a:ln w="19050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カーブ6"/>
            <p:cNvCxnSpPr/>
            <p:nvPr/>
          </p:nvCxnSpPr>
          <p:spPr>
            <a:xfrm flipV="1">
              <a:off x="3400425" y="1219200"/>
              <a:ext cx="523875" cy="76200"/>
            </a:xfrm>
            <a:prstGeom prst="bentConnector3">
              <a:avLst/>
            </a:prstGeom>
            <a:ln w="19050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カーブ7"/>
            <p:cNvCxnSpPr/>
            <p:nvPr/>
          </p:nvCxnSpPr>
          <p:spPr>
            <a:xfrm>
              <a:off x="3924300" y="1219200"/>
              <a:ext cx="523875" cy="19050"/>
            </a:xfrm>
            <a:prstGeom prst="bentConnector3">
              <a:avLst/>
            </a:prstGeom>
            <a:ln w="19050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カーブ8"/>
            <p:cNvCxnSpPr/>
            <p:nvPr/>
          </p:nvCxnSpPr>
          <p:spPr>
            <a:xfrm>
              <a:off x="4448175" y="1238250"/>
              <a:ext cx="381000" cy="95250"/>
            </a:xfrm>
            <a:prstGeom prst="bentConnector3">
              <a:avLst/>
            </a:prstGeom>
            <a:ln w="19050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カーブ9"/>
            <p:cNvCxnSpPr/>
            <p:nvPr/>
          </p:nvCxnSpPr>
          <p:spPr>
            <a:xfrm>
              <a:off x="4829175" y="1333500"/>
              <a:ext cx="333375" cy="152400"/>
            </a:xfrm>
            <a:prstGeom prst="bentConnector3">
              <a:avLst/>
            </a:prstGeom>
            <a:ln w="19050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カーブ10"/>
            <p:cNvCxnSpPr/>
            <p:nvPr/>
          </p:nvCxnSpPr>
          <p:spPr>
            <a:xfrm>
              <a:off x="5162550" y="1485900"/>
              <a:ext cx="333375" cy="190500"/>
            </a:xfrm>
            <a:prstGeom prst="bentConnector3">
              <a:avLst/>
            </a:prstGeom>
            <a:ln w="19050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局面_導入"/>
            <p:cNvSpPr/>
            <p:nvPr/>
          </p:nvSpPr>
          <p:spPr>
            <a:xfrm>
              <a:off x="1304925" y="2228850"/>
              <a:ext cx="10477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accent5"/>
                  </a:solidFill>
                </a:rPr>
                <a:t>導入</a:t>
              </a:r>
            </a:p>
          </p:txBody>
        </p:sp>
        <p:sp>
          <p:nvSpPr>
            <p:cNvPr id="22" name="局面_成長"/>
            <p:cNvSpPr/>
            <p:nvPr/>
          </p:nvSpPr>
          <p:spPr>
            <a:xfrm>
              <a:off x="2352675" y="2228850"/>
              <a:ext cx="10477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accent5"/>
                  </a:solidFill>
                </a:rPr>
                <a:t>成長</a:t>
              </a:r>
            </a:p>
          </p:txBody>
        </p:sp>
        <p:sp>
          <p:nvSpPr>
            <p:cNvPr id="23" name="局面_成熟"/>
            <p:cNvSpPr/>
            <p:nvPr/>
          </p:nvSpPr>
          <p:spPr>
            <a:xfrm>
              <a:off x="3400425" y="2228850"/>
              <a:ext cx="10477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accent5"/>
                  </a:solidFill>
                </a:rPr>
                <a:t>成熟</a:t>
              </a:r>
            </a:p>
          </p:txBody>
        </p:sp>
        <p:sp>
          <p:nvSpPr>
            <p:cNvPr id="24" name="局面_衰退"/>
            <p:cNvSpPr/>
            <p:nvPr/>
          </p:nvSpPr>
          <p:spPr>
            <a:xfrm>
              <a:off x="4448175" y="2228850"/>
              <a:ext cx="10477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accent5"/>
                  </a:solidFill>
                </a:rPr>
                <a:t>衰退</a:t>
              </a:r>
            </a:p>
          </p:txBody>
        </p:sp>
        <p:sp>
          <p:nvSpPr>
            <p:cNvPr id="25" name="行ラベル"/>
            <p:cNvSpPr/>
            <p:nvPr/>
          </p:nvSpPr>
          <p:spPr>
            <a:xfrm>
              <a:off x="504825" y="2533650"/>
              <a:ext cx="762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推奨スタイル</a:t>
              </a:r>
            </a:p>
          </p:txBody>
        </p:sp>
        <p:sp>
          <p:nvSpPr>
            <p:cNvPr id="26" name="スタイルA"/>
            <p:cNvSpPr/>
            <p:nvPr/>
          </p:nvSpPr>
          <p:spPr>
            <a:xfrm>
              <a:off x="1323975" y="2438400"/>
              <a:ext cx="1009650" cy="381000"/>
            </a:xfrm>
            <a:prstGeom prst="roundRect">
              <a:avLst>
                <a:gd name="adj" fmla="val 15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323975" y="2438400"/>
              <a:ext cx="10096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dk2"/>
                  </a:solidFill>
                </a:rPr>
                <a:t>スタイルA</a:t>
              </a:r>
            </a:p>
          </p:txBody>
        </p:sp>
        <p:sp>
          <p:nvSpPr>
            <p:cNvPr id="28" name="スタイルB"/>
            <p:cNvSpPr/>
            <p:nvPr/>
          </p:nvSpPr>
          <p:spPr>
            <a:xfrm>
              <a:off x="2371725" y="2438400"/>
              <a:ext cx="1009650" cy="381000"/>
            </a:xfrm>
            <a:prstGeom prst="roundRect">
              <a:avLst>
                <a:gd name="adj" fmla="val 15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371725" y="2438400"/>
              <a:ext cx="10096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dk2"/>
                  </a:solidFill>
                </a:rPr>
                <a:t>スタイルB</a:t>
              </a:r>
            </a:p>
          </p:txBody>
        </p:sp>
        <p:sp>
          <p:nvSpPr>
            <p:cNvPr id="30" name="スタイルC"/>
            <p:cNvSpPr/>
            <p:nvPr/>
          </p:nvSpPr>
          <p:spPr>
            <a:xfrm>
              <a:off x="3419475" y="2438400"/>
              <a:ext cx="1009650" cy="381000"/>
            </a:xfrm>
            <a:prstGeom prst="roundRect">
              <a:avLst>
                <a:gd name="adj" fmla="val 15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419475" y="2438400"/>
              <a:ext cx="10096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スタイルC</a:t>
              </a:r>
            </a:p>
          </p:txBody>
        </p:sp>
        <p:sp>
          <p:nvSpPr>
            <p:cNvPr id="32" name="スタイルD"/>
            <p:cNvSpPr/>
            <p:nvPr/>
          </p:nvSpPr>
          <p:spPr>
            <a:xfrm>
              <a:off x="4467225" y="2438400"/>
              <a:ext cx="1009650" cy="381000"/>
            </a:xfrm>
            <a:prstGeom prst="roundRect">
              <a:avLst>
                <a:gd name="adj" fmla="val 15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467225" y="2438400"/>
              <a:ext cx="10096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dk2"/>
                  </a:solidFill>
                </a:rPr>
                <a:t>スタイルD</a:t>
              </a:r>
            </a:p>
          </p:txBody>
        </p:sp>
        <p:cxnSp>
          <p:nvCxnSpPr>
            <p:cNvPr id="34" name="現在地線"/>
            <p:cNvCxnSpPr/>
            <p:nvPr/>
          </p:nvCxnSpPr>
          <p:spPr>
            <a:xfrm>
              <a:off x="3924300" y="1143000"/>
              <a:ext cx="0" cy="1676400"/>
            </a:xfrm>
            <a:prstGeom prst="bentConnector3">
              <a:avLst/>
            </a:prstGeom>
            <a:ln w="11906">
              <a:solidFill>
                <a:schemeClr val="dk2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現在地ラベル"/>
            <p:cNvSpPr/>
            <p:nvPr/>
          </p:nvSpPr>
          <p:spPr>
            <a:xfrm>
              <a:off x="3638550" y="97155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 b="1">
                  <a:solidFill>
                    <a:schemeClr val="dk2"/>
                  </a:solidFill>
                </a:rPr>
                <a:t>現在地</a:t>
              </a:r>
            </a:p>
          </p:txBody>
        </p:sp>
      </p:grpSp>
      <p:sp>
        <p:nvSpPr>
          <p:cNvPr id="36" name="Rectangle 35"/>
          <p:cNvSpPr/>
          <p:nvPr/>
        </p:nvSpPr>
        <p:spPr>
          <a:xfrm>
            <a:off x="390525" y="33337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31 ライフサイクル×現在地｜構造：順序（局面の真下にスタイルを垂直整列）</a:t>
            </a:r>
          </a:p>
        </p:txBody>
      </p:sp>
      <p:grpSp>
        <p:nvGrpSpPr>
          <p:cNvPr id="37" name="図解32_小マルチプル比較"/>
          <p:cNvGrpSpPr/>
          <p:nvPr/>
        </p:nvGrpSpPr>
        <p:grpSpPr>
          <a:xfrm>
            <a:off x="6391275" y="1228725"/>
            <a:ext cx="5086350" cy="1914525"/>
            <a:chOff x="6391275" y="1228725"/>
            <a:chExt cx="5086350" cy="1914525"/>
          </a:xfrm>
        </p:grpSpPr>
        <p:sp>
          <p:nvSpPr>
            <p:cNvPr id="38" name="目盛上限"/>
            <p:cNvSpPr/>
            <p:nvPr/>
          </p:nvSpPr>
          <p:spPr>
            <a:xfrm>
              <a:off x="6391275" y="1228725"/>
              <a:ext cx="32385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100</a:t>
              </a:r>
            </a:p>
          </p:txBody>
        </p:sp>
        <p:sp>
          <p:nvSpPr>
            <p:cNvPr id="39" name="目盛下限"/>
            <p:cNvSpPr/>
            <p:nvPr/>
          </p:nvSpPr>
          <p:spPr>
            <a:xfrm>
              <a:off x="6391275" y="2324100"/>
              <a:ext cx="32385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0</a:t>
              </a:r>
            </a:p>
          </p:txBody>
        </p:sp>
        <p:cxnSp>
          <p:nvCxnSpPr>
            <p:cNvPr id="40" name="共通縦軸"/>
            <p:cNvCxnSpPr/>
            <p:nvPr/>
          </p:nvCxnSpPr>
          <p:spPr>
            <a:xfrm>
              <a:off x="6753225" y="1295400"/>
              <a:ext cx="0" cy="11430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共通上限線（目盛揃え）"/>
            <p:cNvCxnSpPr/>
            <p:nvPr/>
          </p:nvCxnSpPr>
          <p:spPr>
            <a:xfrm>
              <a:off x="6753225" y="1295400"/>
              <a:ext cx="4724400" cy="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ベースライン"/>
            <p:cNvCxnSpPr/>
            <p:nvPr/>
          </p:nvCxnSpPr>
          <p:spPr>
            <a:xfrm>
              <a:off x="6753225" y="2438400"/>
              <a:ext cx="47244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対象A_棒1"/>
            <p:cNvSpPr/>
            <p:nvPr/>
          </p:nvSpPr>
          <p:spPr>
            <a:xfrm>
              <a:off x="7096125" y="1390650"/>
              <a:ext cx="285750" cy="1047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対象A_棒2"/>
            <p:cNvSpPr/>
            <p:nvPr/>
          </p:nvSpPr>
          <p:spPr>
            <a:xfrm>
              <a:off x="7496175" y="1657350"/>
              <a:ext cx="285750" cy="781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対象A_棒3"/>
            <p:cNvSpPr/>
            <p:nvPr/>
          </p:nvSpPr>
          <p:spPr>
            <a:xfrm>
              <a:off x="7896225" y="1524000"/>
              <a:ext cx="285750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題_1"/>
            <p:cNvSpPr/>
            <p:nvPr/>
          </p:nvSpPr>
          <p:spPr>
            <a:xfrm>
              <a:off x="6943725" y="2495550"/>
              <a:ext cx="1333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対象A</a:t>
              </a:r>
            </a:p>
          </p:txBody>
        </p:sp>
        <p:sp>
          <p:nvSpPr>
            <p:cNvPr id="47" name="対象B_棒1"/>
            <p:cNvSpPr/>
            <p:nvPr/>
          </p:nvSpPr>
          <p:spPr>
            <a:xfrm>
              <a:off x="8620125" y="1809750"/>
              <a:ext cx="285750" cy="6286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対象B_棒2"/>
            <p:cNvSpPr/>
            <p:nvPr/>
          </p:nvSpPr>
          <p:spPr>
            <a:xfrm>
              <a:off x="9020175" y="1962150"/>
              <a:ext cx="285750" cy="4762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対象B_棒3"/>
            <p:cNvSpPr/>
            <p:nvPr/>
          </p:nvSpPr>
          <p:spPr>
            <a:xfrm>
              <a:off x="9420225" y="1866900"/>
              <a:ext cx="285750" cy="57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題_2"/>
            <p:cNvSpPr/>
            <p:nvPr/>
          </p:nvSpPr>
          <p:spPr>
            <a:xfrm>
              <a:off x="8467725" y="2495550"/>
              <a:ext cx="1333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対象B</a:t>
              </a:r>
            </a:p>
          </p:txBody>
        </p:sp>
        <p:sp>
          <p:nvSpPr>
            <p:cNvPr id="51" name="対象C_棒1"/>
            <p:cNvSpPr/>
            <p:nvPr/>
          </p:nvSpPr>
          <p:spPr>
            <a:xfrm>
              <a:off x="10144125" y="2095500"/>
              <a:ext cx="285750" cy="342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対象C_棒2"/>
            <p:cNvSpPr/>
            <p:nvPr/>
          </p:nvSpPr>
          <p:spPr>
            <a:xfrm>
              <a:off x="10544175" y="2190750"/>
              <a:ext cx="285750" cy="2476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対象C_棒3"/>
            <p:cNvSpPr/>
            <p:nvPr/>
          </p:nvSpPr>
          <p:spPr>
            <a:xfrm>
              <a:off x="10944225" y="2143125"/>
              <a:ext cx="285750" cy="29527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題_3"/>
            <p:cNvSpPr/>
            <p:nvPr/>
          </p:nvSpPr>
          <p:spPr>
            <a:xfrm>
              <a:off x="9991725" y="2495550"/>
              <a:ext cx="1333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対象C</a:t>
              </a:r>
            </a:p>
          </p:txBody>
        </p:sp>
        <p:sp>
          <p:nvSpPr>
            <p:cNvPr id="55" name="So-what行"/>
            <p:cNvSpPr/>
            <p:nvPr/>
          </p:nvSpPr>
          <p:spPr>
            <a:xfrm>
              <a:off x="6753225" y="2819400"/>
              <a:ext cx="4724400" cy="323850"/>
            </a:xfrm>
            <a:prstGeom prst="roundRect">
              <a:avLst>
                <a:gd name="adj" fmla="val 17647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6905625" y="2905125"/>
              <a:ext cx="6667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So What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7648575" y="2914650"/>
              <a:ext cx="37147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dk1"/>
                  </a:solidFill>
                </a:rPr>
                <a:t>テキストテキスト（3枚を同じ目盛で読む）</a:t>
              </a:r>
            </a:p>
          </p:txBody>
        </p:sp>
      </p:grpSp>
      <p:sp>
        <p:nvSpPr>
          <p:cNvPr id="58" name="Rectangle 57"/>
          <p:cNvSpPr/>
          <p:nvPr/>
        </p:nvSpPr>
        <p:spPr>
          <a:xfrm>
            <a:off x="6219825" y="33337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32 小マルチプル軸揃え比較｜構造：比較（縦軸の最大・最小を統一）</a:t>
            </a:r>
          </a:p>
        </p:txBody>
      </p:sp>
      <p:grpSp>
        <p:nvGrpSpPr>
          <p:cNvPr id="59" name="図解33_共通目盛階層比較"/>
          <p:cNvGrpSpPr/>
          <p:nvPr/>
        </p:nvGrpSpPr>
        <p:grpSpPr>
          <a:xfrm>
            <a:off x="466725" y="3924300"/>
            <a:ext cx="5105400" cy="2076450"/>
            <a:chOff x="466725" y="3924300"/>
            <a:chExt cx="5105400" cy="2076450"/>
          </a:xfrm>
        </p:grpSpPr>
        <p:cxnSp>
          <p:nvCxnSpPr>
            <p:cNvPr id="60" name="共通目盛軸"/>
            <p:cNvCxnSpPr/>
            <p:nvPr/>
          </p:nvCxnSpPr>
          <p:spPr>
            <a:xfrm flipV="1">
              <a:off x="1152525" y="4076700"/>
              <a:ext cx="0" cy="1714500"/>
            </a:xfrm>
            <a:prstGeom prst="bentConnector3">
              <a:avLst/>
            </a:prstGeom>
            <a:ln w="14287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高"/>
            <p:cNvSpPr/>
            <p:nvPr/>
          </p:nvSpPr>
          <p:spPr>
            <a:xfrm>
              <a:off x="885825" y="4114800"/>
              <a:ext cx="19050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高</a:t>
              </a:r>
            </a:p>
          </p:txBody>
        </p:sp>
        <p:sp>
          <p:nvSpPr>
            <p:cNvPr id="62" name="低"/>
            <p:cNvSpPr/>
            <p:nvPr/>
          </p:nvSpPr>
          <p:spPr>
            <a:xfrm>
              <a:off x="885825" y="5638800"/>
              <a:ext cx="19050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低</a:t>
              </a:r>
            </a:p>
          </p:txBody>
        </p:sp>
        <p:sp>
          <p:nvSpPr>
            <p:cNvPr id="63" name="軸タイトル"/>
            <p:cNvSpPr/>
            <p:nvPr/>
          </p:nvSpPr>
          <p:spPr>
            <a:xfrm>
              <a:off x="466725" y="4781550"/>
              <a:ext cx="6096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800">
                  <a:solidFill>
                    <a:schemeClr val="accent5"/>
                  </a:solidFill>
                </a:rPr>
                <a:t>職責の</a:t>
              </a:r>
            </a:p>
            <a:p>
              <a:pPr algn="l">
                <a:lnSpc>
                  <a:spcPct val="130000"/>
                </a:lnSpc>
              </a:pPr>
              <a:r>
                <a:rPr sz="800">
                  <a:solidFill>
                    <a:schemeClr val="accent5"/>
                  </a:solidFill>
                </a:rPr>
                <a:t>大きさ</a:t>
              </a:r>
            </a:p>
          </p:txBody>
        </p:sp>
        <p:cxnSp>
          <p:nvCxnSpPr>
            <p:cNvPr id="64" name="目盛線1"/>
            <p:cNvCxnSpPr/>
            <p:nvPr/>
          </p:nvCxnSpPr>
          <p:spPr>
            <a:xfrm>
              <a:off x="1152525" y="4457700"/>
              <a:ext cx="44196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目盛線2"/>
            <p:cNvCxnSpPr/>
            <p:nvPr/>
          </p:nvCxnSpPr>
          <p:spPr>
            <a:xfrm>
              <a:off x="1152525" y="4933950"/>
              <a:ext cx="44196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目盛線3"/>
            <p:cNvCxnSpPr/>
            <p:nvPr/>
          </p:nvCxnSpPr>
          <p:spPr>
            <a:xfrm>
              <a:off x="1152525" y="5410200"/>
              <a:ext cx="44196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部門A連結線"/>
            <p:cNvCxnSpPr/>
            <p:nvPr/>
          </p:nvCxnSpPr>
          <p:spPr>
            <a:xfrm>
              <a:off x="2314575" y="4324350"/>
              <a:ext cx="0" cy="1352550"/>
            </a:xfrm>
            <a:prstGeom prst="bentConnector3">
              <a:avLst/>
            </a:prstGeom>
            <a:ln w="11906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部門A_役職1"/>
            <p:cNvSpPr/>
            <p:nvPr/>
          </p:nvSpPr>
          <p:spPr>
            <a:xfrm>
              <a:off x="1819275" y="4210050"/>
              <a:ext cx="990600" cy="228600"/>
            </a:xfrm>
            <a:prstGeom prst="roundRect">
              <a:avLst>
                <a:gd name="adj" fmla="val 16666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1819275" y="4210050"/>
              <a:ext cx="9906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役職</a:t>
              </a:r>
            </a:p>
          </p:txBody>
        </p:sp>
        <p:sp>
          <p:nvSpPr>
            <p:cNvPr id="70" name="部門A_役職2"/>
            <p:cNvSpPr/>
            <p:nvPr/>
          </p:nvSpPr>
          <p:spPr>
            <a:xfrm>
              <a:off x="1819275" y="4667250"/>
              <a:ext cx="990600" cy="228600"/>
            </a:xfrm>
            <a:prstGeom prst="roundRect">
              <a:avLst>
                <a:gd name="adj" fmla="val 16666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1819275" y="4667250"/>
              <a:ext cx="9906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役職</a:t>
              </a:r>
            </a:p>
          </p:txBody>
        </p:sp>
        <p:sp>
          <p:nvSpPr>
            <p:cNvPr id="72" name="部門A_役職3"/>
            <p:cNvSpPr/>
            <p:nvPr/>
          </p:nvSpPr>
          <p:spPr>
            <a:xfrm>
              <a:off x="1819275" y="5124450"/>
              <a:ext cx="990600" cy="228600"/>
            </a:xfrm>
            <a:prstGeom prst="roundRect">
              <a:avLst>
                <a:gd name="adj" fmla="val 16666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819275" y="5124450"/>
              <a:ext cx="9906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役職</a:t>
              </a:r>
            </a:p>
          </p:txBody>
        </p:sp>
        <p:sp>
          <p:nvSpPr>
            <p:cNvPr id="74" name="部門A_役職4"/>
            <p:cNvSpPr/>
            <p:nvPr/>
          </p:nvSpPr>
          <p:spPr>
            <a:xfrm>
              <a:off x="1819275" y="5562600"/>
              <a:ext cx="990600" cy="228600"/>
            </a:xfrm>
            <a:prstGeom prst="roundRect">
              <a:avLst>
                <a:gd name="adj" fmla="val 16666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819275" y="5562600"/>
              <a:ext cx="9906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役職</a:t>
              </a:r>
            </a:p>
          </p:txBody>
        </p:sp>
        <p:sp>
          <p:nvSpPr>
            <p:cNvPr id="76" name="対比タグ1"/>
            <p:cNvSpPr/>
            <p:nvPr/>
          </p:nvSpPr>
          <p:spPr>
            <a:xfrm>
              <a:off x="1819275" y="3924300"/>
              <a:ext cx="9906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 b="1">
                  <a:solidFill>
                    <a:schemeClr val="dk2"/>
                  </a:solidFill>
                </a:rPr>
                <a:t>バランス型</a:t>
              </a:r>
            </a:p>
          </p:txBody>
        </p:sp>
        <p:sp>
          <p:nvSpPr>
            <p:cNvPr id="77" name="部門名1"/>
            <p:cNvSpPr/>
            <p:nvPr/>
          </p:nvSpPr>
          <p:spPr>
            <a:xfrm>
              <a:off x="1819275" y="5848350"/>
              <a:ext cx="9906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部門A</a:t>
              </a:r>
            </a:p>
          </p:txBody>
        </p:sp>
        <p:cxnSp>
          <p:nvCxnSpPr>
            <p:cNvPr id="78" name="部門B連結線"/>
            <p:cNvCxnSpPr/>
            <p:nvPr/>
          </p:nvCxnSpPr>
          <p:spPr>
            <a:xfrm>
              <a:off x="3609975" y="4324350"/>
              <a:ext cx="0" cy="1352550"/>
            </a:xfrm>
            <a:prstGeom prst="bentConnector3">
              <a:avLst/>
            </a:prstGeom>
            <a:ln w="11906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部門B_役職1"/>
            <p:cNvSpPr/>
            <p:nvPr/>
          </p:nvSpPr>
          <p:spPr>
            <a:xfrm>
              <a:off x="3114675" y="4210050"/>
              <a:ext cx="990600" cy="228600"/>
            </a:xfrm>
            <a:prstGeom prst="roundRect">
              <a:avLst>
                <a:gd name="adj" fmla="val 16666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3114675" y="4210050"/>
              <a:ext cx="9906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役職</a:t>
              </a:r>
            </a:p>
          </p:txBody>
        </p:sp>
        <p:sp>
          <p:nvSpPr>
            <p:cNvPr id="81" name="部門B_役職2"/>
            <p:cNvSpPr/>
            <p:nvPr/>
          </p:nvSpPr>
          <p:spPr>
            <a:xfrm>
              <a:off x="3114675" y="4476750"/>
              <a:ext cx="990600" cy="228600"/>
            </a:xfrm>
            <a:prstGeom prst="roundRect">
              <a:avLst>
                <a:gd name="adj" fmla="val 16666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3114675" y="4476750"/>
              <a:ext cx="9906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役職</a:t>
              </a:r>
            </a:p>
          </p:txBody>
        </p:sp>
        <p:sp>
          <p:nvSpPr>
            <p:cNvPr id="83" name="部門B_役職3"/>
            <p:cNvSpPr/>
            <p:nvPr/>
          </p:nvSpPr>
          <p:spPr>
            <a:xfrm>
              <a:off x="3114675" y="4743450"/>
              <a:ext cx="990600" cy="228600"/>
            </a:xfrm>
            <a:prstGeom prst="roundRect">
              <a:avLst>
                <a:gd name="adj" fmla="val 16666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3114675" y="4743450"/>
              <a:ext cx="9906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役職</a:t>
              </a:r>
            </a:p>
          </p:txBody>
        </p:sp>
        <p:sp>
          <p:nvSpPr>
            <p:cNvPr id="85" name="部門B_役職4"/>
            <p:cNvSpPr/>
            <p:nvPr/>
          </p:nvSpPr>
          <p:spPr>
            <a:xfrm>
              <a:off x="3114675" y="5562600"/>
              <a:ext cx="990600" cy="228600"/>
            </a:xfrm>
            <a:prstGeom prst="roundRect">
              <a:avLst>
                <a:gd name="adj" fmla="val 16666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3114675" y="5562600"/>
              <a:ext cx="9906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役職</a:t>
              </a:r>
            </a:p>
          </p:txBody>
        </p:sp>
        <p:sp>
          <p:nvSpPr>
            <p:cNvPr id="87" name="対比タグ2"/>
            <p:cNvSpPr/>
            <p:nvPr/>
          </p:nvSpPr>
          <p:spPr>
            <a:xfrm>
              <a:off x="3114675" y="3924300"/>
              <a:ext cx="9906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 b="1">
                  <a:solidFill>
                    <a:schemeClr val="dk2"/>
                  </a:solidFill>
                </a:rPr>
                <a:t>上位に密集</a:t>
              </a:r>
            </a:p>
          </p:txBody>
        </p:sp>
        <p:sp>
          <p:nvSpPr>
            <p:cNvPr id="88" name="部門名2"/>
            <p:cNvSpPr/>
            <p:nvPr/>
          </p:nvSpPr>
          <p:spPr>
            <a:xfrm>
              <a:off x="3114675" y="5848350"/>
              <a:ext cx="9906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部門B</a:t>
              </a:r>
            </a:p>
          </p:txBody>
        </p:sp>
        <p:cxnSp>
          <p:nvCxnSpPr>
            <p:cNvPr id="89" name="部門C連結線"/>
            <p:cNvCxnSpPr/>
            <p:nvPr/>
          </p:nvCxnSpPr>
          <p:spPr>
            <a:xfrm>
              <a:off x="4905375" y="4324350"/>
              <a:ext cx="0" cy="1352550"/>
            </a:xfrm>
            <a:prstGeom prst="bentConnector3">
              <a:avLst/>
            </a:prstGeom>
            <a:ln w="11906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部門C_役職1"/>
            <p:cNvSpPr/>
            <p:nvPr/>
          </p:nvSpPr>
          <p:spPr>
            <a:xfrm>
              <a:off x="4410075" y="4210050"/>
              <a:ext cx="990600" cy="228600"/>
            </a:xfrm>
            <a:prstGeom prst="roundRect">
              <a:avLst>
                <a:gd name="adj" fmla="val 16666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4410075" y="4210050"/>
              <a:ext cx="9906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役職</a:t>
              </a:r>
            </a:p>
          </p:txBody>
        </p:sp>
        <p:sp>
          <p:nvSpPr>
            <p:cNvPr id="92" name="部門C_役職2"/>
            <p:cNvSpPr/>
            <p:nvPr/>
          </p:nvSpPr>
          <p:spPr>
            <a:xfrm>
              <a:off x="4410075" y="5562600"/>
              <a:ext cx="990600" cy="228600"/>
            </a:xfrm>
            <a:prstGeom prst="roundRect">
              <a:avLst>
                <a:gd name="adj" fmla="val 16666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4410075" y="5562600"/>
              <a:ext cx="9906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役職</a:t>
              </a:r>
            </a:p>
          </p:txBody>
        </p:sp>
        <p:sp>
          <p:nvSpPr>
            <p:cNvPr id="94" name="対比タグ3"/>
            <p:cNvSpPr/>
            <p:nvPr/>
          </p:nvSpPr>
          <p:spPr>
            <a:xfrm>
              <a:off x="4410075" y="3924300"/>
              <a:ext cx="9906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 b="1">
                  <a:solidFill>
                    <a:schemeClr val="dk2"/>
                  </a:solidFill>
                </a:rPr>
                <a:t>中間層が不在</a:t>
              </a:r>
            </a:p>
          </p:txBody>
        </p:sp>
        <p:sp>
          <p:nvSpPr>
            <p:cNvPr id="95" name="部門名3"/>
            <p:cNvSpPr/>
            <p:nvPr/>
          </p:nvSpPr>
          <p:spPr>
            <a:xfrm>
              <a:off x="4410075" y="5848350"/>
              <a:ext cx="9906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部門C</a:t>
              </a:r>
            </a:p>
          </p:txBody>
        </p:sp>
      </p:grpSp>
      <p:sp>
        <p:nvSpPr>
          <p:cNvPr id="96" name="Rectangle 95"/>
          <p:cNvSpPr/>
          <p:nvPr/>
        </p:nvSpPr>
        <p:spPr>
          <a:xfrm>
            <a:off x="390525" y="62674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33 共通目盛の階層比較｜構造：比較（同じ目盛に載せると密・疎が見える）</a:t>
            </a:r>
          </a:p>
        </p:txBody>
      </p:sp>
      <p:grpSp>
        <p:nvGrpSpPr>
          <p:cNvPr id="97" name="図解34_くくり出し比較表"/>
          <p:cNvGrpSpPr/>
          <p:nvPr/>
        </p:nvGrpSpPr>
        <p:grpSpPr>
          <a:xfrm>
            <a:off x="6505575" y="4076700"/>
            <a:ext cx="5010150" cy="2000250"/>
            <a:chOff x="6505575" y="4076700"/>
            <a:chExt cx="5010150" cy="2000250"/>
          </a:xfrm>
        </p:grpSpPr>
        <p:sp>
          <p:nvSpPr>
            <p:cNvPr id="98" name="ヘッダー帯"/>
            <p:cNvSpPr/>
            <p:nvPr/>
          </p:nvSpPr>
          <p:spPr>
            <a:xfrm>
              <a:off x="6505575" y="4076700"/>
              <a:ext cx="5010150" cy="266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6600825" y="4133850"/>
              <a:ext cx="1143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評価軸</a:t>
              </a: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7743825" y="4133850"/>
              <a:ext cx="12573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案A</a:t>
              </a: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9001125" y="4133850"/>
              <a:ext cx="12573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案B</a:t>
              </a:r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10258425" y="4133850"/>
              <a:ext cx="12573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案C</a:t>
              </a:r>
            </a:p>
          </p:txBody>
        </p:sp>
        <p:sp>
          <p:nvSpPr>
            <p:cNvPr id="103" name="行ラベル1"/>
            <p:cNvSpPr/>
            <p:nvPr/>
          </p:nvSpPr>
          <p:spPr>
            <a:xfrm>
              <a:off x="6600825" y="4457700"/>
              <a:ext cx="1143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評価軸1</a:t>
              </a:r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7743825" y="4457700"/>
              <a:ext cx="12573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dk1"/>
                  </a:solidFill>
                </a:rPr>
                <a:t>テキスト</a:t>
              </a:r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9001125" y="4457700"/>
              <a:ext cx="12573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dk1"/>
                  </a:solidFill>
                </a:rPr>
                <a:t>テキスト</a:t>
              </a:r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10258425" y="4457700"/>
              <a:ext cx="12573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dk1"/>
                  </a:solidFill>
                </a:rPr>
                <a:t>テキスト</a:t>
              </a:r>
            </a:p>
          </p:txBody>
        </p:sp>
        <p:cxnSp>
          <p:nvCxnSpPr>
            <p:cNvPr id="107" name="罫線1"/>
            <p:cNvCxnSpPr/>
            <p:nvPr/>
          </p:nvCxnSpPr>
          <p:spPr>
            <a:xfrm>
              <a:off x="6505575" y="4724400"/>
              <a:ext cx="50101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行ラベル2"/>
            <p:cNvSpPr/>
            <p:nvPr/>
          </p:nvSpPr>
          <p:spPr>
            <a:xfrm>
              <a:off x="6600825" y="4838700"/>
              <a:ext cx="1143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評価軸2</a:t>
              </a:r>
            </a:p>
          </p:txBody>
        </p:sp>
        <p:sp>
          <p:nvSpPr>
            <p:cNvPr id="109" name="共通セル（案A・B）"/>
            <p:cNvSpPr/>
            <p:nvPr/>
          </p:nvSpPr>
          <p:spPr>
            <a:xfrm>
              <a:off x="7781925" y="4772025"/>
              <a:ext cx="2438400" cy="285750"/>
            </a:xfrm>
            <a:prstGeom prst="roundRect">
              <a:avLst>
                <a:gd name="adj" fmla="val 2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7781925" y="4772025"/>
              <a:ext cx="24384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dk2"/>
                  </a:solidFill>
                </a:rPr>
                <a:t>共通：テキスト</a:t>
              </a:r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10258425" y="4838700"/>
              <a:ext cx="12573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dk1"/>
                  </a:solidFill>
                </a:rPr>
                <a:t>テキスト</a:t>
              </a:r>
            </a:p>
          </p:txBody>
        </p:sp>
        <p:cxnSp>
          <p:nvCxnSpPr>
            <p:cNvPr id="112" name="罫線2"/>
            <p:cNvCxnSpPr/>
            <p:nvPr/>
          </p:nvCxnSpPr>
          <p:spPr>
            <a:xfrm>
              <a:off x="6505575" y="5105400"/>
              <a:ext cx="50101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行ラベル3"/>
            <p:cNvSpPr/>
            <p:nvPr/>
          </p:nvSpPr>
          <p:spPr>
            <a:xfrm>
              <a:off x="6600825" y="5219700"/>
              <a:ext cx="1143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評価軸3</a:t>
              </a:r>
            </a:p>
          </p:txBody>
        </p:sp>
        <p:sp>
          <p:nvSpPr>
            <p:cNvPr id="114" name="共通セル（3案）"/>
            <p:cNvSpPr/>
            <p:nvPr/>
          </p:nvSpPr>
          <p:spPr>
            <a:xfrm>
              <a:off x="7781925" y="5153025"/>
              <a:ext cx="3695700" cy="285750"/>
            </a:xfrm>
            <a:prstGeom prst="roundRect">
              <a:avLst>
                <a:gd name="adj" fmla="val 2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7781925" y="5153025"/>
              <a:ext cx="36957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dk2"/>
                  </a:solidFill>
                </a:rPr>
                <a:t>3案共通：テキスト</a:t>
              </a:r>
            </a:p>
          </p:txBody>
        </p:sp>
        <p:cxnSp>
          <p:nvCxnSpPr>
            <p:cNvPr id="116" name="罫線3"/>
            <p:cNvCxnSpPr/>
            <p:nvPr/>
          </p:nvCxnSpPr>
          <p:spPr>
            <a:xfrm>
              <a:off x="6505575" y="5486400"/>
              <a:ext cx="50101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行ラベル4"/>
            <p:cNvSpPr/>
            <p:nvPr/>
          </p:nvSpPr>
          <p:spPr>
            <a:xfrm>
              <a:off x="6600825" y="5600700"/>
              <a:ext cx="1143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評価軸4</a:t>
              </a:r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7743825" y="5600700"/>
              <a:ext cx="12573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dk1"/>
                  </a:solidFill>
                </a:rPr>
                <a:t>テキスト</a:t>
              </a:r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9001125" y="5600700"/>
              <a:ext cx="12573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dk1"/>
                  </a:solidFill>
                </a:rPr>
                <a:t>テキスト</a:t>
              </a:r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10258425" y="5600700"/>
              <a:ext cx="12573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dk1"/>
                  </a:solidFill>
                </a:rPr>
                <a:t>テキスト</a:t>
              </a:r>
            </a:p>
          </p:txBody>
        </p:sp>
        <p:cxnSp>
          <p:nvCxnSpPr>
            <p:cNvPr id="121" name="罫線4"/>
            <p:cNvCxnSpPr/>
            <p:nvPr/>
          </p:nvCxnSpPr>
          <p:spPr>
            <a:xfrm>
              <a:off x="6505575" y="5867400"/>
              <a:ext cx="50101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凡例"/>
            <p:cNvSpPr/>
            <p:nvPr/>
          </p:nvSpPr>
          <p:spPr>
            <a:xfrm>
              <a:off x="6505575" y="5943600"/>
              <a:ext cx="50101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薄い塗り＝複数案に共通する記述（横に結合して1か所に括り出す）</a:t>
              </a:r>
            </a:p>
          </p:txBody>
        </p:sp>
      </p:grpSp>
      <p:sp>
        <p:nvSpPr>
          <p:cNvPr id="123" name="Rectangle 122"/>
          <p:cNvSpPr/>
          <p:nvPr/>
        </p:nvSpPr>
        <p:spPr>
          <a:xfrm>
            <a:off x="6219825" y="62674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34 くくり出し比較表｜構造：比較（共通項は結合セルへ・縦罫線なし）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72390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パーツ図鑑｜⑥ 図解パターン 比較・変化 — 大型2種（共通軸比較・クローズアップ）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全幅サイズ。グループ解除で行・列を増減できます</a:t>
            </a:r>
          </a:p>
        </p:txBody>
      </p:sp>
      <p:grpSp>
        <p:nvGrpSpPr>
          <p:cNvPr id="5" name="図解35_共通軸ボトルネック比較"/>
          <p:cNvGrpSpPr/>
          <p:nvPr/>
        </p:nvGrpSpPr>
        <p:grpSpPr>
          <a:xfrm>
            <a:off x="581025" y="1143000"/>
            <a:ext cx="10744200" cy="2095500"/>
            <a:chOff x="581025" y="1143000"/>
            <a:chExt cx="10744200" cy="2095500"/>
          </a:xfrm>
        </p:grpSpPr>
        <p:sp>
          <p:nvSpPr>
            <p:cNvPr id="6" name="軸ラベル"/>
            <p:cNvSpPr/>
            <p:nvPr/>
          </p:nvSpPr>
          <p:spPr>
            <a:xfrm>
              <a:off x="581025" y="1266825"/>
              <a:ext cx="1047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共通プロセス</a:t>
              </a:r>
            </a:p>
          </p:txBody>
        </p:sp>
        <p:sp>
          <p:nvSpPr>
            <p:cNvPr id="7" name="矢羽根_工程1"/>
            <p:cNvSpPr/>
            <p:nvPr/>
          </p:nvSpPr>
          <p:spPr>
            <a:xfrm>
              <a:off x="1724025" y="1143000"/>
              <a:ext cx="1905000" cy="381000"/>
            </a:xfrm>
            <a:custGeom>
              <a:avLst/>
              <a:gdLst/>
              <a:ahLst/>
              <a:cxnLst/>
              <a:rect l="0" t="0" r="1905000" b="381000"/>
              <a:pathLst>
                <a:path w="1905000" h="381000">
                  <a:moveTo>
                    <a:pt x="0" y="0"/>
                  </a:moveTo>
                  <a:lnTo>
                    <a:pt x="1733550" y="0"/>
                  </a:lnTo>
                  <a:lnTo>
                    <a:pt x="1905000" y="190500"/>
                  </a:lnTo>
                  <a:lnTo>
                    <a:pt x="173355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781175" y="1247775"/>
              <a:ext cx="16764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工程1</a:t>
              </a:r>
            </a:p>
          </p:txBody>
        </p:sp>
        <p:sp>
          <p:nvSpPr>
            <p:cNvPr id="9" name="矢羽根_工程2"/>
            <p:cNvSpPr/>
            <p:nvPr/>
          </p:nvSpPr>
          <p:spPr>
            <a:xfrm>
              <a:off x="3648075" y="1143000"/>
              <a:ext cx="1905000" cy="381000"/>
            </a:xfrm>
            <a:custGeom>
              <a:avLst/>
              <a:gdLst/>
              <a:ahLst/>
              <a:cxnLst/>
              <a:rect l="0" t="0" r="1905000" b="381000"/>
              <a:pathLst>
                <a:path w="1905000" h="381000">
                  <a:moveTo>
                    <a:pt x="0" y="0"/>
                  </a:moveTo>
                  <a:lnTo>
                    <a:pt x="1733550" y="0"/>
                  </a:lnTo>
                  <a:lnTo>
                    <a:pt x="1905000" y="190500"/>
                  </a:lnTo>
                  <a:lnTo>
                    <a:pt x="1733550" y="381000"/>
                  </a:lnTo>
                  <a:lnTo>
                    <a:pt x="0" y="381000"/>
                  </a:lnTo>
                  <a:lnTo>
                    <a:pt x="171450" y="1905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781425" y="1247775"/>
              <a:ext cx="16764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工程2</a:t>
              </a:r>
            </a:p>
          </p:txBody>
        </p:sp>
        <p:sp>
          <p:nvSpPr>
            <p:cNvPr id="11" name="矢羽根_工程3"/>
            <p:cNvSpPr/>
            <p:nvPr/>
          </p:nvSpPr>
          <p:spPr>
            <a:xfrm>
              <a:off x="5572125" y="1143000"/>
              <a:ext cx="1905000" cy="381000"/>
            </a:xfrm>
            <a:custGeom>
              <a:avLst/>
              <a:gdLst/>
              <a:ahLst/>
              <a:cxnLst/>
              <a:rect l="0" t="0" r="1905000" b="381000"/>
              <a:pathLst>
                <a:path w="1905000" h="381000">
                  <a:moveTo>
                    <a:pt x="0" y="0"/>
                  </a:moveTo>
                  <a:lnTo>
                    <a:pt x="1733550" y="0"/>
                  </a:lnTo>
                  <a:lnTo>
                    <a:pt x="1905000" y="190500"/>
                  </a:lnTo>
                  <a:lnTo>
                    <a:pt x="1733550" y="381000"/>
                  </a:lnTo>
                  <a:lnTo>
                    <a:pt x="0" y="381000"/>
                  </a:lnTo>
                  <a:lnTo>
                    <a:pt x="171450" y="1905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705475" y="1247775"/>
              <a:ext cx="16764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工程3</a:t>
              </a:r>
            </a:p>
          </p:txBody>
        </p:sp>
        <p:sp>
          <p:nvSpPr>
            <p:cNvPr id="13" name="矢羽根_工程4"/>
            <p:cNvSpPr/>
            <p:nvPr/>
          </p:nvSpPr>
          <p:spPr>
            <a:xfrm>
              <a:off x="7496175" y="1143000"/>
              <a:ext cx="1905000" cy="381000"/>
            </a:xfrm>
            <a:custGeom>
              <a:avLst/>
              <a:gdLst/>
              <a:ahLst/>
              <a:cxnLst/>
              <a:rect l="0" t="0" r="1905000" b="381000"/>
              <a:pathLst>
                <a:path w="1905000" h="381000">
                  <a:moveTo>
                    <a:pt x="0" y="0"/>
                  </a:moveTo>
                  <a:lnTo>
                    <a:pt x="1733550" y="0"/>
                  </a:lnTo>
                  <a:lnTo>
                    <a:pt x="1905000" y="190500"/>
                  </a:lnTo>
                  <a:lnTo>
                    <a:pt x="1733550" y="381000"/>
                  </a:lnTo>
                  <a:lnTo>
                    <a:pt x="0" y="381000"/>
                  </a:lnTo>
                  <a:lnTo>
                    <a:pt x="171450" y="1905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629525" y="1247775"/>
              <a:ext cx="16764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工程4</a:t>
              </a:r>
            </a:p>
          </p:txBody>
        </p:sp>
        <p:sp>
          <p:nvSpPr>
            <p:cNvPr id="15" name="矢羽根_工程5"/>
            <p:cNvSpPr/>
            <p:nvPr/>
          </p:nvSpPr>
          <p:spPr>
            <a:xfrm>
              <a:off x="9420225" y="1143000"/>
              <a:ext cx="1905000" cy="381000"/>
            </a:xfrm>
            <a:custGeom>
              <a:avLst/>
              <a:gdLst/>
              <a:ahLst/>
              <a:cxnLst/>
              <a:rect l="0" t="0" r="1905000" b="381000"/>
              <a:pathLst>
                <a:path w="1905000" h="381000">
                  <a:moveTo>
                    <a:pt x="0" y="0"/>
                  </a:moveTo>
                  <a:lnTo>
                    <a:pt x="1733550" y="0"/>
                  </a:lnTo>
                  <a:lnTo>
                    <a:pt x="1905000" y="190500"/>
                  </a:lnTo>
                  <a:lnTo>
                    <a:pt x="1733550" y="381000"/>
                  </a:lnTo>
                  <a:lnTo>
                    <a:pt x="0" y="381000"/>
                  </a:lnTo>
                  <a:lnTo>
                    <a:pt x="171450" y="1905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9553575" y="1247775"/>
              <a:ext cx="16764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工程5</a:t>
              </a:r>
            </a:p>
          </p:txBody>
        </p:sp>
        <p:sp>
          <p:nvSpPr>
            <p:cNvPr id="17" name="対象ラベル1"/>
            <p:cNvSpPr/>
            <p:nvPr/>
          </p:nvSpPr>
          <p:spPr>
            <a:xfrm>
              <a:off x="581025" y="1771650"/>
              <a:ext cx="952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対象A</a:t>
              </a:r>
            </a:p>
          </p:txBody>
        </p:sp>
        <p:sp>
          <p:nvSpPr>
            <p:cNvPr id="18" name="対象A_工程1"/>
            <p:cNvSpPr/>
            <p:nvPr/>
          </p:nvSpPr>
          <p:spPr>
            <a:xfrm>
              <a:off x="1800225" y="1657350"/>
              <a:ext cx="1752600" cy="400050"/>
            </a:xfrm>
            <a:prstGeom prst="roundRect">
              <a:avLst>
                <a:gd name="adj" fmla="val 1428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800225" y="1657350"/>
              <a:ext cx="17526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テキスト</a:t>
              </a:r>
            </a:p>
          </p:txBody>
        </p:sp>
        <p:sp>
          <p:nvSpPr>
            <p:cNvPr id="20" name="対象A_工程2"/>
            <p:cNvSpPr/>
            <p:nvPr/>
          </p:nvSpPr>
          <p:spPr>
            <a:xfrm>
              <a:off x="3724275" y="1657350"/>
              <a:ext cx="1752600" cy="400050"/>
            </a:xfrm>
            <a:prstGeom prst="roundRect">
              <a:avLst>
                <a:gd name="adj" fmla="val 1428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724275" y="1657350"/>
              <a:ext cx="17526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テキスト</a:t>
              </a:r>
            </a:p>
          </p:txBody>
        </p:sp>
        <p:sp>
          <p:nvSpPr>
            <p:cNvPr id="22" name="対象A_弱点（工程3）"/>
            <p:cNvSpPr/>
            <p:nvPr/>
          </p:nvSpPr>
          <p:spPr>
            <a:xfrm>
              <a:off x="5648325" y="1657350"/>
              <a:ext cx="1752600" cy="400050"/>
            </a:xfrm>
            <a:prstGeom prst="roundRect">
              <a:avLst>
                <a:gd name="adj" fmla="val 14285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648325" y="1657350"/>
              <a:ext cx="17526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弱点</a:t>
              </a:r>
            </a:p>
          </p:txBody>
        </p:sp>
        <p:sp>
          <p:nvSpPr>
            <p:cNvPr id="24" name="対象A_工程4"/>
            <p:cNvSpPr/>
            <p:nvPr/>
          </p:nvSpPr>
          <p:spPr>
            <a:xfrm>
              <a:off x="7572375" y="1657350"/>
              <a:ext cx="1752600" cy="400050"/>
            </a:xfrm>
            <a:prstGeom prst="roundRect">
              <a:avLst>
                <a:gd name="adj" fmla="val 1428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572375" y="1657350"/>
              <a:ext cx="17526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テキスト</a:t>
              </a:r>
            </a:p>
          </p:txBody>
        </p:sp>
        <p:sp>
          <p:nvSpPr>
            <p:cNvPr id="26" name="対象A_工程5"/>
            <p:cNvSpPr/>
            <p:nvPr/>
          </p:nvSpPr>
          <p:spPr>
            <a:xfrm>
              <a:off x="9496425" y="1657350"/>
              <a:ext cx="1752600" cy="400050"/>
            </a:xfrm>
            <a:prstGeom prst="roundRect">
              <a:avLst>
                <a:gd name="adj" fmla="val 1428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9496425" y="1657350"/>
              <a:ext cx="17526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テキスト</a:t>
              </a:r>
            </a:p>
          </p:txBody>
        </p:sp>
        <p:sp>
          <p:nvSpPr>
            <p:cNvPr id="28" name="対象ラベル2"/>
            <p:cNvSpPr/>
            <p:nvPr/>
          </p:nvSpPr>
          <p:spPr>
            <a:xfrm>
              <a:off x="581025" y="2266950"/>
              <a:ext cx="952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対象B</a:t>
              </a:r>
            </a:p>
          </p:txBody>
        </p:sp>
        <p:sp>
          <p:nvSpPr>
            <p:cNvPr id="29" name="対象B_工程1"/>
            <p:cNvSpPr/>
            <p:nvPr/>
          </p:nvSpPr>
          <p:spPr>
            <a:xfrm>
              <a:off x="1800225" y="2152650"/>
              <a:ext cx="1752600" cy="400050"/>
            </a:xfrm>
            <a:prstGeom prst="roundRect">
              <a:avLst>
                <a:gd name="adj" fmla="val 1428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800225" y="2152650"/>
              <a:ext cx="17526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テキスト</a:t>
              </a:r>
            </a:p>
          </p:txBody>
        </p:sp>
        <p:sp>
          <p:nvSpPr>
            <p:cNvPr id="31" name="対象B_工程2"/>
            <p:cNvSpPr/>
            <p:nvPr/>
          </p:nvSpPr>
          <p:spPr>
            <a:xfrm>
              <a:off x="3724275" y="2152650"/>
              <a:ext cx="1752600" cy="400050"/>
            </a:xfrm>
            <a:prstGeom prst="roundRect">
              <a:avLst>
                <a:gd name="adj" fmla="val 1428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724275" y="2152650"/>
              <a:ext cx="17526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テキスト</a:t>
              </a:r>
            </a:p>
          </p:txBody>
        </p:sp>
        <p:sp>
          <p:nvSpPr>
            <p:cNvPr id="33" name="対象B_弱点（工程3）"/>
            <p:cNvSpPr/>
            <p:nvPr/>
          </p:nvSpPr>
          <p:spPr>
            <a:xfrm>
              <a:off x="5648325" y="2152650"/>
              <a:ext cx="1752600" cy="400050"/>
            </a:xfrm>
            <a:prstGeom prst="roundRect">
              <a:avLst>
                <a:gd name="adj" fmla="val 14285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5648325" y="2152650"/>
              <a:ext cx="17526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弱点</a:t>
              </a:r>
            </a:p>
          </p:txBody>
        </p:sp>
        <p:sp>
          <p:nvSpPr>
            <p:cNvPr id="35" name="対象B_工程4"/>
            <p:cNvSpPr/>
            <p:nvPr/>
          </p:nvSpPr>
          <p:spPr>
            <a:xfrm>
              <a:off x="7572375" y="2152650"/>
              <a:ext cx="1752600" cy="400050"/>
            </a:xfrm>
            <a:prstGeom prst="roundRect">
              <a:avLst>
                <a:gd name="adj" fmla="val 1428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572375" y="2152650"/>
              <a:ext cx="17526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テキスト</a:t>
              </a:r>
            </a:p>
          </p:txBody>
        </p:sp>
        <p:sp>
          <p:nvSpPr>
            <p:cNvPr id="37" name="対象B_工程5"/>
            <p:cNvSpPr/>
            <p:nvPr/>
          </p:nvSpPr>
          <p:spPr>
            <a:xfrm>
              <a:off x="9496425" y="2152650"/>
              <a:ext cx="1752600" cy="400050"/>
            </a:xfrm>
            <a:prstGeom prst="roundRect">
              <a:avLst>
                <a:gd name="adj" fmla="val 1428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9496425" y="2152650"/>
              <a:ext cx="17526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テキスト</a:t>
              </a:r>
            </a:p>
          </p:txBody>
        </p:sp>
        <p:sp>
          <p:nvSpPr>
            <p:cNvPr id="39" name="対象ラベル3"/>
            <p:cNvSpPr/>
            <p:nvPr/>
          </p:nvSpPr>
          <p:spPr>
            <a:xfrm>
              <a:off x="581025" y="2762250"/>
              <a:ext cx="952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対象C</a:t>
              </a:r>
            </a:p>
          </p:txBody>
        </p:sp>
        <p:sp>
          <p:nvSpPr>
            <p:cNvPr id="40" name="対象C_工程1"/>
            <p:cNvSpPr/>
            <p:nvPr/>
          </p:nvSpPr>
          <p:spPr>
            <a:xfrm>
              <a:off x="1800225" y="2647950"/>
              <a:ext cx="1752600" cy="400050"/>
            </a:xfrm>
            <a:prstGeom prst="roundRect">
              <a:avLst>
                <a:gd name="adj" fmla="val 1428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800225" y="2647950"/>
              <a:ext cx="17526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テキスト</a:t>
              </a:r>
            </a:p>
          </p:txBody>
        </p:sp>
        <p:sp>
          <p:nvSpPr>
            <p:cNvPr id="42" name="対象C_工程2"/>
            <p:cNvSpPr/>
            <p:nvPr/>
          </p:nvSpPr>
          <p:spPr>
            <a:xfrm>
              <a:off x="3724275" y="2647950"/>
              <a:ext cx="1752600" cy="400050"/>
            </a:xfrm>
            <a:prstGeom prst="roundRect">
              <a:avLst>
                <a:gd name="adj" fmla="val 1428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3724275" y="2647950"/>
              <a:ext cx="17526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テキスト</a:t>
              </a:r>
            </a:p>
          </p:txBody>
        </p:sp>
        <p:sp>
          <p:nvSpPr>
            <p:cNvPr id="44" name="対象C_工程3"/>
            <p:cNvSpPr/>
            <p:nvPr/>
          </p:nvSpPr>
          <p:spPr>
            <a:xfrm>
              <a:off x="5648325" y="2647950"/>
              <a:ext cx="1752600" cy="400050"/>
            </a:xfrm>
            <a:prstGeom prst="roundRect">
              <a:avLst>
                <a:gd name="adj" fmla="val 1428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648325" y="2647950"/>
              <a:ext cx="17526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テキスト</a:t>
              </a:r>
            </a:p>
          </p:txBody>
        </p:sp>
        <p:sp>
          <p:nvSpPr>
            <p:cNvPr id="46" name="対象C_工程4"/>
            <p:cNvSpPr/>
            <p:nvPr/>
          </p:nvSpPr>
          <p:spPr>
            <a:xfrm>
              <a:off x="7572375" y="2647950"/>
              <a:ext cx="1752600" cy="400050"/>
            </a:xfrm>
            <a:prstGeom prst="roundRect">
              <a:avLst>
                <a:gd name="adj" fmla="val 1428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7572375" y="2647950"/>
              <a:ext cx="17526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テキスト</a:t>
              </a:r>
            </a:p>
          </p:txBody>
        </p:sp>
        <p:sp>
          <p:nvSpPr>
            <p:cNvPr id="48" name="対象C_弱点（工程5）"/>
            <p:cNvSpPr/>
            <p:nvPr/>
          </p:nvSpPr>
          <p:spPr>
            <a:xfrm>
              <a:off x="9496425" y="2647950"/>
              <a:ext cx="1752600" cy="400050"/>
            </a:xfrm>
            <a:prstGeom prst="roundRect">
              <a:avLst>
                <a:gd name="adj" fmla="val 14285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9496425" y="2647950"/>
              <a:ext cx="17526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弱点</a:t>
              </a:r>
            </a:p>
          </p:txBody>
        </p:sp>
        <p:sp>
          <p:nvSpPr>
            <p:cNvPr id="50" name="凡例"/>
            <p:cNvSpPr/>
            <p:nvPr/>
          </p:nvSpPr>
          <p:spPr>
            <a:xfrm>
              <a:off x="1724025" y="310515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濃色＝各対象のボトルネック。同じ列に並べば共通課題として縦に読める</a:t>
              </a:r>
            </a:p>
          </p:txBody>
        </p:sp>
      </p:grpSp>
      <p:sp>
        <p:nvSpPr>
          <p:cNvPr id="51" name="Rectangle 50"/>
          <p:cNvSpPr/>
          <p:nvPr/>
        </p:nvSpPr>
        <p:spPr>
          <a:xfrm>
            <a:off x="390525" y="3333750"/>
            <a:ext cx="114109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35 共通軸ボトルネック比較｜構造：比較（プロセス軸は上に1回だけ＝非冗長）</a:t>
            </a:r>
          </a:p>
        </p:txBody>
      </p:sp>
      <p:grpSp>
        <p:nvGrpSpPr>
          <p:cNvPr id="52" name="図解36_左右クローズアップ"/>
          <p:cNvGrpSpPr/>
          <p:nvPr/>
        </p:nvGrpSpPr>
        <p:grpSpPr>
          <a:xfrm>
            <a:off x="676275" y="3905250"/>
            <a:ext cx="10763250" cy="2152650"/>
            <a:chOff x="676275" y="3905250"/>
            <a:chExt cx="10763250" cy="2152650"/>
          </a:xfrm>
        </p:grpSpPr>
        <p:sp>
          <p:nvSpPr>
            <p:cNvPr id="53" name="左タイトル"/>
            <p:cNvSpPr/>
            <p:nvPr/>
          </p:nvSpPr>
          <p:spPr>
            <a:xfrm>
              <a:off x="676275" y="3905250"/>
              <a:ext cx="190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全体像</a:t>
              </a:r>
            </a:p>
          </p:txBody>
        </p:sp>
        <p:sp>
          <p:nvSpPr>
            <p:cNvPr id="54" name="全体枠"/>
            <p:cNvSpPr/>
            <p:nvPr/>
          </p:nvSpPr>
          <p:spPr>
            <a:xfrm>
              <a:off x="676275" y="4133850"/>
              <a:ext cx="3810000" cy="1809750"/>
            </a:xfrm>
            <a:prstGeom prst="rect">
              <a:avLst/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要素A"/>
            <p:cNvSpPr/>
            <p:nvPr/>
          </p:nvSpPr>
          <p:spPr>
            <a:xfrm>
              <a:off x="847725" y="4343400"/>
              <a:ext cx="1104900" cy="666750"/>
            </a:xfrm>
            <a:prstGeom prst="roundRect">
              <a:avLst>
                <a:gd name="adj" fmla="val 8571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847725" y="4343400"/>
              <a:ext cx="1104900" cy="666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dk2"/>
                  </a:solidFill>
                </a:rPr>
                <a:t>要素A</a:t>
              </a:r>
            </a:p>
          </p:txBody>
        </p:sp>
        <p:sp>
          <p:nvSpPr>
            <p:cNvPr id="57" name="要素B"/>
            <p:cNvSpPr/>
            <p:nvPr/>
          </p:nvSpPr>
          <p:spPr>
            <a:xfrm>
              <a:off x="2066925" y="4343400"/>
              <a:ext cx="1104900" cy="666750"/>
            </a:xfrm>
            <a:prstGeom prst="roundRect">
              <a:avLst>
                <a:gd name="adj" fmla="val 8571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2066925" y="4343400"/>
              <a:ext cx="1104900" cy="666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dk2"/>
                  </a:solidFill>
                </a:rPr>
                <a:t>要素B</a:t>
              </a:r>
            </a:p>
          </p:txBody>
        </p:sp>
        <p:sp>
          <p:nvSpPr>
            <p:cNvPr id="59" name="要素C（注目ブロック）"/>
            <p:cNvSpPr/>
            <p:nvPr/>
          </p:nvSpPr>
          <p:spPr>
            <a:xfrm>
              <a:off x="3286125" y="4343400"/>
              <a:ext cx="1104900" cy="666750"/>
            </a:xfrm>
            <a:prstGeom prst="roundRect">
              <a:avLst>
                <a:gd name="adj" fmla="val 8571"/>
              </a:avLst>
            </a:prstGeom>
            <a:solidFill>
              <a:schemeClr val="accent4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3286125" y="4343400"/>
              <a:ext cx="1104900" cy="666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要素C</a:t>
              </a:r>
            </a:p>
          </p:txBody>
        </p:sp>
        <p:sp>
          <p:nvSpPr>
            <p:cNvPr id="61" name="要素D"/>
            <p:cNvSpPr/>
            <p:nvPr/>
          </p:nvSpPr>
          <p:spPr>
            <a:xfrm>
              <a:off x="847725" y="5162550"/>
              <a:ext cx="1104900" cy="666750"/>
            </a:xfrm>
            <a:prstGeom prst="roundRect">
              <a:avLst>
                <a:gd name="adj" fmla="val 8571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847725" y="5162550"/>
              <a:ext cx="1104900" cy="666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dk2"/>
                  </a:solidFill>
                </a:rPr>
                <a:t>要素D</a:t>
              </a:r>
            </a:p>
          </p:txBody>
        </p:sp>
        <p:sp>
          <p:nvSpPr>
            <p:cNvPr id="63" name="要素E"/>
            <p:cNvSpPr/>
            <p:nvPr/>
          </p:nvSpPr>
          <p:spPr>
            <a:xfrm>
              <a:off x="2066925" y="5162550"/>
              <a:ext cx="1104900" cy="666750"/>
            </a:xfrm>
            <a:prstGeom prst="roundRect">
              <a:avLst>
                <a:gd name="adj" fmla="val 8571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2066925" y="5162550"/>
              <a:ext cx="1104900" cy="666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dk2"/>
                  </a:solidFill>
                </a:rPr>
                <a:t>要素E</a:t>
              </a:r>
            </a:p>
          </p:txBody>
        </p:sp>
        <p:sp>
          <p:nvSpPr>
            <p:cNvPr id="65" name="要素F"/>
            <p:cNvSpPr/>
            <p:nvPr/>
          </p:nvSpPr>
          <p:spPr>
            <a:xfrm>
              <a:off x="3286125" y="5162550"/>
              <a:ext cx="1104900" cy="666750"/>
            </a:xfrm>
            <a:prstGeom prst="roundRect">
              <a:avLst>
                <a:gd name="adj" fmla="val 8571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3286125" y="5162550"/>
              <a:ext cx="1104900" cy="666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dk2"/>
                  </a:solidFill>
                </a:rPr>
                <a:t>要素F</a:t>
              </a:r>
            </a:p>
          </p:txBody>
        </p:sp>
        <p:cxnSp>
          <p:nvCxnSpPr>
            <p:cNvPr id="67" name="引き出し線上"/>
            <p:cNvCxnSpPr/>
            <p:nvPr/>
          </p:nvCxnSpPr>
          <p:spPr>
            <a:xfrm flipV="1">
              <a:off x="4391025" y="4019550"/>
              <a:ext cx="1333500" cy="323850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引き出し線下"/>
            <p:cNvCxnSpPr/>
            <p:nvPr/>
          </p:nvCxnSpPr>
          <p:spPr>
            <a:xfrm>
              <a:off x="4391025" y="5010150"/>
              <a:ext cx="1333500" cy="1047750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拡大パネル"/>
            <p:cNvSpPr/>
            <p:nvPr/>
          </p:nvSpPr>
          <p:spPr>
            <a:xfrm>
              <a:off x="5724525" y="4019550"/>
              <a:ext cx="5715000" cy="2038350"/>
            </a:xfrm>
            <a:prstGeom prst="roundRect">
              <a:avLst>
                <a:gd name="adj" fmla="val 3738"/>
              </a:avLst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5915025" y="4133850"/>
              <a:ext cx="2857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要素C（拡大）</a:t>
              </a:r>
            </a:p>
          </p:txBody>
        </p:sp>
        <p:sp>
          <p:nvSpPr>
            <p:cNvPr id="71" name="小項目1"/>
            <p:cNvSpPr/>
            <p:nvPr/>
          </p:nvSpPr>
          <p:spPr>
            <a:xfrm>
              <a:off x="5915025" y="4438650"/>
              <a:ext cx="1238250" cy="381000"/>
            </a:xfrm>
            <a:prstGeom prst="roundRect">
              <a:avLst>
                <a:gd name="adj" fmla="val 15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915025" y="4438650"/>
              <a:ext cx="12382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小項目1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7286625" y="4476750"/>
              <a:ext cx="39624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dk1"/>
                  </a:solidFill>
                </a:rPr>
                <a:t>テキストテキストテキストテキスト</a:t>
              </a:r>
            </a:p>
          </p:txBody>
        </p:sp>
        <p:sp>
          <p:nvSpPr>
            <p:cNvPr id="74" name="小項目2"/>
            <p:cNvSpPr/>
            <p:nvPr/>
          </p:nvSpPr>
          <p:spPr>
            <a:xfrm>
              <a:off x="5915025" y="4953000"/>
              <a:ext cx="1238250" cy="381000"/>
            </a:xfrm>
            <a:prstGeom prst="roundRect">
              <a:avLst>
                <a:gd name="adj" fmla="val 15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5915025" y="4953000"/>
              <a:ext cx="12382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小項目2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7286625" y="4991100"/>
              <a:ext cx="39624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dk1"/>
                  </a:solidFill>
                </a:rPr>
                <a:t>テキストテキストテキストテキスト</a:t>
              </a:r>
            </a:p>
          </p:txBody>
        </p:sp>
        <p:sp>
          <p:nvSpPr>
            <p:cNvPr id="77" name="小項目3"/>
            <p:cNvSpPr/>
            <p:nvPr/>
          </p:nvSpPr>
          <p:spPr>
            <a:xfrm>
              <a:off x="5915025" y="5467350"/>
              <a:ext cx="1238250" cy="381000"/>
            </a:xfrm>
            <a:prstGeom prst="roundRect">
              <a:avLst>
                <a:gd name="adj" fmla="val 15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5915025" y="5467350"/>
              <a:ext cx="12382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小項目3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7286625" y="5505450"/>
              <a:ext cx="39624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dk1"/>
                  </a:solidFill>
                </a:rPr>
                <a:t>テキストテキストテキストテキスト</a:t>
              </a:r>
            </a:p>
          </p:txBody>
        </p:sp>
      </p:grpSp>
      <p:sp>
        <p:nvSpPr>
          <p:cNvPr id="80" name="Rectangle 79"/>
          <p:cNvSpPr/>
          <p:nvPr/>
        </p:nvSpPr>
        <p:spPr>
          <a:xfrm>
            <a:off x="390525" y="6267450"/>
            <a:ext cx="114109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36 左右クローズアップ｜構造：分類（左＝全体・右＝拡大で粒度の階層を分ける）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72390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パーツ図鑑｜⑥ 図解パターン 比較・変化 — 大型2種（対比フロー・組織濃淡）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左右の位置を完全に揃え、差分だけを読ませます</a:t>
            </a:r>
          </a:p>
        </p:txBody>
      </p:sp>
      <p:grpSp>
        <p:nvGrpSpPr>
          <p:cNvPr id="5" name="図解37_ビジネスモデル対比フロー"/>
          <p:cNvGrpSpPr/>
          <p:nvPr/>
        </p:nvGrpSpPr>
        <p:grpSpPr>
          <a:xfrm>
            <a:off x="581025" y="1009650"/>
            <a:ext cx="11029950" cy="2209800"/>
            <a:chOff x="581025" y="1009650"/>
            <a:chExt cx="11029950" cy="2209800"/>
          </a:xfrm>
        </p:grpSpPr>
        <p:cxnSp>
          <p:nvCxnSpPr>
            <p:cNvPr id="6" name="中央区切り"/>
            <p:cNvCxnSpPr/>
            <p:nvPr/>
          </p:nvCxnSpPr>
          <p:spPr>
            <a:xfrm>
              <a:off x="6096000" y="1181100"/>
              <a:ext cx="0" cy="180975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題_モデルA"/>
            <p:cNvSpPr/>
            <p:nvPr/>
          </p:nvSpPr>
          <p:spPr>
            <a:xfrm>
              <a:off x="581025" y="1009650"/>
              <a:ext cx="5334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モデルA</a:t>
              </a:r>
            </a:p>
          </p:txBody>
        </p:sp>
        <p:sp>
          <p:nvSpPr>
            <p:cNvPr id="8" name="モデルA_提携先"/>
            <p:cNvSpPr/>
            <p:nvPr/>
          </p:nvSpPr>
          <p:spPr>
            <a:xfrm>
              <a:off x="866775" y="1771650"/>
              <a:ext cx="1143000" cy="495300"/>
            </a:xfrm>
            <a:prstGeom prst="roundRect">
              <a:avLst>
                <a:gd name="adj" fmla="val 11538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866775" y="1771650"/>
              <a:ext cx="11430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提携先</a:t>
              </a:r>
            </a:p>
          </p:txBody>
        </p:sp>
        <p:sp>
          <p:nvSpPr>
            <p:cNvPr id="10" name="モデルA_主体"/>
            <p:cNvSpPr/>
            <p:nvPr/>
          </p:nvSpPr>
          <p:spPr>
            <a:xfrm>
              <a:off x="2676525" y="1695450"/>
              <a:ext cx="1143000" cy="647700"/>
            </a:xfrm>
            <a:prstGeom prst="roundRect">
              <a:avLst>
                <a:gd name="adj" fmla="val 11764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676525" y="1695450"/>
              <a:ext cx="1143000" cy="647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主体</a:t>
              </a:r>
            </a:p>
          </p:txBody>
        </p:sp>
        <p:sp>
          <p:nvSpPr>
            <p:cNvPr id="12" name="モデルA_顧客"/>
            <p:cNvSpPr/>
            <p:nvPr/>
          </p:nvSpPr>
          <p:spPr>
            <a:xfrm>
              <a:off x="4486275" y="1771650"/>
              <a:ext cx="1143000" cy="495300"/>
            </a:xfrm>
            <a:prstGeom prst="roundRect">
              <a:avLst>
                <a:gd name="adj" fmla="val 11538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486275" y="1771650"/>
              <a:ext cx="11430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顧客</a:t>
              </a:r>
            </a:p>
          </p:txBody>
        </p:sp>
        <p:cxnSp>
          <p:nvCxnSpPr>
            <p:cNvPr id="14" name="モデルA_モノ（提携先→主体）"/>
            <p:cNvCxnSpPr/>
            <p:nvPr/>
          </p:nvCxnSpPr>
          <p:spPr>
            <a:xfrm>
              <a:off x="2028825" y="1866900"/>
              <a:ext cx="609600" cy="0"/>
            </a:xfrm>
            <a:prstGeom prst="bentConnector3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/>
            <p:cNvSpPr/>
            <p:nvPr/>
          </p:nvSpPr>
          <p:spPr>
            <a:xfrm>
              <a:off x="2009775" y="1695450"/>
              <a:ext cx="66675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750">
                  <a:solidFill>
                    <a:schemeClr val="accent5"/>
                  </a:solidFill>
                </a:rPr>
                <a:t>モノ</a:t>
              </a:r>
            </a:p>
          </p:txBody>
        </p:sp>
        <p:cxnSp>
          <p:nvCxnSpPr>
            <p:cNvPr id="16" name="モデルA_お金（主体→提携先）"/>
            <p:cNvCxnSpPr/>
            <p:nvPr/>
          </p:nvCxnSpPr>
          <p:spPr>
            <a:xfrm flipH="1">
              <a:off x="2028825" y="2171700"/>
              <a:ext cx="609600" cy="0"/>
            </a:xfrm>
            <a:prstGeom prst="bentConnector3">
              <a:avLst/>
            </a:prstGeom>
            <a:ln w="14287">
              <a:solidFill>
                <a:schemeClr val="accent5"/>
              </a:solidFill>
              <a:prstDash val="dash"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/>
            <p:cNvSpPr/>
            <p:nvPr/>
          </p:nvSpPr>
          <p:spPr>
            <a:xfrm>
              <a:off x="2009775" y="2228850"/>
              <a:ext cx="66675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750">
                  <a:solidFill>
                    <a:schemeClr val="accent5"/>
                  </a:solidFill>
                </a:rPr>
                <a:t>お金</a:t>
              </a:r>
            </a:p>
          </p:txBody>
        </p:sp>
        <p:cxnSp>
          <p:nvCxnSpPr>
            <p:cNvPr id="18" name="モデルA_サービス（主体→顧客）"/>
            <p:cNvCxnSpPr/>
            <p:nvPr/>
          </p:nvCxnSpPr>
          <p:spPr>
            <a:xfrm>
              <a:off x="3838575" y="1866900"/>
              <a:ext cx="609600" cy="0"/>
            </a:xfrm>
            <a:prstGeom prst="bentConnector3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/>
            <p:cNvSpPr/>
            <p:nvPr/>
          </p:nvSpPr>
          <p:spPr>
            <a:xfrm>
              <a:off x="3819525" y="1695450"/>
              <a:ext cx="66675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750">
                  <a:solidFill>
                    <a:schemeClr val="accent5"/>
                  </a:solidFill>
                </a:rPr>
                <a:t>サービス</a:t>
              </a:r>
            </a:p>
          </p:txBody>
        </p:sp>
        <p:cxnSp>
          <p:nvCxnSpPr>
            <p:cNvPr id="20" name="モデルA_お金（顧客→主体）"/>
            <p:cNvCxnSpPr/>
            <p:nvPr/>
          </p:nvCxnSpPr>
          <p:spPr>
            <a:xfrm flipH="1">
              <a:off x="3838575" y="2171700"/>
              <a:ext cx="609600" cy="0"/>
            </a:xfrm>
            <a:prstGeom prst="bentConnector3">
              <a:avLst/>
            </a:prstGeom>
            <a:ln w="14287">
              <a:solidFill>
                <a:schemeClr val="accent5"/>
              </a:solidFill>
              <a:prstDash val="dash"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/>
            <p:cNvSpPr/>
            <p:nvPr/>
          </p:nvSpPr>
          <p:spPr>
            <a:xfrm>
              <a:off x="3819525" y="2228850"/>
              <a:ext cx="66675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750">
                  <a:solidFill>
                    <a:schemeClr val="accent5"/>
                  </a:solidFill>
                </a:rPr>
                <a:t>お金</a:t>
              </a:r>
            </a:p>
          </p:txBody>
        </p:sp>
        <p:sp>
          <p:nvSpPr>
            <p:cNvPr id="22" name="題_モデルB"/>
            <p:cNvSpPr/>
            <p:nvPr/>
          </p:nvSpPr>
          <p:spPr>
            <a:xfrm>
              <a:off x="6276975" y="1009650"/>
              <a:ext cx="5334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モデルB</a:t>
              </a:r>
            </a:p>
          </p:txBody>
        </p:sp>
        <p:sp>
          <p:nvSpPr>
            <p:cNvPr id="23" name="モデルB_提携先"/>
            <p:cNvSpPr/>
            <p:nvPr/>
          </p:nvSpPr>
          <p:spPr>
            <a:xfrm>
              <a:off x="6562725" y="1771650"/>
              <a:ext cx="1143000" cy="495300"/>
            </a:xfrm>
            <a:prstGeom prst="roundRect">
              <a:avLst>
                <a:gd name="adj" fmla="val 11538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562725" y="1771650"/>
              <a:ext cx="11430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提携先</a:t>
              </a:r>
            </a:p>
          </p:txBody>
        </p:sp>
        <p:sp>
          <p:nvSpPr>
            <p:cNvPr id="25" name="モデルB_主体"/>
            <p:cNvSpPr/>
            <p:nvPr/>
          </p:nvSpPr>
          <p:spPr>
            <a:xfrm>
              <a:off x="8372475" y="1695450"/>
              <a:ext cx="1143000" cy="647700"/>
            </a:xfrm>
            <a:prstGeom prst="roundRect">
              <a:avLst>
                <a:gd name="adj" fmla="val 11764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8372475" y="1695450"/>
              <a:ext cx="1143000" cy="647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主体</a:t>
              </a:r>
            </a:p>
          </p:txBody>
        </p:sp>
        <p:sp>
          <p:nvSpPr>
            <p:cNvPr id="27" name="モデルB_顧客"/>
            <p:cNvSpPr/>
            <p:nvPr/>
          </p:nvSpPr>
          <p:spPr>
            <a:xfrm>
              <a:off x="10182225" y="1771650"/>
              <a:ext cx="1143000" cy="495300"/>
            </a:xfrm>
            <a:prstGeom prst="roundRect">
              <a:avLst>
                <a:gd name="adj" fmla="val 11538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0182225" y="1771650"/>
              <a:ext cx="11430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顧客</a:t>
              </a:r>
            </a:p>
          </p:txBody>
        </p:sp>
        <p:cxnSp>
          <p:nvCxnSpPr>
            <p:cNvPr id="29" name="モデルB_モノ（主体→提携先）"/>
            <p:cNvCxnSpPr/>
            <p:nvPr/>
          </p:nvCxnSpPr>
          <p:spPr>
            <a:xfrm flipH="1">
              <a:off x="7724775" y="1866900"/>
              <a:ext cx="609600" cy="0"/>
            </a:xfrm>
            <a:prstGeom prst="bentConnector3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/>
            <p:cNvSpPr/>
            <p:nvPr/>
          </p:nvSpPr>
          <p:spPr>
            <a:xfrm>
              <a:off x="7705725" y="1695450"/>
              <a:ext cx="66675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750">
                  <a:solidFill>
                    <a:schemeClr val="accent5"/>
                  </a:solidFill>
                </a:rPr>
                <a:t>モノ</a:t>
              </a:r>
            </a:p>
          </p:txBody>
        </p:sp>
        <p:cxnSp>
          <p:nvCxnSpPr>
            <p:cNvPr id="31" name="モデルB_お金（提携先→主体）"/>
            <p:cNvCxnSpPr/>
            <p:nvPr/>
          </p:nvCxnSpPr>
          <p:spPr>
            <a:xfrm>
              <a:off x="7724775" y="2171700"/>
              <a:ext cx="609600" cy="0"/>
            </a:xfrm>
            <a:prstGeom prst="bentConnector3">
              <a:avLst/>
            </a:prstGeom>
            <a:ln w="14287">
              <a:solidFill>
                <a:schemeClr val="accent5"/>
              </a:solidFill>
              <a:prstDash val="dash"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31"/>
            <p:cNvSpPr/>
            <p:nvPr/>
          </p:nvSpPr>
          <p:spPr>
            <a:xfrm>
              <a:off x="7705725" y="2228850"/>
              <a:ext cx="66675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750">
                  <a:solidFill>
                    <a:schemeClr val="accent5"/>
                  </a:solidFill>
                </a:rPr>
                <a:t>お金</a:t>
              </a:r>
            </a:p>
          </p:txBody>
        </p:sp>
        <p:cxnSp>
          <p:nvCxnSpPr>
            <p:cNvPr id="33" name="モデルB_サービス（主体→顧客・無料）"/>
            <p:cNvCxnSpPr/>
            <p:nvPr/>
          </p:nvCxnSpPr>
          <p:spPr>
            <a:xfrm>
              <a:off x="9534525" y="1866900"/>
              <a:ext cx="609600" cy="0"/>
            </a:xfrm>
            <a:prstGeom prst="bentConnector3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/>
            <p:cNvSpPr/>
            <p:nvPr/>
          </p:nvSpPr>
          <p:spPr>
            <a:xfrm>
              <a:off x="9267825" y="1695450"/>
              <a:ext cx="85725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750">
                  <a:solidFill>
                    <a:schemeClr val="accent5"/>
                  </a:solidFill>
                </a:rPr>
                <a:t>サービス（無料）</a:t>
              </a:r>
            </a:p>
          </p:txBody>
        </p:sp>
        <p:sp>
          <p:nvSpPr>
            <p:cNvPr id="35" name="モデルB_対価なし注記"/>
            <p:cNvSpPr/>
            <p:nvPr/>
          </p:nvSpPr>
          <p:spPr>
            <a:xfrm>
              <a:off x="9515475" y="2228850"/>
              <a:ext cx="66675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750">
                  <a:solidFill>
                    <a:schemeClr val="accent5"/>
                  </a:solidFill>
                </a:rPr>
                <a:t>（対価なし）</a:t>
              </a:r>
            </a:p>
          </p:txBody>
        </p:sp>
        <p:sp>
          <p:nvSpPr>
            <p:cNvPr id="36" name="凡例"/>
            <p:cNvSpPr/>
            <p:nvPr/>
          </p:nvSpPr>
          <p:spPr>
            <a:xfrm>
              <a:off x="581025" y="3086100"/>
              <a:ext cx="6667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実線＝モノ・サービス／破線＝お金。左右で要素の位置を完全に揃え、矢印の差分だけを読ませる</a:t>
              </a:r>
            </a:p>
          </p:txBody>
        </p:sp>
      </p:grpSp>
      <p:sp>
        <p:nvSpPr>
          <p:cNvPr id="37" name="Rectangle 36"/>
          <p:cNvSpPr/>
          <p:nvPr/>
        </p:nvSpPr>
        <p:spPr>
          <a:xfrm>
            <a:off x="390525" y="3333750"/>
            <a:ext cx="114109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37 ビジネスモデル対比フロー｜構造：比較（同型フローでお金の向きの差を見せる）</a:t>
            </a:r>
          </a:p>
        </p:txBody>
      </p:sp>
      <p:grpSp>
        <p:nvGrpSpPr>
          <p:cNvPr id="38" name="図解38_組織図濃淡対比"/>
          <p:cNvGrpSpPr/>
          <p:nvPr/>
        </p:nvGrpSpPr>
        <p:grpSpPr>
          <a:xfrm>
            <a:off x="771525" y="3905250"/>
            <a:ext cx="10344150" cy="2190750"/>
            <a:chOff x="771525" y="3905250"/>
            <a:chExt cx="10344150" cy="2190750"/>
          </a:xfrm>
        </p:grpSpPr>
        <p:sp>
          <p:nvSpPr>
            <p:cNvPr id="39" name="条件Aラベル"/>
            <p:cNvSpPr/>
            <p:nvPr/>
          </p:nvSpPr>
          <p:spPr>
            <a:xfrm>
              <a:off x="2200275" y="3905250"/>
              <a:ext cx="2095500" cy="2286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200275" y="3914775"/>
              <a:ext cx="2095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dk2"/>
                  </a:solidFill>
                </a:rPr>
                <a:t>条件A：テキスト</a:t>
              </a:r>
            </a:p>
          </p:txBody>
        </p:sp>
        <p:sp>
          <p:nvSpPr>
            <p:cNvPr id="41" name="条件A_リーダー"/>
            <p:cNvSpPr/>
            <p:nvPr/>
          </p:nvSpPr>
          <p:spPr>
            <a:xfrm>
              <a:off x="2724150" y="4286250"/>
              <a:ext cx="1047750" cy="342900"/>
            </a:xfrm>
            <a:prstGeom prst="roundRect">
              <a:avLst>
                <a:gd name="adj" fmla="val 16666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2724150" y="4286250"/>
              <a:ext cx="104775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リーダー</a:t>
              </a:r>
            </a:p>
          </p:txBody>
        </p:sp>
        <p:cxnSp>
          <p:nvCxnSpPr>
            <p:cNvPr id="43" name="条件A_幹"/>
            <p:cNvCxnSpPr/>
            <p:nvPr/>
          </p:nvCxnSpPr>
          <p:spPr>
            <a:xfrm>
              <a:off x="3248025" y="4629150"/>
              <a:ext cx="0" cy="142875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条件A_バス1"/>
            <p:cNvCxnSpPr/>
            <p:nvPr/>
          </p:nvCxnSpPr>
          <p:spPr>
            <a:xfrm>
              <a:off x="1724025" y="4772025"/>
              <a:ext cx="3048000" cy="0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条件A_枝1_1"/>
            <p:cNvCxnSpPr/>
            <p:nvPr/>
          </p:nvCxnSpPr>
          <p:spPr>
            <a:xfrm>
              <a:off x="1724025" y="4772025"/>
              <a:ext cx="0" cy="142875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条件A_管理職1"/>
            <p:cNvSpPr/>
            <p:nvPr/>
          </p:nvSpPr>
          <p:spPr>
            <a:xfrm>
              <a:off x="1200150" y="4914900"/>
              <a:ext cx="1047750" cy="304800"/>
            </a:xfrm>
            <a:prstGeom prst="roundRect">
              <a:avLst>
                <a:gd name="adj" fmla="val 1875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1200150" y="4914900"/>
              <a:ext cx="10477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lt1"/>
                  </a:solidFill>
                </a:rPr>
                <a:t>管理職</a:t>
              </a:r>
            </a:p>
          </p:txBody>
        </p:sp>
        <p:cxnSp>
          <p:nvCxnSpPr>
            <p:cNvPr id="48" name="条件A_枝2_1"/>
            <p:cNvCxnSpPr/>
            <p:nvPr/>
          </p:nvCxnSpPr>
          <p:spPr>
            <a:xfrm>
              <a:off x="1724025" y="5219700"/>
              <a:ext cx="0" cy="142875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条件A_バス2_1"/>
            <p:cNvCxnSpPr/>
            <p:nvPr/>
          </p:nvCxnSpPr>
          <p:spPr>
            <a:xfrm>
              <a:off x="1352550" y="5362575"/>
              <a:ext cx="742950" cy="0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条件A_枝3_1_1"/>
            <p:cNvCxnSpPr/>
            <p:nvPr/>
          </p:nvCxnSpPr>
          <p:spPr>
            <a:xfrm>
              <a:off x="1352550" y="5362575"/>
              <a:ext cx="0" cy="142875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条件A_担当1"/>
            <p:cNvSpPr/>
            <p:nvPr/>
          </p:nvSpPr>
          <p:spPr>
            <a:xfrm>
              <a:off x="1000125" y="5505450"/>
              <a:ext cx="704850" cy="266700"/>
            </a:xfrm>
            <a:prstGeom prst="roundRect">
              <a:avLst>
                <a:gd name="adj" fmla="val 21428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000125" y="5505450"/>
              <a:ext cx="7048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lt1"/>
                  </a:solidFill>
                </a:rPr>
                <a:t>担当</a:t>
              </a:r>
            </a:p>
          </p:txBody>
        </p:sp>
        <p:cxnSp>
          <p:nvCxnSpPr>
            <p:cNvPr id="53" name="条件A_枝3_1_2"/>
            <p:cNvCxnSpPr/>
            <p:nvPr/>
          </p:nvCxnSpPr>
          <p:spPr>
            <a:xfrm>
              <a:off x="2095500" y="5362575"/>
              <a:ext cx="0" cy="142875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条件A_担当2"/>
            <p:cNvSpPr/>
            <p:nvPr/>
          </p:nvSpPr>
          <p:spPr>
            <a:xfrm>
              <a:off x="1743075" y="5505450"/>
              <a:ext cx="704850" cy="266700"/>
            </a:xfrm>
            <a:prstGeom prst="roundRect">
              <a:avLst>
                <a:gd name="adj" fmla="val 21428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1743075" y="5505450"/>
              <a:ext cx="7048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lt1"/>
                  </a:solidFill>
                </a:rPr>
                <a:t>担当</a:t>
              </a:r>
            </a:p>
          </p:txBody>
        </p:sp>
        <p:cxnSp>
          <p:nvCxnSpPr>
            <p:cNvPr id="56" name="条件A_枝1_2"/>
            <p:cNvCxnSpPr/>
            <p:nvPr/>
          </p:nvCxnSpPr>
          <p:spPr>
            <a:xfrm>
              <a:off x="3248025" y="4772025"/>
              <a:ext cx="0" cy="142875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条件A_管理職2"/>
            <p:cNvSpPr/>
            <p:nvPr/>
          </p:nvSpPr>
          <p:spPr>
            <a:xfrm>
              <a:off x="2724150" y="4914900"/>
              <a:ext cx="1047750" cy="304800"/>
            </a:xfrm>
            <a:prstGeom prst="roundRect">
              <a:avLst>
                <a:gd name="adj" fmla="val 1875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2724150" y="4914900"/>
              <a:ext cx="10477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lt1"/>
                  </a:solidFill>
                </a:rPr>
                <a:t>管理職</a:t>
              </a:r>
            </a:p>
          </p:txBody>
        </p:sp>
        <p:cxnSp>
          <p:nvCxnSpPr>
            <p:cNvPr id="59" name="条件A_枝2_2"/>
            <p:cNvCxnSpPr/>
            <p:nvPr/>
          </p:nvCxnSpPr>
          <p:spPr>
            <a:xfrm>
              <a:off x="3248025" y="5219700"/>
              <a:ext cx="0" cy="142875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条件A_バス2_2"/>
            <p:cNvCxnSpPr/>
            <p:nvPr/>
          </p:nvCxnSpPr>
          <p:spPr>
            <a:xfrm>
              <a:off x="2876550" y="5362575"/>
              <a:ext cx="742950" cy="0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条件A_枝3_2_1"/>
            <p:cNvCxnSpPr/>
            <p:nvPr/>
          </p:nvCxnSpPr>
          <p:spPr>
            <a:xfrm>
              <a:off x="2876550" y="5362575"/>
              <a:ext cx="0" cy="142875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条件A_担当3"/>
            <p:cNvSpPr/>
            <p:nvPr/>
          </p:nvSpPr>
          <p:spPr>
            <a:xfrm>
              <a:off x="2524125" y="5505450"/>
              <a:ext cx="704850" cy="266700"/>
            </a:xfrm>
            <a:prstGeom prst="roundRect">
              <a:avLst>
                <a:gd name="adj" fmla="val 21428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2524125" y="5505450"/>
              <a:ext cx="7048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lt1"/>
                  </a:solidFill>
                </a:rPr>
                <a:t>担当</a:t>
              </a:r>
            </a:p>
          </p:txBody>
        </p:sp>
        <p:cxnSp>
          <p:nvCxnSpPr>
            <p:cNvPr id="64" name="条件A_枝3_2_2"/>
            <p:cNvCxnSpPr/>
            <p:nvPr/>
          </p:nvCxnSpPr>
          <p:spPr>
            <a:xfrm>
              <a:off x="3619500" y="5362575"/>
              <a:ext cx="0" cy="142875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条件A_担当4"/>
            <p:cNvSpPr/>
            <p:nvPr/>
          </p:nvSpPr>
          <p:spPr>
            <a:xfrm>
              <a:off x="3267075" y="5505450"/>
              <a:ext cx="704850" cy="266700"/>
            </a:xfrm>
            <a:prstGeom prst="roundRect">
              <a:avLst>
                <a:gd name="adj" fmla="val 21428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3267075" y="5505450"/>
              <a:ext cx="7048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lt1"/>
                  </a:solidFill>
                </a:rPr>
                <a:t>担当</a:t>
              </a:r>
            </a:p>
          </p:txBody>
        </p:sp>
        <p:cxnSp>
          <p:nvCxnSpPr>
            <p:cNvPr id="67" name="条件A_枝1_3"/>
            <p:cNvCxnSpPr/>
            <p:nvPr/>
          </p:nvCxnSpPr>
          <p:spPr>
            <a:xfrm>
              <a:off x="4772025" y="4772025"/>
              <a:ext cx="0" cy="142875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条件A_管理職3"/>
            <p:cNvSpPr/>
            <p:nvPr/>
          </p:nvSpPr>
          <p:spPr>
            <a:xfrm>
              <a:off x="4248150" y="4914900"/>
              <a:ext cx="1047750" cy="304800"/>
            </a:xfrm>
            <a:prstGeom prst="roundRect">
              <a:avLst>
                <a:gd name="adj" fmla="val 1875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4248150" y="4914900"/>
              <a:ext cx="10477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lt1"/>
                  </a:solidFill>
                </a:rPr>
                <a:t>管理職</a:t>
              </a:r>
            </a:p>
          </p:txBody>
        </p:sp>
        <p:cxnSp>
          <p:nvCxnSpPr>
            <p:cNvPr id="70" name="条件A_枝2_3"/>
            <p:cNvCxnSpPr/>
            <p:nvPr/>
          </p:nvCxnSpPr>
          <p:spPr>
            <a:xfrm>
              <a:off x="4772025" y="5219700"/>
              <a:ext cx="0" cy="142875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条件A_バス2_3"/>
            <p:cNvCxnSpPr/>
            <p:nvPr/>
          </p:nvCxnSpPr>
          <p:spPr>
            <a:xfrm>
              <a:off x="4400550" y="5362575"/>
              <a:ext cx="742950" cy="0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条件A_枝3_3_1"/>
            <p:cNvCxnSpPr/>
            <p:nvPr/>
          </p:nvCxnSpPr>
          <p:spPr>
            <a:xfrm>
              <a:off x="4400550" y="5362575"/>
              <a:ext cx="0" cy="142875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条件A_担当5"/>
            <p:cNvSpPr/>
            <p:nvPr/>
          </p:nvSpPr>
          <p:spPr>
            <a:xfrm>
              <a:off x="4048125" y="5505450"/>
              <a:ext cx="704850" cy="266700"/>
            </a:xfrm>
            <a:prstGeom prst="roundRect">
              <a:avLst>
                <a:gd name="adj" fmla="val 21428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4048125" y="5505450"/>
              <a:ext cx="7048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lt1"/>
                  </a:solidFill>
                </a:rPr>
                <a:t>担当</a:t>
              </a:r>
            </a:p>
          </p:txBody>
        </p:sp>
        <p:cxnSp>
          <p:nvCxnSpPr>
            <p:cNvPr id="75" name="条件A_枝3_3_2"/>
            <p:cNvCxnSpPr/>
            <p:nvPr/>
          </p:nvCxnSpPr>
          <p:spPr>
            <a:xfrm>
              <a:off x="5143500" y="5362575"/>
              <a:ext cx="0" cy="142875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条件A_担当6"/>
            <p:cNvSpPr/>
            <p:nvPr/>
          </p:nvSpPr>
          <p:spPr>
            <a:xfrm>
              <a:off x="4791075" y="5505450"/>
              <a:ext cx="704850" cy="266700"/>
            </a:xfrm>
            <a:prstGeom prst="roundRect">
              <a:avLst>
                <a:gd name="adj" fmla="val 21428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4791075" y="5505450"/>
              <a:ext cx="7048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lt1"/>
                  </a:solidFill>
                </a:rPr>
                <a:t>担当</a:t>
              </a:r>
            </a:p>
          </p:txBody>
        </p:sp>
        <p:sp>
          <p:nvSpPr>
            <p:cNvPr id="78" name="条件Bラベル"/>
            <p:cNvSpPr/>
            <p:nvPr/>
          </p:nvSpPr>
          <p:spPr>
            <a:xfrm>
              <a:off x="7820025" y="3905250"/>
              <a:ext cx="2095500" cy="2286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7820025" y="3914775"/>
              <a:ext cx="2095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dk2"/>
                  </a:solidFill>
                </a:rPr>
                <a:t>条件B：テキスト</a:t>
              </a:r>
            </a:p>
          </p:txBody>
        </p:sp>
        <p:sp>
          <p:nvSpPr>
            <p:cNvPr id="80" name="条件B_リーダー"/>
            <p:cNvSpPr/>
            <p:nvPr/>
          </p:nvSpPr>
          <p:spPr>
            <a:xfrm>
              <a:off x="8343900" y="4286250"/>
              <a:ext cx="1047750" cy="342900"/>
            </a:xfrm>
            <a:prstGeom prst="roundRect">
              <a:avLst>
                <a:gd name="adj" fmla="val 16666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8343900" y="4286250"/>
              <a:ext cx="104775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リーダー</a:t>
              </a:r>
            </a:p>
          </p:txBody>
        </p:sp>
        <p:cxnSp>
          <p:nvCxnSpPr>
            <p:cNvPr id="82" name="条件B_幹"/>
            <p:cNvCxnSpPr/>
            <p:nvPr/>
          </p:nvCxnSpPr>
          <p:spPr>
            <a:xfrm>
              <a:off x="8867775" y="4629150"/>
              <a:ext cx="0" cy="142875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条件B_バス1"/>
            <p:cNvCxnSpPr/>
            <p:nvPr/>
          </p:nvCxnSpPr>
          <p:spPr>
            <a:xfrm>
              <a:off x="7343775" y="4772025"/>
              <a:ext cx="3048000" cy="0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条件B_枝1_1"/>
            <p:cNvCxnSpPr/>
            <p:nvPr/>
          </p:nvCxnSpPr>
          <p:spPr>
            <a:xfrm>
              <a:off x="7343775" y="4772025"/>
              <a:ext cx="0" cy="142875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条件B_管理職1"/>
            <p:cNvSpPr/>
            <p:nvPr/>
          </p:nvSpPr>
          <p:spPr>
            <a:xfrm>
              <a:off x="6819900" y="4914900"/>
              <a:ext cx="1047750" cy="304800"/>
            </a:xfrm>
            <a:prstGeom prst="roundRect">
              <a:avLst>
                <a:gd name="adj" fmla="val 1875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6819900" y="4914900"/>
              <a:ext cx="10477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lt1"/>
                  </a:solidFill>
                </a:rPr>
                <a:t>管理職</a:t>
              </a:r>
            </a:p>
          </p:txBody>
        </p:sp>
        <p:cxnSp>
          <p:nvCxnSpPr>
            <p:cNvPr id="87" name="条件B_枝2_1"/>
            <p:cNvCxnSpPr/>
            <p:nvPr/>
          </p:nvCxnSpPr>
          <p:spPr>
            <a:xfrm>
              <a:off x="7343775" y="5219700"/>
              <a:ext cx="0" cy="142875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条件B_バス2_1"/>
            <p:cNvCxnSpPr/>
            <p:nvPr/>
          </p:nvCxnSpPr>
          <p:spPr>
            <a:xfrm>
              <a:off x="6972300" y="5362575"/>
              <a:ext cx="742950" cy="0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条件B_枝3_1_1"/>
            <p:cNvCxnSpPr/>
            <p:nvPr/>
          </p:nvCxnSpPr>
          <p:spPr>
            <a:xfrm>
              <a:off x="6972300" y="5362575"/>
              <a:ext cx="0" cy="142875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条件B_担当1"/>
            <p:cNvSpPr/>
            <p:nvPr/>
          </p:nvSpPr>
          <p:spPr>
            <a:xfrm>
              <a:off x="6619875" y="5505450"/>
              <a:ext cx="704850" cy="266700"/>
            </a:xfrm>
            <a:prstGeom prst="roundRect">
              <a:avLst>
                <a:gd name="adj" fmla="val 21428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6619875" y="5505450"/>
              <a:ext cx="7048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担当</a:t>
              </a:r>
            </a:p>
          </p:txBody>
        </p:sp>
        <p:cxnSp>
          <p:nvCxnSpPr>
            <p:cNvPr id="92" name="条件B_枝3_1_2"/>
            <p:cNvCxnSpPr/>
            <p:nvPr/>
          </p:nvCxnSpPr>
          <p:spPr>
            <a:xfrm>
              <a:off x="7715250" y="5362575"/>
              <a:ext cx="0" cy="142875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条件B_担当2"/>
            <p:cNvSpPr/>
            <p:nvPr/>
          </p:nvSpPr>
          <p:spPr>
            <a:xfrm>
              <a:off x="7362825" y="5505450"/>
              <a:ext cx="704850" cy="266700"/>
            </a:xfrm>
            <a:prstGeom prst="roundRect">
              <a:avLst>
                <a:gd name="adj" fmla="val 21428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7362825" y="5505450"/>
              <a:ext cx="7048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担当</a:t>
              </a:r>
            </a:p>
          </p:txBody>
        </p:sp>
        <p:cxnSp>
          <p:nvCxnSpPr>
            <p:cNvPr id="95" name="条件B_枝1_2"/>
            <p:cNvCxnSpPr/>
            <p:nvPr/>
          </p:nvCxnSpPr>
          <p:spPr>
            <a:xfrm>
              <a:off x="8867775" y="4772025"/>
              <a:ext cx="0" cy="142875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条件B_管理職2"/>
            <p:cNvSpPr/>
            <p:nvPr/>
          </p:nvSpPr>
          <p:spPr>
            <a:xfrm>
              <a:off x="8343900" y="4914900"/>
              <a:ext cx="1047750" cy="304800"/>
            </a:xfrm>
            <a:prstGeom prst="roundRect">
              <a:avLst>
                <a:gd name="adj" fmla="val 1875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8343900" y="4914900"/>
              <a:ext cx="10477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lt1"/>
                  </a:solidFill>
                </a:rPr>
                <a:t>管理職</a:t>
              </a:r>
            </a:p>
          </p:txBody>
        </p:sp>
        <p:cxnSp>
          <p:nvCxnSpPr>
            <p:cNvPr id="98" name="条件B_枝2_2"/>
            <p:cNvCxnSpPr/>
            <p:nvPr/>
          </p:nvCxnSpPr>
          <p:spPr>
            <a:xfrm>
              <a:off x="8867775" y="5219700"/>
              <a:ext cx="0" cy="142875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条件B_バス2_2"/>
            <p:cNvCxnSpPr/>
            <p:nvPr/>
          </p:nvCxnSpPr>
          <p:spPr>
            <a:xfrm>
              <a:off x="8496300" y="5362575"/>
              <a:ext cx="742950" cy="0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条件B_枝3_2_1"/>
            <p:cNvCxnSpPr/>
            <p:nvPr/>
          </p:nvCxnSpPr>
          <p:spPr>
            <a:xfrm>
              <a:off x="8496300" y="5362575"/>
              <a:ext cx="0" cy="142875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条件B_担当3"/>
            <p:cNvSpPr/>
            <p:nvPr/>
          </p:nvSpPr>
          <p:spPr>
            <a:xfrm>
              <a:off x="8143875" y="5505450"/>
              <a:ext cx="704850" cy="266700"/>
            </a:xfrm>
            <a:prstGeom prst="roundRect">
              <a:avLst>
                <a:gd name="adj" fmla="val 21428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8143875" y="5505450"/>
              <a:ext cx="7048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担当</a:t>
              </a:r>
            </a:p>
          </p:txBody>
        </p:sp>
        <p:cxnSp>
          <p:nvCxnSpPr>
            <p:cNvPr id="103" name="条件B_枝3_2_2"/>
            <p:cNvCxnSpPr/>
            <p:nvPr/>
          </p:nvCxnSpPr>
          <p:spPr>
            <a:xfrm>
              <a:off x="9239250" y="5362575"/>
              <a:ext cx="0" cy="142875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条件B_担当4"/>
            <p:cNvSpPr/>
            <p:nvPr/>
          </p:nvSpPr>
          <p:spPr>
            <a:xfrm>
              <a:off x="8886825" y="5505450"/>
              <a:ext cx="704850" cy="266700"/>
            </a:xfrm>
            <a:prstGeom prst="roundRect">
              <a:avLst>
                <a:gd name="adj" fmla="val 21428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8886825" y="5505450"/>
              <a:ext cx="7048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担当</a:t>
              </a:r>
            </a:p>
          </p:txBody>
        </p:sp>
        <p:cxnSp>
          <p:nvCxnSpPr>
            <p:cNvPr id="106" name="条件B_枝1_3"/>
            <p:cNvCxnSpPr/>
            <p:nvPr/>
          </p:nvCxnSpPr>
          <p:spPr>
            <a:xfrm>
              <a:off x="10391775" y="4772025"/>
              <a:ext cx="0" cy="142875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条件B_管理職3"/>
            <p:cNvSpPr/>
            <p:nvPr/>
          </p:nvSpPr>
          <p:spPr>
            <a:xfrm>
              <a:off x="9867900" y="4914900"/>
              <a:ext cx="1047750" cy="304800"/>
            </a:xfrm>
            <a:prstGeom prst="roundRect">
              <a:avLst>
                <a:gd name="adj" fmla="val 1875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9867900" y="4914900"/>
              <a:ext cx="10477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lt1"/>
                  </a:solidFill>
                </a:rPr>
                <a:t>管理職</a:t>
              </a:r>
            </a:p>
          </p:txBody>
        </p:sp>
        <p:cxnSp>
          <p:nvCxnSpPr>
            <p:cNvPr id="109" name="条件B_枝2_3"/>
            <p:cNvCxnSpPr/>
            <p:nvPr/>
          </p:nvCxnSpPr>
          <p:spPr>
            <a:xfrm>
              <a:off x="10391775" y="5219700"/>
              <a:ext cx="0" cy="142875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条件B_バス2_3"/>
            <p:cNvCxnSpPr/>
            <p:nvPr/>
          </p:nvCxnSpPr>
          <p:spPr>
            <a:xfrm>
              <a:off x="10020300" y="5362575"/>
              <a:ext cx="742950" cy="0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条件B_枝3_3_1"/>
            <p:cNvCxnSpPr/>
            <p:nvPr/>
          </p:nvCxnSpPr>
          <p:spPr>
            <a:xfrm>
              <a:off x="10020300" y="5362575"/>
              <a:ext cx="0" cy="142875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条件B_担当5"/>
            <p:cNvSpPr/>
            <p:nvPr/>
          </p:nvSpPr>
          <p:spPr>
            <a:xfrm>
              <a:off x="9667875" y="5505450"/>
              <a:ext cx="704850" cy="266700"/>
            </a:xfrm>
            <a:prstGeom prst="roundRect">
              <a:avLst>
                <a:gd name="adj" fmla="val 21428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9667875" y="5505450"/>
              <a:ext cx="7048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担当</a:t>
              </a:r>
            </a:p>
          </p:txBody>
        </p:sp>
        <p:cxnSp>
          <p:nvCxnSpPr>
            <p:cNvPr id="114" name="条件B_枝3_3_2"/>
            <p:cNvCxnSpPr/>
            <p:nvPr/>
          </p:nvCxnSpPr>
          <p:spPr>
            <a:xfrm>
              <a:off x="10763250" y="5362575"/>
              <a:ext cx="0" cy="142875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条件B_担当6"/>
            <p:cNvSpPr/>
            <p:nvPr/>
          </p:nvSpPr>
          <p:spPr>
            <a:xfrm>
              <a:off x="10410825" y="5505450"/>
              <a:ext cx="704850" cy="266700"/>
            </a:xfrm>
            <a:prstGeom prst="roundRect">
              <a:avLst>
                <a:gd name="adj" fmla="val 21428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10410825" y="5505450"/>
              <a:ext cx="7048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担当</a:t>
              </a:r>
            </a:p>
          </p:txBody>
        </p:sp>
        <p:sp>
          <p:nvSpPr>
            <p:cNvPr id="117" name="凡例"/>
            <p:cNvSpPr/>
            <p:nvPr/>
          </p:nvSpPr>
          <p:spPr>
            <a:xfrm>
              <a:off x="771525" y="5962650"/>
              <a:ext cx="7620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濃い塗り＝リーダーが直接働きかける範囲。ツリーの形は左右で同じにする</a:t>
              </a:r>
            </a:p>
          </p:txBody>
        </p:sp>
      </p:grpSp>
      <p:sp>
        <p:nvSpPr>
          <p:cNvPr id="118" name="Rectangle 117"/>
          <p:cNvSpPr/>
          <p:nvPr/>
        </p:nvSpPr>
        <p:spPr>
          <a:xfrm>
            <a:off x="390525" y="6267450"/>
            <a:ext cx="114109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38 組織図の濃淡対比｜構造：比較（同型ツリーで働きかけ範囲だけ変える）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104775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chemeClr val="dk2"/>
                </a:solidFill>
              </a:rPr>
              <a:t>承認フローの再設計で、リードタイムは4割短くなる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390525" y="571500"/>
            <a:ext cx="8572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このスライドの部品もすべてコピーして使えます</a:t>
            </a:r>
          </a:p>
        </p:txBody>
      </p:sp>
      <p:grpSp>
        <p:nvGrpSpPr>
          <p:cNvPr id="5" name="使用例_プロセス差分"/>
          <p:cNvGrpSpPr/>
          <p:nvPr/>
        </p:nvGrpSpPr>
        <p:grpSpPr>
          <a:xfrm>
            <a:off x="1238250" y="1333500"/>
            <a:ext cx="9867900" cy="2438400"/>
            <a:chOff x="1238250" y="1333500"/>
            <a:chExt cx="9867900" cy="2438400"/>
          </a:xfrm>
        </p:grpSpPr>
        <p:sp>
          <p:nvSpPr>
            <p:cNvPr id="6" name="行ラベルBefore"/>
            <p:cNvSpPr/>
            <p:nvPr/>
          </p:nvSpPr>
          <p:spPr>
            <a:xfrm>
              <a:off x="1238250" y="1524000"/>
              <a:ext cx="952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accent5"/>
                  </a:solidFill>
                </a:rPr>
                <a:t>Before</a:t>
              </a:r>
            </a:p>
          </p:txBody>
        </p:sp>
        <p:sp>
          <p:nvSpPr>
            <p:cNvPr id="7" name="Before_起案"/>
            <p:cNvSpPr/>
            <p:nvPr/>
          </p:nvSpPr>
          <p:spPr>
            <a:xfrm>
              <a:off x="2476500" y="1333500"/>
              <a:ext cx="1543050" cy="57150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476500" y="1333500"/>
              <a:ext cx="154305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起案</a:t>
              </a:r>
            </a:p>
          </p:txBody>
        </p:sp>
        <p:cxnSp>
          <p:nvCxnSpPr>
            <p:cNvPr id="9" name="Before矢印1"/>
            <p:cNvCxnSpPr/>
            <p:nvPr/>
          </p:nvCxnSpPr>
          <p:spPr>
            <a:xfrm>
              <a:off x="4057650" y="1619250"/>
              <a:ext cx="152400" cy="0"/>
            </a:xfrm>
            <a:prstGeom prst="bentConnector3">
              <a:avLst/>
            </a:prstGeom>
            <a:ln w="14287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Before_課長承認"/>
            <p:cNvSpPr/>
            <p:nvPr/>
          </p:nvSpPr>
          <p:spPr>
            <a:xfrm>
              <a:off x="4248150" y="1333500"/>
              <a:ext cx="1543050" cy="57150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248150" y="1333500"/>
              <a:ext cx="154305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課長承認</a:t>
              </a:r>
            </a:p>
          </p:txBody>
        </p:sp>
        <p:cxnSp>
          <p:nvCxnSpPr>
            <p:cNvPr id="12" name="Before矢印2"/>
            <p:cNvCxnSpPr/>
            <p:nvPr/>
          </p:nvCxnSpPr>
          <p:spPr>
            <a:xfrm>
              <a:off x="5829300" y="1619250"/>
              <a:ext cx="152400" cy="0"/>
            </a:xfrm>
            <a:prstGeom prst="bentConnector3">
              <a:avLst/>
            </a:prstGeom>
            <a:ln w="14287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Before_部長承認"/>
            <p:cNvSpPr/>
            <p:nvPr/>
          </p:nvSpPr>
          <p:spPr>
            <a:xfrm>
              <a:off x="6019800" y="1333500"/>
              <a:ext cx="1543050" cy="57150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019800" y="1333500"/>
              <a:ext cx="154305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部長承認</a:t>
              </a:r>
            </a:p>
          </p:txBody>
        </p:sp>
        <p:cxnSp>
          <p:nvCxnSpPr>
            <p:cNvPr id="15" name="Before矢印3"/>
            <p:cNvCxnSpPr/>
            <p:nvPr/>
          </p:nvCxnSpPr>
          <p:spPr>
            <a:xfrm>
              <a:off x="7600950" y="1619250"/>
              <a:ext cx="152400" cy="0"/>
            </a:xfrm>
            <a:prstGeom prst="bentConnector3">
              <a:avLst/>
            </a:prstGeom>
            <a:ln w="14287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Before_役員承認"/>
            <p:cNvSpPr/>
            <p:nvPr/>
          </p:nvSpPr>
          <p:spPr>
            <a:xfrm>
              <a:off x="7791450" y="1333500"/>
              <a:ext cx="1543050" cy="57150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791450" y="1333500"/>
              <a:ext cx="154305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役員承認</a:t>
              </a:r>
            </a:p>
          </p:txBody>
        </p:sp>
        <p:cxnSp>
          <p:nvCxnSpPr>
            <p:cNvPr id="18" name="Before矢印4"/>
            <p:cNvCxnSpPr/>
            <p:nvPr/>
          </p:nvCxnSpPr>
          <p:spPr>
            <a:xfrm>
              <a:off x="9372600" y="1619250"/>
              <a:ext cx="152400" cy="0"/>
            </a:xfrm>
            <a:prstGeom prst="bentConnector3">
              <a:avLst/>
            </a:prstGeom>
            <a:ln w="14287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Before_実行"/>
            <p:cNvSpPr/>
            <p:nvPr/>
          </p:nvSpPr>
          <p:spPr>
            <a:xfrm>
              <a:off x="9563100" y="1333500"/>
              <a:ext cx="1543050" cy="57150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563100" y="1333500"/>
              <a:ext cx="154305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実行</a:t>
              </a:r>
            </a:p>
          </p:txBody>
        </p:sp>
        <p:sp>
          <p:nvSpPr>
            <p:cNvPr id="21" name="行ラベルAfter"/>
            <p:cNvSpPr/>
            <p:nvPr/>
          </p:nvSpPr>
          <p:spPr>
            <a:xfrm>
              <a:off x="1238250" y="3067050"/>
              <a:ext cx="952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After</a:t>
              </a:r>
            </a:p>
          </p:txBody>
        </p:sp>
        <p:sp>
          <p:nvSpPr>
            <p:cNvPr id="22" name="After_起案"/>
            <p:cNvSpPr/>
            <p:nvPr/>
          </p:nvSpPr>
          <p:spPr>
            <a:xfrm>
              <a:off x="2476500" y="2876550"/>
              <a:ext cx="1543050" cy="571500"/>
            </a:xfrm>
            <a:prstGeom prst="roundRect">
              <a:avLst>
                <a:gd name="adj" fmla="val 13333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476500" y="2876550"/>
              <a:ext cx="154305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起案</a:t>
              </a:r>
            </a:p>
          </p:txBody>
        </p:sp>
        <p:sp>
          <p:nvSpPr>
            <p:cNvPr id="24" name="After_課長承認（廃止）"/>
            <p:cNvSpPr/>
            <p:nvPr/>
          </p:nvSpPr>
          <p:spPr>
            <a:xfrm>
              <a:off x="4248150" y="2876550"/>
              <a:ext cx="1543050" cy="571500"/>
            </a:xfrm>
            <a:prstGeom prst="roundRect">
              <a:avLst>
                <a:gd name="adj" fmla="val 13333"/>
              </a:avLst>
            </a:prstGeom>
            <a:noFill/>
            <a:ln w="11906">
              <a:solidFill>
                <a:schemeClr val="accent5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248150" y="2876550"/>
              <a:ext cx="154305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950">
                  <a:solidFill>
                    <a:schemeClr val="accent5"/>
                  </a:solidFill>
                </a:rPr>
                <a:t>課長承認</a:t>
              </a:r>
            </a:p>
            <a:p>
              <a:pPr algn="ctr">
                <a:lnSpc>
                  <a:spcPct val="130000"/>
                </a:lnSpc>
              </a:pPr>
              <a:r>
                <a:rPr sz="950">
                  <a:solidFill>
                    <a:schemeClr val="accent5"/>
                  </a:solidFill>
                </a:rPr>
                <a:t>（廃止）</a:t>
              </a:r>
            </a:p>
          </p:txBody>
        </p:sp>
        <p:sp>
          <p:nvSpPr>
            <p:cNvPr id="26" name="After_部長承認"/>
            <p:cNvSpPr/>
            <p:nvPr/>
          </p:nvSpPr>
          <p:spPr>
            <a:xfrm>
              <a:off x="6019800" y="2876550"/>
              <a:ext cx="1543050" cy="571500"/>
            </a:xfrm>
            <a:prstGeom prst="roundRect">
              <a:avLst>
                <a:gd name="adj" fmla="val 13333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019800" y="2876550"/>
              <a:ext cx="154305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部長承認</a:t>
              </a:r>
            </a:p>
          </p:txBody>
        </p:sp>
        <p:sp>
          <p:nvSpPr>
            <p:cNvPr id="28" name="After_役員承認（廃止）"/>
            <p:cNvSpPr/>
            <p:nvPr/>
          </p:nvSpPr>
          <p:spPr>
            <a:xfrm>
              <a:off x="7791450" y="2876550"/>
              <a:ext cx="1543050" cy="571500"/>
            </a:xfrm>
            <a:prstGeom prst="roundRect">
              <a:avLst>
                <a:gd name="adj" fmla="val 13333"/>
              </a:avLst>
            </a:prstGeom>
            <a:noFill/>
            <a:ln w="11906">
              <a:solidFill>
                <a:schemeClr val="accent5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7791450" y="2876550"/>
              <a:ext cx="154305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950">
                  <a:solidFill>
                    <a:schemeClr val="accent5"/>
                  </a:solidFill>
                </a:rPr>
                <a:t>役員承認</a:t>
              </a:r>
            </a:p>
            <a:p>
              <a:pPr algn="ctr">
                <a:lnSpc>
                  <a:spcPct val="130000"/>
                </a:lnSpc>
              </a:pPr>
              <a:r>
                <a:rPr sz="950">
                  <a:solidFill>
                    <a:schemeClr val="accent5"/>
                  </a:solidFill>
                </a:rPr>
                <a:t>（廃止）</a:t>
              </a:r>
            </a:p>
          </p:txBody>
        </p:sp>
        <p:sp>
          <p:nvSpPr>
            <p:cNvPr id="30" name="After_実行"/>
            <p:cNvSpPr/>
            <p:nvPr/>
          </p:nvSpPr>
          <p:spPr>
            <a:xfrm>
              <a:off x="9563100" y="2876550"/>
              <a:ext cx="1543050" cy="571500"/>
            </a:xfrm>
            <a:prstGeom prst="roundRect">
              <a:avLst>
                <a:gd name="adj" fmla="val 13333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9563100" y="2876550"/>
              <a:ext cx="154305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実行</a:t>
              </a:r>
            </a:p>
          </p:txBody>
        </p:sp>
        <p:cxnSp>
          <p:nvCxnSpPr>
            <p:cNvPr id="32" name="変化の矢印"/>
            <p:cNvCxnSpPr/>
            <p:nvPr/>
          </p:nvCxnSpPr>
          <p:spPr>
            <a:xfrm>
              <a:off x="6096000" y="2019300"/>
              <a:ext cx="0" cy="781050"/>
            </a:xfrm>
            <a:prstGeom prst="bentConnector3">
              <a:avLst/>
            </a:prstGeom>
            <a:ln w="23812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効果ラベル"/>
            <p:cNvSpPr/>
            <p:nvPr/>
          </p:nvSpPr>
          <p:spPr>
            <a:xfrm>
              <a:off x="6362700" y="2228850"/>
              <a:ext cx="160020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362700" y="2238375"/>
              <a:ext cx="16002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リードタイム −40%</a:t>
              </a:r>
            </a:p>
          </p:txBody>
        </p:sp>
        <p:sp>
          <p:nvSpPr>
            <p:cNvPr id="35" name="凡例"/>
            <p:cNvSpPr/>
            <p:nvPr/>
          </p:nvSpPr>
          <p:spPr>
            <a:xfrm>
              <a:off x="2476500" y="3619500"/>
              <a:ext cx="6667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破線＝廃止する承認段階。工程の位置は変えず、消える段だけを読ませる</a:t>
              </a:r>
            </a:p>
          </p:txBody>
        </p:sp>
      </p:grpSp>
      <p:sp>
        <p:nvSpPr>
          <p:cNvPr id="36" name="Rectangle 35"/>
          <p:cNvSpPr/>
          <p:nvPr/>
        </p:nvSpPr>
        <p:spPr>
          <a:xfrm>
            <a:off x="2476500" y="3848100"/>
            <a:ext cx="4953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850">
                <a:solidFill>
                  <a:schemeClr val="accent5"/>
                </a:solidFill>
              </a:rPr>
              <a:t>出典：業務フロー実測調査（2026年5月・n=42案件）</a:t>
            </a:r>
          </a:p>
        </p:txBody>
      </p:sp>
      <p:grpSp>
        <p:nvGrpSpPr>
          <p:cNvPr id="37" name="使用例_結論"/>
          <p:cNvGrpSpPr/>
          <p:nvPr/>
        </p:nvGrpSpPr>
        <p:grpSpPr>
          <a:xfrm>
            <a:off x="952500" y="4476750"/>
            <a:ext cx="6096000" cy="952500"/>
            <a:chOff x="952500" y="4476750"/>
            <a:chExt cx="6096000" cy="952500"/>
          </a:xfrm>
        </p:grpSpPr>
        <p:sp>
          <p:nvSpPr>
            <p:cNvPr id="38" name="結論パネル"/>
            <p:cNvSpPr/>
            <p:nvPr/>
          </p:nvSpPr>
          <p:spPr>
            <a:xfrm>
              <a:off x="952500" y="4476750"/>
              <a:ext cx="6096000" cy="952500"/>
            </a:xfrm>
            <a:prstGeom prst="roundRect">
              <a:avLst>
                <a:gd name="adj" fmla="val 10000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219200" y="4667250"/>
              <a:ext cx="55626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300" b="1">
                  <a:solidFill>
                    <a:schemeClr val="lt1"/>
                  </a:solidFill>
                </a:rPr>
                <a:t>承認は「起案→部長→実行」の2段階に集約する。</a:t>
              </a:r>
            </a:p>
            <a:p>
              <a:pPr algn="l">
                <a:lnSpc>
                  <a:spcPct val="150000"/>
                </a:lnSpc>
              </a:pPr>
              <a:r>
                <a:rPr sz="1300" b="1">
                  <a:solidFill>
                    <a:schemeClr val="lt1"/>
                  </a:solidFill>
                </a:rPr>
                <a:t>権限規程の改定を来月の経営会議に付議する。</a:t>
              </a:r>
            </a:p>
          </p:txBody>
        </p:sp>
      </p:grpSp>
      <p:grpSp>
        <p:nvGrpSpPr>
          <p:cNvPr id="40" name="使用例_効果カード"/>
          <p:cNvGrpSpPr/>
          <p:nvPr/>
        </p:nvGrpSpPr>
        <p:grpSpPr>
          <a:xfrm>
            <a:off x="7429500" y="4476750"/>
            <a:ext cx="3810000" cy="952500"/>
            <a:chOff x="7429500" y="4476750"/>
            <a:chExt cx="3810000" cy="952500"/>
          </a:xfrm>
        </p:grpSpPr>
        <p:sp>
          <p:nvSpPr>
            <p:cNvPr id="41" name="効果カード"/>
            <p:cNvSpPr/>
            <p:nvPr/>
          </p:nvSpPr>
          <p:spPr>
            <a:xfrm>
              <a:off x="7429500" y="4476750"/>
              <a:ext cx="3810000" cy="952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7658100" y="4610100"/>
              <a:ext cx="3352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廃止による効果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7658100" y="4857750"/>
              <a:ext cx="3352800" cy="457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000">
                  <a:solidFill>
                    <a:schemeClr val="dk1"/>
                  </a:solidFill>
                </a:rPr>
                <a:t>・処理日数：10日 → 6日</a:t>
              </a:r>
            </a:p>
            <a:p>
              <a:pPr algn="l">
                <a:lnSpc>
                  <a:spcPct val="160000"/>
                </a:lnSpc>
              </a:pPr>
              <a:r>
                <a:rPr sz="1000">
                  <a:solidFill>
                    <a:schemeClr val="dk1"/>
                  </a:solidFill>
                </a:rPr>
                <a:t>・承認者の工数：月32時間の削減</a:t>
              </a:r>
            </a:p>
          </p:txBody>
        </p:sp>
      </p:grpSp>
      <p:sp>
        <p:nvSpPr>
          <p:cNvPr id="44" name="Rectangle 43"/>
          <p:cNvSpPr/>
          <p:nvPr/>
        </p:nvSpPr>
        <p:spPr>
          <a:xfrm>
            <a:off x="390525" y="6419850"/>
            <a:ext cx="114109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パーツ図鑑｜⑥ 図解パターン 比較・変化 — 組み込み例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72390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パーツ図鑑｜⑥ 図解パターン 量と流れ — 滝グラフ応用2種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配色は「デザイン＞配色」の変更に全図解が追従します</a:t>
            </a:r>
          </a:p>
        </p:txBody>
      </p:sp>
      <p:grpSp>
        <p:nvGrpSpPr>
          <p:cNvPr id="5" name="図解39_滝グラフ打ち手リスト"/>
          <p:cNvGrpSpPr/>
          <p:nvPr/>
        </p:nvGrpSpPr>
        <p:grpSpPr>
          <a:xfrm>
            <a:off x="676275" y="990600"/>
            <a:ext cx="10858500" cy="2133600"/>
            <a:chOff x="676275" y="990600"/>
            <a:chExt cx="10858500" cy="2133600"/>
          </a:xfrm>
        </p:grpSpPr>
        <p:sp>
          <p:nvSpPr>
            <p:cNvPr id="6" name="左見出し"/>
            <p:cNvSpPr/>
            <p:nvPr/>
          </p:nvSpPr>
          <p:spPr>
            <a:xfrm>
              <a:off x="676275" y="990600"/>
              <a:ext cx="2857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 b="1">
                  <a:solidFill>
                    <a:schemeClr val="accent5"/>
                  </a:solidFill>
                </a:rPr>
                <a:t>プロセス別コスト（億円）</a:t>
              </a:r>
            </a:p>
          </p:txBody>
        </p:sp>
        <p:sp>
          <p:nvSpPr>
            <p:cNvPr id="7" name="表見出し1"/>
            <p:cNvSpPr/>
            <p:nvPr/>
          </p:nvSpPr>
          <p:spPr>
            <a:xfrm>
              <a:off x="6486525" y="990600"/>
              <a:ext cx="3048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 b="1">
                  <a:solidFill>
                    <a:schemeClr val="accent5"/>
                  </a:solidFill>
                </a:rPr>
                <a:t>削減の方向性</a:t>
              </a:r>
            </a:p>
          </p:txBody>
        </p:sp>
        <p:sp>
          <p:nvSpPr>
            <p:cNvPr id="8" name="表見出し2"/>
            <p:cNvSpPr/>
            <p:nvPr/>
          </p:nvSpPr>
          <p:spPr>
            <a:xfrm>
              <a:off x="9677400" y="990600"/>
              <a:ext cx="8572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 b="1">
                  <a:solidFill>
                    <a:schemeClr val="accent5"/>
                  </a:solidFill>
                </a:rPr>
                <a:t>削減後</a:t>
              </a:r>
            </a:p>
          </p:txBody>
        </p:sp>
        <p:sp>
          <p:nvSpPr>
            <p:cNvPr id="9" name="表見出し3"/>
            <p:cNvSpPr/>
            <p:nvPr/>
          </p:nvSpPr>
          <p:spPr>
            <a:xfrm>
              <a:off x="10629900" y="990600"/>
              <a:ext cx="904875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 b="1">
                  <a:solidFill>
                    <a:schemeClr val="accent5"/>
                  </a:solidFill>
                </a:rPr>
                <a:t>効果</a:t>
              </a:r>
            </a:p>
          </p:txBody>
        </p:sp>
        <p:cxnSp>
          <p:nvCxnSpPr>
            <p:cNvPr id="10" name="表ヘッダ罫線"/>
            <p:cNvCxnSpPr/>
            <p:nvPr/>
          </p:nvCxnSpPr>
          <p:spPr>
            <a:xfrm>
              <a:off x="6486525" y="1181100"/>
              <a:ext cx="50482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項目_工程A"/>
            <p:cNvSpPr/>
            <p:nvPr/>
          </p:nvSpPr>
          <p:spPr>
            <a:xfrm>
              <a:off x="676275" y="1276350"/>
              <a:ext cx="876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工程A</a:t>
              </a:r>
            </a:p>
          </p:txBody>
        </p:sp>
        <p:sp>
          <p:nvSpPr>
            <p:cNvPr id="12" name="バー_工程A"/>
            <p:cNvSpPr/>
            <p:nvPr/>
          </p:nvSpPr>
          <p:spPr>
            <a:xfrm>
              <a:off x="1628775" y="1238250"/>
              <a:ext cx="1714500" cy="247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値_工程A"/>
            <p:cNvSpPr/>
            <p:nvPr/>
          </p:nvSpPr>
          <p:spPr>
            <a:xfrm>
              <a:off x="1628775" y="1276350"/>
              <a:ext cx="171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40</a:t>
              </a:r>
            </a:p>
          </p:txBody>
        </p:sp>
        <p:cxnSp>
          <p:nvCxnSpPr>
            <p:cNvPr id="14" name="コネクタ1"/>
            <p:cNvCxnSpPr/>
            <p:nvPr/>
          </p:nvCxnSpPr>
          <p:spPr>
            <a:xfrm>
              <a:off x="3343275" y="1485900"/>
              <a:ext cx="0" cy="15240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施策_工程A"/>
            <p:cNvSpPr/>
            <p:nvPr/>
          </p:nvSpPr>
          <p:spPr>
            <a:xfrm>
              <a:off x="6486525" y="1276350"/>
              <a:ext cx="3048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削減の方向性テキスト</a:t>
              </a:r>
            </a:p>
          </p:txBody>
        </p:sp>
        <p:sp>
          <p:nvSpPr>
            <p:cNvPr id="16" name="削減後_工程A"/>
            <p:cNvSpPr/>
            <p:nvPr/>
          </p:nvSpPr>
          <p:spPr>
            <a:xfrm>
              <a:off x="9677400" y="1276350"/>
              <a:ext cx="8572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32</a:t>
              </a:r>
            </a:p>
          </p:txBody>
        </p:sp>
        <p:sp>
          <p:nvSpPr>
            <p:cNvPr id="17" name="効果_工程A"/>
            <p:cNvSpPr/>
            <p:nvPr/>
          </p:nvSpPr>
          <p:spPr>
            <a:xfrm>
              <a:off x="10629900" y="1276350"/>
              <a:ext cx="904875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▲8</a:t>
              </a:r>
            </a:p>
          </p:txBody>
        </p:sp>
        <p:cxnSp>
          <p:nvCxnSpPr>
            <p:cNvPr id="18" name="行罫線1"/>
            <p:cNvCxnSpPr/>
            <p:nvPr/>
          </p:nvCxnSpPr>
          <p:spPr>
            <a:xfrm>
              <a:off x="6486525" y="1562100"/>
              <a:ext cx="50482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項目_工程B"/>
            <p:cNvSpPr/>
            <p:nvPr/>
          </p:nvSpPr>
          <p:spPr>
            <a:xfrm>
              <a:off x="676275" y="1676400"/>
              <a:ext cx="876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工程B</a:t>
              </a:r>
            </a:p>
          </p:txBody>
        </p:sp>
        <p:sp>
          <p:nvSpPr>
            <p:cNvPr id="20" name="バー_工程B"/>
            <p:cNvSpPr/>
            <p:nvPr/>
          </p:nvSpPr>
          <p:spPr>
            <a:xfrm>
              <a:off x="3343275" y="1638300"/>
              <a:ext cx="1071562" cy="247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値_工程B"/>
            <p:cNvSpPr/>
            <p:nvPr/>
          </p:nvSpPr>
          <p:spPr>
            <a:xfrm>
              <a:off x="3343275" y="1676400"/>
              <a:ext cx="1071562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25</a:t>
              </a:r>
            </a:p>
          </p:txBody>
        </p:sp>
        <p:cxnSp>
          <p:nvCxnSpPr>
            <p:cNvPr id="22" name="コネクタ2"/>
            <p:cNvCxnSpPr/>
            <p:nvPr/>
          </p:nvCxnSpPr>
          <p:spPr>
            <a:xfrm>
              <a:off x="4414837" y="1885950"/>
              <a:ext cx="0" cy="15240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施策_工程B"/>
            <p:cNvSpPr/>
            <p:nvPr/>
          </p:nvSpPr>
          <p:spPr>
            <a:xfrm>
              <a:off x="6486525" y="1676400"/>
              <a:ext cx="3048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削減の方向性テキスト</a:t>
              </a:r>
            </a:p>
          </p:txBody>
        </p:sp>
        <p:sp>
          <p:nvSpPr>
            <p:cNvPr id="24" name="削減後_工程B"/>
            <p:cNvSpPr/>
            <p:nvPr/>
          </p:nvSpPr>
          <p:spPr>
            <a:xfrm>
              <a:off x="9677400" y="1676400"/>
              <a:ext cx="8572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20</a:t>
              </a:r>
            </a:p>
          </p:txBody>
        </p:sp>
        <p:sp>
          <p:nvSpPr>
            <p:cNvPr id="25" name="効果_工程B"/>
            <p:cNvSpPr/>
            <p:nvPr/>
          </p:nvSpPr>
          <p:spPr>
            <a:xfrm>
              <a:off x="10629900" y="1676400"/>
              <a:ext cx="904875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▲5</a:t>
              </a:r>
            </a:p>
          </p:txBody>
        </p:sp>
        <p:cxnSp>
          <p:nvCxnSpPr>
            <p:cNvPr id="26" name="行罫線2"/>
            <p:cNvCxnSpPr/>
            <p:nvPr/>
          </p:nvCxnSpPr>
          <p:spPr>
            <a:xfrm>
              <a:off x="6486525" y="1962150"/>
              <a:ext cx="50482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項目_工程C"/>
            <p:cNvSpPr/>
            <p:nvPr/>
          </p:nvSpPr>
          <p:spPr>
            <a:xfrm>
              <a:off x="676275" y="2076450"/>
              <a:ext cx="876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工程C</a:t>
              </a:r>
            </a:p>
          </p:txBody>
        </p:sp>
        <p:sp>
          <p:nvSpPr>
            <p:cNvPr id="28" name="バー_工程C"/>
            <p:cNvSpPr/>
            <p:nvPr/>
          </p:nvSpPr>
          <p:spPr>
            <a:xfrm>
              <a:off x="4414837" y="2038350"/>
              <a:ext cx="857250" cy="247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値_工程C"/>
            <p:cNvSpPr/>
            <p:nvPr/>
          </p:nvSpPr>
          <p:spPr>
            <a:xfrm>
              <a:off x="4414837" y="2076450"/>
              <a:ext cx="8572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20</a:t>
              </a:r>
            </a:p>
          </p:txBody>
        </p:sp>
        <p:cxnSp>
          <p:nvCxnSpPr>
            <p:cNvPr id="30" name="コネクタ3"/>
            <p:cNvCxnSpPr/>
            <p:nvPr/>
          </p:nvCxnSpPr>
          <p:spPr>
            <a:xfrm>
              <a:off x="5272087" y="2286000"/>
              <a:ext cx="0" cy="15240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施策_工程C"/>
            <p:cNvSpPr/>
            <p:nvPr/>
          </p:nvSpPr>
          <p:spPr>
            <a:xfrm>
              <a:off x="6486525" y="2076450"/>
              <a:ext cx="3048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削減の方向性テキスト</a:t>
              </a:r>
            </a:p>
          </p:txBody>
        </p:sp>
        <p:sp>
          <p:nvSpPr>
            <p:cNvPr id="32" name="削減後_工程C"/>
            <p:cNvSpPr/>
            <p:nvPr/>
          </p:nvSpPr>
          <p:spPr>
            <a:xfrm>
              <a:off x="9677400" y="2076450"/>
              <a:ext cx="8572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17</a:t>
              </a:r>
            </a:p>
          </p:txBody>
        </p:sp>
        <p:sp>
          <p:nvSpPr>
            <p:cNvPr id="33" name="効果_工程C"/>
            <p:cNvSpPr/>
            <p:nvPr/>
          </p:nvSpPr>
          <p:spPr>
            <a:xfrm>
              <a:off x="10629900" y="2076450"/>
              <a:ext cx="904875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▲3</a:t>
              </a:r>
            </a:p>
          </p:txBody>
        </p:sp>
        <p:cxnSp>
          <p:nvCxnSpPr>
            <p:cNvPr id="34" name="行罫線3"/>
            <p:cNvCxnSpPr/>
            <p:nvPr/>
          </p:nvCxnSpPr>
          <p:spPr>
            <a:xfrm>
              <a:off x="6486525" y="2362200"/>
              <a:ext cx="50482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項目_工程D"/>
            <p:cNvSpPr/>
            <p:nvPr/>
          </p:nvSpPr>
          <p:spPr>
            <a:xfrm>
              <a:off x="676275" y="2476500"/>
              <a:ext cx="876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工程D</a:t>
              </a:r>
            </a:p>
          </p:txBody>
        </p:sp>
        <p:sp>
          <p:nvSpPr>
            <p:cNvPr id="36" name="バー_工程D"/>
            <p:cNvSpPr/>
            <p:nvPr/>
          </p:nvSpPr>
          <p:spPr>
            <a:xfrm>
              <a:off x="5272087" y="2438400"/>
              <a:ext cx="642937" cy="247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値_工程D"/>
            <p:cNvSpPr/>
            <p:nvPr/>
          </p:nvSpPr>
          <p:spPr>
            <a:xfrm>
              <a:off x="5272087" y="2476500"/>
              <a:ext cx="642937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15</a:t>
              </a:r>
            </a:p>
          </p:txBody>
        </p:sp>
        <p:sp>
          <p:nvSpPr>
            <p:cNvPr id="38" name="施策_工程D"/>
            <p:cNvSpPr/>
            <p:nvPr/>
          </p:nvSpPr>
          <p:spPr>
            <a:xfrm>
              <a:off x="6486525" y="2476500"/>
              <a:ext cx="3048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削減の方向性テキスト</a:t>
              </a:r>
            </a:p>
          </p:txBody>
        </p:sp>
        <p:sp>
          <p:nvSpPr>
            <p:cNvPr id="39" name="削減後_工程D"/>
            <p:cNvSpPr/>
            <p:nvPr/>
          </p:nvSpPr>
          <p:spPr>
            <a:xfrm>
              <a:off x="9677400" y="2476500"/>
              <a:ext cx="8572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13</a:t>
              </a:r>
            </a:p>
          </p:txBody>
        </p:sp>
        <p:sp>
          <p:nvSpPr>
            <p:cNvPr id="40" name="効果_工程D"/>
            <p:cNvSpPr/>
            <p:nvPr/>
          </p:nvSpPr>
          <p:spPr>
            <a:xfrm>
              <a:off x="10629900" y="2476500"/>
              <a:ext cx="904875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▲2</a:t>
              </a:r>
            </a:p>
          </p:txBody>
        </p:sp>
        <p:cxnSp>
          <p:nvCxnSpPr>
            <p:cNvPr id="41" name="行罫線4"/>
            <p:cNvCxnSpPr/>
            <p:nvPr/>
          </p:nvCxnSpPr>
          <p:spPr>
            <a:xfrm>
              <a:off x="6486525" y="2762250"/>
              <a:ext cx="50482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項目_合計"/>
            <p:cNvSpPr/>
            <p:nvPr/>
          </p:nvSpPr>
          <p:spPr>
            <a:xfrm>
              <a:off x="676275" y="2914650"/>
              <a:ext cx="876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合計</a:t>
              </a:r>
            </a:p>
          </p:txBody>
        </p:sp>
        <p:sp>
          <p:nvSpPr>
            <p:cNvPr id="43" name="バー_合計"/>
            <p:cNvSpPr/>
            <p:nvPr/>
          </p:nvSpPr>
          <p:spPr>
            <a:xfrm>
              <a:off x="1628775" y="2876550"/>
              <a:ext cx="4286250" cy="24765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値_合計"/>
            <p:cNvSpPr/>
            <p:nvPr/>
          </p:nvSpPr>
          <p:spPr>
            <a:xfrm>
              <a:off x="1628775" y="2914650"/>
              <a:ext cx="41719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100</a:t>
              </a:r>
            </a:p>
          </p:txBody>
        </p:sp>
        <p:sp>
          <p:nvSpPr>
            <p:cNvPr id="45" name="施策_合計"/>
            <p:cNvSpPr/>
            <p:nvPr/>
          </p:nvSpPr>
          <p:spPr>
            <a:xfrm>
              <a:off x="6486525" y="2905125"/>
              <a:ext cx="3048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削減後合計</a:t>
              </a:r>
            </a:p>
          </p:txBody>
        </p:sp>
        <p:sp>
          <p:nvSpPr>
            <p:cNvPr id="46" name="削減後_合計"/>
            <p:cNvSpPr/>
            <p:nvPr/>
          </p:nvSpPr>
          <p:spPr>
            <a:xfrm>
              <a:off x="9677400" y="2905125"/>
              <a:ext cx="857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82</a:t>
              </a:r>
            </a:p>
          </p:txBody>
        </p:sp>
        <p:sp>
          <p:nvSpPr>
            <p:cNvPr id="47" name="削減率タグ"/>
            <p:cNvSpPr/>
            <p:nvPr/>
          </p:nvSpPr>
          <p:spPr>
            <a:xfrm>
              <a:off x="10706100" y="2876550"/>
              <a:ext cx="828675" cy="228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削減率"/>
            <p:cNvSpPr/>
            <p:nvPr/>
          </p:nvSpPr>
          <p:spPr>
            <a:xfrm>
              <a:off x="10706100" y="2886075"/>
              <a:ext cx="828675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▲18%</a:t>
              </a:r>
            </a:p>
          </p:txBody>
        </p:sp>
      </p:grpSp>
      <p:sp>
        <p:nvSpPr>
          <p:cNvPr id="49" name="Rectangle 48"/>
          <p:cNvSpPr/>
          <p:nvPr/>
        </p:nvSpPr>
        <p:spPr>
          <a:xfrm>
            <a:off x="390525" y="3333750"/>
            <a:ext cx="114109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39 滝グラフ＋打ち手リスト｜構造：問題解決（コストを工程で分解し、大きい項目ほど太い打ち手を同じ行の高さで対応づける）</a:t>
            </a:r>
          </a:p>
        </p:txBody>
      </p:sp>
      <p:grpSp>
        <p:nvGrpSpPr>
          <p:cNvPr id="50" name="図解40_滝グラフ上下並列"/>
          <p:cNvGrpSpPr/>
          <p:nvPr/>
        </p:nvGrpSpPr>
        <p:grpSpPr>
          <a:xfrm>
            <a:off x="619125" y="3914775"/>
            <a:ext cx="10725150" cy="2238375"/>
            <a:chOff x="619125" y="3914775"/>
            <a:chExt cx="10725150" cy="2238375"/>
          </a:xfrm>
        </p:grpSpPr>
        <p:sp>
          <p:nvSpPr>
            <p:cNvPr id="51" name="指標①ラベル"/>
            <p:cNvSpPr/>
            <p:nvPr/>
          </p:nvSpPr>
          <p:spPr>
            <a:xfrm>
              <a:off x="619125" y="4324350"/>
              <a:ext cx="11049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指標①</a:t>
              </a:r>
            </a:p>
          </p:txBody>
        </p:sp>
        <p:sp>
          <p:nvSpPr>
            <p:cNvPr id="52" name="指標②ラベル"/>
            <p:cNvSpPr/>
            <p:nvPr/>
          </p:nvSpPr>
          <p:spPr>
            <a:xfrm>
              <a:off x="619125" y="5372100"/>
              <a:ext cx="11049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指標②</a:t>
              </a:r>
            </a:p>
          </p:txBody>
        </p:sp>
        <p:cxnSp>
          <p:nvCxnSpPr>
            <p:cNvPr id="53" name="上段_基準線"/>
            <p:cNvCxnSpPr/>
            <p:nvPr/>
          </p:nvCxnSpPr>
          <p:spPr>
            <a:xfrm>
              <a:off x="1819275" y="4895850"/>
              <a:ext cx="9525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上段_目標線"/>
            <p:cNvCxnSpPr/>
            <p:nvPr/>
          </p:nvCxnSpPr>
          <p:spPr>
            <a:xfrm>
              <a:off x="1819275" y="4450556"/>
              <a:ext cx="9525000" cy="0"/>
            </a:xfrm>
            <a:prstGeom prst="bentConnector3">
              <a:avLst/>
            </a:prstGeom>
            <a:ln w="11906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上段_目標ラベル"/>
            <p:cNvSpPr/>
            <p:nvPr/>
          </p:nvSpPr>
          <p:spPr>
            <a:xfrm>
              <a:off x="3324225" y="4288631"/>
              <a:ext cx="8953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 b="1">
                  <a:solidFill>
                    <a:schemeClr val="accent5"/>
                  </a:solidFill>
                </a:rPr>
                <a:t>目標 55</a:t>
              </a:r>
            </a:p>
          </p:txBody>
        </p:sp>
        <p:sp>
          <p:nvSpPr>
            <p:cNvPr id="56" name="上段_期初"/>
            <p:cNvSpPr/>
            <p:nvPr/>
          </p:nvSpPr>
          <p:spPr>
            <a:xfrm>
              <a:off x="2295525" y="4086225"/>
              <a:ext cx="952500" cy="80962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上段_期初値"/>
            <p:cNvSpPr/>
            <p:nvPr/>
          </p:nvSpPr>
          <p:spPr>
            <a:xfrm>
              <a:off x="2105025" y="3914775"/>
              <a:ext cx="1333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100</a:t>
              </a:r>
            </a:p>
          </p:txBody>
        </p:sp>
        <p:sp>
          <p:nvSpPr>
            <p:cNvPr id="58" name="上段_要因A"/>
            <p:cNvSpPr/>
            <p:nvPr/>
          </p:nvSpPr>
          <p:spPr>
            <a:xfrm>
              <a:off x="4200525" y="4086225"/>
              <a:ext cx="952500" cy="24288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上段_増減値1"/>
            <p:cNvSpPr/>
            <p:nvPr/>
          </p:nvSpPr>
          <p:spPr>
            <a:xfrm>
              <a:off x="4010025" y="3914775"/>
              <a:ext cx="1333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−30</a:t>
              </a:r>
            </a:p>
          </p:txBody>
        </p:sp>
        <p:sp>
          <p:nvSpPr>
            <p:cNvPr id="60" name="上段_要因B"/>
            <p:cNvSpPr/>
            <p:nvPr/>
          </p:nvSpPr>
          <p:spPr>
            <a:xfrm>
              <a:off x="6105525" y="4329112"/>
              <a:ext cx="952500" cy="1619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上段_増減値2"/>
            <p:cNvSpPr/>
            <p:nvPr/>
          </p:nvSpPr>
          <p:spPr>
            <a:xfrm>
              <a:off x="5915025" y="4157662"/>
              <a:ext cx="1333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−20</a:t>
              </a:r>
            </a:p>
          </p:txBody>
        </p:sp>
        <p:sp>
          <p:nvSpPr>
            <p:cNvPr id="62" name="上段_要因C"/>
            <p:cNvSpPr/>
            <p:nvPr/>
          </p:nvSpPr>
          <p:spPr>
            <a:xfrm>
              <a:off x="8010525" y="4410075"/>
              <a:ext cx="952500" cy="8096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上段_増減値3"/>
            <p:cNvSpPr/>
            <p:nvPr/>
          </p:nvSpPr>
          <p:spPr>
            <a:xfrm>
              <a:off x="7820025" y="4238625"/>
              <a:ext cx="1333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+10</a:t>
              </a:r>
            </a:p>
          </p:txBody>
        </p:sp>
        <p:sp>
          <p:nvSpPr>
            <p:cNvPr id="64" name="上段_期末"/>
            <p:cNvSpPr/>
            <p:nvPr/>
          </p:nvSpPr>
          <p:spPr>
            <a:xfrm>
              <a:off x="9915525" y="4410075"/>
              <a:ext cx="952500" cy="4857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上段_期末値"/>
            <p:cNvSpPr/>
            <p:nvPr/>
          </p:nvSpPr>
          <p:spPr>
            <a:xfrm>
              <a:off x="9725025" y="4238625"/>
              <a:ext cx="1333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60</a:t>
              </a:r>
            </a:p>
          </p:txBody>
        </p:sp>
        <p:cxnSp>
          <p:nvCxnSpPr>
            <p:cNvPr id="66" name="上段_コネクタ1"/>
            <p:cNvCxnSpPr/>
            <p:nvPr/>
          </p:nvCxnSpPr>
          <p:spPr>
            <a:xfrm>
              <a:off x="3248025" y="4086225"/>
              <a:ext cx="952500" cy="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上段_コネクタ2"/>
            <p:cNvCxnSpPr/>
            <p:nvPr/>
          </p:nvCxnSpPr>
          <p:spPr>
            <a:xfrm>
              <a:off x="5153025" y="4329112"/>
              <a:ext cx="952500" cy="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上段_コネクタ3"/>
            <p:cNvCxnSpPr/>
            <p:nvPr/>
          </p:nvCxnSpPr>
          <p:spPr>
            <a:xfrm>
              <a:off x="7058025" y="4491037"/>
              <a:ext cx="952500" cy="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上段_コネクタ4"/>
            <p:cNvCxnSpPr/>
            <p:nvPr/>
          </p:nvCxnSpPr>
          <p:spPr>
            <a:xfrm>
              <a:off x="8963025" y="4410075"/>
              <a:ext cx="952500" cy="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下段_基準線"/>
            <p:cNvCxnSpPr/>
            <p:nvPr/>
          </p:nvCxnSpPr>
          <p:spPr>
            <a:xfrm>
              <a:off x="1819275" y="5943600"/>
              <a:ext cx="9525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下段_目標線"/>
            <p:cNvCxnSpPr/>
            <p:nvPr/>
          </p:nvCxnSpPr>
          <p:spPr>
            <a:xfrm>
              <a:off x="1819275" y="5467350"/>
              <a:ext cx="9525000" cy="0"/>
            </a:xfrm>
            <a:prstGeom prst="bentConnector3">
              <a:avLst/>
            </a:prstGeom>
            <a:ln w="11906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下段_目標ラベル"/>
            <p:cNvSpPr/>
            <p:nvPr/>
          </p:nvSpPr>
          <p:spPr>
            <a:xfrm>
              <a:off x="3324225" y="5305425"/>
              <a:ext cx="8953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 b="1">
                  <a:solidFill>
                    <a:schemeClr val="accent5"/>
                  </a:solidFill>
                </a:rPr>
                <a:t>目標 50</a:t>
              </a:r>
            </a:p>
          </p:txBody>
        </p:sp>
        <p:sp>
          <p:nvSpPr>
            <p:cNvPr id="73" name="下段_期初"/>
            <p:cNvSpPr/>
            <p:nvPr/>
          </p:nvSpPr>
          <p:spPr>
            <a:xfrm>
              <a:off x="2295525" y="5162550"/>
              <a:ext cx="952500" cy="78105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下段_期初値"/>
            <p:cNvSpPr/>
            <p:nvPr/>
          </p:nvSpPr>
          <p:spPr>
            <a:xfrm>
              <a:off x="2105025" y="4991100"/>
              <a:ext cx="1333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82</a:t>
              </a:r>
            </a:p>
          </p:txBody>
        </p:sp>
        <p:sp>
          <p:nvSpPr>
            <p:cNvPr id="75" name="下段_要因A"/>
            <p:cNvSpPr/>
            <p:nvPr/>
          </p:nvSpPr>
          <p:spPr>
            <a:xfrm>
              <a:off x="4200525" y="5162550"/>
              <a:ext cx="952500" cy="171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下段_増減値1"/>
            <p:cNvSpPr/>
            <p:nvPr/>
          </p:nvSpPr>
          <p:spPr>
            <a:xfrm>
              <a:off x="4010025" y="4991100"/>
              <a:ext cx="1333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−18</a:t>
              </a:r>
            </a:p>
          </p:txBody>
        </p:sp>
        <p:sp>
          <p:nvSpPr>
            <p:cNvPr id="77" name="下段_要因B"/>
            <p:cNvSpPr/>
            <p:nvPr/>
          </p:nvSpPr>
          <p:spPr>
            <a:xfrm>
              <a:off x="6105525" y="5334000"/>
              <a:ext cx="952500" cy="133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下段_増減値2"/>
            <p:cNvSpPr/>
            <p:nvPr/>
          </p:nvSpPr>
          <p:spPr>
            <a:xfrm>
              <a:off x="5915025" y="5162550"/>
              <a:ext cx="1333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−14</a:t>
              </a:r>
            </a:p>
          </p:txBody>
        </p:sp>
        <p:sp>
          <p:nvSpPr>
            <p:cNvPr id="79" name="下段_要因C"/>
            <p:cNvSpPr/>
            <p:nvPr/>
          </p:nvSpPr>
          <p:spPr>
            <a:xfrm>
              <a:off x="8010525" y="5410200"/>
              <a:ext cx="952500" cy="571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下段_増減値3"/>
            <p:cNvSpPr/>
            <p:nvPr/>
          </p:nvSpPr>
          <p:spPr>
            <a:xfrm>
              <a:off x="7820025" y="5238750"/>
              <a:ext cx="1333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+6</a:t>
              </a:r>
            </a:p>
          </p:txBody>
        </p:sp>
        <p:sp>
          <p:nvSpPr>
            <p:cNvPr id="81" name="下段_期末"/>
            <p:cNvSpPr/>
            <p:nvPr/>
          </p:nvSpPr>
          <p:spPr>
            <a:xfrm>
              <a:off x="9915525" y="5410200"/>
              <a:ext cx="952500" cy="533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下段_期末値"/>
            <p:cNvSpPr/>
            <p:nvPr/>
          </p:nvSpPr>
          <p:spPr>
            <a:xfrm>
              <a:off x="9725025" y="5238750"/>
              <a:ext cx="1333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56</a:t>
              </a:r>
            </a:p>
          </p:txBody>
        </p:sp>
        <p:cxnSp>
          <p:nvCxnSpPr>
            <p:cNvPr id="83" name="下段_コネクタ1"/>
            <p:cNvCxnSpPr/>
            <p:nvPr/>
          </p:nvCxnSpPr>
          <p:spPr>
            <a:xfrm>
              <a:off x="3248025" y="5162550"/>
              <a:ext cx="952500" cy="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下段_コネクタ2"/>
            <p:cNvCxnSpPr/>
            <p:nvPr/>
          </p:nvCxnSpPr>
          <p:spPr>
            <a:xfrm>
              <a:off x="5153025" y="5334000"/>
              <a:ext cx="952500" cy="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下段_コネクタ3"/>
            <p:cNvCxnSpPr/>
            <p:nvPr/>
          </p:nvCxnSpPr>
          <p:spPr>
            <a:xfrm>
              <a:off x="7058025" y="5467350"/>
              <a:ext cx="952500" cy="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下段_コネクタ4"/>
            <p:cNvCxnSpPr/>
            <p:nvPr/>
          </p:nvCxnSpPr>
          <p:spPr>
            <a:xfrm>
              <a:off x="8963025" y="5410200"/>
              <a:ext cx="952500" cy="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項目_期初"/>
            <p:cNvSpPr/>
            <p:nvPr/>
          </p:nvSpPr>
          <p:spPr>
            <a:xfrm>
              <a:off x="2105025" y="6019800"/>
              <a:ext cx="1333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期初</a:t>
              </a:r>
            </a:p>
          </p:txBody>
        </p:sp>
        <p:sp>
          <p:nvSpPr>
            <p:cNvPr id="88" name="項目_要因A"/>
            <p:cNvSpPr/>
            <p:nvPr/>
          </p:nvSpPr>
          <p:spPr>
            <a:xfrm>
              <a:off x="4010025" y="6019800"/>
              <a:ext cx="1333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要因A</a:t>
              </a:r>
            </a:p>
          </p:txBody>
        </p:sp>
        <p:sp>
          <p:nvSpPr>
            <p:cNvPr id="89" name="項目_要因B"/>
            <p:cNvSpPr/>
            <p:nvPr/>
          </p:nvSpPr>
          <p:spPr>
            <a:xfrm>
              <a:off x="5915025" y="6019800"/>
              <a:ext cx="1333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要因B</a:t>
              </a:r>
            </a:p>
          </p:txBody>
        </p:sp>
        <p:sp>
          <p:nvSpPr>
            <p:cNvPr id="90" name="項目_要因C"/>
            <p:cNvSpPr/>
            <p:nvPr/>
          </p:nvSpPr>
          <p:spPr>
            <a:xfrm>
              <a:off x="7820025" y="6019800"/>
              <a:ext cx="1333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要因C</a:t>
              </a:r>
            </a:p>
          </p:txBody>
        </p:sp>
        <p:sp>
          <p:nvSpPr>
            <p:cNvPr id="91" name="項目_期末"/>
            <p:cNvSpPr/>
            <p:nvPr/>
          </p:nvSpPr>
          <p:spPr>
            <a:xfrm>
              <a:off x="9725025" y="6019800"/>
              <a:ext cx="1333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期末</a:t>
              </a:r>
            </a:p>
          </p:txBody>
        </p:sp>
      </p:grpSp>
      <p:sp>
        <p:nvSpPr>
          <p:cNvPr id="92" name="Rectangle 91"/>
          <p:cNvSpPr/>
          <p:nvPr/>
        </p:nvSpPr>
        <p:spPr>
          <a:xfrm>
            <a:off x="390525" y="6267450"/>
            <a:ext cx="114109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40 滝グラフ上下並列｜構造：比較（2指標を上下に並べ、項目軸は下段に1回だけ＝非冗長。破線＝目標水準）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72390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パーツ図鑑｜⑥ 図解パターン 量と流れ — バリューチェーン×損益2種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数値・テキストはすべて打ち替えできます</a:t>
            </a:r>
          </a:p>
        </p:txBody>
      </p:sp>
      <p:grpSp>
        <p:nvGrpSpPr>
          <p:cNvPr id="5" name="図解41_バリューチェーンPL"/>
          <p:cNvGrpSpPr/>
          <p:nvPr/>
        </p:nvGrpSpPr>
        <p:grpSpPr>
          <a:xfrm>
            <a:off x="1819275" y="990600"/>
            <a:ext cx="9753600" cy="2160270"/>
            <a:chOff x="1819275" y="990600"/>
            <a:chExt cx="9753600" cy="2160270"/>
          </a:xfrm>
        </p:grpSpPr>
        <p:sp>
          <p:nvSpPr>
            <p:cNvPr id="6" name="工程1"/>
            <p:cNvSpPr/>
            <p:nvPr/>
          </p:nvSpPr>
          <p:spPr>
            <a:xfrm>
              <a:off x="1819275" y="2038350"/>
              <a:ext cx="2000250" cy="323850"/>
            </a:xfrm>
            <a:custGeom>
              <a:avLst/>
              <a:gdLst/>
              <a:ahLst/>
              <a:cxnLst/>
              <a:rect l="0" t="0" r="2000250" b="323850"/>
              <a:pathLst>
                <a:path w="2000250" h="323850">
                  <a:moveTo>
                    <a:pt x="0" y="0"/>
                  </a:moveTo>
                  <a:lnTo>
                    <a:pt x="1847850" y="0"/>
                  </a:lnTo>
                  <a:lnTo>
                    <a:pt x="2000250" y="161925"/>
                  </a:lnTo>
                  <a:lnTo>
                    <a:pt x="184785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工程名1"/>
            <p:cNvSpPr/>
            <p:nvPr/>
          </p:nvSpPr>
          <p:spPr>
            <a:xfrm>
              <a:off x="2009775" y="2114550"/>
              <a:ext cx="8382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工程1</a:t>
              </a:r>
            </a:p>
          </p:txBody>
        </p:sp>
        <p:sp>
          <p:nvSpPr>
            <p:cNvPr id="8" name="売上棒1"/>
            <p:cNvSpPr/>
            <p:nvPr/>
          </p:nvSpPr>
          <p:spPr>
            <a:xfrm>
              <a:off x="2552700" y="1581150"/>
              <a:ext cx="533400" cy="400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売上値1"/>
            <p:cNvSpPr/>
            <p:nvPr/>
          </p:nvSpPr>
          <p:spPr>
            <a:xfrm>
              <a:off x="2438400" y="1390650"/>
              <a:ext cx="762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30</a:t>
              </a:r>
            </a:p>
          </p:txBody>
        </p:sp>
        <p:sp>
          <p:nvSpPr>
            <p:cNvPr id="10" name="費用棒1"/>
            <p:cNvSpPr/>
            <p:nvPr/>
          </p:nvSpPr>
          <p:spPr>
            <a:xfrm>
              <a:off x="2552700" y="2419350"/>
              <a:ext cx="533400" cy="32003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費用値1"/>
            <p:cNvSpPr/>
            <p:nvPr/>
          </p:nvSpPr>
          <p:spPr>
            <a:xfrm>
              <a:off x="2438400" y="2777490"/>
              <a:ext cx="762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24</a:t>
              </a:r>
            </a:p>
          </p:txBody>
        </p:sp>
        <p:sp>
          <p:nvSpPr>
            <p:cNvPr id="12" name="工程2"/>
            <p:cNvSpPr/>
            <p:nvPr/>
          </p:nvSpPr>
          <p:spPr>
            <a:xfrm>
              <a:off x="3914775" y="2038350"/>
              <a:ext cx="2000250" cy="323850"/>
            </a:xfrm>
            <a:custGeom>
              <a:avLst/>
              <a:gdLst/>
              <a:ahLst/>
              <a:cxnLst/>
              <a:rect l="0" t="0" r="2000250" b="323850"/>
              <a:pathLst>
                <a:path w="2000250" h="323850">
                  <a:moveTo>
                    <a:pt x="0" y="0"/>
                  </a:moveTo>
                  <a:lnTo>
                    <a:pt x="1847850" y="0"/>
                  </a:lnTo>
                  <a:lnTo>
                    <a:pt x="2000250" y="161925"/>
                  </a:lnTo>
                  <a:lnTo>
                    <a:pt x="1847850" y="323850"/>
                  </a:lnTo>
                  <a:lnTo>
                    <a:pt x="0" y="323850"/>
                  </a:lnTo>
                  <a:lnTo>
                    <a:pt x="152400" y="16192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工程名2"/>
            <p:cNvSpPr/>
            <p:nvPr/>
          </p:nvSpPr>
          <p:spPr>
            <a:xfrm>
              <a:off x="4105275" y="2114550"/>
              <a:ext cx="8382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工程2</a:t>
              </a:r>
            </a:p>
          </p:txBody>
        </p:sp>
        <p:sp>
          <p:nvSpPr>
            <p:cNvPr id="14" name="売上棒2"/>
            <p:cNvSpPr/>
            <p:nvPr/>
          </p:nvSpPr>
          <p:spPr>
            <a:xfrm>
              <a:off x="4648200" y="1381125"/>
              <a:ext cx="533400" cy="60007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売上値2"/>
            <p:cNvSpPr/>
            <p:nvPr/>
          </p:nvSpPr>
          <p:spPr>
            <a:xfrm>
              <a:off x="4533900" y="1190625"/>
              <a:ext cx="762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45</a:t>
              </a:r>
            </a:p>
          </p:txBody>
        </p:sp>
        <p:sp>
          <p:nvSpPr>
            <p:cNvPr id="16" name="費用棒2"/>
            <p:cNvSpPr/>
            <p:nvPr/>
          </p:nvSpPr>
          <p:spPr>
            <a:xfrm>
              <a:off x="4648200" y="2419350"/>
              <a:ext cx="533400" cy="533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費用値2"/>
            <p:cNvSpPr/>
            <p:nvPr/>
          </p:nvSpPr>
          <p:spPr>
            <a:xfrm>
              <a:off x="4533900" y="2990850"/>
              <a:ext cx="762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40</a:t>
              </a:r>
            </a:p>
          </p:txBody>
        </p:sp>
        <p:sp>
          <p:nvSpPr>
            <p:cNvPr id="18" name="工程3"/>
            <p:cNvSpPr/>
            <p:nvPr/>
          </p:nvSpPr>
          <p:spPr>
            <a:xfrm>
              <a:off x="6010275" y="2038350"/>
              <a:ext cx="2000250" cy="323850"/>
            </a:xfrm>
            <a:custGeom>
              <a:avLst/>
              <a:gdLst/>
              <a:ahLst/>
              <a:cxnLst/>
              <a:rect l="0" t="0" r="2000250" b="323850"/>
              <a:pathLst>
                <a:path w="2000250" h="323850">
                  <a:moveTo>
                    <a:pt x="0" y="0"/>
                  </a:moveTo>
                  <a:lnTo>
                    <a:pt x="1847850" y="0"/>
                  </a:lnTo>
                  <a:lnTo>
                    <a:pt x="2000250" y="161925"/>
                  </a:lnTo>
                  <a:lnTo>
                    <a:pt x="1847850" y="323850"/>
                  </a:lnTo>
                  <a:lnTo>
                    <a:pt x="0" y="323850"/>
                  </a:lnTo>
                  <a:lnTo>
                    <a:pt x="152400" y="16192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工程名3"/>
            <p:cNvSpPr/>
            <p:nvPr/>
          </p:nvSpPr>
          <p:spPr>
            <a:xfrm>
              <a:off x="6200775" y="2114550"/>
              <a:ext cx="8382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工程3</a:t>
              </a:r>
            </a:p>
          </p:txBody>
        </p:sp>
        <p:sp>
          <p:nvSpPr>
            <p:cNvPr id="20" name="売上棒3"/>
            <p:cNvSpPr/>
            <p:nvPr/>
          </p:nvSpPr>
          <p:spPr>
            <a:xfrm>
              <a:off x="6743700" y="1647825"/>
              <a:ext cx="533400" cy="3333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売上値3"/>
            <p:cNvSpPr/>
            <p:nvPr/>
          </p:nvSpPr>
          <p:spPr>
            <a:xfrm>
              <a:off x="6629400" y="1457325"/>
              <a:ext cx="762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25</a:t>
              </a:r>
            </a:p>
          </p:txBody>
        </p:sp>
        <p:sp>
          <p:nvSpPr>
            <p:cNvPr id="22" name="費用棒3"/>
            <p:cNvSpPr/>
            <p:nvPr/>
          </p:nvSpPr>
          <p:spPr>
            <a:xfrm>
              <a:off x="6743700" y="2419350"/>
              <a:ext cx="533400" cy="37337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費用値3"/>
            <p:cNvSpPr/>
            <p:nvPr/>
          </p:nvSpPr>
          <p:spPr>
            <a:xfrm>
              <a:off x="6629400" y="2830830"/>
              <a:ext cx="762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28</a:t>
              </a:r>
            </a:p>
          </p:txBody>
        </p:sp>
        <p:sp>
          <p:nvSpPr>
            <p:cNvPr id="24" name="工程4"/>
            <p:cNvSpPr/>
            <p:nvPr/>
          </p:nvSpPr>
          <p:spPr>
            <a:xfrm>
              <a:off x="8105775" y="2038350"/>
              <a:ext cx="2000250" cy="323850"/>
            </a:xfrm>
            <a:custGeom>
              <a:avLst/>
              <a:gdLst/>
              <a:ahLst/>
              <a:cxnLst/>
              <a:rect l="0" t="0" r="2000250" b="323850"/>
              <a:pathLst>
                <a:path w="2000250" h="323850">
                  <a:moveTo>
                    <a:pt x="0" y="0"/>
                  </a:moveTo>
                  <a:lnTo>
                    <a:pt x="1847850" y="0"/>
                  </a:lnTo>
                  <a:lnTo>
                    <a:pt x="2000250" y="161925"/>
                  </a:lnTo>
                  <a:lnTo>
                    <a:pt x="1847850" y="323850"/>
                  </a:lnTo>
                  <a:lnTo>
                    <a:pt x="0" y="323850"/>
                  </a:lnTo>
                  <a:lnTo>
                    <a:pt x="152400" y="16192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工程名4"/>
            <p:cNvSpPr/>
            <p:nvPr/>
          </p:nvSpPr>
          <p:spPr>
            <a:xfrm>
              <a:off x="8296275" y="2114550"/>
              <a:ext cx="8382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工程4</a:t>
              </a:r>
            </a:p>
          </p:txBody>
        </p:sp>
        <p:sp>
          <p:nvSpPr>
            <p:cNvPr id="26" name="売上棒4"/>
            <p:cNvSpPr/>
            <p:nvPr/>
          </p:nvSpPr>
          <p:spPr>
            <a:xfrm>
              <a:off x="8839200" y="1181100"/>
              <a:ext cx="533400" cy="800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売上値4"/>
            <p:cNvSpPr/>
            <p:nvPr/>
          </p:nvSpPr>
          <p:spPr>
            <a:xfrm>
              <a:off x="8724900" y="990600"/>
              <a:ext cx="762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60</a:t>
              </a:r>
            </a:p>
          </p:txBody>
        </p:sp>
        <p:sp>
          <p:nvSpPr>
            <p:cNvPr id="28" name="費用棒4"/>
            <p:cNvSpPr/>
            <p:nvPr/>
          </p:nvSpPr>
          <p:spPr>
            <a:xfrm>
              <a:off x="8839200" y="2419350"/>
              <a:ext cx="533400" cy="56007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費用値4"/>
            <p:cNvSpPr/>
            <p:nvPr/>
          </p:nvSpPr>
          <p:spPr>
            <a:xfrm>
              <a:off x="8724900" y="3017520"/>
              <a:ext cx="762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42</a:t>
              </a:r>
            </a:p>
          </p:txBody>
        </p:sp>
        <p:cxnSp>
          <p:nvCxnSpPr>
            <p:cNvPr id="30" name="利益線1"/>
            <p:cNvCxnSpPr/>
            <p:nvPr/>
          </p:nvCxnSpPr>
          <p:spPr>
            <a:xfrm>
              <a:off x="2819400" y="2179320"/>
              <a:ext cx="2095500" cy="11430"/>
            </a:xfrm>
            <a:prstGeom prst="bentConnector3">
              <a:avLst/>
            </a:prstGeom>
            <a:ln w="16668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利益線2"/>
            <p:cNvCxnSpPr/>
            <p:nvPr/>
          </p:nvCxnSpPr>
          <p:spPr>
            <a:xfrm>
              <a:off x="4914900" y="2190750"/>
              <a:ext cx="2095500" cy="91440"/>
            </a:xfrm>
            <a:prstGeom prst="bentConnector3">
              <a:avLst/>
            </a:prstGeom>
            <a:ln w="16668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利益線3"/>
            <p:cNvCxnSpPr/>
            <p:nvPr/>
          </p:nvCxnSpPr>
          <p:spPr>
            <a:xfrm flipV="1">
              <a:off x="7010400" y="2042160"/>
              <a:ext cx="2095500" cy="240030"/>
            </a:xfrm>
            <a:prstGeom prst="bentConnector3">
              <a:avLst/>
            </a:prstGeom>
            <a:ln w="16668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利益点1"/>
            <p:cNvSpPr/>
            <p:nvPr/>
          </p:nvSpPr>
          <p:spPr>
            <a:xfrm>
              <a:off x="2776537" y="2136457"/>
              <a:ext cx="85725" cy="85725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利益値1"/>
            <p:cNvSpPr/>
            <p:nvPr/>
          </p:nvSpPr>
          <p:spPr>
            <a:xfrm>
              <a:off x="2895600" y="2026920"/>
              <a:ext cx="4381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 b="1">
                  <a:solidFill>
                    <a:schemeClr val="dk2"/>
                  </a:solidFill>
                </a:rPr>
                <a:t>+6</a:t>
              </a:r>
            </a:p>
          </p:txBody>
        </p:sp>
        <p:sp>
          <p:nvSpPr>
            <p:cNvPr id="35" name="利益点2"/>
            <p:cNvSpPr/>
            <p:nvPr/>
          </p:nvSpPr>
          <p:spPr>
            <a:xfrm>
              <a:off x="4872037" y="2147887"/>
              <a:ext cx="85725" cy="85725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利益値2"/>
            <p:cNvSpPr/>
            <p:nvPr/>
          </p:nvSpPr>
          <p:spPr>
            <a:xfrm>
              <a:off x="4991100" y="2038350"/>
              <a:ext cx="4381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 b="1">
                  <a:solidFill>
                    <a:schemeClr val="dk2"/>
                  </a:solidFill>
                </a:rPr>
                <a:t>+5</a:t>
              </a:r>
            </a:p>
          </p:txBody>
        </p:sp>
        <p:sp>
          <p:nvSpPr>
            <p:cNvPr id="37" name="利益点3"/>
            <p:cNvSpPr/>
            <p:nvPr/>
          </p:nvSpPr>
          <p:spPr>
            <a:xfrm>
              <a:off x="6962775" y="223456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利益値3"/>
            <p:cNvSpPr/>
            <p:nvPr/>
          </p:nvSpPr>
          <p:spPr>
            <a:xfrm>
              <a:off x="7086600" y="2129790"/>
              <a:ext cx="4381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 b="1">
                  <a:solidFill>
                    <a:schemeClr val="accent2"/>
                  </a:solidFill>
                </a:rPr>
                <a:t>−3</a:t>
              </a:r>
            </a:p>
          </p:txBody>
        </p:sp>
        <p:sp>
          <p:nvSpPr>
            <p:cNvPr id="39" name="利益点4"/>
            <p:cNvSpPr/>
            <p:nvPr/>
          </p:nvSpPr>
          <p:spPr>
            <a:xfrm>
              <a:off x="9063037" y="1999297"/>
              <a:ext cx="85725" cy="85725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利益値4"/>
            <p:cNvSpPr/>
            <p:nvPr/>
          </p:nvSpPr>
          <p:spPr>
            <a:xfrm>
              <a:off x="9182100" y="2099310"/>
              <a:ext cx="4381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 b="1">
                  <a:solidFill>
                    <a:schemeClr val="dk2"/>
                  </a:solidFill>
                </a:rPr>
                <a:t>+18</a:t>
              </a:r>
            </a:p>
          </p:txBody>
        </p:sp>
        <p:sp>
          <p:nvSpPr>
            <p:cNvPr id="41" name="凡例_売上"/>
            <p:cNvSpPr/>
            <p:nvPr/>
          </p:nvSpPr>
          <p:spPr>
            <a:xfrm>
              <a:off x="10296525" y="1447800"/>
              <a:ext cx="9525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0429875" y="1419225"/>
              <a:ext cx="1143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売上（億円）</a:t>
              </a:r>
            </a:p>
          </p:txBody>
        </p:sp>
        <p:cxnSp>
          <p:nvCxnSpPr>
            <p:cNvPr id="43" name="凡例_利益線"/>
            <p:cNvCxnSpPr/>
            <p:nvPr/>
          </p:nvCxnSpPr>
          <p:spPr>
            <a:xfrm>
              <a:off x="10296525" y="2238375"/>
              <a:ext cx="171450" cy="0"/>
            </a:xfrm>
            <a:prstGeom prst="bentConnector3">
              <a:avLst/>
            </a:prstGeom>
            <a:ln w="16668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ectangle 43"/>
            <p:cNvSpPr/>
            <p:nvPr/>
          </p:nvSpPr>
          <p:spPr>
            <a:xfrm>
              <a:off x="10525125" y="2171700"/>
              <a:ext cx="1047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利益</a:t>
              </a:r>
            </a:p>
          </p:txBody>
        </p:sp>
        <p:sp>
          <p:nvSpPr>
            <p:cNvPr id="45" name="凡例_費用"/>
            <p:cNvSpPr/>
            <p:nvPr/>
          </p:nvSpPr>
          <p:spPr>
            <a:xfrm>
              <a:off x="10296525" y="2667000"/>
              <a:ext cx="95250" cy="952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10429875" y="2638425"/>
              <a:ext cx="1143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費用（億円）</a:t>
              </a:r>
            </a:p>
          </p:txBody>
        </p:sp>
      </p:grpSp>
      <p:sp>
        <p:nvSpPr>
          <p:cNvPr id="47" name="Rectangle 46"/>
          <p:cNvSpPr/>
          <p:nvPr/>
        </p:nvSpPr>
        <p:spPr>
          <a:xfrm>
            <a:off x="390525" y="3333750"/>
            <a:ext cx="114109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41 バリューチェーンP/L｜構造：比較（各工程の上に売上棒・下に費用棒・利益は折れ線。工程と棒の横位置を厳密に揃える）</a:t>
            </a:r>
          </a:p>
        </p:txBody>
      </p:sp>
      <p:grpSp>
        <p:nvGrpSpPr>
          <p:cNvPr id="48" name="図解42_付加価値分配マップ"/>
          <p:cNvGrpSpPr/>
          <p:nvPr/>
        </p:nvGrpSpPr>
        <p:grpSpPr>
          <a:xfrm>
            <a:off x="676275" y="4000500"/>
            <a:ext cx="10934700" cy="1981200"/>
            <a:chOff x="676275" y="4000500"/>
            <a:chExt cx="10934700" cy="1981200"/>
          </a:xfrm>
        </p:grpSpPr>
        <p:sp>
          <p:nvSpPr>
            <p:cNvPr id="49" name="工程1"/>
            <p:cNvSpPr/>
            <p:nvPr/>
          </p:nvSpPr>
          <p:spPr>
            <a:xfrm>
              <a:off x="2009775" y="4000500"/>
              <a:ext cx="2286000" cy="285750"/>
            </a:xfrm>
            <a:custGeom>
              <a:avLst/>
              <a:gdLst/>
              <a:ahLst/>
              <a:cxnLst/>
              <a:rect l="0" t="0" r="2286000" b="285750"/>
              <a:pathLst>
                <a:path w="2286000" h="285750">
                  <a:moveTo>
                    <a:pt x="0" y="0"/>
                  </a:moveTo>
                  <a:lnTo>
                    <a:pt x="2133600" y="0"/>
                  </a:lnTo>
                  <a:lnTo>
                    <a:pt x="2286000" y="142875"/>
                  </a:lnTo>
                  <a:lnTo>
                    <a:pt x="2133600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工程名1"/>
            <p:cNvSpPr/>
            <p:nvPr/>
          </p:nvSpPr>
          <p:spPr>
            <a:xfrm>
              <a:off x="2200275" y="4057650"/>
              <a:ext cx="1905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工程1</a:t>
              </a:r>
            </a:p>
          </p:txBody>
        </p:sp>
        <p:sp>
          <p:nvSpPr>
            <p:cNvPr id="51" name="工程2"/>
            <p:cNvSpPr/>
            <p:nvPr/>
          </p:nvSpPr>
          <p:spPr>
            <a:xfrm>
              <a:off x="4391025" y="4000500"/>
              <a:ext cx="2286000" cy="285750"/>
            </a:xfrm>
            <a:custGeom>
              <a:avLst/>
              <a:gdLst/>
              <a:ahLst/>
              <a:cxnLst/>
              <a:rect l="0" t="0" r="2286000" b="285750"/>
              <a:pathLst>
                <a:path w="2286000" h="285750">
                  <a:moveTo>
                    <a:pt x="0" y="0"/>
                  </a:moveTo>
                  <a:lnTo>
                    <a:pt x="2133600" y="0"/>
                  </a:lnTo>
                  <a:lnTo>
                    <a:pt x="2286000" y="142875"/>
                  </a:lnTo>
                  <a:lnTo>
                    <a:pt x="2133600" y="285750"/>
                  </a:lnTo>
                  <a:lnTo>
                    <a:pt x="0" y="285750"/>
                  </a:lnTo>
                  <a:lnTo>
                    <a:pt x="152400" y="14287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工程名2"/>
            <p:cNvSpPr/>
            <p:nvPr/>
          </p:nvSpPr>
          <p:spPr>
            <a:xfrm>
              <a:off x="4581525" y="4057650"/>
              <a:ext cx="1905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工程2</a:t>
              </a:r>
            </a:p>
          </p:txBody>
        </p:sp>
        <p:sp>
          <p:nvSpPr>
            <p:cNvPr id="53" name="工程3"/>
            <p:cNvSpPr/>
            <p:nvPr/>
          </p:nvSpPr>
          <p:spPr>
            <a:xfrm>
              <a:off x="6772275" y="4000500"/>
              <a:ext cx="2286000" cy="285750"/>
            </a:xfrm>
            <a:custGeom>
              <a:avLst/>
              <a:gdLst/>
              <a:ahLst/>
              <a:cxnLst/>
              <a:rect l="0" t="0" r="2286000" b="285750"/>
              <a:pathLst>
                <a:path w="2286000" h="285750">
                  <a:moveTo>
                    <a:pt x="0" y="0"/>
                  </a:moveTo>
                  <a:lnTo>
                    <a:pt x="2133600" y="0"/>
                  </a:lnTo>
                  <a:lnTo>
                    <a:pt x="2286000" y="142875"/>
                  </a:lnTo>
                  <a:lnTo>
                    <a:pt x="2133600" y="285750"/>
                  </a:lnTo>
                  <a:lnTo>
                    <a:pt x="0" y="285750"/>
                  </a:lnTo>
                  <a:lnTo>
                    <a:pt x="152400" y="14287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工程名3"/>
            <p:cNvSpPr/>
            <p:nvPr/>
          </p:nvSpPr>
          <p:spPr>
            <a:xfrm>
              <a:off x="6962775" y="4057650"/>
              <a:ext cx="1905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工程3</a:t>
              </a:r>
            </a:p>
          </p:txBody>
        </p:sp>
        <p:sp>
          <p:nvSpPr>
            <p:cNvPr id="55" name="工程4"/>
            <p:cNvSpPr/>
            <p:nvPr/>
          </p:nvSpPr>
          <p:spPr>
            <a:xfrm>
              <a:off x="9153525" y="4000500"/>
              <a:ext cx="2286000" cy="285750"/>
            </a:xfrm>
            <a:custGeom>
              <a:avLst/>
              <a:gdLst/>
              <a:ahLst/>
              <a:cxnLst/>
              <a:rect l="0" t="0" r="2286000" b="285750"/>
              <a:pathLst>
                <a:path w="2286000" h="285750">
                  <a:moveTo>
                    <a:pt x="0" y="0"/>
                  </a:moveTo>
                  <a:lnTo>
                    <a:pt x="2133600" y="0"/>
                  </a:lnTo>
                  <a:lnTo>
                    <a:pt x="2286000" y="142875"/>
                  </a:lnTo>
                  <a:lnTo>
                    <a:pt x="2133600" y="285750"/>
                  </a:lnTo>
                  <a:lnTo>
                    <a:pt x="0" y="285750"/>
                  </a:lnTo>
                  <a:lnTo>
                    <a:pt x="152400" y="14287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工程名4"/>
            <p:cNvSpPr/>
            <p:nvPr/>
          </p:nvSpPr>
          <p:spPr>
            <a:xfrm>
              <a:off x="9344025" y="4057650"/>
              <a:ext cx="1905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工程4</a:t>
              </a:r>
            </a:p>
          </p:txBody>
        </p:sp>
        <p:sp>
          <p:nvSpPr>
            <p:cNvPr id="57" name="行ラベル_プレイヤーA"/>
            <p:cNvSpPr/>
            <p:nvPr/>
          </p:nvSpPr>
          <p:spPr>
            <a:xfrm>
              <a:off x="676275" y="4419600"/>
              <a:ext cx="1257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プレイヤーA</a:t>
              </a:r>
            </a:p>
          </p:txBody>
        </p:sp>
        <p:sp>
          <p:nvSpPr>
            <p:cNvPr id="58" name="範囲_プレイヤーA"/>
            <p:cNvSpPr/>
            <p:nvPr/>
          </p:nvSpPr>
          <p:spPr>
            <a:xfrm>
              <a:off x="2009775" y="4381500"/>
              <a:ext cx="4667250" cy="2476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モデル_プレイヤーA"/>
            <p:cNvSpPr/>
            <p:nvPr/>
          </p:nvSpPr>
          <p:spPr>
            <a:xfrm>
              <a:off x="2124075" y="4429125"/>
              <a:ext cx="36385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収益モデル：テキスト</a:t>
              </a:r>
            </a:p>
          </p:txBody>
        </p:sp>
        <p:sp>
          <p:nvSpPr>
            <p:cNvPr id="60" name="取り分_プレイヤーA"/>
            <p:cNvSpPr/>
            <p:nvPr/>
          </p:nvSpPr>
          <p:spPr>
            <a:xfrm>
              <a:off x="5838825" y="4410075"/>
              <a:ext cx="762000" cy="1905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取り分値_プレイヤーA"/>
            <p:cNvSpPr/>
            <p:nvPr/>
          </p:nvSpPr>
          <p:spPr>
            <a:xfrm>
              <a:off x="5838825" y="441960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 b="1">
                  <a:solidFill>
                    <a:schemeClr val="dk2"/>
                  </a:solidFill>
                </a:rPr>
                <a:t>取り分 25</a:t>
              </a:r>
            </a:p>
          </p:txBody>
        </p:sp>
        <p:sp>
          <p:nvSpPr>
            <p:cNvPr id="62" name="行ラベル_プレイヤーB"/>
            <p:cNvSpPr/>
            <p:nvPr/>
          </p:nvSpPr>
          <p:spPr>
            <a:xfrm>
              <a:off x="676275" y="4895850"/>
              <a:ext cx="1257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プレイヤーB</a:t>
              </a:r>
            </a:p>
          </p:txBody>
        </p:sp>
        <p:sp>
          <p:nvSpPr>
            <p:cNvPr id="63" name="範囲_プレイヤーB"/>
            <p:cNvSpPr/>
            <p:nvPr/>
          </p:nvSpPr>
          <p:spPr>
            <a:xfrm>
              <a:off x="4391025" y="4857750"/>
              <a:ext cx="7048500" cy="247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モデル_プレイヤーB"/>
            <p:cNvSpPr/>
            <p:nvPr/>
          </p:nvSpPr>
          <p:spPr>
            <a:xfrm>
              <a:off x="4505325" y="4905375"/>
              <a:ext cx="60198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収益モデル：テキスト</a:t>
              </a:r>
            </a:p>
          </p:txBody>
        </p:sp>
        <p:sp>
          <p:nvSpPr>
            <p:cNvPr id="65" name="取り分_プレイヤーB"/>
            <p:cNvSpPr/>
            <p:nvPr/>
          </p:nvSpPr>
          <p:spPr>
            <a:xfrm>
              <a:off x="10601325" y="4886325"/>
              <a:ext cx="762000" cy="1905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取り分値_プレイヤーB"/>
            <p:cNvSpPr/>
            <p:nvPr/>
          </p:nvSpPr>
          <p:spPr>
            <a:xfrm>
              <a:off x="10601325" y="48958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 b="1">
                  <a:solidFill>
                    <a:schemeClr val="dk2"/>
                  </a:solidFill>
                </a:rPr>
                <a:t>取り分 35</a:t>
              </a:r>
            </a:p>
          </p:txBody>
        </p:sp>
        <p:sp>
          <p:nvSpPr>
            <p:cNvPr id="67" name="行ラベル_プレイヤーC"/>
            <p:cNvSpPr/>
            <p:nvPr/>
          </p:nvSpPr>
          <p:spPr>
            <a:xfrm>
              <a:off x="676275" y="5372100"/>
              <a:ext cx="1257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プレイヤーC</a:t>
              </a:r>
            </a:p>
          </p:txBody>
        </p:sp>
        <p:sp>
          <p:nvSpPr>
            <p:cNvPr id="68" name="範囲_プレイヤーC"/>
            <p:cNvSpPr/>
            <p:nvPr/>
          </p:nvSpPr>
          <p:spPr>
            <a:xfrm>
              <a:off x="9153525" y="5334000"/>
              <a:ext cx="2286000" cy="247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モデル_プレイヤーC"/>
            <p:cNvSpPr/>
            <p:nvPr/>
          </p:nvSpPr>
          <p:spPr>
            <a:xfrm>
              <a:off x="9267825" y="5381625"/>
              <a:ext cx="12573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lt1"/>
                  </a:solidFill>
                </a:rPr>
                <a:t>収益モデル：テキスト</a:t>
              </a:r>
            </a:p>
          </p:txBody>
        </p:sp>
        <p:sp>
          <p:nvSpPr>
            <p:cNvPr id="70" name="取り分_プレイヤーC"/>
            <p:cNvSpPr/>
            <p:nvPr/>
          </p:nvSpPr>
          <p:spPr>
            <a:xfrm>
              <a:off x="10601325" y="5362575"/>
              <a:ext cx="762000" cy="1905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取り分値_プレイヤーC"/>
            <p:cNvSpPr/>
            <p:nvPr/>
          </p:nvSpPr>
          <p:spPr>
            <a:xfrm>
              <a:off x="10601325" y="537210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 b="1">
                  <a:solidFill>
                    <a:schemeClr val="dk2"/>
                  </a:solidFill>
                </a:rPr>
                <a:t>取り分 40</a:t>
              </a:r>
            </a:p>
          </p:txBody>
        </p:sp>
        <p:cxnSp>
          <p:nvCxnSpPr>
            <p:cNvPr id="72" name="支払B→A"/>
            <p:cNvCxnSpPr/>
            <p:nvPr/>
          </p:nvCxnSpPr>
          <p:spPr>
            <a:xfrm flipV="1">
              <a:off x="5724525" y="4648200"/>
              <a:ext cx="0" cy="209550"/>
            </a:xfrm>
            <a:prstGeom prst="bentConnector3">
              <a:avLst/>
            </a:prstGeom>
            <a:ln w="14287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支払額B→A"/>
            <p:cNvSpPr/>
            <p:nvPr/>
          </p:nvSpPr>
          <p:spPr>
            <a:xfrm>
              <a:off x="5800725" y="4667250"/>
              <a:ext cx="4191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25</a:t>
              </a:r>
            </a:p>
          </p:txBody>
        </p:sp>
        <p:cxnSp>
          <p:nvCxnSpPr>
            <p:cNvPr id="74" name="支払C→B"/>
            <p:cNvCxnSpPr/>
            <p:nvPr/>
          </p:nvCxnSpPr>
          <p:spPr>
            <a:xfrm flipV="1">
              <a:off x="10487025" y="5124450"/>
              <a:ext cx="0" cy="209550"/>
            </a:xfrm>
            <a:prstGeom prst="bentConnector3">
              <a:avLst/>
            </a:prstGeom>
            <a:ln w="14287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支払額C→B"/>
            <p:cNvSpPr/>
            <p:nvPr/>
          </p:nvSpPr>
          <p:spPr>
            <a:xfrm>
              <a:off x="10563225" y="5143500"/>
              <a:ext cx="4191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60</a:t>
              </a:r>
            </a:p>
          </p:txBody>
        </p:sp>
        <p:sp>
          <p:nvSpPr>
            <p:cNvPr id="76" name="顧客"/>
            <p:cNvSpPr/>
            <p:nvPr/>
          </p:nvSpPr>
          <p:spPr>
            <a:xfrm>
              <a:off x="10677525" y="5753100"/>
              <a:ext cx="838200" cy="228600"/>
            </a:xfrm>
            <a:prstGeom prst="roundRect">
              <a:avLst>
                <a:gd name="adj" fmla="val 50000"/>
              </a:avLst>
            </a:prstGeom>
            <a:noFill/>
            <a:ln w="11906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顧客ラベル"/>
            <p:cNvSpPr/>
            <p:nvPr/>
          </p:nvSpPr>
          <p:spPr>
            <a:xfrm>
              <a:off x="10677525" y="5762625"/>
              <a:ext cx="8382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顧客</a:t>
              </a:r>
            </a:p>
          </p:txBody>
        </p:sp>
        <p:cxnSp>
          <p:nvCxnSpPr>
            <p:cNvPr id="78" name="支払顧客→C"/>
            <p:cNvCxnSpPr/>
            <p:nvPr/>
          </p:nvCxnSpPr>
          <p:spPr>
            <a:xfrm flipV="1">
              <a:off x="11096625" y="5600700"/>
              <a:ext cx="0" cy="152400"/>
            </a:xfrm>
            <a:prstGeom prst="bentConnector3">
              <a:avLst/>
            </a:prstGeom>
            <a:ln w="14287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支払額顧客→C"/>
            <p:cNvSpPr/>
            <p:nvPr/>
          </p:nvSpPr>
          <p:spPr>
            <a:xfrm>
              <a:off x="11172825" y="5600700"/>
              <a:ext cx="4381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100</a:t>
              </a:r>
            </a:p>
          </p:txBody>
        </p:sp>
        <p:sp>
          <p:nvSpPr>
            <p:cNvPr id="80" name="凡例"/>
            <p:cNvSpPr/>
            <p:nvPr/>
          </p:nvSpPr>
          <p:spPr>
            <a:xfrm>
              <a:off x="2009775" y="5810250"/>
              <a:ext cx="6096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矢印＝支払いフロー（上流へさかのぼるほど細る：100 → 60 → 25）</a:t>
              </a:r>
            </a:p>
          </p:txBody>
        </p:sp>
      </p:grpSp>
      <p:sp>
        <p:nvSpPr>
          <p:cNvPr id="81" name="Rectangle 80"/>
          <p:cNvSpPr/>
          <p:nvPr/>
        </p:nvSpPr>
        <p:spPr>
          <a:xfrm>
            <a:off x="390525" y="6267450"/>
            <a:ext cx="114109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42 付加価値分配マップ｜構造：順序（バーの長短＝カバーする工程範囲・矢印＋数値＝支払い。分配と減衰が読める）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72390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パーツ図鑑｜⑥ 図解パターン 量と流れ — 面積・時間4種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朱（アクセント）は1スライド1点まで</a:t>
            </a:r>
          </a:p>
        </p:txBody>
      </p:sp>
      <p:grpSp>
        <p:nvGrpSpPr>
          <p:cNvPr id="5" name="図解43_積み上げエリア"/>
          <p:cNvGrpSpPr/>
          <p:nvPr/>
        </p:nvGrpSpPr>
        <p:grpSpPr>
          <a:xfrm>
            <a:off x="1000125" y="1181100"/>
            <a:ext cx="4895850" cy="1771650"/>
            <a:chOff x="1000125" y="1181100"/>
            <a:chExt cx="4895850" cy="1771650"/>
          </a:xfrm>
        </p:grpSpPr>
        <p:sp>
          <p:nvSpPr>
            <p:cNvPr id="6" name="系列A（下層）"/>
            <p:cNvSpPr/>
            <p:nvPr/>
          </p:nvSpPr>
          <p:spPr>
            <a:xfrm>
              <a:off x="1190625" y="2029206"/>
              <a:ext cx="4095750" cy="752093"/>
            </a:xfrm>
            <a:custGeom>
              <a:avLst/>
              <a:gdLst/>
              <a:ahLst/>
              <a:cxnLst/>
              <a:rect l="0" t="0" r="4095750" b="752093"/>
              <a:pathLst>
                <a:path w="4095750" h="752093">
                  <a:moveTo>
                    <a:pt x="0" y="416052"/>
                  </a:moveTo>
                  <a:lnTo>
                    <a:pt x="819150" y="352043"/>
                  </a:lnTo>
                  <a:lnTo>
                    <a:pt x="1638300" y="288035"/>
                  </a:lnTo>
                  <a:lnTo>
                    <a:pt x="2457450" y="208025"/>
                  </a:lnTo>
                  <a:lnTo>
                    <a:pt x="3276600" y="112013"/>
                  </a:lnTo>
                  <a:lnTo>
                    <a:pt x="4095750" y="0"/>
                  </a:lnTo>
                  <a:lnTo>
                    <a:pt x="4095750" y="752093"/>
                  </a:lnTo>
                  <a:lnTo>
                    <a:pt x="0" y="7520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系列B（中層）"/>
            <p:cNvSpPr/>
            <p:nvPr/>
          </p:nvSpPr>
          <p:spPr>
            <a:xfrm>
              <a:off x="1190625" y="1577949"/>
              <a:ext cx="4095750" cy="867308"/>
            </a:xfrm>
            <a:custGeom>
              <a:avLst/>
              <a:gdLst/>
              <a:ahLst/>
              <a:cxnLst/>
              <a:rect l="0" t="0" r="4095750" b="867308"/>
              <a:pathLst>
                <a:path w="4095750" h="867308">
                  <a:moveTo>
                    <a:pt x="0" y="665683"/>
                  </a:moveTo>
                  <a:lnTo>
                    <a:pt x="819150" y="563270"/>
                  </a:lnTo>
                  <a:lnTo>
                    <a:pt x="1638300" y="460857"/>
                  </a:lnTo>
                  <a:lnTo>
                    <a:pt x="2457450" y="332841"/>
                  </a:lnTo>
                  <a:lnTo>
                    <a:pt x="3276600" y="179222"/>
                  </a:lnTo>
                  <a:lnTo>
                    <a:pt x="4095750" y="0"/>
                  </a:lnTo>
                  <a:lnTo>
                    <a:pt x="4095750" y="451256"/>
                  </a:lnTo>
                  <a:lnTo>
                    <a:pt x="3276600" y="563270"/>
                  </a:lnTo>
                  <a:lnTo>
                    <a:pt x="2457450" y="659282"/>
                  </a:lnTo>
                  <a:lnTo>
                    <a:pt x="1638300" y="739292"/>
                  </a:lnTo>
                  <a:lnTo>
                    <a:pt x="819150" y="803300"/>
                  </a:lnTo>
                  <a:lnTo>
                    <a:pt x="0" y="8673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系列C（上層）"/>
            <p:cNvSpPr/>
            <p:nvPr/>
          </p:nvSpPr>
          <p:spPr>
            <a:xfrm>
              <a:off x="1190625" y="1277112"/>
              <a:ext cx="4095750" cy="966520"/>
            </a:xfrm>
            <a:custGeom>
              <a:avLst/>
              <a:gdLst/>
              <a:ahLst/>
              <a:cxnLst/>
              <a:rect l="0" t="0" r="4095750" b="966520"/>
              <a:pathLst>
                <a:path w="4095750" h="966520">
                  <a:moveTo>
                    <a:pt x="0" y="832103"/>
                  </a:moveTo>
                  <a:lnTo>
                    <a:pt x="819150" y="704087"/>
                  </a:lnTo>
                  <a:lnTo>
                    <a:pt x="1638300" y="576071"/>
                  </a:lnTo>
                  <a:lnTo>
                    <a:pt x="2457450" y="416051"/>
                  </a:lnTo>
                  <a:lnTo>
                    <a:pt x="3276600" y="224027"/>
                  </a:lnTo>
                  <a:lnTo>
                    <a:pt x="4095750" y="0"/>
                  </a:lnTo>
                  <a:lnTo>
                    <a:pt x="4095750" y="300837"/>
                  </a:lnTo>
                  <a:lnTo>
                    <a:pt x="3276600" y="480059"/>
                  </a:lnTo>
                  <a:lnTo>
                    <a:pt x="2457450" y="633679"/>
                  </a:lnTo>
                  <a:lnTo>
                    <a:pt x="1638300" y="761695"/>
                  </a:lnTo>
                  <a:lnTo>
                    <a:pt x="819150" y="864108"/>
                  </a:lnTo>
                  <a:lnTo>
                    <a:pt x="0" y="96652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総計線1"/>
            <p:cNvCxnSpPr/>
            <p:nvPr/>
          </p:nvCxnSpPr>
          <p:spPr>
            <a:xfrm flipV="1">
              <a:off x="1190625" y="1981200"/>
              <a:ext cx="819150" cy="128016"/>
            </a:xfrm>
            <a:prstGeom prst="bentConnector3">
              <a:avLst/>
            </a:prstGeom>
            <a:ln w="14287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総計線2"/>
            <p:cNvCxnSpPr/>
            <p:nvPr/>
          </p:nvCxnSpPr>
          <p:spPr>
            <a:xfrm flipV="1">
              <a:off x="2009775" y="1853184"/>
              <a:ext cx="819150" cy="128016"/>
            </a:xfrm>
            <a:prstGeom prst="bentConnector3">
              <a:avLst/>
            </a:prstGeom>
            <a:ln w="14287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総計線3"/>
            <p:cNvCxnSpPr/>
            <p:nvPr/>
          </p:nvCxnSpPr>
          <p:spPr>
            <a:xfrm flipV="1">
              <a:off x="2828925" y="1693164"/>
              <a:ext cx="819150" cy="160020"/>
            </a:xfrm>
            <a:prstGeom prst="bentConnector3">
              <a:avLst/>
            </a:prstGeom>
            <a:ln w="14287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総計線4"/>
            <p:cNvCxnSpPr/>
            <p:nvPr/>
          </p:nvCxnSpPr>
          <p:spPr>
            <a:xfrm flipV="1">
              <a:off x="3648075" y="1501140"/>
              <a:ext cx="819150" cy="192024"/>
            </a:xfrm>
            <a:prstGeom prst="bentConnector3">
              <a:avLst/>
            </a:prstGeom>
            <a:ln w="14287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総計線5"/>
            <p:cNvCxnSpPr/>
            <p:nvPr/>
          </p:nvCxnSpPr>
          <p:spPr>
            <a:xfrm flipV="1">
              <a:off x="4467225" y="1277112"/>
              <a:ext cx="819150" cy="224028"/>
            </a:xfrm>
            <a:prstGeom prst="bentConnector3">
              <a:avLst/>
            </a:prstGeom>
            <a:ln w="14287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縦軸"/>
            <p:cNvCxnSpPr/>
            <p:nvPr/>
          </p:nvCxnSpPr>
          <p:spPr>
            <a:xfrm>
              <a:off x="1190625" y="1181100"/>
              <a:ext cx="0" cy="16002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基準線"/>
            <p:cNvCxnSpPr/>
            <p:nvPr/>
          </p:nvCxnSpPr>
          <p:spPr>
            <a:xfrm>
              <a:off x="1190625" y="2781300"/>
              <a:ext cx="40957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目盛1"/>
            <p:cNvSpPr/>
            <p:nvPr/>
          </p:nvSpPr>
          <p:spPr>
            <a:xfrm>
              <a:off x="1000125" y="2838450"/>
              <a:ext cx="38100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1期</a:t>
              </a:r>
            </a:p>
          </p:txBody>
        </p:sp>
        <p:sp>
          <p:nvSpPr>
            <p:cNvPr id="17" name="目盛2"/>
            <p:cNvSpPr/>
            <p:nvPr/>
          </p:nvSpPr>
          <p:spPr>
            <a:xfrm>
              <a:off x="1819275" y="2838450"/>
              <a:ext cx="38100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2期</a:t>
              </a:r>
            </a:p>
          </p:txBody>
        </p:sp>
        <p:sp>
          <p:nvSpPr>
            <p:cNvPr id="18" name="目盛3"/>
            <p:cNvSpPr/>
            <p:nvPr/>
          </p:nvSpPr>
          <p:spPr>
            <a:xfrm>
              <a:off x="2638425" y="2838450"/>
              <a:ext cx="38100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3期</a:t>
              </a:r>
            </a:p>
          </p:txBody>
        </p:sp>
        <p:sp>
          <p:nvSpPr>
            <p:cNvPr id="19" name="目盛4"/>
            <p:cNvSpPr/>
            <p:nvPr/>
          </p:nvSpPr>
          <p:spPr>
            <a:xfrm>
              <a:off x="3457575" y="2838450"/>
              <a:ext cx="38100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4期</a:t>
              </a:r>
            </a:p>
          </p:txBody>
        </p:sp>
        <p:sp>
          <p:nvSpPr>
            <p:cNvPr id="20" name="目盛5"/>
            <p:cNvSpPr/>
            <p:nvPr/>
          </p:nvSpPr>
          <p:spPr>
            <a:xfrm>
              <a:off x="4276725" y="2838450"/>
              <a:ext cx="38100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5期</a:t>
              </a:r>
            </a:p>
          </p:txBody>
        </p:sp>
        <p:sp>
          <p:nvSpPr>
            <p:cNvPr id="21" name="目盛6"/>
            <p:cNvSpPr/>
            <p:nvPr/>
          </p:nvSpPr>
          <p:spPr>
            <a:xfrm>
              <a:off x="5095875" y="2838450"/>
              <a:ext cx="38100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6期</a:t>
              </a:r>
            </a:p>
          </p:txBody>
        </p:sp>
        <p:cxnSp>
          <p:nvCxnSpPr>
            <p:cNvPr id="22" name="実績予測境界"/>
            <p:cNvCxnSpPr/>
            <p:nvPr/>
          </p:nvCxnSpPr>
          <p:spPr>
            <a:xfrm>
              <a:off x="3648075" y="1181100"/>
              <a:ext cx="0" cy="1600200"/>
            </a:xfrm>
            <a:prstGeom prst="bentConnector3">
              <a:avLst/>
            </a:prstGeom>
            <a:ln w="11906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実績矢印"/>
            <p:cNvCxnSpPr/>
            <p:nvPr/>
          </p:nvCxnSpPr>
          <p:spPr>
            <a:xfrm>
              <a:off x="1228725" y="1276350"/>
              <a:ext cx="2362200" cy="0"/>
            </a:xfrm>
            <a:prstGeom prst="bentConnector3">
              <a:avLst/>
            </a:prstGeom>
            <a:ln w="11906">
              <a:solidFill>
                <a:schemeClr val="accent5"/>
              </a:solidFill>
              <a:headEnd type="triangle" w="med" len="med"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実績ラベル"/>
            <p:cNvSpPr/>
            <p:nvPr/>
          </p:nvSpPr>
          <p:spPr>
            <a:xfrm>
              <a:off x="1190625" y="1333500"/>
              <a:ext cx="245745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実績</a:t>
              </a:r>
            </a:p>
          </p:txBody>
        </p:sp>
        <p:cxnSp>
          <p:nvCxnSpPr>
            <p:cNvPr id="25" name="予測矢印"/>
            <p:cNvCxnSpPr/>
            <p:nvPr/>
          </p:nvCxnSpPr>
          <p:spPr>
            <a:xfrm>
              <a:off x="3705225" y="1276350"/>
              <a:ext cx="1333500" cy="0"/>
            </a:xfrm>
            <a:prstGeom prst="bentConnector3">
              <a:avLst/>
            </a:prstGeom>
            <a:ln w="11906">
              <a:solidFill>
                <a:schemeClr val="accent5"/>
              </a:solidFill>
              <a:headEnd type="triangle" w="med" len="med"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予測ラベル"/>
            <p:cNvSpPr/>
            <p:nvPr/>
          </p:nvSpPr>
          <p:spPr>
            <a:xfrm>
              <a:off x="3648075" y="1333500"/>
              <a:ext cx="163830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予測</a:t>
              </a:r>
            </a:p>
          </p:txBody>
        </p:sp>
        <p:sp>
          <p:nvSpPr>
            <p:cNvPr id="27" name="系列Aラベル"/>
            <p:cNvSpPr/>
            <p:nvPr/>
          </p:nvSpPr>
          <p:spPr>
            <a:xfrm>
              <a:off x="5343525" y="2338578"/>
              <a:ext cx="5524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 b="1">
                  <a:solidFill>
                    <a:schemeClr val="accent1"/>
                  </a:solidFill>
                </a:rPr>
                <a:t>系列A</a:t>
              </a:r>
            </a:p>
          </p:txBody>
        </p:sp>
        <p:sp>
          <p:nvSpPr>
            <p:cNvPr id="28" name="系列Bラベル"/>
            <p:cNvSpPr/>
            <p:nvPr/>
          </p:nvSpPr>
          <p:spPr>
            <a:xfrm>
              <a:off x="5343525" y="1736902"/>
              <a:ext cx="5524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 b="1">
                  <a:solidFill>
                    <a:schemeClr val="accent3"/>
                  </a:solidFill>
                </a:rPr>
                <a:t>系列B</a:t>
              </a:r>
            </a:p>
          </p:txBody>
        </p:sp>
        <p:sp>
          <p:nvSpPr>
            <p:cNvPr id="29" name="系列Cラベル"/>
            <p:cNvSpPr/>
            <p:nvPr/>
          </p:nvSpPr>
          <p:spPr>
            <a:xfrm>
              <a:off x="5343525" y="1360855"/>
              <a:ext cx="5524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 b="1">
                  <a:solidFill>
                    <a:schemeClr val="accent5"/>
                  </a:solidFill>
                </a:rPr>
                <a:t>系列C</a:t>
              </a:r>
            </a:p>
          </p:txBody>
        </p:sp>
      </p:grpSp>
      <p:sp>
        <p:nvSpPr>
          <p:cNvPr id="30" name="Rectangle 29"/>
          <p:cNvSpPr/>
          <p:nvPr/>
        </p:nvSpPr>
        <p:spPr>
          <a:xfrm>
            <a:off x="390525" y="33337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43 積み上げエリア（実績/予測）｜構造：順序（境界＝縦破線＋双方向矢印）</a:t>
            </a:r>
          </a:p>
        </p:txBody>
      </p:sp>
      <p:grpSp>
        <p:nvGrpSpPr>
          <p:cNvPr id="31" name="図解44_実稼働vs滞留"/>
          <p:cNvGrpSpPr/>
          <p:nvPr/>
        </p:nvGrpSpPr>
        <p:grpSpPr>
          <a:xfrm>
            <a:off x="6257925" y="1295400"/>
            <a:ext cx="5448300" cy="1657350"/>
            <a:chOff x="6257925" y="1295400"/>
            <a:chExt cx="5448300" cy="1657350"/>
          </a:xfrm>
        </p:grpSpPr>
        <p:sp>
          <p:nvSpPr>
            <p:cNvPr id="32" name="実稼働帯"/>
            <p:cNvSpPr/>
            <p:nvPr/>
          </p:nvSpPr>
          <p:spPr>
            <a:xfrm>
              <a:off x="7134225" y="1524000"/>
              <a:ext cx="304800" cy="49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滞留帯"/>
            <p:cNvSpPr/>
            <p:nvPr/>
          </p:nvSpPr>
          <p:spPr>
            <a:xfrm>
              <a:off x="7134225" y="2019300"/>
              <a:ext cx="4457700" cy="3048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実稼働値"/>
            <p:cNvSpPr/>
            <p:nvPr/>
          </p:nvSpPr>
          <p:spPr>
            <a:xfrm>
              <a:off x="7534275" y="1600200"/>
              <a:ext cx="1333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1"/>
                  </a:solidFill>
                </a:rPr>
                <a:t>実稼働 2日</a:t>
              </a:r>
            </a:p>
          </p:txBody>
        </p:sp>
        <p:sp>
          <p:nvSpPr>
            <p:cNvPr id="35" name="滞留値"/>
            <p:cNvSpPr/>
            <p:nvPr/>
          </p:nvSpPr>
          <p:spPr>
            <a:xfrm>
              <a:off x="7134225" y="2019300"/>
              <a:ext cx="44577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滞留 18日</a:t>
              </a:r>
            </a:p>
          </p:txBody>
        </p:sp>
        <p:cxnSp>
          <p:nvCxnSpPr>
            <p:cNvPr id="36" name="短縮余地矢印"/>
            <p:cNvCxnSpPr/>
            <p:nvPr/>
          </p:nvCxnSpPr>
          <p:spPr>
            <a:xfrm>
              <a:off x="7667625" y="1905000"/>
              <a:ext cx="3886200" cy="0"/>
            </a:xfrm>
            <a:prstGeom prst="bentConnector3">
              <a:avLst/>
            </a:prstGeom>
            <a:ln w="14287">
              <a:solidFill>
                <a:schemeClr val="accent2"/>
              </a:solidFill>
              <a:headEnd type="triangle" w="med" len="med"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短縮余地"/>
            <p:cNvSpPr/>
            <p:nvPr/>
          </p:nvSpPr>
          <p:spPr>
            <a:xfrm>
              <a:off x="7629525" y="1695450"/>
              <a:ext cx="39624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2"/>
                  </a:solidFill>
                </a:rPr>
                <a:t>短縮余地 −16日</a:t>
              </a:r>
            </a:p>
          </p:txBody>
        </p:sp>
        <p:cxnSp>
          <p:nvCxnSpPr>
            <p:cNvPr id="38" name="縦軸"/>
            <p:cNvCxnSpPr/>
            <p:nvPr/>
          </p:nvCxnSpPr>
          <p:spPr>
            <a:xfrm>
              <a:off x="7038975" y="1524000"/>
              <a:ext cx="0" cy="8001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縦目盛0"/>
            <p:cNvCxnSpPr/>
            <p:nvPr/>
          </p:nvCxnSpPr>
          <p:spPr>
            <a:xfrm>
              <a:off x="7000875" y="1524000"/>
              <a:ext cx="381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縦目盛値0"/>
            <p:cNvSpPr/>
            <p:nvPr/>
          </p:nvSpPr>
          <p:spPr>
            <a:xfrm>
              <a:off x="6791325" y="1466850"/>
              <a:ext cx="17145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0</a:t>
              </a:r>
            </a:p>
          </p:txBody>
        </p:sp>
        <p:cxnSp>
          <p:nvCxnSpPr>
            <p:cNvPr id="41" name="縦目盛1"/>
            <p:cNvCxnSpPr/>
            <p:nvPr/>
          </p:nvCxnSpPr>
          <p:spPr>
            <a:xfrm>
              <a:off x="7000875" y="1771650"/>
              <a:ext cx="381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縦目盛値1"/>
            <p:cNvSpPr/>
            <p:nvPr/>
          </p:nvSpPr>
          <p:spPr>
            <a:xfrm>
              <a:off x="6791325" y="1714500"/>
              <a:ext cx="17145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1</a:t>
              </a:r>
            </a:p>
          </p:txBody>
        </p:sp>
        <p:cxnSp>
          <p:nvCxnSpPr>
            <p:cNvPr id="43" name="縦目盛2"/>
            <p:cNvCxnSpPr/>
            <p:nvPr/>
          </p:nvCxnSpPr>
          <p:spPr>
            <a:xfrm>
              <a:off x="7000875" y="2019300"/>
              <a:ext cx="381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縦目盛値2"/>
            <p:cNvSpPr/>
            <p:nvPr/>
          </p:nvSpPr>
          <p:spPr>
            <a:xfrm>
              <a:off x="6791325" y="1962150"/>
              <a:ext cx="17145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2</a:t>
              </a:r>
            </a:p>
          </p:txBody>
        </p:sp>
        <p:sp>
          <p:nvSpPr>
            <p:cNvPr id="45" name="縦軸名"/>
            <p:cNvSpPr/>
            <p:nvPr/>
          </p:nvSpPr>
          <p:spPr>
            <a:xfrm>
              <a:off x="6257925" y="1295400"/>
              <a:ext cx="1047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実稼働（日）</a:t>
              </a:r>
            </a:p>
          </p:txBody>
        </p:sp>
        <p:cxnSp>
          <p:nvCxnSpPr>
            <p:cNvPr id="46" name="横軸"/>
            <p:cNvCxnSpPr/>
            <p:nvPr/>
          </p:nvCxnSpPr>
          <p:spPr>
            <a:xfrm>
              <a:off x="7134225" y="2419350"/>
              <a:ext cx="44577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横目盛0"/>
            <p:cNvCxnSpPr/>
            <p:nvPr/>
          </p:nvCxnSpPr>
          <p:spPr>
            <a:xfrm>
              <a:off x="7134225" y="2419350"/>
              <a:ext cx="0" cy="381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横目盛値0"/>
            <p:cNvSpPr/>
            <p:nvPr/>
          </p:nvSpPr>
          <p:spPr>
            <a:xfrm>
              <a:off x="7038975" y="2476500"/>
              <a:ext cx="19050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0</a:t>
              </a:r>
            </a:p>
          </p:txBody>
        </p:sp>
        <p:cxnSp>
          <p:nvCxnSpPr>
            <p:cNvPr id="49" name="横目盛1"/>
            <p:cNvCxnSpPr/>
            <p:nvPr/>
          </p:nvCxnSpPr>
          <p:spPr>
            <a:xfrm>
              <a:off x="8372475" y="2419350"/>
              <a:ext cx="0" cy="381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横目盛値1"/>
            <p:cNvSpPr/>
            <p:nvPr/>
          </p:nvSpPr>
          <p:spPr>
            <a:xfrm>
              <a:off x="8277225" y="2476500"/>
              <a:ext cx="19050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5</a:t>
              </a:r>
            </a:p>
          </p:txBody>
        </p:sp>
        <p:cxnSp>
          <p:nvCxnSpPr>
            <p:cNvPr id="51" name="横目盛2"/>
            <p:cNvCxnSpPr/>
            <p:nvPr/>
          </p:nvCxnSpPr>
          <p:spPr>
            <a:xfrm>
              <a:off x="9610725" y="2419350"/>
              <a:ext cx="0" cy="381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横目盛値2"/>
            <p:cNvSpPr/>
            <p:nvPr/>
          </p:nvSpPr>
          <p:spPr>
            <a:xfrm>
              <a:off x="9515475" y="2476500"/>
              <a:ext cx="19050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10</a:t>
              </a:r>
            </a:p>
          </p:txBody>
        </p:sp>
        <p:cxnSp>
          <p:nvCxnSpPr>
            <p:cNvPr id="53" name="横目盛3"/>
            <p:cNvCxnSpPr/>
            <p:nvPr/>
          </p:nvCxnSpPr>
          <p:spPr>
            <a:xfrm>
              <a:off x="10848975" y="2419350"/>
              <a:ext cx="0" cy="381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横目盛値3"/>
            <p:cNvSpPr/>
            <p:nvPr/>
          </p:nvSpPr>
          <p:spPr>
            <a:xfrm>
              <a:off x="10753725" y="2476500"/>
              <a:ext cx="19050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15</a:t>
              </a:r>
            </a:p>
          </p:txBody>
        </p:sp>
        <p:sp>
          <p:nvSpPr>
            <p:cNvPr id="55" name="横目盛値End"/>
            <p:cNvSpPr/>
            <p:nvPr/>
          </p:nvSpPr>
          <p:spPr>
            <a:xfrm>
              <a:off x="11496675" y="2476500"/>
              <a:ext cx="19050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18</a:t>
              </a:r>
            </a:p>
          </p:txBody>
        </p:sp>
        <p:sp>
          <p:nvSpPr>
            <p:cNvPr id="56" name="横軸名"/>
            <p:cNvSpPr/>
            <p:nvPr/>
          </p:nvSpPr>
          <p:spPr>
            <a:xfrm>
              <a:off x="10791825" y="2609850"/>
              <a:ext cx="9144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滞留（日）</a:t>
              </a:r>
            </a:p>
          </p:txBody>
        </p:sp>
        <p:sp>
          <p:nvSpPr>
            <p:cNvPr id="57" name="注記"/>
            <p:cNvSpPr/>
            <p:nvPr/>
          </p:nvSpPr>
          <p:spPr>
            <a:xfrm>
              <a:off x="7134225" y="2819400"/>
              <a:ext cx="44196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縦横を同じ目盛で描く＝リードタイムの大半が滞留だと一目で分かる</a:t>
              </a:r>
            </a:p>
          </p:txBody>
        </p:sp>
      </p:grpSp>
      <p:sp>
        <p:nvSpPr>
          <p:cNvPr id="58" name="Rectangle 57"/>
          <p:cNvSpPr/>
          <p:nvPr/>
        </p:nvSpPr>
        <p:spPr>
          <a:xfrm>
            <a:off x="6219825" y="33337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44 実稼働vs滞留｜構造：比較（縦横を同一目盛のL字帯で。朱＝短縮余地）</a:t>
            </a:r>
          </a:p>
        </p:txBody>
      </p:sp>
      <p:grpSp>
        <p:nvGrpSpPr>
          <p:cNvPr id="59" name="図解45_面積図BeforeAfter"/>
          <p:cNvGrpSpPr/>
          <p:nvPr/>
        </p:nvGrpSpPr>
        <p:grpSpPr>
          <a:xfrm>
            <a:off x="638175" y="4000500"/>
            <a:ext cx="4933950" cy="2076450"/>
            <a:chOff x="638175" y="4000500"/>
            <a:chExt cx="4933950" cy="2076450"/>
          </a:xfrm>
        </p:grpSpPr>
        <p:sp>
          <p:nvSpPr>
            <p:cNvPr id="60" name="現状タイトル"/>
            <p:cNvSpPr/>
            <p:nvPr/>
          </p:nvSpPr>
          <p:spPr>
            <a:xfrm>
              <a:off x="733425" y="4000500"/>
              <a:ext cx="18288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現状</a:t>
              </a:r>
            </a:p>
          </p:txBody>
        </p:sp>
        <p:sp>
          <p:nvSpPr>
            <p:cNvPr id="61" name="現状_項目A"/>
            <p:cNvSpPr/>
            <p:nvPr/>
          </p:nvSpPr>
          <p:spPr>
            <a:xfrm>
              <a:off x="733425" y="4229100"/>
              <a:ext cx="819150" cy="1428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現状_値A"/>
            <p:cNvSpPr/>
            <p:nvPr/>
          </p:nvSpPr>
          <p:spPr>
            <a:xfrm>
              <a:off x="733425" y="4286250"/>
              <a:ext cx="8191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lt1"/>
                  </a:solidFill>
                </a:rPr>
                <a:t>50%</a:t>
              </a:r>
            </a:p>
          </p:txBody>
        </p:sp>
        <p:sp>
          <p:nvSpPr>
            <p:cNvPr id="63" name="現状_名A"/>
            <p:cNvSpPr/>
            <p:nvPr/>
          </p:nvSpPr>
          <p:spPr>
            <a:xfrm>
              <a:off x="638175" y="5715000"/>
              <a:ext cx="10096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項目A</a:t>
              </a:r>
            </a:p>
          </p:txBody>
        </p:sp>
        <p:sp>
          <p:nvSpPr>
            <p:cNvPr id="64" name="現状_項目B"/>
            <p:cNvSpPr/>
            <p:nvPr/>
          </p:nvSpPr>
          <p:spPr>
            <a:xfrm>
              <a:off x="1552575" y="4591050"/>
              <a:ext cx="552450" cy="10668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現状_値B"/>
            <p:cNvSpPr/>
            <p:nvPr/>
          </p:nvSpPr>
          <p:spPr>
            <a:xfrm>
              <a:off x="1552575" y="4648200"/>
              <a:ext cx="5524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dk2"/>
                  </a:solidFill>
                </a:rPr>
                <a:t>30%</a:t>
              </a:r>
            </a:p>
          </p:txBody>
        </p:sp>
        <p:sp>
          <p:nvSpPr>
            <p:cNvPr id="66" name="現状_名B"/>
            <p:cNvSpPr/>
            <p:nvPr/>
          </p:nvSpPr>
          <p:spPr>
            <a:xfrm>
              <a:off x="1457325" y="5715000"/>
              <a:ext cx="7429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項目B</a:t>
              </a:r>
            </a:p>
          </p:txBody>
        </p:sp>
        <p:sp>
          <p:nvSpPr>
            <p:cNvPr id="67" name="現状_項目C"/>
            <p:cNvSpPr/>
            <p:nvPr/>
          </p:nvSpPr>
          <p:spPr>
            <a:xfrm>
              <a:off x="2105025" y="4857750"/>
              <a:ext cx="457200" cy="800100"/>
            </a:xfrm>
            <a:prstGeom prst="rect">
              <a:avLst/>
            </a:prstGeom>
            <a:solidFill>
              <a:schemeClr val="lt2"/>
            </a:solidFill>
            <a:ln w="11906">
              <a:solidFill>
                <a:schemeClr val="accent5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現状_値C"/>
            <p:cNvSpPr/>
            <p:nvPr/>
          </p:nvSpPr>
          <p:spPr>
            <a:xfrm>
              <a:off x="2105025" y="4914900"/>
              <a:ext cx="457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accent5"/>
                  </a:solidFill>
                </a:rPr>
                <a:t>20%</a:t>
              </a:r>
            </a:p>
          </p:txBody>
        </p:sp>
        <p:sp>
          <p:nvSpPr>
            <p:cNvPr id="69" name="現状_名C"/>
            <p:cNvSpPr/>
            <p:nvPr/>
          </p:nvSpPr>
          <p:spPr>
            <a:xfrm>
              <a:off x="2009775" y="5715000"/>
              <a:ext cx="6477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項目C</a:t>
              </a:r>
            </a:p>
          </p:txBody>
        </p:sp>
        <p:cxnSp>
          <p:nvCxnSpPr>
            <p:cNvPr id="70" name="現状基準線"/>
            <p:cNvCxnSpPr/>
            <p:nvPr/>
          </p:nvCxnSpPr>
          <p:spPr>
            <a:xfrm>
              <a:off x="733425" y="5657850"/>
              <a:ext cx="1828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変換矢印"/>
            <p:cNvSpPr/>
            <p:nvPr/>
          </p:nvSpPr>
          <p:spPr>
            <a:xfrm>
              <a:off x="2790825" y="4819650"/>
              <a:ext cx="723900" cy="381000"/>
            </a:xfrm>
            <a:prstGeom prst="rightArrow">
              <a:avLst>
                <a:gd name="adj1" fmla="val 50000"/>
                <a:gd name="adj2" fmla="val 35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矢印ラベル"/>
            <p:cNvSpPr/>
            <p:nvPr/>
          </p:nvSpPr>
          <p:spPr>
            <a:xfrm>
              <a:off x="2790825" y="4629150"/>
              <a:ext cx="7239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再配分</a:t>
              </a:r>
            </a:p>
          </p:txBody>
        </p:sp>
        <p:sp>
          <p:nvSpPr>
            <p:cNvPr id="73" name="今後タイトル"/>
            <p:cNvSpPr/>
            <p:nvPr/>
          </p:nvSpPr>
          <p:spPr>
            <a:xfrm>
              <a:off x="3743325" y="4000500"/>
              <a:ext cx="18288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今後</a:t>
              </a:r>
            </a:p>
          </p:txBody>
        </p:sp>
        <p:sp>
          <p:nvSpPr>
            <p:cNvPr id="74" name="今後_項目A"/>
            <p:cNvSpPr/>
            <p:nvPr/>
          </p:nvSpPr>
          <p:spPr>
            <a:xfrm>
              <a:off x="3743325" y="4229100"/>
              <a:ext cx="819150" cy="1428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今後_値A"/>
            <p:cNvSpPr/>
            <p:nvPr/>
          </p:nvSpPr>
          <p:spPr>
            <a:xfrm>
              <a:off x="3743325" y="4286250"/>
              <a:ext cx="8191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lt1"/>
                  </a:solidFill>
                </a:rPr>
                <a:t>55%</a:t>
              </a:r>
            </a:p>
          </p:txBody>
        </p:sp>
        <p:sp>
          <p:nvSpPr>
            <p:cNvPr id="76" name="今後_名A"/>
            <p:cNvSpPr/>
            <p:nvPr/>
          </p:nvSpPr>
          <p:spPr>
            <a:xfrm>
              <a:off x="3648075" y="5715000"/>
              <a:ext cx="10096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項目A</a:t>
              </a:r>
            </a:p>
          </p:txBody>
        </p:sp>
        <p:sp>
          <p:nvSpPr>
            <p:cNvPr id="77" name="今後_項目B"/>
            <p:cNvSpPr/>
            <p:nvPr/>
          </p:nvSpPr>
          <p:spPr>
            <a:xfrm>
              <a:off x="4562475" y="4324350"/>
              <a:ext cx="552450" cy="133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今後_値B"/>
            <p:cNvSpPr/>
            <p:nvPr/>
          </p:nvSpPr>
          <p:spPr>
            <a:xfrm>
              <a:off x="4562475" y="4381500"/>
              <a:ext cx="5524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dk2"/>
                  </a:solidFill>
                </a:rPr>
                <a:t>35%</a:t>
              </a:r>
            </a:p>
          </p:txBody>
        </p:sp>
        <p:sp>
          <p:nvSpPr>
            <p:cNvPr id="79" name="今後_名B"/>
            <p:cNvSpPr/>
            <p:nvPr/>
          </p:nvSpPr>
          <p:spPr>
            <a:xfrm>
              <a:off x="4467225" y="5715000"/>
              <a:ext cx="7429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項目B</a:t>
              </a:r>
            </a:p>
          </p:txBody>
        </p:sp>
        <p:sp>
          <p:nvSpPr>
            <p:cNvPr id="80" name="今後_項目C"/>
            <p:cNvSpPr/>
            <p:nvPr/>
          </p:nvSpPr>
          <p:spPr>
            <a:xfrm>
              <a:off x="5114925" y="5124450"/>
              <a:ext cx="266700" cy="533400"/>
            </a:xfrm>
            <a:prstGeom prst="rect">
              <a:avLst/>
            </a:prstGeom>
            <a:solidFill>
              <a:schemeClr val="lt2"/>
            </a:solidFill>
            <a:ln w="11906">
              <a:solidFill>
                <a:schemeClr val="accent5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今後_値C"/>
            <p:cNvSpPr/>
            <p:nvPr/>
          </p:nvSpPr>
          <p:spPr>
            <a:xfrm>
              <a:off x="5114925" y="5181600"/>
              <a:ext cx="2667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accent5"/>
                  </a:solidFill>
                </a:rPr>
                <a:t>10%</a:t>
              </a:r>
            </a:p>
          </p:txBody>
        </p:sp>
        <p:sp>
          <p:nvSpPr>
            <p:cNvPr id="82" name="今後_名C"/>
            <p:cNvSpPr/>
            <p:nvPr/>
          </p:nvSpPr>
          <p:spPr>
            <a:xfrm>
              <a:off x="5019675" y="5715000"/>
              <a:ext cx="4572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項目C</a:t>
              </a:r>
            </a:p>
          </p:txBody>
        </p:sp>
        <p:cxnSp>
          <p:nvCxnSpPr>
            <p:cNvPr id="83" name="今後基準線"/>
            <p:cNvCxnSpPr/>
            <p:nvPr/>
          </p:nvCxnSpPr>
          <p:spPr>
            <a:xfrm>
              <a:off x="3743325" y="5657850"/>
              <a:ext cx="1828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凡例_維持"/>
            <p:cNvSpPr/>
            <p:nvPr/>
          </p:nvSpPr>
          <p:spPr>
            <a:xfrm>
              <a:off x="1533525" y="5962650"/>
              <a:ext cx="114300" cy="11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凡例名_維持"/>
            <p:cNvSpPr/>
            <p:nvPr/>
          </p:nvSpPr>
          <p:spPr>
            <a:xfrm>
              <a:off x="1704975" y="594360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維持</a:t>
              </a:r>
            </a:p>
          </p:txBody>
        </p:sp>
        <p:sp>
          <p:nvSpPr>
            <p:cNvPr id="86" name="凡例_転換"/>
            <p:cNvSpPr/>
            <p:nvPr/>
          </p:nvSpPr>
          <p:spPr>
            <a:xfrm>
              <a:off x="2638425" y="5962650"/>
              <a:ext cx="114300" cy="114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凡例名_転換"/>
            <p:cNvSpPr/>
            <p:nvPr/>
          </p:nvSpPr>
          <p:spPr>
            <a:xfrm>
              <a:off x="2809875" y="594360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転換</a:t>
              </a:r>
            </a:p>
          </p:txBody>
        </p:sp>
        <p:sp>
          <p:nvSpPr>
            <p:cNvPr id="88" name="凡例_縮小"/>
            <p:cNvSpPr/>
            <p:nvPr/>
          </p:nvSpPr>
          <p:spPr>
            <a:xfrm>
              <a:off x="3743325" y="5962650"/>
              <a:ext cx="114300" cy="114300"/>
            </a:xfrm>
            <a:prstGeom prst="rect">
              <a:avLst/>
            </a:prstGeom>
            <a:solidFill>
              <a:schemeClr val="lt2"/>
            </a:solidFill>
            <a:ln w="11906">
              <a:solidFill>
                <a:schemeClr val="accent5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凡例名_縮小"/>
            <p:cNvSpPr/>
            <p:nvPr/>
          </p:nvSpPr>
          <p:spPr>
            <a:xfrm>
              <a:off x="3914775" y="594360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縮小</a:t>
              </a:r>
            </a:p>
          </p:txBody>
        </p:sp>
      </p:grpSp>
      <p:sp>
        <p:nvSpPr>
          <p:cNvPr id="90" name="Rectangle 89"/>
          <p:cNvSpPr/>
          <p:nvPr/>
        </p:nvSpPr>
        <p:spPr>
          <a:xfrm>
            <a:off x="390525" y="62674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45 面積図Before/After｜構造：問題解決（維持・転換・縮小の濃淡で再配分）</a:t>
            </a:r>
          </a:p>
        </p:txBody>
      </p:sp>
      <p:grpSp>
        <p:nvGrpSpPr>
          <p:cNvPr id="91" name="図解46_面積図残像"/>
          <p:cNvGrpSpPr/>
          <p:nvPr/>
        </p:nvGrpSpPr>
        <p:grpSpPr>
          <a:xfrm>
            <a:off x="6981825" y="4000500"/>
            <a:ext cx="4476750" cy="2076450"/>
            <a:chOff x="6981825" y="4000500"/>
            <a:chExt cx="4476750" cy="2076450"/>
          </a:xfrm>
        </p:grpSpPr>
        <p:sp>
          <p:nvSpPr>
            <p:cNvPr id="92" name="残像注記"/>
            <p:cNvSpPr/>
            <p:nvPr/>
          </p:nvSpPr>
          <p:spPr>
            <a:xfrm>
              <a:off x="9077325" y="4000500"/>
              <a:ext cx="23812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点線＝前期の輪郭（残像）</a:t>
              </a:r>
            </a:p>
          </p:txBody>
        </p:sp>
        <p:sp>
          <p:nvSpPr>
            <p:cNvPr id="93" name="当期_項目A"/>
            <p:cNvSpPr/>
            <p:nvPr/>
          </p:nvSpPr>
          <p:spPr>
            <a:xfrm>
              <a:off x="7267575" y="4324350"/>
              <a:ext cx="914400" cy="133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前期輪郭_項目A"/>
            <p:cNvSpPr/>
            <p:nvPr/>
          </p:nvSpPr>
          <p:spPr>
            <a:xfrm>
              <a:off x="7267575" y="4591050"/>
              <a:ext cx="742950" cy="1066800"/>
            </a:xfrm>
            <a:prstGeom prst="rect">
              <a:avLst/>
            </a:prstGeom>
            <a:noFill/>
            <a:ln w="11906">
              <a:solidFill>
                <a:schemeClr val="lt1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差分_項目A"/>
            <p:cNvSpPr/>
            <p:nvPr/>
          </p:nvSpPr>
          <p:spPr>
            <a:xfrm>
              <a:off x="7267575" y="4133850"/>
              <a:ext cx="9144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+24%</a:t>
              </a:r>
            </a:p>
          </p:txBody>
        </p:sp>
        <p:sp>
          <p:nvSpPr>
            <p:cNvPr id="96" name="名_項目A"/>
            <p:cNvSpPr/>
            <p:nvPr/>
          </p:nvSpPr>
          <p:spPr>
            <a:xfrm>
              <a:off x="7267575" y="5715000"/>
              <a:ext cx="9144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項目A</a:t>
              </a:r>
            </a:p>
          </p:txBody>
        </p:sp>
        <p:sp>
          <p:nvSpPr>
            <p:cNvPr id="97" name="当期_項目B"/>
            <p:cNvSpPr/>
            <p:nvPr/>
          </p:nvSpPr>
          <p:spPr>
            <a:xfrm>
              <a:off x="9363075" y="4781550"/>
              <a:ext cx="762000" cy="876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前期輪郭_項目B"/>
            <p:cNvSpPr/>
            <p:nvPr/>
          </p:nvSpPr>
          <p:spPr>
            <a:xfrm>
              <a:off x="9363075" y="4457700"/>
              <a:ext cx="971550" cy="1200150"/>
            </a:xfrm>
            <a:prstGeom prst="rect">
              <a:avLst/>
            </a:prstGeom>
            <a:noFill/>
            <a:ln w="11906">
              <a:solidFill>
                <a:schemeClr val="dk2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差分_項目B"/>
            <p:cNvSpPr/>
            <p:nvPr/>
          </p:nvSpPr>
          <p:spPr>
            <a:xfrm>
              <a:off x="9363075" y="4267200"/>
              <a:ext cx="9715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−18%</a:t>
              </a:r>
            </a:p>
          </p:txBody>
        </p:sp>
        <p:sp>
          <p:nvSpPr>
            <p:cNvPr id="100" name="名_項目B"/>
            <p:cNvSpPr/>
            <p:nvPr/>
          </p:nvSpPr>
          <p:spPr>
            <a:xfrm>
              <a:off x="9363075" y="5715000"/>
              <a:ext cx="9715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項目B</a:t>
              </a:r>
            </a:p>
          </p:txBody>
        </p:sp>
        <p:cxnSp>
          <p:nvCxnSpPr>
            <p:cNvPr id="101" name="基準線"/>
            <p:cNvCxnSpPr/>
            <p:nvPr/>
          </p:nvCxnSpPr>
          <p:spPr>
            <a:xfrm>
              <a:off x="6981825" y="5657850"/>
              <a:ext cx="40576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軸注記"/>
            <p:cNvSpPr/>
            <p:nvPr/>
          </p:nvSpPr>
          <p:spPr>
            <a:xfrm>
              <a:off x="6981825" y="5943600"/>
              <a:ext cx="4000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横幅＝規模・高さ＝単価（面積＝金額）。差分だけを読ませる</a:t>
              </a:r>
            </a:p>
          </p:txBody>
        </p:sp>
      </p:grpSp>
      <p:sp>
        <p:nvSpPr>
          <p:cNvPr id="103" name="Rectangle 102"/>
          <p:cNvSpPr/>
          <p:nvPr/>
        </p:nvSpPr>
        <p:spPr>
          <a:xfrm>
            <a:off x="6219825" y="62674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46 面積図の時系列残像｜構造：比較（点線＝前時点の輪郭。差分を読ませる）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72390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パーツ図鑑｜⑥ 図解パターン 量と流れ — 散布図応用2種＋価値の地図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破線＝基準・輪郭・未確定の意味で統一</a:t>
            </a:r>
          </a:p>
        </p:txBody>
      </p:sp>
      <p:grpSp>
        <p:nvGrpSpPr>
          <p:cNvPr id="5" name="図解47_散布図等高線"/>
          <p:cNvGrpSpPr/>
          <p:nvPr/>
        </p:nvGrpSpPr>
        <p:grpSpPr>
          <a:xfrm>
            <a:off x="1057275" y="952500"/>
            <a:ext cx="4171950" cy="2114550"/>
            <a:chOff x="1057275" y="952500"/>
            <a:chExt cx="4171950" cy="2114550"/>
          </a:xfrm>
        </p:grpSpPr>
        <p:cxnSp>
          <p:nvCxnSpPr>
            <p:cNvPr id="6" name="縦軸"/>
            <p:cNvCxnSpPr/>
            <p:nvPr/>
          </p:nvCxnSpPr>
          <p:spPr>
            <a:xfrm flipV="1">
              <a:off x="1266825" y="1104900"/>
              <a:ext cx="0" cy="1752600"/>
            </a:xfrm>
            <a:prstGeom prst="bentConnector3">
              <a:avLst/>
            </a:prstGeom>
            <a:ln w="14287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横軸"/>
            <p:cNvCxnSpPr/>
            <p:nvPr/>
          </p:nvCxnSpPr>
          <p:spPr>
            <a:xfrm>
              <a:off x="1266825" y="2857500"/>
              <a:ext cx="3886200" cy="0"/>
            </a:xfrm>
            <a:prstGeom prst="bentConnector3">
              <a:avLst/>
            </a:prstGeom>
            <a:ln w="14287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縦軸名"/>
            <p:cNvSpPr/>
            <p:nvPr/>
          </p:nvSpPr>
          <p:spPr>
            <a:xfrm>
              <a:off x="1343025" y="952500"/>
              <a:ext cx="1524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機会の大きさ（縦）</a:t>
              </a:r>
            </a:p>
          </p:txBody>
        </p:sp>
        <p:sp>
          <p:nvSpPr>
            <p:cNvPr id="9" name="横軸名"/>
            <p:cNvSpPr/>
            <p:nvPr/>
          </p:nvSpPr>
          <p:spPr>
            <a:xfrm>
              <a:off x="2600325" y="2933700"/>
              <a:ext cx="1143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必要努力（横）</a:t>
              </a:r>
            </a:p>
          </p:txBody>
        </p:sp>
        <p:sp>
          <p:nvSpPr>
            <p:cNvPr id="10" name="高1"/>
            <p:cNvSpPr/>
            <p:nvPr/>
          </p:nvSpPr>
          <p:spPr>
            <a:xfrm>
              <a:off x="1057275" y="1162050"/>
              <a:ext cx="17145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高</a:t>
              </a:r>
            </a:p>
          </p:txBody>
        </p:sp>
        <p:sp>
          <p:nvSpPr>
            <p:cNvPr id="11" name="高2"/>
            <p:cNvSpPr/>
            <p:nvPr/>
          </p:nvSpPr>
          <p:spPr>
            <a:xfrm>
              <a:off x="5057775" y="2933700"/>
              <a:ext cx="17145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高</a:t>
              </a:r>
            </a:p>
          </p:txBody>
        </p:sp>
        <p:cxnSp>
          <p:nvCxnSpPr>
            <p:cNvPr id="12" name="基準ライン低"/>
            <p:cNvCxnSpPr/>
            <p:nvPr/>
          </p:nvCxnSpPr>
          <p:spPr>
            <a:xfrm>
              <a:off x="1266825" y="2095500"/>
              <a:ext cx="2190750" cy="762000"/>
            </a:xfrm>
            <a:prstGeom prst="bentConnector3">
              <a:avLst/>
            </a:prstGeom>
            <a:ln w="11906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基準ライン高"/>
            <p:cNvCxnSpPr/>
            <p:nvPr/>
          </p:nvCxnSpPr>
          <p:spPr>
            <a:xfrm>
              <a:off x="2219325" y="1181100"/>
              <a:ext cx="2857500" cy="990600"/>
            </a:xfrm>
            <a:prstGeom prst="bentConnector3">
              <a:avLst/>
            </a:prstGeom>
            <a:ln w="11906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ゾーン優先"/>
            <p:cNvSpPr/>
            <p:nvPr/>
          </p:nvSpPr>
          <p:spPr>
            <a:xfrm>
              <a:off x="1343025" y="1257300"/>
              <a:ext cx="1047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 b="1">
                  <a:solidFill>
                    <a:schemeClr val="dk2"/>
                  </a:solidFill>
                </a:rPr>
                <a:t>優先ゾーン</a:t>
              </a:r>
            </a:p>
          </p:txBody>
        </p:sp>
        <p:sp>
          <p:nvSpPr>
            <p:cNvPr id="15" name="ゾーン見送り"/>
            <p:cNvSpPr/>
            <p:nvPr/>
          </p:nvSpPr>
          <p:spPr>
            <a:xfrm>
              <a:off x="4276725" y="2609850"/>
              <a:ext cx="762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見送り</a:t>
              </a:r>
            </a:p>
          </p:txBody>
        </p:sp>
        <p:sp>
          <p:nvSpPr>
            <p:cNvPr id="16" name="点_対象A"/>
            <p:cNvSpPr/>
            <p:nvPr/>
          </p:nvSpPr>
          <p:spPr>
            <a:xfrm>
              <a:off x="1871662" y="1500187"/>
              <a:ext cx="123825" cy="12382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名_対象A"/>
            <p:cNvSpPr/>
            <p:nvPr/>
          </p:nvSpPr>
          <p:spPr>
            <a:xfrm>
              <a:off x="2019300" y="1504950"/>
              <a:ext cx="4381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 b="1">
                  <a:solidFill>
                    <a:schemeClr val="dk2"/>
                  </a:solidFill>
                </a:rPr>
                <a:t>対象A</a:t>
              </a:r>
            </a:p>
          </p:txBody>
        </p:sp>
        <p:sp>
          <p:nvSpPr>
            <p:cNvPr id="18" name="点_対象B"/>
            <p:cNvSpPr/>
            <p:nvPr/>
          </p:nvSpPr>
          <p:spPr>
            <a:xfrm>
              <a:off x="2347912" y="1785937"/>
              <a:ext cx="123825" cy="12382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名_対象B"/>
            <p:cNvSpPr/>
            <p:nvPr/>
          </p:nvSpPr>
          <p:spPr>
            <a:xfrm>
              <a:off x="2495550" y="1790700"/>
              <a:ext cx="4381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 b="1">
                  <a:solidFill>
                    <a:schemeClr val="dk2"/>
                  </a:solidFill>
                </a:rPr>
                <a:t>対象B</a:t>
              </a:r>
            </a:p>
          </p:txBody>
        </p:sp>
        <p:sp>
          <p:nvSpPr>
            <p:cNvPr id="20" name="点_対象C"/>
            <p:cNvSpPr/>
            <p:nvPr/>
          </p:nvSpPr>
          <p:spPr>
            <a:xfrm>
              <a:off x="3119437" y="1985962"/>
              <a:ext cx="104775" cy="10477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名_対象C"/>
            <p:cNvSpPr/>
            <p:nvPr/>
          </p:nvSpPr>
          <p:spPr>
            <a:xfrm>
              <a:off x="3257550" y="1981200"/>
              <a:ext cx="4381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対象C</a:t>
              </a:r>
            </a:p>
          </p:txBody>
        </p:sp>
        <p:sp>
          <p:nvSpPr>
            <p:cNvPr id="22" name="点_対象D"/>
            <p:cNvSpPr/>
            <p:nvPr/>
          </p:nvSpPr>
          <p:spPr>
            <a:xfrm>
              <a:off x="3595687" y="2366962"/>
              <a:ext cx="104775" cy="10477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名_対象D"/>
            <p:cNvSpPr/>
            <p:nvPr/>
          </p:nvSpPr>
          <p:spPr>
            <a:xfrm>
              <a:off x="3733800" y="2362200"/>
              <a:ext cx="4381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対象D</a:t>
              </a:r>
            </a:p>
          </p:txBody>
        </p:sp>
        <p:sp>
          <p:nvSpPr>
            <p:cNvPr id="24" name="点_対象E"/>
            <p:cNvSpPr/>
            <p:nvPr/>
          </p:nvSpPr>
          <p:spPr>
            <a:xfrm>
              <a:off x="1785937" y="2557462"/>
              <a:ext cx="104775" cy="10477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名_対象E"/>
            <p:cNvSpPr/>
            <p:nvPr/>
          </p:nvSpPr>
          <p:spPr>
            <a:xfrm>
              <a:off x="1924050" y="2552700"/>
              <a:ext cx="4381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対象E</a:t>
              </a:r>
            </a:p>
          </p:txBody>
        </p:sp>
        <p:sp>
          <p:nvSpPr>
            <p:cNvPr id="26" name="点_対象F"/>
            <p:cNvSpPr/>
            <p:nvPr/>
          </p:nvSpPr>
          <p:spPr>
            <a:xfrm>
              <a:off x="4452937" y="1738312"/>
              <a:ext cx="104775" cy="10477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名_対象F"/>
            <p:cNvSpPr/>
            <p:nvPr/>
          </p:nvSpPr>
          <p:spPr>
            <a:xfrm>
              <a:off x="4591050" y="1733550"/>
              <a:ext cx="4381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対象F</a:t>
              </a:r>
            </a:p>
          </p:txBody>
        </p:sp>
        <p:cxnSp>
          <p:nvCxnSpPr>
            <p:cNvPr id="28" name="方向矢印"/>
            <p:cNvCxnSpPr/>
            <p:nvPr/>
          </p:nvCxnSpPr>
          <p:spPr>
            <a:xfrm flipH="1" flipV="1">
              <a:off x="3267075" y="1619250"/>
              <a:ext cx="857250" cy="704850"/>
            </a:xfrm>
            <a:prstGeom prst="bentConnector3">
              <a:avLst/>
            </a:prstGeom>
            <a:ln w="23812">
              <a:solidFill>
                <a:schemeClr val="accent2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方向ラベル"/>
            <p:cNvSpPr/>
            <p:nvPr/>
          </p:nvSpPr>
          <p:spPr>
            <a:xfrm>
              <a:off x="4086225" y="2381250"/>
              <a:ext cx="8572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 b="1">
                  <a:solidFill>
                    <a:schemeClr val="accent2"/>
                  </a:solidFill>
                </a:rPr>
                <a:t>狙う方向</a:t>
              </a:r>
            </a:p>
          </p:txBody>
        </p:sp>
      </p:grpSp>
      <p:sp>
        <p:nvSpPr>
          <p:cNvPr id="30" name="Rectangle 29"/>
          <p:cNvSpPr/>
          <p:nvPr/>
        </p:nvSpPr>
        <p:spPr>
          <a:xfrm>
            <a:off x="390525" y="33337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47 散布図＋等高線｜構造：比較（基準ラインで点群を意味づけ・矢印で方向）</a:t>
            </a:r>
          </a:p>
        </p:txBody>
      </p:sp>
      <p:grpSp>
        <p:nvGrpSpPr>
          <p:cNvPr id="31" name="図解48_期間線分プロット"/>
          <p:cNvGrpSpPr/>
          <p:nvPr/>
        </p:nvGrpSpPr>
        <p:grpSpPr>
          <a:xfrm>
            <a:off x="6905625" y="914400"/>
            <a:ext cx="4381500" cy="2286000"/>
            <a:chOff x="6905625" y="914400"/>
            <a:chExt cx="4381500" cy="2286000"/>
          </a:xfrm>
        </p:grpSpPr>
        <p:cxnSp>
          <p:nvCxnSpPr>
            <p:cNvPr id="32" name="縦軸"/>
            <p:cNvCxnSpPr/>
            <p:nvPr/>
          </p:nvCxnSpPr>
          <p:spPr>
            <a:xfrm flipV="1">
              <a:off x="7096125" y="1066800"/>
              <a:ext cx="0" cy="1752600"/>
            </a:xfrm>
            <a:prstGeom prst="bentConnector3">
              <a:avLst/>
            </a:prstGeom>
            <a:ln w="14287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横軸"/>
            <p:cNvCxnSpPr/>
            <p:nvPr/>
          </p:nvCxnSpPr>
          <p:spPr>
            <a:xfrm>
              <a:off x="7096125" y="2819400"/>
              <a:ext cx="4076700" cy="0"/>
            </a:xfrm>
            <a:prstGeom prst="bentConnector3">
              <a:avLst/>
            </a:prstGeom>
            <a:ln w="14287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縦軸名"/>
            <p:cNvSpPr/>
            <p:nvPr/>
          </p:nvSpPr>
          <p:spPr>
            <a:xfrm>
              <a:off x="7172325" y="914400"/>
              <a:ext cx="12382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価格帯（縦）</a:t>
              </a:r>
            </a:p>
          </p:txBody>
        </p:sp>
        <p:sp>
          <p:nvSpPr>
            <p:cNvPr id="35" name="凡例"/>
            <p:cNvSpPr/>
            <p:nvPr/>
          </p:nvSpPr>
          <p:spPr>
            <a:xfrm>
              <a:off x="9286875" y="914400"/>
              <a:ext cx="1809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●＝投入　○＝終売</a:t>
              </a:r>
            </a:p>
          </p:txBody>
        </p:sp>
        <p:sp>
          <p:nvSpPr>
            <p:cNvPr id="36" name="目盛1"/>
            <p:cNvSpPr/>
            <p:nvPr/>
          </p:nvSpPr>
          <p:spPr>
            <a:xfrm>
              <a:off x="6905625" y="2895600"/>
              <a:ext cx="38100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1期</a:t>
              </a:r>
            </a:p>
          </p:txBody>
        </p:sp>
        <p:sp>
          <p:nvSpPr>
            <p:cNvPr id="37" name="目盛2"/>
            <p:cNvSpPr/>
            <p:nvPr/>
          </p:nvSpPr>
          <p:spPr>
            <a:xfrm>
              <a:off x="7705725" y="2895600"/>
              <a:ext cx="38100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2期</a:t>
              </a:r>
            </a:p>
          </p:txBody>
        </p:sp>
        <p:sp>
          <p:nvSpPr>
            <p:cNvPr id="38" name="目盛3"/>
            <p:cNvSpPr/>
            <p:nvPr/>
          </p:nvSpPr>
          <p:spPr>
            <a:xfrm>
              <a:off x="8505825" y="2895600"/>
              <a:ext cx="38100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3期</a:t>
              </a:r>
            </a:p>
          </p:txBody>
        </p:sp>
        <p:sp>
          <p:nvSpPr>
            <p:cNvPr id="39" name="目盛4"/>
            <p:cNvSpPr/>
            <p:nvPr/>
          </p:nvSpPr>
          <p:spPr>
            <a:xfrm>
              <a:off x="9305925" y="2895600"/>
              <a:ext cx="38100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4期</a:t>
              </a:r>
            </a:p>
          </p:txBody>
        </p:sp>
        <p:sp>
          <p:nvSpPr>
            <p:cNvPr id="40" name="目盛5"/>
            <p:cNvSpPr/>
            <p:nvPr/>
          </p:nvSpPr>
          <p:spPr>
            <a:xfrm>
              <a:off x="10106025" y="2895600"/>
              <a:ext cx="38100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5期</a:t>
              </a:r>
            </a:p>
          </p:txBody>
        </p:sp>
        <p:sp>
          <p:nvSpPr>
            <p:cNvPr id="41" name="目盛6"/>
            <p:cNvSpPr/>
            <p:nvPr/>
          </p:nvSpPr>
          <p:spPr>
            <a:xfrm>
              <a:off x="10906125" y="2895600"/>
              <a:ext cx="38100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6期</a:t>
              </a:r>
            </a:p>
          </p:txBody>
        </p:sp>
        <p:cxnSp>
          <p:nvCxnSpPr>
            <p:cNvPr id="42" name="期間_対象A"/>
            <p:cNvCxnSpPr/>
            <p:nvPr/>
          </p:nvCxnSpPr>
          <p:spPr>
            <a:xfrm>
              <a:off x="7176135" y="1409700"/>
              <a:ext cx="2000250" cy="0"/>
            </a:xfrm>
            <a:prstGeom prst="bentConnector3">
              <a:avLst/>
            </a:prstGeom>
            <a:ln w="19050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投入_対象A"/>
            <p:cNvSpPr/>
            <p:nvPr/>
          </p:nvSpPr>
          <p:spPr>
            <a:xfrm>
              <a:off x="7128510" y="13620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終売_対象A"/>
            <p:cNvSpPr/>
            <p:nvPr/>
          </p:nvSpPr>
          <p:spPr>
            <a:xfrm>
              <a:off x="9128760" y="1362075"/>
              <a:ext cx="95250" cy="95250"/>
            </a:xfrm>
            <a:prstGeom prst="ellipse">
              <a:avLst/>
            </a:prstGeom>
            <a:solidFill>
              <a:schemeClr val="lt1"/>
            </a:solidFill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名_対象A"/>
            <p:cNvSpPr/>
            <p:nvPr/>
          </p:nvSpPr>
          <p:spPr>
            <a:xfrm>
              <a:off x="7118985" y="1228725"/>
              <a:ext cx="57150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対象A</a:t>
              </a:r>
            </a:p>
          </p:txBody>
        </p:sp>
        <p:cxnSp>
          <p:nvCxnSpPr>
            <p:cNvPr id="46" name="期間_対象B"/>
            <p:cNvCxnSpPr/>
            <p:nvPr/>
          </p:nvCxnSpPr>
          <p:spPr>
            <a:xfrm>
              <a:off x="7816215" y="1752600"/>
              <a:ext cx="1040130" cy="0"/>
            </a:xfrm>
            <a:prstGeom prst="bentConnector3">
              <a:avLst/>
            </a:prstGeom>
            <a:ln w="19050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投入_対象B"/>
            <p:cNvSpPr/>
            <p:nvPr/>
          </p:nvSpPr>
          <p:spPr>
            <a:xfrm>
              <a:off x="7768590" y="17049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終売_対象B"/>
            <p:cNvSpPr/>
            <p:nvPr/>
          </p:nvSpPr>
          <p:spPr>
            <a:xfrm>
              <a:off x="8808720" y="1704975"/>
              <a:ext cx="95250" cy="95250"/>
            </a:xfrm>
            <a:prstGeom prst="ellipse">
              <a:avLst/>
            </a:prstGeom>
            <a:solidFill>
              <a:schemeClr val="lt1"/>
            </a:solidFill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名_対象B"/>
            <p:cNvSpPr/>
            <p:nvPr/>
          </p:nvSpPr>
          <p:spPr>
            <a:xfrm>
              <a:off x="7759065" y="1571625"/>
              <a:ext cx="57150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対象B</a:t>
              </a:r>
            </a:p>
          </p:txBody>
        </p:sp>
        <p:cxnSp>
          <p:nvCxnSpPr>
            <p:cNvPr id="50" name="期間_対象E"/>
            <p:cNvCxnSpPr/>
            <p:nvPr/>
          </p:nvCxnSpPr>
          <p:spPr>
            <a:xfrm>
              <a:off x="9816465" y="1581150"/>
              <a:ext cx="1280160" cy="0"/>
            </a:xfrm>
            <a:prstGeom prst="bentConnector3">
              <a:avLst/>
            </a:prstGeom>
            <a:ln w="19050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投入_対象E"/>
            <p:cNvSpPr/>
            <p:nvPr/>
          </p:nvSpPr>
          <p:spPr>
            <a:xfrm>
              <a:off x="9768840" y="153352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終売_対象E"/>
            <p:cNvSpPr/>
            <p:nvPr/>
          </p:nvSpPr>
          <p:spPr>
            <a:xfrm>
              <a:off x="11049000" y="1533525"/>
              <a:ext cx="95250" cy="95250"/>
            </a:xfrm>
            <a:prstGeom prst="ellipse">
              <a:avLst/>
            </a:prstGeom>
            <a:solidFill>
              <a:schemeClr val="lt1"/>
            </a:solidFill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名_対象E"/>
            <p:cNvSpPr/>
            <p:nvPr/>
          </p:nvSpPr>
          <p:spPr>
            <a:xfrm>
              <a:off x="9759315" y="1400175"/>
              <a:ext cx="57150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対象E</a:t>
              </a:r>
            </a:p>
          </p:txBody>
        </p:sp>
        <p:cxnSp>
          <p:nvCxnSpPr>
            <p:cNvPr id="54" name="期間_対象C"/>
            <p:cNvCxnSpPr/>
            <p:nvPr/>
          </p:nvCxnSpPr>
          <p:spPr>
            <a:xfrm>
              <a:off x="8536305" y="2095500"/>
              <a:ext cx="2480310" cy="0"/>
            </a:xfrm>
            <a:prstGeom prst="bentConnector3">
              <a:avLst/>
            </a:prstGeom>
            <a:ln w="19050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投入_対象C"/>
            <p:cNvSpPr/>
            <p:nvPr/>
          </p:nvSpPr>
          <p:spPr>
            <a:xfrm>
              <a:off x="8488680" y="20478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終売_対象C"/>
            <p:cNvSpPr/>
            <p:nvPr/>
          </p:nvSpPr>
          <p:spPr>
            <a:xfrm>
              <a:off x="10968990" y="2047875"/>
              <a:ext cx="95250" cy="95250"/>
            </a:xfrm>
            <a:prstGeom prst="ellipse">
              <a:avLst/>
            </a:prstGeom>
            <a:solidFill>
              <a:schemeClr val="lt1"/>
            </a:solidFill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名_対象C"/>
            <p:cNvSpPr/>
            <p:nvPr/>
          </p:nvSpPr>
          <p:spPr>
            <a:xfrm>
              <a:off x="8479155" y="1914525"/>
              <a:ext cx="57150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対象C</a:t>
              </a:r>
            </a:p>
          </p:txBody>
        </p:sp>
        <p:cxnSp>
          <p:nvCxnSpPr>
            <p:cNvPr id="58" name="期間_対象D"/>
            <p:cNvCxnSpPr/>
            <p:nvPr/>
          </p:nvCxnSpPr>
          <p:spPr>
            <a:xfrm>
              <a:off x="7416165" y="2438400"/>
              <a:ext cx="640080" cy="0"/>
            </a:xfrm>
            <a:prstGeom prst="bentConnector3">
              <a:avLst/>
            </a:prstGeom>
            <a:ln w="19050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投入_対象D"/>
            <p:cNvSpPr/>
            <p:nvPr/>
          </p:nvSpPr>
          <p:spPr>
            <a:xfrm>
              <a:off x="7368540" y="23907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終売_対象D"/>
            <p:cNvSpPr/>
            <p:nvPr/>
          </p:nvSpPr>
          <p:spPr>
            <a:xfrm>
              <a:off x="8008620" y="2390775"/>
              <a:ext cx="95250" cy="95250"/>
            </a:xfrm>
            <a:prstGeom prst="ellipse">
              <a:avLst/>
            </a:prstGeom>
            <a:solidFill>
              <a:schemeClr val="lt1"/>
            </a:solidFill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名_対象D"/>
            <p:cNvSpPr/>
            <p:nvPr/>
          </p:nvSpPr>
          <p:spPr>
            <a:xfrm>
              <a:off x="7359015" y="2257425"/>
              <a:ext cx="57150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対象D</a:t>
              </a:r>
            </a:p>
          </p:txBody>
        </p:sp>
        <p:sp>
          <p:nvSpPr>
            <p:cNvPr id="62" name="注記"/>
            <p:cNvSpPr/>
            <p:nvPr/>
          </p:nvSpPr>
          <p:spPr>
            <a:xfrm>
              <a:off x="7096125" y="3067050"/>
              <a:ext cx="4000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線分の長さ＝ライフの長さ。点でなく線分で描くと短命の乱発が見える</a:t>
              </a:r>
            </a:p>
          </p:txBody>
        </p:sp>
      </p:grpSp>
      <p:sp>
        <p:nvSpPr>
          <p:cNvPr id="63" name="Rectangle 62"/>
          <p:cNvSpPr/>
          <p:nvPr/>
        </p:nvSpPr>
        <p:spPr>
          <a:xfrm>
            <a:off x="6219825" y="33337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48 期間線分プロット｜構造：順序（●投入→○終売の水平線分。長短が一目）</a:t>
            </a:r>
          </a:p>
        </p:txBody>
      </p:sp>
      <p:grpSp>
        <p:nvGrpSpPr>
          <p:cNvPr id="64" name="図解49_バリューチェーン地図"/>
          <p:cNvGrpSpPr/>
          <p:nvPr/>
        </p:nvGrpSpPr>
        <p:grpSpPr>
          <a:xfrm>
            <a:off x="676275" y="4019550"/>
            <a:ext cx="10858500" cy="1924050"/>
            <a:chOff x="676275" y="4019550"/>
            <a:chExt cx="10858500" cy="1924050"/>
          </a:xfrm>
        </p:grpSpPr>
        <p:sp>
          <p:nvSpPr>
            <p:cNvPr id="65" name="行ラベル_工程"/>
            <p:cNvSpPr/>
            <p:nvPr/>
          </p:nvSpPr>
          <p:spPr>
            <a:xfrm>
              <a:off x="676275" y="4086225"/>
              <a:ext cx="1143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 b="1">
                  <a:solidFill>
                    <a:schemeClr val="accent5"/>
                  </a:solidFill>
                </a:rPr>
                <a:t>工程</a:t>
              </a:r>
            </a:p>
          </p:txBody>
        </p:sp>
        <p:sp>
          <p:nvSpPr>
            <p:cNvPr id="66" name="工程1"/>
            <p:cNvSpPr/>
            <p:nvPr/>
          </p:nvSpPr>
          <p:spPr>
            <a:xfrm>
              <a:off x="2009775" y="4019550"/>
              <a:ext cx="1866900" cy="285750"/>
            </a:xfrm>
            <a:custGeom>
              <a:avLst/>
              <a:gdLst/>
              <a:ahLst/>
              <a:cxnLst/>
              <a:rect l="0" t="0" r="1866900" b="285750"/>
              <a:pathLst>
                <a:path w="1866900" h="285750">
                  <a:moveTo>
                    <a:pt x="0" y="0"/>
                  </a:moveTo>
                  <a:lnTo>
                    <a:pt x="1733550" y="0"/>
                  </a:lnTo>
                  <a:lnTo>
                    <a:pt x="1866900" y="142875"/>
                  </a:lnTo>
                  <a:lnTo>
                    <a:pt x="1733550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工程名1"/>
            <p:cNvSpPr/>
            <p:nvPr/>
          </p:nvSpPr>
          <p:spPr>
            <a:xfrm>
              <a:off x="2162175" y="4076700"/>
              <a:ext cx="15811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工程1</a:t>
              </a:r>
            </a:p>
          </p:txBody>
        </p:sp>
        <p:sp>
          <p:nvSpPr>
            <p:cNvPr id="68" name="工程2"/>
            <p:cNvSpPr/>
            <p:nvPr/>
          </p:nvSpPr>
          <p:spPr>
            <a:xfrm>
              <a:off x="3895725" y="4019550"/>
              <a:ext cx="1866900" cy="285750"/>
            </a:xfrm>
            <a:custGeom>
              <a:avLst/>
              <a:gdLst/>
              <a:ahLst/>
              <a:cxnLst/>
              <a:rect l="0" t="0" r="1866900" b="285750"/>
              <a:pathLst>
                <a:path w="1866900" h="285750">
                  <a:moveTo>
                    <a:pt x="0" y="0"/>
                  </a:moveTo>
                  <a:lnTo>
                    <a:pt x="1733550" y="0"/>
                  </a:lnTo>
                  <a:lnTo>
                    <a:pt x="1866900" y="142875"/>
                  </a:lnTo>
                  <a:lnTo>
                    <a:pt x="1733550" y="285750"/>
                  </a:lnTo>
                  <a:lnTo>
                    <a:pt x="0" y="285750"/>
                  </a:lnTo>
                  <a:lnTo>
                    <a:pt x="133350" y="14287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工程名2"/>
            <p:cNvSpPr/>
            <p:nvPr/>
          </p:nvSpPr>
          <p:spPr>
            <a:xfrm>
              <a:off x="4048125" y="4076700"/>
              <a:ext cx="15811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工程2</a:t>
              </a:r>
            </a:p>
          </p:txBody>
        </p:sp>
        <p:sp>
          <p:nvSpPr>
            <p:cNvPr id="70" name="工程3"/>
            <p:cNvSpPr/>
            <p:nvPr/>
          </p:nvSpPr>
          <p:spPr>
            <a:xfrm>
              <a:off x="5781675" y="4019550"/>
              <a:ext cx="1866900" cy="285750"/>
            </a:xfrm>
            <a:custGeom>
              <a:avLst/>
              <a:gdLst/>
              <a:ahLst/>
              <a:cxnLst/>
              <a:rect l="0" t="0" r="1866900" b="285750"/>
              <a:pathLst>
                <a:path w="1866900" h="285750">
                  <a:moveTo>
                    <a:pt x="0" y="0"/>
                  </a:moveTo>
                  <a:lnTo>
                    <a:pt x="1733550" y="0"/>
                  </a:lnTo>
                  <a:lnTo>
                    <a:pt x="1866900" y="142875"/>
                  </a:lnTo>
                  <a:lnTo>
                    <a:pt x="1733550" y="285750"/>
                  </a:lnTo>
                  <a:lnTo>
                    <a:pt x="0" y="285750"/>
                  </a:lnTo>
                  <a:lnTo>
                    <a:pt x="133350" y="14287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工程名3"/>
            <p:cNvSpPr/>
            <p:nvPr/>
          </p:nvSpPr>
          <p:spPr>
            <a:xfrm>
              <a:off x="5934075" y="4076700"/>
              <a:ext cx="15811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工程3</a:t>
              </a:r>
            </a:p>
          </p:txBody>
        </p:sp>
        <p:sp>
          <p:nvSpPr>
            <p:cNvPr id="72" name="工程4"/>
            <p:cNvSpPr/>
            <p:nvPr/>
          </p:nvSpPr>
          <p:spPr>
            <a:xfrm>
              <a:off x="7667625" y="4019550"/>
              <a:ext cx="1866900" cy="285750"/>
            </a:xfrm>
            <a:custGeom>
              <a:avLst/>
              <a:gdLst/>
              <a:ahLst/>
              <a:cxnLst/>
              <a:rect l="0" t="0" r="1866900" b="285750"/>
              <a:pathLst>
                <a:path w="1866900" h="285750">
                  <a:moveTo>
                    <a:pt x="0" y="0"/>
                  </a:moveTo>
                  <a:lnTo>
                    <a:pt x="1733550" y="0"/>
                  </a:lnTo>
                  <a:lnTo>
                    <a:pt x="1866900" y="142875"/>
                  </a:lnTo>
                  <a:lnTo>
                    <a:pt x="1733550" y="285750"/>
                  </a:lnTo>
                  <a:lnTo>
                    <a:pt x="0" y="285750"/>
                  </a:lnTo>
                  <a:lnTo>
                    <a:pt x="133350" y="14287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工程名4"/>
            <p:cNvSpPr/>
            <p:nvPr/>
          </p:nvSpPr>
          <p:spPr>
            <a:xfrm>
              <a:off x="7820025" y="4076700"/>
              <a:ext cx="15811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工程4</a:t>
              </a:r>
            </a:p>
          </p:txBody>
        </p:sp>
        <p:sp>
          <p:nvSpPr>
            <p:cNvPr id="74" name="工程5"/>
            <p:cNvSpPr/>
            <p:nvPr/>
          </p:nvSpPr>
          <p:spPr>
            <a:xfrm>
              <a:off x="9553575" y="4019550"/>
              <a:ext cx="1866900" cy="285750"/>
            </a:xfrm>
            <a:custGeom>
              <a:avLst/>
              <a:gdLst/>
              <a:ahLst/>
              <a:cxnLst/>
              <a:rect l="0" t="0" r="1866900" b="285750"/>
              <a:pathLst>
                <a:path w="1866900" h="285750">
                  <a:moveTo>
                    <a:pt x="0" y="0"/>
                  </a:moveTo>
                  <a:lnTo>
                    <a:pt x="1733550" y="0"/>
                  </a:lnTo>
                  <a:lnTo>
                    <a:pt x="1866900" y="142875"/>
                  </a:lnTo>
                  <a:lnTo>
                    <a:pt x="1733550" y="285750"/>
                  </a:lnTo>
                  <a:lnTo>
                    <a:pt x="0" y="285750"/>
                  </a:lnTo>
                  <a:lnTo>
                    <a:pt x="133350" y="14287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工程名5"/>
            <p:cNvSpPr/>
            <p:nvPr/>
          </p:nvSpPr>
          <p:spPr>
            <a:xfrm>
              <a:off x="9705975" y="4076700"/>
              <a:ext cx="15811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工程5</a:t>
              </a:r>
            </a:p>
          </p:txBody>
        </p:sp>
        <p:cxnSp>
          <p:nvCxnSpPr>
            <p:cNvPr id="76" name="罫線上"/>
            <p:cNvCxnSpPr/>
            <p:nvPr/>
          </p:nvCxnSpPr>
          <p:spPr>
            <a:xfrm>
              <a:off x="676275" y="43815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行ラベル_ドライバー"/>
            <p:cNvSpPr/>
            <p:nvPr/>
          </p:nvSpPr>
          <p:spPr>
            <a:xfrm>
              <a:off x="676275" y="4572000"/>
              <a:ext cx="12573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 b="1">
                  <a:solidFill>
                    <a:schemeClr val="accent5"/>
                  </a:solidFill>
                </a:rPr>
                <a:t>価値ドライバー</a:t>
              </a:r>
            </a:p>
          </p:txBody>
        </p:sp>
        <p:sp>
          <p:nvSpPr>
            <p:cNvPr id="78" name="ドライバー1"/>
            <p:cNvSpPr/>
            <p:nvPr/>
          </p:nvSpPr>
          <p:spPr>
            <a:xfrm>
              <a:off x="2066925" y="4476750"/>
              <a:ext cx="17526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850">
                  <a:solidFill>
                    <a:schemeClr val="dk1"/>
                  </a:solidFill>
                </a:rPr>
                <a:t>テキストテキストテキストテキスト</a:t>
              </a:r>
            </a:p>
          </p:txBody>
        </p:sp>
        <p:sp>
          <p:nvSpPr>
            <p:cNvPr id="79" name="ドライバー2"/>
            <p:cNvSpPr/>
            <p:nvPr/>
          </p:nvSpPr>
          <p:spPr>
            <a:xfrm>
              <a:off x="3952875" y="4476750"/>
              <a:ext cx="17526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850">
                  <a:solidFill>
                    <a:schemeClr val="dk1"/>
                  </a:solidFill>
                </a:rPr>
                <a:t>テキストテキストテキストテキスト</a:t>
              </a:r>
            </a:p>
          </p:txBody>
        </p:sp>
        <p:sp>
          <p:nvSpPr>
            <p:cNvPr id="80" name="ドライバー3"/>
            <p:cNvSpPr/>
            <p:nvPr/>
          </p:nvSpPr>
          <p:spPr>
            <a:xfrm>
              <a:off x="5838825" y="4476750"/>
              <a:ext cx="17526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850">
                  <a:solidFill>
                    <a:schemeClr val="dk1"/>
                  </a:solidFill>
                </a:rPr>
                <a:t>テキストテキストテキストテキスト</a:t>
              </a:r>
            </a:p>
          </p:txBody>
        </p:sp>
        <p:sp>
          <p:nvSpPr>
            <p:cNvPr id="81" name="ドライバー4"/>
            <p:cNvSpPr/>
            <p:nvPr/>
          </p:nvSpPr>
          <p:spPr>
            <a:xfrm>
              <a:off x="7724775" y="4476750"/>
              <a:ext cx="17526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850">
                  <a:solidFill>
                    <a:schemeClr val="dk1"/>
                  </a:solidFill>
                </a:rPr>
                <a:t>テキストテキストテキストテキスト</a:t>
              </a:r>
            </a:p>
          </p:txBody>
        </p:sp>
        <p:sp>
          <p:nvSpPr>
            <p:cNvPr id="82" name="ドライバー5"/>
            <p:cNvSpPr/>
            <p:nvPr/>
          </p:nvSpPr>
          <p:spPr>
            <a:xfrm>
              <a:off x="9610725" y="4476750"/>
              <a:ext cx="17526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850">
                  <a:solidFill>
                    <a:schemeClr val="dk1"/>
                  </a:solidFill>
                </a:rPr>
                <a:t>テキストテキストテキストテキスト</a:t>
              </a:r>
            </a:p>
          </p:txBody>
        </p:sp>
        <p:cxnSp>
          <p:nvCxnSpPr>
            <p:cNvPr id="83" name="罫線下"/>
            <p:cNvCxnSpPr/>
            <p:nvPr/>
          </p:nvCxnSpPr>
          <p:spPr>
            <a:xfrm>
              <a:off x="676275" y="49530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行ラベル_プレイヤー"/>
            <p:cNvSpPr/>
            <p:nvPr/>
          </p:nvSpPr>
          <p:spPr>
            <a:xfrm>
              <a:off x="676275" y="5295900"/>
              <a:ext cx="1143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 b="1">
                  <a:solidFill>
                    <a:schemeClr val="accent5"/>
                  </a:solidFill>
                </a:rPr>
                <a:t>プレイヤー</a:t>
              </a:r>
            </a:p>
          </p:txBody>
        </p:sp>
        <p:sp>
          <p:nvSpPr>
            <p:cNvPr id="85" name="箱_プレイヤーA"/>
            <p:cNvSpPr/>
            <p:nvPr/>
          </p:nvSpPr>
          <p:spPr>
            <a:xfrm>
              <a:off x="2009775" y="5048250"/>
              <a:ext cx="3752850" cy="28575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名_プレイヤーA"/>
            <p:cNvSpPr/>
            <p:nvPr/>
          </p:nvSpPr>
          <p:spPr>
            <a:xfrm>
              <a:off x="2009775" y="5048250"/>
              <a:ext cx="37528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プレイヤーA</a:t>
              </a:r>
            </a:p>
          </p:txBody>
        </p:sp>
        <p:sp>
          <p:nvSpPr>
            <p:cNvPr id="87" name="箱_プレイヤーC"/>
            <p:cNvSpPr/>
            <p:nvPr/>
          </p:nvSpPr>
          <p:spPr>
            <a:xfrm>
              <a:off x="7667625" y="5048250"/>
              <a:ext cx="3752850" cy="28575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名_プレイヤーC"/>
            <p:cNvSpPr/>
            <p:nvPr/>
          </p:nvSpPr>
          <p:spPr>
            <a:xfrm>
              <a:off x="7667625" y="5048250"/>
              <a:ext cx="37528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プレイヤーC</a:t>
              </a:r>
            </a:p>
          </p:txBody>
        </p:sp>
        <p:sp>
          <p:nvSpPr>
            <p:cNvPr id="89" name="箱_プレイヤーB"/>
            <p:cNvSpPr/>
            <p:nvPr/>
          </p:nvSpPr>
          <p:spPr>
            <a:xfrm>
              <a:off x="3895725" y="5410200"/>
              <a:ext cx="5638800" cy="285750"/>
            </a:xfrm>
            <a:prstGeom prst="roundRect">
              <a:avLst>
                <a:gd name="adj" fmla="val 20000"/>
              </a:avLst>
            </a:prstGeom>
            <a:noFill/>
            <a:ln w="11906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名_プレイヤーB"/>
            <p:cNvSpPr/>
            <p:nvPr/>
          </p:nvSpPr>
          <p:spPr>
            <a:xfrm>
              <a:off x="3895725" y="5410200"/>
              <a:ext cx="56388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プレイヤーB</a:t>
              </a:r>
            </a:p>
          </p:txBody>
        </p:sp>
        <p:sp>
          <p:nvSpPr>
            <p:cNvPr id="91" name="注記"/>
            <p:cNvSpPr/>
            <p:nvPr/>
          </p:nvSpPr>
          <p:spPr>
            <a:xfrm>
              <a:off x="2009775" y="5810250"/>
              <a:ext cx="6858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箱の横幅＝カバーする工程範囲（全工程を一気通貫でカバーするプレイヤーの不在が見える）</a:t>
              </a:r>
            </a:p>
          </p:txBody>
        </p:sp>
      </p:grpSp>
      <p:sp>
        <p:nvSpPr>
          <p:cNvPr id="92" name="Rectangle 91"/>
          <p:cNvSpPr/>
          <p:nvPr/>
        </p:nvSpPr>
        <p:spPr>
          <a:xfrm>
            <a:off x="390525" y="6267450"/>
            <a:ext cx="114109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49 バリューチェーン地図｜構造：分類（上＝工程・中＝各工程の価値ドライバー・下＝プレイヤーの被覆範囲。行ラベルは左）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72390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パーツ図鑑｜⑥ 図解パターン 量と流れ — 工程表決定版（1枚占有）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グループ解除で行・ストリームを増減できます</a:t>
            </a:r>
          </a:p>
        </p:txBody>
      </p:sp>
      <p:grpSp>
        <p:nvGrpSpPr>
          <p:cNvPr id="5" name="図解50_マクロミクロ工程表"/>
          <p:cNvGrpSpPr/>
          <p:nvPr/>
        </p:nvGrpSpPr>
        <p:grpSpPr>
          <a:xfrm>
            <a:off x="390525" y="857250"/>
            <a:ext cx="11144250" cy="4591050"/>
            <a:chOff x="390525" y="857250"/>
            <a:chExt cx="11144250" cy="4591050"/>
          </a:xfrm>
        </p:grpSpPr>
        <p:sp>
          <p:nvSpPr>
            <p:cNvPr id="6" name="上段見出し"/>
            <p:cNvSpPr/>
            <p:nvPr/>
          </p:nvSpPr>
          <p:spPr>
            <a:xfrm>
              <a:off x="390525" y="857250"/>
              <a:ext cx="3429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 b="1">
                  <a:solidFill>
                    <a:schemeClr val="accent5"/>
                  </a:solidFill>
                </a:rPr>
                <a:t>マクロ：ストリーム間の連携</a:t>
              </a:r>
            </a:p>
          </p:txBody>
        </p:sp>
        <p:sp>
          <p:nvSpPr>
            <p:cNvPr id="7" name="フェーズ1帯"/>
            <p:cNvSpPr/>
            <p:nvPr/>
          </p:nvSpPr>
          <p:spPr>
            <a:xfrm>
              <a:off x="1838325" y="1028700"/>
              <a:ext cx="32004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フェーズ1"/>
            <p:cNvSpPr/>
            <p:nvPr/>
          </p:nvSpPr>
          <p:spPr>
            <a:xfrm>
              <a:off x="1819275" y="1066800"/>
              <a:ext cx="3238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フェーズ1</a:t>
              </a:r>
            </a:p>
          </p:txBody>
        </p:sp>
        <p:sp>
          <p:nvSpPr>
            <p:cNvPr id="9" name="フェーズ2帯"/>
            <p:cNvSpPr/>
            <p:nvPr/>
          </p:nvSpPr>
          <p:spPr>
            <a:xfrm>
              <a:off x="5076825" y="1028700"/>
              <a:ext cx="32004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フェーズ2"/>
            <p:cNvSpPr/>
            <p:nvPr/>
          </p:nvSpPr>
          <p:spPr>
            <a:xfrm>
              <a:off x="5057775" y="1066800"/>
              <a:ext cx="3238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フェーズ2</a:t>
              </a:r>
            </a:p>
          </p:txBody>
        </p:sp>
        <p:sp>
          <p:nvSpPr>
            <p:cNvPr id="11" name="フェーズ3帯"/>
            <p:cNvSpPr/>
            <p:nvPr/>
          </p:nvSpPr>
          <p:spPr>
            <a:xfrm>
              <a:off x="8315325" y="1028700"/>
              <a:ext cx="32004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フェーズ3"/>
            <p:cNvSpPr/>
            <p:nvPr/>
          </p:nvSpPr>
          <p:spPr>
            <a:xfrm>
              <a:off x="8296275" y="1066800"/>
              <a:ext cx="3238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フェーズ3</a:t>
              </a:r>
            </a:p>
          </p:txBody>
        </p:sp>
        <p:cxnSp>
          <p:nvCxnSpPr>
            <p:cNvPr id="13" name="レーン線1"/>
            <p:cNvCxnSpPr/>
            <p:nvPr/>
          </p:nvCxnSpPr>
          <p:spPr>
            <a:xfrm>
              <a:off x="676275" y="13335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レーン線2"/>
            <p:cNvCxnSpPr/>
            <p:nvPr/>
          </p:nvCxnSpPr>
          <p:spPr>
            <a:xfrm>
              <a:off x="676275" y="188595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レーン線3"/>
            <p:cNvCxnSpPr/>
            <p:nvPr/>
          </p:nvCxnSpPr>
          <p:spPr>
            <a:xfrm>
              <a:off x="676275" y="24384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レーン線4"/>
            <p:cNvCxnSpPr/>
            <p:nvPr/>
          </p:nvCxnSpPr>
          <p:spPr>
            <a:xfrm>
              <a:off x="676275" y="299085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フェーズ区切り"/>
            <p:cNvCxnSpPr/>
            <p:nvPr/>
          </p:nvCxnSpPr>
          <p:spPr>
            <a:xfrm>
              <a:off x="5057775" y="1333500"/>
              <a:ext cx="0" cy="165735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フェーズ区切り"/>
            <p:cNvCxnSpPr/>
            <p:nvPr/>
          </p:nvCxnSpPr>
          <p:spPr>
            <a:xfrm>
              <a:off x="8296275" y="1333500"/>
              <a:ext cx="0" cy="165735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札_ストリームA"/>
            <p:cNvSpPr/>
            <p:nvPr/>
          </p:nvSpPr>
          <p:spPr>
            <a:xfrm>
              <a:off x="676275" y="1466850"/>
              <a:ext cx="1028700" cy="285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名_ストリームA"/>
            <p:cNvSpPr/>
            <p:nvPr/>
          </p:nvSpPr>
          <p:spPr>
            <a:xfrm>
              <a:off x="676275" y="1466850"/>
              <a:ext cx="10287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ストリームA</a:t>
              </a:r>
            </a:p>
          </p:txBody>
        </p:sp>
        <p:sp>
          <p:nvSpPr>
            <p:cNvPr id="21" name="工程_施策a1"/>
            <p:cNvSpPr/>
            <p:nvPr/>
          </p:nvSpPr>
          <p:spPr>
            <a:xfrm>
              <a:off x="1876425" y="1466850"/>
              <a:ext cx="3124200" cy="285750"/>
            </a:xfrm>
            <a:custGeom>
              <a:avLst/>
              <a:gdLst/>
              <a:ahLst/>
              <a:cxnLst/>
              <a:rect l="0" t="0" r="3124200" b="285750"/>
              <a:pathLst>
                <a:path w="3124200" h="285750">
                  <a:moveTo>
                    <a:pt x="0" y="0"/>
                  </a:moveTo>
                  <a:lnTo>
                    <a:pt x="2990850" y="0"/>
                  </a:lnTo>
                  <a:lnTo>
                    <a:pt x="3124200" y="142875"/>
                  </a:lnTo>
                  <a:lnTo>
                    <a:pt x="2990850" y="285750"/>
                  </a:lnTo>
                  <a:lnTo>
                    <a:pt x="0" y="285750"/>
                  </a:lnTo>
                  <a:lnTo>
                    <a:pt x="133350" y="14287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工程名_施策a1"/>
            <p:cNvSpPr/>
            <p:nvPr/>
          </p:nvSpPr>
          <p:spPr>
            <a:xfrm>
              <a:off x="2009775" y="1524000"/>
              <a:ext cx="2857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施策a1</a:t>
              </a:r>
            </a:p>
          </p:txBody>
        </p:sp>
        <p:sp>
          <p:nvSpPr>
            <p:cNvPr id="23" name="工程_施策a2"/>
            <p:cNvSpPr/>
            <p:nvPr/>
          </p:nvSpPr>
          <p:spPr>
            <a:xfrm>
              <a:off x="5114925" y="1466850"/>
              <a:ext cx="3124200" cy="285750"/>
            </a:xfrm>
            <a:custGeom>
              <a:avLst/>
              <a:gdLst/>
              <a:ahLst/>
              <a:cxnLst/>
              <a:rect l="0" t="0" r="3124200" b="285750"/>
              <a:pathLst>
                <a:path w="3124200" h="285750">
                  <a:moveTo>
                    <a:pt x="0" y="0"/>
                  </a:moveTo>
                  <a:lnTo>
                    <a:pt x="2990850" y="0"/>
                  </a:lnTo>
                  <a:lnTo>
                    <a:pt x="3124200" y="142875"/>
                  </a:lnTo>
                  <a:lnTo>
                    <a:pt x="2990850" y="285750"/>
                  </a:lnTo>
                  <a:lnTo>
                    <a:pt x="0" y="285750"/>
                  </a:lnTo>
                  <a:lnTo>
                    <a:pt x="133350" y="14287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工程名_施策a2"/>
            <p:cNvSpPr/>
            <p:nvPr/>
          </p:nvSpPr>
          <p:spPr>
            <a:xfrm>
              <a:off x="5248275" y="1524000"/>
              <a:ext cx="2857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施策a2</a:t>
              </a:r>
            </a:p>
          </p:txBody>
        </p:sp>
        <p:sp>
          <p:nvSpPr>
            <p:cNvPr id="25" name="札_ストリームB"/>
            <p:cNvSpPr/>
            <p:nvPr/>
          </p:nvSpPr>
          <p:spPr>
            <a:xfrm>
              <a:off x="676275" y="2019300"/>
              <a:ext cx="1028700" cy="285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名_ストリームB"/>
            <p:cNvSpPr/>
            <p:nvPr/>
          </p:nvSpPr>
          <p:spPr>
            <a:xfrm>
              <a:off x="676275" y="2019300"/>
              <a:ext cx="10287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ストリームB</a:t>
              </a:r>
            </a:p>
          </p:txBody>
        </p:sp>
        <p:sp>
          <p:nvSpPr>
            <p:cNvPr id="27" name="工程_施策b1"/>
            <p:cNvSpPr/>
            <p:nvPr/>
          </p:nvSpPr>
          <p:spPr>
            <a:xfrm>
              <a:off x="3981450" y="2019300"/>
              <a:ext cx="5067300" cy="285750"/>
            </a:xfrm>
            <a:custGeom>
              <a:avLst/>
              <a:gdLst/>
              <a:ahLst/>
              <a:cxnLst/>
              <a:rect l="0" t="0" r="5067300" b="285750"/>
              <a:pathLst>
                <a:path w="5067300" h="285750">
                  <a:moveTo>
                    <a:pt x="0" y="0"/>
                  </a:moveTo>
                  <a:lnTo>
                    <a:pt x="4933950" y="0"/>
                  </a:lnTo>
                  <a:lnTo>
                    <a:pt x="5067300" y="142875"/>
                  </a:lnTo>
                  <a:lnTo>
                    <a:pt x="4933950" y="285750"/>
                  </a:lnTo>
                  <a:lnTo>
                    <a:pt x="0" y="285750"/>
                  </a:lnTo>
                  <a:lnTo>
                    <a:pt x="133350" y="14287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工程名_施策b1"/>
            <p:cNvSpPr/>
            <p:nvPr/>
          </p:nvSpPr>
          <p:spPr>
            <a:xfrm>
              <a:off x="4114800" y="2076450"/>
              <a:ext cx="48006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施策b1</a:t>
              </a:r>
            </a:p>
          </p:txBody>
        </p:sp>
        <p:sp>
          <p:nvSpPr>
            <p:cNvPr id="29" name="札_ストリームC"/>
            <p:cNvSpPr/>
            <p:nvPr/>
          </p:nvSpPr>
          <p:spPr>
            <a:xfrm>
              <a:off x="676275" y="2571750"/>
              <a:ext cx="1028700" cy="285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名_ストリームC"/>
            <p:cNvSpPr/>
            <p:nvPr/>
          </p:nvSpPr>
          <p:spPr>
            <a:xfrm>
              <a:off x="676275" y="2571750"/>
              <a:ext cx="10287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ストリームC</a:t>
              </a:r>
            </a:p>
          </p:txBody>
        </p:sp>
        <p:sp>
          <p:nvSpPr>
            <p:cNvPr id="31" name="工程_施策c1"/>
            <p:cNvSpPr/>
            <p:nvPr/>
          </p:nvSpPr>
          <p:spPr>
            <a:xfrm>
              <a:off x="7705725" y="2571750"/>
              <a:ext cx="3771900" cy="285750"/>
            </a:xfrm>
            <a:custGeom>
              <a:avLst/>
              <a:gdLst/>
              <a:ahLst/>
              <a:cxnLst/>
              <a:rect l="0" t="0" r="3771900" b="285750"/>
              <a:pathLst>
                <a:path w="3771900" h="285750">
                  <a:moveTo>
                    <a:pt x="0" y="0"/>
                  </a:moveTo>
                  <a:lnTo>
                    <a:pt x="3638550" y="0"/>
                  </a:lnTo>
                  <a:lnTo>
                    <a:pt x="3771900" y="142875"/>
                  </a:lnTo>
                  <a:lnTo>
                    <a:pt x="3638550" y="285750"/>
                  </a:lnTo>
                  <a:lnTo>
                    <a:pt x="0" y="285750"/>
                  </a:lnTo>
                  <a:lnTo>
                    <a:pt x="133350" y="14287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工程名_施策c1"/>
            <p:cNvSpPr/>
            <p:nvPr/>
          </p:nvSpPr>
          <p:spPr>
            <a:xfrm>
              <a:off x="7839075" y="2628900"/>
              <a:ext cx="35052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施策c1</a:t>
              </a:r>
            </a:p>
          </p:txBody>
        </p:sp>
        <p:cxnSp>
          <p:nvCxnSpPr>
            <p:cNvPr id="33" name="連携a1→b1"/>
            <p:cNvCxnSpPr/>
            <p:nvPr/>
          </p:nvCxnSpPr>
          <p:spPr>
            <a:xfrm>
              <a:off x="5000625" y="1752600"/>
              <a:ext cx="0" cy="266700"/>
            </a:xfrm>
            <a:prstGeom prst="bentConnector3">
              <a:avLst/>
            </a:prstGeom>
            <a:ln w="11906">
              <a:solidFill>
                <a:schemeClr val="accent5"/>
              </a:solidFill>
              <a:prstDash val="dash"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連携ラベル1"/>
            <p:cNvSpPr/>
            <p:nvPr/>
          </p:nvSpPr>
          <p:spPr>
            <a:xfrm>
              <a:off x="5076825" y="1790700"/>
              <a:ext cx="123825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連携：テキスト</a:t>
              </a:r>
            </a:p>
          </p:txBody>
        </p:sp>
        <p:cxnSp>
          <p:nvCxnSpPr>
            <p:cNvPr id="35" name="連携b1→c1"/>
            <p:cNvCxnSpPr/>
            <p:nvPr/>
          </p:nvCxnSpPr>
          <p:spPr>
            <a:xfrm>
              <a:off x="9048750" y="2305050"/>
              <a:ext cx="0" cy="266700"/>
            </a:xfrm>
            <a:prstGeom prst="bentConnector3">
              <a:avLst/>
            </a:prstGeom>
            <a:ln w="11906">
              <a:solidFill>
                <a:schemeClr val="accent5"/>
              </a:solidFill>
              <a:prstDash val="dash"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要調整タグ"/>
            <p:cNvSpPr/>
            <p:nvPr/>
          </p:nvSpPr>
          <p:spPr>
            <a:xfrm>
              <a:off x="9144000" y="2324100"/>
              <a:ext cx="552450" cy="190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要調整"/>
            <p:cNvSpPr/>
            <p:nvPr/>
          </p:nvSpPr>
          <p:spPr>
            <a:xfrm>
              <a:off x="9144000" y="2333625"/>
              <a:ext cx="5524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 b="1">
                  <a:solidFill>
                    <a:schemeClr val="lt1"/>
                  </a:solidFill>
                </a:rPr>
                <a:t>要調整</a:t>
              </a:r>
            </a:p>
          </p:txBody>
        </p:sp>
        <p:sp>
          <p:nvSpPr>
            <p:cNvPr id="38" name="下段見出し"/>
            <p:cNvSpPr/>
            <p:nvPr/>
          </p:nvSpPr>
          <p:spPr>
            <a:xfrm>
              <a:off x="390525" y="3162300"/>
              <a:ext cx="3810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 b="1">
                  <a:solidFill>
                    <a:schemeClr val="accent5"/>
                  </a:solidFill>
                </a:rPr>
                <a:t>ミクロ：同じ計画をガントで（横位置は上段と一致）</a:t>
              </a:r>
            </a:p>
          </p:txBody>
        </p:sp>
        <p:sp>
          <p:nvSpPr>
            <p:cNvPr id="39" name="月ヘッダー帯"/>
            <p:cNvSpPr/>
            <p:nvPr/>
          </p:nvSpPr>
          <p:spPr>
            <a:xfrm>
              <a:off x="1819275" y="3352800"/>
              <a:ext cx="97155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月1"/>
            <p:cNvSpPr/>
            <p:nvPr/>
          </p:nvSpPr>
          <p:spPr>
            <a:xfrm>
              <a:off x="1819275" y="3390900"/>
              <a:ext cx="1619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1月</a:t>
              </a:r>
            </a:p>
          </p:txBody>
        </p:sp>
        <p:sp>
          <p:nvSpPr>
            <p:cNvPr id="41" name="月2"/>
            <p:cNvSpPr/>
            <p:nvPr/>
          </p:nvSpPr>
          <p:spPr>
            <a:xfrm>
              <a:off x="3438525" y="3390900"/>
              <a:ext cx="1619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2月</a:t>
              </a:r>
            </a:p>
          </p:txBody>
        </p:sp>
        <p:sp>
          <p:nvSpPr>
            <p:cNvPr id="42" name="月3"/>
            <p:cNvSpPr/>
            <p:nvPr/>
          </p:nvSpPr>
          <p:spPr>
            <a:xfrm>
              <a:off x="5057775" y="3390900"/>
              <a:ext cx="1619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3月</a:t>
              </a:r>
            </a:p>
          </p:txBody>
        </p:sp>
        <p:sp>
          <p:nvSpPr>
            <p:cNvPr id="43" name="月4"/>
            <p:cNvSpPr/>
            <p:nvPr/>
          </p:nvSpPr>
          <p:spPr>
            <a:xfrm>
              <a:off x="6677025" y="3390900"/>
              <a:ext cx="1619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4月</a:t>
              </a:r>
            </a:p>
          </p:txBody>
        </p:sp>
        <p:sp>
          <p:nvSpPr>
            <p:cNvPr id="44" name="月5"/>
            <p:cNvSpPr/>
            <p:nvPr/>
          </p:nvSpPr>
          <p:spPr>
            <a:xfrm>
              <a:off x="8296275" y="3390900"/>
              <a:ext cx="1619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5月</a:t>
              </a:r>
            </a:p>
          </p:txBody>
        </p:sp>
        <p:sp>
          <p:nvSpPr>
            <p:cNvPr id="45" name="月6"/>
            <p:cNvSpPr/>
            <p:nvPr/>
          </p:nvSpPr>
          <p:spPr>
            <a:xfrm>
              <a:off x="9915525" y="3390900"/>
              <a:ext cx="1619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6月</a:t>
              </a:r>
            </a:p>
          </p:txBody>
        </p:sp>
        <p:cxnSp>
          <p:nvCxnSpPr>
            <p:cNvPr id="46" name="目盛1"/>
            <p:cNvCxnSpPr/>
            <p:nvPr/>
          </p:nvCxnSpPr>
          <p:spPr>
            <a:xfrm>
              <a:off x="1819275" y="3600450"/>
              <a:ext cx="0" cy="184785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目盛2"/>
            <p:cNvCxnSpPr/>
            <p:nvPr/>
          </p:nvCxnSpPr>
          <p:spPr>
            <a:xfrm>
              <a:off x="3438525" y="3600450"/>
              <a:ext cx="0" cy="184785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目盛3"/>
            <p:cNvCxnSpPr/>
            <p:nvPr/>
          </p:nvCxnSpPr>
          <p:spPr>
            <a:xfrm>
              <a:off x="5057775" y="3600450"/>
              <a:ext cx="0" cy="184785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目盛4"/>
            <p:cNvCxnSpPr/>
            <p:nvPr/>
          </p:nvCxnSpPr>
          <p:spPr>
            <a:xfrm>
              <a:off x="6677025" y="3600450"/>
              <a:ext cx="0" cy="184785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目盛5"/>
            <p:cNvCxnSpPr/>
            <p:nvPr/>
          </p:nvCxnSpPr>
          <p:spPr>
            <a:xfrm>
              <a:off x="8296275" y="3600450"/>
              <a:ext cx="0" cy="184785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目盛6"/>
            <p:cNvCxnSpPr/>
            <p:nvPr/>
          </p:nvCxnSpPr>
          <p:spPr>
            <a:xfrm>
              <a:off x="9915525" y="3600450"/>
              <a:ext cx="0" cy="184785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目盛7"/>
            <p:cNvCxnSpPr/>
            <p:nvPr/>
          </p:nvCxnSpPr>
          <p:spPr>
            <a:xfrm>
              <a:off x="11534775" y="3600450"/>
              <a:ext cx="0" cy="184785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行_タスクa1"/>
            <p:cNvSpPr/>
            <p:nvPr/>
          </p:nvSpPr>
          <p:spPr>
            <a:xfrm>
              <a:off x="676275" y="3743325"/>
              <a:ext cx="10668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タスクa1</a:t>
              </a:r>
            </a:p>
          </p:txBody>
        </p:sp>
        <p:sp>
          <p:nvSpPr>
            <p:cNvPr id="54" name="バー_タスクa1"/>
            <p:cNvSpPr/>
            <p:nvPr/>
          </p:nvSpPr>
          <p:spPr>
            <a:xfrm>
              <a:off x="1876425" y="3695700"/>
              <a:ext cx="3124200" cy="266700"/>
            </a:xfrm>
            <a:prstGeom prst="roundRect">
              <a:avLst>
                <a:gd name="adj" fmla="val 21428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帯文_タスクa1"/>
            <p:cNvSpPr/>
            <p:nvPr/>
          </p:nvSpPr>
          <p:spPr>
            <a:xfrm>
              <a:off x="1876425" y="3695700"/>
              <a:ext cx="31242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lt1"/>
                  </a:solidFill>
                </a:rPr>
                <a:t>テキスト</a:t>
              </a:r>
            </a:p>
          </p:txBody>
        </p:sp>
        <p:sp>
          <p:nvSpPr>
            <p:cNvPr id="56" name="行_タスクa2"/>
            <p:cNvSpPr/>
            <p:nvPr/>
          </p:nvSpPr>
          <p:spPr>
            <a:xfrm>
              <a:off x="676275" y="4200525"/>
              <a:ext cx="10668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タスクa2</a:t>
              </a:r>
            </a:p>
          </p:txBody>
        </p:sp>
        <p:sp>
          <p:nvSpPr>
            <p:cNvPr id="57" name="バー_タスクa2"/>
            <p:cNvSpPr/>
            <p:nvPr/>
          </p:nvSpPr>
          <p:spPr>
            <a:xfrm>
              <a:off x="5114925" y="4152900"/>
              <a:ext cx="3124200" cy="266700"/>
            </a:xfrm>
            <a:prstGeom prst="roundRect">
              <a:avLst>
                <a:gd name="adj" fmla="val 21428"/>
              </a:avLst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帯文_タスクa2"/>
            <p:cNvSpPr/>
            <p:nvPr/>
          </p:nvSpPr>
          <p:spPr>
            <a:xfrm>
              <a:off x="5114925" y="4152900"/>
              <a:ext cx="31242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lt1"/>
                  </a:solidFill>
                </a:rPr>
                <a:t>テキスト</a:t>
              </a:r>
            </a:p>
          </p:txBody>
        </p:sp>
        <p:sp>
          <p:nvSpPr>
            <p:cNvPr id="59" name="行_タスクb1"/>
            <p:cNvSpPr/>
            <p:nvPr/>
          </p:nvSpPr>
          <p:spPr>
            <a:xfrm>
              <a:off x="676275" y="4657725"/>
              <a:ext cx="10668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タスクb1</a:t>
              </a:r>
            </a:p>
          </p:txBody>
        </p:sp>
        <p:sp>
          <p:nvSpPr>
            <p:cNvPr id="60" name="バー_タスクb1"/>
            <p:cNvSpPr/>
            <p:nvPr/>
          </p:nvSpPr>
          <p:spPr>
            <a:xfrm>
              <a:off x="3981450" y="4610100"/>
              <a:ext cx="5067300" cy="266700"/>
            </a:xfrm>
            <a:prstGeom prst="roundRect">
              <a:avLst>
                <a:gd name="adj" fmla="val 21428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帯文_タスクb1"/>
            <p:cNvSpPr/>
            <p:nvPr/>
          </p:nvSpPr>
          <p:spPr>
            <a:xfrm>
              <a:off x="3981450" y="4610100"/>
              <a:ext cx="50673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テキスト</a:t>
              </a:r>
            </a:p>
          </p:txBody>
        </p:sp>
        <p:sp>
          <p:nvSpPr>
            <p:cNvPr id="62" name="行_タスクc1"/>
            <p:cNvSpPr/>
            <p:nvPr/>
          </p:nvSpPr>
          <p:spPr>
            <a:xfrm>
              <a:off x="676275" y="5114925"/>
              <a:ext cx="10668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タスクc1</a:t>
              </a:r>
            </a:p>
          </p:txBody>
        </p:sp>
        <p:sp>
          <p:nvSpPr>
            <p:cNvPr id="63" name="バー未確定_タスクc1"/>
            <p:cNvSpPr/>
            <p:nvPr/>
          </p:nvSpPr>
          <p:spPr>
            <a:xfrm>
              <a:off x="7705725" y="5067300"/>
              <a:ext cx="1619250" cy="266700"/>
            </a:xfrm>
            <a:prstGeom prst="roundRect">
              <a:avLst>
                <a:gd name="adj" fmla="val 21428"/>
              </a:avLst>
            </a:prstGeom>
            <a:noFill/>
            <a:ln w="11906">
              <a:solidFill>
                <a:schemeClr val="dk2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未確定注記_タスクc1"/>
            <p:cNvSpPr/>
            <p:nvPr/>
          </p:nvSpPr>
          <p:spPr>
            <a:xfrm>
              <a:off x="7477125" y="4924425"/>
              <a:ext cx="142875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開始未確定（破線）</a:t>
              </a:r>
            </a:p>
          </p:txBody>
        </p:sp>
        <p:sp>
          <p:nvSpPr>
            <p:cNvPr id="65" name="バー_タスクc1"/>
            <p:cNvSpPr/>
            <p:nvPr/>
          </p:nvSpPr>
          <p:spPr>
            <a:xfrm>
              <a:off x="9324975" y="5067300"/>
              <a:ext cx="2152650" cy="266700"/>
            </a:xfrm>
            <a:prstGeom prst="roundRect">
              <a:avLst>
                <a:gd name="adj" fmla="val 21428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帯文_タスクc1"/>
            <p:cNvSpPr/>
            <p:nvPr/>
          </p:nvSpPr>
          <p:spPr>
            <a:xfrm>
              <a:off x="9324975" y="5067300"/>
              <a:ext cx="21526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lt1"/>
                  </a:solidFill>
                </a:rPr>
                <a:t>テキスト</a:t>
              </a:r>
            </a:p>
          </p:txBody>
        </p:sp>
      </p:grpSp>
      <p:sp>
        <p:nvSpPr>
          <p:cNvPr id="67" name="Rectangle 66"/>
          <p:cNvSpPr/>
          <p:nvPr/>
        </p:nvSpPr>
        <p:spPr>
          <a:xfrm>
            <a:off x="390525" y="5810250"/>
            <a:ext cx="114109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50 マクロ→ミクロ2段工程表｜構造：順序（上＝スイムレーン型の連携図・下＝同じ計画のガント。破線＝未確定の開始）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106680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chemeClr val="dk2"/>
                </a:solidFill>
              </a:rPr>
              <a:t>全社コスト100億円の18%は、4つの打ち手で今期中に削減できる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390525" y="571500"/>
            <a:ext cx="8572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このスライドの部品もすべてコピーして使えます</a:t>
            </a:r>
          </a:p>
        </p:txBody>
      </p:sp>
      <p:grpSp>
        <p:nvGrpSpPr>
          <p:cNvPr id="5" name="使用例_滝グラフ打ち手"/>
          <p:cNvGrpSpPr/>
          <p:nvPr/>
        </p:nvGrpSpPr>
        <p:grpSpPr>
          <a:xfrm>
            <a:off x="1047750" y="990600"/>
            <a:ext cx="10210800" cy="3429000"/>
            <a:chOff x="1047750" y="990600"/>
            <a:chExt cx="10210800" cy="3429000"/>
          </a:xfrm>
        </p:grpSpPr>
        <p:sp>
          <p:nvSpPr>
            <p:cNvPr id="6" name="左見出し"/>
            <p:cNvSpPr/>
            <p:nvPr/>
          </p:nvSpPr>
          <p:spPr>
            <a:xfrm>
              <a:off x="1047750" y="990600"/>
              <a:ext cx="2857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プロセス別コスト（億円）</a:t>
              </a:r>
            </a:p>
          </p:txBody>
        </p:sp>
        <p:sp>
          <p:nvSpPr>
            <p:cNvPr id="7" name="表見出し1"/>
            <p:cNvSpPr/>
            <p:nvPr/>
          </p:nvSpPr>
          <p:spPr>
            <a:xfrm>
              <a:off x="7048500" y="990600"/>
              <a:ext cx="25717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削減の打ち手</a:t>
              </a:r>
            </a:p>
          </p:txBody>
        </p:sp>
        <p:sp>
          <p:nvSpPr>
            <p:cNvPr id="8" name="表見出し2"/>
            <p:cNvSpPr/>
            <p:nvPr/>
          </p:nvSpPr>
          <p:spPr>
            <a:xfrm>
              <a:off x="9715500" y="990600"/>
              <a:ext cx="6667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削減後</a:t>
              </a:r>
            </a:p>
          </p:txBody>
        </p:sp>
        <p:sp>
          <p:nvSpPr>
            <p:cNvPr id="9" name="表見出し3"/>
            <p:cNvSpPr/>
            <p:nvPr/>
          </p:nvSpPr>
          <p:spPr>
            <a:xfrm>
              <a:off x="10477500" y="990600"/>
              <a:ext cx="762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効果</a:t>
              </a:r>
            </a:p>
          </p:txBody>
        </p:sp>
        <p:cxnSp>
          <p:nvCxnSpPr>
            <p:cNvPr id="10" name="表ヘッダ罫線"/>
            <p:cNvCxnSpPr/>
            <p:nvPr/>
          </p:nvCxnSpPr>
          <p:spPr>
            <a:xfrm>
              <a:off x="7048500" y="1200150"/>
              <a:ext cx="4191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項目_調達"/>
            <p:cNvSpPr/>
            <p:nvPr/>
          </p:nvSpPr>
          <p:spPr>
            <a:xfrm>
              <a:off x="1047750" y="1371600"/>
              <a:ext cx="876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調達</a:t>
              </a:r>
            </a:p>
          </p:txBody>
        </p:sp>
        <p:sp>
          <p:nvSpPr>
            <p:cNvPr id="12" name="バー_調達"/>
            <p:cNvSpPr/>
            <p:nvPr/>
          </p:nvSpPr>
          <p:spPr>
            <a:xfrm>
              <a:off x="2000250" y="1276350"/>
              <a:ext cx="19050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値_調達"/>
            <p:cNvSpPr/>
            <p:nvPr/>
          </p:nvSpPr>
          <p:spPr>
            <a:xfrm>
              <a:off x="2000250" y="1381125"/>
              <a:ext cx="1905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40</a:t>
              </a:r>
            </a:p>
          </p:txBody>
        </p:sp>
        <p:cxnSp>
          <p:nvCxnSpPr>
            <p:cNvPr id="14" name="コネクタ1"/>
            <p:cNvCxnSpPr/>
            <p:nvPr/>
          </p:nvCxnSpPr>
          <p:spPr>
            <a:xfrm>
              <a:off x="3905250" y="1657350"/>
              <a:ext cx="0" cy="28575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施策_調達"/>
            <p:cNvSpPr/>
            <p:nvPr/>
          </p:nvSpPr>
          <p:spPr>
            <a:xfrm>
              <a:off x="7048500" y="1371600"/>
              <a:ext cx="2571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集中購買と相見積もりの徹底</a:t>
              </a:r>
            </a:p>
          </p:txBody>
        </p:sp>
        <p:sp>
          <p:nvSpPr>
            <p:cNvPr id="16" name="削減後_調達"/>
            <p:cNvSpPr/>
            <p:nvPr/>
          </p:nvSpPr>
          <p:spPr>
            <a:xfrm>
              <a:off x="9715500" y="1371600"/>
              <a:ext cx="666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32</a:t>
              </a:r>
            </a:p>
          </p:txBody>
        </p:sp>
        <p:sp>
          <p:nvSpPr>
            <p:cNvPr id="17" name="効果_調達"/>
            <p:cNvSpPr/>
            <p:nvPr/>
          </p:nvSpPr>
          <p:spPr>
            <a:xfrm>
              <a:off x="10477500" y="1371600"/>
              <a:ext cx="762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▲8</a:t>
              </a:r>
            </a:p>
          </p:txBody>
        </p:sp>
        <p:cxnSp>
          <p:nvCxnSpPr>
            <p:cNvPr id="18" name="行罫線1"/>
            <p:cNvCxnSpPr/>
            <p:nvPr/>
          </p:nvCxnSpPr>
          <p:spPr>
            <a:xfrm>
              <a:off x="7048500" y="1809750"/>
              <a:ext cx="4191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項目_製造"/>
            <p:cNvSpPr/>
            <p:nvPr/>
          </p:nvSpPr>
          <p:spPr>
            <a:xfrm>
              <a:off x="1047750" y="2038350"/>
              <a:ext cx="876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製造</a:t>
              </a:r>
            </a:p>
          </p:txBody>
        </p:sp>
        <p:sp>
          <p:nvSpPr>
            <p:cNvPr id="20" name="バー_製造"/>
            <p:cNvSpPr/>
            <p:nvPr/>
          </p:nvSpPr>
          <p:spPr>
            <a:xfrm>
              <a:off x="3905250" y="1943100"/>
              <a:ext cx="1190625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値_製造"/>
            <p:cNvSpPr/>
            <p:nvPr/>
          </p:nvSpPr>
          <p:spPr>
            <a:xfrm>
              <a:off x="3905250" y="2047875"/>
              <a:ext cx="1190625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25</a:t>
              </a:r>
            </a:p>
          </p:txBody>
        </p:sp>
        <p:cxnSp>
          <p:nvCxnSpPr>
            <p:cNvPr id="22" name="コネクタ2"/>
            <p:cNvCxnSpPr/>
            <p:nvPr/>
          </p:nvCxnSpPr>
          <p:spPr>
            <a:xfrm>
              <a:off x="5095875" y="2324100"/>
              <a:ext cx="0" cy="28575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施策_製造"/>
            <p:cNvSpPr/>
            <p:nvPr/>
          </p:nvSpPr>
          <p:spPr>
            <a:xfrm>
              <a:off x="7048500" y="2038350"/>
              <a:ext cx="2571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ライン統合と外注比率の見直し</a:t>
              </a:r>
            </a:p>
          </p:txBody>
        </p:sp>
        <p:sp>
          <p:nvSpPr>
            <p:cNvPr id="24" name="削減後_製造"/>
            <p:cNvSpPr/>
            <p:nvPr/>
          </p:nvSpPr>
          <p:spPr>
            <a:xfrm>
              <a:off x="9715500" y="2038350"/>
              <a:ext cx="666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20</a:t>
              </a:r>
            </a:p>
          </p:txBody>
        </p:sp>
        <p:sp>
          <p:nvSpPr>
            <p:cNvPr id="25" name="効果_製造"/>
            <p:cNvSpPr/>
            <p:nvPr/>
          </p:nvSpPr>
          <p:spPr>
            <a:xfrm>
              <a:off x="10477500" y="2038350"/>
              <a:ext cx="762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▲5</a:t>
              </a:r>
            </a:p>
          </p:txBody>
        </p:sp>
        <p:cxnSp>
          <p:nvCxnSpPr>
            <p:cNvPr id="26" name="行罫線2"/>
            <p:cNvCxnSpPr/>
            <p:nvPr/>
          </p:nvCxnSpPr>
          <p:spPr>
            <a:xfrm>
              <a:off x="7048500" y="2476500"/>
              <a:ext cx="4191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項目_物流"/>
            <p:cNvSpPr/>
            <p:nvPr/>
          </p:nvSpPr>
          <p:spPr>
            <a:xfrm>
              <a:off x="1047750" y="2705100"/>
              <a:ext cx="876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物流</a:t>
              </a:r>
            </a:p>
          </p:txBody>
        </p:sp>
        <p:sp>
          <p:nvSpPr>
            <p:cNvPr id="28" name="バー_物流"/>
            <p:cNvSpPr/>
            <p:nvPr/>
          </p:nvSpPr>
          <p:spPr>
            <a:xfrm>
              <a:off x="5095875" y="2609850"/>
              <a:ext cx="9525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値_物流"/>
            <p:cNvSpPr/>
            <p:nvPr/>
          </p:nvSpPr>
          <p:spPr>
            <a:xfrm>
              <a:off x="5095875" y="2714625"/>
              <a:ext cx="952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20</a:t>
              </a:r>
            </a:p>
          </p:txBody>
        </p:sp>
        <p:cxnSp>
          <p:nvCxnSpPr>
            <p:cNvPr id="30" name="コネクタ3"/>
            <p:cNvCxnSpPr/>
            <p:nvPr/>
          </p:nvCxnSpPr>
          <p:spPr>
            <a:xfrm>
              <a:off x="6048375" y="2990850"/>
              <a:ext cx="0" cy="28575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施策_物流"/>
            <p:cNvSpPr/>
            <p:nvPr/>
          </p:nvSpPr>
          <p:spPr>
            <a:xfrm>
              <a:off x="7048500" y="2705100"/>
              <a:ext cx="2571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共同配送への切り替え</a:t>
              </a:r>
            </a:p>
          </p:txBody>
        </p:sp>
        <p:sp>
          <p:nvSpPr>
            <p:cNvPr id="32" name="削減後_物流"/>
            <p:cNvSpPr/>
            <p:nvPr/>
          </p:nvSpPr>
          <p:spPr>
            <a:xfrm>
              <a:off x="9715500" y="2705100"/>
              <a:ext cx="666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17</a:t>
              </a:r>
            </a:p>
          </p:txBody>
        </p:sp>
        <p:sp>
          <p:nvSpPr>
            <p:cNvPr id="33" name="効果_物流"/>
            <p:cNvSpPr/>
            <p:nvPr/>
          </p:nvSpPr>
          <p:spPr>
            <a:xfrm>
              <a:off x="10477500" y="2705100"/>
              <a:ext cx="762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▲3</a:t>
              </a:r>
            </a:p>
          </p:txBody>
        </p:sp>
        <p:cxnSp>
          <p:nvCxnSpPr>
            <p:cNvPr id="34" name="行罫線3"/>
            <p:cNvCxnSpPr/>
            <p:nvPr/>
          </p:nvCxnSpPr>
          <p:spPr>
            <a:xfrm>
              <a:off x="7048500" y="3143250"/>
              <a:ext cx="4191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項目_販売管理"/>
            <p:cNvSpPr/>
            <p:nvPr/>
          </p:nvSpPr>
          <p:spPr>
            <a:xfrm>
              <a:off x="1047750" y="3371850"/>
              <a:ext cx="876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販売管理</a:t>
              </a:r>
            </a:p>
          </p:txBody>
        </p:sp>
        <p:sp>
          <p:nvSpPr>
            <p:cNvPr id="36" name="バー_販売管理"/>
            <p:cNvSpPr/>
            <p:nvPr/>
          </p:nvSpPr>
          <p:spPr>
            <a:xfrm>
              <a:off x="6048375" y="3276600"/>
              <a:ext cx="714375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値_販売管理"/>
            <p:cNvSpPr/>
            <p:nvPr/>
          </p:nvSpPr>
          <p:spPr>
            <a:xfrm>
              <a:off x="6048375" y="3381375"/>
              <a:ext cx="714375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15</a:t>
              </a:r>
            </a:p>
          </p:txBody>
        </p:sp>
        <p:sp>
          <p:nvSpPr>
            <p:cNvPr id="38" name="施策_販売管理"/>
            <p:cNvSpPr/>
            <p:nvPr/>
          </p:nvSpPr>
          <p:spPr>
            <a:xfrm>
              <a:off x="7048500" y="3371850"/>
              <a:ext cx="2571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間接業務の自動化</a:t>
              </a:r>
            </a:p>
          </p:txBody>
        </p:sp>
        <p:sp>
          <p:nvSpPr>
            <p:cNvPr id="39" name="削減後_販売管理"/>
            <p:cNvSpPr/>
            <p:nvPr/>
          </p:nvSpPr>
          <p:spPr>
            <a:xfrm>
              <a:off x="9715500" y="3371850"/>
              <a:ext cx="666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13</a:t>
              </a:r>
            </a:p>
          </p:txBody>
        </p:sp>
        <p:sp>
          <p:nvSpPr>
            <p:cNvPr id="40" name="効果_販売管理"/>
            <p:cNvSpPr/>
            <p:nvPr/>
          </p:nvSpPr>
          <p:spPr>
            <a:xfrm>
              <a:off x="10477500" y="3371850"/>
              <a:ext cx="762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▲2</a:t>
              </a:r>
            </a:p>
          </p:txBody>
        </p:sp>
        <p:cxnSp>
          <p:nvCxnSpPr>
            <p:cNvPr id="41" name="行罫線4"/>
            <p:cNvCxnSpPr/>
            <p:nvPr/>
          </p:nvCxnSpPr>
          <p:spPr>
            <a:xfrm>
              <a:off x="7048500" y="3810000"/>
              <a:ext cx="4191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項目_合計"/>
            <p:cNvSpPr/>
            <p:nvPr/>
          </p:nvSpPr>
          <p:spPr>
            <a:xfrm>
              <a:off x="1047750" y="4133850"/>
              <a:ext cx="876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合計</a:t>
              </a:r>
            </a:p>
          </p:txBody>
        </p:sp>
        <p:sp>
          <p:nvSpPr>
            <p:cNvPr id="43" name="バー_合計"/>
            <p:cNvSpPr/>
            <p:nvPr/>
          </p:nvSpPr>
          <p:spPr>
            <a:xfrm>
              <a:off x="2000250" y="4038600"/>
              <a:ext cx="4762500" cy="381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値_合計"/>
            <p:cNvSpPr/>
            <p:nvPr/>
          </p:nvSpPr>
          <p:spPr>
            <a:xfrm>
              <a:off x="2000250" y="4143375"/>
              <a:ext cx="46291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50" b="1">
                  <a:solidFill>
                    <a:schemeClr val="lt1"/>
                  </a:solidFill>
                </a:rPr>
                <a:t>100</a:t>
              </a:r>
            </a:p>
          </p:txBody>
        </p:sp>
        <p:sp>
          <p:nvSpPr>
            <p:cNvPr id="45" name="施策_合計"/>
            <p:cNvSpPr/>
            <p:nvPr/>
          </p:nvSpPr>
          <p:spPr>
            <a:xfrm>
              <a:off x="7048500" y="4124325"/>
              <a:ext cx="2571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削減後合計</a:t>
              </a:r>
            </a:p>
          </p:txBody>
        </p:sp>
        <p:sp>
          <p:nvSpPr>
            <p:cNvPr id="46" name="削減後_合計"/>
            <p:cNvSpPr/>
            <p:nvPr/>
          </p:nvSpPr>
          <p:spPr>
            <a:xfrm>
              <a:off x="9715500" y="4114800"/>
              <a:ext cx="6667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82</a:t>
              </a:r>
            </a:p>
          </p:txBody>
        </p:sp>
        <p:sp>
          <p:nvSpPr>
            <p:cNvPr id="47" name="削減率タグ"/>
            <p:cNvSpPr/>
            <p:nvPr/>
          </p:nvSpPr>
          <p:spPr>
            <a:xfrm>
              <a:off x="10496550" y="4095750"/>
              <a:ext cx="762000" cy="247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削減率"/>
            <p:cNvSpPr/>
            <p:nvPr/>
          </p:nvSpPr>
          <p:spPr>
            <a:xfrm>
              <a:off x="10496550" y="4105275"/>
              <a:ext cx="7620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▲18%</a:t>
              </a:r>
            </a:p>
          </p:txBody>
        </p:sp>
      </p:grpSp>
      <p:sp>
        <p:nvSpPr>
          <p:cNvPr id="49" name="Rectangle 48"/>
          <p:cNvSpPr/>
          <p:nvPr/>
        </p:nvSpPr>
        <p:spPr>
          <a:xfrm>
            <a:off x="1047750" y="4629150"/>
            <a:ext cx="4953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850">
                <a:solidFill>
                  <a:schemeClr val="accent5"/>
                </a:solidFill>
              </a:rPr>
              <a:t>出典：社内管理会計（2026年6月・年換算）</a:t>
            </a:r>
          </a:p>
        </p:txBody>
      </p:sp>
      <p:grpSp>
        <p:nvGrpSpPr>
          <p:cNvPr id="50" name="使用例_結論"/>
          <p:cNvGrpSpPr/>
          <p:nvPr/>
        </p:nvGrpSpPr>
        <p:grpSpPr>
          <a:xfrm>
            <a:off x="1047750" y="5295900"/>
            <a:ext cx="6096000" cy="762000"/>
            <a:chOff x="1047750" y="5295900"/>
            <a:chExt cx="6096000" cy="762000"/>
          </a:xfrm>
        </p:grpSpPr>
        <p:sp>
          <p:nvSpPr>
            <p:cNvPr id="51" name="結論パネル"/>
            <p:cNvSpPr/>
            <p:nvPr/>
          </p:nvSpPr>
          <p:spPr>
            <a:xfrm>
              <a:off x="1047750" y="5295900"/>
              <a:ext cx="6096000" cy="762000"/>
            </a:xfrm>
            <a:prstGeom prst="roundRect">
              <a:avLst>
                <a:gd name="adj" fmla="val 12500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結論"/>
            <p:cNvSpPr/>
            <p:nvPr/>
          </p:nvSpPr>
          <p:spPr>
            <a:xfrm>
              <a:off x="1314450" y="5505450"/>
              <a:ext cx="55626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 b="1">
                  <a:solidFill>
                    <a:schemeClr val="lt1"/>
                  </a:solidFill>
                </a:rPr>
                <a:t>削減原資の18億円は、来期の成長投資へ振り向ける</a:t>
              </a:r>
            </a:p>
          </p:txBody>
        </p:sp>
      </p:grpSp>
      <p:grpSp>
        <p:nvGrpSpPr>
          <p:cNvPr id="53" name="使用例_次の一歩"/>
          <p:cNvGrpSpPr/>
          <p:nvPr/>
        </p:nvGrpSpPr>
        <p:grpSpPr>
          <a:xfrm>
            <a:off x="7429500" y="5295900"/>
            <a:ext cx="3810000" cy="762000"/>
            <a:chOff x="7429500" y="5295900"/>
            <a:chExt cx="3810000" cy="762000"/>
          </a:xfrm>
        </p:grpSpPr>
        <p:sp>
          <p:nvSpPr>
            <p:cNvPr id="54" name="次の一歩カード"/>
            <p:cNvSpPr/>
            <p:nvPr/>
          </p:nvSpPr>
          <p:spPr>
            <a:xfrm>
              <a:off x="7429500" y="5295900"/>
              <a:ext cx="3810000" cy="7620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見出し"/>
            <p:cNvSpPr/>
            <p:nvPr/>
          </p:nvSpPr>
          <p:spPr>
            <a:xfrm>
              <a:off x="7658100" y="5410200"/>
              <a:ext cx="3352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次の一歩</a:t>
              </a:r>
            </a:p>
          </p:txBody>
        </p:sp>
        <p:sp>
          <p:nvSpPr>
            <p:cNvPr id="56" name="本文"/>
            <p:cNvSpPr/>
            <p:nvPr/>
          </p:nvSpPr>
          <p:spPr>
            <a:xfrm>
              <a:off x="7658100" y="5638800"/>
              <a:ext cx="33528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dk1"/>
                  </a:solidFill>
                </a:rPr>
                <a:t>最大項目の調達から着手：集中購買の対象品目を今月中に確定</a:t>
              </a:r>
            </a:p>
          </p:txBody>
        </p:sp>
      </p:grpSp>
      <p:sp>
        <p:nvSpPr>
          <p:cNvPr id="57" name="Rectangle 56"/>
          <p:cNvSpPr/>
          <p:nvPr/>
        </p:nvSpPr>
        <p:spPr>
          <a:xfrm>
            <a:off x="390525" y="6419850"/>
            <a:ext cx="114109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パーツ図鑑｜⑥ 図解パターン 量と流れ — 組み込み例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22222"/>
      </a:dk1>
      <a:lt1>
        <a:srgbClr val="FFFFFF"/>
      </a:lt1>
      <a:dk2>
        <a:srgbClr val="063048"/>
      </a:dk2>
      <a:lt2>
        <a:srgbClr val="E7F1F6"/>
      </a:lt2>
      <a:accent1>
        <a:srgbClr val="065A82"/>
      </a:accent1>
      <a:accent2>
        <a:srgbClr val="D97706"/>
      </a:accent2>
      <a:accent3>
        <a:srgbClr val="3E8DAE"/>
      </a:accent3>
      <a:accent4>
        <a:srgbClr val="B9D7E4"/>
      </a:accent4>
      <a:accent5>
        <a:srgbClr val="6B7C85"/>
      </a:accent5>
      <a:accent6>
        <a:srgbClr val="DBE6EB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游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游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