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【この合本について】noteメンバーシップ「うちたの保管庫」の会員特典。個別ファイルを1冊に結合した全部入り版です。</a:t>
            </a:r>
          </a:p>
          <a:p>
            <a:r>
              <a:t>【探し方】このスライドの収録一覧のスライド番号へ移動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使いどころ：コンペや経営層向け提案で、初手から結論を刻みたいとき。タイトルに結論と数字を入れる「攻め」の表紙。</a:t>
            </a:r>
          </a:p>
          <a:p>
            <a:r>
              <a:t>差し替え箇所：タイトル（結論文）／効果数字とラベル／宛先／差出・日付。</a:t>
            </a:r>
          </a:p>
          <a:p>
            <a:r>
              <a:t>ワンポイント：表紙に出した数字は本編で必ず回収する（根拠ページを用意）。数字は1つに絞る。</a:t>
            </a:r>
          </a:p>
          <a:p>
            <a:r>
              <a:t>※配色はテーマ連動です（デザイン＞バリエーション＞配色で一括変更できます）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使いどころ：初回訪問・公式な提出文書の「正装」。表紙で迷ったらまずこれ。</a:t>
            </a:r>
          </a:p>
          <a:p>
            <a:r>
              <a:t>差し替え箇所：タイトル／サブタイトル／宛先／差出／日付／文書番号（不要なら削除）。</a:t>
            </a:r>
          </a:p>
          <a:p>
            <a:r>
              <a:t>ワンポイント：サブタイトルは提案の効能を一言で。飾り言葉より「何が変わるか」を書く。</a:t>
            </a:r>
          </a:p>
          <a:p>
            <a:r>
              <a:t>※配色はテーマ連動です（デザイン＞バリエーション＞配色で一括変更できます）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使いどころ：毎月の定例報告。会議体・期・部署・報告者を毎月同じ定位置に置き、「探さずに読める」を作る。</a:t>
            </a:r>
          </a:p>
          <a:p>
            <a:r>
              <a:t>差し替え箇所：月度タイトル／今月の結論1行／下部の定位置4項目（期間・部署・報告者・報告日）。</a:t>
            </a:r>
          </a:p>
          <a:p>
            <a:r>
              <a:t>ワンポイント：結論1行は毎月言い切りで書き換える。表紙で結論が言えない月は本編も曖昧になっている合図。</a:t>
            </a:r>
          </a:p>
          <a:p>
            <a:r>
              <a:t>※配色はテーマ連動です（デザイン＞バリエーション＞配色で一括変更できます）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使いどころ：ミニマル表紙。濃紺一面＋白タイトルのみ。章扉としても使える（タイトルを章名に差し替え）。</a:t>
            </a:r>
          </a:p>
          <a:p>
            <a:r>
              <a:t>差し替え箇所：タイトル／日付・部署。</a:t>
            </a:r>
          </a:p>
          <a:p>
            <a:r>
              <a:t>ワンポイント：全章の扉をこの型で統一すると資料全体が締まる。背景色はテーマ配色に連動（dark2）。</a:t>
            </a:r>
          </a:p>
          <a:p>
            <a:r>
              <a:t>※配色はテーマ連動です（デザイン＞バリエーション＞配色で一括変更できます）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使いどころ：目次の基本形。章と説明を数字で並べる。迷ったらこれ。</a:t>
            </a:r>
          </a:p>
          <a:p>
            <a:r>
              <a:t>差し替え箇所：ヘッドメッセージ／章タイトル・説明・頁。</a:t>
            </a:r>
          </a:p>
          <a:p>
            <a:r>
              <a:t>ワンポイント：目次でも「本日の論点は◯つ」と言い切る（飾りの「目次」タイトルだけにしない）。章は5±2に収める。</a:t>
            </a:r>
          </a:p>
          <a:p>
            <a:r>
              <a:t>※配色はテーマ連動です（デザイン＞バリエーション＞配色で一括変更できます）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使いどころ：定例会議・ワークショップ。時間配分を宣言して、会議を設計通りに進める。</a:t>
            </a:r>
          </a:p>
          <a:p>
            <a:r>
              <a:t>差し替え箇所：上の時間バー（幅＝分数に比例）／議題・開始時刻・時間。</a:t>
            </a:r>
          </a:p>
          <a:p>
            <a:r>
              <a:t>ワンポイント：合計を持ち時間と一致させる。決裁・決定の時間を必ず確保して色で目立たせる（朱は1点まで）。</a:t>
            </a:r>
          </a:p>
          <a:p>
            <a:r>
              <a:t>※配色はテーマ連動です（デザイン＞バリエーション＞配色で一括変更できます）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【章扉①面使い・章番号特大の使いどころ】</a:t>
            </a:r>
          </a:p>
          <a:p>
            <a:r>
              <a:t>章の切り替えを強く見せたいとき。30ページ超の大型資料や、経営層向け報告のキー章（結論に効く章）に向きます。</a:t>
            </a:r>
          </a:p>
          <a:p>
            <a:r>
              <a:t>【使い分け】P03白地ミニマルより重厚。全章これだと重いので、勝負章だけ①・他は③（進捗ドット）等と組み合わせても可。</a:t>
            </a:r>
          </a:p>
          <a:p>
            <a:r>
              <a:t>【差し替えのコツ】右側の2行が「章のキーメッセージ」。章の結論を先に言い切ってください（例：課題の8割は◯◯に起因します）。「本章の流れ」は3項目まで。増やすと扉が目次になってしまいます。</a:t>
            </a:r>
          </a:p>
          <a:p>
            <a:r>
              <a:t>【禁じ手】左の面に本文を書き込まない。面は“転換の合図”に徹します。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【章扉③進捗ドット付きの使いどころ】</a:t>
            </a:r>
          </a:p>
          <a:p>
            <a:r>
              <a:t>章が4つ以上ある資料・長時間の説明会で、聞き手を迷子にしないための章扉。全章の扉をこの型で統一すると効果が最大になります。</a:t>
            </a:r>
          </a:p>
          <a:p>
            <a:r>
              <a:t>【使い分け】“いま全体のどこか”を示せるのはこの型だけ。研修資料・報告会など、途中参加や離脱がある場面に特に有効です。</a:t>
            </a:r>
          </a:p>
          <a:p>
            <a:r>
              <a:t>【差し替えのコツ】ドットは章数に合わせて増減（等間隔を維持）。現在章＝オレンジ大ドット＋「いまここ」、済＝青塗り、未来＝白抜き、の3状態を必ず守ってください。</a:t>
            </a:r>
          </a:p>
          <a:p>
            <a:r>
              <a:t>【注意】オレンジは現在地の1点のみ。済ドットまでオレンジにすると現在地が消えます。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【章扉⑤キーメッセージ先出し型の使いどころ】</a:t>
            </a:r>
          </a:p>
          <a:p>
            <a:r>
              <a:t>忙しい決裁者向けの提案・報告。章の結論を扉で言い切っておくと、聞き手は「答え合わせモード」で安心して聞けます。</a:t>
            </a:r>
          </a:p>
          <a:p>
            <a:r>
              <a:t>【使い分け】驚きやストーリー性は失われるため、引き込みたい章はP04（問いかけ型）を。結論に自信がある章・時間が短い会議はこの型が最強です。</a:t>
            </a:r>
          </a:p>
          <a:p>
            <a:r>
              <a:t>【差し替えのコツ】濃紺ボックスの結論は2行以内・言い切り（〜すべきです／〜します）。下の1行で「根拠は本章で示す」と予告し、期待値を作ってください。</a:t>
            </a:r>
          </a:p>
          <a:p>
            <a:r>
              <a:t>【併用】章内の最終ページで同じ結論文を再掲すると、記憶への定着が段違いです。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【メッセージ④データ引用の使いどころ】</a:t>
            </a:r>
          </a:p>
          <a:p>
            <a:r>
              <a:t>提案の冒頭で「課題は貴社だけではない＝市場全体の問題」と納得させる1枚。市場性・緊急性の根拠づくりに使います。</a:t>
            </a:r>
          </a:p>
          <a:p>
            <a:r>
              <a:t>【使い分け】自社実績で語るならP09（顧客の声）。第三者の統計は“中立な証拠”として、まだ信頼関係が浅い相手に特に効きます。</a:t>
            </a:r>
          </a:p>
          <a:p>
            <a:r>
              <a:t>【差し替えのコツ】主役は数字1つだけ（複数見せたい場合は右の内訳バーへ）。ヘッドメッセージは「74%」を「4社に1社」のように生活感のある言葉に翻訳すると刺さります。</a:t>
            </a:r>
          </a:p>
          <a:p>
            <a:r>
              <a:t>【信頼性の作法】出典ボックスの「調査名・実施時期・n・対象」は絶対に省略しない。ここが薄いと数字ごと疑われます。グラフの見た目より出典の明記が、この型の生命線です。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【CTA①次のステップ3択の使いどころ】</a:t>
            </a:r>
          </a:p>
          <a:p>
            <a:r>
              <a:t>提案の最終盤。決裁者は「やるか否か」より「どれでやるか」の方が決めやすい——選択肢の提示で前に進める型です。</a:t>
            </a:r>
          </a:p>
          <a:p>
            <a:r>
              <a:t>【使い分け】決めることが1つに絞れているならP17（1点集中）。相手の温度感が読めないときは、この3択が安全です。</a:t>
            </a:r>
          </a:p>
          <a:p>
            <a:r>
              <a:t>【差し替えのコツ】3案は「大きく／小さく／何もしない」の構成が王道。C案（現状維持）を入れて“何もしないコスト”を明記すると誠実さと緊張感が両立します。推奨案は枠線＋推奨チップで1つだけ明示（オレンジはここだけ）。</a:t>
            </a:r>
          </a:p>
          <a:p>
            <a:r>
              <a:t>【口頭の運び】このページを映したまま「Bでいかがでしょう」と一言添えて沈黙する。選択肢の比較は資料に、決断は相手に。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【CTA④まとめ3点＋依頼1点の使いどころ】</a:t>
            </a:r>
          </a:p>
          <a:p>
            <a:r>
              <a:t>報告・提案の最終ページの王道。「まとめ＝復習」と「依頼＝次の一手」を1枚に分離して置くことで、会議の最後が具体的に締まります。</a:t>
            </a:r>
          </a:p>
          <a:p>
            <a:r>
              <a:t>【使い分け】依頼が重い決裁事項ならP17（1点集中）で単独ページに昇格。この型は“承認より軽い依頼”（部門指名・日程確保など）向きです。</a:t>
            </a:r>
          </a:p>
          <a:p>
            <a:r>
              <a:t>【差し替えのコツ】まとめ3点は各章の結論をそのまま再掲する（新しい話をここで足さない）。依頼は必ず1つに絞り、「誰が・何を・いつまでに」を含めて書く。期日のない依頼は動きません。</a:t>
            </a:r>
          </a:p>
          <a:p>
            <a:r>
              <a:t>【視線設計】左（振り返り）→右（依頼）の流れ。濃紺カードが最後に視線が止まる場所＝依頼が記憶に残ります。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【使いどころ】時系列の「悪化・増加」を最初に見せ、課題認識を揃える1枚。提案の現状分析の起点に置く。</a:t>
            </a:r>
          </a:p>
          <a:p>
            <a:r>
              <a:t>【選び方】3期以上の数字があるならこの型。1時点の数字しかなければP.04データ3点セット、工程別に取れるならP.03構造マップへ。</a:t>
            </a:r>
          </a:p>
          <a:p>
            <a:r>
              <a:t>【打ち替えポイント】棒の高さは値に比例させる（視覚ボリュームの原則）。強調は当期1本だけ（primary）、過去はtertiaryのまま。朱の吹き出しは「×1.8」など最重要の変化1点に。ヘッドメッセージは「◯年で×◯倍」と言い切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【使いどころ】部門×観点のマトリクスで問題の「偏り」を面で見せる。着手順の合意（どこから手を付けるか）に強い。</a:t>
            </a:r>
          </a:p>
          <a:p>
            <a:r>
              <a:t>【選び方】領域が3つ以上あり、状態に濃淡があるときはこの型。1領域しかない・全領域が同程度なら向かない（P.04データ3点セットへ）。</a:t>
            </a:r>
          </a:p>
          <a:p>
            <a:r>
              <a:t>【打ち替えポイント】行・列は4±1に収める。色は5段階（濃い＝深刻）で統一し、凡例を必ず置く。朱の枠＝最初に手を打つセル1つだけ。評価根拠（何人ヒアリング等）を出所に明記する。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【使いどころ】課題を「なぜ」で分解し、打ち手を当てるべき真因1点まで絞り込む。課題章の背骨になる1枚。</a:t>
            </a:r>
          </a:p>
          <a:p>
            <a:r>
              <a:t>【選び方】要因が複数階層に分かれるときはこの型。見える事象と見えない構造の対比で語るならP.08氷山型、課題が並列に3つあるならP.09の3つの壁型へ。</a:t>
            </a:r>
          </a:p>
          <a:p>
            <a:r>
              <a:t>【打ち替えポイント】分解はMECEに（第1階層は2〜3個）。各要因に定量の裏づけを1行添える。朱のチップ＝真因1点だけ。真因のカードだけ枠を太くして視線を集める。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【使いどころ】「見えている問題」と「それを生む構造」を上下2層で分け、対処療法から構造改革へ議論を引き上げる。</a:t>
            </a:r>
          </a:p>
          <a:p>
            <a:r>
              <a:t>【選び方】経営層が事象（遅延・残業）だけを問題視しているときに効く。真因を1点まで絞り込む分析はP.07ツリー、課題が並列ならP.09へ。</a:t>
            </a:r>
          </a:p>
          <a:p>
            <a:r>
              <a:t>【打ち替えポイント】上段の事象は3つ・件数つきで。水面線（破線）の上下で塗りの濃さを変え、下段は濃色パネルで「重さ」を出す。朱のチップ＝水面下が本質という宣言1点。構造要因は2つまでに絞る。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【使いどころ】市場の大きさを「全体→対象→確実に届く範囲」の3層に絞り込み、計画の現実味を示す。市場・機会章の起点に。</a:t>
            </a:r>
          </a:p>
          <a:p>
            <a:r>
              <a:t>【選び方】新規事業・新サービスの提案でほぼ必須。市場データが取れないときは円を「顧客数」の入れ子（全社→対象業種→商圏内）に読み替えて使う。</a:t>
            </a:r>
          </a:p>
          <a:p>
            <a:r>
              <a:t>【打ち替えポイント】円の面積は正確な比例でなくてよいが、大小関係と入れ子は崩さない。SOMの算出根拠（体制×件数×単価）を1行添える。朱のチップ＝主戦場の宣言1点。TAM自慢で終わらせず、SOMで言い切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【使いどころ】競合の位置取りを2軸で示し、自社が狙う「空白」を指差す。市場章のクライマックスに置く。</a:t>
            </a:r>
          </a:p>
          <a:p>
            <a:r>
              <a:t>【選び方】軸2つで各社の差が語れるときはこの型。軸が3つ以上要るなら表（P.15比較表）へ。空白が本当に空白か（＝なぜ空いているのか）を説明できないなら使わない。</a:t>
            </a:r>
          </a:p>
          <a:p>
            <a:r>
              <a:t>【打ち替えポイント】軸は「顧客が選ぶ基準」を選ぶ（品質×価格が定番）。競合ドットはtertiary/secondary、当社だけprimary。朱の破線囲み＝空白地帯1つだけ。「なぜ今まで空白だったか」を必ず添える。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【使いどころ】3つの選択肢を同じ物差しで並べ、推奨案を1つに決め切る。比較章の定番・1枚目。</a:t>
            </a:r>
          </a:p>
          <a:p>
            <a:r>
              <a:t>【選び方】選択肢が3つ・判断基準が4つ以上あるときはこの型。選択肢が2つならP.16深掘り対比、「やらない」を選択肢に含めるならP.17へ。</a:t>
            </a:r>
          </a:p>
          <a:p>
            <a:r>
              <a:t>【打ち替えポイント】推奨列は薄ティント＋ヘッダ濃色で常に目立たせ、朱のチップ＝推奨タグ1点。行は「費用→期間→質」の順に、最後を総合評価（△○◎）で締める。推奨案に不利な行（年間費用）も隠さず、下の補足で回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【使いどころ】業務改善・システム導入の「何が変わるか」を見せる決定版。</a:t>
            </a:r>
          </a:p>
          <a:p>
            <a:r>
              <a:t>【選び方】現行への不満が共有できている相手には03、まだの相手は先に現状分析（L03の02）を。</a:t>
            </a:r>
          </a:p>
          <a:p>
            <a:r>
              <a:t>【打ち替えポイント】工程名と日数を差し替え。消える工程は必ず破線に——色を薄くするだけでは「弱い工程」に誤読される。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【使いどころ】「まず小さく試しましょう」を具体化する1枚。導入ハードルを最も下げる。</a:t>
            </a:r>
          </a:p>
          <a:p>
            <a:r>
              <a:t>【選び方】決裁者が慎重なら02-04の後に必ずこれ。前のめりな相手には省略も可。</a:t>
            </a:r>
          </a:p>
          <a:p>
            <a:r>
              <a:t>【打ち替えポイント】継続判断の基準3つが本体。曖昧な基準（「効果が見えたら」）は書かない——測れる数字だけ。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【使いどころ】効果パートの1枚目。決裁者の「で、いくら？いつ回収？」に最初に答える。</a:t>
            </a:r>
          </a:p>
          <a:p>
            <a:r>
              <a:t>【選び方】詳細な分解（09-11）の前に必ずこの要約を置く。細部から入ると全体を見失う。</a:t>
            </a:r>
          </a:p>
          <a:p>
            <a:r>
              <a:t>【打ち替えポイント】3つの数字と根拠行を差し替え。回収期間のカードだけ薄塗り＝視線の終着点。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【使いどころ】投資額への抵抗を「効果の積み上げ」で溶かす1枚。投資→効果→純効果の順で読ませる。</a:t>
            </a:r>
          </a:p>
          <a:p>
            <a:r>
              <a:t>【選び方】効果が2つ以下なら滝にせず08のKPIカードで足りる。3つ以上あるとき滝が効く。</a:t>
            </a:r>
          </a:p>
          <a:p>
            <a:r>
              <a:t>【打ち替えポイント】朱＝投資（出ていくお金）のみ。効果側に朱を使うと意味が壊れる。数値と項目名を差し替え。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【使いどころ】実行計画の本丸。タスクの網羅ではなく「どこで死ぬか」を示すのが仕事。</a:t>
            </a:r>
          </a:p>
          <a:p>
            <a:r>
              <a:t>【選び方】決裁後・キックオフ〜運用で毎週更新して使う。決裁前は12で足りる。</a:t>
            </a:r>
          </a:p>
          <a:p>
            <a:r>
              <a:t>【打ち替えポイント】帯の位置と現在線を毎週動かす。濃色＝クリティカルパスは常に1本だけに保つ。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【使いどころ】役割の齟齬を事前に潰す1枚。特に「A（決める人）が貴社にある」ことを見せて主導権の不安を消す。</a:t>
            </a:r>
          </a:p>
          <a:p>
            <a:r>
              <a:t>【選び方】6行を超えるタスクは束ねる。細かすぎるRACIは読まれず、運用もされない。</a:t>
            </a:r>
          </a:p>
          <a:p>
            <a:r>
              <a:t>【打ち替えポイント】タスク行とR/A/Cの配置を差し替え。Aが全部自社側に並ぶと「丸投げされる」印象になるので注意。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【使いどころ】金額の話から逃げない1枚。「含まれないもの」を自分から書くのが信頼の獲得点。</a:t>
            </a:r>
          </a:p>
          <a:p>
            <a:r>
              <a:t>【選び方】概算段階では幅で書く（800〜900万円）。確定見積りでこの型に落とす。</a:t>
            </a:r>
          </a:p>
          <a:p>
            <a:r>
              <a:t>【打ち替えポイント】内訳行と金額を差し替え。合計行は必ず濃色で1つ——合計が2つある費用表は不信の元。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【使いどき】サービス紹介の導入部で、読み手の共感を最初に取りにいく定番。話し言葉（感情のことば）をそのまま載せるのがコツ。</a:t>
            </a:r>
          </a:p>
          <a:p>
            <a:r>
              <a:t>【使い分け】感情に寄せたい→本頁／客観で固めたい→P5「数字で見る悩み」。読み手が現場担当なら本頁、決裁者ならP5のほうが刺さる。1つの典型シーンを深く見せるならP3。</a:t>
            </a:r>
          </a:p>
          <a:p>
            <a:r>
              <a:t>【差し替え】吹き出しの中は必ず話し言葉のまま（体言止め・要約調にしない）。3つの悩みは、自社サービスが解決できる順に並べる。話者の肩書は想定読者と同じ立場に。</a:t>
            </a:r>
          </a:p>
          <a:p>
            <a:r>
              <a:t>※本頁の名称・数値は架空のサンプルです。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【使いどき】読み手自身に課題を「自分ごと」と認めてもらう参加型レイアウト。配布資料・セミナー・Web商談の画面共有で強い。</a:t>
            </a:r>
          </a:p>
          <a:p>
            <a:r>
              <a:t>【使い分け】一方的に話すプレゼン→P2/P3（声・3コマ）／読み手がその場で手を動かせる場→本頁。チェック結果を起点に会話が生まれるのが最大の効能。</a:t>
            </a:r>
          </a:p>
          <a:p>
            <a:r>
              <a:t>【差し替え】項目は6個まで（多いと答えてもらえない）。判定ラインは「半分」に置くと角が立たない。項目は自社サービスで解決できるものだけにする。</a:t>
            </a:r>
          </a:p>
          <a:p>
            <a:r>
              <a:t>※本頁の名称・数値は架空のサンプルです。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【使いどき】悩み共感パートの直後、解決編の扉として。情報を削るほど強くなる1枚。資料の中で最も余白が多い頁にする勇気が品質。</a:t>
            </a:r>
          </a:p>
          <a:p>
            <a:r>
              <a:t>【使い分け】約束を1文で宣言→本頁／導入前後の変化を見せる→P7／新規性・独自性を打ち出す→P8。</a:t>
            </a:r>
          </a:p>
          <a:p>
            <a:r>
              <a:t>【差し替え】一文は20字以内・言い切りで。機能の説明を書かない（機能はP15以降の仕事）。下の3キーワードは強みの頁（P9）の柱と一致させ、資料全体の背骨にする。</a:t>
            </a:r>
          </a:p>
          <a:p>
            <a:r>
              <a:t>※本頁の名称・数値は架空のサンプルです。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【使いどき】強みパートの1枚目に置く標準形。強みの全体像を示し、以降の頁の目次を兼ねる。</a:t>
            </a:r>
          </a:p>
          <a:p>
            <a:r>
              <a:t>【使い分け】強みが3つに絞れる→本頁／1つの強みが圧倒的→P14の1点突破／数字だけで押し切る→P10。迷ったら本頁から始めるのが安全。</a:t>
            </a:r>
          </a:p>
          <a:p>
            <a:r>
              <a:t>【差し替え】柱の名前は2〜4字の短い言葉に（速い・揃う・見えるの粒度）。各柱に裏づけ数字を必ず1つずつ——数字のない柱は削るか統合する。柱はP6コンセプト頁のキーワードと一致させる。</a:t>
            </a:r>
          </a:p>
          <a:p>
            <a:r>
              <a:t>※本頁の名称・数値は架空のサンプルです。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【使いどき】比較検討フェーズの読み手向け。相手がどうせ作る比較表を、こちらの軸で先に作って渡すレイアウト。</a:t>
            </a:r>
          </a:p>
          <a:p>
            <a:r>
              <a:t>【使い分け】競合名を出せる商談の場→本頁／出せない配布資料→P10（自社の絶対値）。新カテゴリ宣言（P8）とセットなら、宣言→この表の順で「軸を自分で定義してから比較」する。</a:t>
            </a:r>
          </a:p>
          <a:p>
            <a:r>
              <a:t>【差し替え】自社が勝つ軸だけ並べない——1項目は「引き分け」や他社の丸を残すと信頼される。他社名は架空表記のまま使うか、根拠を持てる公開情報に限定する。行は5つまで。</a:t>
            </a:r>
          </a:p>
          <a:p>
            <a:r>
              <a:t>※本頁の名称・数値は架空のサンプルです。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【使いどき】「実際どう使うの？」に画面で答える頁。抽象的な価値の話が続いた後に置くと効く。</a:t>
            </a:r>
          </a:p>
          <a:p>
            <a:r>
              <a:t>【使い分け】1画面と代表機能を深く→本頁／機能の広がり・網羅性を見せる→P16マップ。デモができない配布資料では本頁が実質のデモ代わりになる。</a:t>
            </a:r>
          </a:p>
          <a:p>
            <a:r>
              <a:t>【差し替え】スクリーンショットを入れたら、丸数字①〜③を画面上の該当位置へ必ず移動する（説明と画面が対応して初めて意味がある）。機能は3つまで——絞れないのは主役画面が決まっていない証拠。</a:t>
            </a:r>
          </a:p>
          <a:p>
            <a:r>
              <a:t>※本頁の名称・数値は架空のサンプルです。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【使いどころ】商談後半・稟議直前の「証拠の1枚」。1社をBefore/After＋周辺数字＋声＋成功要因まで深掘りし、効果の再現可能性ごと見せる型です。</a:t>
            </a:r>
          </a:p>
          <a:p>
            <a:r>
              <a:t>【使い分け】事例が複数あるなら3頁（3社一覧）で面を見せてから本頁で深掘り。数字がまだ無い時期は5頁（声だけ3連）へ。</a:t>
            </a:r>
          </a:p>
          <a:p>
            <a:r>
              <a:t>【差し替えのコツ】Before/Afterは必ず同じ単位・同じ母集団で。声は敬体のまま3行以内に要約し、話者属性を残すこと。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【使いどころ】稟議・決裁者向けに「面の証拠」を示す型。個社の物語ではなく母集団の平均で語ります。</a:t>
            </a:r>
          </a:p>
          <a:p>
            <a:r>
              <a:t>【使い分け】個社のリアリティが要る→2頁。会社名を出せる→3頁。本頁は匿名のまま使える利点があります。</a:t>
            </a:r>
          </a:p>
          <a:p>
            <a:r>
              <a:t>【差し替えのコツ】n数・集計期間・集計条件を必ず明記（脚注と母数注記）。一番効く指標をヒーロー枠（左）に置き、朱の数字は1枚にこの1つだけ。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【使いどころ】料金説明の標準形。推奨プランに視線を集める3点セット（朱タグ・背面ハイライト・影）が肝です。</a:t>
            </a:r>
          </a:p>
          <a:p>
            <a:r>
              <a:t>【使い分け】プランが実質1つ→8頁。利用量で単価が変わる→9頁。価格抵抗が強い相手→10頁（回収）を続けて。</a:t>
            </a:r>
          </a:p>
          <a:p>
            <a:r>
              <a:t>【差し替えのコツ】機能名は左軸に1回だけ書き、列側はチェック/バツのみ（非冗長）。推奨は必ず1つに絞ること。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【使いどころ】導入フロー説明の標準形。工程（シェブロン）・期間（チップ）・作業（カード）を3段に分離した型。</a:t>
            </a:r>
          </a:p>
          <a:p>
            <a:r>
              <a:t>【使い分け】スピード自体が売り→12頁。相手の負担の軽さが論点→13頁。契約への心理障壁が高い→14頁。</a:t>
            </a:r>
          </a:p>
          <a:p>
            <a:r>
              <a:t>【差し替えのコツ】ステップは4つまで。「やること」は各3つまでで、主語（お客様か当社か）をカード内で明記すると誤解が出ません。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【使いどころ】FAQの標準形。質問は「費用・期間・変更・サポート」の4象限で網羅すると穴がなくなります。</a:t>
            </a:r>
          </a:p>
          <a:p>
            <a:r>
              <a:t>【使い分け】感情的な不安が主役→16頁。他社比較の局面→17頁。本頁は事実確認型の質問に。</a:t>
            </a:r>
          </a:p>
          <a:p>
            <a:r>
              <a:t>【差し替えのコツ】回答は最初の一文で言い切り、理由・条件は2文目以降に。1回答3文以内が読み切れる限度です。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【使いどころ】クロージング直前の安心材料。担当・時間・チャネルの3点セットで「導入後の顔」を見せる型。</a:t>
            </a:r>
          </a:p>
          <a:p>
            <a:r>
              <a:t>【使い分け】セキュリティ・会社の信頼性が論点→19頁。本頁は現場の運用不安に効きます。</a:t>
            </a:r>
          </a:p>
          <a:p>
            <a:r>
              <a:t>【差し替えのコツ】目標値（1時間以内）と実績値（42分）を並べる——実績が目標を上回っている構図が信頼をつくります。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【使いどころ】会社の信頼を数字で先出しする定番。6枚で「規模・質・人」をバランスさせる。</a:t>
            </a:r>
          </a:p>
          <a:p>
            <a:r>
              <a:t>【選び方】1つだけ濃色（自社の最強数字）にして視線の錨を作る。全部同格にしない。</a:t>
            </a:r>
          </a:p>
          <a:p>
            <a:r>
              <a:t>【打ち替えポイント】6つの数字と補足行を差し替え。単位は数字の右下に小さく（数字を主役にする）。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【使いどころ】沿革の標準形。年表の暗記でなく「転機の物語」として読ませる。</a:t>
            </a:r>
          </a:p>
          <a:p>
            <a:r>
              <a:t>【選び方】歴史が長い会社は06の章立て型で束ねる。5節目を超えると読まれない。</a:t>
            </a:r>
          </a:p>
          <a:p>
            <a:r>
              <a:t>【打ち替えポイント】節目5つと説明を差し替え。朱＝最大の転機1つだけ（創業でなく事業の転換点に置くと物語が立つ）。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【使いどころ】事業の「今」と「次」を1枚で語る。安定と挑戦のバランスを見せて経営の設計力を示す。</a:t>
            </a:r>
          </a:p>
          <a:p>
            <a:r>
              <a:t>【選び方】単一事業の会社は08でなく10の被覆型で「工程の広さ」を見せる。</a:t>
            </a:r>
          </a:p>
          <a:p>
            <a:r>
              <a:t>【打ち替えポイント】4事業の位置と大きさ（＝売上規模）を差し替え。面積は売上に比例させる（視覚ボリューム則）。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【使いどころ】組織の「思想」まで語る組織図。横断機能を帯で見せると立体感が出る。</a:t>
            </a:r>
          </a:p>
          <a:p>
            <a:r>
              <a:t>【選び方】階層が深い会社は3階層まで＝それ以下は人数表記で丸める。</a:t>
            </a:r>
          </a:p>
          <a:p>
            <a:r>
              <a:t>【打ち替えポイント】部門名・人数を差し替え。注記の一文（本社比率など）が思想の見せ場。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【使いどころ】経営陣紹介の標準形。肩書きでなく「原点のエピソード」で書くと記憶に残る。</a:t>
            </a:r>
          </a:p>
          <a:p>
            <a:r>
              <a:t>【選び方】4名以上は主要3名＋一覧行に分ける。全員並べると誰も覚えられない。</a:t>
            </a:r>
          </a:p>
          <a:p>
            <a:r>
              <a:t>【打ち替えポイント】写真枠に実写真を配置。略歴は3行以内・「だから何ができる」まで書く。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【使いどころ】理念を「行動例＋制度」まで落として語る型。行動例が具体的なほど信じられる。</a:t>
            </a:r>
          </a:p>
          <a:p>
            <a:r>
              <a:t>【選び方】バリューが4つ以上ある会社は、この資料では上位3つに絞る勇気を。</a:t>
            </a:r>
          </a:p>
          <a:p>
            <a:r>
              <a:t>【打ち替えポイント】3つのバリューと行動例を差し替え。行動例に数字（年12件等）が入ると一気に本物になる。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【使いどころ】経営会議・定例報告の冒頭1枚。KPIが3〜4個で、今月の良し悪しを最初に言い切りたいとき。</a:t>
            </a:r>
          </a:p>
          <a:p>
            <a:r>
              <a:t>【使い分け】指標が5個以上あるなら03のスコアカード表へ。定性の変化も並べたいなら04のハイライト＆ローライトへ。</a:t>
            </a:r>
          </a:p>
          <a:p>
            <a:r>
              <a:t>【コツ】朱色は要対処の1指標だけに使う（全部良いなら朱はゼロでよい）。カードは重要度順に左から並べ、総括パネルで「次に何をするか」まで言い切る。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【使いどころ】単月実績の位置づけを時系列の文脈で見せるとき。「過去最高」「3ヶ月連続」など推移が主役の月。</a:t>
            </a:r>
          </a:p>
          <a:p>
            <a:r>
              <a:t>【使い分け】目標とのギャップが主役なら06（累計進捗）へ。内訳の変化が主役なら07へ。</a:t>
            </a:r>
          </a:p>
          <a:p>
            <a:r>
              <a:t>【コツ】強調（濃色）は当月1本だけ。目盛線は引かず、値を直接ラベルで載せる。吹き出しの注記は1個まで。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【使いどころ】売上構成・チャネル構成など「中身の変化」を2時点で比較するとき。</a:t>
            </a:r>
          </a:p>
          <a:p>
            <a:r>
              <a:t>【使い分け】円グラフを2枚並べるのは判読不能なのでNG→必ずこの形へ。3時点以上の連続変化は積み上げエリアへ。</a:t>
            </a:r>
          </a:p>
          <a:p>
            <a:r>
              <a:t>【コツ】セグメントの並び順は2本で固定し、境界を点線でつなぐと変化が読める。ラベルは棒の中に直書き（凡例を作らない）。総額をカッコで添えると「構成比の変化」と「規模の変化」を混同され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【使いどころ】予実差異・前年差異の増減分解。経営報告の決定打で、差異報告の第一選択。</a:t>
            </a:r>
          </a:p>
          <a:p>
            <a:r>
              <a:t>【使い分け】各要因の対処まで1枚で語るなら12（要因ツリー）へ。明細数値の正確な共有が主目的なら13（予実表）へ。</a:t>
            </a:r>
          </a:p>
          <a:p>
            <a:r>
              <a:t>【コツ】増=青・減=朱で意味を固定。内部（自責）／外部（他責）タグを付けると「どこまで自分たちで打てるか」が一目で伝わる。両端（計画・実績）は濃色で錨にする。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【使いどころ】顕在化した課題を報告し、打ち手の妥当性を認めてもらうとき。課題報告の標準形。</a:t>
            </a:r>
          </a:p>
          <a:p>
            <a:r>
              <a:t>【使い分け】潜在リスクの俯瞰は15へ。案件単位の停滞整理は16へ。</a:t>
            </a:r>
          </a:p>
          <a:p>
            <a:r>
              <a:t>【コツ】原因には「真因」を1つ特定する（真因を解かない打ち手は再発する）。打ち手は原因と対応させ、結論帯で期日つきの約束に落とす。課題の大数字と下落幅で深刻度を最初に伝える。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【使いどころ】報告の締めで「来月やること」を宣言するとき。月次報告の最終盤の定番。</a:t>
            </a:r>
          </a:p>
          <a:p>
            <a:r>
              <a:t>【使い分け】承認・判断が必要な事項は18へ分離する（報告と依頼を混ぜない）。</a:t>
            </a:r>
          </a:p>
          <a:p>
            <a:r>
              <a:t>【コツ】重点は3つに絞る（4つ以上は重点ではない）。担当は役職名・期日は日付で書く——「今月中」「関係部署」と書いた瞬間に実行されなくなる。期待効果まで書くと翌月の検証ができる。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381000"/>
            <a:ext cx="10972800" cy="781050"/>
            <a:chOff x="609600" y="381000"/>
            <a:chExt cx="10972800" cy="781050"/>
          </a:xfrm>
        </p:grpSpPr>
        <p:sp>
          <p:nvSpPr>
            <p:cNvPr id="4" name="タイトル"/>
            <p:cNvSpPr/>
            <p:nvPr/>
          </p:nvSpPr>
          <p:spPr>
            <a:xfrm>
              <a:off x="609600" y="381000"/>
              <a:ext cx="109728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400" b="1">
                  <a:solidFill>
                    <a:schemeClr val="dk2"/>
                  </a:solidFill>
                </a:rPr>
                <a:t>テンプレ大全 100枚｜うちたの保管庫</a:t>
              </a:r>
            </a:p>
          </p:txBody>
        </p:sp>
        <p:sp>
          <p:nvSpPr>
            <p:cNvPr id="5" name="サブ"/>
            <p:cNvSpPr/>
            <p:nvPr/>
          </p:nvSpPr>
          <p:spPr>
            <a:xfrm>
              <a:off x="609600" y="838200"/>
              <a:ext cx="109728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accent5"/>
                  </a:solidFill>
                </a:rPr>
                <a:t>完成形ストーリー4種50枚＋用途別レイアウト50枚の全部入り合本です（2026-07-15：50枚→100枚）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620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収録一覧"/>
          <p:cNvGrpSpPr/>
          <p:nvPr/>
        </p:nvGrpSpPr>
        <p:grpSpPr>
          <a:xfrm>
            <a:off x="609600" y="1314450"/>
            <a:ext cx="4762500" cy="190500"/>
            <a:chOff x="609600" y="1314450"/>
            <a:chExt cx="4762500" cy="190500"/>
          </a:xfrm>
        </p:grpSpPr>
        <p:sp>
          <p:nvSpPr>
            <p:cNvPr id="8" name="一覧見出し"/>
            <p:cNvSpPr/>
            <p:nvPr/>
          </p:nvSpPr>
          <p:spPr>
            <a:xfrm>
              <a:off x="609600" y="1314450"/>
              <a:ext cx="4762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収録一覧（スライド番号で飛べます）</a:t>
              </a:r>
            </a:p>
          </p:txBody>
        </p:sp>
      </p:grpSp>
      <p:grpSp>
        <p:nvGrpSpPr>
          <p:cNvPr id="9" name="収録01"/>
          <p:cNvGrpSpPr/>
          <p:nvPr/>
        </p:nvGrpSpPr>
        <p:grpSpPr>
          <a:xfrm>
            <a:off x="609600" y="1600200"/>
            <a:ext cx="10972800" cy="247650"/>
            <a:chOff x="609600" y="1600200"/>
            <a:chExt cx="10972800" cy="247650"/>
          </a:xfrm>
        </p:grpSpPr>
        <p:sp>
          <p:nvSpPr>
            <p:cNvPr id="10" name="行地"/>
            <p:cNvSpPr/>
            <p:nvPr/>
          </p:nvSpPr>
          <p:spPr>
            <a:xfrm>
              <a:off x="609600" y="1600200"/>
              <a:ext cx="109728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章名"/>
            <p:cNvSpPr/>
            <p:nvPr/>
          </p:nvSpPr>
          <p:spPr>
            <a:xfrm>
              <a:off x="800100" y="162877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提案書（フルストーリー）</a:t>
              </a:r>
            </a:p>
          </p:txBody>
        </p:sp>
        <p:sp>
          <p:nvSpPr>
            <p:cNvPr id="12" name="種数"/>
            <p:cNvSpPr/>
            <p:nvPr/>
          </p:nvSpPr>
          <p:spPr>
            <a:xfrm>
              <a:off x="5086350" y="162877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14枚</a:t>
              </a:r>
            </a:p>
          </p:txBody>
        </p:sp>
        <p:sp>
          <p:nvSpPr>
            <p:cNvPr id="13" name="スライド番号"/>
            <p:cNvSpPr/>
            <p:nvPr/>
          </p:nvSpPr>
          <p:spPr>
            <a:xfrm>
              <a:off x="7658100" y="162877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2–15</a:t>
              </a:r>
            </a:p>
          </p:txBody>
        </p:sp>
      </p:grpSp>
      <p:grpSp>
        <p:nvGrpSpPr>
          <p:cNvPr id="14" name="収録02"/>
          <p:cNvGrpSpPr/>
          <p:nvPr/>
        </p:nvGrpSpPr>
        <p:grpSpPr>
          <a:xfrm>
            <a:off x="800100" y="1876425"/>
            <a:ext cx="10591800" cy="190500"/>
            <a:chOff x="800100" y="1876425"/>
            <a:chExt cx="10591800" cy="190500"/>
          </a:xfrm>
        </p:grpSpPr>
        <p:sp>
          <p:nvSpPr>
            <p:cNvPr id="15" name="章名"/>
            <p:cNvSpPr/>
            <p:nvPr/>
          </p:nvSpPr>
          <p:spPr>
            <a:xfrm>
              <a:off x="800100" y="187642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月次報告書</a:t>
              </a:r>
            </a:p>
          </p:txBody>
        </p:sp>
        <p:sp>
          <p:nvSpPr>
            <p:cNvPr id="16" name="種数"/>
            <p:cNvSpPr/>
            <p:nvPr/>
          </p:nvSpPr>
          <p:spPr>
            <a:xfrm>
              <a:off x="5086350" y="187642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12枚</a:t>
              </a:r>
            </a:p>
          </p:txBody>
        </p:sp>
        <p:sp>
          <p:nvSpPr>
            <p:cNvPr id="17" name="スライド番号"/>
            <p:cNvSpPr/>
            <p:nvPr/>
          </p:nvSpPr>
          <p:spPr>
            <a:xfrm>
              <a:off x="7658100" y="187642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16–27</a:t>
              </a:r>
            </a:p>
          </p:txBody>
        </p:sp>
      </p:grpSp>
      <p:grpSp>
        <p:nvGrpSpPr>
          <p:cNvPr id="18" name="収録03"/>
          <p:cNvGrpSpPr/>
          <p:nvPr/>
        </p:nvGrpSpPr>
        <p:grpSpPr>
          <a:xfrm>
            <a:off x="609600" y="2095500"/>
            <a:ext cx="10972800" cy="247650"/>
            <a:chOff x="609600" y="2095500"/>
            <a:chExt cx="10972800" cy="247650"/>
          </a:xfrm>
        </p:grpSpPr>
        <p:sp>
          <p:nvSpPr>
            <p:cNvPr id="19" name="行地"/>
            <p:cNvSpPr/>
            <p:nvPr/>
          </p:nvSpPr>
          <p:spPr>
            <a:xfrm>
              <a:off x="609600" y="2095500"/>
              <a:ext cx="109728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章名"/>
            <p:cNvSpPr/>
            <p:nvPr/>
          </p:nvSpPr>
          <p:spPr>
            <a:xfrm>
              <a:off x="800100" y="212407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サービス紹介</a:t>
              </a:r>
            </a:p>
          </p:txBody>
        </p:sp>
        <p:sp>
          <p:nvSpPr>
            <p:cNvPr id="21" name="種数"/>
            <p:cNvSpPr/>
            <p:nvPr/>
          </p:nvSpPr>
          <p:spPr>
            <a:xfrm>
              <a:off x="5086350" y="212407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12枚</a:t>
              </a:r>
            </a:p>
          </p:txBody>
        </p:sp>
        <p:sp>
          <p:nvSpPr>
            <p:cNvPr id="22" name="スライド番号"/>
            <p:cNvSpPr/>
            <p:nvPr/>
          </p:nvSpPr>
          <p:spPr>
            <a:xfrm>
              <a:off x="7658100" y="212407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28–39</a:t>
              </a:r>
            </a:p>
          </p:txBody>
        </p:sp>
      </p:grpSp>
      <p:grpSp>
        <p:nvGrpSpPr>
          <p:cNvPr id="23" name="収録04"/>
          <p:cNvGrpSpPr/>
          <p:nvPr/>
        </p:nvGrpSpPr>
        <p:grpSpPr>
          <a:xfrm>
            <a:off x="800100" y="2371725"/>
            <a:ext cx="10591800" cy="190500"/>
            <a:chOff x="800100" y="2371725"/>
            <a:chExt cx="10591800" cy="190500"/>
          </a:xfrm>
        </p:grpSpPr>
        <p:sp>
          <p:nvSpPr>
            <p:cNvPr id="24" name="章名"/>
            <p:cNvSpPr/>
            <p:nvPr/>
          </p:nvSpPr>
          <p:spPr>
            <a:xfrm>
              <a:off x="800100" y="237172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会社紹介</a:t>
              </a:r>
            </a:p>
          </p:txBody>
        </p:sp>
        <p:sp>
          <p:nvSpPr>
            <p:cNvPr id="25" name="種数"/>
            <p:cNvSpPr/>
            <p:nvPr/>
          </p:nvSpPr>
          <p:spPr>
            <a:xfrm>
              <a:off x="5086350" y="237172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12枚</a:t>
              </a:r>
            </a:p>
          </p:txBody>
        </p:sp>
        <p:sp>
          <p:nvSpPr>
            <p:cNvPr id="26" name="スライド番号"/>
            <p:cNvSpPr/>
            <p:nvPr/>
          </p:nvSpPr>
          <p:spPr>
            <a:xfrm>
              <a:off x="7658100" y="237172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40–51</a:t>
              </a:r>
            </a:p>
          </p:txBody>
        </p:sp>
      </p:grpSp>
      <p:grpSp>
        <p:nvGrpSpPr>
          <p:cNvPr id="27" name="収録05"/>
          <p:cNvGrpSpPr/>
          <p:nvPr/>
        </p:nvGrpSpPr>
        <p:grpSpPr>
          <a:xfrm>
            <a:off x="609600" y="2590800"/>
            <a:ext cx="10972800" cy="247650"/>
            <a:chOff x="609600" y="2590800"/>
            <a:chExt cx="10972800" cy="247650"/>
          </a:xfrm>
        </p:grpSpPr>
        <p:sp>
          <p:nvSpPr>
            <p:cNvPr id="28" name="行地"/>
            <p:cNvSpPr/>
            <p:nvPr/>
          </p:nvSpPr>
          <p:spPr>
            <a:xfrm>
              <a:off x="609600" y="2590800"/>
              <a:ext cx="109728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章名"/>
            <p:cNvSpPr/>
            <p:nvPr/>
          </p:nvSpPr>
          <p:spPr>
            <a:xfrm>
              <a:off x="800100" y="261937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表紙・目次 NEW</a:t>
              </a:r>
            </a:p>
          </p:txBody>
        </p:sp>
        <p:sp>
          <p:nvSpPr>
            <p:cNvPr id="30" name="種数"/>
            <p:cNvSpPr/>
            <p:nvPr/>
          </p:nvSpPr>
          <p:spPr>
            <a:xfrm>
              <a:off x="5086350" y="261937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6枚</a:t>
              </a:r>
            </a:p>
          </p:txBody>
        </p:sp>
        <p:sp>
          <p:nvSpPr>
            <p:cNvPr id="31" name="スライド番号"/>
            <p:cNvSpPr/>
            <p:nvPr/>
          </p:nvSpPr>
          <p:spPr>
            <a:xfrm>
              <a:off x="7658100" y="261937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52–57</a:t>
              </a:r>
            </a:p>
          </p:txBody>
        </p:sp>
      </p:grpSp>
      <p:grpSp>
        <p:nvGrpSpPr>
          <p:cNvPr id="32" name="収録06"/>
          <p:cNvGrpSpPr/>
          <p:nvPr/>
        </p:nvGrpSpPr>
        <p:grpSpPr>
          <a:xfrm>
            <a:off x="800100" y="2867025"/>
            <a:ext cx="10591800" cy="190500"/>
            <a:chOff x="800100" y="2867025"/>
            <a:chExt cx="10591800" cy="190500"/>
          </a:xfrm>
        </p:grpSpPr>
        <p:sp>
          <p:nvSpPr>
            <p:cNvPr id="33" name="章名"/>
            <p:cNvSpPr/>
            <p:nvPr/>
          </p:nvSpPr>
          <p:spPr>
            <a:xfrm>
              <a:off x="800100" y="286702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章扉・メッセージ・CTA NEW</a:t>
              </a:r>
            </a:p>
          </p:txBody>
        </p:sp>
        <p:sp>
          <p:nvSpPr>
            <p:cNvPr id="34" name="種数"/>
            <p:cNvSpPr/>
            <p:nvPr/>
          </p:nvSpPr>
          <p:spPr>
            <a:xfrm>
              <a:off x="5086350" y="286702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6枚</a:t>
              </a:r>
            </a:p>
          </p:txBody>
        </p:sp>
        <p:sp>
          <p:nvSpPr>
            <p:cNvPr id="35" name="スライド番号"/>
            <p:cNvSpPr/>
            <p:nvPr/>
          </p:nvSpPr>
          <p:spPr>
            <a:xfrm>
              <a:off x="7658100" y="286702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58–63</a:t>
              </a:r>
            </a:p>
          </p:txBody>
        </p:sp>
      </p:grpSp>
      <p:grpSp>
        <p:nvGrpSpPr>
          <p:cNvPr id="36" name="収録07"/>
          <p:cNvGrpSpPr/>
          <p:nvPr/>
        </p:nvGrpSpPr>
        <p:grpSpPr>
          <a:xfrm>
            <a:off x="609600" y="3086100"/>
            <a:ext cx="10972800" cy="247650"/>
            <a:chOff x="609600" y="3086100"/>
            <a:chExt cx="10972800" cy="247650"/>
          </a:xfrm>
        </p:grpSpPr>
        <p:sp>
          <p:nvSpPr>
            <p:cNvPr id="37" name="行地"/>
            <p:cNvSpPr/>
            <p:nvPr/>
          </p:nvSpPr>
          <p:spPr>
            <a:xfrm>
              <a:off x="609600" y="3086100"/>
              <a:ext cx="109728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章名"/>
            <p:cNvSpPr/>
            <p:nvPr/>
          </p:nvSpPr>
          <p:spPr>
            <a:xfrm>
              <a:off x="800100" y="311467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提案：分析・比較 NEW</a:t>
              </a:r>
            </a:p>
          </p:txBody>
        </p:sp>
        <p:sp>
          <p:nvSpPr>
            <p:cNvPr id="39" name="種数"/>
            <p:cNvSpPr/>
            <p:nvPr/>
          </p:nvSpPr>
          <p:spPr>
            <a:xfrm>
              <a:off x="5086350" y="311467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7枚</a:t>
              </a:r>
            </a:p>
          </p:txBody>
        </p:sp>
        <p:sp>
          <p:nvSpPr>
            <p:cNvPr id="40" name="スライド番号"/>
            <p:cNvSpPr/>
            <p:nvPr/>
          </p:nvSpPr>
          <p:spPr>
            <a:xfrm>
              <a:off x="7658100" y="311467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64–70</a:t>
              </a:r>
            </a:p>
          </p:txBody>
        </p:sp>
      </p:grpSp>
      <p:grpSp>
        <p:nvGrpSpPr>
          <p:cNvPr id="41" name="収録08"/>
          <p:cNvGrpSpPr/>
          <p:nvPr/>
        </p:nvGrpSpPr>
        <p:grpSpPr>
          <a:xfrm>
            <a:off x="800100" y="3362325"/>
            <a:ext cx="10591800" cy="190500"/>
            <a:chOff x="800100" y="3362325"/>
            <a:chExt cx="10591800" cy="190500"/>
          </a:xfrm>
        </p:grpSpPr>
        <p:sp>
          <p:nvSpPr>
            <p:cNvPr id="42" name="章名"/>
            <p:cNvSpPr/>
            <p:nvPr/>
          </p:nvSpPr>
          <p:spPr>
            <a:xfrm>
              <a:off x="800100" y="336232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提案：施策・実行 NEW</a:t>
              </a:r>
            </a:p>
          </p:txBody>
        </p:sp>
        <p:sp>
          <p:nvSpPr>
            <p:cNvPr id="43" name="種数"/>
            <p:cNvSpPr/>
            <p:nvPr/>
          </p:nvSpPr>
          <p:spPr>
            <a:xfrm>
              <a:off x="5086350" y="336232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7枚</a:t>
              </a:r>
            </a:p>
          </p:txBody>
        </p:sp>
        <p:sp>
          <p:nvSpPr>
            <p:cNvPr id="44" name="スライド番号"/>
            <p:cNvSpPr/>
            <p:nvPr/>
          </p:nvSpPr>
          <p:spPr>
            <a:xfrm>
              <a:off x="7658100" y="336232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71–77</a:t>
              </a:r>
            </a:p>
          </p:txBody>
        </p:sp>
      </p:grpSp>
      <p:grpSp>
        <p:nvGrpSpPr>
          <p:cNvPr id="45" name="収録09"/>
          <p:cNvGrpSpPr/>
          <p:nvPr/>
        </p:nvGrpSpPr>
        <p:grpSpPr>
          <a:xfrm>
            <a:off x="609600" y="3581400"/>
            <a:ext cx="10972800" cy="247650"/>
            <a:chOff x="609600" y="3581400"/>
            <a:chExt cx="10972800" cy="247650"/>
          </a:xfrm>
        </p:grpSpPr>
        <p:sp>
          <p:nvSpPr>
            <p:cNvPr id="46" name="行地"/>
            <p:cNvSpPr/>
            <p:nvPr/>
          </p:nvSpPr>
          <p:spPr>
            <a:xfrm>
              <a:off x="609600" y="3581400"/>
              <a:ext cx="109728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章名"/>
            <p:cNvSpPr/>
            <p:nvPr/>
          </p:nvSpPr>
          <p:spPr>
            <a:xfrm>
              <a:off x="800100" y="360997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サービス：価値訴求 NEW</a:t>
              </a:r>
            </a:p>
          </p:txBody>
        </p:sp>
        <p:sp>
          <p:nvSpPr>
            <p:cNvPr id="48" name="種数"/>
            <p:cNvSpPr/>
            <p:nvPr/>
          </p:nvSpPr>
          <p:spPr>
            <a:xfrm>
              <a:off x="5086350" y="360997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6枚</a:t>
              </a:r>
            </a:p>
          </p:txBody>
        </p:sp>
        <p:sp>
          <p:nvSpPr>
            <p:cNvPr id="49" name="スライド番号"/>
            <p:cNvSpPr/>
            <p:nvPr/>
          </p:nvSpPr>
          <p:spPr>
            <a:xfrm>
              <a:off x="7658100" y="360997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78–83</a:t>
              </a:r>
            </a:p>
          </p:txBody>
        </p:sp>
      </p:grpSp>
      <p:grpSp>
        <p:nvGrpSpPr>
          <p:cNvPr id="50" name="収録10"/>
          <p:cNvGrpSpPr/>
          <p:nvPr/>
        </p:nvGrpSpPr>
        <p:grpSpPr>
          <a:xfrm>
            <a:off x="800100" y="3857625"/>
            <a:ext cx="10591800" cy="190500"/>
            <a:chOff x="800100" y="3857625"/>
            <a:chExt cx="10591800" cy="190500"/>
          </a:xfrm>
        </p:grpSpPr>
        <p:sp>
          <p:nvSpPr>
            <p:cNvPr id="51" name="章名"/>
            <p:cNvSpPr/>
            <p:nvPr/>
          </p:nvSpPr>
          <p:spPr>
            <a:xfrm>
              <a:off x="800100" y="385762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サービス：事例・料金・FAQ NEW</a:t>
              </a:r>
            </a:p>
          </p:txBody>
        </p:sp>
        <p:sp>
          <p:nvSpPr>
            <p:cNvPr id="52" name="種数"/>
            <p:cNvSpPr/>
            <p:nvPr/>
          </p:nvSpPr>
          <p:spPr>
            <a:xfrm>
              <a:off x="5086350" y="385762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6枚</a:t>
              </a:r>
            </a:p>
          </p:txBody>
        </p:sp>
        <p:sp>
          <p:nvSpPr>
            <p:cNvPr id="53" name="スライド番号"/>
            <p:cNvSpPr/>
            <p:nvPr/>
          </p:nvSpPr>
          <p:spPr>
            <a:xfrm>
              <a:off x="7658100" y="385762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84–89</a:t>
              </a:r>
            </a:p>
          </p:txBody>
        </p:sp>
      </p:grpSp>
      <p:grpSp>
        <p:nvGrpSpPr>
          <p:cNvPr id="54" name="収録11"/>
          <p:cNvGrpSpPr/>
          <p:nvPr/>
        </p:nvGrpSpPr>
        <p:grpSpPr>
          <a:xfrm>
            <a:off x="609600" y="4076700"/>
            <a:ext cx="10972800" cy="247650"/>
            <a:chOff x="609600" y="4076700"/>
            <a:chExt cx="10972800" cy="247650"/>
          </a:xfrm>
        </p:grpSpPr>
        <p:sp>
          <p:nvSpPr>
            <p:cNvPr id="55" name="行地"/>
            <p:cNvSpPr/>
            <p:nvPr/>
          </p:nvSpPr>
          <p:spPr>
            <a:xfrm>
              <a:off x="609600" y="4076700"/>
              <a:ext cx="1097280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章名"/>
            <p:cNvSpPr/>
            <p:nvPr/>
          </p:nvSpPr>
          <p:spPr>
            <a:xfrm>
              <a:off x="800100" y="410527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会社紹介の拡張 NEW</a:t>
              </a:r>
            </a:p>
          </p:txBody>
        </p:sp>
        <p:sp>
          <p:nvSpPr>
            <p:cNvPr id="57" name="種数"/>
            <p:cNvSpPr/>
            <p:nvPr/>
          </p:nvSpPr>
          <p:spPr>
            <a:xfrm>
              <a:off x="5086350" y="410527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6枚</a:t>
              </a:r>
            </a:p>
          </p:txBody>
        </p:sp>
        <p:sp>
          <p:nvSpPr>
            <p:cNvPr id="58" name="スライド番号"/>
            <p:cNvSpPr/>
            <p:nvPr/>
          </p:nvSpPr>
          <p:spPr>
            <a:xfrm>
              <a:off x="7658100" y="410527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90–95</a:t>
              </a:r>
            </a:p>
          </p:txBody>
        </p:sp>
      </p:grpSp>
      <p:grpSp>
        <p:nvGrpSpPr>
          <p:cNvPr id="59" name="収録12"/>
          <p:cNvGrpSpPr/>
          <p:nvPr/>
        </p:nvGrpSpPr>
        <p:grpSpPr>
          <a:xfrm>
            <a:off x="800100" y="4352925"/>
            <a:ext cx="10591800" cy="190500"/>
            <a:chOff x="800100" y="4352925"/>
            <a:chExt cx="10591800" cy="190500"/>
          </a:xfrm>
        </p:grpSpPr>
        <p:sp>
          <p:nvSpPr>
            <p:cNvPr id="60" name="章名"/>
            <p:cNvSpPr/>
            <p:nvPr/>
          </p:nvSpPr>
          <p:spPr>
            <a:xfrm>
              <a:off x="800100" y="4352925"/>
              <a:ext cx="4095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報告書の拡張 NEW</a:t>
              </a:r>
            </a:p>
          </p:txBody>
        </p:sp>
        <p:sp>
          <p:nvSpPr>
            <p:cNvPr id="61" name="種数"/>
            <p:cNvSpPr/>
            <p:nvPr/>
          </p:nvSpPr>
          <p:spPr>
            <a:xfrm>
              <a:off x="5086350" y="4352925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6枚</a:t>
              </a:r>
            </a:p>
          </p:txBody>
        </p:sp>
        <p:sp>
          <p:nvSpPr>
            <p:cNvPr id="62" name="スライド番号"/>
            <p:cNvSpPr/>
            <p:nvPr/>
          </p:nvSpPr>
          <p:spPr>
            <a:xfrm>
              <a:off x="7658100" y="4352925"/>
              <a:ext cx="3733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スライド 96–101</a:t>
              </a:r>
            </a:p>
          </p:txBody>
        </p:sp>
      </p:grpSp>
      <p:grpSp>
        <p:nvGrpSpPr>
          <p:cNvPr id="63" name="使い方"/>
          <p:cNvGrpSpPr/>
          <p:nvPr/>
        </p:nvGrpSpPr>
        <p:grpSpPr>
          <a:xfrm>
            <a:off x="609600" y="4724400"/>
            <a:ext cx="10972800" cy="914400"/>
            <a:chOff x="609600" y="4724400"/>
            <a:chExt cx="10972800" cy="914400"/>
          </a:xfrm>
        </p:grpSpPr>
        <p:sp>
          <p:nvSpPr>
            <p:cNvPr id="64" name="使い方カード"/>
            <p:cNvSpPr/>
            <p:nvPr/>
          </p:nvSpPr>
          <p:spPr>
            <a:xfrm>
              <a:off x="609600" y="4724400"/>
              <a:ext cx="10972800" cy="914400"/>
            </a:xfrm>
            <a:prstGeom prst="roundRect">
              <a:avLst>
                <a:gd name="adj" fmla="val 10416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使い方文"/>
            <p:cNvSpPr/>
            <p:nvPr/>
          </p:nvSpPr>
          <p:spPr>
            <a:xfrm>
              <a:off x="876300" y="4876800"/>
              <a:ext cx="104394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使い方：①グループごとコピーして自分の資料へ　②「デザイン＞配色」でワンクリック自社色　③各スライドの発表者ノートにガイド入り</a:t>
              </a:r>
            </a:p>
          </p:txBody>
        </p:sp>
        <p:sp>
          <p:nvSpPr>
            <p:cNvPr id="66" name="使い方サブ"/>
            <p:cNvSpPr/>
            <p:nvPr/>
          </p:nvSpPr>
          <p:spPr>
            <a:xfrm>
              <a:off x="876300" y="5181600"/>
              <a:ext cx="104394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4"/>
                  </a:solidFill>
                </a:rPr>
                <a:t>全スライドに「言い切りのヘッドメッセージ」入り。構成と言い回しごと参考にできます</a:t>
              </a:r>
            </a:p>
          </p:txBody>
        </p:sp>
      </p:grpSp>
      <p:grpSp>
        <p:nvGrpSpPr>
          <p:cNvPr id="67" name="ライセンス"/>
          <p:cNvGrpSpPr/>
          <p:nvPr/>
        </p:nvGrpSpPr>
        <p:grpSpPr>
          <a:xfrm>
            <a:off x="609600" y="6172200"/>
            <a:ext cx="10972800" cy="285750"/>
            <a:chOff x="609600" y="6172200"/>
            <a:chExt cx="10972800" cy="285750"/>
          </a:xfrm>
        </p:grpSpPr>
        <p:sp>
          <p:nvSpPr>
            <p:cNvPr id="68" name="ライセンス"/>
            <p:cNvSpPr/>
            <p:nvPr/>
          </p:nvSpPr>
          <p:spPr>
            <a:xfrm>
              <a:off x="609600" y="6172200"/>
              <a:ext cx="10972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ご利用について：個人・社内利用OK／再配布・転売・自作発言はご遠慮ください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表紙"/>
          <p:cNvGrpSpPr/>
          <p:nvPr/>
        </p:nvGrpSpPr>
        <p:grpSpPr>
          <a:xfrm>
            <a:off x="609600" y="1409700"/>
            <a:ext cx="10972800" cy="4248150"/>
            <a:chOff x="609600" y="1409700"/>
            <a:chExt cx="10972800" cy="4248150"/>
          </a:xfrm>
        </p:grpSpPr>
        <p:cxnSp>
          <p:nvCxnSpPr>
            <p:cNvPr id="4" name="飾り罫左"/>
            <p:cNvCxnSpPr/>
            <p:nvPr/>
          </p:nvCxnSpPr>
          <p:spPr>
            <a:xfrm>
              <a:off x="5105400" y="1504950"/>
              <a:ext cx="609600" cy="0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書種別"/>
            <p:cNvSpPr/>
            <p:nvPr/>
          </p:nvSpPr>
          <p:spPr>
            <a:xfrm>
              <a:off x="5753100" y="1409700"/>
              <a:ext cx="685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提案書</a:t>
              </a:r>
            </a:p>
          </p:txBody>
        </p:sp>
        <p:cxnSp>
          <p:nvCxnSpPr>
            <p:cNvPr id="6" name="飾り罫右"/>
            <p:cNvCxnSpPr/>
            <p:nvPr/>
          </p:nvCxnSpPr>
          <p:spPr>
            <a:xfrm>
              <a:off x="6477000" y="1504950"/>
              <a:ext cx="609600" cy="0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タイトル"/>
            <p:cNvSpPr/>
            <p:nvPr/>
          </p:nvSpPr>
          <p:spPr>
            <a:xfrm>
              <a:off x="609600" y="2152650"/>
              <a:ext cx="109728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3100" b="1">
                  <a:solidFill>
                    <a:schemeClr val="dk2"/>
                  </a:solidFill>
                </a:rPr>
                <a:t>業務改善AI導入のご提案</a:t>
              </a:r>
            </a:p>
          </p:txBody>
        </p:sp>
        <p:sp>
          <p:nvSpPr>
            <p:cNvPr id="8" name="サブタイトル"/>
            <p:cNvSpPr/>
            <p:nvPr/>
          </p:nvSpPr>
          <p:spPr>
            <a:xfrm>
              <a:off x="609600" y="2819400"/>
              <a:ext cx="109728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>
                  <a:solidFill>
                    <a:schemeClr val="dk1"/>
                  </a:solidFill>
                </a:rPr>
                <a:t>― 書類業務の半減で、営業の時間を取り戻す ―</a:t>
              </a:r>
            </a:p>
          </p:txBody>
        </p:sp>
        <p:cxnSp>
          <p:nvCxnSpPr>
            <p:cNvPr id="9" name="区切り線"/>
            <p:cNvCxnSpPr/>
            <p:nvPr/>
          </p:nvCxnSpPr>
          <p:spPr>
            <a:xfrm>
              <a:off x="4572000" y="3486150"/>
              <a:ext cx="3048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宛先"/>
            <p:cNvSpPr/>
            <p:nvPr/>
          </p:nvSpPr>
          <p:spPr>
            <a:xfrm>
              <a:off x="609600" y="3752850"/>
              <a:ext cx="10972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株式会社◯◯ 御中</a:t>
              </a:r>
            </a:p>
          </p:txBody>
        </p:sp>
        <p:sp>
          <p:nvSpPr>
            <p:cNvPr id="11" name="飾り点1"/>
            <p:cNvSpPr/>
            <p:nvPr/>
          </p:nvSpPr>
          <p:spPr>
            <a:xfrm>
              <a:off x="5924550" y="49339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飾り点2"/>
            <p:cNvSpPr/>
            <p:nvPr/>
          </p:nvSpPr>
          <p:spPr>
            <a:xfrm>
              <a:off x="6057900" y="49339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飾り点3"/>
            <p:cNvSpPr/>
            <p:nvPr/>
          </p:nvSpPr>
          <p:spPr>
            <a:xfrm>
              <a:off x="6191250" y="49339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差出"/>
            <p:cNvSpPr/>
            <p:nvPr/>
          </p:nvSpPr>
          <p:spPr>
            <a:xfrm>
              <a:off x="609600" y="5200650"/>
              <a:ext cx="109728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1"/>
                  </a:solidFill>
                </a:rPr>
                <a:t>△△コンサルティング株式会社</a:t>
              </a:r>
            </a:p>
          </p:txBody>
        </p:sp>
        <p:sp>
          <p:nvSpPr>
            <p:cNvPr id="15" name="日付"/>
            <p:cNvSpPr/>
            <p:nvPr/>
          </p:nvSpPr>
          <p:spPr>
            <a:xfrm>
              <a:off x="609600" y="5486400"/>
              <a:ext cx="10972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20XX年◯月◯日</a:t>
              </a:r>
            </a:p>
          </p:txBody>
        </p:sp>
      </p:grpSp>
      <p:grpSp>
        <p:nvGrpSpPr>
          <p:cNvPr id="16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17" name="注記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Confidential｜注：本資料の数値はすべてサンプルです</a:t>
              </a:r>
            </a:p>
          </p:txBody>
        </p:sp>
        <p:sp>
          <p:nvSpPr>
            <p:cNvPr id="18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838200"/>
            <a:chOff x="609600" y="285750"/>
            <a:chExt cx="10972800" cy="8382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ご提案の要旨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書類業務をAIで半減し、年1.9万時間を営業に返せる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8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　　注：数値の根拠は本文各頁に記載（サンプル）</a:t>
              </a:r>
            </a:p>
          </p:txBody>
        </p:sp>
        <p:sp>
          <p:nvSpPr>
            <p:cNvPr id="9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02</a:t>
              </a:r>
            </a:p>
          </p:txBody>
        </p:sp>
      </p:grpSp>
      <p:grpSp>
        <p:nvGrpSpPr>
          <p:cNvPr id="10" name="結論ボックス"/>
          <p:cNvGrpSpPr/>
          <p:nvPr/>
        </p:nvGrpSpPr>
        <p:grpSpPr>
          <a:xfrm>
            <a:off x="609600" y="1390650"/>
            <a:ext cx="10972800" cy="876300"/>
            <a:chOff x="609600" y="1390650"/>
            <a:chExt cx="10972800" cy="876300"/>
          </a:xfrm>
        </p:grpSpPr>
        <p:sp>
          <p:nvSpPr>
            <p:cNvPr id="11" name="結論パネル"/>
            <p:cNvSpPr/>
            <p:nvPr/>
          </p:nvSpPr>
          <p:spPr>
            <a:xfrm>
              <a:off x="609600" y="1390650"/>
              <a:ext cx="10972800" cy="876300"/>
            </a:xfrm>
            <a:prstGeom prst="roundRect">
              <a:avLst>
                <a:gd name="adj" fmla="val 10869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結論ラベル"/>
            <p:cNvSpPr/>
            <p:nvPr/>
          </p:nvSpPr>
          <p:spPr>
            <a:xfrm>
              <a:off x="876300" y="1504950"/>
              <a:ext cx="609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accent4"/>
                  </a:solidFill>
                </a:rPr>
                <a:t>結論</a:t>
              </a:r>
            </a:p>
          </p:txBody>
        </p:sp>
        <p:sp>
          <p:nvSpPr>
            <p:cNvPr id="13" name="結論文"/>
            <p:cNvSpPr/>
            <p:nvPr/>
          </p:nvSpPr>
          <p:spPr>
            <a:xfrm>
              <a:off x="876300" y="1752600"/>
              <a:ext cx="104394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700" b="1">
                  <a:solidFill>
                    <a:schemeClr val="lt1"/>
                  </a:solidFill>
                </a:rPr>
                <a:t>書類業務をAIで半減し、創出した年1.9万時間を営業活動へ振り向ける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609600" y="2495550"/>
            <a:ext cx="3810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この結論を支える3つの理由</a:t>
            </a:r>
          </a:p>
        </p:txBody>
      </p:sp>
      <p:grpSp>
        <p:nvGrpSpPr>
          <p:cNvPr id="15" name="理由カード01"/>
          <p:cNvGrpSpPr/>
          <p:nvPr/>
        </p:nvGrpSpPr>
        <p:grpSpPr>
          <a:xfrm>
            <a:off x="609600" y="2743200"/>
            <a:ext cx="3505200" cy="1866900"/>
            <a:chOff x="609600" y="2743200"/>
            <a:chExt cx="3505200" cy="1866900"/>
          </a:xfrm>
        </p:grpSpPr>
        <p:sp>
          <p:nvSpPr>
            <p:cNvPr id="16" name="カード"/>
            <p:cNvSpPr/>
            <p:nvPr/>
          </p:nvSpPr>
          <p:spPr>
            <a:xfrm>
              <a:off x="609600" y="2743200"/>
              <a:ext cx="3505200" cy="1866900"/>
            </a:xfrm>
            <a:prstGeom prst="roundRect">
              <a:avLst>
                <a:gd name="adj" fmla="val 4081"/>
              </a:avLst>
            </a:prstGeom>
            <a:noFill/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番号"/>
            <p:cNvSpPr/>
            <p:nvPr/>
          </p:nvSpPr>
          <p:spPr>
            <a:xfrm>
              <a:off x="838200" y="2914650"/>
              <a:ext cx="762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200" b="1">
                  <a:solidFill>
                    <a:schemeClr val="accent1"/>
                  </a:solidFill>
                </a:rPr>
                <a:t>01</a:t>
              </a:r>
            </a:p>
          </p:txBody>
        </p:sp>
        <p:sp>
          <p:nvSpPr>
            <p:cNvPr id="18" name="見出し"/>
            <p:cNvSpPr/>
            <p:nvPr/>
          </p:nvSpPr>
          <p:spPr>
            <a:xfrm>
              <a:off x="838200" y="3276600"/>
              <a:ext cx="3048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書類時間が増え続けている</a:t>
              </a:r>
            </a:p>
          </p:txBody>
        </p:sp>
        <p:sp>
          <p:nvSpPr>
            <p:cNvPr id="19" name="本文"/>
            <p:cNvSpPr/>
            <p:nvPr/>
          </p:nvSpPr>
          <p:spPr>
            <a:xfrm>
              <a:off x="838200" y="3562350"/>
              <a:ext cx="3048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営業1人あたり週13.1時間。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3年で1.6倍に達し、増員では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追いつかない伸び方をしている。</a:t>
              </a:r>
            </a:p>
          </p:txBody>
        </p:sp>
        <p:sp>
          <p:nvSpPr>
            <p:cNvPr id="20" name="参照頁"/>
            <p:cNvSpPr/>
            <p:nvPr/>
          </p:nvSpPr>
          <p:spPr>
            <a:xfrm>
              <a:off x="838200" y="4305300"/>
              <a:ext cx="3048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詳細 P.04</a:t>
              </a:r>
            </a:p>
          </p:txBody>
        </p:sp>
      </p:grpSp>
      <p:grpSp>
        <p:nvGrpSpPr>
          <p:cNvPr id="21" name="理由カード02"/>
          <p:cNvGrpSpPr/>
          <p:nvPr/>
        </p:nvGrpSpPr>
        <p:grpSpPr>
          <a:xfrm>
            <a:off x="4343400" y="2743200"/>
            <a:ext cx="3505200" cy="1866900"/>
            <a:chOff x="4343400" y="2743200"/>
            <a:chExt cx="3505200" cy="1866900"/>
          </a:xfrm>
        </p:grpSpPr>
        <p:sp>
          <p:nvSpPr>
            <p:cNvPr id="22" name="カード"/>
            <p:cNvSpPr/>
            <p:nvPr/>
          </p:nvSpPr>
          <p:spPr>
            <a:xfrm>
              <a:off x="4343400" y="2743200"/>
              <a:ext cx="3505200" cy="1866900"/>
            </a:xfrm>
            <a:prstGeom prst="roundRect">
              <a:avLst>
                <a:gd name="adj" fmla="val 4081"/>
              </a:avLst>
            </a:prstGeom>
            <a:noFill/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番号"/>
            <p:cNvSpPr/>
            <p:nvPr/>
          </p:nvSpPr>
          <p:spPr>
            <a:xfrm>
              <a:off x="4572000" y="2914650"/>
              <a:ext cx="762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200" b="1">
                  <a:solidFill>
                    <a:schemeClr val="accent1"/>
                  </a:solidFill>
                </a:rPr>
                <a:t>02</a:t>
              </a:r>
            </a:p>
          </p:txBody>
        </p:sp>
        <p:sp>
          <p:nvSpPr>
            <p:cNvPr id="24" name="見出し"/>
            <p:cNvSpPr/>
            <p:nvPr/>
          </p:nvSpPr>
          <p:spPr>
            <a:xfrm>
              <a:off x="4572000" y="3276600"/>
              <a:ext cx="3048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真因は「作り直し」の構造</a:t>
              </a:r>
            </a:p>
          </p:txBody>
        </p:sp>
        <p:sp>
          <p:nvSpPr>
            <p:cNvPr id="25" name="本文"/>
            <p:cNvSpPr/>
            <p:nvPr/>
          </p:nvSpPr>
          <p:spPr>
            <a:xfrm>
              <a:off x="4572000" y="3562350"/>
              <a:ext cx="3048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増えた時間の78%は転記と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確認往復。仕事量ではなく、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業務の構造が時間を奪っている。</a:t>
              </a:r>
            </a:p>
          </p:txBody>
        </p:sp>
        <p:sp>
          <p:nvSpPr>
            <p:cNvPr id="26" name="参照頁"/>
            <p:cNvSpPr/>
            <p:nvPr/>
          </p:nvSpPr>
          <p:spPr>
            <a:xfrm>
              <a:off x="4572000" y="4305300"/>
              <a:ext cx="3048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詳細 P.05–06</a:t>
              </a:r>
            </a:p>
          </p:txBody>
        </p:sp>
      </p:grpSp>
      <p:grpSp>
        <p:nvGrpSpPr>
          <p:cNvPr id="27" name="理由カード03"/>
          <p:cNvGrpSpPr/>
          <p:nvPr/>
        </p:nvGrpSpPr>
        <p:grpSpPr>
          <a:xfrm>
            <a:off x="8077200" y="2743200"/>
            <a:ext cx="3505200" cy="1866900"/>
            <a:chOff x="8077200" y="2743200"/>
            <a:chExt cx="3505200" cy="1866900"/>
          </a:xfrm>
        </p:grpSpPr>
        <p:sp>
          <p:nvSpPr>
            <p:cNvPr id="28" name="カード"/>
            <p:cNvSpPr/>
            <p:nvPr/>
          </p:nvSpPr>
          <p:spPr>
            <a:xfrm>
              <a:off x="8077200" y="2743200"/>
              <a:ext cx="3505200" cy="1866900"/>
            </a:xfrm>
            <a:prstGeom prst="roundRect">
              <a:avLst>
                <a:gd name="adj" fmla="val 4081"/>
              </a:avLst>
            </a:prstGeom>
            <a:noFill/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番号"/>
            <p:cNvSpPr/>
            <p:nvPr/>
          </p:nvSpPr>
          <p:spPr>
            <a:xfrm>
              <a:off x="8305800" y="2914650"/>
              <a:ext cx="762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200" b="1">
                  <a:solidFill>
                    <a:schemeClr val="accent1"/>
                  </a:solidFill>
                </a:rPr>
                <a:t>03</a:t>
              </a:r>
            </a:p>
          </p:txBody>
        </p:sp>
        <p:sp>
          <p:nvSpPr>
            <p:cNvPr id="30" name="見出し"/>
            <p:cNvSpPr/>
            <p:nvPr/>
          </p:nvSpPr>
          <p:spPr>
            <a:xfrm>
              <a:off x="8305800" y="3276600"/>
              <a:ext cx="3048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AIが最小の投資で解ける</a:t>
              </a:r>
            </a:p>
          </p:txBody>
        </p:sp>
        <p:sp>
          <p:nvSpPr>
            <p:cNvPr id="31" name="本文"/>
            <p:cNvSpPr/>
            <p:nvPr/>
          </p:nvSpPr>
          <p:spPr>
            <a:xfrm>
              <a:off x="8305800" y="3562350"/>
              <a:ext cx="3048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増員・外注との3案比較でAIが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費用対効果で最良。投資は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7ヶ月で回収できる試算である。</a:t>
              </a:r>
            </a:p>
          </p:txBody>
        </p:sp>
        <p:sp>
          <p:nvSpPr>
            <p:cNvPr id="32" name="参照頁"/>
            <p:cNvSpPr/>
            <p:nvPr/>
          </p:nvSpPr>
          <p:spPr>
            <a:xfrm>
              <a:off x="8305800" y="4305300"/>
              <a:ext cx="3048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詳細 P.07・11</a:t>
              </a:r>
            </a:p>
          </p:txBody>
        </p:sp>
      </p:grpSp>
      <p:grpSp>
        <p:nvGrpSpPr>
          <p:cNvPr id="33" name="お願い事項"/>
          <p:cNvGrpSpPr/>
          <p:nvPr/>
        </p:nvGrpSpPr>
        <p:grpSpPr>
          <a:xfrm>
            <a:off x="609600" y="4838700"/>
            <a:ext cx="10972800" cy="990600"/>
            <a:chOff x="609600" y="4838700"/>
            <a:chExt cx="10972800" cy="990600"/>
          </a:xfrm>
        </p:grpSpPr>
        <p:sp>
          <p:nvSpPr>
            <p:cNvPr id="34" name="パネル"/>
            <p:cNvSpPr/>
            <p:nvPr/>
          </p:nvSpPr>
          <p:spPr>
            <a:xfrm>
              <a:off x="609600" y="4838700"/>
              <a:ext cx="10972800" cy="990600"/>
            </a:xfrm>
            <a:prstGeom prst="roundRect">
              <a:avLst>
                <a:gd name="adj" fmla="val 961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お願いチップ"/>
            <p:cNvSpPr/>
            <p:nvPr/>
          </p:nvSpPr>
          <p:spPr>
            <a:xfrm>
              <a:off x="876300" y="5029200"/>
              <a:ext cx="7239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76300" y="5038725"/>
              <a:ext cx="723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お願い</a:t>
              </a:r>
            </a:p>
          </p:txBody>
        </p:sp>
        <p:sp>
          <p:nvSpPr>
            <p:cNvPr id="37" name="依頼文"/>
            <p:cNvSpPr/>
            <p:nvPr/>
          </p:nvSpPr>
          <p:spPr>
            <a:xfrm>
              <a:off x="1790700" y="4991100"/>
              <a:ext cx="7620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無償トライアル対象部署（1部署）のご選定と、キックオフ30分のお時間をいただきたい</a:t>
              </a:r>
            </a:p>
          </p:txBody>
        </p:sp>
        <p:sp>
          <p:nvSpPr>
            <p:cNvPr id="38" name="補足"/>
            <p:cNvSpPr/>
            <p:nvPr/>
          </p:nvSpPr>
          <p:spPr>
            <a:xfrm>
              <a:off x="1790700" y="5295900"/>
              <a:ext cx="7620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導入のご判断は、トライアルの実測結果をご覧いただいてからで構いません（P.14）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838200"/>
            <a:chOff x="609600" y="285750"/>
            <a:chExt cx="10972800" cy="8382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本日の流れ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現状の確認から次の一歩の決定まで、5章でご説明する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8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</a:t>
              </a:r>
            </a:p>
          </p:txBody>
        </p:sp>
        <p:sp>
          <p:nvSpPr>
            <p:cNvPr id="9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03</a:t>
              </a:r>
            </a:p>
          </p:txBody>
        </p:sp>
      </p:grpSp>
      <p:grpSp>
        <p:nvGrpSpPr>
          <p:cNvPr id="10" name="章01"/>
          <p:cNvGrpSpPr/>
          <p:nvPr/>
        </p:nvGrpSpPr>
        <p:grpSpPr>
          <a:xfrm>
            <a:off x="609600" y="1657350"/>
            <a:ext cx="6819900" cy="628650"/>
            <a:chOff x="609600" y="1657350"/>
            <a:chExt cx="6819900" cy="628650"/>
          </a:xfrm>
        </p:grpSpPr>
        <p:sp>
          <p:nvSpPr>
            <p:cNvPr id="11" name="番号01"/>
            <p:cNvSpPr/>
            <p:nvPr/>
          </p:nvSpPr>
          <p:spPr>
            <a:xfrm>
              <a:off x="609600" y="1676400"/>
              <a:ext cx="40005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09600" y="16859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01</a:t>
              </a:r>
            </a:p>
          </p:txBody>
        </p:sp>
        <p:sp>
          <p:nvSpPr>
            <p:cNvPr id="13" name="章タイトル"/>
            <p:cNvSpPr/>
            <p:nvPr/>
          </p:nvSpPr>
          <p:spPr>
            <a:xfrm>
              <a:off x="1238250" y="1657350"/>
              <a:ext cx="4000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現状と課題</a:t>
              </a:r>
            </a:p>
          </p:txBody>
        </p:sp>
        <p:sp>
          <p:nvSpPr>
            <p:cNvPr id="14" name="章の説明"/>
            <p:cNvSpPr/>
            <p:nvPr/>
          </p:nvSpPr>
          <p:spPr>
            <a:xfrm>
              <a:off x="1238250" y="1924050"/>
              <a:ext cx="4953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データで現状を確認し、真因と放置リスクを特定する</a:t>
              </a:r>
            </a:p>
          </p:txBody>
        </p:sp>
        <p:sp>
          <p:nvSpPr>
            <p:cNvPr id="15" name="ページ"/>
            <p:cNvSpPr/>
            <p:nvPr/>
          </p:nvSpPr>
          <p:spPr>
            <a:xfrm>
              <a:off x="6286500" y="1695450"/>
              <a:ext cx="114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P.04–06</a:t>
              </a:r>
            </a:p>
          </p:txBody>
        </p:sp>
        <p:cxnSp>
          <p:nvCxnSpPr>
            <p:cNvPr id="16" name="区切り線"/>
            <p:cNvCxnSpPr/>
            <p:nvPr/>
          </p:nvCxnSpPr>
          <p:spPr>
            <a:xfrm>
              <a:off x="609600" y="2286000"/>
              <a:ext cx="68199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章02"/>
          <p:cNvGrpSpPr/>
          <p:nvPr/>
        </p:nvGrpSpPr>
        <p:grpSpPr>
          <a:xfrm>
            <a:off x="609600" y="2419350"/>
            <a:ext cx="6819900" cy="628650"/>
            <a:chOff x="609600" y="2419350"/>
            <a:chExt cx="6819900" cy="628650"/>
          </a:xfrm>
        </p:grpSpPr>
        <p:sp>
          <p:nvSpPr>
            <p:cNvPr id="18" name="番号02"/>
            <p:cNvSpPr/>
            <p:nvPr/>
          </p:nvSpPr>
          <p:spPr>
            <a:xfrm>
              <a:off x="609600" y="2438400"/>
              <a:ext cx="40005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09600" y="24479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02</a:t>
              </a:r>
            </a:p>
          </p:txBody>
        </p:sp>
        <p:sp>
          <p:nvSpPr>
            <p:cNvPr id="20" name="章タイトル"/>
            <p:cNvSpPr/>
            <p:nvPr/>
          </p:nvSpPr>
          <p:spPr>
            <a:xfrm>
              <a:off x="1238250" y="2419350"/>
              <a:ext cx="4000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解決の方向性</a:t>
              </a:r>
            </a:p>
          </p:txBody>
        </p:sp>
        <p:sp>
          <p:nvSpPr>
            <p:cNvPr id="21" name="章の説明"/>
            <p:cNvSpPr/>
            <p:nvPr/>
          </p:nvSpPr>
          <p:spPr>
            <a:xfrm>
              <a:off x="1238250" y="2686050"/>
              <a:ext cx="4953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打ち手3案の比較と、ご提案の全体像</a:t>
              </a:r>
            </a:p>
          </p:txBody>
        </p:sp>
        <p:sp>
          <p:nvSpPr>
            <p:cNvPr id="22" name="ページ"/>
            <p:cNvSpPr/>
            <p:nvPr/>
          </p:nvSpPr>
          <p:spPr>
            <a:xfrm>
              <a:off x="6286500" y="2457450"/>
              <a:ext cx="114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P.07–08</a:t>
              </a:r>
            </a:p>
          </p:txBody>
        </p:sp>
        <p:cxnSp>
          <p:nvCxnSpPr>
            <p:cNvPr id="23" name="区切り線"/>
            <p:cNvCxnSpPr/>
            <p:nvPr/>
          </p:nvCxnSpPr>
          <p:spPr>
            <a:xfrm>
              <a:off x="609600" y="3048000"/>
              <a:ext cx="68199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章03"/>
          <p:cNvGrpSpPr/>
          <p:nvPr/>
        </p:nvGrpSpPr>
        <p:grpSpPr>
          <a:xfrm>
            <a:off x="609600" y="3181350"/>
            <a:ext cx="6819900" cy="628650"/>
            <a:chOff x="609600" y="3181350"/>
            <a:chExt cx="6819900" cy="628650"/>
          </a:xfrm>
        </p:grpSpPr>
        <p:sp>
          <p:nvSpPr>
            <p:cNvPr id="25" name="番号03"/>
            <p:cNvSpPr/>
            <p:nvPr/>
          </p:nvSpPr>
          <p:spPr>
            <a:xfrm>
              <a:off x="609600" y="3200400"/>
              <a:ext cx="40005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09600" y="32099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03</a:t>
              </a:r>
            </a:p>
          </p:txBody>
        </p:sp>
        <p:sp>
          <p:nvSpPr>
            <p:cNvPr id="27" name="章タイトル"/>
            <p:cNvSpPr/>
            <p:nvPr/>
          </p:nvSpPr>
          <p:spPr>
            <a:xfrm>
              <a:off x="1238250" y="3181350"/>
              <a:ext cx="4000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施策の詳細</a:t>
              </a:r>
            </a:p>
          </p:txBody>
        </p:sp>
        <p:sp>
          <p:nvSpPr>
            <p:cNvPr id="28" name="章の説明"/>
            <p:cNvSpPr/>
            <p:nvPr/>
          </p:nvSpPr>
          <p:spPr>
            <a:xfrm>
              <a:off x="1238250" y="3448050"/>
              <a:ext cx="4953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見積業務のBefore/Afterと、運用の仕組み</a:t>
              </a:r>
            </a:p>
          </p:txBody>
        </p:sp>
        <p:sp>
          <p:nvSpPr>
            <p:cNvPr id="29" name="ページ"/>
            <p:cNvSpPr/>
            <p:nvPr/>
          </p:nvSpPr>
          <p:spPr>
            <a:xfrm>
              <a:off x="6286500" y="3219450"/>
              <a:ext cx="114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P.09–10</a:t>
              </a:r>
            </a:p>
          </p:txBody>
        </p:sp>
        <p:cxnSp>
          <p:nvCxnSpPr>
            <p:cNvPr id="30" name="区切り線"/>
            <p:cNvCxnSpPr/>
            <p:nvPr/>
          </p:nvCxnSpPr>
          <p:spPr>
            <a:xfrm>
              <a:off x="609600" y="3810000"/>
              <a:ext cx="68199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章04"/>
          <p:cNvGrpSpPr/>
          <p:nvPr/>
        </p:nvGrpSpPr>
        <p:grpSpPr>
          <a:xfrm>
            <a:off x="609600" y="3943350"/>
            <a:ext cx="6819900" cy="628650"/>
            <a:chOff x="609600" y="3943350"/>
            <a:chExt cx="6819900" cy="628650"/>
          </a:xfrm>
        </p:grpSpPr>
        <p:sp>
          <p:nvSpPr>
            <p:cNvPr id="32" name="番号04"/>
            <p:cNvSpPr/>
            <p:nvPr/>
          </p:nvSpPr>
          <p:spPr>
            <a:xfrm>
              <a:off x="609600" y="3962400"/>
              <a:ext cx="40005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09600" y="39719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04</a:t>
              </a:r>
            </a:p>
          </p:txBody>
        </p:sp>
        <p:sp>
          <p:nvSpPr>
            <p:cNvPr id="34" name="章タイトル"/>
            <p:cNvSpPr/>
            <p:nvPr/>
          </p:nvSpPr>
          <p:spPr>
            <a:xfrm>
              <a:off x="1238250" y="3943350"/>
              <a:ext cx="4000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効果と計画</a:t>
              </a:r>
            </a:p>
          </p:txBody>
        </p:sp>
        <p:sp>
          <p:nvSpPr>
            <p:cNvPr id="35" name="章の説明"/>
            <p:cNvSpPr/>
            <p:nvPr/>
          </p:nvSpPr>
          <p:spPr>
            <a:xfrm>
              <a:off x="1238250" y="4210050"/>
              <a:ext cx="4953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KPI・投資回収・スケジュール・推進体制</a:t>
              </a:r>
            </a:p>
          </p:txBody>
        </p:sp>
        <p:sp>
          <p:nvSpPr>
            <p:cNvPr id="36" name="ページ"/>
            <p:cNvSpPr/>
            <p:nvPr/>
          </p:nvSpPr>
          <p:spPr>
            <a:xfrm>
              <a:off x="6286500" y="3981450"/>
              <a:ext cx="114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P.11–13</a:t>
              </a:r>
            </a:p>
          </p:txBody>
        </p:sp>
        <p:cxnSp>
          <p:nvCxnSpPr>
            <p:cNvPr id="37" name="区切り線"/>
            <p:cNvCxnSpPr/>
            <p:nvPr/>
          </p:nvCxnSpPr>
          <p:spPr>
            <a:xfrm>
              <a:off x="609600" y="4572000"/>
              <a:ext cx="68199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章05"/>
          <p:cNvGrpSpPr/>
          <p:nvPr/>
        </p:nvGrpSpPr>
        <p:grpSpPr>
          <a:xfrm>
            <a:off x="609600" y="4705350"/>
            <a:ext cx="6819900" cy="438150"/>
            <a:chOff x="609600" y="4705350"/>
            <a:chExt cx="6819900" cy="438150"/>
          </a:xfrm>
        </p:grpSpPr>
        <p:sp>
          <p:nvSpPr>
            <p:cNvPr id="39" name="番号05"/>
            <p:cNvSpPr/>
            <p:nvPr/>
          </p:nvSpPr>
          <p:spPr>
            <a:xfrm>
              <a:off x="609600" y="4724400"/>
              <a:ext cx="40005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09600" y="47339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05</a:t>
              </a:r>
            </a:p>
          </p:txBody>
        </p:sp>
        <p:sp>
          <p:nvSpPr>
            <p:cNvPr id="41" name="章タイトル"/>
            <p:cNvSpPr/>
            <p:nvPr/>
          </p:nvSpPr>
          <p:spPr>
            <a:xfrm>
              <a:off x="1238250" y="4705350"/>
              <a:ext cx="4000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費用と次のステップ</a:t>
              </a:r>
            </a:p>
          </p:txBody>
        </p:sp>
        <p:sp>
          <p:nvSpPr>
            <p:cNvPr id="42" name="章の説明"/>
            <p:cNvSpPr/>
            <p:nvPr/>
          </p:nvSpPr>
          <p:spPr>
            <a:xfrm>
              <a:off x="1238250" y="4972050"/>
              <a:ext cx="4953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投資額と、まず始めていただきたい一歩</a:t>
              </a:r>
            </a:p>
          </p:txBody>
        </p:sp>
        <p:sp>
          <p:nvSpPr>
            <p:cNvPr id="43" name="ページ"/>
            <p:cNvSpPr/>
            <p:nvPr/>
          </p:nvSpPr>
          <p:spPr>
            <a:xfrm>
              <a:off x="6286500" y="4743450"/>
              <a:ext cx="114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P.14</a:t>
              </a:r>
            </a:p>
          </p:txBody>
        </p:sp>
      </p:grpSp>
      <p:grpSp>
        <p:nvGrpSpPr>
          <p:cNvPr id="44" name="本日のゴール"/>
          <p:cNvGrpSpPr/>
          <p:nvPr/>
        </p:nvGrpSpPr>
        <p:grpSpPr>
          <a:xfrm>
            <a:off x="8077200" y="1676400"/>
            <a:ext cx="3505200" cy="3143250"/>
            <a:chOff x="8077200" y="1676400"/>
            <a:chExt cx="3505200" cy="3143250"/>
          </a:xfrm>
        </p:grpSpPr>
        <p:sp>
          <p:nvSpPr>
            <p:cNvPr id="45" name="パネル"/>
            <p:cNvSpPr/>
            <p:nvPr/>
          </p:nvSpPr>
          <p:spPr>
            <a:xfrm>
              <a:off x="8077200" y="1676400"/>
              <a:ext cx="3505200" cy="3143250"/>
            </a:xfrm>
            <a:prstGeom prst="roundRect">
              <a:avLst>
                <a:gd name="adj" fmla="val 303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見出し"/>
            <p:cNvSpPr/>
            <p:nvPr/>
          </p:nvSpPr>
          <p:spPr>
            <a:xfrm>
              <a:off x="8362950" y="1924050"/>
              <a:ext cx="285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本日のゴール</a:t>
              </a:r>
            </a:p>
          </p:txBody>
        </p:sp>
        <p:cxnSp>
          <p:nvCxnSpPr>
            <p:cNvPr id="47" name="下線"/>
            <p:cNvCxnSpPr/>
            <p:nvPr/>
          </p:nvCxnSpPr>
          <p:spPr>
            <a:xfrm>
              <a:off x="8362950" y="220980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番号1"/>
            <p:cNvSpPr/>
            <p:nvPr/>
          </p:nvSpPr>
          <p:spPr>
            <a:xfrm>
              <a:off x="8362950" y="2400300"/>
              <a:ext cx="26670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362950" y="240982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50" name="ゴール1"/>
            <p:cNvSpPr/>
            <p:nvPr/>
          </p:nvSpPr>
          <p:spPr>
            <a:xfrm>
              <a:off x="8743950" y="2428875"/>
              <a:ext cx="25527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現状と課題認識のすり合わせ</a:t>
              </a:r>
            </a:p>
          </p:txBody>
        </p:sp>
        <p:sp>
          <p:nvSpPr>
            <p:cNvPr id="51" name="番号2"/>
            <p:cNvSpPr/>
            <p:nvPr/>
          </p:nvSpPr>
          <p:spPr>
            <a:xfrm>
              <a:off x="8362950" y="2933700"/>
              <a:ext cx="26670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8362950" y="294322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53" name="ゴール2"/>
            <p:cNvSpPr/>
            <p:nvPr/>
          </p:nvSpPr>
          <p:spPr>
            <a:xfrm>
              <a:off x="8743950" y="2962275"/>
              <a:ext cx="25527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打ち手の方向性の合意</a:t>
              </a:r>
            </a:p>
          </p:txBody>
        </p:sp>
        <p:sp>
          <p:nvSpPr>
            <p:cNvPr id="54" name="番号3"/>
            <p:cNvSpPr/>
            <p:nvPr/>
          </p:nvSpPr>
          <p:spPr>
            <a:xfrm>
              <a:off x="8362950" y="3467100"/>
              <a:ext cx="26670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362950" y="347662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56" name="ゴール3"/>
            <p:cNvSpPr/>
            <p:nvPr/>
          </p:nvSpPr>
          <p:spPr>
            <a:xfrm>
              <a:off x="8743950" y="3495675"/>
              <a:ext cx="25527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トライアル対象部署の決定</a:t>
              </a:r>
            </a:p>
          </p:txBody>
        </p:sp>
        <p:cxnSp>
          <p:nvCxnSpPr>
            <p:cNvPr id="57" name="区切り線"/>
            <p:cNvCxnSpPr/>
            <p:nvPr/>
          </p:nvCxnSpPr>
          <p:spPr>
            <a:xfrm>
              <a:off x="8362950" y="409575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所要時間"/>
            <p:cNvSpPr/>
            <p:nvPr/>
          </p:nvSpPr>
          <p:spPr>
            <a:xfrm>
              <a:off x="8362950" y="426720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所要時間：45分（質疑15分を含む）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01｜現状と課題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営業1人の書類時間は週13.1時間と、3年で1.6倍に増えた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営業1人あたりの書類作成時間の推移（時間/週）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出所：営業部門タイムスタディ 20XX年◯月（数値はサンプル）　　注：対象は営業60名の週あたり平均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04</a:t>
              </a:r>
            </a:p>
          </p:txBody>
        </p:sp>
      </p:grpSp>
      <p:grpSp>
        <p:nvGrpSpPr>
          <p:cNvPr id="11" name="書類時間グラフ"/>
          <p:cNvGrpSpPr/>
          <p:nvPr/>
        </p:nvGrpSpPr>
        <p:grpSpPr>
          <a:xfrm>
            <a:off x="762000" y="2057400"/>
            <a:ext cx="6324600" cy="3505200"/>
            <a:chOff x="762000" y="2057400"/>
            <a:chExt cx="6324600" cy="3505200"/>
          </a:xfrm>
        </p:grpSpPr>
        <p:cxnSp>
          <p:nvCxnSpPr>
            <p:cNvPr id="12" name="基準線"/>
            <p:cNvCxnSpPr/>
            <p:nvPr/>
          </p:nvCxnSpPr>
          <p:spPr>
            <a:xfrm>
              <a:off x="762000" y="5334000"/>
              <a:ext cx="63246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20X3年水準線"/>
            <p:cNvCxnSpPr/>
            <p:nvPr/>
          </p:nvCxnSpPr>
          <p:spPr>
            <a:xfrm>
              <a:off x="762000" y="3426091"/>
              <a:ext cx="632460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棒20X3"/>
            <p:cNvSpPr/>
            <p:nvPr/>
          </p:nvSpPr>
          <p:spPr>
            <a:xfrm>
              <a:off x="914400" y="3426091"/>
              <a:ext cx="914400" cy="1907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値20X3"/>
            <p:cNvSpPr/>
            <p:nvPr/>
          </p:nvSpPr>
          <p:spPr>
            <a:xfrm>
              <a:off x="762000" y="3197491"/>
              <a:ext cx="1219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accent5"/>
                  </a:solidFill>
                </a:rPr>
                <a:t>8.2</a:t>
              </a:r>
            </a:p>
          </p:txBody>
        </p:sp>
        <p:sp>
          <p:nvSpPr>
            <p:cNvPr id="16" name="年20X3"/>
            <p:cNvSpPr/>
            <p:nvPr/>
          </p:nvSpPr>
          <p:spPr>
            <a:xfrm>
              <a:off x="762000" y="5410200"/>
              <a:ext cx="1219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20X3</a:t>
              </a:r>
            </a:p>
          </p:txBody>
        </p:sp>
        <p:sp>
          <p:nvSpPr>
            <p:cNvPr id="17" name="棒20X4"/>
            <p:cNvSpPr/>
            <p:nvPr/>
          </p:nvSpPr>
          <p:spPr>
            <a:xfrm>
              <a:off x="2438400" y="3100351"/>
              <a:ext cx="914400" cy="22336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値20X4"/>
            <p:cNvSpPr/>
            <p:nvPr/>
          </p:nvSpPr>
          <p:spPr>
            <a:xfrm>
              <a:off x="2286000" y="2871751"/>
              <a:ext cx="1219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accent5"/>
                  </a:solidFill>
                </a:rPr>
                <a:t>9.6</a:t>
              </a:r>
            </a:p>
          </p:txBody>
        </p:sp>
        <p:sp>
          <p:nvSpPr>
            <p:cNvPr id="19" name="年20X4"/>
            <p:cNvSpPr/>
            <p:nvPr/>
          </p:nvSpPr>
          <p:spPr>
            <a:xfrm>
              <a:off x="2286000" y="5410200"/>
              <a:ext cx="1219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20X4</a:t>
              </a:r>
            </a:p>
          </p:txBody>
        </p:sp>
        <p:sp>
          <p:nvSpPr>
            <p:cNvPr id="20" name="棒20X5"/>
            <p:cNvSpPr/>
            <p:nvPr/>
          </p:nvSpPr>
          <p:spPr>
            <a:xfrm>
              <a:off x="3962400" y="2681541"/>
              <a:ext cx="914400" cy="265245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値20X5"/>
            <p:cNvSpPr/>
            <p:nvPr/>
          </p:nvSpPr>
          <p:spPr>
            <a:xfrm>
              <a:off x="3810000" y="2452941"/>
              <a:ext cx="1219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accent5"/>
                  </a:solidFill>
                </a:rPr>
                <a:t>11.4</a:t>
              </a:r>
            </a:p>
          </p:txBody>
        </p:sp>
        <p:sp>
          <p:nvSpPr>
            <p:cNvPr id="22" name="年20X5"/>
            <p:cNvSpPr/>
            <p:nvPr/>
          </p:nvSpPr>
          <p:spPr>
            <a:xfrm>
              <a:off x="3810000" y="5410200"/>
              <a:ext cx="1219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20X5</a:t>
              </a:r>
            </a:p>
          </p:txBody>
        </p:sp>
        <p:sp>
          <p:nvSpPr>
            <p:cNvPr id="23" name="棒20X6"/>
            <p:cNvSpPr/>
            <p:nvPr/>
          </p:nvSpPr>
          <p:spPr>
            <a:xfrm>
              <a:off x="5486400" y="2286000"/>
              <a:ext cx="914400" cy="304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値20X6"/>
            <p:cNvSpPr/>
            <p:nvPr/>
          </p:nvSpPr>
          <p:spPr>
            <a:xfrm>
              <a:off x="5334000" y="2057400"/>
              <a:ext cx="1219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accent1"/>
                  </a:solidFill>
                </a:rPr>
                <a:t>13.1</a:t>
              </a:r>
            </a:p>
          </p:txBody>
        </p:sp>
        <p:sp>
          <p:nvSpPr>
            <p:cNvPr id="25" name="年20X6"/>
            <p:cNvSpPr/>
            <p:nvPr/>
          </p:nvSpPr>
          <p:spPr>
            <a:xfrm>
              <a:off x="5334000" y="5410200"/>
              <a:ext cx="1219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20X6</a:t>
              </a:r>
            </a:p>
          </p:txBody>
        </p:sp>
        <p:sp>
          <p:nvSpPr>
            <p:cNvPr id="26" name="水準ラベル"/>
            <p:cNvSpPr/>
            <p:nvPr/>
          </p:nvSpPr>
          <p:spPr>
            <a:xfrm>
              <a:off x="6438900" y="3102241"/>
              <a:ext cx="6477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850">
                  <a:solidFill>
                    <a:schemeClr val="accent5"/>
                  </a:solidFill>
                </a:rPr>
                <a:t>20X3年の</a:t>
              </a:r>
            </a:p>
            <a:p>
              <a:pPr algn="ctr">
                <a:lnSpc>
                  <a:spcPct val="125000"/>
                </a:lnSpc>
              </a:pPr>
              <a:r>
                <a:rPr sz="850">
                  <a:solidFill>
                    <a:schemeClr val="accent5"/>
                  </a:solidFill>
                </a:rPr>
                <a:t>水準</a:t>
              </a:r>
            </a:p>
          </p:txBody>
        </p:sp>
      </p:grpSp>
      <p:grpSp>
        <p:nvGrpSpPr>
          <p:cNvPr id="27" name="グラフ注記"/>
          <p:cNvGrpSpPr/>
          <p:nvPr/>
        </p:nvGrpSpPr>
        <p:grpSpPr>
          <a:xfrm>
            <a:off x="5372100" y="1638300"/>
            <a:ext cx="1219200" cy="457200"/>
            <a:chOff x="5372100" y="1638300"/>
            <a:chExt cx="1219200" cy="457200"/>
          </a:xfrm>
        </p:grpSpPr>
        <p:sp>
          <p:nvSpPr>
            <p:cNvPr id="28" name="吹き出し_倍率"/>
            <p:cNvSpPr/>
            <p:nvPr/>
          </p:nvSpPr>
          <p:spPr>
            <a:xfrm>
              <a:off x="5372100" y="1638300"/>
              <a:ext cx="1219200" cy="457200"/>
            </a:xfrm>
            <a:custGeom>
              <a:avLst/>
              <a:gdLst/>
              <a:ahLst/>
              <a:cxnLst/>
              <a:rect l="0" t="0" r="1219200" b="361950"/>
              <a:pathLst>
                <a:path w="1219200" h="457200">
                  <a:moveTo>
                    <a:pt x="57150" y="0"/>
                  </a:moveTo>
                  <a:lnTo>
                    <a:pt x="1162050" y="0"/>
                  </a:lnTo>
                  <a:arcTo wR="57150" hR="57150" stAng="16200000" swAng="5400000"/>
                  <a:lnTo>
                    <a:pt x="1219200" y="304800"/>
                  </a:lnTo>
                  <a:arcTo wR="57150" hR="57150" stAng="0" swAng="5400000"/>
                  <a:lnTo>
                    <a:pt x="676275" y="361950"/>
                  </a:lnTo>
                  <a:lnTo>
                    <a:pt x="609600" y="457200"/>
                  </a:lnTo>
                  <a:lnTo>
                    <a:pt x="542925" y="361950"/>
                  </a:lnTo>
                  <a:lnTo>
                    <a:pt x="57150" y="361950"/>
                  </a:lnTo>
                  <a:arcTo wR="57150" hR="57150" stAng="5400000" swAng="5400000"/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505450" y="1638300"/>
              <a:ext cx="95250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lt1"/>
                  </a:solidFill>
                </a:rPr>
                <a:t>3年で ×1.6</a:t>
              </a:r>
            </a:p>
          </p:txBody>
        </p:sp>
      </p:grpSp>
      <p:grpSp>
        <p:nvGrpSpPr>
          <p:cNvPr id="30" name="示唆パネル"/>
          <p:cNvGrpSpPr/>
          <p:nvPr/>
        </p:nvGrpSpPr>
        <p:grpSpPr>
          <a:xfrm>
            <a:off x="7734300" y="1676400"/>
            <a:ext cx="3848100" cy="3067050"/>
            <a:chOff x="7734300" y="1676400"/>
            <a:chExt cx="3848100" cy="3067050"/>
          </a:xfrm>
        </p:grpSpPr>
        <p:sp>
          <p:nvSpPr>
            <p:cNvPr id="31" name="パネル"/>
            <p:cNvSpPr/>
            <p:nvPr/>
          </p:nvSpPr>
          <p:spPr>
            <a:xfrm>
              <a:off x="7734300" y="1676400"/>
              <a:ext cx="3848100" cy="3067050"/>
            </a:xfrm>
            <a:prstGeom prst="roundRect">
              <a:avLst>
                <a:gd name="adj" fmla="val 310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ラベル"/>
            <p:cNvSpPr/>
            <p:nvPr/>
          </p:nvSpPr>
          <p:spPr>
            <a:xfrm>
              <a:off x="8020050" y="192405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1"/>
                  </a:solidFill>
                </a:rPr>
                <a:t>POINT</a:t>
              </a:r>
            </a:p>
          </p:txBody>
        </p:sp>
        <p:sp>
          <p:nvSpPr>
            <p:cNvPr id="33" name="示唆本文"/>
            <p:cNvSpPr/>
            <p:nvPr/>
          </p:nvSpPr>
          <p:spPr>
            <a:xfrm>
              <a:off x="8020050" y="2209800"/>
              <a:ext cx="3276600" cy="1809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書類の「件数」は3年でほぼ横ばい</a:t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（+3%）。</a:t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/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増えているのは、1件を仕上げる</a:t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までにかかる時間である。</a:t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/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人を足しても、この構造が変わら</a:t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ない限り時間は増え続ける。</a:t>
              </a:r>
            </a:p>
          </p:txBody>
        </p:sp>
        <p:cxnSp>
          <p:nvCxnSpPr>
            <p:cNvPr id="34" name="区切り線"/>
            <p:cNvCxnSpPr/>
            <p:nvPr/>
          </p:nvCxnSpPr>
          <p:spPr>
            <a:xfrm>
              <a:off x="8020050" y="4171950"/>
              <a:ext cx="32766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次頁予告"/>
            <p:cNvSpPr/>
            <p:nvPr/>
          </p:nvSpPr>
          <p:spPr>
            <a:xfrm>
              <a:off x="8020050" y="4305300"/>
              <a:ext cx="3276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次頁：時間が何に消えているかを分解する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01｜現状と課題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増えたのは仕事量ではなく、転記と確認往復のムダである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書類作成時間の増加要因の分解（3年間の増分＝週+4.9時間）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出所：営業部門タイムスタディ 20XX年◯月（数値はサンプル）　　注：構成比は増分（週+4.9時間）に対する割合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05</a:t>
              </a:r>
            </a:p>
          </p:txBody>
        </p:sp>
      </p:grpSp>
      <p:grpSp>
        <p:nvGrpSpPr>
          <p:cNvPr id="11" name="ロジックツリー"/>
          <p:cNvGrpSpPr/>
          <p:nvPr/>
        </p:nvGrpSpPr>
        <p:grpSpPr>
          <a:xfrm>
            <a:off x="609600" y="1676400"/>
            <a:ext cx="8267700" cy="3600450"/>
            <a:chOff x="609600" y="1676400"/>
            <a:chExt cx="8267700" cy="3600450"/>
          </a:xfrm>
        </p:grpSpPr>
        <p:sp>
          <p:nvSpPr>
            <p:cNvPr id="12" name="親_書類時間の増加"/>
            <p:cNvSpPr/>
            <p:nvPr/>
          </p:nvSpPr>
          <p:spPr>
            <a:xfrm>
              <a:off x="609600" y="2857500"/>
              <a:ext cx="1905000" cy="800100"/>
            </a:xfrm>
            <a:prstGeom prst="roundRect">
              <a:avLst>
                <a:gd name="adj" fmla="val 9523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09600" y="3028950"/>
              <a:ext cx="1905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書類時間の増加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09600" y="3295650"/>
              <a:ext cx="1905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3年で 週+4.9時間</a:t>
              </a:r>
            </a:p>
          </p:txBody>
        </p:sp>
        <p:cxnSp>
          <p:nvCxnSpPr>
            <p:cNvPr id="15" name="幹"/>
            <p:cNvCxnSpPr/>
            <p:nvPr/>
          </p:nvCxnSpPr>
          <p:spPr>
            <a:xfrm>
              <a:off x="2514600" y="3257550"/>
              <a:ext cx="3429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背骨1"/>
            <p:cNvCxnSpPr/>
            <p:nvPr/>
          </p:nvCxnSpPr>
          <p:spPr>
            <a:xfrm>
              <a:off x="2857500" y="1962150"/>
              <a:ext cx="0" cy="222885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枝_件数"/>
            <p:cNvCxnSpPr/>
            <p:nvPr/>
          </p:nvCxnSpPr>
          <p:spPr>
            <a:xfrm>
              <a:off x="2857500" y="1962150"/>
              <a:ext cx="2857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枝_単価"/>
            <p:cNvCxnSpPr/>
            <p:nvPr/>
          </p:nvCxnSpPr>
          <p:spPr>
            <a:xfrm>
              <a:off x="2857500" y="4191000"/>
              <a:ext cx="2857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子_件数の増加"/>
            <p:cNvSpPr/>
            <p:nvPr/>
          </p:nvSpPr>
          <p:spPr>
            <a:xfrm>
              <a:off x="3143250" y="1676400"/>
              <a:ext cx="2095500" cy="571500"/>
            </a:xfrm>
            <a:prstGeom prst="roundRect">
              <a:avLst>
                <a:gd name="adj" fmla="val 13333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143250" y="1771650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accent5"/>
                  </a:solidFill>
                </a:rPr>
                <a:t>件数の増加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143250" y="198120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+3%（ほぼ横ばい）</a:t>
              </a:r>
            </a:p>
          </p:txBody>
        </p:sp>
        <p:sp>
          <p:nvSpPr>
            <p:cNvPr id="22" name="子_1件あたり時間"/>
            <p:cNvSpPr/>
            <p:nvPr/>
          </p:nvSpPr>
          <p:spPr>
            <a:xfrm>
              <a:off x="3143250" y="3848100"/>
              <a:ext cx="2095500" cy="68580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143250" y="3981450"/>
              <a:ext cx="2095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1件あたり時間の増加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143250" y="422910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増分の92%を占める</a:t>
              </a:r>
            </a:p>
          </p:txBody>
        </p:sp>
        <p:cxnSp>
          <p:nvCxnSpPr>
            <p:cNvPr id="25" name="幹2"/>
            <p:cNvCxnSpPr/>
            <p:nvPr/>
          </p:nvCxnSpPr>
          <p:spPr>
            <a:xfrm>
              <a:off x="5238750" y="4191000"/>
              <a:ext cx="4762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背骨2"/>
            <p:cNvCxnSpPr/>
            <p:nvPr/>
          </p:nvCxnSpPr>
          <p:spPr>
            <a:xfrm>
              <a:off x="5715000" y="3295650"/>
              <a:ext cx="0" cy="163830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枝1"/>
            <p:cNvCxnSpPr/>
            <p:nvPr/>
          </p:nvCxnSpPr>
          <p:spPr>
            <a:xfrm>
              <a:off x="5715000" y="3295650"/>
              <a:ext cx="3810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要因_転記・体裁の手直し"/>
            <p:cNvSpPr/>
            <p:nvPr/>
          </p:nvSpPr>
          <p:spPr>
            <a:xfrm>
              <a:off x="6096000" y="2952750"/>
              <a:ext cx="2781300" cy="685800"/>
            </a:xfrm>
            <a:prstGeom prst="roundRect">
              <a:avLst>
                <a:gd name="adj" fmla="val 11111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248400" y="3048000"/>
              <a:ext cx="1809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転記・体裁の手直し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248400" y="325755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システム間の再入力｜週+2.1時間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077200" y="3028950"/>
              <a:ext cx="666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700" b="1">
                  <a:solidFill>
                    <a:schemeClr val="accent1"/>
                  </a:solidFill>
                </a:rPr>
                <a:t>47%</a:t>
              </a:r>
            </a:p>
          </p:txBody>
        </p:sp>
        <p:sp>
          <p:nvSpPr>
            <p:cNvPr id="32" name="構成比バー1"/>
            <p:cNvSpPr/>
            <p:nvPr/>
          </p:nvSpPr>
          <p:spPr>
            <a:xfrm>
              <a:off x="6248400" y="3486150"/>
              <a:ext cx="1905000" cy="66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3" name="枝2"/>
            <p:cNvCxnSpPr/>
            <p:nvPr/>
          </p:nvCxnSpPr>
          <p:spPr>
            <a:xfrm>
              <a:off x="5715000" y="4114800"/>
              <a:ext cx="3810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要因_確認の往復"/>
            <p:cNvSpPr/>
            <p:nvPr/>
          </p:nvSpPr>
          <p:spPr>
            <a:xfrm>
              <a:off x="6096000" y="3771900"/>
              <a:ext cx="2781300" cy="685800"/>
            </a:xfrm>
            <a:prstGeom prst="roundRect">
              <a:avLst>
                <a:gd name="adj" fmla="val 11111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248400" y="3867150"/>
              <a:ext cx="1809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確認の往復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248400" y="407670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差し戻し 平均3.4回/件｜週+1.4時間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077200" y="3848100"/>
              <a:ext cx="666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700" b="1">
                  <a:solidFill>
                    <a:schemeClr val="accent1"/>
                  </a:solidFill>
                </a:rPr>
                <a:t>31%</a:t>
              </a:r>
            </a:p>
          </p:txBody>
        </p:sp>
        <p:sp>
          <p:nvSpPr>
            <p:cNvPr id="38" name="構成比バー2"/>
            <p:cNvSpPr/>
            <p:nvPr/>
          </p:nvSpPr>
          <p:spPr>
            <a:xfrm>
              <a:off x="6248400" y="4305300"/>
              <a:ext cx="1256489" cy="66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枝3"/>
            <p:cNvCxnSpPr/>
            <p:nvPr/>
          </p:nvCxnSpPr>
          <p:spPr>
            <a:xfrm>
              <a:off x="5715000" y="4933950"/>
              <a:ext cx="3810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要因_純粋な新規作成"/>
            <p:cNvSpPr/>
            <p:nvPr/>
          </p:nvSpPr>
          <p:spPr>
            <a:xfrm>
              <a:off x="6096000" y="4591050"/>
              <a:ext cx="2781300" cy="685800"/>
            </a:xfrm>
            <a:prstGeom prst="roundRect">
              <a:avLst>
                <a:gd name="adj" fmla="val 11111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248400" y="4686300"/>
              <a:ext cx="1809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5"/>
                  </a:solidFill>
                </a:rPr>
                <a:t>純粋な新規作成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248400" y="489585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本来の作成作業｜週+1.0時間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077200" y="4667250"/>
              <a:ext cx="666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700" b="1">
                  <a:solidFill>
                    <a:schemeClr val="accent5"/>
                  </a:solidFill>
                </a:rPr>
                <a:t>22%</a:t>
              </a:r>
            </a:p>
          </p:txBody>
        </p:sp>
        <p:sp>
          <p:nvSpPr>
            <p:cNvPr id="44" name="構成比バー3"/>
            <p:cNvSpPr/>
            <p:nvPr/>
          </p:nvSpPr>
          <p:spPr>
            <a:xfrm>
              <a:off x="6248400" y="5124450"/>
              <a:ext cx="891702" cy="666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真因ハイライト"/>
          <p:cNvGrpSpPr/>
          <p:nvPr/>
        </p:nvGrpSpPr>
        <p:grpSpPr>
          <a:xfrm>
            <a:off x="8991600" y="3028950"/>
            <a:ext cx="2590800" cy="1352550"/>
            <a:chOff x="8991600" y="3028950"/>
            <a:chExt cx="2590800" cy="1352550"/>
          </a:xfrm>
        </p:grpSpPr>
        <p:cxnSp>
          <p:nvCxnSpPr>
            <p:cNvPr id="46" name="ブラケット縦"/>
            <p:cNvCxnSpPr/>
            <p:nvPr/>
          </p:nvCxnSpPr>
          <p:spPr>
            <a:xfrm>
              <a:off x="9067800" y="3028950"/>
              <a:ext cx="0" cy="135255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ブラケット上"/>
            <p:cNvCxnSpPr/>
            <p:nvPr/>
          </p:nvCxnSpPr>
          <p:spPr>
            <a:xfrm>
              <a:off x="8991600" y="3028950"/>
              <a:ext cx="76200" cy="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ブラケット下"/>
            <p:cNvCxnSpPr/>
            <p:nvPr/>
          </p:nvCxnSpPr>
          <p:spPr>
            <a:xfrm>
              <a:off x="8991600" y="4381500"/>
              <a:ext cx="76200" cy="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真因チップ"/>
            <p:cNvSpPr/>
            <p:nvPr/>
          </p:nvSpPr>
          <p:spPr>
            <a:xfrm>
              <a:off x="9296400" y="32385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9296400" y="3248025"/>
              <a:ext cx="609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真因</a:t>
              </a:r>
            </a:p>
          </p:txBody>
        </p:sp>
        <p:sp>
          <p:nvSpPr>
            <p:cNvPr id="51" name="真因コメント"/>
            <p:cNvSpPr/>
            <p:nvPr/>
          </p:nvSpPr>
          <p:spPr>
            <a:xfrm>
              <a:off x="9296400" y="3600450"/>
              <a:ext cx="2286000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150" b="1">
                  <a:solidFill>
                    <a:schemeClr val="dk2"/>
                  </a:solidFill>
                </a:rPr>
                <a:t>増分の78%は「作り直し」。</a:t>
              </a:r>
            </a:p>
            <a:p>
              <a:pPr algn="l">
                <a:lnSpc>
                  <a:spcPct val="150000"/>
                </a:lnSpc>
              </a:pPr>
              <a:r>
                <a:rPr sz="1150" b="1">
                  <a:solidFill>
                    <a:schemeClr val="dk2"/>
                  </a:solidFill>
                </a:rPr>
                <a:t>ここを断てば、時間は</a:t>
              </a:r>
            </a:p>
            <a:p>
              <a:pPr algn="l">
                <a:lnSpc>
                  <a:spcPct val="150000"/>
                </a:lnSpc>
              </a:pPr>
              <a:r>
                <a:rPr sz="1150" b="1">
                  <a:solidFill>
                    <a:schemeClr val="dk2"/>
                  </a:solidFill>
                </a:rPr>
                <a:t>仕組みで取り戻せる。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01｜現状と課題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放置すれば書類は稼働の45%に達し、3年で6.8億円を失う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放置した場合の営業機会損失（累計・粗利換算）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出所：△△コンサルティング試算（数値はサンプル）　　注：営業時間1時間＝粗利1.2万円で換算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06</a:t>
              </a:r>
            </a:p>
          </p:txBody>
        </p:sp>
      </p:grpSp>
      <p:grpSp>
        <p:nvGrpSpPr>
          <p:cNvPr id="11" name="累計損失グラフ"/>
          <p:cNvGrpSpPr/>
          <p:nvPr/>
        </p:nvGrpSpPr>
        <p:grpSpPr>
          <a:xfrm>
            <a:off x="857250" y="2000250"/>
            <a:ext cx="6096000" cy="3562350"/>
            <a:chOff x="857250" y="2000250"/>
            <a:chExt cx="6096000" cy="3562350"/>
          </a:xfrm>
        </p:grpSpPr>
        <p:cxnSp>
          <p:nvCxnSpPr>
            <p:cNvPr id="12" name="基準線"/>
            <p:cNvCxnSpPr/>
            <p:nvPr/>
          </p:nvCxnSpPr>
          <p:spPr>
            <a:xfrm>
              <a:off x="857250" y="5334000"/>
              <a:ext cx="6096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累計1年後"/>
            <p:cNvSpPr/>
            <p:nvPr/>
          </p:nvSpPr>
          <p:spPr>
            <a:xfrm>
              <a:off x="1047750" y="4437529"/>
              <a:ext cx="1295400" cy="89647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値1年後"/>
            <p:cNvSpPr/>
            <p:nvPr/>
          </p:nvSpPr>
          <p:spPr>
            <a:xfrm>
              <a:off x="895350" y="4151779"/>
              <a:ext cx="16002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2.0億円</a:t>
              </a:r>
            </a:p>
          </p:txBody>
        </p:sp>
        <p:sp>
          <p:nvSpPr>
            <p:cNvPr id="15" name="軸1年後"/>
            <p:cNvSpPr/>
            <p:nvPr/>
          </p:nvSpPr>
          <p:spPr>
            <a:xfrm>
              <a:off x="895350" y="5410200"/>
              <a:ext cx="1600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1年後</a:t>
              </a:r>
            </a:p>
          </p:txBody>
        </p:sp>
        <p:sp>
          <p:nvSpPr>
            <p:cNvPr id="16" name="累計2年後"/>
            <p:cNvSpPr/>
            <p:nvPr/>
          </p:nvSpPr>
          <p:spPr>
            <a:xfrm>
              <a:off x="2971800" y="3406588"/>
              <a:ext cx="1295400" cy="192741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値2年後"/>
            <p:cNvSpPr/>
            <p:nvPr/>
          </p:nvSpPr>
          <p:spPr>
            <a:xfrm>
              <a:off x="2819400" y="3120838"/>
              <a:ext cx="16002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4.3億円</a:t>
              </a:r>
            </a:p>
          </p:txBody>
        </p:sp>
        <p:sp>
          <p:nvSpPr>
            <p:cNvPr id="18" name="軸2年後"/>
            <p:cNvSpPr/>
            <p:nvPr/>
          </p:nvSpPr>
          <p:spPr>
            <a:xfrm>
              <a:off x="2819400" y="5410200"/>
              <a:ext cx="1600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2年後</a:t>
              </a:r>
            </a:p>
          </p:txBody>
        </p:sp>
        <p:cxnSp>
          <p:nvCxnSpPr>
            <p:cNvPr id="19" name="接続線1"/>
            <p:cNvCxnSpPr/>
            <p:nvPr/>
          </p:nvCxnSpPr>
          <p:spPr>
            <a:xfrm flipV="1">
              <a:off x="2343150" y="3406588"/>
              <a:ext cx="628650" cy="1030941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累計3年後"/>
            <p:cNvSpPr/>
            <p:nvPr/>
          </p:nvSpPr>
          <p:spPr>
            <a:xfrm>
              <a:off x="4895850" y="2286000"/>
              <a:ext cx="1295400" cy="304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値3年後"/>
            <p:cNvSpPr/>
            <p:nvPr/>
          </p:nvSpPr>
          <p:spPr>
            <a:xfrm>
              <a:off x="4743450" y="2000250"/>
              <a:ext cx="16002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6.8億円</a:t>
              </a:r>
            </a:p>
          </p:txBody>
        </p:sp>
        <p:sp>
          <p:nvSpPr>
            <p:cNvPr id="22" name="軸3年後"/>
            <p:cNvSpPr/>
            <p:nvPr/>
          </p:nvSpPr>
          <p:spPr>
            <a:xfrm>
              <a:off x="4743450" y="5410200"/>
              <a:ext cx="1600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3年後</a:t>
              </a:r>
            </a:p>
          </p:txBody>
        </p:sp>
        <p:cxnSp>
          <p:nvCxnSpPr>
            <p:cNvPr id="23" name="接続線2"/>
            <p:cNvCxnSpPr/>
            <p:nvPr/>
          </p:nvCxnSpPr>
          <p:spPr>
            <a:xfrm flipV="1">
              <a:off x="4267200" y="2286000"/>
              <a:ext cx="628650" cy="1120588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言語化パネル"/>
          <p:cNvGrpSpPr/>
          <p:nvPr/>
        </p:nvGrpSpPr>
        <p:grpSpPr>
          <a:xfrm>
            <a:off x="7277100" y="1619250"/>
            <a:ext cx="4305300" cy="1866900"/>
            <a:chOff x="7277100" y="1619250"/>
            <a:chExt cx="4305300" cy="1866900"/>
          </a:xfrm>
        </p:grpSpPr>
        <p:sp>
          <p:nvSpPr>
            <p:cNvPr id="25" name="パネル"/>
            <p:cNvSpPr/>
            <p:nvPr/>
          </p:nvSpPr>
          <p:spPr>
            <a:xfrm>
              <a:off x="7277100" y="1619250"/>
              <a:ext cx="4305300" cy="1866900"/>
            </a:xfrm>
            <a:prstGeom prst="roundRect">
              <a:avLst>
                <a:gd name="adj" fmla="val 5102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ラベル"/>
            <p:cNvSpPr/>
            <p:nvPr/>
          </p:nvSpPr>
          <p:spPr>
            <a:xfrm>
              <a:off x="7562850" y="18097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4"/>
                  </a:solidFill>
                </a:rPr>
                <a:t>数字のいいかえ</a:t>
              </a:r>
            </a:p>
          </p:txBody>
        </p:sp>
        <p:sp>
          <p:nvSpPr>
            <p:cNvPr id="27" name="本文"/>
            <p:cNvSpPr/>
            <p:nvPr/>
          </p:nvSpPr>
          <p:spPr>
            <a:xfrm>
              <a:off x="7562850" y="2057400"/>
              <a:ext cx="37338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5000"/>
                </a:lnSpc>
              </a:pPr>
              <a:r>
                <a:rPr sz="1250" b="1">
                  <a:solidFill>
                    <a:schemeClr val="lt1"/>
                  </a:solidFill>
                </a:rPr>
                <a:t>週13時間の書類は、営業60名では</a:t>
              </a:r>
            </a:p>
            <a:p>
              <a:pPr algn="l">
                <a:lnSpc>
                  <a:spcPct val="155000"/>
                </a:lnSpc>
              </a:pPr>
              <a:r>
                <a:rPr sz="1250" b="1">
                  <a:solidFill>
                    <a:schemeClr val="lt1"/>
                  </a:solidFill>
                </a:rPr>
                <a:t>「営業12人分」に相当する。</a:t>
              </a:r>
            </a:p>
            <a:p>
              <a:pPr algn="l">
                <a:lnSpc>
                  <a:spcPct val="155000"/>
                </a:lnSpc>
              </a:pPr>
              <a:r>
                <a:rPr sz="1250" b="1">
                  <a:solidFill>
                    <a:schemeClr val="lt1"/>
                  </a:solidFill>
                </a:rPr>
                <a:t/>
              </a:r>
            </a:p>
            <a:p>
              <a:pPr algn="l">
                <a:lnSpc>
                  <a:spcPct val="155000"/>
                </a:lnSpc>
              </a:pPr>
              <a:r>
                <a:rPr sz="1250" b="1">
                  <a:solidFill>
                    <a:schemeClr val="lt1"/>
                  </a:solidFill>
                </a:rPr>
                <a:t>毎年、営業チームを一つ、書類の</a:t>
              </a:r>
            </a:p>
            <a:p>
              <a:pPr algn="l">
                <a:lnSpc>
                  <a:spcPct val="155000"/>
                </a:lnSpc>
              </a:pPr>
              <a:r>
                <a:rPr sz="1250" b="1">
                  <a:solidFill>
                    <a:schemeClr val="lt1"/>
                  </a:solidFill>
                </a:rPr>
                <a:t>ためだけに雇っているのに等しい。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7277100" y="3733800"/>
            <a:ext cx="2857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chemeClr val="accent5"/>
                </a:solidFill>
              </a:rPr>
              <a:t>このままの伸びが続いた3年後</a:t>
            </a:r>
          </a:p>
        </p:txBody>
      </p:sp>
      <p:grpSp>
        <p:nvGrpSpPr>
          <p:cNvPr id="29" name="ミニファクト1"/>
          <p:cNvGrpSpPr/>
          <p:nvPr/>
        </p:nvGrpSpPr>
        <p:grpSpPr>
          <a:xfrm>
            <a:off x="7277100" y="3962400"/>
            <a:ext cx="1371600" cy="914400"/>
            <a:chOff x="7277100" y="3962400"/>
            <a:chExt cx="1371600" cy="914400"/>
          </a:xfrm>
        </p:grpSpPr>
        <p:sp>
          <p:nvSpPr>
            <p:cNvPr id="30" name="カード"/>
            <p:cNvSpPr/>
            <p:nvPr/>
          </p:nvSpPr>
          <p:spPr>
            <a:xfrm>
              <a:off x="7277100" y="3962400"/>
              <a:ext cx="1371600" cy="9144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数値"/>
            <p:cNvSpPr/>
            <p:nvPr/>
          </p:nvSpPr>
          <p:spPr>
            <a:xfrm>
              <a:off x="7353300" y="4152900"/>
              <a:ext cx="1219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週18時間</a:t>
              </a:r>
            </a:p>
          </p:txBody>
        </p:sp>
        <p:sp>
          <p:nvSpPr>
            <p:cNvPr id="32" name="ラベル"/>
            <p:cNvSpPr/>
            <p:nvPr/>
          </p:nvSpPr>
          <p:spPr>
            <a:xfrm>
              <a:off x="7353300" y="4457700"/>
              <a:ext cx="12192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850">
                  <a:solidFill>
                    <a:schemeClr val="accent5"/>
                  </a:solidFill>
                </a:rPr>
                <a:t>1人あたりの書類時間</a:t>
              </a:r>
            </a:p>
          </p:txBody>
        </p:sp>
      </p:grpSp>
      <p:grpSp>
        <p:nvGrpSpPr>
          <p:cNvPr id="33" name="ミニファクト2"/>
          <p:cNvGrpSpPr/>
          <p:nvPr/>
        </p:nvGrpSpPr>
        <p:grpSpPr>
          <a:xfrm>
            <a:off x="8743950" y="3962400"/>
            <a:ext cx="1371600" cy="914400"/>
            <a:chOff x="8743950" y="3962400"/>
            <a:chExt cx="1371600" cy="914400"/>
          </a:xfrm>
        </p:grpSpPr>
        <p:sp>
          <p:nvSpPr>
            <p:cNvPr id="34" name="カード"/>
            <p:cNvSpPr/>
            <p:nvPr/>
          </p:nvSpPr>
          <p:spPr>
            <a:xfrm>
              <a:off x="8743950" y="3962400"/>
              <a:ext cx="1371600" cy="9144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数値"/>
            <p:cNvSpPr/>
            <p:nvPr/>
          </p:nvSpPr>
          <p:spPr>
            <a:xfrm>
              <a:off x="8820150" y="4152900"/>
              <a:ext cx="1219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45%</a:t>
              </a:r>
            </a:p>
          </p:txBody>
        </p:sp>
        <p:sp>
          <p:nvSpPr>
            <p:cNvPr id="36" name="ラベル"/>
            <p:cNvSpPr/>
            <p:nvPr/>
          </p:nvSpPr>
          <p:spPr>
            <a:xfrm>
              <a:off x="8820150" y="4457700"/>
              <a:ext cx="12192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850">
                  <a:solidFill>
                    <a:schemeClr val="accent5"/>
                  </a:solidFill>
                </a:rPr>
                <a:t>稼働に占める書類の割合</a:t>
              </a:r>
            </a:p>
          </p:txBody>
        </p:sp>
      </p:grpSp>
      <p:grpSp>
        <p:nvGrpSpPr>
          <p:cNvPr id="37" name="ミニファクト3"/>
          <p:cNvGrpSpPr/>
          <p:nvPr/>
        </p:nvGrpSpPr>
        <p:grpSpPr>
          <a:xfrm>
            <a:off x="10210800" y="3962400"/>
            <a:ext cx="1371600" cy="914400"/>
            <a:chOff x="10210800" y="3962400"/>
            <a:chExt cx="1371600" cy="914400"/>
          </a:xfrm>
        </p:grpSpPr>
        <p:sp>
          <p:nvSpPr>
            <p:cNvPr id="38" name="カード"/>
            <p:cNvSpPr/>
            <p:nvPr/>
          </p:nvSpPr>
          <p:spPr>
            <a:xfrm>
              <a:off x="10210800" y="3962400"/>
              <a:ext cx="1371600" cy="9144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数値"/>
            <p:cNvSpPr/>
            <p:nvPr/>
          </p:nvSpPr>
          <p:spPr>
            <a:xfrm>
              <a:off x="10287000" y="4152900"/>
              <a:ext cx="1219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−25%</a:t>
              </a:r>
            </a:p>
          </p:txBody>
        </p:sp>
        <p:sp>
          <p:nvSpPr>
            <p:cNvPr id="40" name="ラベル"/>
            <p:cNvSpPr/>
            <p:nvPr/>
          </p:nvSpPr>
          <p:spPr>
            <a:xfrm>
              <a:off x="10287000" y="4457700"/>
              <a:ext cx="12192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850">
                  <a:solidFill>
                    <a:schemeClr val="accent5"/>
                  </a:solidFill>
                </a:rPr>
                <a:t>商談に使える時間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02｜解決の方向性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増員・外注・AIの3案では、費用対効果でAIが最も優れる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打ち手3案の比較（費用・効果・拡張性）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出所：各方式の一般的な市場水準をもとに△△コンサルティング試算（サンプル）　　注：削減効果は書類作成時間に対する割合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07</a:t>
              </a:r>
            </a:p>
          </p:txBody>
        </p:sp>
      </p:grpSp>
      <p:grpSp>
        <p:nvGrpSpPr>
          <p:cNvPr id="11" name="比較表"/>
          <p:cNvGrpSpPr/>
          <p:nvPr/>
        </p:nvGrpSpPr>
        <p:grpSpPr>
          <a:xfrm>
            <a:off x="609600" y="1619250"/>
            <a:ext cx="10972800" cy="3810000"/>
            <a:chOff x="609600" y="1619250"/>
            <a:chExt cx="10972800" cy="3810000"/>
          </a:xfrm>
        </p:grpSpPr>
        <p:sp>
          <p:nvSpPr>
            <p:cNvPr id="12" name="見出し_比較項目"/>
            <p:cNvSpPr/>
            <p:nvPr/>
          </p:nvSpPr>
          <p:spPr>
            <a:xfrm>
              <a:off x="609600" y="1619250"/>
              <a:ext cx="2190750" cy="4953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09600" y="1619250"/>
              <a:ext cx="21907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比較項目</a:t>
              </a:r>
            </a:p>
          </p:txBody>
        </p:sp>
        <p:sp>
          <p:nvSpPr>
            <p:cNvPr id="14" name="見出し_A案：事務増員"/>
            <p:cNvSpPr/>
            <p:nvPr/>
          </p:nvSpPr>
          <p:spPr>
            <a:xfrm>
              <a:off x="2800350" y="1619250"/>
              <a:ext cx="26670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800350" y="1619250"/>
              <a:ext cx="2667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A案：事務増員</a:t>
              </a:r>
            </a:p>
          </p:txBody>
        </p:sp>
        <p:sp>
          <p:nvSpPr>
            <p:cNvPr id="16" name="見出し_B案：外注（BPO）"/>
            <p:cNvSpPr/>
            <p:nvPr/>
          </p:nvSpPr>
          <p:spPr>
            <a:xfrm>
              <a:off x="5467350" y="1619250"/>
              <a:ext cx="26670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467350" y="1619250"/>
              <a:ext cx="2667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B案：外注（BPO）</a:t>
              </a:r>
            </a:p>
          </p:txBody>
        </p:sp>
        <p:sp>
          <p:nvSpPr>
            <p:cNvPr id="18" name="見出し_C案：AI活用"/>
            <p:cNvSpPr/>
            <p:nvPr/>
          </p:nvSpPr>
          <p:spPr>
            <a:xfrm>
              <a:off x="8134350" y="1619250"/>
              <a:ext cx="3448050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134350" y="1619250"/>
              <a:ext cx="28194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C案：AI活用</a:t>
              </a:r>
            </a:p>
          </p:txBody>
        </p:sp>
        <p:sp>
          <p:nvSpPr>
            <p:cNvPr id="20" name="推奨チップ"/>
            <p:cNvSpPr/>
            <p:nvPr/>
          </p:nvSpPr>
          <p:spPr>
            <a:xfrm>
              <a:off x="10991850" y="1752600"/>
              <a:ext cx="45720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991850" y="1762125"/>
              <a:ext cx="4572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推奨</a:t>
              </a:r>
            </a:p>
          </p:txBody>
        </p:sp>
        <p:sp>
          <p:nvSpPr>
            <p:cNvPr id="22" name="推奨列_初期費用"/>
            <p:cNvSpPr/>
            <p:nvPr/>
          </p:nvSpPr>
          <p:spPr>
            <a:xfrm>
              <a:off x="8134350" y="211455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81050" y="211455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初期費用</a:t>
              </a:r>
            </a:p>
          </p:txBody>
        </p:sp>
        <p:sp>
          <p:nvSpPr>
            <p:cNvPr id="24" name="初期費用_A案"/>
            <p:cNvSpPr/>
            <p:nvPr/>
          </p:nvSpPr>
          <p:spPr>
            <a:xfrm>
              <a:off x="2800350" y="21145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120万円</a:t>
              </a:r>
            </a:p>
          </p:txBody>
        </p:sp>
        <p:sp>
          <p:nvSpPr>
            <p:cNvPr id="25" name="初期費用_B案"/>
            <p:cNvSpPr/>
            <p:nvPr/>
          </p:nvSpPr>
          <p:spPr>
            <a:xfrm>
              <a:off x="5467350" y="21145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200万円</a:t>
              </a:r>
            </a:p>
          </p:txBody>
        </p:sp>
        <p:sp>
          <p:nvSpPr>
            <p:cNvPr id="26" name="初期費用_C案"/>
            <p:cNvSpPr/>
            <p:nvPr/>
          </p:nvSpPr>
          <p:spPr>
            <a:xfrm>
              <a:off x="8134350" y="211455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380万円</a:t>
              </a:r>
            </a:p>
          </p:txBody>
        </p:sp>
        <p:cxnSp>
          <p:nvCxnSpPr>
            <p:cNvPr id="27" name="罫線_初期費用"/>
            <p:cNvCxnSpPr/>
            <p:nvPr/>
          </p:nvCxnSpPr>
          <p:spPr>
            <a:xfrm>
              <a:off x="609600" y="26670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推奨列_年間費用"/>
            <p:cNvSpPr/>
            <p:nvPr/>
          </p:nvSpPr>
          <p:spPr>
            <a:xfrm>
              <a:off x="8134350" y="266700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81050" y="266700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年間費用</a:t>
              </a:r>
            </a:p>
          </p:txBody>
        </p:sp>
        <p:sp>
          <p:nvSpPr>
            <p:cNvPr id="30" name="年間費用_A案"/>
            <p:cNvSpPr/>
            <p:nvPr/>
          </p:nvSpPr>
          <p:spPr>
            <a:xfrm>
              <a:off x="2800350" y="26670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960万円</a:t>
              </a:r>
            </a:p>
          </p:txBody>
        </p:sp>
        <p:sp>
          <p:nvSpPr>
            <p:cNvPr id="31" name="年間費用_B案"/>
            <p:cNvSpPr/>
            <p:nvPr/>
          </p:nvSpPr>
          <p:spPr>
            <a:xfrm>
              <a:off x="5467350" y="26670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1,440万円</a:t>
              </a:r>
            </a:p>
          </p:txBody>
        </p:sp>
        <p:sp>
          <p:nvSpPr>
            <p:cNvPr id="32" name="年間費用_C案"/>
            <p:cNvSpPr/>
            <p:nvPr/>
          </p:nvSpPr>
          <p:spPr>
            <a:xfrm>
              <a:off x="8134350" y="266700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480万円</a:t>
              </a:r>
            </a:p>
          </p:txBody>
        </p:sp>
        <p:cxnSp>
          <p:nvCxnSpPr>
            <p:cNvPr id="33" name="罫線_年間費用"/>
            <p:cNvCxnSpPr/>
            <p:nvPr/>
          </p:nvCxnSpPr>
          <p:spPr>
            <a:xfrm>
              <a:off x="609600" y="32194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推奨列_削減効果"/>
            <p:cNvSpPr/>
            <p:nvPr/>
          </p:nvSpPr>
          <p:spPr>
            <a:xfrm>
              <a:off x="8134350" y="321945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81050" y="321945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削減効果</a:t>
              </a:r>
            </a:p>
          </p:txBody>
        </p:sp>
        <p:sp>
          <p:nvSpPr>
            <p:cNvPr id="36" name="削減効果_A案"/>
            <p:cNvSpPr/>
            <p:nvPr/>
          </p:nvSpPr>
          <p:spPr>
            <a:xfrm>
              <a:off x="2800350" y="32194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−20%</a:t>
              </a:r>
            </a:p>
          </p:txBody>
        </p:sp>
        <p:sp>
          <p:nvSpPr>
            <p:cNvPr id="37" name="削減効果_B案"/>
            <p:cNvSpPr/>
            <p:nvPr/>
          </p:nvSpPr>
          <p:spPr>
            <a:xfrm>
              <a:off x="5467350" y="32194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−35%</a:t>
              </a:r>
            </a:p>
          </p:txBody>
        </p:sp>
        <p:sp>
          <p:nvSpPr>
            <p:cNvPr id="38" name="削減効果_C案"/>
            <p:cNvSpPr/>
            <p:nvPr/>
          </p:nvSpPr>
          <p:spPr>
            <a:xfrm>
              <a:off x="8134350" y="321945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−50%</a:t>
              </a:r>
            </a:p>
          </p:txBody>
        </p:sp>
        <p:cxnSp>
          <p:nvCxnSpPr>
            <p:cNvPr id="39" name="罫線_削減効果"/>
            <p:cNvCxnSpPr/>
            <p:nvPr/>
          </p:nvCxnSpPr>
          <p:spPr>
            <a:xfrm>
              <a:off x="609600" y="37719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推奨列_立ち上がり"/>
            <p:cNvSpPr/>
            <p:nvPr/>
          </p:nvSpPr>
          <p:spPr>
            <a:xfrm>
              <a:off x="8134350" y="377190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81050" y="377190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立ち上がり</a:t>
              </a:r>
            </a:p>
          </p:txBody>
        </p:sp>
        <p:sp>
          <p:nvSpPr>
            <p:cNvPr id="42" name="立ち上がり_A案"/>
            <p:cNvSpPr/>
            <p:nvPr/>
          </p:nvSpPr>
          <p:spPr>
            <a:xfrm>
              <a:off x="2800350" y="37719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3ヶ月</a:t>
              </a:r>
            </a:p>
          </p:txBody>
        </p:sp>
        <p:sp>
          <p:nvSpPr>
            <p:cNvPr id="43" name="立ち上がり_B案"/>
            <p:cNvSpPr/>
            <p:nvPr/>
          </p:nvSpPr>
          <p:spPr>
            <a:xfrm>
              <a:off x="5467350" y="37719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2ヶ月</a:t>
              </a:r>
            </a:p>
          </p:txBody>
        </p:sp>
        <p:sp>
          <p:nvSpPr>
            <p:cNvPr id="44" name="立ち上がり_C案"/>
            <p:cNvSpPr/>
            <p:nvPr/>
          </p:nvSpPr>
          <p:spPr>
            <a:xfrm>
              <a:off x="8134350" y="377190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3ヶ月（試行込み）</a:t>
              </a:r>
            </a:p>
          </p:txBody>
        </p:sp>
        <p:cxnSp>
          <p:nvCxnSpPr>
            <p:cNvPr id="45" name="罫線_立ち上がり"/>
            <p:cNvCxnSpPr/>
            <p:nvPr/>
          </p:nvCxnSpPr>
          <p:spPr>
            <a:xfrm>
              <a:off x="609600" y="43243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推奨列_拡張性"/>
            <p:cNvSpPr/>
            <p:nvPr/>
          </p:nvSpPr>
          <p:spPr>
            <a:xfrm>
              <a:off x="8134350" y="432435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81050" y="432435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拡張性</a:t>
              </a:r>
            </a:p>
          </p:txBody>
        </p:sp>
        <p:sp>
          <p:nvSpPr>
            <p:cNvPr id="48" name="拡張性_A案"/>
            <p:cNvSpPr/>
            <p:nvPr/>
          </p:nvSpPr>
          <p:spPr>
            <a:xfrm>
              <a:off x="2800350" y="43243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低い（人数に比例）</a:t>
              </a:r>
            </a:p>
          </p:txBody>
        </p:sp>
        <p:sp>
          <p:nvSpPr>
            <p:cNvPr id="49" name="拡張性_B案"/>
            <p:cNvSpPr/>
            <p:nvPr/>
          </p:nvSpPr>
          <p:spPr>
            <a:xfrm>
              <a:off x="5467350" y="43243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中（契約範囲まで）</a:t>
              </a:r>
            </a:p>
          </p:txBody>
        </p:sp>
        <p:sp>
          <p:nvSpPr>
            <p:cNvPr id="50" name="拡張性_C案"/>
            <p:cNvSpPr/>
            <p:nvPr/>
          </p:nvSpPr>
          <p:spPr>
            <a:xfrm>
              <a:off x="8134350" y="432435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高い（部署追加が容易）</a:t>
              </a:r>
            </a:p>
          </p:txBody>
        </p:sp>
        <p:cxnSp>
          <p:nvCxnSpPr>
            <p:cNvPr id="51" name="罫線_拡張性"/>
            <p:cNvCxnSpPr/>
            <p:nvPr/>
          </p:nvCxnSpPr>
          <p:spPr>
            <a:xfrm>
              <a:off x="609600" y="4876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推奨列_総合評価"/>
            <p:cNvSpPr/>
            <p:nvPr/>
          </p:nvSpPr>
          <p:spPr>
            <a:xfrm>
              <a:off x="8134350" y="487680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81050" y="487680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総合評価</a:t>
              </a:r>
            </a:p>
          </p:txBody>
        </p:sp>
        <p:sp>
          <p:nvSpPr>
            <p:cNvPr id="54" name="総合評価_A案"/>
            <p:cNvSpPr/>
            <p:nvPr/>
          </p:nvSpPr>
          <p:spPr>
            <a:xfrm>
              <a:off x="2800350" y="48768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>
                  <a:solidFill>
                    <a:schemeClr val="accent5"/>
                  </a:solidFill>
                </a:rPr>
                <a:t>△</a:t>
              </a:r>
            </a:p>
          </p:txBody>
        </p:sp>
        <p:sp>
          <p:nvSpPr>
            <p:cNvPr id="55" name="総合評価_B案"/>
            <p:cNvSpPr/>
            <p:nvPr/>
          </p:nvSpPr>
          <p:spPr>
            <a:xfrm>
              <a:off x="5467350" y="48768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>
                  <a:solidFill>
                    <a:schemeClr val="accent5"/>
                  </a:solidFill>
                </a:rPr>
                <a:t>○</a:t>
              </a:r>
            </a:p>
          </p:txBody>
        </p:sp>
        <p:sp>
          <p:nvSpPr>
            <p:cNvPr id="56" name="総合評価_C案"/>
            <p:cNvSpPr/>
            <p:nvPr/>
          </p:nvSpPr>
          <p:spPr>
            <a:xfrm>
              <a:off x="8134350" y="487680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◎</a:t>
              </a:r>
            </a:p>
          </p:txBody>
        </p:sp>
        <p:cxnSp>
          <p:nvCxnSpPr>
            <p:cNvPr id="57" name="罫線_総合評価"/>
            <p:cNvCxnSpPr/>
            <p:nvPr/>
          </p:nvCxnSpPr>
          <p:spPr>
            <a:xfrm>
              <a:off x="609600" y="54292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ヘッダ下罫線"/>
            <p:cNvCxnSpPr/>
            <p:nvPr/>
          </p:nvCxnSpPr>
          <p:spPr>
            <a:xfrm>
              <a:off x="609600" y="21145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Rectangle 58"/>
          <p:cNvSpPr/>
          <p:nvPr/>
        </p:nvSpPr>
        <p:spPr>
          <a:xfrm>
            <a:off x="609600" y="5562600"/>
            <a:ext cx="109728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初期費用はC案が最大だが、年間費用と削減効果で2年目以降の差は拡大する（投資回収の試算はP.11）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02｜解決の方向性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「入力は一度だけ」の流れへ、4つのステップで組み替える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導入後の業務フロー（4ステップ）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　　注：各ステップの詳細は次章（P.09–10）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08</a:t>
              </a:r>
            </a:p>
          </p:txBody>
        </p:sp>
      </p:grpSp>
      <p:grpSp>
        <p:nvGrpSpPr>
          <p:cNvPr id="11" name="ステップ1_ためる"/>
          <p:cNvGrpSpPr/>
          <p:nvPr/>
        </p:nvGrpSpPr>
        <p:grpSpPr>
          <a:xfrm>
            <a:off x="609600" y="1809750"/>
            <a:ext cx="2495550" cy="2247900"/>
            <a:chOff x="609600" y="1809750"/>
            <a:chExt cx="2495550" cy="2247900"/>
          </a:xfrm>
        </p:grpSpPr>
        <p:sp>
          <p:nvSpPr>
            <p:cNvPr id="12" name="カード"/>
            <p:cNvSpPr/>
            <p:nvPr/>
          </p:nvSpPr>
          <p:spPr>
            <a:xfrm>
              <a:off x="609600" y="1809750"/>
              <a:ext cx="2495550" cy="2247900"/>
            </a:xfrm>
            <a:prstGeom prst="roundRect">
              <a:avLst>
                <a:gd name="adj" fmla="val 4237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19150" y="200025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STEP 01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19150" y="2228850"/>
              <a:ext cx="20764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ためる</a:t>
              </a:r>
            </a:p>
          </p:txBody>
        </p:sp>
        <p:cxnSp>
          <p:nvCxnSpPr>
            <p:cNvPr id="15" name="区切り線"/>
            <p:cNvCxnSpPr/>
            <p:nvPr/>
          </p:nvCxnSpPr>
          <p:spPr>
            <a:xfrm>
              <a:off x="819150" y="2609850"/>
              <a:ext cx="20764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819150" y="2743200"/>
              <a:ext cx="207645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顧客・商談・実績の情報を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一度だけ入力し、一元化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する。以降の再入力は不要。</a:t>
              </a:r>
            </a:p>
          </p:txBody>
        </p:sp>
        <p:sp>
          <p:nvSpPr>
            <p:cNvPr id="17" name="担い手チップ"/>
            <p:cNvSpPr/>
            <p:nvPr/>
          </p:nvSpPr>
          <p:spPr>
            <a:xfrm>
              <a:off x="819150" y="3657600"/>
              <a:ext cx="1238250" cy="2286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19150" y="3667125"/>
              <a:ext cx="1238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担い手：既存システム</a:t>
              </a:r>
            </a:p>
          </p:txBody>
        </p:sp>
      </p:grpSp>
      <p:cxnSp>
        <p:nvCxnSpPr>
          <p:cNvPr id="19" name="フロー矢印1"/>
          <p:cNvCxnSpPr/>
          <p:nvPr/>
        </p:nvCxnSpPr>
        <p:spPr>
          <a:xfrm>
            <a:off x="3171825" y="2933700"/>
            <a:ext cx="200025" cy="0"/>
          </a:xfrm>
          <a:prstGeom prst="bentConnector3">
            <a:avLst/>
          </a:prstGeom>
          <a:ln w="19050">
            <a:solidFill>
              <a:schemeClr val="accent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ステップ2_つくる"/>
          <p:cNvGrpSpPr/>
          <p:nvPr/>
        </p:nvGrpSpPr>
        <p:grpSpPr>
          <a:xfrm>
            <a:off x="3438525" y="1809750"/>
            <a:ext cx="2495550" cy="2247900"/>
            <a:chOff x="3438525" y="1809750"/>
            <a:chExt cx="2495550" cy="2247900"/>
          </a:xfrm>
        </p:grpSpPr>
        <p:sp>
          <p:nvSpPr>
            <p:cNvPr id="21" name="カード"/>
            <p:cNvSpPr/>
            <p:nvPr/>
          </p:nvSpPr>
          <p:spPr>
            <a:xfrm>
              <a:off x="3438525" y="1809750"/>
              <a:ext cx="2495550" cy="2247900"/>
            </a:xfrm>
            <a:prstGeom prst="roundRect">
              <a:avLst>
                <a:gd name="adj" fmla="val 4237"/>
              </a:avLst>
            </a:prstGeom>
            <a:solidFill>
              <a:schemeClr val="accent1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648075" y="200025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4"/>
                  </a:solidFill>
                </a:rPr>
                <a:t>STEP 02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648075" y="2228850"/>
              <a:ext cx="20764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700" b="1">
                  <a:solidFill>
                    <a:schemeClr val="lt1"/>
                  </a:solidFill>
                </a:rPr>
                <a:t>つくる</a:t>
              </a:r>
            </a:p>
          </p:txBody>
        </p:sp>
        <p:cxnSp>
          <p:nvCxnSpPr>
            <p:cNvPr id="24" name="区切り線"/>
            <p:cNvCxnSpPr/>
            <p:nvPr/>
          </p:nvCxnSpPr>
          <p:spPr>
            <a:xfrm>
              <a:off x="3648075" y="2609850"/>
              <a:ext cx="2076450" cy="0"/>
            </a:xfrm>
            <a:prstGeom prst="bentConnector3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3648075" y="2743200"/>
              <a:ext cx="207645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4"/>
                  </a:solidFill>
                </a:rPr>
                <a:t>ためた情報から、AIが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4"/>
                  </a:solidFill>
                </a:rPr>
                <a:t>見積書・報告書の下書きを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4"/>
                  </a:solidFill>
                </a:rPr>
                <a:t>統一書式で自動生成する。</a:t>
              </a:r>
            </a:p>
          </p:txBody>
        </p:sp>
        <p:sp>
          <p:nvSpPr>
            <p:cNvPr id="26" name="担い手チップ"/>
            <p:cNvSpPr/>
            <p:nvPr/>
          </p:nvSpPr>
          <p:spPr>
            <a:xfrm>
              <a:off x="3648075" y="3657600"/>
              <a:ext cx="1238250" cy="2286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chemeClr val="l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648075" y="3667125"/>
              <a:ext cx="1238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lt1"/>
                  </a:solidFill>
                </a:rPr>
                <a:t>担い手：AI</a:t>
              </a:r>
            </a:p>
          </p:txBody>
        </p:sp>
      </p:grpSp>
      <p:cxnSp>
        <p:nvCxnSpPr>
          <p:cNvPr id="28" name="フロー矢印2"/>
          <p:cNvCxnSpPr/>
          <p:nvPr/>
        </p:nvCxnSpPr>
        <p:spPr>
          <a:xfrm>
            <a:off x="6000750" y="2933700"/>
            <a:ext cx="200025" cy="0"/>
          </a:xfrm>
          <a:prstGeom prst="bentConnector3">
            <a:avLst/>
          </a:prstGeom>
          <a:ln w="19050">
            <a:solidFill>
              <a:schemeClr val="accent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ステップ3_しあげる"/>
          <p:cNvGrpSpPr/>
          <p:nvPr/>
        </p:nvGrpSpPr>
        <p:grpSpPr>
          <a:xfrm>
            <a:off x="6267450" y="1809750"/>
            <a:ext cx="2495550" cy="2247900"/>
            <a:chOff x="6267450" y="1809750"/>
            <a:chExt cx="2495550" cy="2247900"/>
          </a:xfrm>
        </p:grpSpPr>
        <p:sp>
          <p:nvSpPr>
            <p:cNvPr id="30" name="カード"/>
            <p:cNvSpPr/>
            <p:nvPr/>
          </p:nvSpPr>
          <p:spPr>
            <a:xfrm>
              <a:off x="6267450" y="1809750"/>
              <a:ext cx="2495550" cy="2247900"/>
            </a:xfrm>
            <a:prstGeom prst="roundRect">
              <a:avLst>
                <a:gd name="adj" fmla="val 4237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477000" y="200025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STEP 03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477000" y="2228850"/>
              <a:ext cx="20764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しあげる</a:t>
              </a:r>
            </a:p>
          </p:txBody>
        </p:sp>
        <p:cxnSp>
          <p:nvCxnSpPr>
            <p:cNvPr id="33" name="区切り線"/>
            <p:cNvCxnSpPr/>
            <p:nvPr/>
          </p:nvCxnSpPr>
          <p:spPr>
            <a:xfrm>
              <a:off x="6477000" y="2609850"/>
              <a:ext cx="20764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>
              <a:off x="6477000" y="2743200"/>
              <a:ext cx="207645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人は内容の確認と価格などの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最終判断だけを行う。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体裁の手直しはゼロになる。</a:t>
              </a:r>
            </a:p>
          </p:txBody>
        </p:sp>
        <p:sp>
          <p:nvSpPr>
            <p:cNvPr id="35" name="担い手チップ"/>
            <p:cNvSpPr/>
            <p:nvPr/>
          </p:nvSpPr>
          <p:spPr>
            <a:xfrm>
              <a:off x="6477000" y="3657600"/>
              <a:ext cx="1238250" cy="2286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477000" y="3667125"/>
              <a:ext cx="1238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担い手：人</a:t>
              </a:r>
            </a:p>
          </p:txBody>
        </p:sp>
      </p:grpSp>
      <p:cxnSp>
        <p:nvCxnSpPr>
          <p:cNvPr id="37" name="フロー矢印3"/>
          <p:cNvCxnSpPr/>
          <p:nvPr/>
        </p:nvCxnSpPr>
        <p:spPr>
          <a:xfrm>
            <a:off x="8829675" y="2933700"/>
            <a:ext cx="200025" cy="0"/>
          </a:xfrm>
          <a:prstGeom prst="bentConnector3">
            <a:avLst/>
          </a:prstGeom>
          <a:ln w="19050">
            <a:solidFill>
              <a:schemeClr val="accent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ステップ4_まなぶ"/>
          <p:cNvGrpSpPr/>
          <p:nvPr/>
        </p:nvGrpSpPr>
        <p:grpSpPr>
          <a:xfrm>
            <a:off x="9096375" y="1809750"/>
            <a:ext cx="2495550" cy="2247900"/>
            <a:chOff x="9096375" y="1809750"/>
            <a:chExt cx="2495550" cy="2247900"/>
          </a:xfrm>
        </p:grpSpPr>
        <p:sp>
          <p:nvSpPr>
            <p:cNvPr id="39" name="カード"/>
            <p:cNvSpPr/>
            <p:nvPr/>
          </p:nvSpPr>
          <p:spPr>
            <a:xfrm>
              <a:off x="9096375" y="1809750"/>
              <a:ext cx="2495550" cy="2247900"/>
            </a:xfrm>
            <a:prstGeom prst="roundRect">
              <a:avLst>
                <a:gd name="adj" fmla="val 4237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305925" y="200025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STEP 04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305925" y="2228850"/>
              <a:ext cx="20764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まなぶ</a:t>
              </a:r>
            </a:p>
          </p:txBody>
        </p:sp>
        <p:cxnSp>
          <p:nvCxnSpPr>
            <p:cNvPr id="42" name="区切り線"/>
            <p:cNvCxnSpPr/>
            <p:nvPr/>
          </p:nvCxnSpPr>
          <p:spPr>
            <a:xfrm>
              <a:off x="9305925" y="2609850"/>
              <a:ext cx="20764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>
              <a:off x="9305925" y="2743200"/>
              <a:ext cx="207645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人の修正内容を蓄積し、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下書きの精度を継続的に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高めていく。</a:t>
              </a:r>
            </a:p>
          </p:txBody>
        </p:sp>
        <p:sp>
          <p:nvSpPr>
            <p:cNvPr id="44" name="担い手チップ"/>
            <p:cNvSpPr/>
            <p:nvPr/>
          </p:nvSpPr>
          <p:spPr>
            <a:xfrm>
              <a:off x="9305925" y="3657600"/>
              <a:ext cx="1238250" cy="2286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305925" y="3667125"/>
              <a:ext cx="1238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担い手：AI</a:t>
              </a:r>
            </a:p>
          </p:txBody>
        </p:sp>
      </p:grpSp>
      <p:grpSp>
        <p:nvGrpSpPr>
          <p:cNvPr id="46" name="原則"/>
          <p:cNvGrpSpPr/>
          <p:nvPr/>
        </p:nvGrpSpPr>
        <p:grpSpPr>
          <a:xfrm>
            <a:off x="609600" y="4572000"/>
            <a:ext cx="9734550" cy="857250"/>
            <a:chOff x="609600" y="4572000"/>
            <a:chExt cx="9734550" cy="857250"/>
          </a:xfrm>
        </p:grpSpPr>
        <p:sp>
          <p:nvSpPr>
            <p:cNvPr id="47" name="引用バー"/>
            <p:cNvSpPr/>
            <p:nvPr/>
          </p:nvSpPr>
          <p:spPr>
            <a:xfrm>
              <a:off x="609600" y="4572000"/>
              <a:ext cx="38100" cy="857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原則文"/>
            <p:cNvSpPr/>
            <p:nvPr/>
          </p:nvSpPr>
          <p:spPr>
            <a:xfrm>
              <a:off x="819150" y="4648200"/>
              <a:ext cx="8572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原則：人は「入力」ではなく「判断」に時間を使う</a:t>
              </a:r>
            </a:p>
          </p:txBody>
        </p:sp>
        <p:sp>
          <p:nvSpPr>
            <p:cNvPr id="49" name="補足"/>
            <p:cNvSpPr/>
            <p:nvPr/>
          </p:nvSpPr>
          <p:spPr>
            <a:xfrm>
              <a:off x="819150" y="4972050"/>
              <a:ext cx="95250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100">
                  <a:solidFill>
                    <a:schemeClr val="accent5"/>
                  </a:solidFill>
                </a:rPr>
                <a:t>顧客情報の入力は最初の一度だけ。以降の書類はすべてAIが下書きを用意し、人は最終判断に集中する。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03｜施策の詳細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見積書の作成は90分から15分へ、6分の1に短縮できる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施策A：見積書のAI下書き — 作成プロセスの比較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出所：類似規模での導入実績をもとに△△コンサルティング試算（サンプル）　　注：1件あたりの平均所要時間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09</a:t>
              </a:r>
            </a:p>
          </p:txBody>
        </p:sp>
      </p:grpSp>
      <p:grpSp>
        <p:nvGrpSpPr>
          <p:cNvPr id="11" name="Beforeカード"/>
          <p:cNvGrpSpPr/>
          <p:nvPr/>
        </p:nvGrpSpPr>
        <p:grpSpPr>
          <a:xfrm>
            <a:off x="609600" y="1638300"/>
            <a:ext cx="4762500" cy="3543300"/>
            <a:chOff x="609600" y="1638300"/>
            <a:chExt cx="4762500" cy="3543300"/>
          </a:xfrm>
        </p:grpSpPr>
        <p:sp>
          <p:nvSpPr>
            <p:cNvPr id="12" name="カード"/>
            <p:cNvSpPr/>
            <p:nvPr/>
          </p:nvSpPr>
          <p:spPr>
            <a:xfrm>
              <a:off x="609600" y="1638300"/>
              <a:ext cx="4762500" cy="3543300"/>
            </a:xfrm>
            <a:prstGeom prst="roundRect">
              <a:avLst>
                <a:gd name="adj" fmla="val 2688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見出し"/>
            <p:cNvSpPr/>
            <p:nvPr/>
          </p:nvSpPr>
          <p:spPr>
            <a:xfrm>
              <a:off x="857250" y="1809750"/>
              <a:ext cx="285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Before｜現在のプロセス</a:t>
              </a:r>
            </a:p>
          </p:txBody>
        </p:sp>
        <p:sp>
          <p:nvSpPr>
            <p:cNvPr id="14" name="番号1"/>
            <p:cNvSpPr/>
            <p:nvPr/>
          </p:nvSpPr>
          <p:spPr>
            <a:xfrm>
              <a:off x="857250" y="21907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7250" y="22002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1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219200" y="22098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顧客情報をシステムから転記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457700" y="2209800"/>
              <a:ext cx="6667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25分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857250" y="2552700"/>
              <a:ext cx="42672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番号2"/>
            <p:cNvSpPr/>
            <p:nvPr/>
          </p:nvSpPr>
          <p:spPr>
            <a:xfrm>
              <a:off x="857250" y="26860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57250" y="26955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19200" y="27051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過去の見積を探して流用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457700" y="2705100"/>
              <a:ext cx="6667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20分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857250" y="3048000"/>
              <a:ext cx="42672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番号3"/>
            <p:cNvSpPr/>
            <p:nvPr/>
          </p:nvSpPr>
          <p:spPr>
            <a:xfrm>
              <a:off x="857250" y="31813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57250" y="31908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3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19200" y="32004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価格・体裁の手直し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457700" y="3200400"/>
              <a:ext cx="6667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30分</a:t>
              </a:r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857250" y="3543300"/>
              <a:ext cx="42672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番号4"/>
            <p:cNvSpPr/>
            <p:nvPr/>
          </p:nvSpPr>
          <p:spPr>
            <a:xfrm>
              <a:off x="857250" y="36766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57250" y="36861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4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219200" y="36957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上長確認と差し戻し対応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457700" y="3695700"/>
              <a:ext cx="6667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15分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>
              <a:off x="857250" y="4038600"/>
              <a:ext cx="42672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>
              <a:off x="857250" y="4267200"/>
              <a:ext cx="1905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accent5"/>
                  </a:solidFill>
                </a:rPr>
                <a:t>合計</a:t>
              </a:r>
            </a:p>
          </p:txBody>
        </p:sp>
        <p:sp>
          <p:nvSpPr>
            <p:cNvPr id="35" name="合計時間"/>
            <p:cNvSpPr/>
            <p:nvPr/>
          </p:nvSpPr>
          <p:spPr>
            <a:xfrm>
              <a:off x="3409950" y="4152900"/>
              <a:ext cx="17145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2600" b="1">
                  <a:solidFill>
                    <a:schemeClr val="accent5"/>
                  </a:solidFill>
                </a:rPr>
                <a:t>90分</a:t>
              </a:r>
            </a:p>
          </p:txBody>
        </p:sp>
        <p:sp>
          <p:nvSpPr>
            <p:cNvPr id="36" name="時間バー"/>
            <p:cNvSpPr/>
            <p:nvPr/>
          </p:nvSpPr>
          <p:spPr>
            <a:xfrm>
              <a:off x="857250" y="4705350"/>
              <a:ext cx="3086100" cy="114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Afterカード"/>
          <p:cNvGrpSpPr/>
          <p:nvPr/>
        </p:nvGrpSpPr>
        <p:grpSpPr>
          <a:xfrm>
            <a:off x="6819900" y="1638300"/>
            <a:ext cx="4762500" cy="3543300"/>
            <a:chOff x="6819900" y="1638300"/>
            <a:chExt cx="4762500" cy="3543300"/>
          </a:xfrm>
        </p:grpSpPr>
        <p:sp>
          <p:nvSpPr>
            <p:cNvPr id="38" name="カード"/>
            <p:cNvSpPr/>
            <p:nvPr/>
          </p:nvSpPr>
          <p:spPr>
            <a:xfrm>
              <a:off x="6819900" y="1638300"/>
              <a:ext cx="4762500" cy="3543300"/>
            </a:xfrm>
            <a:prstGeom prst="roundRect">
              <a:avLst>
                <a:gd name="adj" fmla="val 2688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見出し"/>
            <p:cNvSpPr/>
            <p:nvPr/>
          </p:nvSpPr>
          <p:spPr>
            <a:xfrm>
              <a:off x="7067550" y="1809750"/>
              <a:ext cx="285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accent4"/>
                  </a:solidFill>
                </a:rPr>
                <a:t>After｜AI下書き導入後</a:t>
              </a:r>
            </a:p>
          </p:txBody>
        </p:sp>
        <p:sp>
          <p:nvSpPr>
            <p:cNvPr id="40" name="番号1"/>
            <p:cNvSpPr/>
            <p:nvPr/>
          </p:nvSpPr>
          <p:spPr>
            <a:xfrm>
              <a:off x="7067550" y="21907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067550" y="22002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429500" y="22098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lt1"/>
                  </a:solidFill>
                </a:rPr>
                <a:t>対象の商談メモを選ぶ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668000" y="2209800"/>
              <a:ext cx="6667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00" b="1">
                  <a:solidFill>
                    <a:schemeClr val="accent4"/>
                  </a:solidFill>
                </a:rPr>
                <a:t>2分</a:t>
              </a:r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7067550" y="2552700"/>
              <a:ext cx="4267200" cy="0"/>
            </a:xfrm>
            <a:prstGeom prst="bentConnector3">
              <a:avLst/>
            </a:prstGeom>
            <a:ln w="9525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番号2"/>
            <p:cNvSpPr/>
            <p:nvPr/>
          </p:nvSpPr>
          <p:spPr>
            <a:xfrm>
              <a:off x="7067550" y="26860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067550" y="26955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429500" y="27051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lt1"/>
                  </a:solidFill>
                </a:rPr>
                <a:t>AIが下書きを自動生成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0668000" y="2705100"/>
              <a:ext cx="6667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00" b="1">
                  <a:solidFill>
                    <a:schemeClr val="accent4"/>
                  </a:solidFill>
                </a:rPr>
                <a:t>3分</a:t>
              </a:r>
            </a:p>
          </p:txBody>
        </p:sp>
        <p:cxnSp>
          <p:nvCxnSpPr>
            <p:cNvPr id="49" name="Connector 48"/>
            <p:cNvCxnSpPr/>
            <p:nvPr/>
          </p:nvCxnSpPr>
          <p:spPr>
            <a:xfrm>
              <a:off x="7067550" y="3048000"/>
              <a:ext cx="4267200" cy="0"/>
            </a:xfrm>
            <a:prstGeom prst="bentConnector3">
              <a:avLst/>
            </a:prstGeom>
            <a:ln w="9525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番号3"/>
            <p:cNvSpPr/>
            <p:nvPr/>
          </p:nvSpPr>
          <p:spPr>
            <a:xfrm>
              <a:off x="7067550" y="31813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067550" y="31908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429500" y="32004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lt1"/>
                  </a:solidFill>
                </a:rPr>
                <a:t>人が内容を確認・調整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0668000" y="3200400"/>
              <a:ext cx="6667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00" b="1">
                  <a:solidFill>
                    <a:schemeClr val="accent4"/>
                  </a:solidFill>
                </a:rPr>
                <a:t>10分</a:t>
              </a:r>
            </a:p>
          </p:txBody>
        </p:sp>
        <p:cxnSp>
          <p:nvCxnSpPr>
            <p:cNvPr id="54" name="Connector 53"/>
            <p:cNvCxnSpPr/>
            <p:nvPr/>
          </p:nvCxnSpPr>
          <p:spPr>
            <a:xfrm>
              <a:off x="7067550" y="3543300"/>
              <a:ext cx="4267200" cy="0"/>
            </a:xfrm>
            <a:prstGeom prst="bentConnector3">
              <a:avLst/>
            </a:prstGeom>
            <a:ln w="9525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4"/>
            <p:cNvSpPr/>
            <p:nvPr/>
          </p:nvSpPr>
          <p:spPr>
            <a:xfrm>
              <a:off x="7067550" y="3695700"/>
              <a:ext cx="3619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4"/>
                  </a:solidFill>
                </a:rPr>
                <a:t>差し戻し対応は不要に：修正はAIが学習し、発生が減る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067550" y="4267200"/>
              <a:ext cx="1905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accent4"/>
                  </a:solidFill>
                </a:rPr>
                <a:t>合計</a:t>
              </a:r>
            </a:p>
          </p:txBody>
        </p:sp>
        <p:sp>
          <p:nvSpPr>
            <p:cNvPr id="57" name="合計時間"/>
            <p:cNvSpPr/>
            <p:nvPr/>
          </p:nvSpPr>
          <p:spPr>
            <a:xfrm>
              <a:off x="9620250" y="4152900"/>
              <a:ext cx="17145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2600" b="1">
                  <a:solidFill>
                    <a:schemeClr val="lt1"/>
                  </a:solidFill>
                </a:rPr>
                <a:t>15分</a:t>
              </a:r>
            </a:p>
          </p:txBody>
        </p:sp>
        <p:sp>
          <p:nvSpPr>
            <p:cNvPr id="58" name="時間バー"/>
            <p:cNvSpPr/>
            <p:nvPr/>
          </p:nvSpPr>
          <p:spPr>
            <a:xfrm>
              <a:off x="7067550" y="4705350"/>
              <a:ext cx="514350" cy="114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" name="変化の矢印"/>
          <p:cNvGrpSpPr/>
          <p:nvPr/>
        </p:nvGrpSpPr>
        <p:grpSpPr>
          <a:xfrm>
            <a:off x="5524500" y="2705100"/>
            <a:ext cx="1143000" cy="933450"/>
            <a:chOff x="5524500" y="2705100"/>
            <a:chExt cx="1143000" cy="933450"/>
          </a:xfrm>
        </p:grpSpPr>
        <p:sp>
          <p:nvSpPr>
            <p:cNvPr id="60" name="矢印"/>
            <p:cNvSpPr/>
            <p:nvPr/>
          </p:nvSpPr>
          <p:spPr>
            <a:xfrm>
              <a:off x="5524500" y="3143250"/>
              <a:ext cx="1143000" cy="49530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効果ラベル"/>
            <p:cNvSpPr/>
            <p:nvPr/>
          </p:nvSpPr>
          <p:spPr>
            <a:xfrm>
              <a:off x="5715000" y="270510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715000" y="2714625"/>
              <a:ext cx="7620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−83%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03｜施策の詳細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既存システムは変えず、AIを橋渡し役として上に重ねる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施策B：接続と運用の仕組み（既存システムはそのまま）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　　注：接続対象システムは導入設計時に確定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10</a:t>
              </a:r>
            </a:p>
          </p:txBody>
        </p:sp>
      </p:grpSp>
      <p:grpSp>
        <p:nvGrpSpPr>
          <p:cNvPr id="11" name="既存システム"/>
          <p:cNvGrpSpPr/>
          <p:nvPr/>
        </p:nvGrpSpPr>
        <p:grpSpPr>
          <a:xfrm>
            <a:off x="609600" y="1771650"/>
            <a:ext cx="3162300" cy="2381250"/>
            <a:chOff x="609600" y="1771650"/>
            <a:chExt cx="3162300" cy="2381250"/>
          </a:xfrm>
        </p:grpSpPr>
        <p:sp>
          <p:nvSpPr>
            <p:cNvPr id="12" name="箱_SFA"/>
            <p:cNvSpPr/>
            <p:nvPr/>
          </p:nvSpPr>
          <p:spPr>
            <a:xfrm>
              <a:off x="609600" y="1771650"/>
              <a:ext cx="2190750" cy="628650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81050" y="1885950"/>
              <a:ext cx="18478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SFA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81050" y="2114550"/>
              <a:ext cx="18478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顧客・商談情報</a:t>
              </a:r>
            </a:p>
          </p:txBody>
        </p:sp>
        <p:cxnSp>
          <p:nvCxnSpPr>
            <p:cNvPr id="15" name="収束線1"/>
            <p:cNvCxnSpPr/>
            <p:nvPr/>
          </p:nvCxnSpPr>
          <p:spPr>
            <a:xfrm>
              <a:off x="2800350" y="2085975"/>
              <a:ext cx="3429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箱_会計システム"/>
            <p:cNvSpPr/>
            <p:nvPr/>
          </p:nvSpPr>
          <p:spPr>
            <a:xfrm>
              <a:off x="609600" y="2647950"/>
              <a:ext cx="2190750" cy="628650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81050" y="2762250"/>
              <a:ext cx="18478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会計システム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81050" y="2990850"/>
              <a:ext cx="18478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価格・実績</a:t>
              </a:r>
            </a:p>
          </p:txBody>
        </p:sp>
        <p:cxnSp>
          <p:nvCxnSpPr>
            <p:cNvPr id="19" name="収束線2"/>
            <p:cNvCxnSpPr/>
            <p:nvPr/>
          </p:nvCxnSpPr>
          <p:spPr>
            <a:xfrm>
              <a:off x="2800350" y="2962275"/>
              <a:ext cx="3429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箱_ファイルサーバ"/>
            <p:cNvSpPr/>
            <p:nvPr/>
          </p:nvSpPr>
          <p:spPr>
            <a:xfrm>
              <a:off x="609600" y="3524250"/>
              <a:ext cx="2190750" cy="628650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81050" y="3638550"/>
              <a:ext cx="18478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ファイルサーバ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81050" y="3867150"/>
              <a:ext cx="18478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過去の資料</a:t>
              </a:r>
            </a:p>
          </p:txBody>
        </p:sp>
        <p:cxnSp>
          <p:nvCxnSpPr>
            <p:cNvPr id="23" name="収束線3"/>
            <p:cNvCxnSpPr/>
            <p:nvPr/>
          </p:nvCxnSpPr>
          <p:spPr>
            <a:xfrm>
              <a:off x="2800350" y="3838575"/>
              <a:ext cx="3429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収束の背骨"/>
            <p:cNvCxnSpPr/>
            <p:nvPr/>
          </p:nvCxnSpPr>
          <p:spPr>
            <a:xfrm>
              <a:off x="3143250" y="2085975"/>
              <a:ext cx="0" cy="175260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収束の矢印"/>
            <p:cNvCxnSpPr/>
            <p:nvPr/>
          </p:nvCxnSpPr>
          <p:spPr>
            <a:xfrm>
              <a:off x="3143250" y="2962275"/>
              <a:ext cx="628650" cy="0"/>
            </a:xfrm>
            <a:prstGeom prst="bentConnector3">
              <a:avLst/>
            </a:prstGeom>
            <a:ln w="11906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AI基盤"/>
          <p:cNvGrpSpPr/>
          <p:nvPr/>
        </p:nvGrpSpPr>
        <p:grpSpPr>
          <a:xfrm>
            <a:off x="3810000" y="2152650"/>
            <a:ext cx="2667000" cy="1619250"/>
            <a:chOff x="3810000" y="2152650"/>
            <a:chExt cx="2667000" cy="1619250"/>
          </a:xfrm>
        </p:grpSpPr>
        <p:sp>
          <p:nvSpPr>
            <p:cNvPr id="27" name="AI基盤パネル"/>
            <p:cNvSpPr/>
            <p:nvPr/>
          </p:nvSpPr>
          <p:spPr>
            <a:xfrm>
              <a:off x="3810000" y="2152650"/>
              <a:ext cx="2667000" cy="1619250"/>
            </a:xfrm>
            <a:prstGeom prst="roundRect">
              <a:avLst>
                <a:gd name="adj" fmla="val 5882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810000" y="2400300"/>
              <a:ext cx="26670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lt1"/>
                  </a:solidFill>
                </a:rPr>
                <a:t>AI基盤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810000" y="2724150"/>
              <a:ext cx="2667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4"/>
                  </a:solidFill>
                </a:rPr>
                <a:t>下書き生成・書式統一・要約</a:t>
              </a:r>
            </a:p>
          </p:txBody>
        </p:sp>
        <p:cxnSp>
          <p:nvCxnSpPr>
            <p:cNvPr id="30" name="区切り線"/>
            <p:cNvCxnSpPr/>
            <p:nvPr/>
          </p:nvCxnSpPr>
          <p:spPr>
            <a:xfrm>
              <a:off x="4095750" y="3067050"/>
              <a:ext cx="2095500" cy="0"/>
            </a:xfrm>
            <a:prstGeom prst="bentConnector3">
              <a:avLst/>
            </a:prstGeom>
            <a:ln w="9525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3810000" y="3200400"/>
              <a:ext cx="2667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4"/>
                  </a:solidFill>
                </a:rPr>
                <a:t>社内環境で完結（データは外に出さない）</a:t>
              </a:r>
            </a:p>
          </p:txBody>
        </p:sp>
      </p:grpSp>
      <p:cxnSp>
        <p:nvCxnSpPr>
          <p:cNvPr id="32" name="接続矢印_AIから人へ"/>
          <p:cNvCxnSpPr/>
          <p:nvPr/>
        </p:nvCxnSpPr>
        <p:spPr>
          <a:xfrm>
            <a:off x="6477000" y="2962275"/>
            <a:ext cx="723900" cy="0"/>
          </a:xfrm>
          <a:prstGeom prst="bentConnector3">
            <a:avLst/>
          </a:prstGeom>
          <a:ln w="19050">
            <a:solidFill>
              <a:schemeClr val="accent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人の確認"/>
          <p:cNvGrpSpPr/>
          <p:nvPr/>
        </p:nvGrpSpPr>
        <p:grpSpPr>
          <a:xfrm>
            <a:off x="7239000" y="2438400"/>
            <a:ext cx="1905000" cy="1047750"/>
            <a:chOff x="7239000" y="2438400"/>
            <a:chExt cx="1905000" cy="1047750"/>
          </a:xfrm>
        </p:grpSpPr>
        <p:sp>
          <p:nvSpPr>
            <p:cNvPr id="34" name="確認ボックス"/>
            <p:cNvSpPr/>
            <p:nvPr/>
          </p:nvSpPr>
          <p:spPr>
            <a:xfrm>
              <a:off x="7239000" y="2438400"/>
              <a:ext cx="1905000" cy="1047750"/>
            </a:xfrm>
            <a:prstGeom prst="roundRect">
              <a:avLst>
                <a:gd name="adj" fmla="val 7272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239000" y="2686050"/>
              <a:ext cx="1905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人が確認・調整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239000" y="2952750"/>
              <a:ext cx="1905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最終判断は必ず人が行う</a:t>
              </a:r>
            </a:p>
          </p:txBody>
        </p:sp>
      </p:grpSp>
      <p:cxnSp>
        <p:nvCxnSpPr>
          <p:cNvPr id="37" name="接続矢印_人から出力へ"/>
          <p:cNvCxnSpPr/>
          <p:nvPr/>
        </p:nvCxnSpPr>
        <p:spPr>
          <a:xfrm>
            <a:off x="9144000" y="2962275"/>
            <a:ext cx="685800" cy="0"/>
          </a:xfrm>
          <a:prstGeom prst="bentConnector3">
            <a:avLst/>
          </a:prstGeom>
          <a:ln w="19050">
            <a:solidFill>
              <a:schemeClr val="accent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出力"/>
          <p:cNvGrpSpPr/>
          <p:nvPr/>
        </p:nvGrpSpPr>
        <p:grpSpPr>
          <a:xfrm>
            <a:off x="9867900" y="2438400"/>
            <a:ext cx="1714500" cy="1047750"/>
            <a:chOff x="9867900" y="2438400"/>
            <a:chExt cx="1714500" cy="1047750"/>
          </a:xfrm>
        </p:grpSpPr>
        <p:sp>
          <p:nvSpPr>
            <p:cNvPr id="39" name="出力ボックス"/>
            <p:cNvSpPr/>
            <p:nvPr/>
          </p:nvSpPr>
          <p:spPr>
            <a:xfrm>
              <a:off x="9867900" y="2438400"/>
              <a:ext cx="1714500" cy="1047750"/>
            </a:xfrm>
            <a:prstGeom prst="roundRect">
              <a:avLst>
                <a:gd name="adj" fmla="val 7272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867900" y="2686050"/>
              <a:ext cx="1714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統一書式で出力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867900" y="2952750"/>
              <a:ext cx="171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見積書・報告書・議事録</a:t>
              </a:r>
            </a:p>
          </p:txBody>
        </p:sp>
      </p:grpSp>
      <p:grpSp>
        <p:nvGrpSpPr>
          <p:cNvPr id="42" name="学習ループ"/>
          <p:cNvGrpSpPr/>
          <p:nvPr/>
        </p:nvGrpSpPr>
        <p:grpSpPr>
          <a:xfrm>
            <a:off x="5143500" y="3486150"/>
            <a:ext cx="3238500" cy="819150"/>
            <a:chOff x="5143500" y="3486150"/>
            <a:chExt cx="3238500" cy="819150"/>
          </a:xfrm>
        </p:grpSpPr>
        <p:cxnSp>
          <p:nvCxnSpPr>
            <p:cNvPr id="43" name="縦線1"/>
            <p:cNvCxnSpPr/>
            <p:nvPr/>
          </p:nvCxnSpPr>
          <p:spPr>
            <a:xfrm>
              <a:off x="8191500" y="3486150"/>
              <a:ext cx="0" cy="609600"/>
            </a:xfrm>
            <a:prstGeom prst="bentConnector3">
              <a:avLst/>
            </a:prstGeom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横線"/>
            <p:cNvCxnSpPr/>
            <p:nvPr/>
          </p:nvCxnSpPr>
          <p:spPr>
            <a:xfrm flipH="1">
              <a:off x="5143500" y="4095750"/>
              <a:ext cx="3048000" cy="0"/>
            </a:xfrm>
            <a:prstGeom prst="bentConnector3">
              <a:avLst/>
            </a:prstGeom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縦線2"/>
            <p:cNvCxnSpPr/>
            <p:nvPr/>
          </p:nvCxnSpPr>
          <p:spPr>
            <a:xfrm flipV="1">
              <a:off x="5143500" y="3810000"/>
              <a:ext cx="0" cy="285750"/>
            </a:xfrm>
            <a:prstGeom prst="bentConnector3">
              <a:avLst/>
            </a:prstGeom>
            <a:ln w="11906">
              <a:solidFill>
                <a:schemeClr val="accent5"/>
              </a:solidFill>
              <a:prstDash val="dash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ラベル"/>
            <p:cNvSpPr/>
            <p:nvPr/>
          </p:nvSpPr>
          <p:spPr>
            <a:xfrm>
              <a:off x="5524500" y="415290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人の修正内容を学習し、下書きの精度が上がる</a:t>
              </a:r>
            </a:p>
          </p:txBody>
        </p:sp>
      </p:grpSp>
      <p:sp>
        <p:nvSpPr>
          <p:cNvPr id="47" name="Rectangle 46"/>
          <p:cNvSpPr/>
          <p:nvPr/>
        </p:nvSpPr>
        <p:spPr>
          <a:xfrm>
            <a:off x="609600" y="4629150"/>
            <a:ext cx="2857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運用の3原則</a:t>
            </a:r>
          </a:p>
        </p:txBody>
      </p:sp>
      <p:grpSp>
        <p:nvGrpSpPr>
          <p:cNvPr id="48" name="運用原則1"/>
          <p:cNvGrpSpPr/>
          <p:nvPr/>
        </p:nvGrpSpPr>
        <p:grpSpPr>
          <a:xfrm>
            <a:off x="609600" y="4857750"/>
            <a:ext cx="3505200" cy="990600"/>
            <a:chOff x="609600" y="4857750"/>
            <a:chExt cx="3505200" cy="990600"/>
          </a:xfrm>
        </p:grpSpPr>
        <p:sp>
          <p:nvSpPr>
            <p:cNvPr id="49" name="カード"/>
            <p:cNvSpPr/>
            <p:nvPr/>
          </p:nvSpPr>
          <p:spPr>
            <a:xfrm>
              <a:off x="609600" y="4857750"/>
              <a:ext cx="3505200" cy="990600"/>
            </a:xfrm>
            <a:prstGeom prst="roundRect">
              <a:avLst>
                <a:gd name="adj" fmla="val 7692"/>
              </a:avLst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番号1"/>
            <p:cNvSpPr/>
            <p:nvPr/>
          </p:nvSpPr>
          <p:spPr>
            <a:xfrm>
              <a:off x="800100" y="5048250"/>
              <a:ext cx="26670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00100" y="50577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181100" y="5067300"/>
              <a:ext cx="2762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必ず人が承認する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181100" y="5334000"/>
              <a:ext cx="27622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AIの出力は担当者の承認なしに</a:t>
              </a:r>
            </a:p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社外へ出ない</a:t>
              </a:r>
            </a:p>
          </p:txBody>
        </p:sp>
      </p:grpSp>
      <p:grpSp>
        <p:nvGrpSpPr>
          <p:cNvPr id="54" name="運用原則2"/>
          <p:cNvGrpSpPr/>
          <p:nvPr/>
        </p:nvGrpSpPr>
        <p:grpSpPr>
          <a:xfrm>
            <a:off x="4343400" y="4857750"/>
            <a:ext cx="3505200" cy="990600"/>
            <a:chOff x="4343400" y="4857750"/>
            <a:chExt cx="3505200" cy="990600"/>
          </a:xfrm>
        </p:grpSpPr>
        <p:sp>
          <p:nvSpPr>
            <p:cNvPr id="55" name="カード"/>
            <p:cNvSpPr/>
            <p:nvPr/>
          </p:nvSpPr>
          <p:spPr>
            <a:xfrm>
              <a:off x="4343400" y="4857750"/>
              <a:ext cx="3505200" cy="990600"/>
            </a:xfrm>
            <a:prstGeom prst="roundRect">
              <a:avLst>
                <a:gd name="adj" fmla="val 7692"/>
              </a:avLst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番号2"/>
            <p:cNvSpPr/>
            <p:nvPr/>
          </p:nvSpPr>
          <p:spPr>
            <a:xfrm>
              <a:off x="4533900" y="5048250"/>
              <a:ext cx="26670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533900" y="50577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914900" y="5067300"/>
              <a:ext cx="2762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権限は現行を踏襲する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914900" y="5334000"/>
              <a:ext cx="27622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閲覧・編集の範囲は既存システム</a:t>
              </a:r>
            </a:p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の権限設定に従う</a:t>
              </a:r>
            </a:p>
          </p:txBody>
        </p:sp>
      </p:grpSp>
      <p:grpSp>
        <p:nvGrpSpPr>
          <p:cNvPr id="60" name="運用原則3"/>
          <p:cNvGrpSpPr/>
          <p:nvPr/>
        </p:nvGrpSpPr>
        <p:grpSpPr>
          <a:xfrm>
            <a:off x="8077200" y="4857750"/>
            <a:ext cx="3505200" cy="990600"/>
            <a:chOff x="8077200" y="4857750"/>
            <a:chExt cx="3505200" cy="990600"/>
          </a:xfrm>
        </p:grpSpPr>
        <p:sp>
          <p:nvSpPr>
            <p:cNvPr id="61" name="カード"/>
            <p:cNvSpPr/>
            <p:nvPr/>
          </p:nvSpPr>
          <p:spPr>
            <a:xfrm>
              <a:off x="8077200" y="4857750"/>
              <a:ext cx="3505200" cy="990600"/>
            </a:xfrm>
            <a:prstGeom prst="roundRect">
              <a:avLst>
                <a:gd name="adj" fmla="val 7692"/>
              </a:avLst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番号3"/>
            <p:cNvSpPr/>
            <p:nvPr/>
          </p:nvSpPr>
          <p:spPr>
            <a:xfrm>
              <a:off x="8267700" y="5048250"/>
              <a:ext cx="266700" cy="266700"/>
            </a:xfrm>
            <a:prstGeom prst="roundRect">
              <a:avLst>
                <a:gd name="adj" fmla="val 21428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267700" y="50577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648700" y="5067300"/>
              <a:ext cx="2762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データは社内に限定する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8648700" y="5334000"/>
              <a:ext cx="27622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学習は自社データのみ。</a:t>
              </a:r>
            </a:p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外部への送信は行わない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04｜効果と計画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書類時間は初年度で半減し、投資は7ヶ月で回収できる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主要KPIと投資回収の見通し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出所：△△コンサルティング試算（数値はサンプル）　　注：効果は削減時間の人件費換算（4,000円/時間）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11</a:t>
              </a:r>
            </a:p>
          </p:txBody>
        </p:sp>
      </p:grpSp>
      <p:grpSp>
        <p:nvGrpSpPr>
          <p:cNvPr id="11" name="KPIカード1"/>
          <p:cNvGrpSpPr/>
          <p:nvPr/>
        </p:nvGrpSpPr>
        <p:grpSpPr>
          <a:xfrm>
            <a:off x="609600" y="1581150"/>
            <a:ext cx="3505200" cy="1219200"/>
            <a:chOff x="609600" y="1581150"/>
            <a:chExt cx="3505200" cy="1219200"/>
          </a:xfrm>
        </p:grpSpPr>
        <p:sp>
          <p:nvSpPr>
            <p:cNvPr id="12" name="カード"/>
            <p:cNvSpPr/>
            <p:nvPr/>
          </p:nvSpPr>
          <p:spPr>
            <a:xfrm>
              <a:off x="609600" y="1581150"/>
              <a:ext cx="3505200" cy="1219200"/>
            </a:xfrm>
            <a:prstGeom prst="roundRect">
              <a:avLst>
                <a:gd name="adj" fmla="val 6250"/>
              </a:avLst>
            </a:prstGeom>
            <a:noFill/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指標名"/>
            <p:cNvSpPr/>
            <p:nvPr/>
          </p:nvSpPr>
          <p:spPr>
            <a:xfrm>
              <a:off x="819150" y="173355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書類作成時間（1人・週）</a:t>
              </a:r>
            </a:p>
          </p:txBody>
        </p:sp>
        <p:sp>
          <p:nvSpPr>
            <p:cNvPr id="14" name="数値"/>
            <p:cNvSpPr/>
            <p:nvPr/>
          </p:nvSpPr>
          <p:spPr>
            <a:xfrm>
              <a:off x="819150" y="1943100"/>
              <a:ext cx="30861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800" b="1">
                  <a:solidFill>
                    <a:schemeClr val="dk2"/>
                  </a:solidFill>
                </a:rPr>
                <a:t>6.5時間</a:t>
              </a:r>
            </a:p>
          </p:txBody>
        </p:sp>
        <p:sp>
          <p:nvSpPr>
            <p:cNvPr id="15" name="補足"/>
            <p:cNvSpPr/>
            <p:nvPr/>
          </p:nvSpPr>
          <p:spPr>
            <a:xfrm>
              <a:off x="819150" y="2495550"/>
              <a:ext cx="2095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現状 13.1時間から</a:t>
              </a:r>
            </a:p>
          </p:txBody>
        </p:sp>
        <p:sp>
          <p:nvSpPr>
            <p:cNvPr id="16" name="増減チップ"/>
            <p:cNvSpPr/>
            <p:nvPr/>
          </p:nvSpPr>
          <p:spPr>
            <a:xfrm>
              <a:off x="3333750" y="2457450"/>
              <a:ext cx="571500" cy="228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333750" y="2466975"/>
              <a:ext cx="571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−50%</a:t>
              </a:r>
            </a:p>
          </p:txBody>
        </p:sp>
      </p:grpSp>
      <p:grpSp>
        <p:nvGrpSpPr>
          <p:cNvPr id="18" name="KPIカード2"/>
          <p:cNvGrpSpPr/>
          <p:nvPr/>
        </p:nvGrpSpPr>
        <p:grpSpPr>
          <a:xfrm>
            <a:off x="4343400" y="1581150"/>
            <a:ext cx="3505200" cy="1219200"/>
            <a:chOff x="4343400" y="1581150"/>
            <a:chExt cx="3505200" cy="1219200"/>
          </a:xfrm>
        </p:grpSpPr>
        <p:sp>
          <p:nvSpPr>
            <p:cNvPr id="19" name="カード"/>
            <p:cNvSpPr/>
            <p:nvPr/>
          </p:nvSpPr>
          <p:spPr>
            <a:xfrm>
              <a:off x="4343400" y="1581150"/>
              <a:ext cx="3505200" cy="1219200"/>
            </a:xfrm>
            <a:prstGeom prst="roundRect">
              <a:avLst>
                <a:gd name="adj" fmla="val 6250"/>
              </a:avLst>
            </a:prstGeom>
            <a:noFill/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指標名"/>
            <p:cNvSpPr/>
            <p:nvPr/>
          </p:nvSpPr>
          <p:spPr>
            <a:xfrm>
              <a:off x="4552950" y="173355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創出される営業時間（年）</a:t>
              </a:r>
            </a:p>
          </p:txBody>
        </p:sp>
        <p:sp>
          <p:nvSpPr>
            <p:cNvPr id="21" name="数値"/>
            <p:cNvSpPr/>
            <p:nvPr/>
          </p:nvSpPr>
          <p:spPr>
            <a:xfrm>
              <a:off x="4552950" y="1943100"/>
              <a:ext cx="30861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800" b="1">
                  <a:solidFill>
                    <a:schemeClr val="dk2"/>
                  </a:solidFill>
                </a:rPr>
                <a:t>+1.9万時間</a:t>
              </a:r>
            </a:p>
          </p:txBody>
        </p:sp>
        <p:sp>
          <p:nvSpPr>
            <p:cNvPr id="22" name="補足"/>
            <p:cNvSpPr/>
            <p:nvPr/>
          </p:nvSpPr>
          <p:spPr>
            <a:xfrm>
              <a:off x="4552950" y="2495550"/>
              <a:ext cx="2095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営業60名の合計</a:t>
              </a:r>
            </a:p>
          </p:txBody>
        </p:sp>
      </p:grpSp>
      <p:grpSp>
        <p:nvGrpSpPr>
          <p:cNvPr id="23" name="KPIカード3"/>
          <p:cNvGrpSpPr/>
          <p:nvPr/>
        </p:nvGrpSpPr>
        <p:grpSpPr>
          <a:xfrm>
            <a:off x="8077200" y="1581150"/>
            <a:ext cx="3505200" cy="1219200"/>
            <a:chOff x="8077200" y="1581150"/>
            <a:chExt cx="3505200" cy="1219200"/>
          </a:xfrm>
        </p:grpSpPr>
        <p:sp>
          <p:nvSpPr>
            <p:cNvPr id="24" name="カード"/>
            <p:cNvSpPr/>
            <p:nvPr/>
          </p:nvSpPr>
          <p:spPr>
            <a:xfrm>
              <a:off x="8077200" y="1581150"/>
              <a:ext cx="3505200" cy="1219200"/>
            </a:xfrm>
            <a:prstGeom prst="roundRect">
              <a:avLst>
                <a:gd name="adj" fmla="val 6250"/>
              </a:avLst>
            </a:prstGeom>
            <a:noFill/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指標名"/>
            <p:cNvSpPr/>
            <p:nvPr/>
          </p:nvSpPr>
          <p:spPr>
            <a:xfrm>
              <a:off x="8286750" y="173355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投資回収期間</a:t>
              </a:r>
            </a:p>
          </p:txBody>
        </p:sp>
        <p:sp>
          <p:nvSpPr>
            <p:cNvPr id="26" name="数値"/>
            <p:cNvSpPr/>
            <p:nvPr/>
          </p:nvSpPr>
          <p:spPr>
            <a:xfrm>
              <a:off x="8286750" y="1943100"/>
              <a:ext cx="30861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800" b="1">
                  <a:solidFill>
                    <a:schemeClr val="dk2"/>
                  </a:solidFill>
                </a:rPr>
                <a:t>7ヶ月</a:t>
              </a:r>
            </a:p>
          </p:txBody>
        </p:sp>
        <p:sp>
          <p:nvSpPr>
            <p:cNvPr id="27" name="補足"/>
            <p:cNvSpPr/>
            <p:nvPr/>
          </p:nvSpPr>
          <p:spPr>
            <a:xfrm>
              <a:off x="8286750" y="2495550"/>
              <a:ext cx="2095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初年度投資 860万円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609600" y="3067050"/>
            <a:ext cx="6667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累計効果と累計投資の推移（万円）</a:t>
            </a:r>
          </a:p>
        </p:txBody>
      </p:sp>
      <p:grpSp>
        <p:nvGrpSpPr>
          <p:cNvPr id="29" name="投資回収グラフ"/>
          <p:cNvGrpSpPr/>
          <p:nvPr/>
        </p:nvGrpSpPr>
        <p:grpSpPr>
          <a:xfrm>
            <a:off x="857250" y="3333750"/>
            <a:ext cx="10725150" cy="2686050"/>
            <a:chOff x="857250" y="3333750"/>
            <a:chExt cx="10725150" cy="2686050"/>
          </a:xfrm>
        </p:grpSpPr>
        <p:cxnSp>
          <p:nvCxnSpPr>
            <p:cNvPr id="30" name="基準線"/>
            <p:cNvCxnSpPr/>
            <p:nvPr/>
          </p:nvCxnSpPr>
          <p:spPr>
            <a:xfrm>
              <a:off x="857250" y="5810250"/>
              <a:ext cx="107251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効果1月"/>
            <p:cNvSpPr/>
            <p:nvPr/>
          </p:nvSpPr>
          <p:spPr>
            <a:xfrm>
              <a:off x="1123950" y="5789325"/>
              <a:ext cx="533400" cy="209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軸1月"/>
            <p:cNvSpPr/>
            <p:nvPr/>
          </p:nvSpPr>
          <p:spPr>
            <a:xfrm>
              <a:off x="97155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1月</a:t>
              </a:r>
            </a:p>
          </p:txBody>
        </p:sp>
        <p:sp>
          <p:nvSpPr>
            <p:cNvPr id="33" name="効果2月"/>
            <p:cNvSpPr/>
            <p:nvPr/>
          </p:nvSpPr>
          <p:spPr>
            <a:xfrm>
              <a:off x="1981200" y="5768401"/>
              <a:ext cx="533400" cy="418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軸2月"/>
            <p:cNvSpPr/>
            <p:nvPr/>
          </p:nvSpPr>
          <p:spPr>
            <a:xfrm>
              <a:off x="182880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2月</a:t>
              </a:r>
            </a:p>
          </p:txBody>
        </p:sp>
        <p:sp>
          <p:nvSpPr>
            <p:cNvPr id="35" name="効果3月"/>
            <p:cNvSpPr/>
            <p:nvPr/>
          </p:nvSpPr>
          <p:spPr>
            <a:xfrm>
              <a:off x="2838450" y="5747476"/>
              <a:ext cx="533400" cy="6277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軸3月"/>
            <p:cNvSpPr/>
            <p:nvPr/>
          </p:nvSpPr>
          <p:spPr>
            <a:xfrm>
              <a:off x="268605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3月</a:t>
              </a:r>
            </a:p>
          </p:txBody>
        </p:sp>
        <p:sp>
          <p:nvSpPr>
            <p:cNvPr id="37" name="効果4月"/>
            <p:cNvSpPr/>
            <p:nvPr/>
          </p:nvSpPr>
          <p:spPr>
            <a:xfrm>
              <a:off x="3695700" y="5669009"/>
              <a:ext cx="533400" cy="1412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軸4月"/>
            <p:cNvSpPr/>
            <p:nvPr/>
          </p:nvSpPr>
          <p:spPr>
            <a:xfrm>
              <a:off x="354330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4月</a:t>
              </a:r>
            </a:p>
          </p:txBody>
        </p:sp>
        <p:sp>
          <p:nvSpPr>
            <p:cNvPr id="39" name="効果5月"/>
            <p:cNvSpPr/>
            <p:nvPr/>
          </p:nvSpPr>
          <p:spPr>
            <a:xfrm>
              <a:off x="4552950" y="5590542"/>
              <a:ext cx="533400" cy="2197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軸5月"/>
            <p:cNvSpPr/>
            <p:nvPr/>
          </p:nvSpPr>
          <p:spPr>
            <a:xfrm>
              <a:off x="440055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5月</a:t>
              </a:r>
            </a:p>
          </p:txBody>
        </p:sp>
        <p:sp>
          <p:nvSpPr>
            <p:cNvPr id="41" name="効果6月"/>
            <p:cNvSpPr/>
            <p:nvPr/>
          </p:nvSpPr>
          <p:spPr>
            <a:xfrm>
              <a:off x="5410200" y="5512076"/>
              <a:ext cx="533400" cy="29817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軸6月"/>
            <p:cNvSpPr/>
            <p:nvPr/>
          </p:nvSpPr>
          <p:spPr>
            <a:xfrm>
              <a:off x="525780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6月</a:t>
              </a:r>
            </a:p>
          </p:txBody>
        </p:sp>
        <p:sp>
          <p:nvSpPr>
            <p:cNvPr id="43" name="効果7月"/>
            <p:cNvSpPr/>
            <p:nvPr/>
          </p:nvSpPr>
          <p:spPr>
            <a:xfrm>
              <a:off x="6267450" y="5182515"/>
              <a:ext cx="533400" cy="6277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軸7月"/>
            <p:cNvSpPr/>
            <p:nvPr/>
          </p:nvSpPr>
          <p:spPr>
            <a:xfrm>
              <a:off x="611505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7月</a:t>
              </a:r>
            </a:p>
          </p:txBody>
        </p:sp>
        <p:sp>
          <p:nvSpPr>
            <p:cNvPr id="45" name="値7月"/>
            <p:cNvSpPr/>
            <p:nvPr/>
          </p:nvSpPr>
          <p:spPr>
            <a:xfrm>
              <a:off x="6057900" y="4992015"/>
              <a:ext cx="95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1,200</a:t>
              </a:r>
            </a:p>
          </p:txBody>
        </p:sp>
        <p:sp>
          <p:nvSpPr>
            <p:cNvPr id="46" name="効果8月"/>
            <p:cNvSpPr/>
            <p:nvPr/>
          </p:nvSpPr>
          <p:spPr>
            <a:xfrm>
              <a:off x="7124700" y="4847723"/>
              <a:ext cx="533400" cy="96252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軸8月"/>
            <p:cNvSpPr/>
            <p:nvPr/>
          </p:nvSpPr>
          <p:spPr>
            <a:xfrm>
              <a:off x="697230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8月</a:t>
              </a:r>
            </a:p>
          </p:txBody>
        </p:sp>
        <p:sp>
          <p:nvSpPr>
            <p:cNvPr id="48" name="効果9月"/>
            <p:cNvSpPr/>
            <p:nvPr/>
          </p:nvSpPr>
          <p:spPr>
            <a:xfrm>
              <a:off x="7981950" y="4518163"/>
              <a:ext cx="533400" cy="12920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軸9月"/>
            <p:cNvSpPr/>
            <p:nvPr/>
          </p:nvSpPr>
          <p:spPr>
            <a:xfrm>
              <a:off x="782955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9月</a:t>
              </a:r>
            </a:p>
          </p:txBody>
        </p:sp>
        <p:sp>
          <p:nvSpPr>
            <p:cNvPr id="50" name="効果10月"/>
            <p:cNvSpPr/>
            <p:nvPr/>
          </p:nvSpPr>
          <p:spPr>
            <a:xfrm>
              <a:off x="8839200" y="4188602"/>
              <a:ext cx="533400" cy="1621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軸10月"/>
            <p:cNvSpPr/>
            <p:nvPr/>
          </p:nvSpPr>
          <p:spPr>
            <a:xfrm>
              <a:off x="868680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10月</a:t>
              </a:r>
            </a:p>
          </p:txBody>
        </p:sp>
        <p:sp>
          <p:nvSpPr>
            <p:cNvPr id="52" name="効果11月"/>
            <p:cNvSpPr/>
            <p:nvPr/>
          </p:nvSpPr>
          <p:spPr>
            <a:xfrm>
              <a:off x="9696450" y="3853810"/>
              <a:ext cx="533400" cy="19564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軸11月"/>
            <p:cNvSpPr/>
            <p:nvPr/>
          </p:nvSpPr>
          <p:spPr>
            <a:xfrm>
              <a:off x="954405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11月</a:t>
              </a:r>
            </a:p>
          </p:txBody>
        </p:sp>
        <p:sp>
          <p:nvSpPr>
            <p:cNvPr id="54" name="効果12月"/>
            <p:cNvSpPr/>
            <p:nvPr/>
          </p:nvSpPr>
          <p:spPr>
            <a:xfrm>
              <a:off x="10553700" y="3524250"/>
              <a:ext cx="533400" cy="22859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軸12月"/>
            <p:cNvSpPr/>
            <p:nvPr/>
          </p:nvSpPr>
          <p:spPr>
            <a:xfrm>
              <a:off x="10401300" y="58864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12月</a:t>
              </a:r>
            </a:p>
          </p:txBody>
        </p:sp>
        <p:sp>
          <p:nvSpPr>
            <p:cNvPr id="56" name="値12月"/>
            <p:cNvSpPr/>
            <p:nvPr/>
          </p:nvSpPr>
          <p:spPr>
            <a:xfrm>
              <a:off x="10344150" y="3333750"/>
              <a:ext cx="95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4,370</a:t>
              </a:r>
            </a:p>
          </p:txBody>
        </p:sp>
        <p:cxnSp>
          <p:nvCxnSpPr>
            <p:cNvPr id="57" name="累計投資線"/>
            <p:cNvCxnSpPr/>
            <p:nvPr/>
          </p:nvCxnSpPr>
          <p:spPr>
            <a:xfrm flipV="1">
              <a:off x="952500" y="5360373"/>
              <a:ext cx="10572750" cy="230169"/>
            </a:xfrm>
            <a:prstGeom prst="bentConnector3">
              <a:avLst/>
            </a:prstGeom>
            <a:ln w="14287">
              <a:solidFill>
                <a:schemeClr val="dk2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投資ラベル"/>
            <p:cNvSpPr/>
            <p:nvPr/>
          </p:nvSpPr>
          <p:spPr>
            <a:xfrm>
              <a:off x="952500" y="5380992"/>
              <a:ext cx="2476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累計投資（初期380万＋月40万）</a:t>
              </a:r>
            </a:p>
          </p:txBody>
        </p:sp>
        <p:sp>
          <p:nvSpPr>
            <p:cNvPr id="59" name="効果ラベル"/>
            <p:cNvSpPr/>
            <p:nvPr/>
          </p:nvSpPr>
          <p:spPr>
            <a:xfrm>
              <a:off x="9620250" y="333375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 b="1">
                  <a:solidFill>
                    <a:schemeClr val="accent1"/>
                  </a:solidFill>
                </a:rPr>
                <a:t>累計効果</a:t>
              </a:r>
            </a:p>
          </p:txBody>
        </p:sp>
      </p:grpSp>
      <p:grpSp>
        <p:nvGrpSpPr>
          <p:cNvPr id="60" name="回収注記"/>
          <p:cNvGrpSpPr/>
          <p:nvPr/>
        </p:nvGrpSpPr>
        <p:grpSpPr>
          <a:xfrm>
            <a:off x="5829300" y="4477665"/>
            <a:ext cx="1409700" cy="419100"/>
            <a:chOff x="5829300" y="4477665"/>
            <a:chExt cx="1409700" cy="419100"/>
          </a:xfrm>
        </p:grpSpPr>
        <p:sp>
          <p:nvSpPr>
            <p:cNvPr id="61" name="吹き出し_回収点"/>
            <p:cNvSpPr/>
            <p:nvPr/>
          </p:nvSpPr>
          <p:spPr>
            <a:xfrm>
              <a:off x="5829300" y="4477665"/>
              <a:ext cx="1409700" cy="419100"/>
            </a:xfrm>
            <a:custGeom>
              <a:avLst/>
              <a:gdLst/>
              <a:ahLst/>
              <a:cxnLst/>
              <a:rect l="0" t="0" r="1409700" b="323850"/>
              <a:pathLst>
                <a:path w="1409700" h="419100">
                  <a:moveTo>
                    <a:pt x="57150" y="0"/>
                  </a:moveTo>
                  <a:lnTo>
                    <a:pt x="1352550" y="0"/>
                  </a:lnTo>
                  <a:arcTo wR="57150" hR="57150" stAng="16200000" swAng="5400000"/>
                  <a:lnTo>
                    <a:pt x="1409700" y="266700"/>
                  </a:lnTo>
                  <a:arcTo wR="57150" hR="57150" stAng="0" swAng="5400000"/>
                  <a:lnTo>
                    <a:pt x="771525" y="323850"/>
                  </a:lnTo>
                  <a:lnTo>
                    <a:pt x="704850" y="419100"/>
                  </a:lnTo>
                  <a:lnTo>
                    <a:pt x="638175" y="323850"/>
                  </a:lnTo>
                  <a:lnTo>
                    <a:pt x="57150" y="323850"/>
                  </a:lnTo>
                  <a:arcTo wR="57150" hR="57150" stAng="5400000" swAng="5400000"/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962650" y="4477665"/>
              <a:ext cx="11430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lt1"/>
                  </a:solidFill>
                </a:rPr>
                <a:t>7ヶ月目に投資回収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04｜効果と計画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最初の3ヶ月は1部署で試し、効果を見てから全社へ広げる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導入ロードマップ（6ヶ月・3フェーズ）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　　注：M3末の継続判断までは縮小・中止が可能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12</a:t>
              </a:r>
            </a:p>
          </p:txBody>
        </p:sp>
      </p:grpSp>
      <p:grpSp>
        <p:nvGrpSpPr>
          <p:cNvPr id="11" name="フェーズ帯"/>
          <p:cNvGrpSpPr/>
          <p:nvPr/>
        </p:nvGrpSpPr>
        <p:grpSpPr>
          <a:xfrm>
            <a:off x="2057400" y="1619250"/>
            <a:ext cx="9505950" cy="266700"/>
            <a:chOff x="2057400" y="1619250"/>
            <a:chExt cx="9505950" cy="266700"/>
          </a:xfrm>
        </p:grpSpPr>
        <p:sp>
          <p:nvSpPr>
            <p:cNvPr id="12" name="フェーズ1｜試行（1部署）"/>
            <p:cNvSpPr/>
            <p:nvPr/>
          </p:nvSpPr>
          <p:spPr>
            <a:xfrm>
              <a:off x="2057400" y="1619250"/>
              <a:ext cx="4733925" cy="266700"/>
            </a:xfrm>
            <a:prstGeom prst="roundRect">
              <a:avLst>
                <a:gd name="adj" fmla="val 2142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057400" y="1628775"/>
              <a:ext cx="4733925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フェーズ1｜試行（1部署）</a:t>
              </a:r>
            </a:p>
          </p:txBody>
        </p:sp>
        <p:sp>
          <p:nvSpPr>
            <p:cNvPr id="14" name="フェーズ2｜展開"/>
            <p:cNvSpPr/>
            <p:nvPr/>
          </p:nvSpPr>
          <p:spPr>
            <a:xfrm>
              <a:off x="6829425" y="1619250"/>
              <a:ext cx="3143250" cy="266700"/>
            </a:xfrm>
            <a:prstGeom prst="roundRect">
              <a:avLst>
                <a:gd name="adj" fmla="val 2142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829425" y="1628775"/>
              <a:ext cx="31432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フェーズ2｜展開</a:t>
              </a:r>
            </a:p>
          </p:txBody>
        </p:sp>
        <p:sp>
          <p:nvSpPr>
            <p:cNvPr id="16" name="フェーズ3｜定着"/>
            <p:cNvSpPr/>
            <p:nvPr/>
          </p:nvSpPr>
          <p:spPr>
            <a:xfrm>
              <a:off x="10010775" y="1619250"/>
              <a:ext cx="1552575" cy="266700"/>
            </a:xfrm>
            <a:prstGeom prst="roundRect">
              <a:avLst>
                <a:gd name="adj" fmla="val 2142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010775" y="1628775"/>
              <a:ext cx="1552575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フェーズ3｜定着</a:t>
              </a:r>
            </a:p>
          </p:txBody>
        </p:sp>
      </p:grpSp>
      <p:grpSp>
        <p:nvGrpSpPr>
          <p:cNvPr id="18" name="月グリッド"/>
          <p:cNvGrpSpPr/>
          <p:nvPr/>
        </p:nvGrpSpPr>
        <p:grpSpPr>
          <a:xfrm>
            <a:off x="2038350" y="1981200"/>
            <a:ext cx="9544050" cy="3371850"/>
            <a:chOff x="2038350" y="1981200"/>
            <a:chExt cx="9544050" cy="3371850"/>
          </a:xfrm>
        </p:grpSpPr>
        <p:sp>
          <p:nvSpPr>
            <p:cNvPr id="19" name="月1"/>
            <p:cNvSpPr/>
            <p:nvPr/>
          </p:nvSpPr>
          <p:spPr>
            <a:xfrm>
              <a:off x="2038350" y="1981200"/>
              <a:ext cx="15906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1ヶ月目</a:t>
              </a:r>
            </a:p>
          </p:txBody>
        </p:sp>
        <p:sp>
          <p:nvSpPr>
            <p:cNvPr id="20" name="月2"/>
            <p:cNvSpPr/>
            <p:nvPr/>
          </p:nvSpPr>
          <p:spPr>
            <a:xfrm>
              <a:off x="3629025" y="1981200"/>
              <a:ext cx="15906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2ヶ月目</a:t>
              </a:r>
            </a:p>
          </p:txBody>
        </p:sp>
        <p:sp>
          <p:nvSpPr>
            <p:cNvPr id="21" name="月3"/>
            <p:cNvSpPr/>
            <p:nvPr/>
          </p:nvSpPr>
          <p:spPr>
            <a:xfrm>
              <a:off x="5219700" y="1981200"/>
              <a:ext cx="15906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3ヶ月目</a:t>
              </a:r>
            </a:p>
          </p:txBody>
        </p:sp>
        <p:sp>
          <p:nvSpPr>
            <p:cNvPr id="22" name="月4"/>
            <p:cNvSpPr/>
            <p:nvPr/>
          </p:nvSpPr>
          <p:spPr>
            <a:xfrm>
              <a:off x="6810375" y="1981200"/>
              <a:ext cx="15906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4ヶ月目</a:t>
              </a:r>
            </a:p>
          </p:txBody>
        </p:sp>
        <p:sp>
          <p:nvSpPr>
            <p:cNvPr id="23" name="月5"/>
            <p:cNvSpPr/>
            <p:nvPr/>
          </p:nvSpPr>
          <p:spPr>
            <a:xfrm>
              <a:off x="8401050" y="1981200"/>
              <a:ext cx="15906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5ヶ月目</a:t>
              </a:r>
            </a:p>
          </p:txBody>
        </p:sp>
        <p:sp>
          <p:nvSpPr>
            <p:cNvPr id="24" name="月6"/>
            <p:cNvSpPr/>
            <p:nvPr/>
          </p:nvSpPr>
          <p:spPr>
            <a:xfrm>
              <a:off x="9991725" y="1981200"/>
              <a:ext cx="159067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6ヶ月目</a:t>
              </a:r>
            </a:p>
          </p:txBody>
        </p:sp>
        <p:cxnSp>
          <p:nvCxnSpPr>
            <p:cNvPr id="25" name="目盛0"/>
            <p:cNvCxnSpPr/>
            <p:nvPr/>
          </p:nvCxnSpPr>
          <p:spPr>
            <a:xfrm>
              <a:off x="2038350" y="2266950"/>
              <a:ext cx="0" cy="3086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目盛1"/>
            <p:cNvCxnSpPr/>
            <p:nvPr/>
          </p:nvCxnSpPr>
          <p:spPr>
            <a:xfrm>
              <a:off x="3629025" y="2266950"/>
              <a:ext cx="0" cy="3086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目盛2"/>
            <p:cNvCxnSpPr/>
            <p:nvPr/>
          </p:nvCxnSpPr>
          <p:spPr>
            <a:xfrm>
              <a:off x="5219700" y="2266950"/>
              <a:ext cx="0" cy="3086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目盛3"/>
            <p:cNvCxnSpPr/>
            <p:nvPr/>
          </p:nvCxnSpPr>
          <p:spPr>
            <a:xfrm>
              <a:off x="6810375" y="2266950"/>
              <a:ext cx="0" cy="3086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目盛4"/>
            <p:cNvCxnSpPr/>
            <p:nvPr/>
          </p:nvCxnSpPr>
          <p:spPr>
            <a:xfrm>
              <a:off x="8401050" y="2266950"/>
              <a:ext cx="0" cy="3086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目盛5"/>
            <p:cNvCxnSpPr/>
            <p:nvPr/>
          </p:nvCxnSpPr>
          <p:spPr>
            <a:xfrm>
              <a:off x="9991725" y="2266950"/>
              <a:ext cx="0" cy="3086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目盛6"/>
            <p:cNvCxnSpPr/>
            <p:nvPr/>
          </p:nvCxnSpPr>
          <p:spPr>
            <a:xfrm>
              <a:off x="11582400" y="2266950"/>
              <a:ext cx="0" cy="3086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レーン_業務設計"/>
          <p:cNvGrpSpPr/>
          <p:nvPr/>
        </p:nvGrpSpPr>
        <p:grpSpPr>
          <a:xfrm>
            <a:off x="609600" y="2609850"/>
            <a:ext cx="10972800" cy="723900"/>
            <a:chOff x="609600" y="2609850"/>
            <a:chExt cx="10972800" cy="723900"/>
          </a:xfrm>
        </p:grpSpPr>
        <p:sp>
          <p:nvSpPr>
            <p:cNvPr id="33" name="レーン名"/>
            <p:cNvSpPr/>
            <p:nvPr/>
          </p:nvSpPr>
          <p:spPr>
            <a:xfrm>
              <a:off x="609600" y="2647950"/>
              <a:ext cx="1333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業務設計</a:t>
              </a:r>
            </a:p>
          </p:txBody>
        </p:sp>
        <p:cxnSp>
          <p:nvCxnSpPr>
            <p:cNvPr id="34" name="行区切り"/>
            <p:cNvCxnSpPr/>
            <p:nvPr/>
          </p:nvCxnSpPr>
          <p:spPr>
            <a:xfrm>
              <a:off x="609600" y="33337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バー_対象業務の棚卸し・書式統一"/>
            <p:cNvSpPr/>
            <p:nvPr/>
          </p:nvSpPr>
          <p:spPr>
            <a:xfrm>
              <a:off x="2114550" y="2609850"/>
              <a:ext cx="3028950" cy="323850"/>
            </a:xfrm>
            <a:prstGeom prst="roundRect">
              <a:avLst>
                <a:gd name="adj" fmla="val 23529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14550" y="2619375"/>
              <a:ext cx="30289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対象業務の棚卸し・書式統一</a:t>
              </a:r>
            </a:p>
          </p:txBody>
        </p:sp>
        <p:sp>
          <p:nvSpPr>
            <p:cNvPr id="37" name="バー_展開部署の業務設計"/>
            <p:cNvSpPr/>
            <p:nvPr/>
          </p:nvSpPr>
          <p:spPr>
            <a:xfrm>
              <a:off x="6886575" y="2609850"/>
              <a:ext cx="1438275" cy="323850"/>
            </a:xfrm>
            <a:prstGeom prst="roundRect">
              <a:avLst>
                <a:gd name="adj" fmla="val 23529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886575" y="2619375"/>
              <a:ext cx="1438275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展開部署の業務設計</a:t>
              </a:r>
            </a:p>
          </p:txBody>
        </p:sp>
      </p:grpSp>
      <p:grpSp>
        <p:nvGrpSpPr>
          <p:cNvPr id="39" name="レーン_システム・AI"/>
          <p:cNvGrpSpPr/>
          <p:nvPr/>
        </p:nvGrpSpPr>
        <p:grpSpPr>
          <a:xfrm>
            <a:off x="609600" y="3619500"/>
            <a:ext cx="10972800" cy="723900"/>
            <a:chOff x="609600" y="3619500"/>
            <a:chExt cx="10972800" cy="723900"/>
          </a:xfrm>
        </p:grpSpPr>
        <p:sp>
          <p:nvSpPr>
            <p:cNvPr id="40" name="レーン名"/>
            <p:cNvSpPr/>
            <p:nvPr/>
          </p:nvSpPr>
          <p:spPr>
            <a:xfrm>
              <a:off x="609600" y="3657600"/>
              <a:ext cx="1333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システム・AI</a:t>
              </a:r>
            </a:p>
          </p:txBody>
        </p:sp>
        <p:cxnSp>
          <p:nvCxnSpPr>
            <p:cNvPr id="41" name="行区切り"/>
            <p:cNvCxnSpPr/>
            <p:nvPr/>
          </p:nvCxnSpPr>
          <p:spPr>
            <a:xfrm>
              <a:off x="609600" y="43434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バー_システム接続・下書き精度の調整"/>
            <p:cNvSpPr/>
            <p:nvPr/>
          </p:nvSpPr>
          <p:spPr>
            <a:xfrm>
              <a:off x="2114550" y="3619500"/>
              <a:ext cx="4619625" cy="323850"/>
            </a:xfrm>
            <a:prstGeom prst="roundRect">
              <a:avLst>
                <a:gd name="adj" fmla="val 23529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114550" y="3629025"/>
              <a:ext cx="4619625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システム接続・下書き精度の調整</a:t>
              </a:r>
            </a:p>
          </p:txBody>
        </p:sp>
        <p:sp>
          <p:nvSpPr>
            <p:cNvPr id="44" name="バー_精度改善・対象書類の追加"/>
            <p:cNvSpPr/>
            <p:nvPr/>
          </p:nvSpPr>
          <p:spPr>
            <a:xfrm>
              <a:off x="6886575" y="3619500"/>
              <a:ext cx="4619625" cy="323850"/>
            </a:xfrm>
            <a:prstGeom prst="roundRect">
              <a:avLst>
                <a:gd name="adj" fmla="val 23529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886575" y="3629025"/>
              <a:ext cx="4619625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精度改善・対象書類の追加</a:t>
              </a:r>
            </a:p>
          </p:txBody>
        </p:sp>
      </p:grpSp>
      <p:grpSp>
        <p:nvGrpSpPr>
          <p:cNvPr id="46" name="レーン_教育・定着"/>
          <p:cNvGrpSpPr/>
          <p:nvPr/>
        </p:nvGrpSpPr>
        <p:grpSpPr>
          <a:xfrm>
            <a:off x="609600" y="4629150"/>
            <a:ext cx="10972800" cy="723900"/>
            <a:chOff x="609600" y="4629150"/>
            <a:chExt cx="10972800" cy="723900"/>
          </a:xfrm>
        </p:grpSpPr>
        <p:sp>
          <p:nvSpPr>
            <p:cNvPr id="47" name="レーン名"/>
            <p:cNvSpPr/>
            <p:nvPr/>
          </p:nvSpPr>
          <p:spPr>
            <a:xfrm>
              <a:off x="609600" y="4667250"/>
              <a:ext cx="1333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教育・定着</a:t>
              </a:r>
            </a:p>
          </p:txBody>
        </p:sp>
        <p:cxnSp>
          <p:nvCxnSpPr>
            <p:cNvPr id="48" name="行区切り"/>
            <p:cNvCxnSpPr/>
            <p:nvPr/>
          </p:nvCxnSpPr>
          <p:spPr>
            <a:xfrm>
              <a:off x="609600" y="53530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バー_パイロット部署で運用"/>
            <p:cNvSpPr/>
            <p:nvPr/>
          </p:nvSpPr>
          <p:spPr>
            <a:xfrm>
              <a:off x="3705225" y="4629150"/>
              <a:ext cx="3028950" cy="323850"/>
            </a:xfrm>
            <a:prstGeom prst="roundRect">
              <a:avLst>
                <a:gd name="adj" fmla="val 23529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705225" y="4638675"/>
              <a:ext cx="30289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パイロット部署で運用</a:t>
              </a:r>
            </a:p>
          </p:txBody>
        </p:sp>
        <p:sp>
          <p:nvSpPr>
            <p:cNvPr id="51" name="バー_全社展開・定着支援"/>
            <p:cNvSpPr/>
            <p:nvPr/>
          </p:nvSpPr>
          <p:spPr>
            <a:xfrm>
              <a:off x="6886575" y="4629150"/>
              <a:ext cx="4619625" cy="323850"/>
            </a:xfrm>
            <a:prstGeom prst="roundRect">
              <a:avLst>
                <a:gd name="adj" fmla="val 23529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886575" y="4638675"/>
              <a:ext cx="4619625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全社展開・定着支援</a:t>
              </a:r>
            </a:p>
          </p:txBody>
        </p:sp>
      </p:grpSp>
      <p:grpSp>
        <p:nvGrpSpPr>
          <p:cNvPr id="53" name="マイルストーン"/>
          <p:cNvGrpSpPr/>
          <p:nvPr/>
        </p:nvGrpSpPr>
        <p:grpSpPr>
          <a:xfrm>
            <a:off x="5762625" y="5524500"/>
            <a:ext cx="5876925" cy="323850"/>
            <a:chOff x="5762625" y="5524500"/>
            <a:chExt cx="5876925" cy="323850"/>
          </a:xfrm>
        </p:grpSpPr>
        <p:sp>
          <p:nvSpPr>
            <p:cNvPr id="54" name="節目_効果検証・継続のご判断"/>
            <p:cNvSpPr/>
            <p:nvPr/>
          </p:nvSpPr>
          <p:spPr>
            <a:xfrm>
              <a:off x="6753225" y="5524500"/>
              <a:ext cx="114300" cy="114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節目ラベル_効果検証・継続のご判断"/>
            <p:cNvSpPr/>
            <p:nvPr/>
          </p:nvSpPr>
          <p:spPr>
            <a:xfrm>
              <a:off x="5762625" y="569595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効果検証・継続のご判断</a:t>
              </a:r>
            </a:p>
          </p:txBody>
        </p:sp>
        <p:sp>
          <p:nvSpPr>
            <p:cNvPr id="56" name="節目_経営報告・次期計画"/>
            <p:cNvSpPr/>
            <p:nvPr/>
          </p:nvSpPr>
          <p:spPr>
            <a:xfrm>
              <a:off x="11525250" y="5524500"/>
              <a:ext cx="114300" cy="114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節目ラベル_経営報告・次期計画"/>
            <p:cNvSpPr/>
            <p:nvPr/>
          </p:nvSpPr>
          <p:spPr>
            <a:xfrm>
              <a:off x="10058400" y="56959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経営報告・次期計画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04｜効果と計画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推進は両社の混成チームで担い、最終決定は貴社が握る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推進体制と役割分担（RACI）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　　注：会議体・人数は標準構成（プロジェクト開始時に確定）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13</a:t>
              </a:r>
            </a:p>
          </p:txBody>
        </p:sp>
      </p:grpSp>
      <p:grpSp>
        <p:nvGrpSpPr>
          <p:cNvPr id="11" name="体制図"/>
          <p:cNvGrpSpPr/>
          <p:nvPr/>
        </p:nvGrpSpPr>
        <p:grpSpPr>
          <a:xfrm>
            <a:off x="990600" y="1600200"/>
            <a:ext cx="4191000" cy="3067050"/>
            <a:chOff x="990600" y="1600200"/>
            <a:chExt cx="4191000" cy="3067050"/>
          </a:xfrm>
        </p:grpSpPr>
        <p:sp>
          <p:nvSpPr>
            <p:cNvPr id="12" name="ステアリングコミッティ"/>
            <p:cNvSpPr/>
            <p:nvPr/>
          </p:nvSpPr>
          <p:spPr>
            <a:xfrm>
              <a:off x="990600" y="1600200"/>
              <a:ext cx="4191000" cy="514350"/>
            </a:xfrm>
            <a:prstGeom prst="roundRect">
              <a:avLst>
                <a:gd name="adj" fmla="val 14814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81100" y="1600200"/>
              <a:ext cx="28575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ステアリングコミッティ（貴社経営層）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038600" y="1600200"/>
              <a:ext cx="9525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月1回</a:t>
              </a:r>
            </a:p>
          </p:txBody>
        </p:sp>
        <p:cxnSp>
          <p:nvCxnSpPr>
            <p:cNvPr id="15" name="接続線1"/>
            <p:cNvCxnSpPr/>
            <p:nvPr/>
          </p:nvCxnSpPr>
          <p:spPr>
            <a:xfrm>
              <a:off x="3086100" y="2114550"/>
              <a:ext cx="0" cy="24765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推進チーム"/>
            <p:cNvSpPr/>
            <p:nvPr/>
          </p:nvSpPr>
          <p:spPr>
            <a:xfrm>
              <a:off x="990600" y="2362200"/>
              <a:ext cx="4191000" cy="552450"/>
            </a:xfrm>
            <a:prstGeom prst="roundRect">
              <a:avLst>
                <a:gd name="adj" fmla="val 1379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81100" y="2362200"/>
              <a:ext cx="28575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推進チーム（両社混成）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038600" y="2362200"/>
              <a:ext cx="9525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週1回</a:t>
              </a:r>
            </a:p>
          </p:txBody>
        </p:sp>
        <p:cxnSp>
          <p:nvCxnSpPr>
            <p:cNvPr id="19" name="接続線2"/>
            <p:cNvCxnSpPr/>
            <p:nvPr/>
          </p:nvCxnSpPr>
          <p:spPr>
            <a:xfrm>
              <a:off x="1990725" y="2914650"/>
              <a:ext cx="0" cy="24765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接続線3"/>
            <p:cNvCxnSpPr/>
            <p:nvPr/>
          </p:nvCxnSpPr>
          <p:spPr>
            <a:xfrm>
              <a:off x="4181475" y="2914650"/>
              <a:ext cx="0" cy="24765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貴社メンバー"/>
            <p:cNvSpPr/>
            <p:nvPr/>
          </p:nvSpPr>
          <p:spPr>
            <a:xfrm>
              <a:off x="990600" y="3162300"/>
              <a:ext cx="2000250" cy="800100"/>
            </a:xfrm>
            <a:prstGeom prst="roundRect">
              <a:avLst>
                <a:gd name="adj" fmla="val 952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143000" y="3276600"/>
              <a:ext cx="16954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貴社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143000" y="3486150"/>
              <a:ext cx="16954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dk1"/>
                  </a:solidFill>
                </a:rPr>
                <a:t>業務部門リーダー 2名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dk1"/>
                  </a:solidFill>
                </a:rPr>
                <a:t>情報システム 1名</a:t>
              </a:r>
            </a:p>
          </p:txBody>
        </p:sp>
        <p:sp>
          <p:nvSpPr>
            <p:cNvPr id="24" name="当社メンバー"/>
            <p:cNvSpPr/>
            <p:nvPr/>
          </p:nvSpPr>
          <p:spPr>
            <a:xfrm>
              <a:off x="3181350" y="3162300"/>
              <a:ext cx="2000250" cy="800100"/>
            </a:xfrm>
            <a:prstGeom prst="roundRect">
              <a:avLst>
                <a:gd name="adj" fmla="val 9523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333750" y="3276600"/>
              <a:ext cx="16954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当社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333750" y="3486150"/>
              <a:ext cx="16954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dk1"/>
                  </a:solidFill>
                </a:rPr>
                <a:t>コンサルタント 1名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dk1"/>
                  </a:solidFill>
                </a:rPr>
                <a:t>AIエンジニア 2名</a:t>
              </a:r>
            </a:p>
          </p:txBody>
        </p:sp>
        <p:cxnSp>
          <p:nvCxnSpPr>
            <p:cNvPr id="27" name="接続線4"/>
            <p:cNvCxnSpPr/>
            <p:nvPr/>
          </p:nvCxnSpPr>
          <p:spPr>
            <a:xfrm>
              <a:off x="3086100" y="3962400"/>
              <a:ext cx="0" cy="24765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パイロット部署"/>
            <p:cNvSpPr/>
            <p:nvPr/>
          </p:nvSpPr>
          <p:spPr>
            <a:xfrm>
              <a:off x="990600" y="4210050"/>
              <a:ext cx="4191000" cy="457200"/>
            </a:xfrm>
            <a:prstGeom prst="roundRect">
              <a:avLst>
                <a:gd name="adj" fmla="val 16666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90600" y="4210050"/>
              <a:ext cx="4191000" cy="457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パイロット部署（トライアル対象・営業◯◯部）</a:t>
              </a:r>
            </a:p>
          </p:txBody>
        </p:sp>
      </p:grpSp>
      <p:grpSp>
        <p:nvGrpSpPr>
          <p:cNvPr id="30" name="役割表"/>
          <p:cNvGrpSpPr/>
          <p:nvPr/>
        </p:nvGrpSpPr>
        <p:grpSpPr>
          <a:xfrm>
            <a:off x="6096000" y="1600200"/>
            <a:ext cx="5486400" cy="3048000"/>
            <a:chOff x="6096000" y="1600200"/>
            <a:chExt cx="5486400" cy="3048000"/>
          </a:xfrm>
        </p:grpSpPr>
        <p:sp>
          <p:nvSpPr>
            <p:cNvPr id="31" name="見出し_主要タスク"/>
            <p:cNvSpPr/>
            <p:nvPr/>
          </p:nvSpPr>
          <p:spPr>
            <a:xfrm>
              <a:off x="6096000" y="1600200"/>
              <a:ext cx="2343150" cy="4191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096000" y="1600200"/>
              <a:ext cx="23431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主要タスク</a:t>
              </a:r>
            </a:p>
          </p:txBody>
        </p:sp>
        <p:sp>
          <p:nvSpPr>
            <p:cNvPr id="33" name="見出し_貴社経営"/>
            <p:cNvSpPr/>
            <p:nvPr/>
          </p:nvSpPr>
          <p:spPr>
            <a:xfrm>
              <a:off x="8439150" y="1600200"/>
              <a:ext cx="9525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8439150" y="1600200"/>
              <a:ext cx="9525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貴社経営</a:t>
              </a:r>
            </a:p>
          </p:txBody>
        </p:sp>
        <p:sp>
          <p:nvSpPr>
            <p:cNvPr id="35" name="見出し_貴社現場"/>
            <p:cNvSpPr/>
            <p:nvPr/>
          </p:nvSpPr>
          <p:spPr>
            <a:xfrm>
              <a:off x="9391650" y="1600200"/>
              <a:ext cx="104775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9391650" y="1600200"/>
              <a:ext cx="10477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貴社現場</a:t>
              </a:r>
            </a:p>
          </p:txBody>
        </p:sp>
        <p:sp>
          <p:nvSpPr>
            <p:cNvPr id="37" name="見出し_当社"/>
            <p:cNvSpPr/>
            <p:nvPr/>
          </p:nvSpPr>
          <p:spPr>
            <a:xfrm>
              <a:off x="10439400" y="1600200"/>
              <a:ext cx="11430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439400" y="1600200"/>
              <a:ext cx="11430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当社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29350" y="2019300"/>
              <a:ext cx="215265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1"/>
                  </a:solidFill>
                </a:rPr>
                <a:t>業務の棚卸し</a:t>
              </a:r>
            </a:p>
          </p:txBody>
        </p:sp>
        <p:sp>
          <p:nvSpPr>
            <p:cNvPr id="40" name="業務の棚卸し_貴社経営"/>
            <p:cNvSpPr/>
            <p:nvPr/>
          </p:nvSpPr>
          <p:spPr>
            <a:xfrm>
              <a:off x="8439150" y="2019300"/>
              <a:ext cx="9525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>
                  <a:solidFill>
                    <a:schemeClr val="accent5"/>
                  </a:solidFill>
                </a:rPr>
                <a:t>I</a:t>
              </a:r>
            </a:p>
          </p:txBody>
        </p:sp>
        <p:sp>
          <p:nvSpPr>
            <p:cNvPr id="41" name="業務の棚卸し_貴社現場"/>
            <p:cNvSpPr/>
            <p:nvPr/>
          </p:nvSpPr>
          <p:spPr>
            <a:xfrm>
              <a:off x="9391650" y="2019300"/>
              <a:ext cx="104775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R・A</a:t>
              </a:r>
            </a:p>
          </p:txBody>
        </p:sp>
        <p:sp>
          <p:nvSpPr>
            <p:cNvPr id="42" name="業務の棚卸し_当社"/>
            <p:cNvSpPr/>
            <p:nvPr/>
          </p:nvSpPr>
          <p:spPr>
            <a:xfrm>
              <a:off x="10439400" y="2019300"/>
              <a:ext cx="11430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>
                  <a:solidFill>
                    <a:schemeClr val="accent5"/>
                  </a:solidFill>
                </a:rPr>
                <a:t>C</a:t>
              </a:r>
            </a:p>
          </p:txBody>
        </p:sp>
        <p:cxnSp>
          <p:nvCxnSpPr>
            <p:cNvPr id="43" name="罫線_業務の棚卸し"/>
            <p:cNvCxnSpPr/>
            <p:nvPr/>
          </p:nvCxnSpPr>
          <p:spPr>
            <a:xfrm>
              <a:off x="6096000" y="2609850"/>
              <a:ext cx="5486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/>
            <p:cNvSpPr/>
            <p:nvPr/>
          </p:nvSpPr>
          <p:spPr>
            <a:xfrm>
              <a:off x="6229350" y="2609850"/>
              <a:ext cx="215265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1"/>
                  </a:solidFill>
                </a:rPr>
                <a:t>システム接続・設定</a:t>
              </a:r>
            </a:p>
          </p:txBody>
        </p:sp>
        <p:sp>
          <p:nvSpPr>
            <p:cNvPr id="45" name="システム接続・設定_貴社経営"/>
            <p:cNvSpPr/>
            <p:nvPr/>
          </p:nvSpPr>
          <p:spPr>
            <a:xfrm>
              <a:off x="8439150" y="2609850"/>
              <a:ext cx="9525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>
                  <a:solidFill>
                    <a:schemeClr val="accent5"/>
                  </a:solidFill>
                </a:rPr>
                <a:t>I</a:t>
              </a:r>
            </a:p>
          </p:txBody>
        </p:sp>
        <p:sp>
          <p:nvSpPr>
            <p:cNvPr id="46" name="システム接続・設定_貴社現場"/>
            <p:cNvSpPr/>
            <p:nvPr/>
          </p:nvSpPr>
          <p:spPr>
            <a:xfrm>
              <a:off x="9391650" y="2609850"/>
              <a:ext cx="104775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A</a:t>
              </a:r>
            </a:p>
          </p:txBody>
        </p:sp>
        <p:sp>
          <p:nvSpPr>
            <p:cNvPr id="47" name="システム接続・設定_当社"/>
            <p:cNvSpPr/>
            <p:nvPr/>
          </p:nvSpPr>
          <p:spPr>
            <a:xfrm>
              <a:off x="10439400" y="2609850"/>
              <a:ext cx="11430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R</a:t>
              </a:r>
            </a:p>
          </p:txBody>
        </p:sp>
        <p:cxnSp>
          <p:nvCxnSpPr>
            <p:cNvPr id="48" name="罫線_システム接続・設定"/>
            <p:cNvCxnSpPr/>
            <p:nvPr/>
          </p:nvCxnSpPr>
          <p:spPr>
            <a:xfrm>
              <a:off x="6096000" y="3200400"/>
              <a:ext cx="5486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6229350" y="3200400"/>
              <a:ext cx="215265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1"/>
                  </a:solidFill>
                </a:rPr>
                <a:t>運用ルールの策定</a:t>
              </a:r>
            </a:p>
          </p:txBody>
        </p:sp>
        <p:sp>
          <p:nvSpPr>
            <p:cNvPr id="50" name="運用ルールの策定_貴社経営"/>
            <p:cNvSpPr/>
            <p:nvPr/>
          </p:nvSpPr>
          <p:spPr>
            <a:xfrm>
              <a:off x="8439150" y="3200400"/>
              <a:ext cx="9525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A</a:t>
              </a:r>
            </a:p>
          </p:txBody>
        </p:sp>
        <p:sp>
          <p:nvSpPr>
            <p:cNvPr id="51" name="運用ルールの策定_貴社現場"/>
            <p:cNvSpPr/>
            <p:nvPr/>
          </p:nvSpPr>
          <p:spPr>
            <a:xfrm>
              <a:off x="9391650" y="3200400"/>
              <a:ext cx="104775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>
                  <a:solidFill>
                    <a:schemeClr val="accent5"/>
                  </a:solidFill>
                </a:rPr>
                <a:t>C</a:t>
              </a:r>
            </a:p>
          </p:txBody>
        </p:sp>
        <p:sp>
          <p:nvSpPr>
            <p:cNvPr id="52" name="運用ルールの策定_当社"/>
            <p:cNvSpPr/>
            <p:nvPr/>
          </p:nvSpPr>
          <p:spPr>
            <a:xfrm>
              <a:off x="10439400" y="3200400"/>
              <a:ext cx="11430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R</a:t>
              </a:r>
            </a:p>
          </p:txBody>
        </p:sp>
        <p:cxnSp>
          <p:nvCxnSpPr>
            <p:cNvPr id="53" name="罫線_運用ルールの策定"/>
            <p:cNvCxnSpPr/>
            <p:nvPr/>
          </p:nvCxnSpPr>
          <p:spPr>
            <a:xfrm>
              <a:off x="6096000" y="3790950"/>
              <a:ext cx="5486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/>
            <p:cNvSpPr/>
            <p:nvPr/>
          </p:nvSpPr>
          <p:spPr>
            <a:xfrm>
              <a:off x="6229350" y="3790950"/>
              <a:ext cx="215265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1"/>
                  </a:solidFill>
                </a:rPr>
                <a:t>効果検証・継続判断</a:t>
              </a:r>
            </a:p>
          </p:txBody>
        </p:sp>
        <p:sp>
          <p:nvSpPr>
            <p:cNvPr id="55" name="効果検証・継続判断_貴社経営"/>
            <p:cNvSpPr/>
            <p:nvPr/>
          </p:nvSpPr>
          <p:spPr>
            <a:xfrm>
              <a:off x="8439150" y="3790950"/>
              <a:ext cx="9525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A</a:t>
              </a:r>
            </a:p>
          </p:txBody>
        </p:sp>
        <p:sp>
          <p:nvSpPr>
            <p:cNvPr id="56" name="効果検証・継続判断_貴社現場"/>
            <p:cNvSpPr/>
            <p:nvPr/>
          </p:nvSpPr>
          <p:spPr>
            <a:xfrm>
              <a:off x="9391650" y="3790950"/>
              <a:ext cx="104775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>
                  <a:solidFill>
                    <a:schemeClr val="accent5"/>
                  </a:solidFill>
                </a:rPr>
                <a:t>C</a:t>
              </a:r>
            </a:p>
          </p:txBody>
        </p:sp>
        <p:sp>
          <p:nvSpPr>
            <p:cNvPr id="57" name="効果検証・継続判断_当社"/>
            <p:cNvSpPr/>
            <p:nvPr/>
          </p:nvSpPr>
          <p:spPr>
            <a:xfrm>
              <a:off x="10439400" y="3790950"/>
              <a:ext cx="11430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R</a:t>
              </a:r>
            </a:p>
          </p:txBody>
        </p:sp>
        <p:cxnSp>
          <p:nvCxnSpPr>
            <p:cNvPr id="58" name="罫線_効果検証・継続判断"/>
            <p:cNvCxnSpPr/>
            <p:nvPr/>
          </p:nvCxnSpPr>
          <p:spPr>
            <a:xfrm>
              <a:off x="6096000" y="4381500"/>
              <a:ext cx="5486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ヘッダ下罫線"/>
            <p:cNvCxnSpPr/>
            <p:nvPr/>
          </p:nvCxnSpPr>
          <p:spPr>
            <a:xfrm>
              <a:off x="6096000" y="2019300"/>
              <a:ext cx="5486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凡例"/>
            <p:cNvSpPr/>
            <p:nvPr/>
          </p:nvSpPr>
          <p:spPr>
            <a:xfrm>
              <a:off x="6096000" y="4495800"/>
              <a:ext cx="54864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R＝実行　A＝承認　C＝相談　I＝共有</a:t>
              </a:r>
            </a:p>
          </p:txBody>
        </p:sp>
      </p:grpSp>
      <p:grpSp>
        <p:nvGrpSpPr>
          <p:cNvPr id="61" name="補足"/>
          <p:cNvGrpSpPr/>
          <p:nvPr/>
        </p:nvGrpSpPr>
        <p:grpSpPr>
          <a:xfrm>
            <a:off x="6096000" y="4953000"/>
            <a:ext cx="5486400" cy="571500"/>
            <a:chOff x="6096000" y="4953000"/>
            <a:chExt cx="5486400" cy="571500"/>
          </a:xfrm>
        </p:grpSpPr>
        <p:sp>
          <p:nvSpPr>
            <p:cNvPr id="62" name="引用バー"/>
            <p:cNvSpPr/>
            <p:nvPr/>
          </p:nvSpPr>
          <p:spPr>
            <a:xfrm>
              <a:off x="6096000" y="4953000"/>
              <a:ext cx="38100" cy="57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本文"/>
            <p:cNvSpPr/>
            <p:nvPr/>
          </p:nvSpPr>
          <p:spPr>
            <a:xfrm>
              <a:off x="6286500" y="4991100"/>
              <a:ext cx="52959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継続・投資にかかわる承認（A）はすべて貴社側に置く。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当社は実行（R）と選択肢の提示に徹する。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723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05｜費用と次のステップ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投資は初年度860万円。まず無償トライアルから始めたい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費用の内訳と、開始までの3ステップ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　　注：本資料の数値はすべてサンプルです（税別・標準構成の場合）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14</a:t>
              </a:r>
            </a:p>
          </p:txBody>
        </p:sp>
      </p:grpSp>
      <p:grpSp>
        <p:nvGrpSpPr>
          <p:cNvPr id="11" name="費用_初期費用"/>
          <p:cNvGrpSpPr/>
          <p:nvPr/>
        </p:nvGrpSpPr>
        <p:grpSpPr>
          <a:xfrm>
            <a:off x="609600" y="1600200"/>
            <a:ext cx="5219700" cy="1028700"/>
            <a:chOff x="609600" y="1600200"/>
            <a:chExt cx="5219700" cy="1028700"/>
          </a:xfrm>
        </p:grpSpPr>
        <p:sp>
          <p:nvSpPr>
            <p:cNvPr id="12" name="カード"/>
            <p:cNvSpPr/>
            <p:nvPr/>
          </p:nvSpPr>
          <p:spPr>
            <a:xfrm>
              <a:off x="609600" y="1600200"/>
              <a:ext cx="5219700" cy="1028700"/>
            </a:xfrm>
            <a:prstGeom prst="roundRect">
              <a:avLst>
                <a:gd name="adj" fmla="val 7407"/>
              </a:avLst>
            </a:prstGeom>
            <a:noFill/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項目"/>
            <p:cNvSpPr/>
            <p:nvPr/>
          </p:nvSpPr>
          <p:spPr>
            <a:xfrm>
              <a:off x="838200" y="1771650"/>
              <a:ext cx="1905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初期費用</a:t>
              </a:r>
            </a:p>
          </p:txBody>
        </p:sp>
        <p:sp>
          <p:nvSpPr>
            <p:cNvPr id="14" name="内訳"/>
            <p:cNvSpPr/>
            <p:nvPr/>
          </p:nvSpPr>
          <p:spPr>
            <a:xfrm>
              <a:off x="838200" y="2019300"/>
              <a:ext cx="3048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業務設計・システム接続・書式整備</a:t>
              </a:r>
            </a:p>
          </p:txBody>
        </p:sp>
        <p:sp>
          <p:nvSpPr>
            <p:cNvPr id="15" name="金額"/>
            <p:cNvSpPr/>
            <p:nvPr/>
          </p:nvSpPr>
          <p:spPr>
            <a:xfrm>
              <a:off x="3657600" y="1847850"/>
              <a:ext cx="19431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2700" b="1">
                  <a:solidFill>
                    <a:schemeClr val="dk2"/>
                  </a:solidFill>
                </a:rPr>
                <a:t>380万円</a:t>
              </a:r>
            </a:p>
          </p:txBody>
        </p:sp>
      </p:grpSp>
      <p:grpSp>
        <p:nvGrpSpPr>
          <p:cNvPr id="16" name="費用_月額費用"/>
          <p:cNvGrpSpPr/>
          <p:nvPr/>
        </p:nvGrpSpPr>
        <p:grpSpPr>
          <a:xfrm>
            <a:off x="609600" y="2781300"/>
            <a:ext cx="5219700" cy="1028700"/>
            <a:chOff x="609600" y="2781300"/>
            <a:chExt cx="5219700" cy="1028700"/>
          </a:xfrm>
        </p:grpSpPr>
        <p:sp>
          <p:nvSpPr>
            <p:cNvPr id="17" name="カード"/>
            <p:cNvSpPr/>
            <p:nvPr/>
          </p:nvSpPr>
          <p:spPr>
            <a:xfrm>
              <a:off x="609600" y="2781300"/>
              <a:ext cx="5219700" cy="1028700"/>
            </a:xfrm>
            <a:prstGeom prst="roundRect">
              <a:avLst>
                <a:gd name="adj" fmla="val 7407"/>
              </a:avLst>
            </a:prstGeom>
            <a:noFill/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項目"/>
            <p:cNvSpPr/>
            <p:nvPr/>
          </p:nvSpPr>
          <p:spPr>
            <a:xfrm>
              <a:off x="838200" y="2952750"/>
              <a:ext cx="1905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accent5"/>
                  </a:solidFill>
                </a:rPr>
                <a:t>月額費用</a:t>
              </a:r>
            </a:p>
          </p:txBody>
        </p:sp>
        <p:sp>
          <p:nvSpPr>
            <p:cNvPr id="19" name="内訳"/>
            <p:cNvSpPr/>
            <p:nvPr/>
          </p:nvSpPr>
          <p:spPr>
            <a:xfrm>
              <a:off x="838200" y="3200400"/>
              <a:ext cx="3048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運用・精度改善・月次効果レポート</a:t>
              </a:r>
            </a:p>
          </p:txBody>
        </p:sp>
        <p:sp>
          <p:nvSpPr>
            <p:cNvPr id="20" name="金額"/>
            <p:cNvSpPr/>
            <p:nvPr/>
          </p:nvSpPr>
          <p:spPr>
            <a:xfrm>
              <a:off x="3657600" y="3028950"/>
              <a:ext cx="19431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2700" b="1">
                  <a:solidFill>
                    <a:schemeClr val="dk2"/>
                  </a:solidFill>
                </a:rPr>
                <a:t>40万円</a:t>
              </a:r>
            </a:p>
          </p:txBody>
        </p:sp>
      </p:grpSp>
      <p:grpSp>
        <p:nvGrpSpPr>
          <p:cNvPr id="21" name="費用の前提"/>
          <p:cNvGrpSpPr/>
          <p:nvPr/>
        </p:nvGrpSpPr>
        <p:grpSpPr>
          <a:xfrm>
            <a:off x="609600" y="4114800"/>
            <a:ext cx="5219700" cy="1143000"/>
            <a:chOff x="609600" y="4114800"/>
            <a:chExt cx="5219700" cy="1143000"/>
          </a:xfrm>
        </p:grpSpPr>
        <p:cxnSp>
          <p:nvCxnSpPr>
            <p:cNvPr id="22" name="上罫線"/>
            <p:cNvCxnSpPr/>
            <p:nvPr/>
          </p:nvCxnSpPr>
          <p:spPr>
            <a:xfrm>
              <a:off x="609600" y="4114800"/>
              <a:ext cx="5219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見出し"/>
            <p:cNvSpPr/>
            <p:nvPr/>
          </p:nvSpPr>
          <p:spPr>
            <a:xfrm>
              <a:off x="609600" y="424815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費用に含まれるもの</a:t>
              </a:r>
            </a:p>
          </p:txBody>
        </p:sp>
        <p:sp>
          <p:nvSpPr>
            <p:cNvPr id="24" name="本文"/>
            <p:cNvSpPr/>
            <p:nvPr/>
          </p:nvSpPr>
          <p:spPr>
            <a:xfrm>
              <a:off x="609600" y="4495800"/>
              <a:ext cx="5219700" cy="762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70000"/>
                </a:lnSpc>
              </a:pPr>
              <a:r>
                <a:rPr sz="1050">
                  <a:solidFill>
                    <a:schemeClr val="accent5"/>
                  </a:solidFill>
                </a:rPr>
                <a:t>・利用人数が増えても追加費用なし</a:t>
              </a:r>
            </a:p>
            <a:p>
              <a:pPr algn="l">
                <a:lnSpc>
                  <a:spcPct val="170000"/>
                </a:lnSpc>
              </a:pPr>
              <a:r>
                <a:rPr sz="1050">
                  <a:solidFill>
                    <a:schemeClr val="accent5"/>
                  </a:solidFill>
                </a:rPr>
                <a:t>・対象部署の追加も費用なし</a:t>
              </a:r>
            </a:p>
            <a:p>
              <a:pPr algn="l">
                <a:lnSpc>
                  <a:spcPct val="170000"/>
                </a:lnSpc>
              </a:pPr>
              <a:r>
                <a:rPr sz="1050">
                  <a:solidFill>
                    <a:schemeClr val="accent5"/>
                  </a:solidFill>
                </a:rPr>
                <a:t>・契約はいつでも解約可能（違約金なし）</a:t>
              </a:r>
            </a:p>
          </p:txBody>
        </p:sp>
      </p:grpSp>
      <p:grpSp>
        <p:nvGrpSpPr>
          <p:cNvPr id="25" name="結論ボックス"/>
          <p:cNvGrpSpPr/>
          <p:nvPr/>
        </p:nvGrpSpPr>
        <p:grpSpPr>
          <a:xfrm>
            <a:off x="6438900" y="1600200"/>
            <a:ext cx="5143500" cy="1181100"/>
            <a:chOff x="6438900" y="1600200"/>
            <a:chExt cx="5143500" cy="1181100"/>
          </a:xfrm>
        </p:grpSpPr>
        <p:sp>
          <p:nvSpPr>
            <p:cNvPr id="26" name="パネル"/>
            <p:cNvSpPr/>
            <p:nvPr/>
          </p:nvSpPr>
          <p:spPr>
            <a:xfrm>
              <a:off x="6438900" y="1600200"/>
              <a:ext cx="5143500" cy="1181100"/>
            </a:xfrm>
            <a:prstGeom prst="roundRect">
              <a:avLst>
                <a:gd name="adj" fmla="val 8064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ラベル"/>
            <p:cNvSpPr/>
            <p:nvPr/>
          </p:nvSpPr>
          <p:spPr>
            <a:xfrm>
              <a:off x="6705600" y="177165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4"/>
                  </a:solidFill>
                </a:rPr>
                <a:t>結論</a:t>
              </a:r>
            </a:p>
          </p:txBody>
        </p:sp>
        <p:sp>
          <p:nvSpPr>
            <p:cNvPr id="28" name="本文"/>
            <p:cNvSpPr/>
            <p:nvPr/>
          </p:nvSpPr>
          <p:spPr>
            <a:xfrm>
              <a:off x="6705600" y="2000250"/>
              <a:ext cx="46101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50" b="1">
                  <a:solidFill>
                    <a:schemeClr val="lt1"/>
                  </a:solidFill>
                </a:rPr>
                <a:t>初年度合計860万円は、7ヶ月で回収できる。</a:t>
              </a:r>
            </a:p>
            <a:p>
              <a:pPr algn="l">
                <a:lnSpc>
                  <a:spcPct val="150000"/>
                </a:lnSpc>
              </a:pPr>
              <a:r>
                <a:rPr sz="1350" b="1">
                  <a:solidFill>
                    <a:schemeClr val="lt1"/>
                  </a:solidFill>
                </a:rPr>
                <a:t>リスクは無償トライアルで見極められる。</a:t>
              </a:r>
            </a:p>
          </p:txBody>
        </p:sp>
      </p:grpSp>
      <p:grpSp>
        <p:nvGrpSpPr>
          <p:cNvPr id="29" name="次のステップ"/>
          <p:cNvGrpSpPr/>
          <p:nvPr/>
        </p:nvGrpSpPr>
        <p:grpSpPr>
          <a:xfrm>
            <a:off x="6438900" y="3009900"/>
            <a:ext cx="5143500" cy="2286000"/>
            <a:chOff x="6438900" y="3009900"/>
            <a:chExt cx="5143500" cy="2286000"/>
          </a:xfrm>
        </p:grpSpPr>
        <p:sp>
          <p:nvSpPr>
            <p:cNvPr id="30" name="パネル"/>
            <p:cNvSpPr/>
            <p:nvPr/>
          </p:nvSpPr>
          <p:spPr>
            <a:xfrm>
              <a:off x="6438900" y="3009900"/>
              <a:ext cx="5143500" cy="2286000"/>
            </a:xfrm>
            <a:prstGeom prst="roundRect">
              <a:avLst>
                <a:gd name="adj" fmla="val 4166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EXTチップ"/>
            <p:cNvSpPr/>
            <p:nvPr/>
          </p:nvSpPr>
          <p:spPr>
            <a:xfrm>
              <a:off x="6705600" y="32004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705600" y="3209925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NEXT STEP</a:t>
              </a:r>
            </a:p>
          </p:txBody>
        </p:sp>
        <p:sp>
          <p:nvSpPr>
            <p:cNvPr id="33" name="CTA"/>
            <p:cNvSpPr/>
            <p:nvPr/>
          </p:nvSpPr>
          <p:spPr>
            <a:xfrm>
              <a:off x="6705600" y="3562350"/>
              <a:ext cx="46101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50" b="1">
                  <a:solidFill>
                    <a:schemeClr val="dk2"/>
                  </a:solidFill>
                </a:rPr>
                <a:t>まず、無償トライアル（1ヶ月・1部署）から</a:t>
              </a:r>
            </a:p>
          </p:txBody>
        </p:sp>
        <p:sp>
          <p:nvSpPr>
            <p:cNvPr id="34" name="番号1"/>
            <p:cNvSpPr/>
            <p:nvPr/>
          </p:nvSpPr>
          <p:spPr>
            <a:xfrm>
              <a:off x="6705600" y="39433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705600" y="39528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067550" y="3962400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今週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867650" y="3962400"/>
              <a:ext cx="34480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トライアル対象部署のご選定</a:t>
              </a:r>
            </a:p>
          </p:txBody>
        </p:sp>
        <p:sp>
          <p:nvSpPr>
            <p:cNvPr id="38" name="番号2"/>
            <p:cNvSpPr/>
            <p:nvPr/>
          </p:nvSpPr>
          <p:spPr>
            <a:xfrm>
              <a:off x="6705600" y="43624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705600" y="43719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067550" y="4381500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来週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867650" y="4381500"/>
              <a:ext cx="34480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キックオフ（30分・オンライン可）</a:t>
              </a:r>
            </a:p>
          </p:txBody>
        </p:sp>
        <p:sp>
          <p:nvSpPr>
            <p:cNvPr id="42" name="番号3"/>
            <p:cNvSpPr/>
            <p:nvPr/>
          </p:nvSpPr>
          <p:spPr>
            <a:xfrm>
              <a:off x="6705600" y="4781550"/>
              <a:ext cx="247650" cy="247650"/>
            </a:xfrm>
            <a:prstGeom prst="roundRect">
              <a:avLst>
                <a:gd name="adj" fmla="val 2307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705600" y="47910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067550" y="4800600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1ヶ月後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7867650" y="4800600"/>
              <a:ext cx="34480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実測効果のご報告と継続のご判断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背景装飾"/>
          <p:cNvGrpSpPr/>
          <p:nvPr/>
        </p:nvGrpSpPr>
        <p:grpSpPr>
          <a:xfrm>
            <a:off x="7810500" y="1047750"/>
            <a:ext cx="3714750" cy="2476500"/>
            <a:chOff x="7810500" y="1047750"/>
            <a:chExt cx="3714750" cy="2476500"/>
          </a:xfrm>
        </p:grpSpPr>
        <p:sp>
          <p:nvSpPr>
            <p:cNvPr id="4" name="月数字"/>
            <p:cNvSpPr/>
            <p:nvPr/>
          </p:nvSpPr>
          <p:spPr>
            <a:xfrm>
              <a:off x="7810500" y="1047750"/>
              <a:ext cx="3714750" cy="2476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7000" b="1">
                  <a:solidFill>
                    <a:schemeClr val="lt2"/>
                  </a:solidFill>
                </a:rPr>
                <a:t>06</a:t>
              </a:r>
            </a:p>
          </p:txBody>
        </p:sp>
      </p:grpSp>
      <p:grpSp>
        <p:nvGrpSpPr>
          <p:cNvPr id="5" name="ブランドマーク"/>
          <p:cNvGrpSpPr/>
          <p:nvPr/>
        </p:nvGrpSpPr>
        <p:grpSpPr>
          <a:xfrm>
            <a:off x="666750" y="609600"/>
            <a:ext cx="552450" cy="133350"/>
            <a:chOff x="666750" y="609600"/>
            <a:chExt cx="552450" cy="133350"/>
          </a:xfrm>
        </p:grpSpPr>
        <p:sp>
          <p:nvSpPr>
            <p:cNvPr id="6" name="マーク1"/>
            <p:cNvSpPr/>
            <p:nvPr/>
          </p:nvSpPr>
          <p:spPr>
            <a:xfrm>
              <a:off x="666750" y="609600"/>
              <a:ext cx="133350" cy="13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マーク2"/>
            <p:cNvSpPr/>
            <p:nvPr/>
          </p:nvSpPr>
          <p:spPr>
            <a:xfrm>
              <a:off x="876300" y="609600"/>
              <a:ext cx="133350" cy="133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マーク3"/>
            <p:cNvSpPr/>
            <p:nvPr/>
          </p:nvSpPr>
          <p:spPr>
            <a:xfrm>
              <a:off x="1085850" y="609600"/>
              <a:ext cx="133350" cy="1333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表紙タイトル"/>
          <p:cNvGrpSpPr/>
          <p:nvPr/>
        </p:nvGrpSpPr>
        <p:grpSpPr>
          <a:xfrm>
            <a:off x="666750" y="2133600"/>
            <a:ext cx="9525000" cy="1619250"/>
            <a:chOff x="666750" y="2133600"/>
            <a:chExt cx="9525000" cy="1619250"/>
          </a:xfrm>
        </p:grpSpPr>
        <p:sp>
          <p:nvSpPr>
            <p:cNvPr id="10" name="英字ラベル"/>
            <p:cNvSpPr/>
            <p:nvPr/>
          </p:nvSpPr>
          <p:spPr>
            <a:xfrm>
              <a:off x="666750" y="2133600"/>
              <a:ext cx="7620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1"/>
                  </a:solidFill>
                </a:rPr>
                <a:t>MONTHLY BUSINESS REPORT</a:t>
              </a:r>
            </a:p>
          </p:txBody>
        </p:sp>
        <p:sp>
          <p:nvSpPr>
            <p:cNvPr id="11" name="タイトル"/>
            <p:cNvSpPr/>
            <p:nvPr/>
          </p:nvSpPr>
          <p:spPr>
            <a:xfrm>
              <a:off x="666750" y="2438400"/>
              <a:ext cx="952500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4000" b="1">
                  <a:solidFill>
                    <a:schemeClr val="dk2"/>
                  </a:solidFill>
                </a:rPr>
                <a:t>2026年6月度　業績報告</a:t>
              </a:r>
            </a:p>
          </p:txBody>
        </p:sp>
        <p:sp>
          <p:nvSpPr>
            <p:cNvPr id="12" name="アクセント線"/>
            <p:cNvSpPr/>
            <p:nvPr/>
          </p:nvSpPr>
          <p:spPr>
            <a:xfrm>
              <a:off x="666750" y="3257550"/>
              <a:ext cx="5334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リードメッセージ"/>
            <p:cNvSpPr/>
            <p:nvPr/>
          </p:nvSpPr>
          <p:spPr>
            <a:xfrm>
              <a:off x="666750" y="3524250"/>
              <a:ext cx="8953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>
                  <a:solidFill>
                    <a:schemeClr val="dk1"/>
                  </a:solidFill>
                </a:rPr>
                <a:t>売上は計画超過も、粗利率と新規受注に要対処の火種</a:t>
              </a:r>
            </a:p>
          </p:txBody>
        </p:sp>
      </p:grpSp>
      <p:grpSp>
        <p:nvGrpSpPr>
          <p:cNvPr id="14" name="会議情報"/>
          <p:cNvGrpSpPr/>
          <p:nvPr/>
        </p:nvGrpSpPr>
        <p:grpSpPr>
          <a:xfrm>
            <a:off x="666750" y="5334000"/>
            <a:ext cx="4953000" cy="533400"/>
            <a:chOff x="666750" y="5334000"/>
            <a:chExt cx="4953000" cy="533400"/>
          </a:xfrm>
        </p:grpSpPr>
        <p:cxnSp>
          <p:nvCxnSpPr>
            <p:cNvPr id="15" name="罫線"/>
            <p:cNvCxnSpPr/>
            <p:nvPr/>
          </p:nvCxnSpPr>
          <p:spPr>
            <a:xfrm>
              <a:off x="666750" y="5334000"/>
              <a:ext cx="4953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会議体・部署"/>
            <p:cNvSpPr/>
            <p:nvPr/>
          </p:nvSpPr>
          <p:spPr>
            <a:xfrm>
              <a:off x="666750" y="5486400"/>
              <a:ext cx="4000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経営会議資料｜経営企画部</a:t>
              </a:r>
            </a:p>
          </p:txBody>
        </p:sp>
        <p:sp>
          <p:nvSpPr>
            <p:cNvPr id="17" name="日付"/>
            <p:cNvSpPr/>
            <p:nvPr/>
          </p:nvSpPr>
          <p:spPr>
            <a:xfrm>
              <a:off x="666750" y="5715000"/>
              <a:ext cx="4000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2026年7月3日</a:t>
              </a:r>
            </a:p>
          </p:txBody>
        </p:sp>
      </p:grpSp>
      <p:grpSp>
        <p:nvGrpSpPr>
          <p:cNvPr id="18" name="フッター"/>
          <p:cNvGrpSpPr/>
          <p:nvPr/>
        </p:nvGrpSpPr>
        <p:grpSpPr>
          <a:xfrm>
            <a:off x="666750" y="6419850"/>
            <a:ext cx="10858500" cy="152400"/>
            <a:chOff x="666750" y="6419850"/>
            <a:chExt cx="10858500" cy="152400"/>
          </a:xfrm>
        </p:grpSpPr>
        <p:sp>
          <p:nvSpPr>
            <p:cNvPr id="19" name="出所"/>
            <p:cNvSpPr/>
            <p:nvPr/>
          </p:nvSpPr>
          <p:spPr>
            <a:xfrm>
              <a:off x="666750" y="6438900"/>
              <a:ext cx="5715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出所：社内管理会計（2026年6月度）</a:t>
              </a:r>
            </a:p>
          </p:txBody>
        </p:sp>
        <p:sp>
          <p:nvSpPr>
            <p:cNvPr id="2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2026年6月度｜今月のサマリー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増収増益を確保。ただし粗利率の低下が利益を圧迫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注：6月度は速報値。前年比は2025年6月度実績との比較。▲はマイナス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出所：社内管理会計（2026年6月度）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02</a:t>
              </a:r>
            </a:p>
          </p:txBody>
        </p:sp>
      </p:grpSp>
      <p:grpSp>
        <p:nvGrpSpPr>
          <p:cNvPr id="11" name="図表タイトル"/>
          <p:cNvGrpSpPr/>
          <p:nvPr/>
        </p:nvGrpSpPr>
        <p:grpSpPr>
          <a:xfrm>
            <a:off x="666750" y="1219200"/>
            <a:ext cx="7372350" cy="171450"/>
            <a:chOff x="666750" y="1219200"/>
            <a:chExt cx="7372350" cy="171450"/>
          </a:xfrm>
        </p:grpSpPr>
        <p:sp>
          <p:nvSpPr>
            <p:cNvPr id="12" name="マーカー"/>
            <p:cNvSpPr/>
            <p:nvPr/>
          </p:nvSpPr>
          <p:spPr>
            <a:xfrm>
              <a:off x="666750" y="1238250"/>
              <a:ext cx="47625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図表タイトル"/>
            <p:cNvSpPr/>
            <p:nvPr/>
          </p:nvSpPr>
          <p:spPr>
            <a:xfrm>
              <a:off x="800100" y="1219200"/>
              <a:ext cx="7239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主要KPIの当月着地</a:t>
              </a:r>
            </a:p>
          </p:txBody>
        </p:sp>
      </p:grpSp>
      <p:grpSp>
        <p:nvGrpSpPr>
          <p:cNvPr id="14" name="KPIカード_売上高"/>
          <p:cNvGrpSpPr/>
          <p:nvPr/>
        </p:nvGrpSpPr>
        <p:grpSpPr>
          <a:xfrm>
            <a:off x="666750" y="1504950"/>
            <a:ext cx="3467100" cy="1428750"/>
            <a:chOff x="666750" y="1504950"/>
            <a:chExt cx="3467100" cy="1428750"/>
          </a:xfrm>
        </p:grpSpPr>
        <p:sp>
          <p:nvSpPr>
            <p:cNvPr id="15" name="カード"/>
            <p:cNvSpPr/>
            <p:nvPr/>
          </p:nvSpPr>
          <p:spPr>
            <a:xfrm>
              <a:off x="666750" y="1504950"/>
              <a:ext cx="3467100" cy="1428750"/>
            </a:xfrm>
            <a:prstGeom prst="roundRect">
              <a:avLst>
                <a:gd name="adj" fmla="val 5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指標名"/>
            <p:cNvSpPr/>
            <p:nvPr/>
          </p:nvSpPr>
          <p:spPr>
            <a:xfrm>
              <a:off x="857250" y="1657350"/>
              <a:ext cx="3086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売上高（億円）</a:t>
              </a:r>
            </a:p>
          </p:txBody>
        </p:sp>
        <p:sp>
          <p:nvSpPr>
            <p:cNvPr id="17" name="数値"/>
            <p:cNvSpPr/>
            <p:nvPr/>
          </p:nvSpPr>
          <p:spPr>
            <a:xfrm>
              <a:off x="857250" y="1885950"/>
              <a:ext cx="30861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000" b="1">
                  <a:solidFill>
                    <a:schemeClr val="dk2"/>
                  </a:solidFill>
                </a:rPr>
                <a:t>12.8</a:t>
              </a:r>
            </a:p>
          </p:txBody>
        </p:sp>
        <p:sp>
          <p:nvSpPr>
            <p:cNvPr id="18" name="比較基準"/>
            <p:cNvSpPr/>
            <p:nvPr/>
          </p:nvSpPr>
          <p:spPr>
            <a:xfrm>
              <a:off x="857250" y="259080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前年比</a:t>
              </a:r>
            </a:p>
          </p:txBody>
        </p:sp>
        <p:sp>
          <p:nvSpPr>
            <p:cNvPr id="19" name="増減記号"/>
            <p:cNvSpPr/>
            <p:nvPr/>
          </p:nvSpPr>
          <p:spPr>
            <a:xfrm>
              <a:off x="3143250" y="2628900"/>
              <a:ext cx="114300" cy="9525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増減値"/>
            <p:cNvSpPr/>
            <p:nvPr/>
          </p:nvSpPr>
          <p:spPr>
            <a:xfrm>
              <a:off x="3295650" y="2590800"/>
              <a:ext cx="647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1"/>
                  </a:solidFill>
                </a:rPr>
                <a:t>+9.4%</a:t>
              </a:r>
            </a:p>
          </p:txBody>
        </p:sp>
      </p:grpSp>
      <p:grpSp>
        <p:nvGrpSpPr>
          <p:cNvPr id="21" name="KPIカード_営業利益"/>
          <p:cNvGrpSpPr/>
          <p:nvPr/>
        </p:nvGrpSpPr>
        <p:grpSpPr>
          <a:xfrm>
            <a:off x="4362450" y="1504950"/>
            <a:ext cx="3467100" cy="1428750"/>
            <a:chOff x="4362450" y="1504950"/>
            <a:chExt cx="3467100" cy="1428750"/>
          </a:xfrm>
        </p:grpSpPr>
        <p:sp>
          <p:nvSpPr>
            <p:cNvPr id="22" name="カード"/>
            <p:cNvSpPr/>
            <p:nvPr/>
          </p:nvSpPr>
          <p:spPr>
            <a:xfrm>
              <a:off x="4362450" y="1504950"/>
              <a:ext cx="3467100" cy="1428750"/>
            </a:xfrm>
            <a:prstGeom prst="roundRect">
              <a:avLst>
                <a:gd name="adj" fmla="val 5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指標名"/>
            <p:cNvSpPr/>
            <p:nvPr/>
          </p:nvSpPr>
          <p:spPr>
            <a:xfrm>
              <a:off x="4552950" y="1657350"/>
              <a:ext cx="3086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営業利益（億円）</a:t>
              </a:r>
            </a:p>
          </p:txBody>
        </p:sp>
        <p:sp>
          <p:nvSpPr>
            <p:cNvPr id="24" name="数値"/>
            <p:cNvSpPr/>
            <p:nvPr/>
          </p:nvSpPr>
          <p:spPr>
            <a:xfrm>
              <a:off x="4552950" y="1885950"/>
              <a:ext cx="30861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000" b="1">
                  <a:solidFill>
                    <a:schemeClr val="dk2"/>
                  </a:solidFill>
                </a:rPr>
                <a:t>1.9</a:t>
              </a:r>
            </a:p>
          </p:txBody>
        </p:sp>
        <p:sp>
          <p:nvSpPr>
            <p:cNvPr id="25" name="比較基準"/>
            <p:cNvSpPr/>
            <p:nvPr/>
          </p:nvSpPr>
          <p:spPr>
            <a:xfrm>
              <a:off x="4552950" y="259080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前年比</a:t>
              </a:r>
            </a:p>
          </p:txBody>
        </p:sp>
        <p:sp>
          <p:nvSpPr>
            <p:cNvPr id="26" name="増減記号"/>
            <p:cNvSpPr/>
            <p:nvPr/>
          </p:nvSpPr>
          <p:spPr>
            <a:xfrm>
              <a:off x="6838950" y="2628900"/>
              <a:ext cx="114300" cy="9525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増減値"/>
            <p:cNvSpPr/>
            <p:nvPr/>
          </p:nvSpPr>
          <p:spPr>
            <a:xfrm>
              <a:off x="6991350" y="2590800"/>
              <a:ext cx="647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1"/>
                  </a:solidFill>
                </a:rPr>
                <a:t>+3.8%</a:t>
              </a:r>
            </a:p>
          </p:txBody>
        </p:sp>
      </p:grpSp>
      <p:grpSp>
        <p:nvGrpSpPr>
          <p:cNvPr id="28" name="KPIカード_粗利率"/>
          <p:cNvGrpSpPr/>
          <p:nvPr/>
        </p:nvGrpSpPr>
        <p:grpSpPr>
          <a:xfrm>
            <a:off x="8058150" y="1504950"/>
            <a:ext cx="3467100" cy="1428750"/>
            <a:chOff x="8058150" y="1504950"/>
            <a:chExt cx="3467100" cy="1428750"/>
          </a:xfrm>
        </p:grpSpPr>
        <p:sp>
          <p:nvSpPr>
            <p:cNvPr id="29" name="カード"/>
            <p:cNvSpPr/>
            <p:nvPr/>
          </p:nvSpPr>
          <p:spPr>
            <a:xfrm>
              <a:off x="8058150" y="1504950"/>
              <a:ext cx="3467100" cy="1428750"/>
            </a:xfrm>
            <a:prstGeom prst="roundRect">
              <a:avLst>
                <a:gd name="adj" fmla="val 5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指標名"/>
            <p:cNvSpPr/>
            <p:nvPr/>
          </p:nvSpPr>
          <p:spPr>
            <a:xfrm>
              <a:off x="8248650" y="1657350"/>
              <a:ext cx="3086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粗利率（%）</a:t>
              </a:r>
            </a:p>
          </p:txBody>
        </p:sp>
        <p:sp>
          <p:nvSpPr>
            <p:cNvPr id="31" name="数値"/>
            <p:cNvSpPr/>
            <p:nvPr/>
          </p:nvSpPr>
          <p:spPr>
            <a:xfrm>
              <a:off x="8248650" y="1885950"/>
              <a:ext cx="30861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000" b="1">
                  <a:solidFill>
                    <a:schemeClr val="dk2"/>
                  </a:solidFill>
                </a:rPr>
                <a:t>31.4</a:t>
              </a:r>
            </a:p>
          </p:txBody>
        </p:sp>
        <p:sp>
          <p:nvSpPr>
            <p:cNvPr id="32" name="比較基準"/>
            <p:cNvSpPr/>
            <p:nvPr/>
          </p:nvSpPr>
          <p:spPr>
            <a:xfrm>
              <a:off x="8248650" y="259080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前年比</a:t>
              </a:r>
            </a:p>
          </p:txBody>
        </p:sp>
        <p:sp>
          <p:nvSpPr>
            <p:cNvPr id="33" name="増減記号"/>
            <p:cNvSpPr/>
            <p:nvPr/>
          </p:nvSpPr>
          <p:spPr>
            <a:xfrm rot="10800000">
              <a:off x="10534650" y="2628900"/>
              <a:ext cx="114300" cy="952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増減値"/>
            <p:cNvSpPr/>
            <p:nvPr/>
          </p:nvSpPr>
          <p:spPr>
            <a:xfrm>
              <a:off x="10687050" y="2590800"/>
              <a:ext cx="647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2"/>
                  </a:solidFill>
                </a:rPr>
                <a:t>▲1.6pt</a:t>
              </a:r>
            </a:p>
          </p:txBody>
        </p:sp>
      </p:grpSp>
      <p:grpSp>
        <p:nvGrpSpPr>
          <p:cNvPr id="35" name="今月の総括"/>
          <p:cNvGrpSpPr/>
          <p:nvPr/>
        </p:nvGrpSpPr>
        <p:grpSpPr>
          <a:xfrm>
            <a:off x="666750" y="3219450"/>
            <a:ext cx="10858500" cy="1352550"/>
            <a:chOff x="666750" y="3219450"/>
            <a:chExt cx="10858500" cy="1352550"/>
          </a:xfrm>
        </p:grpSpPr>
        <p:sp>
          <p:nvSpPr>
            <p:cNvPr id="36" name="総括パネル"/>
            <p:cNvSpPr/>
            <p:nvPr/>
          </p:nvSpPr>
          <p:spPr>
            <a:xfrm>
              <a:off x="666750" y="3352800"/>
              <a:ext cx="10858500" cy="12192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ラベル帯"/>
            <p:cNvSpPr/>
            <p:nvPr/>
          </p:nvSpPr>
          <p:spPr>
            <a:xfrm>
              <a:off x="895350" y="3219450"/>
              <a:ext cx="1047750" cy="266700"/>
            </a:xfrm>
            <a:prstGeom prst="roundRect">
              <a:avLst>
                <a:gd name="adj" fmla="val 14285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ラベル帯文字"/>
            <p:cNvSpPr/>
            <p:nvPr/>
          </p:nvSpPr>
          <p:spPr>
            <a:xfrm>
              <a:off x="895350" y="3228975"/>
              <a:ext cx="1047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今月の総括</a:t>
              </a:r>
            </a:p>
          </p:txBody>
        </p:sp>
        <p:sp>
          <p:nvSpPr>
            <p:cNvPr id="39" name="総括本文"/>
            <p:cNvSpPr/>
            <p:nvPr/>
          </p:nvSpPr>
          <p:spPr>
            <a:xfrm>
              <a:off x="933450" y="3657600"/>
              <a:ext cx="103251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250">
                  <a:solidFill>
                    <a:schemeClr val="dk1"/>
                  </a:solidFill>
                </a:rPr>
                <a:t>増収増益を確保した一方、2つの火種が顕在化した。粗利率の低下（前年比▲1.6pt）は価格改定の前倒しで、</a:t>
              </a:r>
            </a:p>
            <a:p>
              <a:pPr algn="l">
                <a:lnSpc>
                  <a:spcPct val="160000"/>
                </a:lnSpc>
              </a:pPr>
              <a:r>
                <a:rPr sz="1250">
                  <a:solidFill>
                    <a:schemeClr val="dk1"/>
                  </a:solidFill>
                </a:rPr>
                <a:t>新規受注の減少（前月比▲8%）はリード獲得策で、いずれも7月中に対処する</a:t>
              </a:r>
            </a:p>
          </p:txBody>
        </p:sp>
      </p:grpSp>
      <p:grpSp>
        <p:nvGrpSpPr>
          <p:cNvPr id="40" name="通期進捗"/>
          <p:cNvGrpSpPr/>
          <p:nvPr/>
        </p:nvGrpSpPr>
        <p:grpSpPr>
          <a:xfrm>
            <a:off x="666750" y="4876800"/>
            <a:ext cx="10858500" cy="704850"/>
            <a:chOff x="666750" y="4876800"/>
            <a:chExt cx="10858500" cy="704850"/>
          </a:xfrm>
        </p:grpSpPr>
        <p:sp>
          <p:nvSpPr>
            <p:cNvPr id="41" name="進捗ラベル"/>
            <p:cNvSpPr/>
            <p:nvPr/>
          </p:nvSpPr>
          <p:spPr>
            <a:xfrm>
              <a:off x="666750" y="4972050"/>
              <a:ext cx="590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通期売上計画 150億円に対する進捗（1〜6月累計 72.5億円）</a:t>
              </a:r>
            </a:p>
          </p:txBody>
        </p:sp>
        <p:sp>
          <p:nvSpPr>
            <p:cNvPr id="42" name="進捗数値"/>
            <p:cNvSpPr/>
            <p:nvPr/>
          </p:nvSpPr>
          <p:spPr>
            <a:xfrm>
              <a:off x="10382250" y="4876800"/>
              <a:ext cx="11430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48%</a:t>
              </a:r>
            </a:p>
          </p:txBody>
        </p:sp>
        <p:sp>
          <p:nvSpPr>
            <p:cNvPr id="43" name="バー地"/>
            <p:cNvSpPr/>
            <p:nvPr/>
          </p:nvSpPr>
          <p:spPr>
            <a:xfrm>
              <a:off x="666750" y="5219700"/>
              <a:ext cx="10858500" cy="1333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バー実績"/>
            <p:cNvSpPr/>
            <p:nvPr/>
          </p:nvSpPr>
          <p:spPr>
            <a:xfrm>
              <a:off x="666750" y="5219700"/>
              <a:ext cx="5210175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" name="上期目安線"/>
            <p:cNvCxnSpPr/>
            <p:nvPr/>
          </p:nvCxnSpPr>
          <p:spPr>
            <a:xfrm>
              <a:off x="6096000" y="5162550"/>
              <a:ext cx="0" cy="247650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目安ラベル"/>
            <p:cNvSpPr/>
            <p:nvPr/>
          </p:nvSpPr>
          <p:spPr>
            <a:xfrm>
              <a:off x="5429250" y="5448300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上期の単純進捗目安 50%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2026年6月度｜業績ハイライト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売上高12.8億円は直近12ヶ月で最高。3ヶ月連続の計画超過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注：6月は速報値。計画は月次販売計画に基づく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出所：社内管理会計（2026年6月度）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03</a:t>
              </a:r>
            </a:p>
          </p:txBody>
        </p:sp>
      </p:grpSp>
      <p:grpSp>
        <p:nvGrpSpPr>
          <p:cNvPr id="11" name="図表タイトル"/>
          <p:cNvGrpSpPr/>
          <p:nvPr/>
        </p:nvGrpSpPr>
        <p:grpSpPr>
          <a:xfrm>
            <a:off x="666750" y="1219200"/>
            <a:ext cx="7372350" cy="171450"/>
            <a:chOff x="666750" y="1219200"/>
            <a:chExt cx="7372350" cy="171450"/>
          </a:xfrm>
        </p:grpSpPr>
        <p:sp>
          <p:nvSpPr>
            <p:cNvPr id="12" name="マーカー"/>
            <p:cNvSpPr/>
            <p:nvPr/>
          </p:nvSpPr>
          <p:spPr>
            <a:xfrm>
              <a:off x="666750" y="1238250"/>
              <a:ext cx="47625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図表タイトル"/>
            <p:cNvSpPr/>
            <p:nvPr/>
          </p:nvSpPr>
          <p:spPr>
            <a:xfrm>
              <a:off x="800100" y="1219200"/>
              <a:ext cx="7239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売上高の月次推移（億円・直近12ヶ月）</a:t>
              </a:r>
            </a:p>
          </p:txBody>
        </p:sp>
      </p:grpSp>
      <p:grpSp>
        <p:nvGrpSpPr>
          <p:cNvPr id="14" name="売上推移グラフ"/>
          <p:cNvGrpSpPr/>
          <p:nvPr/>
        </p:nvGrpSpPr>
        <p:grpSpPr>
          <a:xfrm>
            <a:off x="666750" y="1971675"/>
            <a:ext cx="10858500" cy="3552825"/>
            <a:chOff x="666750" y="1971675"/>
            <a:chExt cx="10858500" cy="3552825"/>
          </a:xfrm>
        </p:grpSpPr>
        <p:cxnSp>
          <p:nvCxnSpPr>
            <p:cNvPr id="15" name="基準線"/>
            <p:cNvCxnSpPr/>
            <p:nvPr/>
          </p:nvCxnSpPr>
          <p:spPr>
            <a:xfrm>
              <a:off x="666750" y="53340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棒1"/>
            <p:cNvSpPr/>
            <p:nvPr/>
          </p:nvSpPr>
          <p:spPr>
            <a:xfrm>
              <a:off x="1123950" y="2809875"/>
              <a:ext cx="609600" cy="25241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値1"/>
            <p:cNvSpPr/>
            <p:nvPr/>
          </p:nvSpPr>
          <p:spPr>
            <a:xfrm>
              <a:off x="1009650" y="26193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10.2</a:t>
              </a:r>
            </a:p>
          </p:txBody>
        </p:sp>
        <p:sp>
          <p:nvSpPr>
            <p:cNvPr id="18" name="項目1"/>
            <p:cNvSpPr/>
            <p:nvPr/>
          </p:nvSpPr>
          <p:spPr>
            <a:xfrm>
              <a:off x="100965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'25/7</a:t>
              </a:r>
            </a:p>
          </p:txBody>
        </p:sp>
        <p:sp>
          <p:nvSpPr>
            <p:cNvPr id="19" name="棒2"/>
            <p:cNvSpPr/>
            <p:nvPr/>
          </p:nvSpPr>
          <p:spPr>
            <a:xfrm>
              <a:off x="1971675" y="2733675"/>
              <a:ext cx="609600" cy="26003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値2"/>
            <p:cNvSpPr/>
            <p:nvPr/>
          </p:nvSpPr>
          <p:spPr>
            <a:xfrm>
              <a:off x="1857375" y="25431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10.5</a:t>
              </a:r>
            </a:p>
          </p:txBody>
        </p:sp>
        <p:sp>
          <p:nvSpPr>
            <p:cNvPr id="21" name="項目2"/>
            <p:cNvSpPr/>
            <p:nvPr/>
          </p:nvSpPr>
          <p:spPr>
            <a:xfrm>
              <a:off x="185737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8</a:t>
              </a:r>
            </a:p>
          </p:txBody>
        </p:sp>
        <p:sp>
          <p:nvSpPr>
            <p:cNvPr id="22" name="棒3"/>
            <p:cNvSpPr/>
            <p:nvPr/>
          </p:nvSpPr>
          <p:spPr>
            <a:xfrm>
              <a:off x="2819400" y="2828925"/>
              <a:ext cx="609600" cy="25050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値3"/>
            <p:cNvSpPr/>
            <p:nvPr/>
          </p:nvSpPr>
          <p:spPr>
            <a:xfrm>
              <a:off x="2705100" y="263842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10.1</a:t>
              </a:r>
            </a:p>
          </p:txBody>
        </p:sp>
        <p:sp>
          <p:nvSpPr>
            <p:cNvPr id="24" name="項目3"/>
            <p:cNvSpPr/>
            <p:nvPr/>
          </p:nvSpPr>
          <p:spPr>
            <a:xfrm>
              <a:off x="270510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9</a:t>
              </a:r>
            </a:p>
          </p:txBody>
        </p:sp>
        <p:sp>
          <p:nvSpPr>
            <p:cNvPr id="25" name="棒4"/>
            <p:cNvSpPr/>
            <p:nvPr/>
          </p:nvSpPr>
          <p:spPr>
            <a:xfrm>
              <a:off x="3667125" y="2657475"/>
              <a:ext cx="609600" cy="2676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値4"/>
            <p:cNvSpPr/>
            <p:nvPr/>
          </p:nvSpPr>
          <p:spPr>
            <a:xfrm>
              <a:off x="3552825" y="24669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10.8</a:t>
              </a:r>
            </a:p>
          </p:txBody>
        </p:sp>
        <p:sp>
          <p:nvSpPr>
            <p:cNvPr id="27" name="項目4"/>
            <p:cNvSpPr/>
            <p:nvPr/>
          </p:nvSpPr>
          <p:spPr>
            <a:xfrm>
              <a:off x="355282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10</a:t>
              </a:r>
            </a:p>
          </p:txBody>
        </p:sp>
        <p:sp>
          <p:nvSpPr>
            <p:cNvPr id="28" name="棒5"/>
            <p:cNvSpPr/>
            <p:nvPr/>
          </p:nvSpPr>
          <p:spPr>
            <a:xfrm>
              <a:off x="4514850" y="2562225"/>
              <a:ext cx="609600" cy="27717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値5"/>
            <p:cNvSpPr/>
            <p:nvPr/>
          </p:nvSpPr>
          <p:spPr>
            <a:xfrm>
              <a:off x="4400550" y="237172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11.2</a:t>
              </a:r>
            </a:p>
          </p:txBody>
        </p:sp>
        <p:sp>
          <p:nvSpPr>
            <p:cNvPr id="30" name="項目5"/>
            <p:cNvSpPr/>
            <p:nvPr/>
          </p:nvSpPr>
          <p:spPr>
            <a:xfrm>
              <a:off x="440055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11</a:t>
              </a:r>
            </a:p>
          </p:txBody>
        </p:sp>
        <p:sp>
          <p:nvSpPr>
            <p:cNvPr id="31" name="棒6"/>
            <p:cNvSpPr/>
            <p:nvPr/>
          </p:nvSpPr>
          <p:spPr>
            <a:xfrm>
              <a:off x="5362575" y="2609850"/>
              <a:ext cx="609600" cy="27241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値6"/>
            <p:cNvSpPr/>
            <p:nvPr/>
          </p:nvSpPr>
          <p:spPr>
            <a:xfrm>
              <a:off x="5248275" y="2419350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11.0</a:t>
              </a:r>
            </a:p>
          </p:txBody>
        </p:sp>
        <p:sp>
          <p:nvSpPr>
            <p:cNvPr id="33" name="項目6"/>
            <p:cNvSpPr/>
            <p:nvPr/>
          </p:nvSpPr>
          <p:spPr>
            <a:xfrm>
              <a:off x="524827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12</a:t>
              </a:r>
            </a:p>
          </p:txBody>
        </p:sp>
        <p:sp>
          <p:nvSpPr>
            <p:cNvPr id="34" name="棒7"/>
            <p:cNvSpPr/>
            <p:nvPr/>
          </p:nvSpPr>
          <p:spPr>
            <a:xfrm>
              <a:off x="6210300" y="2514600"/>
              <a:ext cx="609600" cy="2819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値7"/>
            <p:cNvSpPr/>
            <p:nvPr/>
          </p:nvSpPr>
          <p:spPr>
            <a:xfrm>
              <a:off x="6096000" y="2324100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11.4</a:t>
              </a:r>
            </a:p>
          </p:txBody>
        </p:sp>
        <p:sp>
          <p:nvSpPr>
            <p:cNvPr id="36" name="項目7"/>
            <p:cNvSpPr/>
            <p:nvPr/>
          </p:nvSpPr>
          <p:spPr>
            <a:xfrm>
              <a:off x="609600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'26/1</a:t>
              </a:r>
            </a:p>
          </p:txBody>
        </p:sp>
        <p:sp>
          <p:nvSpPr>
            <p:cNvPr id="37" name="棒8"/>
            <p:cNvSpPr/>
            <p:nvPr/>
          </p:nvSpPr>
          <p:spPr>
            <a:xfrm>
              <a:off x="7058025" y="2457450"/>
              <a:ext cx="609600" cy="2876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値8"/>
            <p:cNvSpPr/>
            <p:nvPr/>
          </p:nvSpPr>
          <p:spPr>
            <a:xfrm>
              <a:off x="6943725" y="2266950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11.6</a:t>
              </a:r>
            </a:p>
          </p:txBody>
        </p:sp>
        <p:sp>
          <p:nvSpPr>
            <p:cNvPr id="39" name="項目8"/>
            <p:cNvSpPr/>
            <p:nvPr/>
          </p:nvSpPr>
          <p:spPr>
            <a:xfrm>
              <a:off x="694372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40" name="棒9"/>
            <p:cNvSpPr/>
            <p:nvPr/>
          </p:nvSpPr>
          <p:spPr>
            <a:xfrm>
              <a:off x="7905750" y="2362200"/>
              <a:ext cx="609600" cy="2971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値9"/>
            <p:cNvSpPr/>
            <p:nvPr/>
          </p:nvSpPr>
          <p:spPr>
            <a:xfrm>
              <a:off x="7791450" y="2171700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12.0</a:t>
              </a:r>
            </a:p>
          </p:txBody>
        </p:sp>
        <p:sp>
          <p:nvSpPr>
            <p:cNvPr id="42" name="項目9"/>
            <p:cNvSpPr/>
            <p:nvPr/>
          </p:nvSpPr>
          <p:spPr>
            <a:xfrm>
              <a:off x="779145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3</a:t>
              </a:r>
            </a:p>
          </p:txBody>
        </p:sp>
        <p:sp>
          <p:nvSpPr>
            <p:cNvPr id="43" name="棒10"/>
            <p:cNvSpPr/>
            <p:nvPr/>
          </p:nvSpPr>
          <p:spPr>
            <a:xfrm>
              <a:off x="8753475" y="2314575"/>
              <a:ext cx="609600" cy="30194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値10"/>
            <p:cNvSpPr/>
            <p:nvPr/>
          </p:nvSpPr>
          <p:spPr>
            <a:xfrm>
              <a:off x="8639175" y="21240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12.2</a:t>
              </a:r>
            </a:p>
          </p:txBody>
        </p:sp>
        <p:sp>
          <p:nvSpPr>
            <p:cNvPr id="45" name="項目10"/>
            <p:cNvSpPr/>
            <p:nvPr/>
          </p:nvSpPr>
          <p:spPr>
            <a:xfrm>
              <a:off x="863917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4</a:t>
              </a:r>
            </a:p>
          </p:txBody>
        </p:sp>
        <p:sp>
          <p:nvSpPr>
            <p:cNvPr id="46" name="棒11"/>
            <p:cNvSpPr/>
            <p:nvPr/>
          </p:nvSpPr>
          <p:spPr>
            <a:xfrm>
              <a:off x="9601200" y="2238375"/>
              <a:ext cx="609600" cy="30956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値11"/>
            <p:cNvSpPr/>
            <p:nvPr/>
          </p:nvSpPr>
          <p:spPr>
            <a:xfrm>
              <a:off x="9486900" y="20478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12.5</a:t>
              </a:r>
            </a:p>
          </p:txBody>
        </p:sp>
        <p:sp>
          <p:nvSpPr>
            <p:cNvPr id="48" name="項目11"/>
            <p:cNvSpPr/>
            <p:nvPr/>
          </p:nvSpPr>
          <p:spPr>
            <a:xfrm>
              <a:off x="948690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49" name="棒12"/>
            <p:cNvSpPr/>
            <p:nvPr/>
          </p:nvSpPr>
          <p:spPr>
            <a:xfrm>
              <a:off x="10448925" y="2162175"/>
              <a:ext cx="609600" cy="31718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値12"/>
            <p:cNvSpPr/>
            <p:nvPr/>
          </p:nvSpPr>
          <p:spPr>
            <a:xfrm>
              <a:off x="10334625" y="19716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12.8</a:t>
              </a:r>
            </a:p>
          </p:txBody>
        </p:sp>
        <p:sp>
          <p:nvSpPr>
            <p:cNvPr id="51" name="項目12"/>
            <p:cNvSpPr/>
            <p:nvPr/>
          </p:nvSpPr>
          <p:spPr>
            <a:xfrm>
              <a:off x="1033462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6</a:t>
              </a:r>
            </a:p>
          </p:txBody>
        </p:sp>
      </p:grpSp>
      <p:grpSp>
        <p:nvGrpSpPr>
          <p:cNvPr id="52" name="計画超注記"/>
          <p:cNvGrpSpPr/>
          <p:nvPr/>
        </p:nvGrpSpPr>
        <p:grpSpPr>
          <a:xfrm>
            <a:off x="8562975" y="1676400"/>
            <a:ext cx="2686050" cy="304800"/>
            <a:chOff x="8562975" y="1676400"/>
            <a:chExt cx="2686050" cy="304800"/>
          </a:xfrm>
        </p:grpSpPr>
        <p:cxnSp>
          <p:nvCxnSpPr>
            <p:cNvPr id="53" name="範囲線"/>
            <p:cNvCxnSpPr/>
            <p:nvPr/>
          </p:nvCxnSpPr>
          <p:spPr>
            <a:xfrm>
              <a:off x="8753475" y="1905000"/>
              <a:ext cx="2305050" cy="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範囲線左"/>
            <p:cNvCxnSpPr/>
            <p:nvPr/>
          </p:nvCxnSpPr>
          <p:spPr>
            <a:xfrm>
              <a:off x="8753475" y="1905000"/>
              <a:ext cx="0" cy="7620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範囲線右"/>
            <p:cNvCxnSpPr/>
            <p:nvPr/>
          </p:nvCxnSpPr>
          <p:spPr>
            <a:xfrm>
              <a:off x="11058525" y="1905000"/>
              <a:ext cx="0" cy="7620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範囲ラベル"/>
            <p:cNvSpPr/>
            <p:nvPr/>
          </p:nvSpPr>
          <p:spPr>
            <a:xfrm>
              <a:off x="8562975" y="1676400"/>
              <a:ext cx="26860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3ヶ月連続 計画超（6月は計画比107%）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2026年6月度｜予実差異の要因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利益は計画比▲0.1億円。要対処は原価上昇▲0.2億円のみ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注：「内部」＝自社でコントロール可能な要因。販促費増は受注反転に向けた計画内の前倒し投資（P.09）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出所：社内管理会計（2026年6月度）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04</a:t>
              </a:r>
            </a:p>
          </p:txBody>
        </p:sp>
      </p:grpSp>
      <p:grpSp>
        <p:nvGrpSpPr>
          <p:cNvPr id="11" name="図表タイトル"/>
          <p:cNvGrpSpPr/>
          <p:nvPr/>
        </p:nvGrpSpPr>
        <p:grpSpPr>
          <a:xfrm>
            <a:off x="666750" y="1219200"/>
            <a:ext cx="7372350" cy="171450"/>
            <a:chOff x="666750" y="1219200"/>
            <a:chExt cx="7372350" cy="171450"/>
          </a:xfrm>
        </p:grpSpPr>
        <p:sp>
          <p:nvSpPr>
            <p:cNvPr id="12" name="マーカー"/>
            <p:cNvSpPr/>
            <p:nvPr/>
          </p:nvSpPr>
          <p:spPr>
            <a:xfrm>
              <a:off x="666750" y="1238250"/>
              <a:ext cx="47625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図表タイトル"/>
            <p:cNvSpPr/>
            <p:nvPr/>
          </p:nvSpPr>
          <p:spPr>
            <a:xfrm>
              <a:off x="800100" y="1219200"/>
              <a:ext cx="7239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営業利益の予実差異（億円）</a:t>
              </a:r>
            </a:p>
          </p:txBody>
        </p:sp>
      </p:grpSp>
      <p:grpSp>
        <p:nvGrpSpPr>
          <p:cNvPr id="14" name="滝グラフ"/>
          <p:cNvGrpSpPr/>
          <p:nvPr/>
        </p:nvGrpSpPr>
        <p:grpSpPr>
          <a:xfrm>
            <a:off x="476250" y="1604962"/>
            <a:ext cx="11239500" cy="4338638"/>
            <a:chOff x="476250" y="1604962"/>
            <a:chExt cx="11239500" cy="4338638"/>
          </a:xfrm>
        </p:grpSpPr>
        <p:cxnSp>
          <p:nvCxnSpPr>
            <p:cNvPr id="15" name="基準線"/>
            <p:cNvCxnSpPr/>
            <p:nvPr/>
          </p:nvCxnSpPr>
          <p:spPr>
            <a:xfrm>
              <a:off x="666750" y="54483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コネクタ1"/>
            <p:cNvCxnSpPr/>
            <p:nvPr/>
          </p:nvCxnSpPr>
          <p:spPr>
            <a:xfrm>
              <a:off x="1809750" y="2305050"/>
              <a:ext cx="1285875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コネクタ2"/>
            <p:cNvCxnSpPr/>
            <p:nvPr/>
          </p:nvCxnSpPr>
          <p:spPr>
            <a:xfrm>
              <a:off x="4238625" y="1833562"/>
              <a:ext cx="1285875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コネクタ3"/>
            <p:cNvCxnSpPr/>
            <p:nvPr/>
          </p:nvCxnSpPr>
          <p:spPr>
            <a:xfrm>
              <a:off x="6667500" y="2147887"/>
              <a:ext cx="1285875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コネクタ4"/>
            <p:cNvCxnSpPr/>
            <p:nvPr/>
          </p:nvCxnSpPr>
          <p:spPr>
            <a:xfrm>
              <a:off x="9096375" y="2462212"/>
              <a:ext cx="1285875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バー_計画"/>
            <p:cNvSpPr/>
            <p:nvPr/>
          </p:nvSpPr>
          <p:spPr>
            <a:xfrm>
              <a:off x="666750" y="2305050"/>
              <a:ext cx="1143000" cy="31432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値_計画"/>
            <p:cNvSpPr/>
            <p:nvPr/>
          </p:nvSpPr>
          <p:spPr>
            <a:xfrm>
              <a:off x="476250" y="207645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2.0</a:t>
              </a:r>
            </a:p>
          </p:txBody>
        </p:sp>
        <p:sp>
          <p:nvSpPr>
            <p:cNvPr id="22" name="項目_計画"/>
            <p:cNvSpPr/>
            <p:nvPr/>
          </p:nvSpPr>
          <p:spPr>
            <a:xfrm>
              <a:off x="476250" y="55435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計画</a:t>
              </a:r>
            </a:p>
          </p:txBody>
        </p:sp>
        <p:sp>
          <p:nvSpPr>
            <p:cNvPr id="23" name="バー_増収効果"/>
            <p:cNvSpPr/>
            <p:nvPr/>
          </p:nvSpPr>
          <p:spPr>
            <a:xfrm>
              <a:off x="3095625" y="1833562"/>
              <a:ext cx="1143000" cy="47148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値_増収効果"/>
            <p:cNvSpPr/>
            <p:nvPr/>
          </p:nvSpPr>
          <p:spPr>
            <a:xfrm>
              <a:off x="2905125" y="1604962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accent1"/>
                  </a:solidFill>
                </a:rPr>
                <a:t>+0.3</a:t>
              </a:r>
            </a:p>
          </p:txBody>
        </p:sp>
        <p:sp>
          <p:nvSpPr>
            <p:cNvPr id="25" name="項目_増収効果"/>
            <p:cNvSpPr/>
            <p:nvPr/>
          </p:nvSpPr>
          <p:spPr>
            <a:xfrm>
              <a:off x="2905125" y="55435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増収効果</a:t>
              </a:r>
            </a:p>
          </p:txBody>
        </p:sp>
        <p:sp>
          <p:nvSpPr>
            <p:cNvPr id="26" name="区分_増収効果"/>
            <p:cNvSpPr/>
            <p:nvPr/>
          </p:nvSpPr>
          <p:spPr>
            <a:xfrm>
              <a:off x="3400425" y="5753100"/>
              <a:ext cx="533400" cy="1905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区分_増収効果文字"/>
            <p:cNvSpPr/>
            <p:nvPr/>
          </p:nvSpPr>
          <p:spPr>
            <a:xfrm>
              <a:off x="3400425" y="5762625"/>
              <a:ext cx="533400" cy="1809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内部</a:t>
              </a:r>
            </a:p>
          </p:txBody>
        </p:sp>
        <p:sp>
          <p:nvSpPr>
            <p:cNvPr id="28" name="バー_原価上昇"/>
            <p:cNvSpPr/>
            <p:nvPr/>
          </p:nvSpPr>
          <p:spPr>
            <a:xfrm>
              <a:off x="5524500" y="1833562"/>
              <a:ext cx="1143000" cy="3143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値_原価上昇"/>
            <p:cNvSpPr/>
            <p:nvPr/>
          </p:nvSpPr>
          <p:spPr>
            <a:xfrm>
              <a:off x="5334000" y="1604962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accent2"/>
                  </a:solidFill>
                </a:rPr>
                <a:t>▲0.2</a:t>
              </a:r>
            </a:p>
          </p:txBody>
        </p:sp>
        <p:sp>
          <p:nvSpPr>
            <p:cNvPr id="30" name="項目_原価上昇"/>
            <p:cNvSpPr/>
            <p:nvPr/>
          </p:nvSpPr>
          <p:spPr>
            <a:xfrm>
              <a:off x="5334000" y="55435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原価上昇</a:t>
              </a:r>
            </a:p>
          </p:txBody>
        </p:sp>
        <p:sp>
          <p:nvSpPr>
            <p:cNvPr id="31" name="区分_原価上昇"/>
            <p:cNvSpPr/>
            <p:nvPr/>
          </p:nvSpPr>
          <p:spPr>
            <a:xfrm>
              <a:off x="5829300" y="5753100"/>
              <a:ext cx="533400" cy="190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区分_原価上昇文字"/>
            <p:cNvSpPr/>
            <p:nvPr/>
          </p:nvSpPr>
          <p:spPr>
            <a:xfrm>
              <a:off x="5829300" y="5762625"/>
              <a:ext cx="533400" cy="1809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外部</a:t>
              </a:r>
            </a:p>
          </p:txBody>
        </p:sp>
        <p:sp>
          <p:nvSpPr>
            <p:cNvPr id="33" name="バー_販促費増"/>
            <p:cNvSpPr/>
            <p:nvPr/>
          </p:nvSpPr>
          <p:spPr>
            <a:xfrm>
              <a:off x="7953375" y="2147887"/>
              <a:ext cx="1143000" cy="3143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値_販促費増"/>
            <p:cNvSpPr/>
            <p:nvPr/>
          </p:nvSpPr>
          <p:spPr>
            <a:xfrm>
              <a:off x="7762875" y="1919287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accent3"/>
                  </a:solidFill>
                </a:rPr>
                <a:t>▲0.2</a:t>
              </a:r>
            </a:p>
          </p:txBody>
        </p:sp>
        <p:sp>
          <p:nvSpPr>
            <p:cNvPr id="35" name="項目_販促費増"/>
            <p:cNvSpPr/>
            <p:nvPr/>
          </p:nvSpPr>
          <p:spPr>
            <a:xfrm>
              <a:off x="7762875" y="55435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販促費増</a:t>
              </a:r>
            </a:p>
          </p:txBody>
        </p:sp>
        <p:sp>
          <p:nvSpPr>
            <p:cNvPr id="36" name="区分_販促費増"/>
            <p:cNvSpPr/>
            <p:nvPr/>
          </p:nvSpPr>
          <p:spPr>
            <a:xfrm>
              <a:off x="8258175" y="5753100"/>
              <a:ext cx="533400" cy="1905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区分_販促費増文字"/>
            <p:cNvSpPr/>
            <p:nvPr/>
          </p:nvSpPr>
          <p:spPr>
            <a:xfrm>
              <a:off x="8258175" y="5762625"/>
              <a:ext cx="533400" cy="1809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内部</a:t>
              </a:r>
            </a:p>
          </p:txBody>
        </p:sp>
        <p:sp>
          <p:nvSpPr>
            <p:cNvPr id="38" name="バー_実績"/>
            <p:cNvSpPr/>
            <p:nvPr/>
          </p:nvSpPr>
          <p:spPr>
            <a:xfrm>
              <a:off x="10382250" y="2462212"/>
              <a:ext cx="1143000" cy="2986087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値_実績"/>
            <p:cNvSpPr/>
            <p:nvPr/>
          </p:nvSpPr>
          <p:spPr>
            <a:xfrm>
              <a:off x="10191750" y="2233612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1.9</a:t>
              </a:r>
            </a:p>
          </p:txBody>
        </p:sp>
        <p:sp>
          <p:nvSpPr>
            <p:cNvPr id="40" name="項目_実績"/>
            <p:cNvSpPr/>
            <p:nvPr/>
          </p:nvSpPr>
          <p:spPr>
            <a:xfrm>
              <a:off x="10191750" y="55435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実績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2026年6月度｜セグメント別の状況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A・B事業の2桁成長が牽引。C事業のみ前年割れが継続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注：右端は前年同月比。セグメント区分は2026年度の管理区分に基づく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出所：社内管理会計（2026年6月度）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05</a:t>
              </a:r>
            </a:p>
          </p:txBody>
        </p:sp>
      </p:grpSp>
      <p:grpSp>
        <p:nvGrpSpPr>
          <p:cNvPr id="11" name="図表タイトル"/>
          <p:cNvGrpSpPr/>
          <p:nvPr/>
        </p:nvGrpSpPr>
        <p:grpSpPr>
          <a:xfrm>
            <a:off x="666750" y="1219200"/>
            <a:ext cx="7372350" cy="171450"/>
            <a:chOff x="666750" y="1219200"/>
            <a:chExt cx="7372350" cy="171450"/>
          </a:xfrm>
        </p:grpSpPr>
        <p:sp>
          <p:nvSpPr>
            <p:cNvPr id="12" name="マーカー"/>
            <p:cNvSpPr/>
            <p:nvPr/>
          </p:nvSpPr>
          <p:spPr>
            <a:xfrm>
              <a:off x="666750" y="1238250"/>
              <a:ext cx="47625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図表タイトル"/>
            <p:cNvSpPr/>
            <p:nvPr/>
          </p:nvSpPr>
          <p:spPr>
            <a:xfrm>
              <a:off x="800100" y="1219200"/>
              <a:ext cx="7239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セグメント別売上（6月・億円）</a:t>
              </a:r>
            </a:p>
          </p:txBody>
        </p:sp>
      </p:grpSp>
      <p:grpSp>
        <p:nvGrpSpPr>
          <p:cNvPr id="14" name="凡例"/>
          <p:cNvGrpSpPr/>
          <p:nvPr/>
        </p:nvGrpSpPr>
        <p:grpSpPr>
          <a:xfrm>
            <a:off x="9048750" y="1228725"/>
            <a:ext cx="1809750" cy="152400"/>
            <a:chOff x="9048750" y="1228725"/>
            <a:chExt cx="1809750" cy="152400"/>
          </a:xfrm>
        </p:grpSpPr>
        <p:sp>
          <p:nvSpPr>
            <p:cNvPr id="15" name="凡例_当月色"/>
            <p:cNvSpPr/>
            <p:nvPr/>
          </p:nvSpPr>
          <p:spPr>
            <a:xfrm>
              <a:off x="9048750" y="1257300"/>
              <a:ext cx="1333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凡例_当月"/>
            <p:cNvSpPr/>
            <p:nvPr/>
          </p:nvSpPr>
          <p:spPr>
            <a:xfrm>
              <a:off x="9239250" y="1228725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当月</a:t>
              </a:r>
            </a:p>
          </p:txBody>
        </p:sp>
        <p:sp>
          <p:nvSpPr>
            <p:cNvPr id="17" name="凡例_前年色"/>
            <p:cNvSpPr/>
            <p:nvPr/>
          </p:nvSpPr>
          <p:spPr>
            <a:xfrm>
              <a:off x="9810750" y="1257300"/>
              <a:ext cx="133350" cy="952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凡例_前年"/>
            <p:cNvSpPr/>
            <p:nvPr/>
          </p:nvSpPr>
          <p:spPr>
            <a:xfrm>
              <a:off x="10001250" y="1228725"/>
              <a:ext cx="857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前年同月</a:t>
              </a:r>
            </a:p>
          </p:txBody>
        </p:sp>
      </p:grpSp>
      <p:grpSp>
        <p:nvGrpSpPr>
          <p:cNvPr id="19" name="セグメント_A事業"/>
          <p:cNvGrpSpPr/>
          <p:nvPr/>
        </p:nvGrpSpPr>
        <p:grpSpPr>
          <a:xfrm>
            <a:off x="666750" y="1619250"/>
            <a:ext cx="10858500" cy="590550"/>
            <a:chOff x="666750" y="1619250"/>
            <a:chExt cx="10858500" cy="590550"/>
          </a:xfrm>
        </p:grpSpPr>
        <p:sp>
          <p:nvSpPr>
            <p:cNvPr id="20" name="事業名"/>
            <p:cNvSpPr/>
            <p:nvPr/>
          </p:nvSpPr>
          <p:spPr>
            <a:xfrm>
              <a:off x="666750" y="171450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A事業</a:t>
              </a:r>
            </a:p>
          </p:txBody>
        </p:sp>
        <p:sp>
          <p:nvSpPr>
            <p:cNvPr id="21" name="事業説明"/>
            <p:cNvSpPr/>
            <p:nvPr/>
          </p:nvSpPr>
          <p:spPr>
            <a:xfrm>
              <a:off x="666750" y="1943100"/>
              <a:ext cx="1524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主力製品</a:t>
              </a:r>
            </a:p>
          </p:txBody>
        </p:sp>
        <p:cxnSp>
          <p:nvCxnSpPr>
            <p:cNvPr id="22" name="基準線"/>
            <p:cNvCxnSpPr/>
            <p:nvPr/>
          </p:nvCxnSpPr>
          <p:spPr>
            <a:xfrm>
              <a:off x="2381250" y="1619250"/>
              <a:ext cx="0" cy="5905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当月バー"/>
            <p:cNvSpPr/>
            <p:nvPr/>
          </p:nvSpPr>
          <p:spPr>
            <a:xfrm>
              <a:off x="2381250" y="1676400"/>
              <a:ext cx="5143500" cy="209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当月値"/>
            <p:cNvSpPr/>
            <p:nvPr/>
          </p:nvSpPr>
          <p:spPr>
            <a:xfrm>
              <a:off x="7620000" y="1704975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6.0</a:t>
              </a:r>
            </a:p>
          </p:txBody>
        </p:sp>
        <p:sp>
          <p:nvSpPr>
            <p:cNvPr id="25" name="前年バー"/>
            <p:cNvSpPr/>
            <p:nvPr/>
          </p:nvSpPr>
          <p:spPr>
            <a:xfrm>
              <a:off x="2381250" y="1943100"/>
              <a:ext cx="4457700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前年値"/>
            <p:cNvSpPr/>
            <p:nvPr/>
          </p:nvSpPr>
          <p:spPr>
            <a:xfrm>
              <a:off x="6934200" y="1971675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5.2</a:t>
              </a:r>
            </a:p>
          </p:txBody>
        </p:sp>
        <p:sp>
          <p:nvSpPr>
            <p:cNvPr id="27" name="増減記号"/>
            <p:cNvSpPr/>
            <p:nvPr/>
          </p:nvSpPr>
          <p:spPr>
            <a:xfrm>
              <a:off x="8382000" y="1847850"/>
              <a:ext cx="114300" cy="9525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前年比"/>
            <p:cNvSpPr/>
            <p:nvPr/>
          </p:nvSpPr>
          <p:spPr>
            <a:xfrm>
              <a:off x="8534400" y="1809750"/>
              <a:ext cx="609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+15%</a:t>
              </a:r>
            </a:p>
          </p:txBody>
        </p:sp>
        <p:sp>
          <p:nvSpPr>
            <p:cNvPr id="29" name="コメント"/>
            <p:cNvSpPr/>
            <p:nvPr/>
          </p:nvSpPr>
          <p:spPr>
            <a:xfrm>
              <a:off x="9296400" y="1752600"/>
              <a:ext cx="22288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大手向けの更新需要が堅調</a:t>
              </a:r>
            </a:p>
          </p:txBody>
        </p:sp>
      </p:grpSp>
      <p:grpSp>
        <p:nvGrpSpPr>
          <p:cNvPr id="30" name="セグメント_B事業"/>
          <p:cNvGrpSpPr/>
          <p:nvPr/>
        </p:nvGrpSpPr>
        <p:grpSpPr>
          <a:xfrm>
            <a:off x="666750" y="2743200"/>
            <a:ext cx="10858500" cy="590550"/>
            <a:chOff x="666750" y="2743200"/>
            <a:chExt cx="10858500" cy="590550"/>
          </a:xfrm>
        </p:grpSpPr>
        <p:sp>
          <p:nvSpPr>
            <p:cNvPr id="31" name="事業名"/>
            <p:cNvSpPr/>
            <p:nvPr/>
          </p:nvSpPr>
          <p:spPr>
            <a:xfrm>
              <a:off x="666750" y="283845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B事業</a:t>
              </a:r>
            </a:p>
          </p:txBody>
        </p:sp>
        <p:sp>
          <p:nvSpPr>
            <p:cNvPr id="32" name="事業説明"/>
            <p:cNvSpPr/>
            <p:nvPr/>
          </p:nvSpPr>
          <p:spPr>
            <a:xfrm>
              <a:off x="666750" y="3067050"/>
              <a:ext cx="1524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サービス</a:t>
              </a:r>
            </a:p>
          </p:txBody>
        </p:sp>
        <p:cxnSp>
          <p:nvCxnSpPr>
            <p:cNvPr id="33" name="基準線"/>
            <p:cNvCxnSpPr/>
            <p:nvPr/>
          </p:nvCxnSpPr>
          <p:spPr>
            <a:xfrm>
              <a:off x="2381250" y="2743200"/>
              <a:ext cx="0" cy="5905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当月バー"/>
            <p:cNvSpPr/>
            <p:nvPr/>
          </p:nvSpPr>
          <p:spPr>
            <a:xfrm>
              <a:off x="2381250" y="2800350"/>
              <a:ext cx="3514724" cy="209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当月値"/>
            <p:cNvSpPr/>
            <p:nvPr/>
          </p:nvSpPr>
          <p:spPr>
            <a:xfrm>
              <a:off x="5991225" y="2828925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4.1</a:t>
              </a:r>
            </a:p>
          </p:txBody>
        </p:sp>
        <p:sp>
          <p:nvSpPr>
            <p:cNvPr id="36" name="前年バー"/>
            <p:cNvSpPr/>
            <p:nvPr/>
          </p:nvSpPr>
          <p:spPr>
            <a:xfrm>
              <a:off x="2381250" y="3067050"/>
              <a:ext cx="2914650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前年値"/>
            <p:cNvSpPr/>
            <p:nvPr/>
          </p:nvSpPr>
          <p:spPr>
            <a:xfrm>
              <a:off x="5391150" y="3095625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3.4</a:t>
              </a:r>
            </a:p>
          </p:txBody>
        </p:sp>
        <p:sp>
          <p:nvSpPr>
            <p:cNvPr id="38" name="増減記号"/>
            <p:cNvSpPr/>
            <p:nvPr/>
          </p:nvSpPr>
          <p:spPr>
            <a:xfrm>
              <a:off x="8382000" y="2971800"/>
              <a:ext cx="114300" cy="9525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前年比"/>
            <p:cNvSpPr/>
            <p:nvPr/>
          </p:nvSpPr>
          <p:spPr>
            <a:xfrm>
              <a:off x="8534400" y="2933700"/>
              <a:ext cx="609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+21%</a:t>
              </a:r>
            </a:p>
          </p:txBody>
        </p:sp>
        <p:sp>
          <p:nvSpPr>
            <p:cNvPr id="40" name="コメント"/>
            <p:cNvSpPr/>
            <p:nvPr/>
          </p:nvSpPr>
          <p:spPr>
            <a:xfrm>
              <a:off x="9296400" y="2876550"/>
              <a:ext cx="22288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新サービスが計画超で伸長</a:t>
              </a:r>
            </a:p>
          </p:txBody>
        </p:sp>
      </p:grpSp>
      <p:grpSp>
        <p:nvGrpSpPr>
          <p:cNvPr id="41" name="セグメント_C事業"/>
          <p:cNvGrpSpPr/>
          <p:nvPr/>
        </p:nvGrpSpPr>
        <p:grpSpPr>
          <a:xfrm>
            <a:off x="666750" y="3867150"/>
            <a:ext cx="10858500" cy="590550"/>
            <a:chOff x="666750" y="3867150"/>
            <a:chExt cx="10858500" cy="590550"/>
          </a:xfrm>
        </p:grpSpPr>
        <p:sp>
          <p:nvSpPr>
            <p:cNvPr id="42" name="事業名"/>
            <p:cNvSpPr/>
            <p:nvPr/>
          </p:nvSpPr>
          <p:spPr>
            <a:xfrm>
              <a:off x="666750" y="396240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C事業</a:t>
              </a:r>
            </a:p>
          </p:txBody>
        </p:sp>
        <p:sp>
          <p:nvSpPr>
            <p:cNvPr id="43" name="事業説明"/>
            <p:cNvSpPr/>
            <p:nvPr/>
          </p:nvSpPr>
          <p:spPr>
            <a:xfrm>
              <a:off x="666750" y="4191000"/>
              <a:ext cx="1524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受託開発</a:t>
              </a:r>
            </a:p>
          </p:txBody>
        </p:sp>
        <p:cxnSp>
          <p:nvCxnSpPr>
            <p:cNvPr id="44" name="基準線"/>
            <p:cNvCxnSpPr/>
            <p:nvPr/>
          </p:nvCxnSpPr>
          <p:spPr>
            <a:xfrm>
              <a:off x="2381250" y="3867150"/>
              <a:ext cx="0" cy="5905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当月バー"/>
            <p:cNvSpPr/>
            <p:nvPr/>
          </p:nvSpPr>
          <p:spPr>
            <a:xfrm>
              <a:off x="2381250" y="3924300"/>
              <a:ext cx="2314575" cy="209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当月値"/>
            <p:cNvSpPr/>
            <p:nvPr/>
          </p:nvSpPr>
          <p:spPr>
            <a:xfrm>
              <a:off x="4791075" y="3952875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2.7</a:t>
              </a:r>
            </a:p>
          </p:txBody>
        </p:sp>
        <p:sp>
          <p:nvSpPr>
            <p:cNvPr id="47" name="前年バー"/>
            <p:cNvSpPr/>
            <p:nvPr/>
          </p:nvSpPr>
          <p:spPr>
            <a:xfrm>
              <a:off x="2381250" y="4191000"/>
              <a:ext cx="2657475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前年値"/>
            <p:cNvSpPr/>
            <p:nvPr/>
          </p:nvSpPr>
          <p:spPr>
            <a:xfrm>
              <a:off x="5133975" y="4219575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3.1</a:t>
              </a:r>
            </a:p>
          </p:txBody>
        </p:sp>
        <p:sp>
          <p:nvSpPr>
            <p:cNvPr id="49" name="増減記号"/>
            <p:cNvSpPr/>
            <p:nvPr/>
          </p:nvSpPr>
          <p:spPr>
            <a:xfrm rot="10800000">
              <a:off x="8382000" y="4095750"/>
              <a:ext cx="114300" cy="952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前年比"/>
            <p:cNvSpPr/>
            <p:nvPr/>
          </p:nvSpPr>
          <p:spPr>
            <a:xfrm>
              <a:off x="8534400" y="4057650"/>
              <a:ext cx="609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2"/>
                  </a:solidFill>
                </a:rPr>
                <a:t>▲13%</a:t>
              </a:r>
            </a:p>
          </p:txBody>
        </p:sp>
        <p:sp>
          <p:nvSpPr>
            <p:cNvPr id="51" name="コメント"/>
            <p:cNvSpPr/>
            <p:nvPr/>
          </p:nvSpPr>
          <p:spPr>
            <a:xfrm>
              <a:off x="9296400" y="4000500"/>
              <a:ext cx="22288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新規受注の減少が直撃（P.08）</a:t>
              </a:r>
            </a:p>
          </p:txBody>
        </p:sp>
      </p:grpSp>
      <p:grpSp>
        <p:nvGrpSpPr>
          <p:cNvPr id="52" name="示唆"/>
          <p:cNvGrpSpPr/>
          <p:nvPr/>
        </p:nvGrpSpPr>
        <p:grpSpPr>
          <a:xfrm>
            <a:off x="666750" y="5067300"/>
            <a:ext cx="10858500" cy="876300"/>
            <a:chOff x="666750" y="5067300"/>
            <a:chExt cx="10858500" cy="876300"/>
          </a:xfrm>
        </p:grpSpPr>
        <p:sp>
          <p:nvSpPr>
            <p:cNvPr id="53" name="示唆パネル"/>
            <p:cNvSpPr/>
            <p:nvPr/>
          </p:nvSpPr>
          <p:spPr>
            <a:xfrm>
              <a:off x="666750" y="5200650"/>
              <a:ext cx="10858500" cy="742950"/>
            </a:xfrm>
            <a:prstGeom prst="roundRect">
              <a:avLst>
                <a:gd name="adj" fmla="val 10256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ラベル帯"/>
            <p:cNvSpPr/>
            <p:nvPr/>
          </p:nvSpPr>
          <p:spPr>
            <a:xfrm>
              <a:off x="895350" y="5067300"/>
              <a:ext cx="609600" cy="266700"/>
            </a:xfrm>
            <a:prstGeom prst="roundRect">
              <a:avLst>
                <a:gd name="adj" fmla="val 14285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ラベル帯文字"/>
            <p:cNvSpPr/>
            <p:nvPr/>
          </p:nvSpPr>
          <p:spPr>
            <a:xfrm>
              <a:off x="895350" y="5076825"/>
              <a:ext cx="6096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示唆</a:t>
              </a:r>
            </a:p>
          </p:txBody>
        </p:sp>
        <p:sp>
          <p:nvSpPr>
            <p:cNvPr id="56" name="示唆本文"/>
            <p:cNvSpPr/>
            <p:nvPr/>
          </p:nvSpPr>
          <p:spPr>
            <a:xfrm>
              <a:off x="933450" y="5448300"/>
              <a:ext cx="103251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C事業の減速は市況要因ではなく新規受注の減少による。粗利改善と並行して、7月はリード獲得策を集中投下する（P.09）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2026年6月度｜重点施策の進捗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重点4施策は概ね計画線。原価低減のみ20pt遅延で要対処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注：進捗はマイルストーン消化率。縦線は6月末時点の計画値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出所：各施策の週次報告（2026年6月27日時点）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06</a:t>
              </a:r>
            </a:p>
          </p:txBody>
        </p:sp>
      </p:grpSp>
      <p:grpSp>
        <p:nvGrpSpPr>
          <p:cNvPr id="11" name="図表タイトル"/>
          <p:cNvGrpSpPr/>
          <p:nvPr/>
        </p:nvGrpSpPr>
        <p:grpSpPr>
          <a:xfrm>
            <a:off x="666750" y="1219200"/>
            <a:ext cx="7372350" cy="171450"/>
            <a:chOff x="666750" y="1219200"/>
            <a:chExt cx="7372350" cy="171450"/>
          </a:xfrm>
        </p:grpSpPr>
        <p:sp>
          <p:nvSpPr>
            <p:cNvPr id="12" name="マーカー"/>
            <p:cNvSpPr/>
            <p:nvPr/>
          </p:nvSpPr>
          <p:spPr>
            <a:xfrm>
              <a:off x="666750" y="1238250"/>
              <a:ext cx="47625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図表タイトル"/>
            <p:cNvSpPr/>
            <p:nvPr/>
          </p:nvSpPr>
          <p:spPr>
            <a:xfrm>
              <a:off x="800100" y="1219200"/>
              <a:ext cx="7239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Q2重点施策の進捗（6月末時点・計画対比）</a:t>
              </a:r>
            </a:p>
          </p:txBody>
        </p:sp>
      </p:grpSp>
      <p:grpSp>
        <p:nvGrpSpPr>
          <p:cNvPr id="14" name="列見出し"/>
          <p:cNvGrpSpPr/>
          <p:nvPr/>
        </p:nvGrpSpPr>
        <p:grpSpPr>
          <a:xfrm>
            <a:off x="666750" y="1504950"/>
            <a:ext cx="10858500" cy="133350"/>
            <a:chOff x="666750" y="1504950"/>
            <a:chExt cx="10858500" cy="133350"/>
          </a:xfrm>
        </p:grpSpPr>
        <p:sp>
          <p:nvSpPr>
            <p:cNvPr id="15" name="列_施策"/>
            <p:cNvSpPr/>
            <p:nvPr/>
          </p:nvSpPr>
          <p:spPr>
            <a:xfrm>
              <a:off x="666750" y="1504950"/>
              <a:ext cx="2476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施策</a:t>
              </a:r>
            </a:p>
          </p:txBody>
        </p:sp>
        <p:sp>
          <p:nvSpPr>
            <p:cNvPr id="16" name="列_進捗"/>
            <p:cNvSpPr/>
            <p:nvPr/>
          </p:nvSpPr>
          <p:spPr>
            <a:xfrm>
              <a:off x="3429000" y="1504950"/>
              <a:ext cx="3429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進捗（バー＝実績、縦線＝計画）</a:t>
              </a:r>
            </a:p>
          </p:txBody>
        </p:sp>
        <p:sp>
          <p:nvSpPr>
            <p:cNvPr id="17" name="列_実績"/>
            <p:cNvSpPr/>
            <p:nvPr/>
          </p:nvSpPr>
          <p:spPr>
            <a:xfrm>
              <a:off x="7096125" y="15049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実績</a:t>
              </a:r>
            </a:p>
          </p:txBody>
        </p:sp>
        <p:sp>
          <p:nvSpPr>
            <p:cNvPr id="18" name="列_状況"/>
            <p:cNvSpPr/>
            <p:nvPr/>
          </p:nvSpPr>
          <p:spPr>
            <a:xfrm>
              <a:off x="7762875" y="1504950"/>
              <a:ext cx="8572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状況</a:t>
              </a:r>
            </a:p>
          </p:txBody>
        </p:sp>
        <p:sp>
          <p:nvSpPr>
            <p:cNvPr id="19" name="列_備考"/>
            <p:cNvSpPr/>
            <p:nvPr/>
          </p:nvSpPr>
          <p:spPr>
            <a:xfrm>
              <a:off x="8810625" y="1504950"/>
              <a:ext cx="2714625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備考</a:t>
              </a:r>
            </a:p>
          </p:txBody>
        </p:sp>
      </p:grpSp>
      <p:grpSp>
        <p:nvGrpSpPr>
          <p:cNvPr id="20" name="施策1_新製品シリー"/>
          <p:cNvGrpSpPr/>
          <p:nvPr/>
        </p:nvGrpSpPr>
        <p:grpSpPr>
          <a:xfrm>
            <a:off x="666750" y="1828800"/>
            <a:ext cx="10858500" cy="419100"/>
            <a:chOff x="666750" y="1828800"/>
            <a:chExt cx="10858500" cy="419100"/>
          </a:xfrm>
        </p:grpSpPr>
        <p:sp>
          <p:nvSpPr>
            <p:cNvPr id="21" name="施策名"/>
            <p:cNvSpPr/>
            <p:nvPr/>
          </p:nvSpPr>
          <p:spPr>
            <a:xfrm>
              <a:off x="666750" y="1847850"/>
              <a:ext cx="2571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新製品シリーズ拡販</a:t>
              </a:r>
            </a:p>
          </p:txBody>
        </p:sp>
        <p:sp>
          <p:nvSpPr>
            <p:cNvPr id="22" name="担当"/>
            <p:cNvSpPr/>
            <p:nvPr/>
          </p:nvSpPr>
          <p:spPr>
            <a:xfrm>
              <a:off x="666750" y="2095500"/>
              <a:ext cx="2571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担当：営業本部</a:t>
              </a:r>
            </a:p>
          </p:txBody>
        </p:sp>
        <p:sp>
          <p:nvSpPr>
            <p:cNvPr id="23" name="バー地"/>
            <p:cNvSpPr/>
            <p:nvPr/>
          </p:nvSpPr>
          <p:spPr>
            <a:xfrm>
              <a:off x="3429000" y="1943100"/>
              <a:ext cx="3429000" cy="1333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バー実績"/>
            <p:cNvSpPr/>
            <p:nvPr/>
          </p:nvSpPr>
          <p:spPr>
            <a:xfrm>
              <a:off x="3429000" y="1943100"/>
              <a:ext cx="2571750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計画線"/>
            <p:cNvCxnSpPr/>
            <p:nvPr/>
          </p:nvCxnSpPr>
          <p:spPr>
            <a:xfrm>
              <a:off x="5829300" y="1866900"/>
              <a:ext cx="0" cy="285750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実績値"/>
            <p:cNvSpPr/>
            <p:nvPr/>
          </p:nvSpPr>
          <p:spPr>
            <a:xfrm>
              <a:off x="7096125" y="1905000"/>
              <a:ext cx="571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75%</a:t>
              </a:r>
            </a:p>
          </p:txBody>
        </p:sp>
        <p:sp>
          <p:nvSpPr>
            <p:cNvPr id="27" name="状況ピル"/>
            <p:cNvSpPr/>
            <p:nvPr/>
          </p:nvSpPr>
          <p:spPr>
            <a:xfrm>
              <a:off x="7762875" y="1885950"/>
              <a:ext cx="85725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状況ピル文字"/>
            <p:cNvSpPr/>
            <p:nvPr/>
          </p:nvSpPr>
          <p:spPr>
            <a:xfrm>
              <a:off x="7762875" y="1895475"/>
              <a:ext cx="85725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順調</a:t>
              </a:r>
            </a:p>
          </p:txBody>
        </p:sp>
        <p:sp>
          <p:nvSpPr>
            <p:cNvPr id="29" name="備考"/>
            <p:cNvSpPr/>
            <p:nvPr/>
          </p:nvSpPr>
          <p:spPr>
            <a:xfrm>
              <a:off x="8810625" y="1828800"/>
              <a:ext cx="2714625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大手2社で採用が決定。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下期の量産化に向け準備中</a:t>
              </a:r>
            </a:p>
          </p:txBody>
        </p:sp>
      </p:grpSp>
      <p:grpSp>
        <p:nvGrpSpPr>
          <p:cNvPr id="30" name="施策2_原価低減プロ"/>
          <p:cNvGrpSpPr/>
          <p:nvPr/>
        </p:nvGrpSpPr>
        <p:grpSpPr>
          <a:xfrm>
            <a:off x="666750" y="2676525"/>
            <a:ext cx="10858500" cy="571500"/>
            <a:chOff x="666750" y="2676525"/>
            <a:chExt cx="10858500" cy="571500"/>
          </a:xfrm>
        </p:grpSpPr>
        <p:cxnSp>
          <p:nvCxnSpPr>
            <p:cNvPr id="31" name="行区切り"/>
            <p:cNvCxnSpPr/>
            <p:nvPr/>
          </p:nvCxnSpPr>
          <p:spPr>
            <a:xfrm>
              <a:off x="666750" y="2676525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施策名"/>
            <p:cNvSpPr/>
            <p:nvPr/>
          </p:nvSpPr>
          <p:spPr>
            <a:xfrm>
              <a:off x="666750" y="2847975"/>
              <a:ext cx="2571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原価低減プログラム</a:t>
              </a:r>
            </a:p>
          </p:txBody>
        </p:sp>
        <p:sp>
          <p:nvSpPr>
            <p:cNvPr id="33" name="担当"/>
            <p:cNvSpPr/>
            <p:nvPr/>
          </p:nvSpPr>
          <p:spPr>
            <a:xfrm>
              <a:off x="666750" y="3095625"/>
              <a:ext cx="2571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担当：購買部</a:t>
              </a:r>
            </a:p>
          </p:txBody>
        </p:sp>
        <p:sp>
          <p:nvSpPr>
            <p:cNvPr id="34" name="バー地"/>
            <p:cNvSpPr/>
            <p:nvPr/>
          </p:nvSpPr>
          <p:spPr>
            <a:xfrm>
              <a:off x="3429000" y="2943225"/>
              <a:ext cx="3429000" cy="1333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バー実績"/>
            <p:cNvSpPr/>
            <p:nvPr/>
          </p:nvSpPr>
          <p:spPr>
            <a:xfrm>
              <a:off x="3429000" y="2943225"/>
              <a:ext cx="1371600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計画線"/>
            <p:cNvCxnSpPr/>
            <p:nvPr/>
          </p:nvCxnSpPr>
          <p:spPr>
            <a:xfrm>
              <a:off x="5486400" y="2867025"/>
              <a:ext cx="0" cy="285750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実績値"/>
            <p:cNvSpPr/>
            <p:nvPr/>
          </p:nvSpPr>
          <p:spPr>
            <a:xfrm>
              <a:off x="7096125" y="2905125"/>
              <a:ext cx="571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40%</a:t>
              </a:r>
            </a:p>
          </p:txBody>
        </p:sp>
        <p:sp>
          <p:nvSpPr>
            <p:cNvPr id="38" name="状況ピル"/>
            <p:cNvSpPr/>
            <p:nvPr/>
          </p:nvSpPr>
          <p:spPr>
            <a:xfrm>
              <a:off x="7762875" y="2886075"/>
              <a:ext cx="85725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状況ピル文字"/>
            <p:cNvSpPr/>
            <p:nvPr/>
          </p:nvSpPr>
          <p:spPr>
            <a:xfrm>
              <a:off x="7762875" y="2895600"/>
              <a:ext cx="85725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遅延</a:t>
              </a:r>
            </a:p>
          </p:txBody>
        </p:sp>
        <p:sp>
          <p:nvSpPr>
            <p:cNvPr id="40" name="備考"/>
            <p:cNvSpPr/>
            <p:nvPr/>
          </p:nvSpPr>
          <p:spPr>
            <a:xfrm>
              <a:off x="8810625" y="2828925"/>
              <a:ext cx="2714625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主要品目の調達交渉が難航。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体制増強を要請（P.10）</a:t>
              </a:r>
            </a:p>
          </p:txBody>
        </p:sp>
      </p:grpSp>
      <p:grpSp>
        <p:nvGrpSpPr>
          <p:cNvPr id="41" name="施策3_海外チャネル"/>
          <p:cNvGrpSpPr/>
          <p:nvPr/>
        </p:nvGrpSpPr>
        <p:grpSpPr>
          <a:xfrm>
            <a:off x="666750" y="3676650"/>
            <a:ext cx="10858500" cy="571500"/>
            <a:chOff x="666750" y="3676650"/>
            <a:chExt cx="10858500" cy="571500"/>
          </a:xfrm>
        </p:grpSpPr>
        <p:cxnSp>
          <p:nvCxnSpPr>
            <p:cNvPr id="42" name="行区切り"/>
            <p:cNvCxnSpPr/>
            <p:nvPr/>
          </p:nvCxnSpPr>
          <p:spPr>
            <a:xfrm>
              <a:off x="666750" y="367665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施策名"/>
            <p:cNvSpPr/>
            <p:nvPr/>
          </p:nvSpPr>
          <p:spPr>
            <a:xfrm>
              <a:off x="666750" y="3848100"/>
              <a:ext cx="2571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海外チャネル開拓</a:t>
              </a:r>
            </a:p>
          </p:txBody>
        </p:sp>
        <p:sp>
          <p:nvSpPr>
            <p:cNvPr id="44" name="担当"/>
            <p:cNvSpPr/>
            <p:nvPr/>
          </p:nvSpPr>
          <p:spPr>
            <a:xfrm>
              <a:off x="666750" y="4095750"/>
              <a:ext cx="2571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担当：海外事業部</a:t>
              </a:r>
            </a:p>
          </p:txBody>
        </p:sp>
        <p:sp>
          <p:nvSpPr>
            <p:cNvPr id="45" name="バー地"/>
            <p:cNvSpPr/>
            <p:nvPr/>
          </p:nvSpPr>
          <p:spPr>
            <a:xfrm>
              <a:off x="3429000" y="3943350"/>
              <a:ext cx="3429000" cy="1333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バー実績"/>
            <p:cNvSpPr/>
            <p:nvPr/>
          </p:nvSpPr>
          <p:spPr>
            <a:xfrm>
              <a:off x="3429000" y="3943350"/>
              <a:ext cx="2228850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" name="計画線"/>
            <p:cNvCxnSpPr/>
            <p:nvPr/>
          </p:nvCxnSpPr>
          <p:spPr>
            <a:xfrm>
              <a:off x="5486400" y="3867150"/>
              <a:ext cx="0" cy="285750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実績値"/>
            <p:cNvSpPr/>
            <p:nvPr/>
          </p:nvSpPr>
          <p:spPr>
            <a:xfrm>
              <a:off x="7096125" y="3905250"/>
              <a:ext cx="571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65%</a:t>
              </a:r>
            </a:p>
          </p:txBody>
        </p:sp>
        <p:sp>
          <p:nvSpPr>
            <p:cNvPr id="49" name="状況ピル"/>
            <p:cNvSpPr/>
            <p:nvPr/>
          </p:nvSpPr>
          <p:spPr>
            <a:xfrm>
              <a:off x="7762875" y="3886200"/>
              <a:ext cx="85725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状況ピル文字"/>
            <p:cNvSpPr/>
            <p:nvPr/>
          </p:nvSpPr>
          <p:spPr>
            <a:xfrm>
              <a:off x="7762875" y="3895725"/>
              <a:ext cx="85725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順調</a:t>
              </a:r>
            </a:p>
          </p:txBody>
        </p:sp>
        <p:sp>
          <p:nvSpPr>
            <p:cNvPr id="51" name="備考"/>
            <p:cNvSpPr/>
            <p:nvPr/>
          </p:nvSpPr>
          <p:spPr>
            <a:xfrm>
              <a:off x="8810625" y="3829050"/>
              <a:ext cx="2714625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販売代理店2社と基本合意。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9月の販売開始へ順調</a:t>
              </a:r>
            </a:p>
          </p:txBody>
        </p:sp>
      </p:grpSp>
      <p:grpSp>
        <p:nvGrpSpPr>
          <p:cNvPr id="52" name="施策4_営業DXツー"/>
          <p:cNvGrpSpPr/>
          <p:nvPr/>
        </p:nvGrpSpPr>
        <p:grpSpPr>
          <a:xfrm>
            <a:off x="666750" y="4676775"/>
            <a:ext cx="10858500" cy="571500"/>
            <a:chOff x="666750" y="4676775"/>
            <a:chExt cx="10858500" cy="571500"/>
          </a:xfrm>
        </p:grpSpPr>
        <p:cxnSp>
          <p:nvCxnSpPr>
            <p:cNvPr id="53" name="行区切り"/>
            <p:cNvCxnSpPr/>
            <p:nvPr/>
          </p:nvCxnSpPr>
          <p:spPr>
            <a:xfrm>
              <a:off x="666750" y="4676775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施策名"/>
            <p:cNvSpPr/>
            <p:nvPr/>
          </p:nvSpPr>
          <p:spPr>
            <a:xfrm>
              <a:off x="666750" y="4848225"/>
              <a:ext cx="2571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営業DXツール導入</a:t>
              </a:r>
            </a:p>
          </p:txBody>
        </p:sp>
        <p:sp>
          <p:nvSpPr>
            <p:cNvPr id="55" name="担当"/>
            <p:cNvSpPr/>
            <p:nvPr/>
          </p:nvSpPr>
          <p:spPr>
            <a:xfrm>
              <a:off x="666750" y="5095875"/>
              <a:ext cx="2571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担当：営業企画部</a:t>
              </a:r>
            </a:p>
          </p:txBody>
        </p:sp>
        <p:sp>
          <p:nvSpPr>
            <p:cNvPr id="56" name="バー地"/>
            <p:cNvSpPr/>
            <p:nvPr/>
          </p:nvSpPr>
          <p:spPr>
            <a:xfrm>
              <a:off x="3429000" y="4943475"/>
              <a:ext cx="3429000" cy="1333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バー実績"/>
            <p:cNvSpPr/>
            <p:nvPr/>
          </p:nvSpPr>
          <p:spPr>
            <a:xfrm>
              <a:off x="3429000" y="4943475"/>
              <a:ext cx="1714500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8" name="計画線"/>
            <p:cNvCxnSpPr/>
            <p:nvPr/>
          </p:nvCxnSpPr>
          <p:spPr>
            <a:xfrm>
              <a:off x="5314950" y="4867275"/>
              <a:ext cx="0" cy="285750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実績値"/>
            <p:cNvSpPr/>
            <p:nvPr/>
          </p:nvSpPr>
          <p:spPr>
            <a:xfrm>
              <a:off x="7096125" y="4905375"/>
              <a:ext cx="571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50%</a:t>
              </a:r>
            </a:p>
          </p:txBody>
        </p:sp>
        <p:sp>
          <p:nvSpPr>
            <p:cNvPr id="60" name="状況ピル"/>
            <p:cNvSpPr/>
            <p:nvPr/>
          </p:nvSpPr>
          <p:spPr>
            <a:xfrm>
              <a:off x="7762875" y="4886325"/>
              <a:ext cx="857250" cy="247650"/>
            </a:xfrm>
            <a:prstGeom prst="roundRect">
              <a:avLst>
                <a:gd name="adj" fmla="val 50000"/>
              </a:avLst>
            </a:prstGeom>
            <a:noFill/>
            <a:ln w="11906">
              <a:solidFill>
                <a:schemeClr val="dk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状況ピル文字"/>
            <p:cNvSpPr/>
            <p:nvPr/>
          </p:nvSpPr>
          <p:spPr>
            <a:xfrm>
              <a:off x="7762875" y="4895850"/>
              <a:ext cx="85725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注意</a:t>
              </a:r>
            </a:p>
          </p:txBody>
        </p:sp>
        <p:sp>
          <p:nvSpPr>
            <p:cNvPr id="62" name="備考"/>
            <p:cNvSpPr/>
            <p:nvPr/>
          </p:nvSpPr>
          <p:spPr>
            <a:xfrm>
              <a:off x="8810625" y="4829175"/>
              <a:ext cx="2714625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現場の利用定着に遅れ。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7月に追加研修を実施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2026年6月度｜今月の課題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粗利低下の真因は価格転嫁の遅れ。改定を7月に前倒す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注：影響ptは粗利率換算。回復見込みは価格改定と調達複線化の合算（＋1.2pt）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出所：社内管理会計（2026年6月度）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07</a:t>
              </a:r>
            </a:p>
          </p:txBody>
        </p:sp>
      </p:grpSp>
      <p:grpSp>
        <p:nvGrpSpPr>
          <p:cNvPr id="11" name="見出し_問題"/>
          <p:cNvGrpSpPr/>
          <p:nvPr/>
        </p:nvGrpSpPr>
        <p:grpSpPr>
          <a:xfrm>
            <a:off x="666750" y="1276350"/>
            <a:ext cx="3238500" cy="4324350"/>
            <a:chOff x="666750" y="1276350"/>
            <a:chExt cx="3238500" cy="4324350"/>
          </a:xfrm>
        </p:grpSpPr>
        <p:sp>
          <p:nvSpPr>
            <p:cNvPr id="12" name="見出し帯"/>
            <p:cNvSpPr/>
            <p:nvPr/>
          </p:nvSpPr>
          <p:spPr>
            <a:xfrm>
              <a:off x="666750" y="1276350"/>
              <a:ext cx="3238500" cy="361950"/>
            </a:xfrm>
            <a:prstGeom prst="roundRect">
              <a:avLst>
                <a:gd name="adj" fmla="val 1052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見出し文字"/>
            <p:cNvSpPr/>
            <p:nvPr/>
          </p:nvSpPr>
          <p:spPr>
            <a:xfrm>
              <a:off x="666750" y="1285875"/>
              <a:ext cx="3238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問題｜何が起きているか</a:t>
              </a:r>
            </a:p>
          </p:txBody>
        </p:sp>
        <p:sp>
          <p:nvSpPr>
            <p:cNvPr id="14" name="カード"/>
            <p:cNvSpPr/>
            <p:nvPr/>
          </p:nvSpPr>
          <p:spPr>
            <a:xfrm>
              <a:off x="666750" y="1771650"/>
              <a:ext cx="3238500" cy="3829050"/>
            </a:xfrm>
            <a:prstGeom prst="roundRect">
              <a:avLst>
                <a:gd name="adj" fmla="val 235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見出し_原因"/>
          <p:cNvGrpSpPr/>
          <p:nvPr/>
        </p:nvGrpSpPr>
        <p:grpSpPr>
          <a:xfrm>
            <a:off x="4476750" y="1276350"/>
            <a:ext cx="3238500" cy="4324350"/>
            <a:chOff x="4476750" y="1276350"/>
            <a:chExt cx="3238500" cy="4324350"/>
          </a:xfrm>
        </p:grpSpPr>
        <p:sp>
          <p:nvSpPr>
            <p:cNvPr id="16" name="見出し帯"/>
            <p:cNvSpPr/>
            <p:nvPr/>
          </p:nvSpPr>
          <p:spPr>
            <a:xfrm>
              <a:off x="4476750" y="1276350"/>
              <a:ext cx="3238500" cy="361950"/>
            </a:xfrm>
            <a:prstGeom prst="roundRect">
              <a:avLst>
                <a:gd name="adj" fmla="val 1052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見出し文字"/>
            <p:cNvSpPr/>
            <p:nvPr/>
          </p:nvSpPr>
          <p:spPr>
            <a:xfrm>
              <a:off x="4476750" y="1285875"/>
              <a:ext cx="3238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原因｜なぜ起きたか</a:t>
              </a:r>
            </a:p>
          </p:txBody>
        </p:sp>
        <p:sp>
          <p:nvSpPr>
            <p:cNvPr id="18" name="カード"/>
            <p:cNvSpPr/>
            <p:nvPr/>
          </p:nvSpPr>
          <p:spPr>
            <a:xfrm>
              <a:off x="4476750" y="1771650"/>
              <a:ext cx="3238500" cy="3829050"/>
            </a:xfrm>
            <a:prstGeom prst="roundRect">
              <a:avLst>
                <a:gd name="adj" fmla="val 235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見出し_打ち"/>
          <p:cNvGrpSpPr/>
          <p:nvPr/>
        </p:nvGrpSpPr>
        <p:grpSpPr>
          <a:xfrm>
            <a:off x="8286750" y="1276350"/>
            <a:ext cx="3238500" cy="4324350"/>
            <a:chOff x="8286750" y="1276350"/>
            <a:chExt cx="3238500" cy="4324350"/>
          </a:xfrm>
        </p:grpSpPr>
        <p:sp>
          <p:nvSpPr>
            <p:cNvPr id="20" name="見出し帯"/>
            <p:cNvSpPr/>
            <p:nvPr/>
          </p:nvSpPr>
          <p:spPr>
            <a:xfrm>
              <a:off x="8286750" y="1276350"/>
              <a:ext cx="3238500" cy="361950"/>
            </a:xfrm>
            <a:prstGeom prst="roundRect">
              <a:avLst>
                <a:gd name="adj" fmla="val 1052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見出し文字"/>
            <p:cNvSpPr/>
            <p:nvPr/>
          </p:nvSpPr>
          <p:spPr>
            <a:xfrm>
              <a:off x="8286750" y="1285875"/>
              <a:ext cx="3238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打ち手｜どう対処するか</a:t>
              </a:r>
            </a:p>
          </p:txBody>
        </p:sp>
        <p:sp>
          <p:nvSpPr>
            <p:cNvPr id="22" name="カード"/>
            <p:cNvSpPr/>
            <p:nvPr/>
          </p:nvSpPr>
          <p:spPr>
            <a:xfrm>
              <a:off x="8286750" y="1771650"/>
              <a:ext cx="3238500" cy="3829050"/>
            </a:xfrm>
            <a:prstGeom prst="roundRect">
              <a:avLst>
                <a:gd name="adj" fmla="val 235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接続矢印"/>
          <p:cNvGrpSpPr/>
          <p:nvPr/>
        </p:nvGrpSpPr>
        <p:grpSpPr>
          <a:xfrm>
            <a:off x="4038600" y="3505200"/>
            <a:ext cx="4019550" cy="247650"/>
            <a:chOff x="4038600" y="3505200"/>
            <a:chExt cx="4019550" cy="247650"/>
          </a:xfrm>
        </p:grpSpPr>
        <p:sp>
          <p:nvSpPr>
            <p:cNvPr id="24" name="矢印1"/>
            <p:cNvSpPr/>
            <p:nvPr/>
          </p:nvSpPr>
          <p:spPr>
            <a:xfrm rot="5400000">
              <a:off x="4038600" y="3505200"/>
              <a:ext cx="209550" cy="24765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矢印2"/>
            <p:cNvSpPr/>
            <p:nvPr/>
          </p:nvSpPr>
          <p:spPr>
            <a:xfrm rot="5400000">
              <a:off x="7848600" y="3505200"/>
              <a:ext cx="209550" cy="24765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" name="問題"/>
          <p:cNvGrpSpPr/>
          <p:nvPr/>
        </p:nvGrpSpPr>
        <p:grpSpPr>
          <a:xfrm>
            <a:off x="857250" y="2038350"/>
            <a:ext cx="2857500" cy="3162300"/>
            <a:chOff x="857250" y="2038350"/>
            <a:chExt cx="2857500" cy="3162300"/>
          </a:xfrm>
        </p:grpSpPr>
        <p:sp>
          <p:nvSpPr>
            <p:cNvPr id="27" name="ラベル"/>
            <p:cNvSpPr/>
            <p:nvPr/>
          </p:nvSpPr>
          <p:spPr>
            <a:xfrm>
              <a:off x="857250" y="20383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粗利率（6月実績）</a:t>
              </a:r>
            </a:p>
          </p:txBody>
        </p:sp>
        <p:sp>
          <p:nvSpPr>
            <p:cNvPr id="28" name="大数字"/>
            <p:cNvSpPr/>
            <p:nvPr/>
          </p:nvSpPr>
          <p:spPr>
            <a:xfrm>
              <a:off x="857250" y="2286000"/>
              <a:ext cx="285750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600" b="1">
                  <a:solidFill>
                    <a:schemeClr val="dk2"/>
                  </a:solidFill>
                </a:rPr>
                <a:t>31.4%</a:t>
              </a:r>
            </a:p>
          </p:txBody>
        </p:sp>
        <p:sp>
          <p:nvSpPr>
            <p:cNvPr id="29" name="下降記号"/>
            <p:cNvSpPr/>
            <p:nvPr/>
          </p:nvSpPr>
          <p:spPr>
            <a:xfrm rot="10800000">
              <a:off x="1466850" y="3143250"/>
              <a:ext cx="123825" cy="104775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下落幅"/>
            <p:cNvSpPr/>
            <p:nvPr/>
          </p:nvSpPr>
          <p:spPr>
            <a:xfrm>
              <a:off x="1657350" y="3086100"/>
              <a:ext cx="20574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2"/>
                  </a:solidFill>
                </a:rPr>
                <a:t>前年同月比 ▲1.6pt</a:t>
              </a:r>
            </a:p>
          </p:txBody>
        </p:sp>
        <p:cxnSp>
          <p:nvCxnSpPr>
            <p:cNvPr id="31" name="区切り線"/>
            <p:cNvCxnSpPr/>
            <p:nvPr/>
          </p:nvCxnSpPr>
          <p:spPr>
            <a:xfrm>
              <a:off x="952500" y="3486150"/>
              <a:ext cx="2667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補足"/>
            <p:cNvSpPr/>
            <p:nvPr/>
          </p:nvSpPr>
          <p:spPr>
            <a:xfrm>
              <a:off x="952500" y="3676650"/>
              <a:ext cx="2705100" cy="1524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200000"/>
                </a:lnSpc>
              </a:pPr>
              <a:r>
                <a:rPr sz="1150">
                  <a:solidFill>
                    <a:schemeClr val="dk1"/>
                  </a:solidFill>
                </a:rPr>
                <a:t>・計画33.0%に対しても▲1.6pt</a:t>
              </a:r>
            </a:p>
            <a:p>
              <a:pPr algn="l">
                <a:lnSpc>
                  <a:spcPct val="200000"/>
                </a:lnSpc>
              </a:pPr>
              <a:r>
                <a:rPr sz="1150">
                  <a:solidFill>
                    <a:schemeClr val="dk1"/>
                  </a:solidFill>
                </a:rPr>
                <a:t>・営業利益▲0.2億円に相当</a:t>
              </a:r>
            </a:p>
            <a:p>
              <a:pPr algn="l">
                <a:lnSpc>
                  <a:spcPct val="200000"/>
                </a:lnSpc>
              </a:pPr>
              <a:r>
                <a:rPr sz="1150">
                  <a:solidFill>
                    <a:schemeClr val="dk1"/>
                  </a:solidFill>
                </a:rPr>
                <a:t>・低下は4ヶ月連続で拡大傾向</a:t>
              </a:r>
            </a:p>
          </p:txBody>
        </p:sp>
      </p:grpSp>
      <p:grpSp>
        <p:nvGrpSpPr>
          <p:cNvPr id="33" name="原因"/>
          <p:cNvGrpSpPr/>
          <p:nvPr/>
        </p:nvGrpSpPr>
        <p:grpSpPr>
          <a:xfrm>
            <a:off x="4705350" y="2038350"/>
            <a:ext cx="2800350" cy="3009900"/>
            <a:chOff x="4705350" y="2038350"/>
            <a:chExt cx="2800350" cy="3009900"/>
          </a:xfrm>
        </p:grpSpPr>
        <p:sp>
          <p:nvSpPr>
            <p:cNvPr id="34" name="番号1"/>
            <p:cNvSpPr/>
            <p:nvPr/>
          </p:nvSpPr>
          <p:spPr>
            <a:xfrm>
              <a:off x="4705350" y="20383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番号文字1"/>
            <p:cNvSpPr/>
            <p:nvPr/>
          </p:nvSpPr>
          <p:spPr>
            <a:xfrm>
              <a:off x="4705350" y="20478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36" name="原因名1"/>
            <p:cNvSpPr/>
            <p:nvPr/>
          </p:nvSpPr>
          <p:spPr>
            <a:xfrm>
              <a:off x="5086350" y="2057400"/>
              <a:ext cx="1809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材料価格の高騰</a:t>
              </a:r>
            </a:p>
          </p:txBody>
        </p:sp>
        <p:sp>
          <p:nvSpPr>
            <p:cNvPr id="37" name="影響1"/>
            <p:cNvSpPr/>
            <p:nvPr/>
          </p:nvSpPr>
          <p:spPr>
            <a:xfrm>
              <a:off x="5086350" y="228600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影響 ▲1.0pt（外部要因）</a:t>
              </a:r>
            </a:p>
          </p:txBody>
        </p:sp>
        <p:sp>
          <p:nvSpPr>
            <p:cNvPr id="38" name="番号2"/>
            <p:cNvSpPr/>
            <p:nvPr/>
          </p:nvSpPr>
          <p:spPr>
            <a:xfrm>
              <a:off x="4705350" y="31051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番号文字2"/>
            <p:cNvSpPr/>
            <p:nvPr/>
          </p:nvSpPr>
          <p:spPr>
            <a:xfrm>
              <a:off x="4705350" y="31146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40" name="原因名2"/>
            <p:cNvSpPr/>
            <p:nvPr/>
          </p:nvSpPr>
          <p:spPr>
            <a:xfrm>
              <a:off x="5086350" y="3124200"/>
              <a:ext cx="1809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外注費単価の上昇</a:t>
              </a:r>
            </a:p>
          </p:txBody>
        </p:sp>
        <p:sp>
          <p:nvSpPr>
            <p:cNvPr id="41" name="影響2"/>
            <p:cNvSpPr/>
            <p:nvPr/>
          </p:nvSpPr>
          <p:spPr>
            <a:xfrm>
              <a:off x="5086350" y="335280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影響 ▲0.6pt（外部要因）</a:t>
              </a:r>
            </a:p>
          </p:txBody>
        </p:sp>
        <p:sp>
          <p:nvSpPr>
            <p:cNvPr id="42" name="番号3"/>
            <p:cNvSpPr/>
            <p:nvPr/>
          </p:nvSpPr>
          <p:spPr>
            <a:xfrm>
              <a:off x="4705350" y="4171950"/>
              <a:ext cx="266700" cy="266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番号文字3"/>
            <p:cNvSpPr/>
            <p:nvPr/>
          </p:nvSpPr>
          <p:spPr>
            <a:xfrm>
              <a:off x="4705350" y="41814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44" name="原因名3"/>
            <p:cNvSpPr/>
            <p:nvPr/>
          </p:nvSpPr>
          <p:spPr>
            <a:xfrm>
              <a:off x="5086350" y="4191000"/>
              <a:ext cx="1809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価格転嫁の遅れ</a:t>
              </a:r>
            </a:p>
          </p:txBody>
        </p:sp>
        <p:sp>
          <p:nvSpPr>
            <p:cNvPr id="45" name="影響3"/>
            <p:cNvSpPr/>
            <p:nvPr/>
          </p:nvSpPr>
          <p:spPr>
            <a:xfrm>
              <a:off x="5086350" y="441960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回収 0pt（計画では＋0.9pt）</a:t>
              </a:r>
            </a:p>
          </p:txBody>
        </p:sp>
        <p:sp>
          <p:nvSpPr>
            <p:cNvPr id="46" name="真因ピル"/>
            <p:cNvSpPr/>
            <p:nvPr/>
          </p:nvSpPr>
          <p:spPr>
            <a:xfrm>
              <a:off x="6934200" y="4191000"/>
              <a:ext cx="552450" cy="2095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真因ピル文字"/>
            <p:cNvSpPr/>
            <p:nvPr/>
          </p:nvSpPr>
          <p:spPr>
            <a:xfrm>
              <a:off x="6934200" y="4200525"/>
              <a:ext cx="552450" cy="2000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真因</a:t>
              </a:r>
            </a:p>
          </p:txBody>
        </p:sp>
        <p:sp>
          <p:nvSpPr>
            <p:cNvPr id="48" name="真因説明"/>
            <p:cNvSpPr/>
            <p:nvPr/>
          </p:nvSpPr>
          <p:spPr>
            <a:xfrm>
              <a:off x="5086350" y="4629150"/>
              <a:ext cx="24193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dk1"/>
                  </a:solidFill>
                </a:rPr>
                <a:t>改定が年1回のルールのため、コスト上昇を機動的に転嫁できていない</a:t>
              </a:r>
            </a:p>
          </p:txBody>
        </p:sp>
      </p:grpSp>
      <p:grpSp>
        <p:nvGrpSpPr>
          <p:cNvPr id="49" name="打ち手"/>
          <p:cNvGrpSpPr/>
          <p:nvPr/>
        </p:nvGrpSpPr>
        <p:grpSpPr>
          <a:xfrm>
            <a:off x="8477250" y="2009775"/>
            <a:ext cx="2895600" cy="3362325"/>
            <a:chOff x="8477250" y="2009775"/>
            <a:chExt cx="2895600" cy="3362325"/>
          </a:xfrm>
        </p:grpSpPr>
        <p:sp>
          <p:nvSpPr>
            <p:cNvPr id="50" name="番号1"/>
            <p:cNvSpPr/>
            <p:nvPr/>
          </p:nvSpPr>
          <p:spPr>
            <a:xfrm>
              <a:off x="8515350" y="20383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番号文字1"/>
            <p:cNvSpPr/>
            <p:nvPr/>
          </p:nvSpPr>
          <p:spPr>
            <a:xfrm>
              <a:off x="8515350" y="20478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52" name="打ち手名1"/>
            <p:cNvSpPr/>
            <p:nvPr/>
          </p:nvSpPr>
          <p:spPr>
            <a:xfrm>
              <a:off x="8896350" y="2009775"/>
              <a:ext cx="2476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200" b="1">
                  <a:solidFill>
                    <a:schemeClr val="dk2"/>
                  </a:solidFill>
                </a:rPr>
                <a:t>価格改定を10月→7月に前倒し</a:t>
              </a:r>
            </a:p>
          </p:txBody>
        </p:sp>
        <p:sp>
          <p:nvSpPr>
            <p:cNvPr id="53" name="効果1"/>
            <p:cNvSpPr/>
            <p:nvPr/>
          </p:nvSpPr>
          <p:spPr>
            <a:xfrm>
              <a:off x="8896350" y="236220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回復 ＋0.9pt（8月から寄与）</a:t>
              </a:r>
            </a:p>
          </p:txBody>
        </p:sp>
        <p:sp>
          <p:nvSpPr>
            <p:cNvPr id="54" name="番号2"/>
            <p:cNvSpPr/>
            <p:nvPr/>
          </p:nvSpPr>
          <p:spPr>
            <a:xfrm>
              <a:off x="8515350" y="29527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番号文字2"/>
            <p:cNvSpPr/>
            <p:nvPr/>
          </p:nvSpPr>
          <p:spPr>
            <a:xfrm>
              <a:off x="8515350" y="29622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56" name="打ち手名2"/>
            <p:cNvSpPr/>
            <p:nvPr/>
          </p:nvSpPr>
          <p:spPr>
            <a:xfrm>
              <a:off x="8896350" y="2924175"/>
              <a:ext cx="2476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200" b="1">
                  <a:solidFill>
                    <a:schemeClr val="dk2"/>
                  </a:solidFill>
                </a:rPr>
                <a:t>調達先の複線化（主要2品目）</a:t>
              </a:r>
            </a:p>
          </p:txBody>
        </p:sp>
        <p:sp>
          <p:nvSpPr>
            <p:cNvPr id="57" name="効果2"/>
            <p:cNvSpPr/>
            <p:nvPr/>
          </p:nvSpPr>
          <p:spPr>
            <a:xfrm>
              <a:off x="8896350" y="327660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回復 ＋0.3pt（9月から寄与）</a:t>
              </a:r>
            </a:p>
          </p:txBody>
        </p:sp>
        <p:sp>
          <p:nvSpPr>
            <p:cNvPr id="58" name="番号3"/>
            <p:cNvSpPr/>
            <p:nvPr/>
          </p:nvSpPr>
          <p:spPr>
            <a:xfrm>
              <a:off x="8515350" y="38671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番号文字3"/>
            <p:cNvSpPr/>
            <p:nvPr/>
          </p:nvSpPr>
          <p:spPr>
            <a:xfrm>
              <a:off x="8515350" y="38766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60" name="打ち手名3"/>
            <p:cNvSpPr/>
            <p:nvPr/>
          </p:nvSpPr>
          <p:spPr>
            <a:xfrm>
              <a:off x="8896350" y="3838575"/>
              <a:ext cx="2476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200" b="1">
                  <a:solidFill>
                    <a:schemeClr val="dk2"/>
                  </a:solidFill>
                </a:rPr>
                <a:t>価格改定サイクルの半期化</a:t>
              </a:r>
            </a:p>
          </p:txBody>
        </p:sp>
        <p:sp>
          <p:nvSpPr>
            <p:cNvPr id="61" name="効果3"/>
            <p:cNvSpPr/>
            <p:nvPr/>
          </p:nvSpPr>
          <p:spPr>
            <a:xfrm>
              <a:off x="8896350" y="419100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再発防止（社内規程を改定）</a:t>
              </a:r>
            </a:p>
          </p:txBody>
        </p:sp>
        <p:sp>
          <p:nvSpPr>
            <p:cNvPr id="62" name="結論帯"/>
            <p:cNvSpPr/>
            <p:nvPr/>
          </p:nvSpPr>
          <p:spPr>
            <a:xfrm>
              <a:off x="8477250" y="4914900"/>
              <a:ext cx="2857500" cy="4572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結論文字"/>
            <p:cNvSpPr/>
            <p:nvPr/>
          </p:nvSpPr>
          <p:spPr>
            <a:xfrm>
              <a:off x="8477250" y="4924425"/>
              <a:ext cx="28575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9月までに粗利率32%台へ回復する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2026年6月度｜リスクと先行指標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先行指標は新規受注のみ警戒。3ヶ月後の売上に下振れ余地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注：新規受注は約3ヶ月後の売上に先行する。警戒基準は過去24ヶ月の変動幅から設定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出所：営業管理システム（2026年6月末時点）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08</a:t>
              </a:r>
            </a:p>
          </p:txBody>
        </p:sp>
      </p:grpSp>
      <p:grpSp>
        <p:nvGrpSpPr>
          <p:cNvPr id="11" name="図表タイトル"/>
          <p:cNvGrpSpPr/>
          <p:nvPr/>
        </p:nvGrpSpPr>
        <p:grpSpPr>
          <a:xfrm>
            <a:off x="666750" y="1219200"/>
            <a:ext cx="7372350" cy="171450"/>
            <a:chOff x="666750" y="1219200"/>
            <a:chExt cx="7372350" cy="171450"/>
          </a:xfrm>
        </p:grpSpPr>
        <p:sp>
          <p:nvSpPr>
            <p:cNvPr id="12" name="マーカー"/>
            <p:cNvSpPr/>
            <p:nvPr/>
          </p:nvSpPr>
          <p:spPr>
            <a:xfrm>
              <a:off x="666750" y="1238250"/>
              <a:ext cx="47625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図表タイトル"/>
            <p:cNvSpPr/>
            <p:nvPr/>
          </p:nvSpPr>
          <p:spPr>
            <a:xfrm>
              <a:off x="800100" y="1219200"/>
              <a:ext cx="7239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先行指標の警戒サイン一覧</a:t>
              </a:r>
            </a:p>
          </p:txBody>
        </p:sp>
      </p:grpSp>
      <p:grpSp>
        <p:nvGrpSpPr>
          <p:cNvPr id="14" name="表見出し"/>
          <p:cNvGrpSpPr/>
          <p:nvPr/>
        </p:nvGrpSpPr>
        <p:grpSpPr>
          <a:xfrm>
            <a:off x="666750" y="1504950"/>
            <a:ext cx="10858500" cy="304800"/>
            <a:chOff x="666750" y="1504950"/>
            <a:chExt cx="10858500" cy="304800"/>
          </a:xfrm>
        </p:grpSpPr>
        <p:sp>
          <p:nvSpPr>
            <p:cNvPr id="15" name="見出し地"/>
            <p:cNvSpPr/>
            <p:nvPr/>
          </p:nvSpPr>
          <p:spPr>
            <a:xfrm>
              <a:off x="666750" y="1504950"/>
              <a:ext cx="1085850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見出し_先行指標"/>
            <p:cNvSpPr/>
            <p:nvPr/>
          </p:nvSpPr>
          <p:spPr>
            <a:xfrm>
              <a:off x="800100" y="1514475"/>
              <a:ext cx="2000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先行指標</a:t>
              </a:r>
            </a:p>
          </p:txBody>
        </p:sp>
        <p:sp>
          <p:nvSpPr>
            <p:cNvPr id="17" name="見出し_当月の状況"/>
            <p:cNvSpPr/>
            <p:nvPr/>
          </p:nvSpPr>
          <p:spPr>
            <a:xfrm>
              <a:off x="2952750" y="1514475"/>
              <a:ext cx="2857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当月の状況</a:t>
              </a:r>
            </a:p>
          </p:txBody>
        </p:sp>
        <p:sp>
          <p:nvSpPr>
            <p:cNvPr id="18" name="見出し_警戒基準"/>
            <p:cNvSpPr/>
            <p:nvPr/>
          </p:nvSpPr>
          <p:spPr>
            <a:xfrm>
              <a:off x="6000750" y="1514475"/>
              <a:ext cx="2095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警戒基準</a:t>
              </a:r>
            </a:p>
          </p:txBody>
        </p:sp>
        <p:sp>
          <p:nvSpPr>
            <p:cNvPr id="19" name="見出し_判定"/>
            <p:cNvSpPr/>
            <p:nvPr/>
          </p:nvSpPr>
          <p:spPr>
            <a:xfrm>
              <a:off x="8286750" y="1514475"/>
              <a:ext cx="952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判定</a:t>
              </a:r>
            </a:p>
          </p:txBody>
        </p:sp>
        <p:sp>
          <p:nvSpPr>
            <p:cNvPr id="20" name="見出し_次の一手"/>
            <p:cNvSpPr/>
            <p:nvPr/>
          </p:nvSpPr>
          <p:spPr>
            <a:xfrm>
              <a:off x="9334500" y="1514475"/>
              <a:ext cx="21907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次の一手</a:t>
              </a:r>
            </a:p>
          </p:txBody>
        </p:sp>
      </p:grpSp>
      <p:grpSp>
        <p:nvGrpSpPr>
          <p:cNvPr id="21" name="指標1_新規受注件数"/>
          <p:cNvGrpSpPr/>
          <p:nvPr/>
        </p:nvGrpSpPr>
        <p:grpSpPr>
          <a:xfrm>
            <a:off x="666750" y="1809750"/>
            <a:ext cx="10858500" cy="723900"/>
            <a:chOff x="666750" y="1809750"/>
            <a:chExt cx="10858500" cy="723900"/>
          </a:xfrm>
        </p:grpSpPr>
        <p:cxnSp>
          <p:nvCxnSpPr>
            <p:cNvPr id="22" name="行区切り"/>
            <p:cNvCxnSpPr/>
            <p:nvPr/>
          </p:nvCxnSpPr>
          <p:spPr>
            <a:xfrm>
              <a:off x="666750" y="253365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指標名"/>
            <p:cNvSpPr/>
            <p:nvPr/>
          </p:nvSpPr>
          <p:spPr>
            <a:xfrm>
              <a:off x="800100" y="1809750"/>
              <a:ext cx="200025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新規受注件数</a:t>
              </a:r>
            </a:p>
          </p:txBody>
        </p:sp>
        <p:sp>
          <p:nvSpPr>
            <p:cNvPr id="24" name="当月の状況"/>
            <p:cNvSpPr/>
            <p:nvPr/>
          </p:nvSpPr>
          <p:spPr>
            <a:xfrm>
              <a:off x="2952750" y="1809750"/>
              <a:ext cx="2857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 b="1">
                  <a:solidFill>
                    <a:schemeClr val="dk1"/>
                  </a:solidFill>
                </a:rPr>
                <a:t>214件（前月比▲8%）</a:t>
              </a:r>
            </a:p>
            <a:p>
              <a:pPr algn="l">
                <a:lnSpc>
                  <a:spcPct val="150000"/>
                </a:lnSpc>
              </a:pPr>
              <a:r>
                <a:rPr sz="1050" b="1">
                  <a:solidFill>
                    <a:schemeClr val="dk1"/>
                  </a:solidFill>
                </a:rPr>
                <a:t>2ヶ月連続の減少</a:t>
              </a:r>
            </a:p>
          </p:txBody>
        </p:sp>
        <p:sp>
          <p:nvSpPr>
            <p:cNvPr id="25" name="警戒基準"/>
            <p:cNvSpPr/>
            <p:nvPr/>
          </p:nvSpPr>
          <p:spPr>
            <a:xfrm>
              <a:off x="6000750" y="1809750"/>
              <a:ext cx="2095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前月比▲5%超、また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は2ヶ月連続の減少</a:t>
              </a:r>
            </a:p>
          </p:txBody>
        </p:sp>
        <p:sp>
          <p:nvSpPr>
            <p:cNvPr id="26" name="判定ピル"/>
            <p:cNvSpPr/>
            <p:nvPr/>
          </p:nvSpPr>
          <p:spPr>
            <a:xfrm>
              <a:off x="8439150" y="2047875"/>
              <a:ext cx="6477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判定ピル文字"/>
            <p:cNvSpPr/>
            <p:nvPr/>
          </p:nvSpPr>
          <p:spPr>
            <a:xfrm>
              <a:off x="8439150" y="2057400"/>
              <a:ext cx="64770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警戒</a:t>
              </a:r>
            </a:p>
          </p:txBody>
        </p:sp>
        <p:sp>
          <p:nvSpPr>
            <p:cNvPr id="28" name="次の一手"/>
            <p:cNvSpPr/>
            <p:nvPr/>
          </p:nvSpPr>
          <p:spPr>
            <a:xfrm>
              <a:off x="9334500" y="1809750"/>
              <a:ext cx="219075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リード獲得策を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7/10に開始（P.09）</a:t>
              </a:r>
            </a:p>
          </p:txBody>
        </p:sp>
      </p:grpSp>
      <p:grpSp>
        <p:nvGrpSpPr>
          <p:cNvPr id="29" name="指標2_商談パイプラ"/>
          <p:cNvGrpSpPr/>
          <p:nvPr/>
        </p:nvGrpSpPr>
        <p:grpSpPr>
          <a:xfrm>
            <a:off x="666750" y="2533650"/>
            <a:ext cx="10858500" cy="723900"/>
            <a:chOff x="666750" y="2533650"/>
            <a:chExt cx="10858500" cy="723900"/>
          </a:xfrm>
        </p:grpSpPr>
        <p:cxnSp>
          <p:nvCxnSpPr>
            <p:cNvPr id="30" name="行区切り"/>
            <p:cNvCxnSpPr/>
            <p:nvPr/>
          </p:nvCxnSpPr>
          <p:spPr>
            <a:xfrm>
              <a:off x="666750" y="325755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指標名"/>
            <p:cNvSpPr/>
            <p:nvPr/>
          </p:nvSpPr>
          <p:spPr>
            <a:xfrm>
              <a:off x="800100" y="2533650"/>
              <a:ext cx="200025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商談パイプライン</a:t>
              </a:r>
            </a:p>
          </p:txBody>
        </p:sp>
        <p:sp>
          <p:nvSpPr>
            <p:cNvPr id="32" name="当月の状況"/>
            <p:cNvSpPr/>
            <p:nvPr/>
          </p:nvSpPr>
          <p:spPr>
            <a:xfrm>
              <a:off x="2952750" y="2533650"/>
              <a:ext cx="2857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38.5億円（前月比+5%）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月次売上3.0ヶ月分を確保</a:t>
              </a:r>
            </a:p>
          </p:txBody>
        </p:sp>
        <p:sp>
          <p:nvSpPr>
            <p:cNvPr id="33" name="警戒基準"/>
            <p:cNvSpPr/>
            <p:nvPr/>
          </p:nvSpPr>
          <p:spPr>
            <a:xfrm>
              <a:off x="6000750" y="2533650"/>
              <a:ext cx="2095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月次売上の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3ヶ月分未満</a:t>
              </a:r>
            </a:p>
          </p:txBody>
        </p:sp>
        <p:sp>
          <p:nvSpPr>
            <p:cNvPr id="34" name="判定ピル"/>
            <p:cNvSpPr/>
            <p:nvPr/>
          </p:nvSpPr>
          <p:spPr>
            <a:xfrm>
              <a:off x="8439150" y="2771775"/>
              <a:ext cx="6477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判定ピル文字"/>
            <p:cNvSpPr/>
            <p:nvPr/>
          </p:nvSpPr>
          <p:spPr>
            <a:xfrm>
              <a:off x="8439150" y="2781300"/>
              <a:ext cx="64770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正常</a:t>
              </a:r>
            </a:p>
          </p:txBody>
        </p:sp>
        <p:sp>
          <p:nvSpPr>
            <p:cNvPr id="36" name="次の一手"/>
            <p:cNvSpPr/>
            <p:nvPr/>
          </p:nvSpPr>
          <p:spPr>
            <a:xfrm>
              <a:off x="9334500" y="2533650"/>
              <a:ext cx="219075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大型案件の育成を継続</a:t>
              </a:r>
            </a:p>
          </p:txBody>
        </p:sp>
      </p:grpSp>
      <p:grpSp>
        <p:nvGrpSpPr>
          <p:cNvPr id="37" name="指標3_平均受注単価"/>
          <p:cNvGrpSpPr/>
          <p:nvPr/>
        </p:nvGrpSpPr>
        <p:grpSpPr>
          <a:xfrm>
            <a:off x="666750" y="3257550"/>
            <a:ext cx="10858500" cy="723900"/>
            <a:chOff x="666750" y="3257550"/>
            <a:chExt cx="10858500" cy="723900"/>
          </a:xfrm>
        </p:grpSpPr>
        <p:cxnSp>
          <p:nvCxnSpPr>
            <p:cNvPr id="38" name="行区切り"/>
            <p:cNvCxnSpPr/>
            <p:nvPr/>
          </p:nvCxnSpPr>
          <p:spPr>
            <a:xfrm>
              <a:off x="666750" y="398145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指標名"/>
            <p:cNvSpPr/>
            <p:nvPr/>
          </p:nvSpPr>
          <p:spPr>
            <a:xfrm>
              <a:off x="800100" y="3257550"/>
              <a:ext cx="200025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平均受注単価</a:t>
              </a:r>
            </a:p>
          </p:txBody>
        </p:sp>
        <p:sp>
          <p:nvSpPr>
            <p:cNvPr id="40" name="当月の状況"/>
            <p:cNvSpPr/>
            <p:nvPr/>
          </p:nvSpPr>
          <p:spPr>
            <a:xfrm>
              <a:off x="2952750" y="3257550"/>
              <a:ext cx="2857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598万円（前年比+2%）</a:t>
              </a:r>
            </a:p>
          </p:txBody>
        </p:sp>
        <p:sp>
          <p:nvSpPr>
            <p:cNvPr id="41" name="警戒基準"/>
            <p:cNvSpPr/>
            <p:nvPr/>
          </p:nvSpPr>
          <p:spPr>
            <a:xfrm>
              <a:off x="6000750" y="3257550"/>
              <a:ext cx="2095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前年比▲3%超の下落</a:t>
              </a:r>
            </a:p>
          </p:txBody>
        </p:sp>
        <p:sp>
          <p:nvSpPr>
            <p:cNvPr id="42" name="判定ピル"/>
            <p:cNvSpPr/>
            <p:nvPr/>
          </p:nvSpPr>
          <p:spPr>
            <a:xfrm>
              <a:off x="8439150" y="3495675"/>
              <a:ext cx="6477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判定ピル文字"/>
            <p:cNvSpPr/>
            <p:nvPr/>
          </p:nvSpPr>
          <p:spPr>
            <a:xfrm>
              <a:off x="8439150" y="3505200"/>
              <a:ext cx="64770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正常</a:t>
              </a:r>
            </a:p>
          </p:txBody>
        </p:sp>
        <p:sp>
          <p:nvSpPr>
            <p:cNvPr id="44" name="次の一手"/>
            <p:cNvSpPr/>
            <p:nvPr/>
          </p:nvSpPr>
          <p:spPr>
            <a:xfrm>
              <a:off x="9334500" y="3257550"/>
              <a:ext cx="219075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値引き承認ルールを維持</a:t>
              </a:r>
            </a:p>
          </p:txBody>
        </p:sp>
      </p:grpSp>
      <p:grpSp>
        <p:nvGrpSpPr>
          <p:cNvPr id="45" name="指標4_主要顧客の解"/>
          <p:cNvGrpSpPr/>
          <p:nvPr/>
        </p:nvGrpSpPr>
        <p:grpSpPr>
          <a:xfrm>
            <a:off x="666750" y="3981450"/>
            <a:ext cx="10858500" cy="723900"/>
            <a:chOff x="666750" y="3981450"/>
            <a:chExt cx="10858500" cy="723900"/>
          </a:xfrm>
        </p:grpSpPr>
        <p:cxnSp>
          <p:nvCxnSpPr>
            <p:cNvPr id="46" name="行区切り"/>
            <p:cNvCxnSpPr/>
            <p:nvPr/>
          </p:nvCxnSpPr>
          <p:spPr>
            <a:xfrm>
              <a:off x="666750" y="470535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指標名"/>
            <p:cNvSpPr/>
            <p:nvPr/>
          </p:nvSpPr>
          <p:spPr>
            <a:xfrm>
              <a:off x="800100" y="3981450"/>
              <a:ext cx="200025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主要顧客の解約兆候</a:t>
              </a:r>
            </a:p>
          </p:txBody>
        </p:sp>
        <p:sp>
          <p:nvSpPr>
            <p:cNvPr id="48" name="当月の状況"/>
            <p:cNvSpPr/>
            <p:nvPr/>
          </p:nvSpPr>
          <p:spPr>
            <a:xfrm>
              <a:off x="2952750" y="3981450"/>
              <a:ext cx="2857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該当なし（32社を監視）</a:t>
              </a:r>
            </a:p>
          </p:txBody>
        </p:sp>
        <p:sp>
          <p:nvSpPr>
            <p:cNvPr id="49" name="警戒基準"/>
            <p:cNvSpPr/>
            <p:nvPr/>
          </p:nvSpPr>
          <p:spPr>
            <a:xfrm>
              <a:off x="6000750" y="3981450"/>
              <a:ext cx="2095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1社以上の発生</a:t>
              </a:r>
            </a:p>
          </p:txBody>
        </p:sp>
        <p:sp>
          <p:nvSpPr>
            <p:cNvPr id="50" name="判定ピル"/>
            <p:cNvSpPr/>
            <p:nvPr/>
          </p:nvSpPr>
          <p:spPr>
            <a:xfrm>
              <a:off x="8439150" y="4219575"/>
              <a:ext cx="6477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判定ピル文字"/>
            <p:cNvSpPr/>
            <p:nvPr/>
          </p:nvSpPr>
          <p:spPr>
            <a:xfrm>
              <a:off x="8439150" y="4229100"/>
              <a:ext cx="64770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正常</a:t>
              </a:r>
            </a:p>
          </p:txBody>
        </p:sp>
        <p:sp>
          <p:nvSpPr>
            <p:cNvPr id="52" name="次の一手"/>
            <p:cNvSpPr/>
            <p:nvPr/>
          </p:nvSpPr>
          <p:spPr>
            <a:xfrm>
              <a:off x="9334500" y="3981450"/>
              <a:ext cx="219075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四半期レビューで監視</a:t>
              </a:r>
            </a:p>
          </p:txBody>
        </p:sp>
      </p:grpSp>
      <p:grpSp>
        <p:nvGrpSpPr>
          <p:cNvPr id="53" name="受注推移"/>
          <p:cNvGrpSpPr/>
          <p:nvPr/>
        </p:nvGrpSpPr>
        <p:grpSpPr>
          <a:xfrm>
            <a:off x="666750" y="4914900"/>
            <a:ext cx="10191750" cy="781050"/>
            <a:chOff x="666750" y="4914900"/>
            <a:chExt cx="10191750" cy="781050"/>
          </a:xfrm>
        </p:grpSpPr>
        <p:sp>
          <p:nvSpPr>
            <p:cNvPr id="54" name="ラベル"/>
            <p:cNvSpPr/>
            <p:nvPr/>
          </p:nvSpPr>
          <p:spPr>
            <a:xfrm>
              <a:off x="666750" y="4914900"/>
              <a:ext cx="3048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新規受注件数の推移（'26/1〜6月・件）</a:t>
              </a:r>
            </a:p>
          </p:txBody>
        </p:sp>
        <p:sp>
          <p:nvSpPr>
            <p:cNvPr id="55" name="折れ線"/>
            <p:cNvSpPr/>
            <p:nvPr/>
          </p:nvSpPr>
          <p:spPr>
            <a:xfrm>
              <a:off x="666750" y="5143500"/>
              <a:ext cx="2476500" cy="533400"/>
            </a:xfrm>
            <a:custGeom>
              <a:avLst/>
              <a:gdLst/>
              <a:ahLst/>
              <a:cxnLst/>
              <a:rect l="0" t="0" r="2476500" b="533400"/>
              <a:pathLst>
                <a:path w="2476500" h="533400" fill="none">
                  <a:moveTo>
                    <a:pt x="0" y="191303"/>
                  </a:moveTo>
                  <a:lnTo>
                    <a:pt x="495300" y="93272"/>
                  </a:lnTo>
                  <a:lnTo>
                    <a:pt x="990600" y="142288"/>
                  </a:lnTo>
                  <a:lnTo>
                    <a:pt x="1485900" y="32004"/>
                  </a:lnTo>
                  <a:lnTo>
                    <a:pt x="1981200" y="252572"/>
                  </a:lnTo>
                  <a:lnTo>
                    <a:pt x="2476500" y="485393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終点ドット"/>
            <p:cNvSpPr/>
            <p:nvPr/>
          </p:nvSpPr>
          <p:spPr>
            <a:xfrm>
              <a:off x="3105150" y="5590794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最新値"/>
            <p:cNvSpPr/>
            <p:nvPr/>
          </p:nvSpPr>
          <p:spPr>
            <a:xfrm>
              <a:off x="3257550" y="5505450"/>
              <a:ext cx="571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214</a:t>
              </a:r>
            </a:p>
          </p:txBody>
        </p:sp>
        <p:sp>
          <p:nvSpPr>
            <p:cNvPr id="58" name="最新月"/>
            <p:cNvSpPr/>
            <p:nvPr/>
          </p:nvSpPr>
          <p:spPr>
            <a:xfrm>
              <a:off x="3810000" y="554355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6月</a:t>
              </a:r>
            </a:p>
          </p:txBody>
        </p:sp>
        <p:sp>
          <p:nvSpPr>
            <p:cNvPr id="59" name="読み筋"/>
            <p:cNvSpPr/>
            <p:nvPr/>
          </p:nvSpPr>
          <p:spPr>
            <a:xfrm>
              <a:off x="4953000" y="5143500"/>
              <a:ext cx="59055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受注は4月をピークに2ヶ月連続で減少。7月中に反転しない場合、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Q3売上の下方修正が必要になる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2026年6月度｜来月の重点アクション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7月は粗利回復と受注反転へ、4アクションを期日つきで実行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注：期待効果は粗利率・受注件数への寄与見込み。優先度順に記載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出所：経営企画部とりまとめ（2026年7月3日時点）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09</a:t>
              </a:r>
            </a:p>
          </p:txBody>
        </p:sp>
      </p:grpSp>
      <p:grpSp>
        <p:nvGrpSpPr>
          <p:cNvPr id="11" name="列見出し"/>
          <p:cNvGrpSpPr/>
          <p:nvPr/>
        </p:nvGrpSpPr>
        <p:grpSpPr>
          <a:xfrm>
            <a:off x="666750" y="1409700"/>
            <a:ext cx="10858500" cy="133350"/>
            <a:chOff x="666750" y="1409700"/>
            <a:chExt cx="10858500" cy="133350"/>
          </a:xfrm>
        </p:grpSpPr>
        <p:sp>
          <p:nvSpPr>
            <p:cNvPr id="12" name="列_優先"/>
            <p:cNvSpPr/>
            <p:nvPr/>
          </p:nvSpPr>
          <p:spPr>
            <a:xfrm>
              <a:off x="666750" y="140970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優先</a:t>
              </a:r>
            </a:p>
          </p:txBody>
        </p:sp>
        <p:sp>
          <p:nvSpPr>
            <p:cNvPr id="13" name="列_アクション"/>
            <p:cNvSpPr/>
            <p:nvPr/>
          </p:nvSpPr>
          <p:spPr>
            <a:xfrm>
              <a:off x="1428750" y="1409700"/>
              <a:ext cx="4953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アクション</a:t>
              </a:r>
            </a:p>
          </p:txBody>
        </p:sp>
        <p:sp>
          <p:nvSpPr>
            <p:cNvPr id="14" name="列_担当"/>
            <p:cNvSpPr/>
            <p:nvPr/>
          </p:nvSpPr>
          <p:spPr>
            <a:xfrm>
              <a:off x="6667500" y="1409700"/>
              <a:ext cx="1524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担当</a:t>
              </a:r>
            </a:p>
          </p:txBody>
        </p:sp>
        <p:sp>
          <p:nvSpPr>
            <p:cNvPr id="15" name="列_期日"/>
            <p:cNvSpPr/>
            <p:nvPr/>
          </p:nvSpPr>
          <p:spPr>
            <a:xfrm>
              <a:off x="8382000" y="1409700"/>
              <a:ext cx="8001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期日</a:t>
              </a:r>
            </a:p>
          </p:txBody>
        </p:sp>
        <p:sp>
          <p:nvSpPr>
            <p:cNvPr id="16" name="列_効果"/>
            <p:cNvSpPr/>
            <p:nvPr/>
          </p:nvSpPr>
          <p:spPr>
            <a:xfrm>
              <a:off x="9525000" y="1409700"/>
              <a:ext cx="20002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期待効果</a:t>
              </a:r>
            </a:p>
          </p:txBody>
        </p:sp>
      </p:grpSp>
      <p:grpSp>
        <p:nvGrpSpPr>
          <p:cNvPr id="17" name="アクション1"/>
          <p:cNvGrpSpPr/>
          <p:nvPr/>
        </p:nvGrpSpPr>
        <p:grpSpPr>
          <a:xfrm>
            <a:off x="704850" y="1771650"/>
            <a:ext cx="10820400" cy="438150"/>
            <a:chOff x="704850" y="1771650"/>
            <a:chExt cx="10820400" cy="438150"/>
          </a:xfrm>
        </p:grpSpPr>
        <p:sp>
          <p:nvSpPr>
            <p:cNvPr id="18" name="優先度"/>
            <p:cNvSpPr/>
            <p:nvPr/>
          </p:nvSpPr>
          <p:spPr>
            <a:xfrm>
              <a:off x="704850" y="1828800"/>
              <a:ext cx="381000" cy="381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優先度番号"/>
            <p:cNvSpPr/>
            <p:nvPr/>
          </p:nvSpPr>
          <p:spPr>
            <a:xfrm>
              <a:off x="704850" y="1838325"/>
              <a:ext cx="38100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20" name="アクション名"/>
            <p:cNvSpPr/>
            <p:nvPr/>
          </p:nvSpPr>
          <p:spPr>
            <a:xfrm>
              <a:off x="1428750" y="1790700"/>
              <a:ext cx="5048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価格改定の顧客交渉（上位30社から順次）</a:t>
              </a:r>
            </a:p>
          </p:txBody>
        </p:sp>
        <p:sp>
          <p:nvSpPr>
            <p:cNvPr id="21" name="詳細"/>
            <p:cNvSpPr/>
            <p:nvPr/>
          </p:nvSpPr>
          <p:spPr>
            <a:xfrm>
              <a:off x="1428750" y="2057400"/>
              <a:ext cx="5048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改定率は平均＋3%。説明資料は準備済み</a:t>
              </a:r>
            </a:p>
          </p:txBody>
        </p:sp>
        <p:sp>
          <p:nvSpPr>
            <p:cNvPr id="22" name="担当"/>
            <p:cNvSpPr/>
            <p:nvPr/>
          </p:nvSpPr>
          <p:spPr>
            <a:xfrm>
              <a:off x="6667500" y="1790700"/>
              <a:ext cx="16192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営業本部長</a:t>
              </a:r>
            </a:p>
          </p:txBody>
        </p:sp>
        <p:sp>
          <p:nvSpPr>
            <p:cNvPr id="23" name="期日チップ"/>
            <p:cNvSpPr/>
            <p:nvPr/>
          </p:nvSpPr>
          <p:spPr>
            <a:xfrm>
              <a:off x="8382000" y="1866900"/>
              <a:ext cx="800100" cy="285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期日"/>
            <p:cNvSpPr/>
            <p:nvPr/>
          </p:nvSpPr>
          <p:spPr>
            <a:xfrm>
              <a:off x="8382000" y="1876425"/>
              <a:ext cx="8001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7/15</a:t>
              </a:r>
            </a:p>
          </p:txBody>
        </p:sp>
        <p:sp>
          <p:nvSpPr>
            <p:cNvPr id="25" name="効果"/>
            <p:cNvSpPr/>
            <p:nvPr/>
          </p:nvSpPr>
          <p:spPr>
            <a:xfrm>
              <a:off x="9525000" y="1771650"/>
              <a:ext cx="2000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粗利率 ＋0.9pt</a:t>
              </a:r>
            </a:p>
          </p:txBody>
        </p:sp>
        <p:sp>
          <p:nvSpPr>
            <p:cNvPr id="26" name="効果補足"/>
            <p:cNvSpPr/>
            <p:nvPr/>
          </p:nvSpPr>
          <p:spPr>
            <a:xfrm>
              <a:off x="9525000" y="2019300"/>
              <a:ext cx="2000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8月度から寄与</a:t>
              </a:r>
            </a:p>
          </p:txBody>
        </p:sp>
      </p:grpSp>
      <p:grpSp>
        <p:nvGrpSpPr>
          <p:cNvPr id="27" name="アクション2"/>
          <p:cNvGrpSpPr/>
          <p:nvPr/>
        </p:nvGrpSpPr>
        <p:grpSpPr>
          <a:xfrm>
            <a:off x="666750" y="2600325"/>
            <a:ext cx="10858500" cy="628650"/>
            <a:chOff x="666750" y="2600325"/>
            <a:chExt cx="10858500" cy="628650"/>
          </a:xfrm>
        </p:grpSpPr>
        <p:cxnSp>
          <p:nvCxnSpPr>
            <p:cNvPr id="28" name="行区切り"/>
            <p:cNvCxnSpPr/>
            <p:nvPr/>
          </p:nvCxnSpPr>
          <p:spPr>
            <a:xfrm>
              <a:off x="666750" y="2600325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優先度"/>
            <p:cNvSpPr/>
            <p:nvPr/>
          </p:nvSpPr>
          <p:spPr>
            <a:xfrm>
              <a:off x="704850" y="2847975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優先度番号"/>
            <p:cNvSpPr/>
            <p:nvPr/>
          </p:nvSpPr>
          <p:spPr>
            <a:xfrm>
              <a:off x="704850" y="2857500"/>
              <a:ext cx="38100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31" name="アクション名"/>
            <p:cNvSpPr/>
            <p:nvPr/>
          </p:nvSpPr>
          <p:spPr>
            <a:xfrm>
              <a:off x="1428750" y="2809875"/>
              <a:ext cx="5048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調達先の複線化（主要2品目の契約締結)</a:t>
              </a:r>
            </a:p>
          </p:txBody>
        </p:sp>
        <p:sp>
          <p:nvSpPr>
            <p:cNvPr id="32" name="詳細"/>
            <p:cNvSpPr/>
            <p:nvPr/>
          </p:nvSpPr>
          <p:spPr>
            <a:xfrm>
              <a:off x="1428750" y="3076575"/>
              <a:ext cx="5048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単価▲4%の見積を取得済み</a:t>
              </a:r>
            </a:p>
          </p:txBody>
        </p:sp>
        <p:sp>
          <p:nvSpPr>
            <p:cNvPr id="33" name="担当"/>
            <p:cNvSpPr/>
            <p:nvPr/>
          </p:nvSpPr>
          <p:spPr>
            <a:xfrm>
              <a:off x="6667500" y="2809875"/>
              <a:ext cx="16192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購買部長</a:t>
              </a:r>
            </a:p>
          </p:txBody>
        </p:sp>
        <p:sp>
          <p:nvSpPr>
            <p:cNvPr id="34" name="期日チップ"/>
            <p:cNvSpPr/>
            <p:nvPr/>
          </p:nvSpPr>
          <p:spPr>
            <a:xfrm>
              <a:off x="8382000" y="2886075"/>
              <a:ext cx="800100" cy="285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期日"/>
            <p:cNvSpPr/>
            <p:nvPr/>
          </p:nvSpPr>
          <p:spPr>
            <a:xfrm>
              <a:off x="8382000" y="2895600"/>
              <a:ext cx="8001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7/31</a:t>
              </a:r>
            </a:p>
          </p:txBody>
        </p:sp>
        <p:sp>
          <p:nvSpPr>
            <p:cNvPr id="36" name="効果"/>
            <p:cNvSpPr/>
            <p:nvPr/>
          </p:nvSpPr>
          <p:spPr>
            <a:xfrm>
              <a:off x="9525000" y="2790825"/>
              <a:ext cx="2000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粗利率 ＋0.3pt</a:t>
              </a:r>
            </a:p>
          </p:txBody>
        </p:sp>
        <p:sp>
          <p:nvSpPr>
            <p:cNvPr id="37" name="効果補足"/>
            <p:cNvSpPr/>
            <p:nvPr/>
          </p:nvSpPr>
          <p:spPr>
            <a:xfrm>
              <a:off x="9525000" y="3038475"/>
              <a:ext cx="2000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9月度から寄与</a:t>
              </a:r>
            </a:p>
          </p:txBody>
        </p:sp>
      </p:grpSp>
      <p:grpSp>
        <p:nvGrpSpPr>
          <p:cNvPr id="38" name="アクション3"/>
          <p:cNvGrpSpPr/>
          <p:nvPr/>
        </p:nvGrpSpPr>
        <p:grpSpPr>
          <a:xfrm>
            <a:off x="666750" y="3619500"/>
            <a:ext cx="10858500" cy="628650"/>
            <a:chOff x="666750" y="3619500"/>
            <a:chExt cx="10858500" cy="628650"/>
          </a:xfrm>
        </p:grpSpPr>
        <p:cxnSp>
          <p:nvCxnSpPr>
            <p:cNvPr id="39" name="行区切り"/>
            <p:cNvCxnSpPr/>
            <p:nvPr/>
          </p:nvCxnSpPr>
          <p:spPr>
            <a:xfrm>
              <a:off x="666750" y="36195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優先度"/>
            <p:cNvSpPr/>
            <p:nvPr/>
          </p:nvSpPr>
          <p:spPr>
            <a:xfrm>
              <a:off x="704850" y="386715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優先度番号"/>
            <p:cNvSpPr/>
            <p:nvPr/>
          </p:nvSpPr>
          <p:spPr>
            <a:xfrm>
              <a:off x="704850" y="3876675"/>
              <a:ext cx="38100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42" name="アクション名"/>
            <p:cNvSpPr/>
            <p:nvPr/>
          </p:nvSpPr>
          <p:spPr>
            <a:xfrm>
              <a:off x="1428750" y="3829050"/>
              <a:ext cx="5048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新規リード獲得キャンペーンの開始</a:t>
              </a:r>
            </a:p>
          </p:txBody>
        </p:sp>
        <p:sp>
          <p:nvSpPr>
            <p:cNvPr id="43" name="詳細"/>
            <p:cNvSpPr/>
            <p:nvPr/>
          </p:nvSpPr>
          <p:spPr>
            <a:xfrm>
              <a:off x="1428750" y="4095750"/>
              <a:ext cx="5048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展示会と連動したデジタル施策</a:t>
              </a:r>
            </a:p>
          </p:txBody>
        </p:sp>
        <p:sp>
          <p:nvSpPr>
            <p:cNvPr id="44" name="担当"/>
            <p:cNvSpPr/>
            <p:nvPr/>
          </p:nvSpPr>
          <p:spPr>
            <a:xfrm>
              <a:off x="6667500" y="3829050"/>
              <a:ext cx="16192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マーケティング部長</a:t>
              </a:r>
            </a:p>
          </p:txBody>
        </p:sp>
        <p:sp>
          <p:nvSpPr>
            <p:cNvPr id="45" name="期日チップ"/>
            <p:cNvSpPr/>
            <p:nvPr/>
          </p:nvSpPr>
          <p:spPr>
            <a:xfrm>
              <a:off x="8382000" y="3905250"/>
              <a:ext cx="800100" cy="285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期日"/>
            <p:cNvSpPr/>
            <p:nvPr/>
          </p:nvSpPr>
          <p:spPr>
            <a:xfrm>
              <a:off x="8382000" y="3914775"/>
              <a:ext cx="8001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7/10</a:t>
              </a:r>
            </a:p>
          </p:txBody>
        </p:sp>
        <p:sp>
          <p:nvSpPr>
            <p:cNvPr id="47" name="効果"/>
            <p:cNvSpPr/>
            <p:nvPr/>
          </p:nvSpPr>
          <p:spPr>
            <a:xfrm>
              <a:off x="9525000" y="3810000"/>
              <a:ext cx="2000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受注 前月比プラス</a:t>
              </a:r>
            </a:p>
          </p:txBody>
        </p:sp>
        <p:sp>
          <p:nvSpPr>
            <p:cNvPr id="48" name="効果補足"/>
            <p:cNvSpPr/>
            <p:nvPr/>
          </p:nvSpPr>
          <p:spPr>
            <a:xfrm>
              <a:off x="9525000" y="4057650"/>
              <a:ext cx="2000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7月末に効果検証</a:t>
              </a:r>
            </a:p>
          </p:txBody>
        </p:sp>
      </p:grpSp>
      <p:grpSp>
        <p:nvGrpSpPr>
          <p:cNvPr id="49" name="アクション4"/>
          <p:cNvGrpSpPr/>
          <p:nvPr/>
        </p:nvGrpSpPr>
        <p:grpSpPr>
          <a:xfrm>
            <a:off x="666750" y="4638675"/>
            <a:ext cx="10858500" cy="628650"/>
            <a:chOff x="666750" y="4638675"/>
            <a:chExt cx="10858500" cy="628650"/>
          </a:xfrm>
        </p:grpSpPr>
        <p:cxnSp>
          <p:nvCxnSpPr>
            <p:cNvPr id="50" name="行区切り"/>
            <p:cNvCxnSpPr/>
            <p:nvPr/>
          </p:nvCxnSpPr>
          <p:spPr>
            <a:xfrm>
              <a:off x="666750" y="4638675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優先度"/>
            <p:cNvSpPr/>
            <p:nvPr/>
          </p:nvSpPr>
          <p:spPr>
            <a:xfrm>
              <a:off x="704850" y="4886325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優先度番号"/>
            <p:cNvSpPr/>
            <p:nvPr/>
          </p:nvSpPr>
          <p:spPr>
            <a:xfrm>
              <a:off x="704850" y="4895850"/>
              <a:ext cx="38100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4</a:t>
              </a:r>
            </a:p>
          </p:txBody>
        </p:sp>
        <p:sp>
          <p:nvSpPr>
            <p:cNvPr id="53" name="アクション名"/>
            <p:cNvSpPr/>
            <p:nvPr/>
          </p:nvSpPr>
          <p:spPr>
            <a:xfrm>
              <a:off x="1428750" y="4848225"/>
              <a:ext cx="5048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原価低減PJの体制増強（2名増員）</a:t>
              </a:r>
            </a:p>
          </p:txBody>
        </p:sp>
        <p:sp>
          <p:nvSpPr>
            <p:cNvPr id="54" name="詳細"/>
            <p:cNvSpPr/>
            <p:nvPr/>
          </p:nvSpPr>
          <p:spPr>
            <a:xfrm>
              <a:off x="1428750" y="5114925"/>
              <a:ext cx="5048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P.10の承認後、即日発令</a:t>
              </a:r>
            </a:p>
          </p:txBody>
        </p:sp>
        <p:sp>
          <p:nvSpPr>
            <p:cNvPr id="55" name="担当"/>
            <p:cNvSpPr/>
            <p:nvPr/>
          </p:nvSpPr>
          <p:spPr>
            <a:xfrm>
              <a:off x="6667500" y="4848225"/>
              <a:ext cx="16192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経営企画部長</a:t>
              </a:r>
            </a:p>
          </p:txBody>
        </p:sp>
        <p:sp>
          <p:nvSpPr>
            <p:cNvPr id="56" name="期日チップ"/>
            <p:cNvSpPr/>
            <p:nvPr/>
          </p:nvSpPr>
          <p:spPr>
            <a:xfrm>
              <a:off x="8382000" y="4924425"/>
              <a:ext cx="800100" cy="285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期日"/>
            <p:cNvSpPr/>
            <p:nvPr/>
          </p:nvSpPr>
          <p:spPr>
            <a:xfrm>
              <a:off x="8382000" y="4933950"/>
              <a:ext cx="8001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7/8</a:t>
              </a:r>
            </a:p>
          </p:txBody>
        </p:sp>
        <p:sp>
          <p:nvSpPr>
            <p:cNvPr id="58" name="効果"/>
            <p:cNvSpPr/>
            <p:nvPr/>
          </p:nvSpPr>
          <p:spPr>
            <a:xfrm>
              <a:off x="9525000" y="4829175"/>
              <a:ext cx="2000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遅延20ptの解消</a:t>
              </a:r>
            </a:p>
          </p:txBody>
        </p:sp>
        <p:sp>
          <p:nvSpPr>
            <p:cNvPr id="59" name="効果補足"/>
            <p:cNvSpPr/>
            <p:nvPr/>
          </p:nvSpPr>
          <p:spPr>
            <a:xfrm>
              <a:off x="9525000" y="5076825"/>
              <a:ext cx="2000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8月末に計画へ復帰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2026年6月度｜ご相談・依頼事項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ご決定いただきたい事項は3点。最優先は価格改定の承認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注：いずれも可否（Yes／No）でご判断いただける形に論点を整理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出所：経営企画部とりまとめ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10</a:t>
              </a:r>
            </a:p>
          </p:txBody>
        </p:sp>
      </p:grpSp>
      <p:grpSp>
        <p:nvGrpSpPr>
          <p:cNvPr id="11" name="相談1"/>
          <p:cNvGrpSpPr/>
          <p:nvPr/>
        </p:nvGrpSpPr>
        <p:grpSpPr>
          <a:xfrm>
            <a:off x="666750" y="1409700"/>
            <a:ext cx="10858500" cy="1066800"/>
            <a:chOff x="666750" y="1409700"/>
            <a:chExt cx="10858500" cy="1066800"/>
          </a:xfrm>
        </p:grpSpPr>
        <p:sp>
          <p:nvSpPr>
            <p:cNvPr id="12" name="カード"/>
            <p:cNvSpPr/>
            <p:nvPr/>
          </p:nvSpPr>
          <p:spPr>
            <a:xfrm>
              <a:off x="666750" y="1409700"/>
              <a:ext cx="10858500" cy="1066800"/>
            </a:xfrm>
            <a:prstGeom prst="roundRect">
              <a:avLst>
                <a:gd name="adj" fmla="val 714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番号タイル"/>
            <p:cNvSpPr/>
            <p:nvPr/>
          </p:nvSpPr>
          <p:spPr>
            <a:xfrm>
              <a:off x="895350" y="1638300"/>
              <a:ext cx="419100" cy="419100"/>
            </a:xfrm>
            <a:prstGeom prst="roundRect">
              <a:avLst>
                <a:gd name="adj" fmla="val 1363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番号"/>
            <p:cNvSpPr/>
            <p:nvPr/>
          </p:nvSpPr>
          <p:spPr>
            <a:xfrm>
              <a:off x="895350" y="1647825"/>
              <a:ext cx="4191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7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15" name="お諮りする論点"/>
            <p:cNvSpPr/>
            <p:nvPr/>
          </p:nvSpPr>
          <p:spPr>
            <a:xfrm>
              <a:off x="1543050" y="1600200"/>
              <a:ext cx="6286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価格改定（平均＋3%）の7月前倒し実施を承認いただけますか</a:t>
              </a:r>
            </a:p>
          </p:txBody>
        </p:sp>
        <p:sp>
          <p:nvSpPr>
            <p:cNvPr id="16" name="背景"/>
            <p:cNvSpPr/>
            <p:nvPr/>
          </p:nvSpPr>
          <p:spPr>
            <a:xfrm>
              <a:off x="1543050" y="1905000"/>
              <a:ext cx="62865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背景：当初は10月予定。粗利率＋0.9ptの回復に必須で、主要顧客向けの説明資料は準備済み</a:t>
              </a:r>
            </a:p>
          </p:txBody>
        </p:sp>
        <p:cxnSp>
          <p:nvCxnSpPr>
            <p:cNvPr id="17" name="仕切り線"/>
            <p:cNvCxnSpPr/>
            <p:nvPr/>
          </p:nvCxnSpPr>
          <p:spPr>
            <a:xfrm>
              <a:off x="8191500" y="1581150"/>
              <a:ext cx="0" cy="7239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期限ラベル"/>
            <p:cNvSpPr/>
            <p:nvPr/>
          </p:nvSpPr>
          <p:spPr>
            <a:xfrm>
              <a:off x="8458200" y="1581150"/>
              <a:ext cx="1428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ご決定期限</a:t>
              </a:r>
            </a:p>
          </p:txBody>
        </p:sp>
        <p:sp>
          <p:nvSpPr>
            <p:cNvPr id="19" name="期限"/>
            <p:cNvSpPr/>
            <p:nvPr/>
          </p:nvSpPr>
          <p:spPr>
            <a:xfrm>
              <a:off x="8458200" y="1752600"/>
              <a:ext cx="1714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本日</a:t>
              </a:r>
            </a:p>
          </p:txBody>
        </p:sp>
        <p:sp>
          <p:nvSpPr>
            <p:cNvPr id="20" name="効果"/>
            <p:cNvSpPr/>
            <p:nvPr/>
          </p:nvSpPr>
          <p:spPr>
            <a:xfrm>
              <a:off x="8458200" y="209550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効果：粗利率 ＋0.9pt</a:t>
              </a:r>
            </a:p>
          </p:txBody>
        </p:sp>
      </p:grpSp>
      <p:grpSp>
        <p:nvGrpSpPr>
          <p:cNvPr id="21" name="相談2"/>
          <p:cNvGrpSpPr/>
          <p:nvPr/>
        </p:nvGrpSpPr>
        <p:grpSpPr>
          <a:xfrm>
            <a:off x="666750" y="2628900"/>
            <a:ext cx="10858500" cy="1066800"/>
            <a:chOff x="666750" y="2628900"/>
            <a:chExt cx="10858500" cy="1066800"/>
          </a:xfrm>
        </p:grpSpPr>
        <p:sp>
          <p:nvSpPr>
            <p:cNvPr id="22" name="カード"/>
            <p:cNvSpPr/>
            <p:nvPr/>
          </p:nvSpPr>
          <p:spPr>
            <a:xfrm>
              <a:off x="666750" y="2628900"/>
              <a:ext cx="10858500" cy="1066800"/>
            </a:xfrm>
            <a:prstGeom prst="roundRect">
              <a:avLst>
                <a:gd name="adj" fmla="val 714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番号タイル"/>
            <p:cNvSpPr/>
            <p:nvPr/>
          </p:nvSpPr>
          <p:spPr>
            <a:xfrm>
              <a:off x="895350" y="2857500"/>
              <a:ext cx="419100" cy="419100"/>
            </a:xfrm>
            <a:prstGeom prst="roundRect">
              <a:avLst>
                <a:gd name="adj" fmla="val 1363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番号"/>
            <p:cNvSpPr/>
            <p:nvPr/>
          </p:nvSpPr>
          <p:spPr>
            <a:xfrm>
              <a:off x="895350" y="2867025"/>
              <a:ext cx="4191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7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25" name="お諮りする論点"/>
            <p:cNvSpPr/>
            <p:nvPr/>
          </p:nvSpPr>
          <p:spPr>
            <a:xfrm>
              <a:off x="1543050" y="2819400"/>
              <a:ext cx="6286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原価低減PJへの増員2名（管理部門から異動）を承認いただけますか</a:t>
              </a:r>
            </a:p>
          </p:txBody>
        </p:sp>
        <p:sp>
          <p:nvSpPr>
            <p:cNvPr id="26" name="背景"/>
            <p:cNvSpPr/>
            <p:nvPr/>
          </p:nvSpPr>
          <p:spPr>
            <a:xfrm>
              <a:off x="1543050" y="3124200"/>
              <a:ext cx="62865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背景：進捗20pt遅延の解消に必要。異動での対応のため、人件費の追加負担はなし</a:t>
              </a:r>
            </a:p>
          </p:txBody>
        </p:sp>
        <p:cxnSp>
          <p:nvCxnSpPr>
            <p:cNvPr id="27" name="仕切り線"/>
            <p:cNvCxnSpPr/>
            <p:nvPr/>
          </p:nvCxnSpPr>
          <p:spPr>
            <a:xfrm>
              <a:off x="8191500" y="2800350"/>
              <a:ext cx="0" cy="7239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期限ラベル"/>
            <p:cNvSpPr/>
            <p:nvPr/>
          </p:nvSpPr>
          <p:spPr>
            <a:xfrm>
              <a:off x="8458200" y="2800350"/>
              <a:ext cx="1428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ご決定期限</a:t>
              </a:r>
            </a:p>
          </p:txBody>
        </p:sp>
        <p:sp>
          <p:nvSpPr>
            <p:cNvPr id="29" name="期限"/>
            <p:cNvSpPr/>
            <p:nvPr/>
          </p:nvSpPr>
          <p:spPr>
            <a:xfrm>
              <a:off x="8458200" y="2971800"/>
              <a:ext cx="1714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7/8</a:t>
              </a:r>
            </a:p>
          </p:txBody>
        </p:sp>
        <p:sp>
          <p:nvSpPr>
            <p:cNvPr id="30" name="効果"/>
            <p:cNvSpPr/>
            <p:nvPr/>
          </p:nvSpPr>
          <p:spPr>
            <a:xfrm>
              <a:off x="8458200" y="331470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効果：施策遅延の解消</a:t>
              </a:r>
            </a:p>
          </p:txBody>
        </p:sp>
      </p:grpSp>
      <p:grpSp>
        <p:nvGrpSpPr>
          <p:cNvPr id="31" name="相談3"/>
          <p:cNvGrpSpPr/>
          <p:nvPr/>
        </p:nvGrpSpPr>
        <p:grpSpPr>
          <a:xfrm>
            <a:off x="666750" y="3848100"/>
            <a:ext cx="10858500" cy="1066800"/>
            <a:chOff x="666750" y="3848100"/>
            <a:chExt cx="10858500" cy="1066800"/>
          </a:xfrm>
        </p:grpSpPr>
        <p:sp>
          <p:nvSpPr>
            <p:cNvPr id="32" name="カード"/>
            <p:cNvSpPr/>
            <p:nvPr/>
          </p:nvSpPr>
          <p:spPr>
            <a:xfrm>
              <a:off x="666750" y="3848100"/>
              <a:ext cx="10858500" cy="1066800"/>
            </a:xfrm>
            <a:prstGeom prst="roundRect">
              <a:avLst>
                <a:gd name="adj" fmla="val 714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番号タイル"/>
            <p:cNvSpPr/>
            <p:nvPr/>
          </p:nvSpPr>
          <p:spPr>
            <a:xfrm>
              <a:off x="895350" y="4076700"/>
              <a:ext cx="419100" cy="419100"/>
            </a:xfrm>
            <a:prstGeom prst="roundRect">
              <a:avLst>
                <a:gd name="adj" fmla="val 1363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番号"/>
            <p:cNvSpPr/>
            <p:nvPr/>
          </p:nvSpPr>
          <p:spPr>
            <a:xfrm>
              <a:off x="895350" y="4086225"/>
              <a:ext cx="4191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7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35" name="お諮りする論点"/>
            <p:cNvSpPr/>
            <p:nvPr/>
          </p:nvSpPr>
          <p:spPr>
            <a:xfrm>
              <a:off x="1543050" y="4038600"/>
              <a:ext cx="6286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販促予算300万円の前倒し執行を承認いただけますか</a:t>
              </a:r>
            </a:p>
          </p:txBody>
        </p:sp>
        <p:sp>
          <p:nvSpPr>
            <p:cNvPr id="36" name="背景"/>
            <p:cNvSpPr/>
            <p:nvPr/>
          </p:nvSpPr>
          <p:spPr>
            <a:xfrm>
              <a:off x="1543050" y="4343400"/>
              <a:ext cx="62865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背景：受注反転キャンペーンの原資。Q3予算内の付け替えで追加予算は不要</a:t>
              </a:r>
            </a:p>
          </p:txBody>
        </p:sp>
        <p:cxnSp>
          <p:nvCxnSpPr>
            <p:cNvPr id="37" name="仕切り線"/>
            <p:cNvCxnSpPr/>
            <p:nvPr/>
          </p:nvCxnSpPr>
          <p:spPr>
            <a:xfrm>
              <a:off x="8191500" y="4019550"/>
              <a:ext cx="0" cy="7239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期限ラベル"/>
            <p:cNvSpPr/>
            <p:nvPr/>
          </p:nvSpPr>
          <p:spPr>
            <a:xfrm>
              <a:off x="8458200" y="4019550"/>
              <a:ext cx="1428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ご決定期限</a:t>
              </a:r>
            </a:p>
          </p:txBody>
        </p:sp>
        <p:sp>
          <p:nvSpPr>
            <p:cNvPr id="39" name="期限"/>
            <p:cNvSpPr/>
            <p:nvPr/>
          </p:nvSpPr>
          <p:spPr>
            <a:xfrm>
              <a:off x="8458200" y="4191000"/>
              <a:ext cx="1714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7/10</a:t>
              </a:r>
            </a:p>
          </p:txBody>
        </p:sp>
        <p:sp>
          <p:nvSpPr>
            <p:cNvPr id="40" name="効果"/>
            <p:cNvSpPr/>
            <p:nvPr/>
          </p:nvSpPr>
          <p:spPr>
            <a:xfrm>
              <a:off x="8458200" y="453390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効果：受注 前月比プラス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2026年6月度｜まとめ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6月は増収増益を維持。7月に粗利と受注を立て直す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419850"/>
            <a:ext cx="10858500" cy="152400"/>
            <a:chOff x="666750" y="6419850"/>
            <a:chExt cx="10858500" cy="152400"/>
          </a:xfrm>
        </p:grpSpPr>
        <p:sp>
          <p:nvSpPr>
            <p:cNvPr id="8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出所：社内管理会計（2026年6月度）</a:t>
              </a:r>
            </a:p>
          </p:txBody>
        </p:sp>
        <p:sp>
          <p:nvSpPr>
            <p:cNvPr id="9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11</a:t>
              </a:r>
            </a:p>
          </p:txBody>
        </p:sp>
      </p:grpSp>
      <p:grpSp>
        <p:nvGrpSpPr>
          <p:cNvPr id="10" name="今月の総括"/>
          <p:cNvGrpSpPr/>
          <p:nvPr/>
        </p:nvGrpSpPr>
        <p:grpSpPr>
          <a:xfrm>
            <a:off x="666750" y="1181100"/>
            <a:ext cx="10858500" cy="1543050"/>
            <a:chOff x="666750" y="1181100"/>
            <a:chExt cx="10858500" cy="1543050"/>
          </a:xfrm>
        </p:grpSpPr>
        <p:sp>
          <p:nvSpPr>
            <p:cNvPr id="11" name="総括ボックス"/>
            <p:cNvSpPr/>
            <p:nvPr/>
          </p:nvSpPr>
          <p:spPr>
            <a:xfrm>
              <a:off x="666750" y="1314450"/>
              <a:ext cx="10858500" cy="1409700"/>
            </a:xfrm>
            <a:prstGeom prst="roundRect">
              <a:avLst>
                <a:gd name="adj" fmla="val 6756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ラベル帯"/>
            <p:cNvSpPr/>
            <p:nvPr/>
          </p:nvSpPr>
          <p:spPr>
            <a:xfrm>
              <a:off x="933450" y="1181100"/>
              <a:ext cx="1104900" cy="266700"/>
            </a:xfrm>
            <a:prstGeom prst="roundRect">
              <a:avLst>
                <a:gd name="adj" fmla="val 14285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ラベル帯文字"/>
            <p:cNvSpPr/>
            <p:nvPr/>
          </p:nvSpPr>
          <p:spPr>
            <a:xfrm>
              <a:off x="933450" y="1190625"/>
              <a:ext cx="11049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今月の総括</a:t>
              </a:r>
            </a:p>
          </p:txBody>
        </p:sp>
        <p:sp>
          <p:nvSpPr>
            <p:cNvPr id="14" name="総括文"/>
            <p:cNvSpPr/>
            <p:nvPr/>
          </p:nvSpPr>
          <p:spPr>
            <a:xfrm>
              <a:off x="1085850" y="1600200"/>
              <a:ext cx="10020300" cy="952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650" b="1">
                  <a:solidFill>
                    <a:schemeClr val="lt1"/>
                  </a:solidFill>
                </a:rPr>
                <a:t>6月は増収増益を確保した。一方で、粗利率の低下と新規受注の減少という</a:t>
              </a:r>
            </a:p>
            <a:p>
              <a:pPr algn="l">
                <a:lnSpc>
                  <a:spcPct val="160000"/>
                </a:lnSpc>
              </a:pPr>
              <a:r>
                <a:rPr sz="1650" b="1">
                  <a:solidFill>
                    <a:schemeClr val="lt1"/>
                  </a:solidFill>
                </a:rPr>
                <a:t>2つの火種が顕在化した</a:t>
              </a:r>
            </a:p>
          </p:txBody>
        </p:sp>
      </p:grpSp>
      <p:grpSp>
        <p:nvGrpSpPr>
          <p:cNvPr id="15" name="接続"/>
          <p:cNvGrpSpPr/>
          <p:nvPr/>
        </p:nvGrpSpPr>
        <p:grpSpPr>
          <a:xfrm>
            <a:off x="5972175" y="2857500"/>
            <a:ext cx="247650" cy="152400"/>
            <a:chOff x="5972175" y="2857500"/>
            <a:chExt cx="247650" cy="152400"/>
          </a:xfrm>
        </p:grpSpPr>
        <p:sp>
          <p:nvSpPr>
            <p:cNvPr id="16" name="下向き矢印"/>
            <p:cNvSpPr/>
            <p:nvPr/>
          </p:nvSpPr>
          <p:spPr>
            <a:xfrm rot="10800000">
              <a:off x="5972175" y="2857500"/>
              <a:ext cx="247650" cy="15240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来月の約束"/>
          <p:cNvGrpSpPr/>
          <p:nvPr/>
        </p:nvGrpSpPr>
        <p:grpSpPr>
          <a:xfrm>
            <a:off x="666750" y="3009900"/>
            <a:ext cx="10858500" cy="1543050"/>
            <a:chOff x="666750" y="3009900"/>
            <a:chExt cx="10858500" cy="1543050"/>
          </a:xfrm>
        </p:grpSpPr>
        <p:sp>
          <p:nvSpPr>
            <p:cNvPr id="18" name="約束ボックス"/>
            <p:cNvSpPr/>
            <p:nvPr/>
          </p:nvSpPr>
          <p:spPr>
            <a:xfrm>
              <a:off x="666750" y="3143250"/>
              <a:ext cx="10858500" cy="1409700"/>
            </a:xfrm>
            <a:prstGeom prst="roundRect">
              <a:avLst>
                <a:gd name="adj" fmla="val 6756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ラベル帯"/>
            <p:cNvSpPr/>
            <p:nvPr/>
          </p:nvSpPr>
          <p:spPr>
            <a:xfrm>
              <a:off x="933450" y="3009900"/>
              <a:ext cx="1104900" cy="266700"/>
            </a:xfrm>
            <a:prstGeom prst="roundRect">
              <a:avLst>
                <a:gd name="adj" fmla="val 14285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ラベル帯文字"/>
            <p:cNvSpPr/>
            <p:nvPr/>
          </p:nvSpPr>
          <p:spPr>
            <a:xfrm>
              <a:off x="933450" y="3019425"/>
              <a:ext cx="11049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来月の約束</a:t>
              </a:r>
            </a:p>
          </p:txBody>
        </p:sp>
        <p:sp>
          <p:nvSpPr>
            <p:cNvPr id="21" name="約束文"/>
            <p:cNvSpPr/>
            <p:nvPr/>
          </p:nvSpPr>
          <p:spPr>
            <a:xfrm>
              <a:off x="1085850" y="3429000"/>
              <a:ext cx="10020300" cy="952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650" b="1">
                  <a:solidFill>
                    <a:schemeClr val="dk2"/>
                  </a:solidFill>
                </a:rPr>
                <a:t>7月は価格改定と受注反転策をやり切り、</a:t>
              </a:r>
            </a:p>
            <a:p>
              <a:pPr algn="l">
                <a:lnSpc>
                  <a:spcPct val="160000"/>
                </a:lnSpc>
              </a:pPr>
              <a:r>
                <a:rPr sz="1650" b="1">
                  <a:solidFill>
                    <a:schemeClr val="dk2"/>
                  </a:solidFill>
                </a:rPr>
                <a:t>粗利率32%台・新規受注の前月比プラスへ回復させる</a:t>
              </a:r>
            </a:p>
          </p:txBody>
        </p:sp>
      </p:grpSp>
      <p:grpSp>
        <p:nvGrpSpPr>
          <p:cNvPr id="22" name="7月目標_売上"/>
          <p:cNvGrpSpPr/>
          <p:nvPr/>
        </p:nvGrpSpPr>
        <p:grpSpPr>
          <a:xfrm>
            <a:off x="666750" y="4876800"/>
            <a:ext cx="3467100" cy="723900"/>
            <a:chOff x="666750" y="4876800"/>
            <a:chExt cx="3467100" cy="723900"/>
          </a:xfrm>
        </p:grpSpPr>
        <p:sp>
          <p:nvSpPr>
            <p:cNvPr id="23" name="目標カード"/>
            <p:cNvSpPr/>
            <p:nvPr/>
          </p:nvSpPr>
          <p:spPr>
            <a:xfrm>
              <a:off x="666750" y="4876800"/>
              <a:ext cx="3467100" cy="723900"/>
            </a:xfrm>
            <a:prstGeom prst="roundRect">
              <a:avLst>
                <a:gd name="adj" fmla="val 1052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目標ラベル"/>
            <p:cNvSpPr/>
            <p:nvPr/>
          </p:nvSpPr>
          <p:spPr>
            <a:xfrm>
              <a:off x="895350" y="5010150"/>
              <a:ext cx="3009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7月の目標｜売上</a:t>
              </a:r>
            </a:p>
          </p:txBody>
        </p:sp>
        <p:sp>
          <p:nvSpPr>
            <p:cNvPr id="25" name="目標値"/>
            <p:cNvSpPr/>
            <p:nvPr/>
          </p:nvSpPr>
          <p:spPr>
            <a:xfrm>
              <a:off x="895350" y="5200650"/>
              <a:ext cx="3009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計画比100%超を維持</a:t>
              </a:r>
            </a:p>
          </p:txBody>
        </p:sp>
      </p:grpSp>
      <p:grpSp>
        <p:nvGrpSpPr>
          <p:cNvPr id="26" name="7月目標_粗利率"/>
          <p:cNvGrpSpPr/>
          <p:nvPr/>
        </p:nvGrpSpPr>
        <p:grpSpPr>
          <a:xfrm>
            <a:off x="4362450" y="4876800"/>
            <a:ext cx="3467100" cy="723900"/>
            <a:chOff x="4362450" y="4876800"/>
            <a:chExt cx="3467100" cy="723900"/>
          </a:xfrm>
        </p:grpSpPr>
        <p:sp>
          <p:nvSpPr>
            <p:cNvPr id="27" name="目標カード"/>
            <p:cNvSpPr/>
            <p:nvPr/>
          </p:nvSpPr>
          <p:spPr>
            <a:xfrm>
              <a:off x="4362450" y="4876800"/>
              <a:ext cx="3467100" cy="723900"/>
            </a:xfrm>
            <a:prstGeom prst="roundRect">
              <a:avLst>
                <a:gd name="adj" fmla="val 1052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目標ラベル"/>
            <p:cNvSpPr/>
            <p:nvPr/>
          </p:nvSpPr>
          <p:spPr>
            <a:xfrm>
              <a:off x="4591050" y="5010150"/>
              <a:ext cx="3009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7月の目標｜粗利率</a:t>
              </a:r>
            </a:p>
          </p:txBody>
        </p:sp>
        <p:sp>
          <p:nvSpPr>
            <p:cNvPr id="29" name="目標値"/>
            <p:cNvSpPr/>
            <p:nvPr/>
          </p:nvSpPr>
          <p:spPr>
            <a:xfrm>
              <a:off x="4591050" y="5200650"/>
              <a:ext cx="3009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32%台へ回復</a:t>
              </a:r>
            </a:p>
          </p:txBody>
        </p:sp>
      </p:grpSp>
      <p:grpSp>
        <p:nvGrpSpPr>
          <p:cNvPr id="30" name="7月目標_新規受注"/>
          <p:cNvGrpSpPr/>
          <p:nvPr/>
        </p:nvGrpSpPr>
        <p:grpSpPr>
          <a:xfrm>
            <a:off x="8058150" y="4876800"/>
            <a:ext cx="3467100" cy="723900"/>
            <a:chOff x="8058150" y="4876800"/>
            <a:chExt cx="3467100" cy="723900"/>
          </a:xfrm>
        </p:grpSpPr>
        <p:sp>
          <p:nvSpPr>
            <p:cNvPr id="31" name="目標カード"/>
            <p:cNvSpPr/>
            <p:nvPr/>
          </p:nvSpPr>
          <p:spPr>
            <a:xfrm>
              <a:off x="8058150" y="4876800"/>
              <a:ext cx="3467100" cy="723900"/>
            </a:xfrm>
            <a:prstGeom prst="roundRect">
              <a:avLst>
                <a:gd name="adj" fmla="val 1052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目標ラベル"/>
            <p:cNvSpPr/>
            <p:nvPr/>
          </p:nvSpPr>
          <p:spPr>
            <a:xfrm>
              <a:off x="8286750" y="5010150"/>
              <a:ext cx="3009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7月の目標｜新規受注</a:t>
              </a:r>
            </a:p>
          </p:txBody>
        </p:sp>
        <p:sp>
          <p:nvSpPr>
            <p:cNvPr id="33" name="目標値"/>
            <p:cNvSpPr/>
            <p:nvPr/>
          </p:nvSpPr>
          <p:spPr>
            <a:xfrm>
              <a:off x="8286750" y="5200650"/>
              <a:ext cx="3009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前月比プラスへ転換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2026年6月度｜Appendix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以降は補足データ。本編の根拠数値と定義を収載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注：本資料に記載の組織名・数値はすべて架空のサンプルです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出所：社内管理会計（2026年6月度）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12</a:t>
              </a:r>
            </a:p>
          </p:txBody>
        </p:sp>
      </p:grpSp>
      <p:grpSp>
        <p:nvGrpSpPr>
          <p:cNvPr id="11" name="背景装飾"/>
          <p:cNvGrpSpPr/>
          <p:nvPr/>
        </p:nvGrpSpPr>
        <p:grpSpPr>
          <a:xfrm>
            <a:off x="7810500" y="1238250"/>
            <a:ext cx="3714750" cy="2857500"/>
            <a:chOff x="7810500" y="1238250"/>
            <a:chExt cx="3714750" cy="2857500"/>
          </a:xfrm>
        </p:grpSpPr>
        <p:sp>
          <p:nvSpPr>
            <p:cNvPr id="12" name="章装飾"/>
            <p:cNvSpPr/>
            <p:nvPr/>
          </p:nvSpPr>
          <p:spPr>
            <a:xfrm>
              <a:off x="7810500" y="1238250"/>
              <a:ext cx="3714750" cy="2857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0000" b="1">
                  <a:solidFill>
                    <a:schemeClr val="lt2"/>
                  </a:solidFill>
                </a:rPr>
                <a:t>A</a:t>
              </a:r>
            </a:p>
          </p:txBody>
        </p:sp>
      </p:grpSp>
      <p:grpSp>
        <p:nvGrpSpPr>
          <p:cNvPr id="13" name="章扉"/>
          <p:cNvGrpSpPr/>
          <p:nvPr/>
        </p:nvGrpSpPr>
        <p:grpSpPr>
          <a:xfrm>
            <a:off x="666750" y="1676400"/>
            <a:ext cx="6667500" cy="1104900"/>
            <a:chOff x="666750" y="1676400"/>
            <a:chExt cx="6667500" cy="1104900"/>
          </a:xfrm>
        </p:grpSpPr>
        <p:sp>
          <p:nvSpPr>
            <p:cNvPr id="14" name="章名"/>
            <p:cNvSpPr/>
            <p:nvPr/>
          </p:nvSpPr>
          <p:spPr>
            <a:xfrm>
              <a:off x="666750" y="1676400"/>
              <a:ext cx="666750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4400" b="1">
                  <a:solidFill>
                    <a:schemeClr val="dk2"/>
                  </a:solidFill>
                </a:rPr>
                <a:t>Appendix</a:t>
              </a:r>
            </a:p>
          </p:txBody>
        </p:sp>
        <p:sp>
          <p:nvSpPr>
            <p:cNvPr id="15" name="章名和文"/>
            <p:cNvSpPr/>
            <p:nvPr/>
          </p:nvSpPr>
          <p:spPr>
            <a:xfrm>
              <a:off x="666750" y="2381250"/>
              <a:ext cx="3810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>
                  <a:solidFill>
                    <a:schemeClr val="accent5"/>
                  </a:solidFill>
                </a:rPr>
                <a:t>補足データ</a:t>
              </a:r>
            </a:p>
          </p:txBody>
        </p:sp>
        <p:sp>
          <p:nvSpPr>
            <p:cNvPr id="16" name="アクセント線"/>
            <p:cNvSpPr/>
            <p:nvPr/>
          </p:nvSpPr>
          <p:spPr>
            <a:xfrm>
              <a:off x="666750" y="2743200"/>
              <a:ext cx="5334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目次_A-1"/>
          <p:cNvGrpSpPr/>
          <p:nvPr/>
        </p:nvGrpSpPr>
        <p:grpSpPr>
          <a:xfrm>
            <a:off x="666750" y="3352800"/>
            <a:ext cx="6858000" cy="419100"/>
            <a:chOff x="666750" y="3352800"/>
            <a:chExt cx="6858000" cy="419100"/>
          </a:xfrm>
        </p:grpSpPr>
        <p:sp>
          <p:nvSpPr>
            <p:cNvPr id="18" name="番号チップ"/>
            <p:cNvSpPr/>
            <p:nvPr/>
          </p:nvSpPr>
          <p:spPr>
            <a:xfrm>
              <a:off x="666750" y="3371850"/>
              <a:ext cx="5334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番号チップ文字"/>
            <p:cNvSpPr/>
            <p:nvPr/>
          </p:nvSpPr>
          <p:spPr>
            <a:xfrm>
              <a:off x="666750" y="3381375"/>
              <a:ext cx="53340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A-1</a:t>
              </a:r>
            </a:p>
          </p:txBody>
        </p:sp>
        <p:sp>
          <p:nvSpPr>
            <p:cNvPr id="20" name="項目名"/>
            <p:cNvSpPr/>
            <p:nvPr/>
          </p:nvSpPr>
          <p:spPr>
            <a:xfrm>
              <a:off x="1428750" y="3352800"/>
              <a:ext cx="3810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セグメント別損益明細</a:t>
              </a:r>
            </a:p>
          </p:txBody>
        </p:sp>
        <p:sp>
          <p:nvSpPr>
            <p:cNvPr id="21" name="項目説明"/>
            <p:cNvSpPr/>
            <p:nvPr/>
          </p:nvSpPr>
          <p:spPr>
            <a:xfrm>
              <a:off x="1428750" y="3619500"/>
              <a:ext cx="6096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事業別のPLと前年比較（月次・累計）</a:t>
              </a:r>
            </a:p>
          </p:txBody>
        </p:sp>
      </p:grpSp>
      <p:grpSp>
        <p:nvGrpSpPr>
          <p:cNvPr id="22" name="目次_A-2"/>
          <p:cNvGrpSpPr/>
          <p:nvPr/>
        </p:nvGrpSpPr>
        <p:grpSpPr>
          <a:xfrm>
            <a:off x="666750" y="4000500"/>
            <a:ext cx="7239000" cy="571500"/>
            <a:chOff x="666750" y="4000500"/>
            <a:chExt cx="7239000" cy="571500"/>
          </a:xfrm>
        </p:grpSpPr>
        <p:cxnSp>
          <p:nvCxnSpPr>
            <p:cNvPr id="23" name="区切り線"/>
            <p:cNvCxnSpPr/>
            <p:nvPr/>
          </p:nvCxnSpPr>
          <p:spPr>
            <a:xfrm>
              <a:off x="666750" y="4000500"/>
              <a:ext cx="723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番号チップ"/>
            <p:cNvSpPr/>
            <p:nvPr/>
          </p:nvSpPr>
          <p:spPr>
            <a:xfrm>
              <a:off x="666750" y="4171950"/>
              <a:ext cx="5334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番号チップ文字"/>
            <p:cNvSpPr/>
            <p:nvPr/>
          </p:nvSpPr>
          <p:spPr>
            <a:xfrm>
              <a:off x="666750" y="4181475"/>
              <a:ext cx="53340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A-2</a:t>
              </a:r>
            </a:p>
          </p:txBody>
        </p:sp>
        <p:sp>
          <p:nvSpPr>
            <p:cNvPr id="26" name="項目名"/>
            <p:cNvSpPr/>
            <p:nvPr/>
          </p:nvSpPr>
          <p:spPr>
            <a:xfrm>
              <a:off x="1428750" y="4152900"/>
              <a:ext cx="3810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KPI推移一覧（13ヶ月）</a:t>
              </a:r>
            </a:p>
          </p:txBody>
        </p:sp>
        <p:sp>
          <p:nvSpPr>
            <p:cNvPr id="27" name="項目説明"/>
            <p:cNvSpPr/>
            <p:nvPr/>
          </p:nvSpPr>
          <p:spPr>
            <a:xfrm>
              <a:off x="1428750" y="4419600"/>
              <a:ext cx="6096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売上・粗利率・受注件数・受注単価の月次推移</a:t>
              </a:r>
            </a:p>
          </p:txBody>
        </p:sp>
      </p:grpSp>
      <p:grpSp>
        <p:nvGrpSpPr>
          <p:cNvPr id="28" name="目次_A-3"/>
          <p:cNvGrpSpPr/>
          <p:nvPr/>
        </p:nvGrpSpPr>
        <p:grpSpPr>
          <a:xfrm>
            <a:off x="666750" y="4800600"/>
            <a:ext cx="7239000" cy="571500"/>
            <a:chOff x="666750" y="4800600"/>
            <a:chExt cx="7239000" cy="571500"/>
          </a:xfrm>
        </p:grpSpPr>
        <p:cxnSp>
          <p:nvCxnSpPr>
            <p:cNvPr id="29" name="区切り線"/>
            <p:cNvCxnSpPr/>
            <p:nvPr/>
          </p:nvCxnSpPr>
          <p:spPr>
            <a:xfrm>
              <a:off x="666750" y="4800600"/>
              <a:ext cx="723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番号チップ"/>
            <p:cNvSpPr/>
            <p:nvPr/>
          </p:nvSpPr>
          <p:spPr>
            <a:xfrm>
              <a:off x="666750" y="4972050"/>
              <a:ext cx="5334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番号チップ文字"/>
            <p:cNvSpPr/>
            <p:nvPr/>
          </p:nvSpPr>
          <p:spPr>
            <a:xfrm>
              <a:off x="666750" y="4981575"/>
              <a:ext cx="53340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A-3</a:t>
              </a:r>
            </a:p>
          </p:txBody>
        </p:sp>
        <p:sp>
          <p:nvSpPr>
            <p:cNvPr id="32" name="項目名"/>
            <p:cNvSpPr/>
            <p:nvPr/>
          </p:nvSpPr>
          <p:spPr>
            <a:xfrm>
              <a:off x="1428750" y="4953000"/>
              <a:ext cx="3810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先行指標の定義</a:t>
              </a:r>
            </a:p>
          </p:txBody>
        </p:sp>
        <p:sp>
          <p:nvSpPr>
            <p:cNvPr id="33" name="項目説明"/>
            <p:cNvSpPr/>
            <p:nvPr/>
          </p:nvSpPr>
          <p:spPr>
            <a:xfrm>
              <a:off x="1428750" y="5219700"/>
              <a:ext cx="6096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各指標の算出方法と警戒基準の設定根拠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表紙_扉面"/>
          <p:cNvGrpSpPr/>
          <p:nvPr/>
        </p:nvGrpSpPr>
        <p:grpSpPr>
          <a:xfrm>
            <a:off x="0" y="0"/>
            <a:ext cx="4381500" cy="6858000"/>
            <a:chOff x="0" y="0"/>
            <a:chExt cx="4381500" cy="6858000"/>
          </a:xfrm>
        </p:grpSpPr>
        <p:sp>
          <p:nvSpPr>
            <p:cNvPr id="4" name="扉面"/>
            <p:cNvSpPr/>
            <p:nvPr/>
          </p:nvSpPr>
          <p:spPr>
            <a:xfrm>
              <a:off x="0" y="0"/>
              <a:ext cx="43815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種別タグ（朱）"/>
            <p:cNvSpPr/>
            <p:nvPr/>
          </p:nvSpPr>
          <p:spPr>
            <a:xfrm>
              <a:off x="571500" y="1562100"/>
              <a:ext cx="116205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種別タグ文字"/>
            <p:cNvSpPr/>
            <p:nvPr/>
          </p:nvSpPr>
          <p:spPr>
            <a:xfrm>
              <a:off x="571500" y="1571625"/>
              <a:ext cx="11620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業務支援SaaS</a:t>
              </a:r>
            </a:p>
          </p:txBody>
        </p:sp>
        <p:sp>
          <p:nvSpPr>
            <p:cNvPr id="7" name="英字ラベル"/>
            <p:cNvSpPr/>
            <p:nvPr/>
          </p:nvSpPr>
          <p:spPr>
            <a:xfrm>
              <a:off x="571500" y="2019300"/>
              <a:ext cx="3238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4"/>
                  </a:solidFill>
                </a:rPr>
                <a:t>SERVICE GUIDE</a:t>
              </a:r>
            </a:p>
          </p:txBody>
        </p:sp>
        <p:sp>
          <p:nvSpPr>
            <p:cNvPr id="8" name="サービス名"/>
            <p:cNvSpPr/>
            <p:nvPr/>
          </p:nvSpPr>
          <p:spPr>
            <a:xfrm>
              <a:off x="542925" y="2266950"/>
              <a:ext cx="36195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3800" b="1">
                  <a:solidFill>
                    <a:schemeClr val="lt1"/>
                  </a:solidFill>
                </a:rPr>
                <a:t>SampleWorks</a:t>
              </a:r>
            </a:p>
          </p:txBody>
        </p:sp>
        <p:cxnSp>
          <p:nvCxnSpPr>
            <p:cNvPr id="9" name="小罫線"/>
            <p:cNvCxnSpPr/>
            <p:nvPr/>
          </p:nvCxnSpPr>
          <p:spPr>
            <a:xfrm>
              <a:off x="571500" y="2990850"/>
              <a:ext cx="457200" cy="0"/>
            </a:xfrm>
            <a:prstGeom prst="bentConnector3">
              <a:avLst/>
            </a:prstGeom>
            <a:ln w="19050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タグライン"/>
            <p:cNvSpPr/>
            <p:nvPr/>
          </p:nvSpPr>
          <p:spPr>
            <a:xfrm>
              <a:off x="571500" y="3162300"/>
              <a:ext cx="35433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50" b="1">
                  <a:solidFill>
                    <a:schemeClr val="lt1"/>
                  </a:solidFill>
                </a:rPr>
                <a:t>つくる時間を、考える時間へ。</a:t>
              </a:r>
            </a:p>
          </p:txBody>
        </p:sp>
        <p:sp>
          <p:nvSpPr>
            <p:cNvPr id="11" name="サブコピー"/>
            <p:cNvSpPr/>
            <p:nvPr/>
          </p:nvSpPr>
          <p:spPr>
            <a:xfrm>
              <a:off x="571500" y="3562350"/>
              <a:ext cx="35433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accent4"/>
                  </a:solidFill>
                </a:rPr>
                <a:t>日々の提案書・報告書づくりを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accent4"/>
                  </a:solidFill>
                </a:rPr>
                <a:t>“仕組み”で解決するクラウドサービス</a:t>
              </a:r>
            </a:p>
          </p:txBody>
        </p:sp>
        <p:sp>
          <p:nvSpPr>
            <p:cNvPr id="12" name="社名"/>
            <p:cNvSpPr/>
            <p:nvPr/>
          </p:nvSpPr>
          <p:spPr>
            <a:xfrm>
              <a:off x="571500" y="5905500"/>
              <a:ext cx="3238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株式会社サンプルワークス</a:t>
              </a:r>
            </a:p>
          </p:txBody>
        </p:sp>
        <p:sp>
          <p:nvSpPr>
            <p:cNvPr id="13" name="日付"/>
            <p:cNvSpPr/>
            <p:nvPr/>
          </p:nvSpPr>
          <p:spPr>
            <a:xfrm>
              <a:off x="571500" y="6153150"/>
              <a:ext cx="3238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2026.07</a:t>
              </a:r>
            </a:p>
          </p:txBody>
        </p:sp>
      </p:grpSp>
      <p:grpSp>
        <p:nvGrpSpPr>
          <p:cNvPr id="14" name="表紙_背景ドット"/>
          <p:cNvGrpSpPr/>
          <p:nvPr/>
        </p:nvGrpSpPr>
        <p:grpSpPr>
          <a:xfrm>
            <a:off x="5715000" y="1238250"/>
            <a:ext cx="5334000" cy="4000500"/>
            <a:chOff x="5715000" y="1238250"/>
            <a:chExt cx="5334000" cy="4000500"/>
          </a:xfrm>
        </p:grpSpPr>
        <p:sp>
          <p:nvSpPr>
            <p:cNvPr id="15" name="ドット範囲"/>
            <p:cNvSpPr/>
            <p:nvPr/>
          </p:nvSpPr>
          <p:spPr>
            <a:xfrm>
              <a:off x="5715000" y="1238250"/>
              <a:ext cx="5334000" cy="400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886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6267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6648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7029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7410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7791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8172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8553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8934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9315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9696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10077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10458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10839450" y="1409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5886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6267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6648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7029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7410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7791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8172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8553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8934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9315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9696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10077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10458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10839450" y="1790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5886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6267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6648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7029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7410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7791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8172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8553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8934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9315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9696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10077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10458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10839450" y="2171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5886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6267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6648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7029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7410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7791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8172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8553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8934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9315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9696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10077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10458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10839450" y="2552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5886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6267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6648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7029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7410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791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8172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553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8934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9315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Oval 81"/>
            <p:cNvSpPr/>
            <p:nvPr/>
          </p:nvSpPr>
          <p:spPr>
            <a:xfrm>
              <a:off x="9696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10077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10458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10839450" y="2933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5886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6267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6648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7029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7410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7791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8172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8553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Oval 93"/>
            <p:cNvSpPr/>
            <p:nvPr/>
          </p:nvSpPr>
          <p:spPr>
            <a:xfrm>
              <a:off x="8934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Oval 94"/>
            <p:cNvSpPr/>
            <p:nvPr/>
          </p:nvSpPr>
          <p:spPr>
            <a:xfrm>
              <a:off x="9315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Oval 95"/>
            <p:cNvSpPr/>
            <p:nvPr/>
          </p:nvSpPr>
          <p:spPr>
            <a:xfrm>
              <a:off x="9696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Oval 96"/>
            <p:cNvSpPr/>
            <p:nvPr/>
          </p:nvSpPr>
          <p:spPr>
            <a:xfrm>
              <a:off x="10077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10458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Oval 98"/>
            <p:cNvSpPr/>
            <p:nvPr/>
          </p:nvSpPr>
          <p:spPr>
            <a:xfrm>
              <a:off x="10839450" y="3314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val 99"/>
            <p:cNvSpPr/>
            <p:nvPr/>
          </p:nvSpPr>
          <p:spPr>
            <a:xfrm>
              <a:off x="5886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6267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val 101"/>
            <p:cNvSpPr/>
            <p:nvPr/>
          </p:nvSpPr>
          <p:spPr>
            <a:xfrm>
              <a:off x="6648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val 102"/>
            <p:cNvSpPr/>
            <p:nvPr/>
          </p:nvSpPr>
          <p:spPr>
            <a:xfrm>
              <a:off x="7029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103"/>
            <p:cNvSpPr/>
            <p:nvPr/>
          </p:nvSpPr>
          <p:spPr>
            <a:xfrm>
              <a:off x="7410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val 104"/>
            <p:cNvSpPr/>
            <p:nvPr/>
          </p:nvSpPr>
          <p:spPr>
            <a:xfrm>
              <a:off x="7791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val 105"/>
            <p:cNvSpPr/>
            <p:nvPr/>
          </p:nvSpPr>
          <p:spPr>
            <a:xfrm>
              <a:off x="8172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8553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>
              <a:off x="8934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>
              <a:off x="9315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9696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val 110"/>
            <p:cNvSpPr/>
            <p:nvPr/>
          </p:nvSpPr>
          <p:spPr>
            <a:xfrm>
              <a:off x="10077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>
              <a:off x="10458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10839450" y="3695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5886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6267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6648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7029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>
              <a:off x="7410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7791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>
              <a:off x="8172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>
              <a:off x="8553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8934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>
              <a:off x="9315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Oval 123"/>
            <p:cNvSpPr/>
            <p:nvPr/>
          </p:nvSpPr>
          <p:spPr>
            <a:xfrm>
              <a:off x="9696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Oval 124"/>
            <p:cNvSpPr/>
            <p:nvPr/>
          </p:nvSpPr>
          <p:spPr>
            <a:xfrm>
              <a:off x="10077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Oval 125"/>
            <p:cNvSpPr/>
            <p:nvPr/>
          </p:nvSpPr>
          <p:spPr>
            <a:xfrm>
              <a:off x="10458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val 126"/>
            <p:cNvSpPr/>
            <p:nvPr/>
          </p:nvSpPr>
          <p:spPr>
            <a:xfrm>
              <a:off x="10839450" y="4076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Oval 127"/>
            <p:cNvSpPr/>
            <p:nvPr/>
          </p:nvSpPr>
          <p:spPr>
            <a:xfrm>
              <a:off x="5886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Oval 128"/>
            <p:cNvSpPr/>
            <p:nvPr/>
          </p:nvSpPr>
          <p:spPr>
            <a:xfrm>
              <a:off x="6267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Oval 129"/>
            <p:cNvSpPr/>
            <p:nvPr/>
          </p:nvSpPr>
          <p:spPr>
            <a:xfrm>
              <a:off x="6648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Oval 130"/>
            <p:cNvSpPr/>
            <p:nvPr/>
          </p:nvSpPr>
          <p:spPr>
            <a:xfrm>
              <a:off x="7029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Oval 131"/>
            <p:cNvSpPr/>
            <p:nvPr/>
          </p:nvSpPr>
          <p:spPr>
            <a:xfrm>
              <a:off x="7410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Oval 132"/>
            <p:cNvSpPr/>
            <p:nvPr/>
          </p:nvSpPr>
          <p:spPr>
            <a:xfrm>
              <a:off x="7791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Oval 133"/>
            <p:cNvSpPr/>
            <p:nvPr/>
          </p:nvSpPr>
          <p:spPr>
            <a:xfrm>
              <a:off x="8172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Oval 134"/>
            <p:cNvSpPr/>
            <p:nvPr/>
          </p:nvSpPr>
          <p:spPr>
            <a:xfrm>
              <a:off x="8553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Oval 135"/>
            <p:cNvSpPr/>
            <p:nvPr/>
          </p:nvSpPr>
          <p:spPr>
            <a:xfrm>
              <a:off x="8934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Oval 136"/>
            <p:cNvSpPr/>
            <p:nvPr/>
          </p:nvSpPr>
          <p:spPr>
            <a:xfrm>
              <a:off x="9315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Oval 137"/>
            <p:cNvSpPr/>
            <p:nvPr/>
          </p:nvSpPr>
          <p:spPr>
            <a:xfrm>
              <a:off x="9696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Oval 138"/>
            <p:cNvSpPr/>
            <p:nvPr/>
          </p:nvSpPr>
          <p:spPr>
            <a:xfrm>
              <a:off x="10077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Oval 139"/>
            <p:cNvSpPr/>
            <p:nvPr/>
          </p:nvSpPr>
          <p:spPr>
            <a:xfrm>
              <a:off x="10458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Oval 140"/>
            <p:cNvSpPr/>
            <p:nvPr/>
          </p:nvSpPr>
          <p:spPr>
            <a:xfrm>
              <a:off x="10839450" y="4457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Oval 141"/>
            <p:cNvSpPr/>
            <p:nvPr/>
          </p:nvSpPr>
          <p:spPr>
            <a:xfrm>
              <a:off x="5886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Oval 142"/>
            <p:cNvSpPr/>
            <p:nvPr/>
          </p:nvSpPr>
          <p:spPr>
            <a:xfrm>
              <a:off x="6267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Oval 143"/>
            <p:cNvSpPr/>
            <p:nvPr/>
          </p:nvSpPr>
          <p:spPr>
            <a:xfrm>
              <a:off x="6648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Oval 144"/>
            <p:cNvSpPr/>
            <p:nvPr/>
          </p:nvSpPr>
          <p:spPr>
            <a:xfrm>
              <a:off x="7029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Oval 145"/>
            <p:cNvSpPr/>
            <p:nvPr/>
          </p:nvSpPr>
          <p:spPr>
            <a:xfrm>
              <a:off x="7410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Oval 146"/>
            <p:cNvSpPr/>
            <p:nvPr/>
          </p:nvSpPr>
          <p:spPr>
            <a:xfrm>
              <a:off x="7791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Oval 147"/>
            <p:cNvSpPr/>
            <p:nvPr/>
          </p:nvSpPr>
          <p:spPr>
            <a:xfrm>
              <a:off x="8172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Oval 148"/>
            <p:cNvSpPr/>
            <p:nvPr/>
          </p:nvSpPr>
          <p:spPr>
            <a:xfrm>
              <a:off x="8553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Oval 149"/>
            <p:cNvSpPr/>
            <p:nvPr/>
          </p:nvSpPr>
          <p:spPr>
            <a:xfrm>
              <a:off x="8934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Oval 150"/>
            <p:cNvSpPr/>
            <p:nvPr/>
          </p:nvSpPr>
          <p:spPr>
            <a:xfrm>
              <a:off x="9315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Oval 151"/>
            <p:cNvSpPr/>
            <p:nvPr/>
          </p:nvSpPr>
          <p:spPr>
            <a:xfrm>
              <a:off x="9696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Oval 152"/>
            <p:cNvSpPr/>
            <p:nvPr/>
          </p:nvSpPr>
          <p:spPr>
            <a:xfrm>
              <a:off x="10077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Oval 153"/>
            <p:cNvSpPr/>
            <p:nvPr/>
          </p:nvSpPr>
          <p:spPr>
            <a:xfrm>
              <a:off x="10458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Oval 154"/>
            <p:cNvSpPr/>
            <p:nvPr/>
          </p:nvSpPr>
          <p:spPr>
            <a:xfrm>
              <a:off x="10839450" y="4838700"/>
              <a:ext cx="38100" cy="38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6" name="表紙_ブラウザ枠"/>
          <p:cNvGrpSpPr/>
          <p:nvPr/>
        </p:nvGrpSpPr>
        <p:grpSpPr>
          <a:xfrm>
            <a:off x="5334000" y="1676400"/>
            <a:ext cx="6096000" cy="3429000"/>
            <a:chOff x="5334000" y="1676400"/>
            <a:chExt cx="6096000" cy="3429000"/>
          </a:xfrm>
        </p:grpSpPr>
        <p:sp>
          <p:nvSpPr>
            <p:cNvPr id="157" name="ブラウザ外枠"/>
            <p:cNvSpPr/>
            <p:nvPr/>
          </p:nvSpPr>
          <p:spPr>
            <a:xfrm>
              <a:off x="5334000" y="1676400"/>
              <a:ext cx="6096000" cy="3429000"/>
            </a:xfrm>
            <a:prstGeom prst="roundRect">
              <a:avLst>
                <a:gd name="adj" fmla="val 2222"/>
              </a:avLst>
            </a:prstGeom>
            <a:solidFill>
              <a:schemeClr val="lt1"/>
            </a:solidFill>
            <a:ln w="11906">
              <a:solidFill>
                <a:schemeClr val="accent5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上バー"/>
            <p:cNvSpPr/>
            <p:nvPr/>
          </p:nvSpPr>
          <p:spPr>
            <a:xfrm>
              <a:off x="5343525" y="1685925"/>
              <a:ext cx="6076950" cy="323850"/>
            </a:xfrm>
            <a:prstGeom prst="roundRect">
              <a:avLst>
                <a:gd name="adj" fmla="val 2058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上バー角消し"/>
            <p:cNvSpPr/>
            <p:nvPr/>
          </p:nvSpPr>
          <p:spPr>
            <a:xfrm>
              <a:off x="5343525" y="1905000"/>
              <a:ext cx="6076950" cy="1047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0" name="バー区切り線"/>
            <p:cNvCxnSpPr/>
            <p:nvPr/>
          </p:nvCxnSpPr>
          <p:spPr>
            <a:xfrm>
              <a:off x="5343525" y="2009775"/>
              <a:ext cx="60769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丸3点_1"/>
            <p:cNvSpPr/>
            <p:nvPr/>
          </p:nvSpPr>
          <p:spPr>
            <a:xfrm>
              <a:off x="5438775" y="180022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丸3点_2"/>
            <p:cNvSpPr/>
            <p:nvPr/>
          </p:nvSpPr>
          <p:spPr>
            <a:xfrm>
              <a:off x="5591175" y="180022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丸3点_3"/>
            <p:cNvSpPr/>
            <p:nvPr/>
          </p:nvSpPr>
          <p:spPr>
            <a:xfrm>
              <a:off x="5743575" y="180022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URL欄"/>
            <p:cNvSpPr/>
            <p:nvPr/>
          </p:nvSpPr>
          <p:spPr>
            <a:xfrm>
              <a:off x="5943600" y="1752600"/>
              <a:ext cx="5372100" cy="1905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URLテキスト"/>
            <p:cNvSpPr/>
            <p:nvPr/>
          </p:nvSpPr>
          <p:spPr>
            <a:xfrm>
              <a:off x="6057900" y="1752600"/>
              <a:ext cx="5143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https://example.com</a:t>
              </a:r>
            </a:p>
          </p:txBody>
        </p:sp>
        <p:sp>
          <p:nvSpPr>
            <p:cNvPr id="166" name="プレースホルダ"/>
            <p:cNvSpPr/>
            <p:nvPr/>
          </p:nvSpPr>
          <p:spPr>
            <a:xfrm>
              <a:off x="5448300" y="2019300"/>
              <a:ext cx="5867400" cy="2971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サービス画面イメージをここに配置</a:t>
              </a:r>
            </a:p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（スクリーンショットに差し替え）</a:t>
              </a:r>
            </a:p>
          </p:txBody>
        </p:sp>
      </p:grpSp>
      <p:sp>
        <p:nvSpPr>
          <p:cNvPr id="167" name="Rectangle 166"/>
          <p:cNvSpPr/>
          <p:nvPr/>
        </p:nvSpPr>
        <p:spPr>
          <a:xfrm>
            <a:off x="5334000" y="5219700"/>
            <a:ext cx="6096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管理画面イメージ（プレースホルダ）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953000" y="6362700"/>
            <a:ext cx="6096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850">
                <a:solidFill>
                  <a:schemeClr val="accent5"/>
                </a:solidFill>
              </a:rPr>
              <a:t>注：本資料に記載の名称・数値・事例はすべて架空のサンプルです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049000" y="6572250"/>
            <a:ext cx="571500" cy="133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課題｜PROBLEM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資料づくりの悩みは、どの部門でも同じ3つに行き着く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現場で聞かれる典型的な3つの声（例）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注：発言は複数企業へのヒアリングを要約した架空の例です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出所：導入検討企業ヒアリング（2026年・架空サンプル）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2</a:t>
            </a:r>
          </a:p>
        </p:txBody>
      </p:sp>
      <p:grpSp>
        <p:nvGrpSpPr>
          <p:cNvPr id="10" name="悩み01_時間の声"/>
          <p:cNvGrpSpPr/>
          <p:nvPr/>
        </p:nvGrpSpPr>
        <p:grpSpPr>
          <a:xfrm>
            <a:off x="571500" y="1352550"/>
            <a:ext cx="3429000" cy="2724150"/>
            <a:chOff x="571500" y="1352550"/>
            <a:chExt cx="3429000" cy="2724150"/>
          </a:xfrm>
        </p:grpSpPr>
        <p:sp>
          <p:nvSpPr>
            <p:cNvPr id="11" name="分類タグ"/>
            <p:cNvSpPr/>
            <p:nvPr/>
          </p:nvSpPr>
          <p:spPr>
            <a:xfrm>
              <a:off x="571500" y="1352550"/>
              <a:ext cx="609600" cy="228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分類タグ文字"/>
            <p:cNvSpPr/>
            <p:nvPr/>
          </p:nvSpPr>
          <p:spPr>
            <a:xfrm>
              <a:off x="571500" y="1362075"/>
              <a:ext cx="6096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時間</a:t>
              </a:r>
            </a:p>
          </p:txBody>
        </p:sp>
        <p:sp>
          <p:nvSpPr>
            <p:cNvPr id="13" name="声の吹き出し"/>
            <p:cNvSpPr/>
            <p:nvPr/>
          </p:nvSpPr>
          <p:spPr>
            <a:xfrm>
              <a:off x="571500" y="1733550"/>
              <a:ext cx="3429000" cy="1771650"/>
            </a:xfrm>
            <a:custGeom>
              <a:avLst/>
              <a:gdLst/>
              <a:ahLst/>
              <a:cxnLst/>
              <a:rect l="0" t="0" r="3429000" b="1600200"/>
              <a:pathLst>
                <a:path w="3429000" h="1771650">
                  <a:moveTo>
                    <a:pt x="76200" y="0"/>
                  </a:moveTo>
                  <a:lnTo>
                    <a:pt x="3352800" y="0"/>
                  </a:lnTo>
                  <a:arcTo wR="76200" hR="76200" stAng="16200000" swAng="5400000"/>
                  <a:lnTo>
                    <a:pt x="3429000" y="1524000"/>
                  </a:lnTo>
                  <a:arcTo wR="76200" hR="76200" stAng="0" swAng="5400000"/>
                  <a:lnTo>
                    <a:pt x="790575" y="1600200"/>
                  </a:lnTo>
                  <a:lnTo>
                    <a:pt x="685800" y="1771650"/>
                  </a:lnTo>
                  <a:lnTo>
                    <a:pt x="581025" y="1600200"/>
                  </a:lnTo>
                  <a:lnTo>
                    <a:pt x="76200" y="16002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04850" y="1733550"/>
              <a:ext cx="3162300" cy="1600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1本の提案書に3時間。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本来やるべき顧客対応が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いつも後回しになる</a:t>
              </a:r>
            </a:p>
          </p:txBody>
        </p:sp>
        <p:sp>
          <p:nvSpPr>
            <p:cNvPr id="15" name="話者頭文字"/>
            <p:cNvSpPr/>
            <p:nvPr/>
          </p:nvSpPr>
          <p:spPr>
            <a:xfrm>
              <a:off x="666750" y="3752850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頭文字"/>
            <p:cNvSpPr/>
            <p:nvPr/>
          </p:nvSpPr>
          <p:spPr>
            <a:xfrm>
              <a:off x="666750" y="37623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A</a:t>
              </a:r>
            </a:p>
          </p:txBody>
        </p:sp>
        <p:sp>
          <p:nvSpPr>
            <p:cNvPr id="17" name="話者ラベル"/>
            <p:cNvSpPr/>
            <p:nvPr/>
          </p:nvSpPr>
          <p:spPr>
            <a:xfrm>
              <a:off x="1104900" y="3781425"/>
              <a:ext cx="28194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営業部門｜課長</a:t>
              </a:r>
            </a:p>
          </p:txBody>
        </p:sp>
      </p:grpSp>
      <p:grpSp>
        <p:nvGrpSpPr>
          <p:cNvPr id="18" name="悩み02_品質の声"/>
          <p:cNvGrpSpPr/>
          <p:nvPr/>
        </p:nvGrpSpPr>
        <p:grpSpPr>
          <a:xfrm>
            <a:off x="4381500" y="1352550"/>
            <a:ext cx="3429000" cy="2724150"/>
            <a:chOff x="4381500" y="1352550"/>
            <a:chExt cx="3429000" cy="2724150"/>
          </a:xfrm>
        </p:grpSpPr>
        <p:sp>
          <p:nvSpPr>
            <p:cNvPr id="19" name="分類タグ"/>
            <p:cNvSpPr/>
            <p:nvPr/>
          </p:nvSpPr>
          <p:spPr>
            <a:xfrm>
              <a:off x="4381500" y="1352550"/>
              <a:ext cx="609600" cy="228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分類タグ文字"/>
            <p:cNvSpPr/>
            <p:nvPr/>
          </p:nvSpPr>
          <p:spPr>
            <a:xfrm>
              <a:off x="4381500" y="1362075"/>
              <a:ext cx="6096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品質</a:t>
              </a:r>
            </a:p>
          </p:txBody>
        </p:sp>
        <p:sp>
          <p:nvSpPr>
            <p:cNvPr id="21" name="声の吹き出し"/>
            <p:cNvSpPr/>
            <p:nvPr/>
          </p:nvSpPr>
          <p:spPr>
            <a:xfrm>
              <a:off x="4381500" y="1733550"/>
              <a:ext cx="3429000" cy="1771650"/>
            </a:xfrm>
            <a:custGeom>
              <a:avLst/>
              <a:gdLst/>
              <a:ahLst/>
              <a:cxnLst/>
              <a:rect l="0" t="0" r="3429000" b="1600200"/>
              <a:pathLst>
                <a:path w="3429000" h="1771650">
                  <a:moveTo>
                    <a:pt x="76200" y="0"/>
                  </a:moveTo>
                  <a:lnTo>
                    <a:pt x="3352800" y="0"/>
                  </a:lnTo>
                  <a:arcTo wR="76200" hR="76200" stAng="16200000" swAng="5400000"/>
                  <a:lnTo>
                    <a:pt x="3429000" y="1524000"/>
                  </a:lnTo>
                  <a:arcTo wR="76200" hR="76200" stAng="0" swAng="5400000"/>
                  <a:lnTo>
                    <a:pt x="1819275" y="1600200"/>
                  </a:lnTo>
                  <a:lnTo>
                    <a:pt x="1714500" y="1771650"/>
                  </a:lnTo>
                  <a:lnTo>
                    <a:pt x="1609725" y="1600200"/>
                  </a:lnTo>
                  <a:lnTo>
                    <a:pt x="76200" y="16002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14850" y="1733550"/>
              <a:ext cx="3162300" cy="1600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作る人によって出来が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バラバラで、上司の手直しが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いつまでも減らない</a:t>
              </a:r>
            </a:p>
          </p:txBody>
        </p:sp>
        <p:sp>
          <p:nvSpPr>
            <p:cNvPr id="23" name="話者頭文字"/>
            <p:cNvSpPr/>
            <p:nvPr/>
          </p:nvSpPr>
          <p:spPr>
            <a:xfrm>
              <a:off x="4476750" y="3752850"/>
              <a:ext cx="323850" cy="3238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頭文字"/>
            <p:cNvSpPr/>
            <p:nvPr/>
          </p:nvSpPr>
          <p:spPr>
            <a:xfrm>
              <a:off x="4476750" y="37623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B</a:t>
              </a:r>
            </a:p>
          </p:txBody>
        </p:sp>
        <p:sp>
          <p:nvSpPr>
            <p:cNvPr id="25" name="話者ラベル"/>
            <p:cNvSpPr/>
            <p:nvPr/>
          </p:nvSpPr>
          <p:spPr>
            <a:xfrm>
              <a:off x="4914900" y="3781425"/>
              <a:ext cx="28194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企画部門｜部長</a:t>
              </a:r>
            </a:p>
          </p:txBody>
        </p:sp>
      </p:grpSp>
      <p:grpSp>
        <p:nvGrpSpPr>
          <p:cNvPr id="26" name="悩み03_共有の声"/>
          <p:cNvGrpSpPr/>
          <p:nvPr/>
        </p:nvGrpSpPr>
        <p:grpSpPr>
          <a:xfrm>
            <a:off x="8191500" y="1352550"/>
            <a:ext cx="3429000" cy="2724150"/>
            <a:chOff x="8191500" y="1352550"/>
            <a:chExt cx="3429000" cy="2724150"/>
          </a:xfrm>
        </p:grpSpPr>
        <p:sp>
          <p:nvSpPr>
            <p:cNvPr id="27" name="分類タグ"/>
            <p:cNvSpPr/>
            <p:nvPr/>
          </p:nvSpPr>
          <p:spPr>
            <a:xfrm>
              <a:off x="8191500" y="1352550"/>
              <a:ext cx="609600" cy="228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分類タグ文字"/>
            <p:cNvSpPr/>
            <p:nvPr/>
          </p:nvSpPr>
          <p:spPr>
            <a:xfrm>
              <a:off x="8191500" y="1362075"/>
              <a:ext cx="6096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共有</a:t>
              </a:r>
            </a:p>
          </p:txBody>
        </p:sp>
        <p:sp>
          <p:nvSpPr>
            <p:cNvPr id="29" name="声の吹き出し"/>
            <p:cNvSpPr/>
            <p:nvPr/>
          </p:nvSpPr>
          <p:spPr>
            <a:xfrm>
              <a:off x="8191500" y="1733550"/>
              <a:ext cx="3429000" cy="1771650"/>
            </a:xfrm>
            <a:custGeom>
              <a:avLst/>
              <a:gdLst/>
              <a:ahLst/>
              <a:cxnLst/>
              <a:rect l="0" t="0" r="3429000" b="1600200"/>
              <a:pathLst>
                <a:path w="3429000" h="1771650">
                  <a:moveTo>
                    <a:pt x="76200" y="0"/>
                  </a:moveTo>
                  <a:lnTo>
                    <a:pt x="3352800" y="0"/>
                  </a:lnTo>
                  <a:arcTo wR="76200" hR="76200" stAng="16200000" swAng="5400000"/>
                  <a:lnTo>
                    <a:pt x="3429000" y="1524000"/>
                  </a:lnTo>
                  <a:arcTo wR="76200" hR="76200" stAng="0" swAng="5400000"/>
                  <a:lnTo>
                    <a:pt x="2847975" y="1600200"/>
                  </a:lnTo>
                  <a:lnTo>
                    <a:pt x="2743200" y="1771650"/>
                  </a:lnTo>
                  <a:lnTo>
                    <a:pt x="2638425" y="1600200"/>
                  </a:lnTo>
                  <a:lnTo>
                    <a:pt x="76200" y="16002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324850" y="1733550"/>
              <a:ext cx="3162300" cy="1600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最新版がどこにあるか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分からず、古い数字のまま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会議に出てしまう</a:t>
              </a:r>
            </a:p>
          </p:txBody>
        </p:sp>
        <p:sp>
          <p:nvSpPr>
            <p:cNvPr id="31" name="話者頭文字"/>
            <p:cNvSpPr/>
            <p:nvPr/>
          </p:nvSpPr>
          <p:spPr>
            <a:xfrm>
              <a:off x="8286750" y="3752850"/>
              <a:ext cx="323850" cy="32385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頭文字"/>
            <p:cNvSpPr/>
            <p:nvPr/>
          </p:nvSpPr>
          <p:spPr>
            <a:xfrm>
              <a:off x="8286750" y="37623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C</a:t>
              </a:r>
            </a:p>
          </p:txBody>
        </p:sp>
        <p:sp>
          <p:nvSpPr>
            <p:cNvPr id="33" name="話者ラベル"/>
            <p:cNvSpPr/>
            <p:nvPr/>
          </p:nvSpPr>
          <p:spPr>
            <a:xfrm>
              <a:off x="8724900" y="3781425"/>
              <a:ext cx="28194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管理部門｜リーダー</a:t>
              </a:r>
            </a:p>
          </p:txBody>
        </p:sp>
      </p:grpSp>
      <p:grpSp>
        <p:nvGrpSpPr>
          <p:cNvPr id="34" name="SoWhatボックス"/>
          <p:cNvGrpSpPr/>
          <p:nvPr/>
        </p:nvGrpSpPr>
        <p:grpSpPr>
          <a:xfrm>
            <a:off x="571500" y="4629150"/>
            <a:ext cx="11049000" cy="514350"/>
            <a:chOff x="571500" y="4629150"/>
            <a:chExt cx="11049000" cy="514350"/>
          </a:xfrm>
        </p:grpSpPr>
        <p:sp>
          <p:nvSpPr>
            <p:cNvPr id="35" name="示唆地"/>
            <p:cNvSpPr/>
            <p:nvPr/>
          </p:nvSpPr>
          <p:spPr>
            <a:xfrm>
              <a:off x="571500" y="4629150"/>
              <a:ext cx="1104900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示唆ラベル"/>
            <p:cNvSpPr/>
            <p:nvPr/>
          </p:nvSpPr>
          <p:spPr>
            <a:xfrm>
              <a:off x="800100" y="4629150"/>
              <a:ext cx="8001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So What</a:t>
              </a:r>
            </a:p>
          </p:txBody>
        </p:sp>
        <p:cxnSp>
          <p:nvCxnSpPr>
            <p:cNvPr id="37" name="区切り縦線"/>
            <p:cNvCxnSpPr/>
            <p:nvPr/>
          </p:nvCxnSpPr>
          <p:spPr>
            <a:xfrm>
              <a:off x="1676400" y="4752975"/>
              <a:ext cx="0" cy="266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示唆本文"/>
            <p:cNvSpPr/>
            <p:nvPr/>
          </p:nvSpPr>
          <p:spPr>
            <a:xfrm>
              <a:off x="1866900" y="4629150"/>
              <a:ext cx="95250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3つの悩みは別々の問題ではない——原因がひとつだから、同時に起きる（次頁）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課題｜PROBLEM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悩みの正体は、個人のスキルではなく仕組みの不在にある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表面の悩みと根本原因の構造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注：構造化は当社ヒアリングフレームによる整理（架空サンプル）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出所：導入検討企業ヒアリング（2026年・架空サンプル）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276350"/>
            <a:ext cx="3238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b="1">
                <a:solidFill>
                  <a:schemeClr val="accent5"/>
                </a:solidFill>
              </a:rPr>
              <a:t>表面の悩み（現場で起きること）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39000" y="1276350"/>
            <a:ext cx="438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b="1">
                <a:solidFill>
                  <a:schemeClr val="accent5"/>
                </a:solidFill>
              </a:rPr>
              <a:t>根本原因（なぜ起きるか）</a:t>
            </a:r>
          </a:p>
        </p:txBody>
      </p:sp>
      <p:grpSp>
        <p:nvGrpSpPr>
          <p:cNvPr id="12" name="表面の悩み01_時間"/>
          <p:cNvGrpSpPr/>
          <p:nvPr/>
        </p:nvGrpSpPr>
        <p:grpSpPr>
          <a:xfrm>
            <a:off x="571500" y="1581150"/>
            <a:ext cx="3238500" cy="952500"/>
            <a:chOff x="571500" y="1581150"/>
            <a:chExt cx="3238500" cy="952500"/>
          </a:xfrm>
        </p:grpSpPr>
        <p:sp>
          <p:nvSpPr>
            <p:cNvPr id="13" name="悩みカード"/>
            <p:cNvSpPr/>
            <p:nvPr/>
          </p:nvSpPr>
          <p:spPr>
            <a:xfrm>
              <a:off x="571500" y="1581150"/>
              <a:ext cx="32385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分類タグ"/>
            <p:cNvSpPr/>
            <p:nvPr/>
          </p:nvSpPr>
          <p:spPr>
            <a:xfrm>
              <a:off x="723900" y="1714500"/>
              <a:ext cx="533400" cy="2095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分類タグ文字"/>
            <p:cNvSpPr/>
            <p:nvPr/>
          </p:nvSpPr>
          <p:spPr>
            <a:xfrm>
              <a:off x="723900" y="1724025"/>
              <a:ext cx="5334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時間</a:t>
              </a:r>
            </a:p>
          </p:txBody>
        </p:sp>
        <p:sp>
          <p:nvSpPr>
            <p:cNvPr id="16" name="悩み本文"/>
            <p:cNvSpPr/>
            <p:nvPr/>
          </p:nvSpPr>
          <p:spPr>
            <a:xfrm>
              <a:off x="723900" y="2038350"/>
              <a:ext cx="29337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作成のたびに数時間かかる</a:t>
              </a:r>
            </a:p>
          </p:txBody>
        </p:sp>
      </p:grpSp>
      <p:grpSp>
        <p:nvGrpSpPr>
          <p:cNvPr id="17" name="表面の悩み02_品質"/>
          <p:cNvGrpSpPr/>
          <p:nvPr/>
        </p:nvGrpSpPr>
        <p:grpSpPr>
          <a:xfrm>
            <a:off x="571500" y="2819400"/>
            <a:ext cx="3238500" cy="952500"/>
            <a:chOff x="571500" y="2819400"/>
            <a:chExt cx="3238500" cy="952500"/>
          </a:xfrm>
        </p:grpSpPr>
        <p:sp>
          <p:nvSpPr>
            <p:cNvPr id="18" name="悩みカード"/>
            <p:cNvSpPr/>
            <p:nvPr/>
          </p:nvSpPr>
          <p:spPr>
            <a:xfrm>
              <a:off x="571500" y="2819400"/>
              <a:ext cx="32385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分類タグ"/>
            <p:cNvSpPr/>
            <p:nvPr/>
          </p:nvSpPr>
          <p:spPr>
            <a:xfrm>
              <a:off x="723900" y="2952750"/>
              <a:ext cx="533400" cy="2095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分類タグ文字"/>
            <p:cNvSpPr/>
            <p:nvPr/>
          </p:nvSpPr>
          <p:spPr>
            <a:xfrm>
              <a:off x="723900" y="2962275"/>
              <a:ext cx="5334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品質</a:t>
              </a:r>
            </a:p>
          </p:txBody>
        </p:sp>
        <p:sp>
          <p:nvSpPr>
            <p:cNvPr id="21" name="悩み本文"/>
            <p:cNvSpPr/>
            <p:nvPr/>
          </p:nvSpPr>
          <p:spPr>
            <a:xfrm>
              <a:off x="723900" y="3276600"/>
              <a:ext cx="29337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人によって出来がばらつく</a:t>
              </a:r>
            </a:p>
          </p:txBody>
        </p:sp>
      </p:grpSp>
      <p:grpSp>
        <p:nvGrpSpPr>
          <p:cNvPr id="22" name="表面の悩み03_共有"/>
          <p:cNvGrpSpPr/>
          <p:nvPr/>
        </p:nvGrpSpPr>
        <p:grpSpPr>
          <a:xfrm>
            <a:off x="571500" y="4057650"/>
            <a:ext cx="3238500" cy="952500"/>
            <a:chOff x="571500" y="4057650"/>
            <a:chExt cx="3238500" cy="952500"/>
          </a:xfrm>
        </p:grpSpPr>
        <p:sp>
          <p:nvSpPr>
            <p:cNvPr id="23" name="悩みカード"/>
            <p:cNvSpPr/>
            <p:nvPr/>
          </p:nvSpPr>
          <p:spPr>
            <a:xfrm>
              <a:off x="571500" y="4057650"/>
              <a:ext cx="32385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分類タグ"/>
            <p:cNvSpPr/>
            <p:nvPr/>
          </p:nvSpPr>
          <p:spPr>
            <a:xfrm>
              <a:off x="723900" y="4191000"/>
              <a:ext cx="533400" cy="2095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分類タグ文字"/>
            <p:cNvSpPr/>
            <p:nvPr/>
          </p:nvSpPr>
          <p:spPr>
            <a:xfrm>
              <a:off x="723900" y="4200525"/>
              <a:ext cx="5334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共有</a:t>
              </a:r>
            </a:p>
          </p:txBody>
        </p:sp>
        <p:sp>
          <p:nvSpPr>
            <p:cNvPr id="26" name="悩み本文"/>
            <p:cNvSpPr/>
            <p:nvPr/>
          </p:nvSpPr>
          <p:spPr>
            <a:xfrm>
              <a:off x="723900" y="4514850"/>
              <a:ext cx="29337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最新版がどれか分からない</a:t>
              </a:r>
            </a:p>
          </p:txBody>
        </p:sp>
      </p:grpSp>
      <p:grpSp>
        <p:nvGrpSpPr>
          <p:cNvPr id="27" name="収束矢印"/>
          <p:cNvGrpSpPr/>
          <p:nvPr/>
        </p:nvGrpSpPr>
        <p:grpSpPr>
          <a:xfrm>
            <a:off x="3848100" y="2057400"/>
            <a:ext cx="3276600" cy="2476500"/>
            <a:chOff x="3848100" y="2057400"/>
            <a:chExt cx="3276600" cy="2476500"/>
          </a:xfrm>
        </p:grpSpPr>
        <p:cxnSp>
          <p:nvCxnSpPr>
            <p:cNvPr id="28" name="収束線・上"/>
            <p:cNvCxnSpPr/>
            <p:nvPr/>
          </p:nvCxnSpPr>
          <p:spPr>
            <a:xfrm>
              <a:off x="3848100" y="2057400"/>
              <a:ext cx="3276600" cy="114300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収束線・中"/>
            <p:cNvCxnSpPr/>
            <p:nvPr/>
          </p:nvCxnSpPr>
          <p:spPr>
            <a:xfrm>
              <a:off x="3848100" y="3295650"/>
              <a:ext cx="3276600" cy="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収束線・下"/>
            <p:cNvCxnSpPr/>
            <p:nvPr/>
          </p:nvCxnSpPr>
          <p:spPr>
            <a:xfrm flipV="1">
              <a:off x="3848100" y="3390900"/>
              <a:ext cx="3276600" cy="114300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根本原因カード"/>
          <p:cNvGrpSpPr/>
          <p:nvPr/>
        </p:nvGrpSpPr>
        <p:grpSpPr>
          <a:xfrm>
            <a:off x="7239000" y="2381250"/>
            <a:ext cx="4381500" cy="1752600"/>
            <a:chOff x="7239000" y="2381250"/>
            <a:chExt cx="4381500" cy="1752600"/>
          </a:xfrm>
        </p:grpSpPr>
        <p:sp>
          <p:nvSpPr>
            <p:cNvPr id="32" name="根本原因ボックス"/>
            <p:cNvSpPr/>
            <p:nvPr/>
          </p:nvSpPr>
          <p:spPr>
            <a:xfrm>
              <a:off x="7239000" y="2495550"/>
              <a:ext cx="4381500" cy="1638300"/>
            </a:xfrm>
            <a:prstGeom prst="roundRect">
              <a:avLst>
                <a:gd name="adj" fmla="val 5813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根本原因本文"/>
            <p:cNvSpPr/>
            <p:nvPr/>
          </p:nvSpPr>
          <p:spPr>
            <a:xfrm>
              <a:off x="7486650" y="2819400"/>
              <a:ext cx="39243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550" b="1">
                  <a:solidFill>
                    <a:schemeClr val="lt1"/>
                  </a:solidFill>
                </a:rPr>
                <a:t>資料づくりが“個人任せ”のまま</a:t>
              </a:r>
            </a:p>
            <a:p>
              <a:pPr algn="l">
                <a:lnSpc>
                  <a:spcPct val="150000"/>
                </a:lnSpc>
              </a:pPr>
              <a:r>
                <a:rPr sz="1550" b="1">
                  <a:solidFill>
                    <a:schemeClr val="lt1"/>
                  </a:solidFill>
                </a:rPr>
                <a:t>仕組み化されていない</a:t>
              </a:r>
            </a:p>
          </p:txBody>
        </p:sp>
        <p:sp>
          <p:nvSpPr>
            <p:cNvPr id="34" name="根本原因補足"/>
            <p:cNvSpPr/>
            <p:nvPr/>
          </p:nvSpPr>
          <p:spPr>
            <a:xfrm>
              <a:off x="7486650" y="3619500"/>
              <a:ext cx="39243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4"/>
                  </a:solidFill>
                </a:rPr>
                <a:t>型・データ・置き場が、個人のPCと頭の中に閉じている</a:t>
              </a:r>
            </a:p>
          </p:txBody>
        </p:sp>
        <p:sp>
          <p:nvSpPr>
            <p:cNvPr id="35" name="本質タグ（朱）"/>
            <p:cNvSpPr/>
            <p:nvPr/>
          </p:nvSpPr>
          <p:spPr>
            <a:xfrm>
              <a:off x="10553700" y="2381250"/>
              <a:ext cx="9144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本質タグ文字"/>
            <p:cNvSpPr/>
            <p:nvPr/>
          </p:nvSpPr>
          <p:spPr>
            <a:xfrm>
              <a:off x="10553700" y="2390775"/>
              <a:ext cx="9144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ここが本質</a:t>
              </a:r>
            </a:p>
          </p:txBody>
        </p:sp>
      </p:grpSp>
      <p:grpSp>
        <p:nvGrpSpPr>
          <p:cNvPr id="37" name="SoWhatボックス"/>
          <p:cNvGrpSpPr/>
          <p:nvPr/>
        </p:nvGrpSpPr>
        <p:grpSpPr>
          <a:xfrm>
            <a:off x="571500" y="5391150"/>
            <a:ext cx="11049000" cy="514350"/>
            <a:chOff x="571500" y="5391150"/>
            <a:chExt cx="11049000" cy="514350"/>
          </a:xfrm>
        </p:grpSpPr>
        <p:sp>
          <p:nvSpPr>
            <p:cNvPr id="38" name="示唆地"/>
            <p:cNvSpPr/>
            <p:nvPr/>
          </p:nvSpPr>
          <p:spPr>
            <a:xfrm>
              <a:off x="571500" y="5391150"/>
              <a:ext cx="1104900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示唆ラベル"/>
            <p:cNvSpPr/>
            <p:nvPr/>
          </p:nvSpPr>
          <p:spPr>
            <a:xfrm>
              <a:off x="800100" y="5391150"/>
              <a:ext cx="8001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So What</a:t>
              </a:r>
            </a:p>
          </p:txBody>
        </p:sp>
        <p:cxnSp>
          <p:nvCxnSpPr>
            <p:cNvPr id="40" name="区切り縦線"/>
            <p:cNvCxnSpPr/>
            <p:nvPr/>
          </p:nvCxnSpPr>
          <p:spPr>
            <a:xfrm>
              <a:off x="1676400" y="5514975"/>
              <a:ext cx="0" cy="266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示唆本文"/>
            <p:cNvSpPr/>
            <p:nvPr/>
          </p:nvSpPr>
          <p:spPr>
            <a:xfrm>
              <a:off x="1866900" y="5391150"/>
              <a:ext cx="95250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解くべきは個人のスキルではなく仕組み——次頁で解決の全体像を示す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解決策｜SOLUTION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SampleWorksは、資料づくりの仕組みを丸ごと提供する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サービス全体像（データ → 資料 → 共有）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注：機能・構成は説明用に簡略化しています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出所：SampleWorksサービス仕様（架空サンプル）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4</a:t>
            </a:r>
          </a:p>
        </p:txBody>
      </p:sp>
      <p:grpSp>
        <p:nvGrpSpPr>
          <p:cNvPr id="10" name="全体像_入力"/>
          <p:cNvGrpSpPr/>
          <p:nvPr/>
        </p:nvGrpSpPr>
        <p:grpSpPr>
          <a:xfrm>
            <a:off x="571500" y="1809750"/>
            <a:ext cx="2286000" cy="2667000"/>
            <a:chOff x="571500" y="1809750"/>
            <a:chExt cx="2286000" cy="2667000"/>
          </a:xfrm>
        </p:grpSpPr>
        <p:sp>
          <p:nvSpPr>
            <p:cNvPr id="11" name="入力カード"/>
            <p:cNvSpPr/>
            <p:nvPr/>
          </p:nvSpPr>
          <p:spPr>
            <a:xfrm>
              <a:off x="571500" y="1809750"/>
              <a:ext cx="2286000" cy="2667000"/>
            </a:xfrm>
            <a:prstGeom prst="roundRect">
              <a:avLst>
                <a:gd name="adj" fmla="val 3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入力見出し"/>
            <p:cNvSpPr/>
            <p:nvPr/>
          </p:nvSpPr>
          <p:spPr>
            <a:xfrm>
              <a:off x="800100" y="2000250"/>
              <a:ext cx="1828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手元にあるもの</a:t>
              </a:r>
            </a:p>
          </p:txBody>
        </p:sp>
        <p:sp>
          <p:nvSpPr>
            <p:cNvPr id="13" name="点1"/>
            <p:cNvSpPr/>
            <p:nvPr/>
          </p:nvSpPr>
          <p:spPr>
            <a:xfrm>
              <a:off x="800100" y="24955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入力項目1"/>
            <p:cNvSpPr/>
            <p:nvPr/>
          </p:nvSpPr>
          <p:spPr>
            <a:xfrm>
              <a:off x="990600" y="2419350"/>
              <a:ext cx="1676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売上・実績データ</a:t>
              </a:r>
            </a:p>
          </p:txBody>
        </p:sp>
        <p:sp>
          <p:nvSpPr>
            <p:cNvPr id="15" name="点2"/>
            <p:cNvSpPr/>
            <p:nvPr/>
          </p:nvSpPr>
          <p:spPr>
            <a:xfrm>
              <a:off x="800100" y="30861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入力項目2"/>
            <p:cNvSpPr/>
            <p:nvPr/>
          </p:nvSpPr>
          <p:spPr>
            <a:xfrm>
              <a:off x="990600" y="3009900"/>
              <a:ext cx="1676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過去の提案書・報告書</a:t>
              </a:r>
            </a:p>
          </p:txBody>
        </p:sp>
        <p:sp>
          <p:nvSpPr>
            <p:cNvPr id="17" name="点3"/>
            <p:cNvSpPr/>
            <p:nvPr/>
          </p:nvSpPr>
          <p:spPr>
            <a:xfrm>
              <a:off x="800100" y="36766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入力項目3"/>
            <p:cNvSpPr/>
            <p:nvPr/>
          </p:nvSpPr>
          <p:spPr>
            <a:xfrm>
              <a:off x="990600" y="3600450"/>
              <a:ext cx="1676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会議メモ・議事録</a:t>
              </a:r>
            </a:p>
          </p:txBody>
        </p:sp>
      </p:grpSp>
      <p:grpSp>
        <p:nvGrpSpPr>
          <p:cNvPr id="19" name="全体像_矢印1"/>
          <p:cNvGrpSpPr/>
          <p:nvPr/>
        </p:nvGrpSpPr>
        <p:grpSpPr>
          <a:xfrm>
            <a:off x="2971800" y="2933700"/>
            <a:ext cx="685800" cy="419100"/>
            <a:chOff x="2971800" y="2933700"/>
            <a:chExt cx="685800" cy="419100"/>
          </a:xfrm>
        </p:grpSpPr>
        <p:sp>
          <p:nvSpPr>
            <p:cNvPr id="20" name="入力→本体"/>
            <p:cNvSpPr/>
            <p:nvPr/>
          </p:nvSpPr>
          <p:spPr>
            <a:xfrm>
              <a:off x="2971800" y="2933700"/>
              <a:ext cx="685800" cy="41910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全体像_本体"/>
          <p:cNvGrpSpPr/>
          <p:nvPr/>
        </p:nvGrpSpPr>
        <p:grpSpPr>
          <a:xfrm>
            <a:off x="3771900" y="1619250"/>
            <a:ext cx="4476750" cy="3048000"/>
            <a:chOff x="3771900" y="1619250"/>
            <a:chExt cx="4476750" cy="3048000"/>
          </a:xfrm>
        </p:grpSpPr>
        <p:sp>
          <p:nvSpPr>
            <p:cNvPr id="22" name="本体パネル"/>
            <p:cNvSpPr/>
            <p:nvPr/>
          </p:nvSpPr>
          <p:spPr>
            <a:xfrm>
              <a:off x="3771900" y="1619250"/>
              <a:ext cx="4476750" cy="3048000"/>
            </a:xfrm>
            <a:prstGeom prst="roundRect">
              <a:avLst>
                <a:gd name="adj" fmla="val 3750"/>
              </a:avLst>
            </a:prstGeom>
            <a:solidFill>
              <a:schemeClr val="accent1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本体ロゴ"/>
            <p:cNvSpPr/>
            <p:nvPr/>
          </p:nvSpPr>
          <p:spPr>
            <a:xfrm>
              <a:off x="3771900" y="1790700"/>
              <a:ext cx="44767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1">
                  <a:solidFill>
                    <a:schemeClr val="lt1"/>
                  </a:solidFill>
                </a:rPr>
                <a:t>SampleWorks</a:t>
              </a:r>
            </a:p>
          </p:txBody>
        </p:sp>
        <p:sp>
          <p:nvSpPr>
            <p:cNvPr id="24" name="本体サブ"/>
            <p:cNvSpPr/>
            <p:nvPr/>
          </p:nvSpPr>
          <p:spPr>
            <a:xfrm>
              <a:off x="3771900" y="2114550"/>
              <a:ext cx="4476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資料作成クラウド</a:t>
              </a:r>
            </a:p>
          </p:txBody>
        </p:sp>
        <p:sp>
          <p:nvSpPr>
            <p:cNvPr id="25" name="機能01"/>
            <p:cNvSpPr/>
            <p:nvPr/>
          </p:nvSpPr>
          <p:spPr>
            <a:xfrm>
              <a:off x="4057650" y="2381250"/>
              <a:ext cx="3905250" cy="590550"/>
            </a:xfrm>
            <a:prstGeom prst="roundRect">
              <a:avLst>
                <a:gd name="adj" fmla="val 12903"/>
              </a:avLst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機能番号01"/>
            <p:cNvSpPr/>
            <p:nvPr/>
          </p:nvSpPr>
          <p:spPr>
            <a:xfrm>
              <a:off x="4229100" y="2457450"/>
              <a:ext cx="3238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01</a:t>
              </a:r>
            </a:p>
          </p:txBody>
        </p:sp>
        <p:sp>
          <p:nvSpPr>
            <p:cNvPr id="27" name="機能名01"/>
            <p:cNvSpPr/>
            <p:nvPr/>
          </p:nvSpPr>
          <p:spPr>
            <a:xfrm>
              <a:off x="4629150" y="2457450"/>
              <a:ext cx="228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テンプレート100種</a:t>
              </a:r>
            </a:p>
          </p:txBody>
        </p:sp>
        <p:sp>
          <p:nvSpPr>
            <p:cNvPr id="28" name="機能説明01"/>
            <p:cNvSpPr/>
            <p:nvPr/>
          </p:nvSpPr>
          <p:spPr>
            <a:xfrm>
              <a:off x="4629150" y="2695575"/>
              <a:ext cx="3200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使う型を選ぶだけで始められる</a:t>
              </a:r>
            </a:p>
          </p:txBody>
        </p:sp>
        <p:sp>
          <p:nvSpPr>
            <p:cNvPr id="29" name="機能02"/>
            <p:cNvSpPr/>
            <p:nvPr/>
          </p:nvSpPr>
          <p:spPr>
            <a:xfrm>
              <a:off x="4057650" y="3105150"/>
              <a:ext cx="3905250" cy="590550"/>
            </a:xfrm>
            <a:prstGeom prst="roundRect">
              <a:avLst>
                <a:gd name="adj" fmla="val 12903"/>
              </a:avLst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機能番号02"/>
            <p:cNvSpPr/>
            <p:nvPr/>
          </p:nvSpPr>
          <p:spPr>
            <a:xfrm>
              <a:off x="4229100" y="3181350"/>
              <a:ext cx="3238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02</a:t>
              </a:r>
            </a:p>
          </p:txBody>
        </p:sp>
        <p:sp>
          <p:nvSpPr>
            <p:cNvPr id="31" name="機能名02"/>
            <p:cNvSpPr/>
            <p:nvPr/>
          </p:nvSpPr>
          <p:spPr>
            <a:xfrm>
              <a:off x="4629150" y="3181350"/>
              <a:ext cx="228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自動レイアウト生成</a:t>
              </a:r>
            </a:p>
          </p:txBody>
        </p:sp>
        <p:sp>
          <p:nvSpPr>
            <p:cNvPr id="32" name="機能説明02"/>
            <p:cNvSpPr/>
            <p:nvPr/>
          </p:nvSpPr>
          <p:spPr>
            <a:xfrm>
              <a:off x="4629150" y="3419475"/>
              <a:ext cx="3200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データを流し込むと自動で整う</a:t>
              </a:r>
            </a:p>
          </p:txBody>
        </p:sp>
        <p:sp>
          <p:nvSpPr>
            <p:cNvPr id="33" name="機能03"/>
            <p:cNvSpPr/>
            <p:nvPr/>
          </p:nvSpPr>
          <p:spPr>
            <a:xfrm>
              <a:off x="4057650" y="3829050"/>
              <a:ext cx="3905250" cy="590550"/>
            </a:xfrm>
            <a:prstGeom prst="roundRect">
              <a:avLst>
                <a:gd name="adj" fmla="val 12903"/>
              </a:avLst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機能番号03"/>
            <p:cNvSpPr/>
            <p:nvPr/>
          </p:nvSpPr>
          <p:spPr>
            <a:xfrm>
              <a:off x="4229100" y="3905250"/>
              <a:ext cx="3238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03</a:t>
              </a:r>
            </a:p>
          </p:txBody>
        </p:sp>
        <p:sp>
          <p:nvSpPr>
            <p:cNvPr id="35" name="機能名03"/>
            <p:cNvSpPr/>
            <p:nvPr/>
          </p:nvSpPr>
          <p:spPr>
            <a:xfrm>
              <a:off x="4629150" y="3905250"/>
              <a:ext cx="228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共有ワークスペース</a:t>
              </a:r>
            </a:p>
          </p:txBody>
        </p:sp>
        <p:sp>
          <p:nvSpPr>
            <p:cNvPr id="36" name="機能説明03"/>
            <p:cNvSpPr/>
            <p:nvPr/>
          </p:nvSpPr>
          <p:spPr>
            <a:xfrm>
              <a:off x="4629150" y="4143375"/>
              <a:ext cx="3200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いつでも最新版だけが共有される</a:t>
              </a:r>
            </a:p>
          </p:txBody>
        </p:sp>
      </p:grpSp>
      <p:grpSp>
        <p:nvGrpSpPr>
          <p:cNvPr id="37" name="全体像_矢印2"/>
          <p:cNvGrpSpPr/>
          <p:nvPr/>
        </p:nvGrpSpPr>
        <p:grpSpPr>
          <a:xfrm>
            <a:off x="8362950" y="2933700"/>
            <a:ext cx="685800" cy="419100"/>
            <a:chOff x="8362950" y="2933700"/>
            <a:chExt cx="685800" cy="419100"/>
          </a:xfrm>
        </p:grpSpPr>
        <p:sp>
          <p:nvSpPr>
            <p:cNvPr id="38" name="本体→出力"/>
            <p:cNvSpPr/>
            <p:nvPr/>
          </p:nvSpPr>
          <p:spPr>
            <a:xfrm>
              <a:off x="8362950" y="2933700"/>
              <a:ext cx="685800" cy="41910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" name="全体像_出力"/>
          <p:cNvGrpSpPr/>
          <p:nvPr/>
        </p:nvGrpSpPr>
        <p:grpSpPr>
          <a:xfrm>
            <a:off x="9163050" y="1809750"/>
            <a:ext cx="2457450" cy="2667000"/>
            <a:chOff x="9163050" y="1809750"/>
            <a:chExt cx="2457450" cy="2667000"/>
          </a:xfrm>
        </p:grpSpPr>
        <p:sp>
          <p:nvSpPr>
            <p:cNvPr id="40" name="出力カード"/>
            <p:cNvSpPr/>
            <p:nvPr/>
          </p:nvSpPr>
          <p:spPr>
            <a:xfrm>
              <a:off x="9163050" y="1809750"/>
              <a:ext cx="2457450" cy="2667000"/>
            </a:xfrm>
            <a:prstGeom prst="roundRect">
              <a:avLst>
                <a:gd name="adj" fmla="val 31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出力見出し"/>
            <p:cNvSpPr/>
            <p:nvPr/>
          </p:nvSpPr>
          <p:spPr>
            <a:xfrm>
              <a:off x="9391650" y="2000250"/>
              <a:ext cx="2000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できあがるもの</a:t>
              </a:r>
            </a:p>
          </p:txBody>
        </p:sp>
        <p:sp>
          <p:nvSpPr>
            <p:cNvPr id="42" name="成果物1"/>
            <p:cNvSpPr/>
            <p:nvPr/>
          </p:nvSpPr>
          <p:spPr>
            <a:xfrm>
              <a:off x="9391650" y="2381250"/>
              <a:ext cx="200025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成果物名1"/>
            <p:cNvSpPr/>
            <p:nvPr/>
          </p:nvSpPr>
          <p:spPr>
            <a:xfrm>
              <a:off x="9391650" y="2390775"/>
              <a:ext cx="20002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提案書</a:t>
              </a:r>
            </a:p>
          </p:txBody>
        </p:sp>
        <p:sp>
          <p:nvSpPr>
            <p:cNvPr id="44" name="成果物2"/>
            <p:cNvSpPr/>
            <p:nvPr/>
          </p:nvSpPr>
          <p:spPr>
            <a:xfrm>
              <a:off x="9391650" y="3067050"/>
              <a:ext cx="200025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成果物名2"/>
            <p:cNvSpPr/>
            <p:nvPr/>
          </p:nvSpPr>
          <p:spPr>
            <a:xfrm>
              <a:off x="9391650" y="3076575"/>
              <a:ext cx="20002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月次報告</a:t>
              </a:r>
            </a:p>
          </p:txBody>
        </p:sp>
        <p:sp>
          <p:nvSpPr>
            <p:cNvPr id="46" name="成果物3"/>
            <p:cNvSpPr/>
            <p:nvPr/>
          </p:nvSpPr>
          <p:spPr>
            <a:xfrm>
              <a:off x="9391650" y="3752850"/>
              <a:ext cx="200025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成果物名3"/>
            <p:cNvSpPr/>
            <p:nvPr/>
          </p:nvSpPr>
          <p:spPr>
            <a:xfrm>
              <a:off x="9391650" y="3762375"/>
              <a:ext cx="20002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会議資料</a:t>
              </a:r>
            </a:p>
          </p:txBody>
        </p:sp>
      </p:grpSp>
      <p:sp>
        <p:nvSpPr>
          <p:cNvPr id="48" name="Rectangle 47"/>
          <p:cNvSpPr/>
          <p:nvPr/>
        </p:nvSpPr>
        <p:spPr>
          <a:xfrm>
            <a:off x="571500" y="5048250"/>
            <a:ext cx="11049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350" b="1">
                <a:solidFill>
                  <a:schemeClr val="dk2"/>
                </a:solidFill>
              </a:rPr>
              <a:t>データを選ぶだけ——型・レイアウト・共有までを、この1つの仕組みが引き受ける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解決策｜SOLUTION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提供価値は「速い・揃う・見える」の3つに集約される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3つの提供価値と、それを支える機能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注：機能の提供範囲はプランにより異なります（9頁）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出所：SampleWorksサービス仕様（架空サンプル）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5</a:t>
            </a:r>
          </a:p>
        </p:txBody>
      </p:sp>
      <p:grpSp>
        <p:nvGrpSpPr>
          <p:cNvPr id="10" name="価値01_速い"/>
          <p:cNvGrpSpPr/>
          <p:nvPr/>
        </p:nvGrpSpPr>
        <p:grpSpPr>
          <a:xfrm>
            <a:off x="571500" y="1428750"/>
            <a:ext cx="3429000" cy="3238500"/>
            <a:chOff x="571500" y="1428750"/>
            <a:chExt cx="3429000" cy="3238500"/>
          </a:xfrm>
        </p:grpSpPr>
        <p:sp>
          <p:nvSpPr>
            <p:cNvPr id="11" name="速い_カード本体"/>
            <p:cNvSpPr/>
            <p:nvPr/>
          </p:nvSpPr>
          <p:spPr>
            <a:xfrm>
              <a:off x="571500" y="1428750"/>
              <a:ext cx="3429000" cy="3238500"/>
            </a:xfrm>
            <a:prstGeom prst="roundRect">
              <a:avLst>
                <a:gd name="adj" fmla="val 235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速い_見出し帯"/>
            <p:cNvSpPr/>
            <p:nvPr/>
          </p:nvSpPr>
          <p:spPr>
            <a:xfrm>
              <a:off x="571500" y="1428750"/>
              <a:ext cx="3429000" cy="57150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速い_見出し帯・角"/>
            <p:cNvSpPr/>
            <p:nvPr/>
          </p:nvSpPr>
          <p:spPr>
            <a:xfrm>
              <a:off x="571500" y="1714500"/>
              <a:ext cx="342900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23900" y="1428750"/>
              <a:ext cx="31242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01　速い</a:t>
              </a:r>
            </a:p>
          </p:txBody>
        </p:sp>
        <p:sp>
          <p:nvSpPr>
            <p:cNvPr id="15" name="一行説明"/>
            <p:cNvSpPr/>
            <p:nvPr/>
          </p:nvSpPr>
          <p:spPr>
            <a:xfrm>
              <a:off x="800100" y="2209800"/>
              <a:ext cx="29718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資料1本あたりの作成時間を</a:t>
              </a:r>
            </a:p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半分以下にする</a:t>
              </a:r>
            </a:p>
          </p:txBody>
        </p:sp>
        <p:cxnSp>
          <p:nvCxnSpPr>
            <p:cNvPr id="16" name="区切り線"/>
            <p:cNvCxnSpPr/>
            <p:nvPr/>
          </p:nvCxnSpPr>
          <p:spPr>
            <a:xfrm>
              <a:off x="800100" y="28384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機能見出し"/>
            <p:cNvSpPr/>
            <p:nvPr/>
          </p:nvSpPr>
          <p:spPr>
            <a:xfrm>
              <a:off x="800100" y="2971800"/>
              <a:ext cx="1524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支える機能</a:t>
              </a:r>
            </a:p>
          </p:txBody>
        </p:sp>
        <p:sp>
          <p:nvSpPr>
            <p:cNvPr id="18" name="チェック1_丸"/>
            <p:cNvSpPr/>
            <p:nvPr/>
          </p:nvSpPr>
          <p:spPr>
            <a:xfrm>
              <a:off x="800100" y="323850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チェック1_チェック"/>
            <p:cNvSpPr/>
            <p:nvPr/>
          </p:nvSpPr>
          <p:spPr>
            <a:xfrm>
              <a:off x="800100" y="32385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機能1"/>
            <p:cNvSpPr/>
            <p:nvPr/>
          </p:nvSpPr>
          <p:spPr>
            <a:xfrm>
              <a:off x="1104900" y="3219450"/>
              <a:ext cx="2743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テンプレート100種</a:t>
              </a:r>
            </a:p>
          </p:txBody>
        </p:sp>
        <p:sp>
          <p:nvSpPr>
            <p:cNvPr id="21" name="チェック2_丸"/>
            <p:cNvSpPr/>
            <p:nvPr/>
          </p:nvSpPr>
          <p:spPr>
            <a:xfrm>
              <a:off x="800100" y="367665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チェック2_チェック"/>
            <p:cNvSpPr/>
            <p:nvPr/>
          </p:nvSpPr>
          <p:spPr>
            <a:xfrm>
              <a:off x="800100" y="367665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機能2"/>
            <p:cNvSpPr/>
            <p:nvPr/>
          </p:nvSpPr>
          <p:spPr>
            <a:xfrm>
              <a:off x="1104900" y="3657600"/>
              <a:ext cx="2743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自動レイアウト生成</a:t>
              </a:r>
            </a:p>
          </p:txBody>
        </p:sp>
      </p:grpSp>
      <p:grpSp>
        <p:nvGrpSpPr>
          <p:cNvPr id="24" name="価値02_揃う"/>
          <p:cNvGrpSpPr/>
          <p:nvPr/>
        </p:nvGrpSpPr>
        <p:grpSpPr>
          <a:xfrm>
            <a:off x="4381500" y="1428750"/>
            <a:ext cx="3429000" cy="3238500"/>
            <a:chOff x="4381500" y="1428750"/>
            <a:chExt cx="3429000" cy="3238500"/>
          </a:xfrm>
        </p:grpSpPr>
        <p:sp>
          <p:nvSpPr>
            <p:cNvPr id="25" name="揃う_カード本体"/>
            <p:cNvSpPr/>
            <p:nvPr/>
          </p:nvSpPr>
          <p:spPr>
            <a:xfrm>
              <a:off x="4381500" y="1428750"/>
              <a:ext cx="3429000" cy="3238500"/>
            </a:xfrm>
            <a:prstGeom prst="roundRect">
              <a:avLst>
                <a:gd name="adj" fmla="val 235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揃う_見出し帯"/>
            <p:cNvSpPr/>
            <p:nvPr/>
          </p:nvSpPr>
          <p:spPr>
            <a:xfrm>
              <a:off x="4381500" y="1428750"/>
              <a:ext cx="3429000" cy="57150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揃う_見出し帯・角"/>
            <p:cNvSpPr/>
            <p:nvPr/>
          </p:nvSpPr>
          <p:spPr>
            <a:xfrm>
              <a:off x="4381500" y="1714500"/>
              <a:ext cx="342900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533900" y="1428750"/>
              <a:ext cx="31242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02　揃う</a:t>
              </a:r>
            </a:p>
          </p:txBody>
        </p:sp>
        <p:sp>
          <p:nvSpPr>
            <p:cNvPr id="29" name="一行説明"/>
            <p:cNvSpPr/>
            <p:nvPr/>
          </p:nvSpPr>
          <p:spPr>
            <a:xfrm>
              <a:off x="4610100" y="2209800"/>
              <a:ext cx="29718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部門を越えて資料の型と</a:t>
              </a:r>
            </a:p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表現を統一する</a:t>
              </a:r>
            </a:p>
          </p:txBody>
        </p:sp>
        <p:cxnSp>
          <p:nvCxnSpPr>
            <p:cNvPr id="30" name="区切り線"/>
            <p:cNvCxnSpPr/>
            <p:nvPr/>
          </p:nvCxnSpPr>
          <p:spPr>
            <a:xfrm>
              <a:off x="4610100" y="28384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機能見出し"/>
            <p:cNvSpPr/>
            <p:nvPr/>
          </p:nvSpPr>
          <p:spPr>
            <a:xfrm>
              <a:off x="4610100" y="2971800"/>
              <a:ext cx="1524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支える機能</a:t>
              </a:r>
            </a:p>
          </p:txBody>
        </p:sp>
        <p:sp>
          <p:nvSpPr>
            <p:cNvPr id="32" name="チェック1_丸"/>
            <p:cNvSpPr/>
            <p:nvPr/>
          </p:nvSpPr>
          <p:spPr>
            <a:xfrm>
              <a:off x="4610100" y="323850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チェック1_チェック"/>
            <p:cNvSpPr/>
            <p:nvPr/>
          </p:nvSpPr>
          <p:spPr>
            <a:xfrm>
              <a:off x="4610100" y="32385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機能1"/>
            <p:cNvSpPr/>
            <p:nvPr/>
          </p:nvSpPr>
          <p:spPr>
            <a:xfrm>
              <a:off x="4914900" y="3219450"/>
              <a:ext cx="2743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全社共通の型と表現ルール</a:t>
              </a:r>
            </a:p>
          </p:txBody>
        </p:sp>
        <p:sp>
          <p:nvSpPr>
            <p:cNvPr id="35" name="チェック2_丸"/>
            <p:cNvSpPr/>
            <p:nvPr/>
          </p:nvSpPr>
          <p:spPr>
            <a:xfrm>
              <a:off x="4610100" y="367665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チェック2_チェック"/>
            <p:cNvSpPr/>
            <p:nvPr/>
          </p:nvSpPr>
          <p:spPr>
            <a:xfrm>
              <a:off x="4610100" y="367665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機能2"/>
            <p:cNvSpPr/>
            <p:nvPr/>
          </p:nvSpPr>
          <p:spPr>
            <a:xfrm>
              <a:off x="4914900" y="3657600"/>
              <a:ext cx="2743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ブランド設定の一括適用</a:t>
              </a:r>
            </a:p>
          </p:txBody>
        </p:sp>
      </p:grpSp>
      <p:grpSp>
        <p:nvGrpSpPr>
          <p:cNvPr id="38" name="価値03_見える"/>
          <p:cNvGrpSpPr/>
          <p:nvPr/>
        </p:nvGrpSpPr>
        <p:grpSpPr>
          <a:xfrm>
            <a:off x="8191500" y="1428750"/>
            <a:ext cx="3429000" cy="3238500"/>
            <a:chOff x="8191500" y="1428750"/>
            <a:chExt cx="3429000" cy="3238500"/>
          </a:xfrm>
        </p:grpSpPr>
        <p:sp>
          <p:nvSpPr>
            <p:cNvPr id="39" name="見える_カード本体"/>
            <p:cNvSpPr/>
            <p:nvPr/>
          </p:nvSpPr>
          <p:spPr>
            <a:xfrm>
              <a:off x="8191500" y="1428750"/>
              <a:ext cx="3429000" cy="3238500"/>
            </a:xfrm>
            <a:prstGeom prst="roundRect">
              <a:avLst>
                <a:gd name="adj" fmla="val 235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見える_見出し帯"/>
            <p:cNvSpPr/>
            <p:nvPr/>
          </p:nvSpPr>
          <p:spPr>
            <a:xfrm>
              <a:off x="8191500" y="1428750"/>
              <a:ext cx="3429000" cy="57150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見える_見出し帯・角"/>
            <p:cNvSpPr/>
            <p:nvPr/>
          </p:nvSpPr>
          <p:spPr>
            <a:xfrm>
              <a:off x="8191500" y="1714500"/>
              <a:ext cx="342900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343900" y="1428750"/>
              <a:ext cx="31242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03　見える</a:t>
              </a:r>
            </a:p>
          </p:txBody>
        </p:sp>
        <p:sp>
          <p:nvSpPr>
            <p:cNvPr id="43" name="一行説明"/>
            <p:cNvSpPr/>
            <p:nvPr/>
          </p:nvSpPr>
          <p:spPr>
            <a:xfrm>
              <a:off x="8420100" y="2209800"/>
              <a:ext cx="29718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最新版と利用状況が</a:t>
              </a:r>
            </a:p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ひと目で分かる</a:t>
              </a:r>
            </a:p>
          </p:txBody>
        </p:sp>
        <p:cxnSp>
          <p:nvCxnSpPr>
            <p:cNvPr id="44" name="区切り線"/>
            <p:cNvCxnSpPr/>
            <p:nvPr/>
          </p:nvCxnSpPr>
          <p:spPr>
            <a:xfrm>
              <a:off x="8420100" y="28384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機能見出し"/>
            <p:cNvSpPr/>
            <p:nvPr/>
          </p:nvSpPr>
          <p:spPr>
            <a:xfrm>
              <a:off x="8420100" y="2971800"/>
              <a:ext cx="1524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支える機能</a:t>
              </a:r>
            </a:p>
          </p:txBody>
        </p:sp>
        <p:sp>
          <p:nvSpPr>
            <p:cNvPr id="46" name="チェック1_丸"/>
            <p:cNvSpPr/>
            <p:nvPr/>
          </p:nvSpPr>
          <p:spPr>
            <a:xfrm>
              <a:off x="8420100" y="323850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チェック1_チェック"/>
            <p:cNvSpPr/>
            <p:nvPr/>
          </p:nvSpPr>
          <p:spPr>
            <a:xfrm>
              <a:off x="8420100" y="32385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機能1"/>
            <p:cNvSpPr/>
            <p:nvPr/>
          </p:nvSpPr>
          <p:spPr>
            <a:xfrm>
              <a:off x="8724900" y="3219450"/>
              <a:ext cx="2743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共有ワークスペース</a:t>
              </a:r>
            </a:p>
          </p:txBody>
        </p:sp>
        <p:sp>
          <p:nvSpPr>
            <p:cNvPr id="49" name="チェック2_丸"/>
            <p:cNvSpPr/>
            <p:nvPr/>
          </p:nvSpPr>
          <p:spPr>
            <a:xfrm>
              <a:off x="8420100" y="367665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チェック2_チェック"/>
            <p:cNvSpPr/>
            <p:nvPr/>
          </p:nvSpPr>
          <p:spPr>
            <a:xfrm>
              <a:off x="8420100" y="367665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機能2"/>
            <p:cNvSpPr/>
            <p:nvPr/>
          </p:nvSpPr>
          <p:spPr>
            <a:xfrm>
              <a:off x="8724900" y="3657600"/>
              <a:ext cx="27432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閲覧・利用ログ</a:t>
              </a:r>
            </a:p>
          </p:txBody>
        </p:sp>
      </p:grpSp>
      <p:sp>
        <p:nvSpPr>
          <p:cNvPr id="52" name="Rectangle 51"/>
          <p:cNvSpPr/>
          <p:nvPr/>
        </p:nvSpPr>
        <p:spPr>
          <a:xfrm>
            <a:off x="571500" y="4972050"/>
            <a:ext cx="11049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01〜03は、2頁の悩み「時間・品質・共有」にそれぞれ対応している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解決策｜SOLUTION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操作は3ステップ。データを選べば資料は自動で仕上がる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利用イメージと操作の流れ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注：画面はイメージです。実際のUIとは異なる場合があります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出所：SampleWorksデモ環境（架空サンプル）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6</a:t>
            </a:r>
          </a:p>
        </p:txBody>
      </p:sp>
      <p:grpSp>
        <p:nvGrpSpPr>
          <p:cNvPr id="10" name="画面_ブラウザ枠"/>
          <p:cNvGrpSpPr/>
          <p:nvPr/>
        </p:nvGrpSpPr>
        <p:grpSpPr>
          <a:xfrm>
            <a:off x="571500" y="1428750"/>
            <a:ext cx="5905500" cy="3714750"/>
            <a:chOff x="571500" y="1428750"/>
            <a:chExt cx="5905500" cy="3714750"/>
          </a:xfrm>
        </p:grpSpPr>
        <p:sp>
          <p:nvSpPr>
            <p:cNvPr id="11" name="ブラウザ外枠"/>
            <p:cNvSpPr/>
            <p:nvPr/>
          </p:nvSpPr>
          <p:spPr>
            <a:xfrm>
              <a:off x="571500" y="1428750"/>
              <a:ext cx="5905500" cy="3714750"/>
            </a:xfrm>
            <a:prstGeom prst="roundRect">
              <a:avLst>
                <a:gd name="adj" fmla="val 2051"/>
              </a:avLst>
            </a:prstGeom>
            <a:solidFill>
              <a:schemeClr val="lt1"/>
            </a:solidFill>
            <a:ln w="11906">
              <a:solidFill>
                <a:schemeClr val="accent5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上バー"/>
            <p:cNvSpPr/>
            <p:nvPr/>
          </p:nvSpPr>
          <p:spPr>
            <a:xfrm>
              <a:off x="581025" y="1438275"/>
              <a:ext cx="5886450" cy="323850"/>
            </a:xfrm>
            <a:prstGeom prst="roundRect">
              <a:avLst>
                <a:gd name="adj" fmla="val 2058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上バー角消し"/>
            <p:cNvSpPr/>
            <p:nvPr/>
          </p:nvSpPr>
          <p:spPr>
            <a:xfrm>
              <a:off x="581025" y="1657350"/>
              <a:ext cx="5886450" cy="1047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バー区切り線"/>
            <p:cNvCxnSpPr/>
            <p:nvPr/>
          </p:nvCxnSpPr>
          <p:spPr>
            <a:xfrm>
              <a:off x="581025" y="1762125"/>
              <a:ext cx="58864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丸3点_1"/>
            <p:cNvSpPr/>
            <p:nvPr/>
          </p:nvSpPr>
          <p:spPr>
            <a:xfrm>
              <a:off x="676275" y="15525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丸3点_2"/>
            <p:cNvSpPr/>
            <p:nvPr/>
          </p:nvSpPr>
          <p:spPr>
            <a:xfrm>
              <a:off x="828675" y="15525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丸3点_3"/>
            <p:cNvSpPr/>
            <p:nvPr/>
          </p:nvSpPr>
          <p:spPr>
            <a:xfrm>
              <a:off x="981075" y="155257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URL欄"/>
            <p:cNvSpPr/>
            <p:nvPr/>
          </p:nvSpPr>
          <p:spPr>
            <a:xfrm>
              <a:off x="1181100" y="1504950"/>
              <a:ext cx="5181600" cy="1905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URLテキスト"/>
            <p:cNvSpPr/>
            <p:nvPr/>
          </p:nvSpPr>
          <p:spPr>
            <a:xfrm>
              <a:off x="1295400" y="1504950"/>
              <a:ext cx="495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https://example.com</a:t>
              </a:r>
            </a:p>
          </p:txBody>
        </p:sp>
        <p:sp>
          <p:nvSpPr>
            <p:cNvPr id="20" name="プレースホルダ"/>
            <p:cNvSpPr/>
            <p:nvPr/>
          </p:nvSpPr>
          <p:spPr>
            <a:xfrm>
              <a:off x="685800" y="1771650"/>
              <a:ext cx="5676900" cy="3257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画面イメージをここに配置</a:t>
              </a:r>
            </a:p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（スクリーンショットに差し替え）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571500" y="5257800"/>
            <a:ext cx="5905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管理画面（PC・ブラウザ）</a:t>
            </a:r>
          </a:p>
        </p:txBody>
      </p:sp>
      <p:grpSp>
        <p:nvGrpSpPr>
          <p:cNvPr id="22" name="操作ステップ01_データを選ぶ"/>
          <p:cNvGrpSpPr/>
          <p:nvPr/>
        </p:nvGrpSpPr>
        <p:grpSpPr>
          <a:xfrm>
            <a:off x="7048500" y="1543050"/>
            <a:ext cx="4419600" cy="666750"/>
            <a:chOff x="7048500" y="1543050"/>
            <a:chExt cx="4419600" cy="666750"/>
          </a:xfrm>
        </p:grpSpPr>
        <p:sp>
          <p:nvSpPr>
            <p:cNvPr id="23" name="番号円"/>
            <p:cNvSpPr/>
            <p:nvPr/>
          </p:nvSpPr>
          <p:spPr>
            <a:xfrm>
              <a:off x="7048500" y="154305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番号"/>
            <p:cNvSpPr/>
            <p:nvPr/>
          </p:nvSpPr>
          <p:spPr>
            <a:xfrm>
              <a:off x="7048500" y="1552575"/>
              <a:ext cx="4191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25" name="ステップ名"/>
            <p:cNvSpPr/>
            <p:nvPr/>
          </p:nvSpPr>
          <p:spPr>
            <a:xfrm>
              <a:off x="7658100" y="1562100"/>
              <a:ext cx="3619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データを選ぶ</a:t>
              </a:r>
            </a:p>
          </p:txBody>
        </p:sp>
        <p:sp>
          <p:nvSpPr>
            <p:cNvPr id="26" name="ステップ説明"/>
            <p:cNvSpPr/>
            <p:nvPr/>
          </p:nvSpPr>
          <p:spPr>
            <a:xfrm>
              <a:off x="7658100" y="1828800"/>
              <a:ext cx="38100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売上や実績のファイルをドラッグ、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または連携済みのデータから選択</a:t>
              </a:r>
            </a:p>
          </p:txBody>
        </p:sp>
      </p:grpSp>
      <p:grpSp>
        <p:nvGrpSpPr>
          <p:cNvPr id="27" name="操作ステップ02_テンプレートを選ぶ"/>
          <p:cNvGrpSpPr/>
          <p:nvPr/>
        </p:nvGrpSpPr>
        <p:grpSpPr>
          <a:xfrm>
            <a:off x="7048500" y="2800350"/>
            <a:ext cx="4419600" cy="666750"/>
            <a:chOff x="7048500" y="2800350"/>
            <a:chExt cx="4419600" cy="666750"/>
          </a:xfrm>
        </p:grpSpPr>
        <p:sp>
          <p:nvSpPr>
            <p:cNvPr id="28" name="番号円"/>
            <p:cNvSpPr/>
            <p:nvPr/>
          </p:nvSpPr>
          <p:spPr>
            <a:xfrm>
              <a:off x="7048500" y="280035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番号"/>
            <p:cNvSpPr/>
            <p:nvPr/>
          </p:nvSpPr>
          <p:spPr>
            <a:xfrm>
              <a:off x="7048500" y="2809875"/>
              <a:ext cx="4191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30" name="ステップ名"/>
            <p:cNvSpPr/>
            <p:nvPr/>
          </p:nvSpPr>
          <p:spPr>
            <a:xfrm>
              <a:off x="7658100" y="2819400"/>
              <a:ext cx="3619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テンプレートを選ぶ</a:t>
              </a:r>
            </a:p>
          </p:txBody>
        </p:sp>
        <p:sp>
          <p:nvSpPr>
            <p:cNvPr id="31" name="ステップ説明"/>
            <p:cNvSpPr/>
            <p:nvPr/>
          </p:nvSpPr>
          <p:spPr>
            <a:xfrm>
              <a:off x="7658100" y="3086100"/>
              <a:ext cx="38100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用途別100種から選ぶだけ。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自社の型の登録もできる</a:t>
              </a:r>
            </a:p>
          </p:txBody>
        </p:sp>
      </p:grpSp>
      <p:grpSp>
        <p:nvGrpSpPr>
          <p:cNvPr id="32" name="操作ステップ03_生成して共有する"/>
          <p:cNvGrpSpPr/>
          <p:nvPr/>
        </p:nvGrpSpPr>
        <p:grpSpPr>
          <a:xfrm>
            <a:off x="7048500" y="4057650"/>
            <a:ext cx="4419600" cy="666750"/>
            <a:chOff x="7048500" y="4057650"/>
            <a:chExt cx="4419600" cy="666750"/>
          </a:xfrm>
        </p:grpSpPr>
        <p:sp>
          <p:nvSpPr>
            <p:cNvPr id="33" name="番号円"/>
            <p:cNvSpPr/>
            <p:nvPr/>
          </p:nvSpPr>
          <p:spPr>
            <a:xfrm>
              <a:off x="7048500" y="405765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番号"/>
            <p:cNvSpPr/>
            <p:nvPr/>
          </p:nvSpPr>
          <p:spPr>
            <a:xfrm>
              <a:off x="7048500" y="4067175"/>
              <a:ext cx="4191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35" name="ステップ名"/>
            <p:cNvSpPr/>
            <p:nvPr/>
          </p:nvSpPr>
          <p:spPr>
            <a:xfrm>
              <a:off x="7658100" y="4076700"/>
              <a:ext cx="3619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生成して共有する</a:t>
              </a:r>
            </a:p>
          </p:txBody>
        </p:sp>
        <p:sp>
          <p:nvSpPr>
            <p:cNvPr id="36" name="ステップ説明"/>
            <p:cNvSpPr/>
            <p:nvPr/>
          </p:nvSpPr>
          <p:spPr>
            <a:xfrm>
              <a:off x="7658100" y="4343400"/>
              <a:ext cx="38100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レイアウトは自動で調整。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リンク共有で常に最新版が届く</a:t>
              </a:r>
            </a:p>
          </p:txBody>
        </p:sp>
      </p:grpSp>
      <p:grpSp>
        <p:nvGrpSpPr>
          <p:cNvPr id="37" name="操作ステップ矢印"/>
          <p:cNvGrpSpPr/>
          <p:nvPr/>
        </p:nvGrpSpPr>
        <p:grpSpPr>
          <a:xfrm>
            <a:off x="7258050" y="2038350"/>
            <a:ext cx="19050" cy="1943100"/>
            <a:chOff x="7258050" y="2038350"/>
            <a:chExt cx="19050" cy="1943100"/>
          </a:xfrm>
        </p:grpSpPr>
        <p:cxnSp>
          <p:nvCxnSpPr>
            <p:cNvPr id="38" name="1→2"/>
            <p:cNvCxnSpPr/>
            <p:nvPr/>
          </p:nvCxnSpPr>
          <p:spPr>
            <a:xfrm>
              <a:off x="7258050" y="2038350"/>
              <a:ext cx="0" cy="68580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2→3"/>
            <p:cNvCxnSpPr/>
            <p:nvPr/>
          </p:nvCxnSpPr>
          <p:spPr>
            <a:xfrm>
              <a:off x="7258050" y="3295650"/>
              <a:ext cx="0" cy="68580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所要時間タグ"/>
          <p:cNvGrpSpPr/>
          <p:nvPr/>
        </p:nvGrpSpPr>
        <p:grpSpPr>
          <a:xfrm>
            <a:off x="7658100" y="4762500"/>
            <a:ext cx="1409700" cy="285750"/>
            <a:chOff x="7658100" y="4762500"/>
            <a:chExt cx="1409700" cy="285750"/>
          </a:xfrm>
        </p:grpSpPr>
        <p:sp>
          <p:nvSpPr>
            <p:cNvPr id="41" name="タグ地（朱）"/>
            <p:cNvSpPr/>
            <p:nvPr/>
          </p:nvSpPr>
          <p:spPr>
            <a:xfrm>
              <a:off x="7658100" y="4762500"/>
              <a:ext cx="1409700" cy="285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タグ文字"/>
            <p:cNvSpPr/>
            <p:nvPr/>
          </p:nvSpPr>
          <p:spPr>
            <a:xfrm>
              <a:off x="7658100" y="4772025"/>
              <a:ext cx="14097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ここまで約3分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導入効果｜PROOF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導入3ヶ月で、資料作成の時間は半分以下になった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導入事例：株式会社サンプル製作所（製造業・従業員300名／架空）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注：数値は導入前後の実測比較に基づく架空のサンプル値です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出所：導入企業インタビュー（2026年6月・架空サンプル）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7</a:t>
            </a:r>
          </a:p>
        </p:txBody>
      </p:sp>
      <p:grpSp>
        <p:nvGrpSpPr>
          <p:cNvPr id="10" name="事例_顧客の声"/>
          <p:cNvGrpSpPr/>
          <p:nvPr/>
        </p:nvGrpSpPr>
        <p:grpSpPr>
          <a:xfrm>
            <a:off x="571500" y="1428750"/>
            <a:ext cx="4953000" cy="2190750"/>
            <a:chOff x="571500" y="1428750"/>
            <a:chExt cx="4953000" cy="2190750"/>
          </a:xfrm>
        </p:grpSpPr>
        <p:sp>
          <p:nvSpPr>
            <p:cNvPr id="11" name="声の吹き出し"/>
            <p:cNvSpPr/>
            <p:nvPr/>
          </p:nvSpPr>
          <p:spPr>
            <a:xfrm>
              <a:off x="571500" y="1428750"/>
              <a:ext cx="4953000" cy="1771650"/>
            </a:xfrm>
            <a:custGeom>
              <a:avLst/>
              <a:gdLst/>
              <a:ahLst/>
              <a:cxnLst/>
              <a:rect l="0" t="0" r="4953000" b="1600200"/>
              <a:pathLst>
                <a:path w="4953000" h="1771650">
                  <a:moveTo>
                    <a:pt x="76200" y="0"/>
                  </a:moveTo>
                  <a:lnTo>
                    <a:pt x="4876800" y="0"/>
                  </a:lnTo>
                  <a:arcTo wR="76200" hR="76200" stAng="16200000" swAng="5400000"/>
                  <a:lnTo>
                    <a:pt x="4953000" y="1524000"/>
                  </a:lnTo>
                  <a:arcTo wR="76200" hR="76200" stAng="0" swAng="5400000"/>
                  <a:lnTo>
                    <a:pt x="897255" y="1600200"/>
                  </a:lnTo>
                  <a:lnTo>
                    <a:pt x="792480" y="1771650"/>
                  </a:lnTo>
                  <a:lnTo>
                    <a:pt x="687705" y="1600200"/>
                  </a:lnTo>
                  <a:lnTo>
                    <a:pt x="76200" y="16002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04850" y="1428750"/>
              <a:ext cx="4686300" cy="1600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「月曜の午前が丸ごと資料づくりで</a:t>
              </a:r>
            </a:p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消えていました。いまは定例前の</a:t>
              </a:r>
            </a:p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30分で終わり、浮いた時間で</a:t>
              </a:r>
            </a:p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顧客訪問を2件増やせています」</a:t>
              </a:r>
            </a:p>
          </p:txBody>
        </p:sp>
        <p:sp>
          <p:nvSpPr>
            <p:cNvPr id="13" name="話者頭文字"/>
            <p:cNvSpPr/>
            <p:nvPr/>
          </p:nvSpPr>
          <p:spPr>
            <a:xfrm>
              <a:off x="666750" y="3295650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頭文字"/>
            <p:cNvSpPr/>
            <p:nvPr/>
          </p:nvSpPr>
          <p:spPr>
            <a:xfrm>
              <a:off x="666750" y="33051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S</a:t>
              </a:r>
            </a:p>
          </p:txBody>
        </p:sp>
        <p:sp>
          <p:nvSpPr>
            <p:cNvPr id="15" name="話者ラベル"/>
            <p:cNvSpPr/>
            <p:nvPr/>
          </p:nvSpPr>
          <p:spPr>
            <a:xfrm>
              <a:off x="1104900" y="3324225"/>
              <a:ext cx="36195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佐藤様（仮名）｜営業企画 部長</a:t>
              </a:r>
            </a:p>
          </p:txBody>
        </p:sp>
      </p:grpSp>
      <p:grpSp>
        <p:nvGrpSpPr>
          <p:cNvPr id="16" name="事例_導入概要"/>
          <p:cNvGrpSpPr/>
          <p:nvPr/>
        </p:nvGrpSpPr>
        <p:grpSpPr>
          <a:xfrm>
            <a:off x="571500" y="3886200"/>
            <a:ext cx="4953000" cy="2152650"/>
            <a:chOff x="571500" y="3886200"/>
            <a:chExt cx="4953000" cy="2152650"/>
          </a:xfrm>
        </p:grpSpPr>
        <p:sp>
          <p:nvSpPr>
            <p:cNvPr id="17" name="概要カード"/>
            <p:cNvSpPr/>
            <p:nvPr/>
          </p:nvSpPr>
          <p:spPr>
            <a:xfrm>
              <a:off x="571500" y="3886200"/>
              <a:ext cx="4953000" cy="2152650"/>
            </a:xfrm>
            <a:prstGeom prst="roundRect">
              <a:avLst>
                <a:gd name="adj" fmla="val 353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概要見出し"/>
            <p:cNvSpPr/>
            <p:nvPr/>
          </p:nvSpPr>
          <p:spPr>
            <a:xfrm>
              <a:off x="800100" y="4057650"/>
              <a:ext cx="1905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導入概要</a:t>
              </a:r>
            </a:p>
          </p:txBody>
        </p:sp>
        <p:sp>
          <p:nvSpPr>
            <p:cNvPr id="19" name="項目1"/>
            <p:cNvSpPr/>
            <p:nvPr/>
          </p:nvSpPr>
          <p:spPr>
            <a:xfrm>
              <a:off x="800100" y="4400550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対象部門</a:t>
              </a:r>
            </a:p>
          </p:txBody>
        </p:sp>
        <p:sp>
          <p:nvSpPr>
            <p:cNvPr id="20" name="値1"/>
            <p:cNvSpPr/>
            <p:nvPr/>
          </p:nvSpPr>
          <p:spPr>
            <a:xfrm>
              <a:off x="1905000" y="4381500"/>
              <a:ext cx="3390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営業・営業企画 45名</a:t>
              </a:r>
            </a:p>
          </p:txBody>
        </p:sp>
        <p:cxnSp>
          <p:nvCxnSpPr>
            <p:cNvPr id="21" name="罫線1"/>
            <p:cNvCxnSpPr/>
            <p:nvPr/>
          </p:nvCxnSpPr>
          <p:spPr>
            <a:xfrm>
              <a:off x="800100" y="4781550"/>
              <a:ext cx="4495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項目2"/>
            <p:cNvSpPr/>
            <p:nvPr/>
          </p:nvSpPr>
          <p:spPr>
            <a:xfrm>
              <a:off x="800100" y="4933950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導入期間</a:t>
              </a:r>
            </a:p>
          </p:txBody>
        </p:sp>
        <p:sp>
          <p:nvSpPr>
            <p:cNvPr id="23" name="値2"/>
            <p:cNvSpPr/>
            <p:nvPr/>
          </p:nvSpPr>
          <p:spPr>
            <a:xfrm>
              <a:off x="1905000" y="4914900"/>
              <a:ext cx="3390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申込みから2週間</a:t>
              </a:r>
            </a:p>
          </p:txBody>
        </p:sp>
        <p:cxnSp>
          <p:nvCxnSpPr>
            <p:cNvPr id="24" name="罫線2"/>
            <p:cNvCxnSpPr/>
            <p:nvPr/>
          </p:nvCxnSpPr>
          <p:spPr>
            <a:xfrm>
              <a:off x="800100" y="5314950"/>
              <a:ext cx="4495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項目3"/>
            <p:cNvSpPr/>
            <p:nvPr/>
          </p:nvSpPr>
          <p:spPr>
            <a:xfrm>
              <a:off x="800100" y="5467350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利用範囲</a:t>
              </a:r>
            </a:p>
          </p:txBody>
        </p:sp>
        <p:sp>
          <p:nvSpPr>
            <p:cNvPr id="26" name="値3"/>
            <p:cNvSpPr/>
            <p:nvPr/>
          </p:nvSpPr>
          <p:spPr>
            <a:xfrm>
              <a:off x="1905000" y="5448300"/>
              <a:ext cx="3390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提案書・月次報告テンプレート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6096000" y="1314450"/>
            <a:ext cx="5524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資料作成時間（営業部門45名の週平均）</a:t>
            </a:r>
          </a:p>
        </p:txBody>
      </p:sp>
      <p:grpSp>
        <p:nvGrpSpPr>
          <p:cNvPr id="28" name="事例_BeforeAfter"/>
          <p:cNvGrpSpPr/>
          <p:nvPr/>
        </p:nvGrpSpPr>
        <p:grpSpPr>
          <a:xfrm>
            <a:off x="6096000" y="1409700"/>
            <a:ext cx="5524500" cy="1447800"/>
            <a:chOff x="6096000" y="1409700"/>
            <a:chExt cx="5524500" cy="1447800"/>
          </a:xfrm>
        </p:grpSpPr>
        <p:sp>
          <p:nvSpPr>
            <p:cNvPr id="29" name="Before箱"/>
            <p:cNvSpPr/>
            <p:nvPr/>
          </p:nvSpPr>
          <p:spPr>
            <a:xfrm>
              <a:off x="6096000" y="1714500"/>
              <a:ext cx="1905000" cy="1143000"/>
            </a:xfrm>
            <a:prstGeom prst="roundRect">
              <a:avLst>
                <a:gd name="adj" fmla="val 6666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Beforeラベル"/>
            <p:cNvSpPr/>
            <p:nvPr/>
          </p:nvSpPr>
          <p:spPr>
            <a:xfrm>
              <a:off x="6096000" y="1866900"/>
              <a:ext cx="1905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Before</a:t>
              </a:r>
            </a:p>
          </p:txBody>
        </p:sp>
        <p:sp>
          <p:nvSpPr>
            <p:cNvPr id="31" name="Before値"/>
            <p:cNvSpPr/>
            <p:nvPr/>
          </p:nvSpPr>
          <p:spPr>
            <a:xfrm>
              <a:off x="6096000" y="2133600"/>
              <a:ext cx="1905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12時間/週</a:t>
              </a:r>
            </a:p>
          </p:txBody>
        </p:sp>
        <p:sp>
          <p:nvSpPr>
            <p:cNvPr id="32" name="効果太矢印"/>
            <p:cNvSpPr/>
            <p:nvPr/>
          </p:nvSpPr>
          <p:spPr>
            <a:xfrm>
              <a:off x="8115300" y="2000250"/>
              <a:ext cx="1485900" cy="57150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効果タグ（朱）"/>
            <p:cNvSpPr/>
            <p:nvPr/>
          </p:nvSpPr>
          <p:spPr>
            <a:xfrm>
              <a:off x="8362950" y="1409700"/>
              <a:ext cx="9906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効果タグ文字"/>
            <p:cNvSpPr/>
            <p:nvPr/>
          </p:nvSpPr>
          <p:spPr>
            <a:xfrm>
              <a:off x="8362950" y="1419225"/>
              <a:ext cx="9906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−58%</a:t>
              </a:r>
            </a:p>
          </p:txBody>
        </p:sp>
        <p:sp>
          <p:nvSpPr>
            <p:cNvPr id="35" name="After箱"/>
            <p:cNvSpPr/>
            <p:nvPr/>
          </p:nvSpPr>
          <p:spPr>
            <a:xfrm>
              <a:off x="9715500" y="1714500"/>
              <a:ext cx="1905000" cy="1143000"/>
            </a:xfrm>
            <a:prstGeom prst="roundRect">
              <a:avLst>
                <a:gd name="adj" fmla="val 666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Afterラベル"/>
            <p:cNvSpPr/>
            <p:nvPr/>
          </p:nvSpPr>
          <p:spPr>
            <a:xfrm>
              <a:off x="9715500" y="1866900"/>
              <a:ext cx="1905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After</a:t>
              </a:r>
            </a:p>
          </p:txBody>
        </p:sp>
        <p:sp>
          <p:nvSpPr>
            <p:cNvPr id="37" name="After値"/>
            <p:cNvSpPr/>
            <p:nvPr/>
          </p:nvSpPr>
          <p:spPr>
            <a:xfrm>
              <a:off x="9715500" y="2133600"/>
              <a:ext cx="1905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900" b="1">
                  <a:solidFill>
                    <a:schemeClr val="lt1"/>
                  </a:solidFill>
                </a:rPr>
                <a:t>5時間/週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6096000" y="3143250"/>
            <a:ext cx="552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solidFill>
                  <a:schemeClr val="dk1"/>
                </a:solidFill>
              </a:rPr>
              <a:t>上司の手直しも 月10件 → 3件 に減少</a:t>
            </a:r>
          </a:p>
        </p:txBody>
      </p:sp>
      <p:grpSp>
        <p:nvGrpSpPr>
          <p:cNvPr id="39" name="事例_成功要因"/>
          <p:cNvGrpSpPr/>
          <p:nvPr/>
        </p:nvGrpSpPr>
        <p:grpSpPr>
          <a:xfrm>
            <a:off x="6096000" y="3886200"/>
            <a:ext cx="5524500" cy="2152650"/>
            <a:chOff x="6096000" y="3886200"/>
            <a:chExt cx="5524500" cy="2152650"/>
          </a:xfrm>
        </p:grpSpPr>
        <p:sp>
          <p:nvSpPr>
            <p:cNvPr id="40" name="要因カード"/>
            <p:cNvSpPr/>
            <p:nvPr/>
          </p:nvSpPr>
          <p:spPr>
            <a:xfrm>
              <a:off x="6096000" y="3886200"/>
              <a:ext cx="5524500" cy="2152650"/>
            </a:xfrm>
            <a:prstGeom prst="roundRect">
              <a:avLst>
                <a:gd name="adj" fmla="val 353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要因見出し"/>
            <p:cNvSpPr/>
            <p:nvPr/>
          </p:nvSpPr>
          <p:spPr>
            <a:xfrm>
              <a:off x="6324600" y="405765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効果が出た3つの理由</a:t>
              </a:r>
            </a:p>
          </p:txBody>
        </p:sp>
        <p:sp>
          <p:nvSpPr>
            <p:cNvPr id="42" name="チェック1_丸"/>
            <p:cNvSpPr/>
            <p:nvPr/>
          </p:nvSpPr>
          <p:spPr>
            <a:xfrm>
              <a:off x="6324600" y="441960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チェック1_チェック"/>
            <p:cNvSpPr/>
            <p:nvPr/>
          </p:nvSpPr>
          <p:spPr>
            <a:xfrm>
              <a:off x="6324600" y="44196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理由1"/>
            <p:cNvSpPr/>
            <p:nvPr/>
          </p:nvSpPr>
          <p:spPr>
            <a:xfrm>
              <a:off x="6667500" y="4400550"/>
              <a:ext cx="4762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既存の資料をテンプレート化してから移行した</a:t>
              </a:r>
            </a:p>
          </p:txBody>
        </p:sp>
        <p:sp>
          <p:nvSpPr>
            <p:cNvPr id="45" name="チェック2_丸"/>
            <p:cNvSpPr/>
            <p:nvPr/>
          </p:nvSpPr>
          <p:spPr>
            <a:xfrm>
              <a:off x="6324600" y="493395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チェック2_チェック"/>
            <p:cNvSpPr/>
            <p:nvPr/>
          </p:nvSpPr>
          <p:spPr>
            <a:xfrm>
              <a:off x="6324600" y="493395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理由2"/>
            <p:cNvSpPr/>
            <p:nvPr/>
          </p:nvSpPr>
          <p:spPr>
            <a:xfrm>
              <a:off x="6667500" y="4914900"/>
              <a:ext cx="4762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初週に全員向けの30分研修を実施した</a:t>
              </a:r>
            </a:p>
          </p:txBody>
        </p:sp>
        <p:sp>
          <p:nvSpPr>
            <p:cNvPr id="48" name="チェック3_丸"/>
            <p:cNvSpPr/>
            <p:nvPr/>
          </p:nvSpPr>
          <p:spPr>
            <a:xfrm>
              <a:off x="6324600" y="544830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チェック3_チェック"/>
            <p:cNvSpPr/>
            <p:nvPr/>
          </p:nvSpPr>
          <p:spPr>
            <a:xfrm>
              <a:off x="6324600" y="54483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理由3"/>
            <p:cNvSpPr/>
            <p:nvPr/>
          </p:nvSpPr>
          <p:spPr>
            <a:xfrm>
              <a:off x="6667500" y="5429250"/>
              <a:ext cx="4762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週次で利用ログを確認し、未利用者を支援した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導入効果｜PROOF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効果は時間の削減にとどまらず、品質と定着にも及ぶ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導入企業3社の平均効果（導入3ヶ月時点）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注：効果は利用状況・部門構成により異なります。数値は架空のサンプル値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出所：導入企業3社の利用ログ集計（2026年・架空サンプル）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8</a:t>
            </a:r>
          </a:p>
        </p:txBody>
      </p:sp>
      <p:grpSp>
        <p:nvGrpSpPr>
          <p:cNvPr id="10" name="効果KPI01_資料作成時間"/>
          <p:cNvGrpSpPr/>
          <p:nvPr/>
        </p:nvGrpSpPr>
        <p:grpSpPr>
          <a:xfrm>
            <a:off x="571500" y="1428750"/>
            <a:ext cx="3429000" cy="2190750"/>
            <a:chOff x="571500" y="1428750"/>
            <a:chExt cx="3429000" cy="2190750"/>
          </a:xfrm>
        </p:grpSpPr>
        <p:sp>
          <p:nvSpPr>
            <p:cNvPr id="11" name="KPIカード（濃色）"/>
            <p:cNvSpPr/>
            <p:nvPr/>
          </p:nvSpPr>
          <p:spPr>
            <a:xfrm>
              <a:off x="571500" y="1428750"/>
              <a:ext cx="3429000" cy="2190750"/>
            </a:xfrm>
            <a:prstGeom prst="roundRect">
              <a:avLst>
                <a:gd name="adj" fmla="val 3478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指標名"/>
            <p:cNvSpPr/>
            <p:nvPr/>
          </p:nvSpPr>
          <p:spPr>
            <a:xfrm>
              <a:off x="800100" y="1619250"/>
              <a:ext cx="2971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4"/>
                  </a:solidFill>
                </a:rPr>
                <a:t>資料作成時間</a:t>
              </a:r>
            </a:p>
          </p:txBody>
        </p:sp>
        <p:sp>
          <p:nvSpPr>
            <p:cNvPr id="13" name="数値"/>
            <p:cNvSpPr/>
            <p:nvPr/>
          </p:nvSpPr>
          <p:spPr>
            <a:xfrm>
              <a:off x="800100" y="1905000"/>
              <a:ext cx="297180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600" b="1">
                  <a:solidFill>
                    <a:schemeClr val="accent2"/>
                  </a:solidFill>
                </a:rPr>
                <a:t>−58%</a:t>
              </a:r>
            </a:p>
          </p:txBody>
        </p:sp>
        <p:sp>
          <p:nvSpPr>
            <p:cNvPr id="14" name="内訳"/>
            <p:cNvSpPr/>
            <p:nvPr/>
          </p:nvSpPr>
          <p:spPr>
            <a:xfrm>
              <a:off x="800100" y="3143250"/>
              <a:ext cx="2971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4"/>
                  </a:solidFill>
                </a:rPr>
                <a:t>週12時間 → 週5時間</a:t>
              </a:r>
            </a:p>
          </p:txBody>
        </p:sp>
      </p:grpSp>
      <p:grpSp>
        <p:nvGrpSpPr>
          <p:cNvPr id="15" name="効果KPI02_上司の手直し回数"/>
          <p:cNvGrpSpPr/>
          <p:nvPr/>
        </p:nvGrpSpPr>
        <p:grpSpPr>
          <a:xfrm>
            <a:off x="4381500" y="1428750"/>
            <a:ext cx="3429000" cy="2190750"/>
            <a:chOff x="4381500" y="1428750"/>
            <a:chExt cx="3429000" cy="2190750"/>
          </a:xfrm>
        </p:grpSpPr>
        <p:sp>
          <p:nvSpPr>
            <p:cNvPr id="16" name="KPIカード"/>
            <p:cNvSpPr/>
            <p:nvPr/>
          </p:nvSpPr>
          <p:spPr>
            <a:xfrm>
              <a:off x="4381500" y="1428750"/>
              <a:ext cx="3429000" cy="2190750"/>
            </a:xfrm>
            <a:prstGeom prst="roundRect">
              <a:avLst>
                <a:gd name="adj" fmla="val 347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指標名"/>
            <p:cNvSpPr/>
            <p:nvPr/>
          </p:nvSpPr>
          <p:spPr>
            <a:xfrm>
              <a:off x="4610100" y="1619250"/>
              <a:ext cx="2971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上司の手直し回数</a:t>
              </a:r>
            </a:p>
          </p:txBody>
        </p:sp>
        <p:sp>
          <p:nvSpPr>
            <p:cNvPr id="18" name="数値"/>
            <p:cNvSpPr/>
            <p:nvPr/>
          </p:nvSpPr>
          <p:spPr>
            <a:xfrm>
              <a:off x="4610100" y="1905000"/>
              <a:ext cx="297180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600" b="1">
                  <a:solidFill>
                    <a:schemeClr val="accent1"/>
                  </a:solidFill>
                </a:rPr>
                <a:t>−70%</a:t>
              </a:r>
            </a:p>
          </p:txBody>
        </p:sp>
        <p:sp>
          <p:nvSpPr>
            <p:cNvPr id="19" name="内訳"/>
            <p:cNvSpPr/>
            <p:nvPr/>
          </p:nvSpPr>
          <p:spPr>
            <a:xfrm>
              <a:off x="4610100" y="3143250"/>
              <a:ext cx="2971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月10件 → 月3件</a:t>
              </a:r>
            </a:p>
          </p:txBody>
        </p:sp>
      </p:grpSp>
      <p:grpSp>
        <p:nvGrpSpPr>
          <p:cNvPr id="20" name="効果KPI03_テンプレート利用率"/>
          <p:cNvGrpSpPr/>
          <p:nvPr/>
        </p:nvGrpSpPr>
        <p:grpSpPr>
          <a:xfrm>
            <a:off x="8191500" y="1428750"/>
            <a:ext cx="3429000" cy="2190750"/>
            <a:chOff x="8191500" y="1428750"/>
            <a:chExt cx="3429000" cy="2190750"/>
          </a:xfrm>
        </p:grpSpPr>
        <p:sp>
          <p:nvSpPr>
            <p:cNvPr id="21" name="KPIカード"/>
            <p:cNvSpPr/>
            <p:nvPr/>
          </p:nvSpPr>
          <p:spPr>
            <a:xfrm>
              <a:off x="8191500" y="1428750"/>
              <a:ext cx="3429000" cy="2190750"/>
            </a:xfrm>
            <a:prstGeom prst="roundRect">
              <a:avLst>
                <a:gd name="adj" fmla="val 347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指標名"/>
            <p:cNvSpPr/>
            <p:nvPr/>
          </p:nvSpPr>
          <p:spPr>
            <a:xfrm>
              <a:off x="8420100" y="1619250"/>
              <a:ext cx="2971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テンプレート利用率</a:t>
              </a:r>
            </a:p>
          </p:txBody>
        </p:sp>
        <p:sp>
          <p:nvSpPr>
            <p:cNvPr id="23" name="数値"/>
            <p:cNvSpPr/>
            <p:nvPr/>
          </p:nvSpPr>
          <p:spPr>
            <a:xfrm>
              <a:off x="8420100" y="1905000"/>
              <a:ext cx="297180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600" b="1">
                  <a:solidFill>
                    <a:schemeClr val="dk2"/>
                  </a:solidFill>
                </a:rPr>
                <a:t>92%</a:t>
              </a:r>
            </a:p>
          </p:txBody>
        </p:sp>
        <p:sp>
          <p:nvSpPr>
            <p:cNvPr id="24" name="内訳"/>
            <p:cNvSpPr/>
            <p:nvPr/>
          </p:nvSpPr>
          <p:spPr>
            <a:xfrm>
              <a:off x="8420100" y="3143250"/>
              <a:ext cx="2971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全部門平均（対象318名）</a:t>
              </a:r>
            </a:p>
          </p:txBody>
        </p:sp>
      </p:grpSp>
      <p:grpSp>
        <p:nvGrpSpPr>
          <p:cNvPr id="25" name="SoWhatボックス"/>
          <p:cNvGrpSpPr/>
          <p:nvPr/>
        </p:nvGrpSpPr>
        <p:grpSpPr>
          <a:xfrm>
            <a:off x="571500" y="3962400"/>
            <a:ext cx="11049000" cy="514350"/>
            <a:chOff x="571500" y="3962400"/>
            <a:chExt cx="11049000" cy="514350"/>
          </a:xfrm>
        </p:grpSpPr>
        <p:sp>
          <p:nvSpPr>
            <p:cNvPr id="26" name="示唆地"/>
            <p:cNvSpPr/>
            <p:nvPr/>
          </p:nvSpPr>
          <p:spPr>
            <a:xfrm>
              <a:off x="571500" y="3962400"/>
              <a:ext cx="1104900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示唆ラベル"/>
            <p:cNvSpPr/>
            <p:nvPr/>
          </p:nvSpPr>
          <p:spPr>
            <a:xfrm>
              <a:off x="800100" y="3962400"/>
              <a:ext cx="8001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So What</a:t>
              </a:r>
            </a:p>
          </p:txBody>
        </p:sp>
        <p:cxnSp>
          <p:nvCxnSpPr>
            <p:cNvPr id="28" name="区切り縦線"/>
            <p:cNvCxnSpPr/>
            <p:nvPr/>
          </p:nvCxnSpPr>
          <p:spPr>
            <a:xfrm>
              <a:off x="1676400" y="4086225"/>
              <a:ext cx="0" cy="266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示唆本文"/>
            <p:cNvSpPr/>
            <p:nvPr/>
          </p:nvSpPr>
          <p:spPr>
            <a:xfrm>
              <a:off x="1866900" y="3962400"/>
              <a:ext cx="95250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効果は単発ではなく循環する——使うほど型が揃い、さらに時間が生まれる</a:t>
              </a:r>
            </a:p>
          </p:txBody>
        </p:sp>
      </p:grpSp>
      <p:grpSp>
        <p:nvGrpSpPr>
          <p:cNvPr id="30" name="効果_循環フロー"/>
          <p:cNvGrpSpPr/>
          <p:nvPr/>
        </p:nvGrpSpPr>
        <p:grpSpPr>
          <a:xfrm>
            <a:off x="1619250" y="4857750"/>
            <a:ext cx="9239250" cy="781050"/>
            <a:chOff x="1619250" y="4857750"/>
            <a:chExt cx="9239250" cy="781050"/>
          </a:xfrm>
        </p:grpSpPr>
        <p:sp>
          <p:nvSpPr>
            <p:cNvPr id="31" name="循環1"/>
            <p:cNvSpPr/>
            <p:nvPr/>
          </p:nvSpPr>
          <p:spPr>
            <a:xfrm>
              <a:off x="1619250" y="4857750"/>
              <a:ext cx="2381250" cy="419100"/>
            </a:xfrm>
            <a:prstGeom prst="roundRect">
              <a:avLst>
                <a:gd name="adj" fmla="val 50000"/>
              </a:avLst>
            </a:prstGeom>
            <a:noFill/>
            <a:ln w="14287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循環文字1"/>
            <p:cNvSpPr/>
            <p:nvPr/>
          </p:nvSpPr>
          <p:spPr>
            <a:xfrm>
              <a:off x="1619250" y="4867275"/>
              <a:ext cx="238125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時間が空く</a:t>
              </a:r>
            </a:p>
          </p:txBody>
        </p:sp>
        <p:sp>
          <p:nvSpPr>
            <p:cNvPr id="33" name="循環2"/>
            <p:cNvSpPr/>
            <p:nvPr/>
          </p:nvSpPr>
          <p:spPr>
            <a:xfrm>
              <a:off x="4476750" y="4857750"/>
              <a:ext cx="2381250" cy="419100"/>
            </a:xfrm>
            <a:prstGeom prst="roundRect">
              <a:avLst>
                <a:gd name="adj" fmla="val 50000"/>
              </a:avLst>
            </a:prstGeom>
            <a:noFill/>
            <a:ln w="14287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循環文字2"/>
            <p:cNvSpPr/>
            <p:nvPr/>
          </p:nvSpPr>
          <p:spPr>
            <a:xfrm>
              <a:off x="4476750" y="4867275"/>
              <a:ext cx="238125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型どおりに作る</a:t>
              </a:r>
            </a:p>
          </p:txBody>
        </p:sp>
        <p:sp>
          <p:nvSpPr>
            <p:cNvPr id="35" name="循環3"/>
            <p:cNvSpPr/>
            <p:nvPr/>
          </p:nvSpPr>
          <p:spPr>
            <a:xfrm>
              <a:off x="7334250" y="4857750"/>
              <a:ext cx="2381250" cy="419100"/>
            </a:xfrm>
            <a:prstGeom prst="roundRect">
              <a:avLst>
                <a:gd name="adj" fmla="val 50000"/>
              </a:avLst>
            </a:prstGeom>
            <a:noFill/>
            <a:ln w="14287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循環文字3"/>
            <p:cNvSpPr/>
            <p:nvPr/>
          </p:nvSpPr>
          <p:spPr>
            <a:xfrm>
              <a:off x="7334250" y="4867275"/>
              <a:ext cx="238125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手直しが減る</a:t>
              </a:r>
            </a:p>
          </p:txBody>
        </p:sp>
        <p:cxnSp>
          <p:nvCxnSpPr>
            <p:cNvPr id="37" name="循環矢印1"/>
            <p:cNvCxnSpPr/>
            <p:nvPr/>
          </p:nvCxnSpPr>
          <p:spPr>
            <a:xfrm>
              <a:off x="4057650" y="5067300"/>
              <a:ext cx="361950" cy="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循環矢印2"/>
            <p:cNvCxnSpPr/>
            <p:nvPr/>
          </p:nvCxnSpPr>
          <p:spPr>
            <a:xfrm>
              <a:off x="6915150" y="5067300"/>
              <a:ext cx="361950" cy="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戻り線1"/>
            <p:cNvCxnSpPr/>
            <p:nvPr/>
          </p:nvCxnSpPr>
          <p:spPr>
            <a:xfrm>
              <a:off x="8524875" y="5334000"/>
              <a:ext cx="0" cy="266700"/>
            </a:xfrm>
            <a:prstGeom prst="line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戻り線2"/>
            <p:cNvCxnSpPr/>
            <p:nvPr/>
          </p:nvCxnSpPr>
          <p:spPr>
            <a:xfrm flipH="1">
              <a:off x="2809875" y="5600700"/>
              <a:ext cx="5715000" cy="0"/>
            </a:xfrm>
            <a:prstGeom prst="line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戻り線3"/>
            <p:cNvCxnSpPr/>
            <p:nvPr/>
          </p:nvCxnSpPr>
          <p:spPr>
            <a:xfrm flipV="1">
              <a:off x="2809875" y="5353050"/>
              <a:ext cx="0" cy="24765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循環注記"/>
            <p:cNvSpPr/>
            <p:nvPr/>
          </p:nvSpPr>
          <p:spPr>
            <a:xfrm>
              <a:off x="8953500" y="548640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効果が循環し続ける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導入にあたって｜PLAN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迷ったらStandard。プランは月単位でいつでも変更できる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料金プラン比較（月額・税別）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注：価格・提供機能は説明用の架空サンプルです。初期費用はいずれも0円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出所：料金表 2026年7月版（架空サンプル）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9</a:t>
            </a:r>
          </a:p>
        </p:txBody>
      </p:sp>
      <p:grpSp>
        <p:nvGrpSpPr>
          <p:cNvPr id="10" name="料金_推奨ハイライト"/>
          <p:cNvGrpSpPr/>
          <p:nvPr/>
        </p:nvGrpSpPr>
        <p:grpSpPr>
          <a:xfrm>
            <a:off x="5772150" y="1219200"/>
            <a:ext cx="2838450" cy="4305300"/>
            <a:chOff x="5772150" y="1219200"/>
            <a:chExt cx="2838450" cy="4305300"/>
          </a:xfrm>
        </p:grpSpPr>
        <p:sp>
          <p:nvSpPr>
            <p:cNvPr id="11" name="推奨列ハイライト"/>
            <p:cNvSpPr/>
            <p:nvPr/>
          </p:nvSpPr>
          <p:spPr>
            <a:xfrm>
              <a:off x="5772150" y="1219200"/>
              <a:ext cx="2838450" cy="4305300"/>
            </a:xfrm>
            <a:prstGeom prst="roundRect">
              <a:avLst>
                <a:gd name="adj" fmla="val 335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" name="料金プラン_Light"/>
          <p:cNvGrpSpPr/>
          <p:nvPr/>
        </p:nvGrpSpPr>
        <p:grpSpPr>
          <a:xfrm>
            <a:off x="2952750" y="1333500"/>
            <a:ext cx="2571750" cy="1600200"/>
            <a:chOff x="2952750" y="1333500"/>
            <a:chExt cx="2571750" cy="1600200"/>
          </a:xfrm>
        </p:grpSpPr>
        <p:sp>
          <p:nvSpPr>
            <p:cNvPr id="13" name="Light_カード本体"/>
            <p:cNvSpPr/>
            <p:nvPr/>
          </p:nvSpPr>
          <p:spPr>
            <a:xfrm>
              <a:off x="2952750" y="1333500"/>
              <a:ext cx="2571750" cy="1600200"/>
            </a:xfrm>
            <a:prstGeom prst="roundRect">
              <a:avLst>
                <a:gd name="adj" fmla="val 476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Light_見出し帯"/>
            <p:cNvSpPr/>
            <p:nvPr/>
          </p:nvSpPr>
          <p:spPr>
            <a:xfrm>
              <a:off x="2952750" y="1333500"/>
              <a:ext cx="2571750" cy="381000"/>
            </a:xfrm>
            <a:prstGeom prst="roundRect">
              <a:avLst>
                <a:gd name="adj" fmla="val 2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Light_見出し帯・角"/>
            <p:cNvSpPr/>
            <p:nvPr/>
          </p:nvSpPr>
          <p:spPr>
            <a:xfrm>
              <a:off x="2952750" y="1524000"/>
              <a:ext cx="2571750" cy="19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105150" y="1333500"/>
              <a:ext cx="22669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Light</a:t>
              </a:r>
            </a:p>
          </p:txBody>
        </p:sp>
        <p:sp>
          <p:nvSpPr>
            <p:cNvPr id="17" name="価格"/>
            <p:cNvSpPr/>
            <p:nvPr/>
          </p:nvSpPr>
          <p:spPr>
            <a:xfrm>
              <a:off x="3143250" y="1866900"/>
              <a:ext cx="21907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400" b="1">
                  <a:solidFill>
                    <a:schemeClr val="dk2"/>
                  </a:solidFill>
                </a:rPr>
                <a:t>¥30,000</a:t>
              </a:r>
            </a:p>
          </p:txBody>
        </p:sp>
        <p:sp>
          <p:nvSpPr>
            <p:cNvPr id="18" name="想定規模"/>
            <p:cNvSpPr/>
            <p:nvPr/>
          </p:nvSpPr>
          <p:spPr>
            <a:xfrm>
              <a:off x="3143250" y="2400300"/>
              <a:ext cx="21907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〜10名のチームでの試行に</a:t>
              </a:r>
            </a:p>
          </p:txBody>
        </p:sp>
      </p:grpSp>
      <p:grpSp>
        <p:nvGrpSpPr>
          <p:cNvPr id="19" name="料金プラン_Standard"/>
          <p:cNvGrpSpPr/>
          <p:nvPr/>
        </p:nvGrpSpPr>
        <p:grpSpPr>
          <a:xfrm>
            <a:off x="5905500" y="1333500"/>
            <a:ext cx="2571750" cy="1600200"/>
            <a:chOff x="5905500" y="1333500"/>
            <a:chExt cx="2571750" cy="1600200"/>
          </a:xfrm>
        </p:grpSpPr>
        <p:sp>
          <p:nvSpPr>
            <p:cNvPr id="20" name="Standard_カード本体"/>
            <p:cNvSpPr/>
            <p:nvPr/>
          </p:nvSpPr>
          <p:spPr>
            <a:xfrm>
              <a:off x="5905500" y="1333500"/>
              <a:ext cx="2571750" cy="1600200"/>
            </a:xfrm>
            <a:prstGeom prst="roundRect">
              <a:avLst>
                <a:gd name="adj" fmla="val 476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Standard_見出し帯"/>
            <p:cNvSpPr/>
            <p:nvPr/>
          </p:nvSpPr>
          <p:spPr>
            <a:xfrm>
              <a:off x="5905500" y="1333500"/>
              <a:ext cx="2571750" cy="38100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Standard_見出し帯・角"/>
            <p:cNvSpPr/>
            <p:nvPr/>
          </p:nvSpPr>
          <p:spPr>
            <a:xfrm>
              <a:off x="5905500" y="1524000"/>
              <a:ext cx="2571750" cy="19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057900" y="1333500"/>
              <a:ext cx="22669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Standard</a:t>
              </a:r>
            </a:p>
          </p:txBody>
        </p:sp>
        <p:sp>
          <p:nvSpPr>
            <p:cNvPr id="24" name="価格"/>
            <p:cNvSpPr/>
            <p:nvPr/>
          </p:nvSpPr>
          <p:spPr>
            <a:xfrm>
              <a:off x="6096000" y="1866900"/>
              <a:ext cx="21907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600" b="1">
                  <a:solidFill>
                    <a:schemeClr val="accent1"/>
                  </a:solidFill>
                </a:rPr>
                <a:t>¥50,000</a:t>
              </a:r>
            </a:p>
          </p:txBody>
        </p:sp>
        <p:sp>
          <p:nvSpPr>
            <p:cNvPr id="25" name="想定規模"/>
            <p:cNvSpPr/>
            <p:nvPr/>
          </p:nvSpPr>
          <p:spPr>
            <a:xfrm>
              <a:off x="6096000" y="2400300"/>
              <a:ext cx="21907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部門導入の標準（〜50名）</a:t>
              </a:r>
            </a:p>
          </p:txBody>
        </p:sp>
      </p:grpSp>
      <p:grpSp>
        <p:nvGrpSpPr>
          <p:cNvPr id="26" name="料金プラン_Enterprise"/>
          <p:cNvGrpSpPr/>
          <p:nvPr/>
        </p:nvGrpSpPr>
        <p:grpSpPr>
          <a:xfrm>
            <a:off x="8858250" y="1333500"/>
            <a:ext cx="2571750" cy="1600200"/>
            <a:chOff x="8858250" y="1333500"/>
            <a:chExt cx="2571750" cy="1600200"/>
          </a:xfrm>
        </p:grpSpPr>
        <p:sp>
          <p:nvSpPr>
            <p:cNvPr id="27" name="Enterprise_カード本体"/>
            <p:cNvSpPr/>
            <p:nvPr/>
          </p:nvSpPr>
          <p:spPr>
            <a:xfrm>
              <a:off x="8858250" y="1333500"/>
              <a:ext cx="2571750" cy="1600200"/>
            </a:xfrm>
            <a:prstGeom prst="roundRect">
              <a:avLst>
                <a:gd name="adj" fmla="val 476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Enterprise_見出し帯"/>
            <p:cNvSpPr/>
            <p:nvPr/>
          </p:nvSpPr>
          <p:spPr>
            <a:xfrm>
              <a:off x="8858250" y="1333500"/>
              <a:ext cx="2571750" cy="381000"/>
            </a:xfrm>
            <a:prstGeom prst="roundRect">
              <a:avLst>
                <a:gd name="adj" fmla="val 2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Enterprise_見出し帯・角"/>
            <p:cNvSpPr/>
            <p:nvPr/>
          </p:nvSpPr>
          <p:spPr>
            <a:xfrm>
              <a:off x="8858250" y="1524000"/>
              <a:ext cx="2571750" cy="19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010650" y="1333500"/>
              <a:ext cx="22669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Enterprise</a:t>
              </a:r>
            </a:p>
          </p:txBody>
        </p:sp>
        <p:sp>
          <p:nvSpPr>
            <p:cNvPr id="31" name="価格"/>
            <p:cNvSpPr/>
            <p:nvPr/>
          </p:nvSpPr>
          <p:spPr>
            <a:xfrm>
              <a:off x="9048750" y="1866900"/>
              <a:ext cx="21907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個別お見積り</a:t>
              </a:r>
            </a:p>
          </p:txBody>
        </p:sp>
        <p:sp>
          <p:nvSpPr>
            <p:cNvPr id="32" name="想定規模"/>
            <p:cNvSpPr/>
            <p:nvPr/>
          </p:nvSpPr>
          <p:spPr>
            <a:xfrm>
              <a:off x="9048750" y="2400300"/>
              <a:ext cx="21907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全社導入・個別要件に対応</a:t>
              </a:r>
            </a:p>
          </p:txBody>
        </p:sp>
      </p:grpSp>
      <p:grpSp>
        <p:nvGrpSpPr>
          <p:cNvPr id="33" name="料金_推奨タグ"/>
          <p:cNvGrpSpPr/>
          <p:nvPr/>
        </p:nvGrpSpPr>
        <p:grpSpPr>
          <a:xfrm>
            <a:off x="6762750" y="1085850"/>
            <a:ext cx="857250" cy="247650"/>
            <a:chOff x="6762750" y="1085850"/>
            <a:chExt cx="857250" cy="247650"/>
          </a:xfrm>
        </p:grpSpPr>
        <p:sp>
          <p:nvSpPr>
            <p:cNvPr id="34" name="推奨タグ（朱）"/>
            <p:cNvSpPr/>
            <p:nvPr/>
          </p:nvSpPr>
          <p:spPr>
            <a:xfrm>
              <a:off x="6762750" y="1085850"/>
              <a:ext cx="85725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推奨タグ文字"/>
            <p:cNvSpPr/>
            <p:nvPr/>
          </p:nvSpPr>
          <p:spPr>
            <a:xfrm>
              <a:off x="6762750" y="1095375"/>
              <a:ext cx="8572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推奨</a:t>
              </a:r>
            </a:p>
          </p:txBody>
        </p:sp>
      </p:grpSp>
      <p:grpSp>
        <p:nvGrpSpPr>
          <p:cNvPr id="36" name="料金_機能比較表"/>
          <p:cNvGrpSpPr/>
          <p:nvPr/>
        </p:nvGrpSpPr>
        <p:grpSpPr>
          <a:xfrm>
            <a:off x="571500" y="3200400"/>
            <a:ext cx="11049000" cy="2133600"/>
            <a:chOff x="571500" y="3200400"/>
            <a:chExt cx="11049000" cy="2133600"/>
          </a:xfrm>
        </p:grpSpPr>
        <p:cxnSp>
          <p:nvCxnSpPr>
            <p:cNvPr id="37" name="罫線1"/>
            <p:cNvCxnSpPr/>
            <p:nvPr/>
          </p:nvCxnSpPr>
          <p:spPr>
            <a:xfrm>
              <a:off x="571500" y="320040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罫線2"/>
            <p:cNvCxnSpPr/>
            <p:nvPr/>
          </p:nvCxnSpPr>
          <p:spPr>
            <a:xfrm>
              <a:off x="571500" y="373380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罫線3"/>
            <p:cNvCxnSpPr/>
            <p:nvPr/>
          </p:nvCxnSpPr>
          <p:spPr>
            <a:xfrm>
              <a:off x="571500" y="426720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罫線4"/>
            <p:cNvCxnSpPr/>
            <p:nvPr/>
          </p:nvCxnSpPr>
          <p:spPr>
            <a:xfrm>
              <a:off x="571500" y="480060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罫線5"/>
            <p:cNvCxnSpPr/>
            <p:nvPr/>
          </p:nvCxnSpPr>
          <p:spPr>
            <a:xfrm>
              <a:off x="571500" y="533400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機能1"/>
            <p:cNvSpPr/>
            <p:nvPr/>
          </p:nvSpPr>
          <p:spPr>
            <a:xfrm>
              <a:off x="571500" y="3200400"/>
              <a:ext cx="22479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テンプレート100種</a:t>
              </a:r>
            </a:p>
          </p:txBody>
        </p:sp>
        <p:sp>
          <p:nvSpPr>
            <p:cNvPr id="43" name="対応1_1_丸"/>
            <p:cNvSpPr/>
            <p:nvPr/>
          </p:nvSpPr>
          <p:spPr>
            <a:xfrm>
              <a:off x="4114800" y="33432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対応1_1_チェック"/>
            <p:cNvSpPr/>
            <p:nvPr/>
          </p:nvSpPr>
          <p:spPr>
            <a:xfrm>
              <a:off x="4114800" y="33432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対応1_2_丸"/>
            <p:cNvSpPr/>
            <p:nvPr/>
          </p:nvSpPr>
          <p:spPr>
            <a:xfrm>
              <a:off x="7067550" y="33432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対応1_2_チェック"/>
            <p:cNvSpPr/>
            <p:nvPr/>
          </p:nvSpPr>
          <p:spPr>
            <a:xfrm>
              <a:off x="7067550" y="33432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対応1_3_丸"/>
            <p:cNvSpPr/>
            <p:nvPr/>
          </p:nvSpPr>
          <p:spPr>
            <a:xfrm>
              <a:off x="10020300" y="33432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対応1_3_チェック"/>
            <p:cNvSpPr/>
            <p:nvPr/>
          </p:nvSpPr>
          <p:spPr>
            <a:xfrm>
              <a:off x="10020300" y="33432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機能2"/>
            <p:cNvSpPr/>
            <p:nvPr/>
          </p:nvSpPr>
          <p:spPr>
            <a:xfrm>
              <a:off x="571500" y="3733800"/>
              <a:ext cx="22479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自動レイアウト生成</a:t>
              </a:r>
            </a:p>
          </p:txBody>
        </p:sp>
        <p:sp>
          <p:nvSpPr>
            <p:cNvPr id="50" name="対応2_1_丸"/>
            <p:cNvSpPr/>
            <p:nvPr/>
          </p:nvSpPr>
          <p:spPr>
            <a:xfrm>
              <a:off x="4114800" y="38766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対応2_1_チェック"/>
            <p:cNvSpPr/>
            <p:nvPr/>
          </p:nvSpPr>
          <p:spPr>
            <a:xfrm>
              <a:off x="4114800" y="38766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対応2_2_丸"/>
            <p:cNvSpPr/>
            <p:nvPr/>
          </p:nvSpPr>
          <p:spPr>
            <a:xfrm>
              <a:off x="7067550" y="38766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対応2_2_チェック"/>
            <p:cNvSpPr/>
            <p:nvPr/>
          </p:nvSpPr>
          <p:spPr>
            <a:xfrm>
              <a:off x="7067550" y="38766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対応2_3_丸"/>
            <p:cNvSpPr/>
            <p:nvPr/>
          </p:nvSpPr>
          <p:spPr>
            <a:xfrm>
              <a:off x="10020300" y="38766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対応2_3_チェック"/>
            <p:cNvSpPr/>
            <p:nvPr/>
          </p:nvSpPr>
          <p:spPr>
            <a:xfrm>
              <a:off x="10020300" y="38766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機能3"/>
            <p:cNvSpPr/>
            <p:nvPr/>
          </p:nvSpPr>
          <p:spPr>
            <a:xfrm>
              <a:off x="571500" y="4267200"/>
              <a:ext cx="22479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データ連携・共有ワークスペース</a:t>
              </a:r>
            </a:p>
          </p:txBody>
        </p:sp>
        <p:sp>
          <p:nvSpPr>
            <p:cNvPr id="57" name="非対応3_1_丸"/>
            <p:cNvSpPr/>
            <p:nvPr/>
          </p:nvSpPr>
          <p:spPr>
            <a:xfrm>
              <a:off x="4114800" y="4410075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非対応3_1_バツ"/>
            <p:cNvSpPr/>
            <p:nvPr/>
          </p:nvSpPr>
          <p:spPr>
            <a:xfrm>
              <a:off x="4114800" y="44100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81724" y="81724"/>
                  </a:moveTo>
                  <a:lnTo>
                    <a:pt x="165925" y="165925"/>
                  </a:lnTo>
                  <a:moveTo>
                    <a:pt x="165925" y="81724"/>
                  </a:moveTo>
                  <a:lnTo>
                    <a:pt x="81724" y="165925"/>
                  </a:lnTo>
                </a:path>
              </a:pathLst>
            </a:custGeom>
            <a:noFill/>
            <a:ln w="19050" cap="rnd">
              <a:solidFill>
                <a:schemeClr val="accent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対応3_2_丸"/>
            <p:cNvSpPr/>
            <p:nvPr/>
          </p:nvSpPr>
          <p:spPr>
            <a:xfrm>
              <a:off x="7067550" y="44100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対応3_2_チェック"/>
            <p:cNvSpPr/>
            <p:nvPr/>
          </p:nvSpPr>
          <p:spPr>
            <a:xfrm>
              <a:off x="7067550" y="44100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対応3_3_丸"/>
            <p:cNvSpPr/>
            <p:nvPr/>
          </p:nvSpPr>
          <p:spPr>
            <a:xfrm>
              <a:off x="10020300" y="44100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対応3_3_チェック"/>
            <p:cNvSpPr/>
            <p:nvPr/>
          </p:nvSpPr>
          <p:spPr>
            <a:xfrm>
              <a:off x="10020300" y="44100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機能4"/>
            <p:cNvSpPr/>
            <p:nvPr/>
          </p:nvSpPr>
          <p:spPr>
            <a:xfrm>
              <a:off x="571500" y="4800600"/>
              <a:ext cx="22479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専任サポート・SSO</a:t>
              </a:r>
            </a:p>
          </p:txBody>
        </p:sp>
        <p:sp>
          <p:nvSpPr>
            <p:cNvPr id="64" name="非対応4_1_丸"/>
            <p:cNvSpPr/>
            <p:nvPr/>
          </p:nvSpPr>
          <p:spPr>
            <a:xfrm>
              <a:off x="4114800" y="4943475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非対応4_1_バツ"/>
            <p:cNvSpPr/>
            <p:nvPr/>
          </p:nvSpPr>
          <p:spPr>
            <a:xfrm>
              <a:off x="4114800" y="49434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81724" y="81724"/>
                  </a:moveTo>
                  <a:lnTo>
                    <a:pt x="165925" y="165925"/>
                  </a:lnTo>
                  <a:moveTo>
                    <a:pt x="165925" y="81724"/>
                  </a:moveTo>
                  <a:lnTo>
                    <a:pt x="81724" y="165925"/>
                  </a:lnTo>
                </a:path>
              </a:pathLst>
            </a:custGeom>
            <a:noFill/>
            <a:ln w="19050" cap="rnd">
              <a:solidFill>
                <a:schemeClr val="accent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非対応4_2_丸"/>
            <p:cNvSpPr/>
            <p:nvPr/>
          </p:nvSpPr>
          <p:spPr>
            <a:xfrm>
              <a:off x="7067550" y="4943475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非対応4_2_バツ"/>
            <p:cNvSpPr/>
            <p:nvPr/>
          </p:nvSpPr>
          <p:spPr>
            <a:xfrm>
              <a:off x="7067550" y="49434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81724" y="81724"/>
                  </a:moveTo>
                  <a:lnTo>
                    <a:pt x="165925" y="165925"/>
                  </a:lnTo>
                  <a:moveTo>
                    <a:pt x="165925" y="81724"/>
                  </a:moveTo>
                  <a:lnTo>
                    <a:pt x="81724" y="165925"/>
                  </a:lnTo>
                </a:path>
              </a:pathLst>
            </a:custGeom>
            <a:noFill/>
            <a:ln w="19050" cap="rnd">
              <a:solidFill>
                <a:schemeClr val="accent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対応4_3_丸"/>
            <p:cNvSpPr/>
            <p:nvPr/>
          </p:nvSpPr>
          <p:spPr>
            <a:xfrm>
              <a:off x="10020300" y="49434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対応4_3_チェック"/>
            <p:cNvSpPr/>
            <p:nvPr/>
          </p:nvSpPr>
          <p:spPr>
            <a:xfrm>
              <a:off x="10020300" y="4943475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0" name="Rectangle 69"/>
          <p:cNvSpPr/>
          <p:nvPr/>
        </p:nvSpPr>
        <p:spPr>
          <a:xfrm>
            <a:off x="571500" y="5638800"/>
            <a:ext cx="11049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b="1">
                <a:solidFill>
                  <a:schemeClr val="dk2"/>
                </a:solidFill>
              </a:rPr>
              <a:t>機能は後から追加できる——まず小さく始めて、効果を見て広げられる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導入にあたって｜PLAN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申込みから全社運用まで、最短2週間で立ち上がる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導入4ステップと標準スケジュール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注：日数は標準的な目安です。データ量・部門数により変動します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出所：導入プロジェクト標準計画（架空サンプル）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10</a:t>
            </a:r>
          </a:p>
        </p:txBody>
      </p:sp>
      <p:grpSp>
        <p:nvGrpSpPr>
          <p:cNvPr id="10" name="導入ステップ01_お申込み"/>
          <p:cNvGrpSpPr/>
          <p:nvPr/>
        </p:nvGrpSpPr>
        <p:grpSpPr>
          <a:xfrm>
            <a:off x="571500" y="1428750"/>
            <a:ext cx="2667000" cy="914400"/>
            <a:chOff x="571500" y="1428750"/>
            <a:chExt cx="2667000" cy="914400"/>
          </a:xfrm>
        </p:grpSpPr>
        <p:sp>
          <p:nvSpPr>
            <p:cNvPr id="11" name="シェブロン1"/>
            <p:cNvSpPr/>
            <p:nvPr/>
          </p:nvSpPr>
          <p:spPr>
            <a:xfrm>
              <a:off x="571500" y="1428750"/>
              <a:ext cx="2667000" cy="571500"/>
            </a:xfrm>
            <a:prstGeom prst="homePlate">
              <a:avLst>
                <a:gd name="adj" fmla="val 46666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番号円"/>
            <p:cNvSpPr/>
            <p:nvPr/>
          </p:nvSpPr>
          <p:spPr>
            <a:xfrm>
              <a:off x="971550" y="1571625"/>
              <a:ext cx="285750" cy="285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番号"/>
            <p:cNvSpPr/>
            <p:nvPr/>
          </p:nvSpPr>
          <p:spPr>
            <a:xfrm>
              <a:off x="971550" y="1581150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1</a:t>
              </a:r>
            </a:p>
          </p:txBody>
        </p:sp>
        <p:sp>
          <p:nvSpPr>
            <p:cNvPr id="14" name="ステップ名"/>
            <p:cNvSpPr/>
            <p:nvPr/>
          </p:nvSpPr>
          <p:spPr>
            <a:xfrm>
              <a:off x="1333500" y="1428750"/>
              <a:ext cx="15621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お申込み</a:t>
              </a:r>
            </a:p>
          </p:txBody>
        </p:sp>
        <p:sp>
          <p:nvSpPr>
            <p:cNvPr id="15" name="ステップ説明"/>
            <p:cNvSpPr/>
            <p:nvPr/>
          </p:nvSpPr>
          <p:spPr>
            <a:xfrm>
              <a:off x="571500" y="2152650"/>
              <a:ext cx="2667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お客様はフォームに入力するだけ</a:t>
              </a:r>
            </a:p>
          </p:txBody>
        </p:sp>
      </p:grpSp>
      <p:grpSp>
        <p:nvGrpSpPr>
          <p:cNvPr id="16" name="導入ステップ02_初期設定"/>
          <p:cNvGrpSpPr/>
          <p:nvPr/>
        </p:nvGrpSpPr>
        <p:grpSpPr>
          <a:xfrm>
            <a:off x="3257550" y="1428750"/>
            <a:ext cx="2667000" cy="914400"/>
            <a:chOff x="3257550" y="1428750"/>
            <a:chExt cx="2667000" cy="914400"/>
          </a:xfrm>
        </p:grpSpPr>
        <p:sp>
          <p:nvSpPr>
            <p:cNvPr id="17" name="シェブロン2"/>
            <p:cNvSpPr/>
            <p:nvPr/>
          </p:nvSpPr>
          <p:spPr>
            <a:xfrm>
              <a:off x="3257550" y="1428750"/>
              <a:ext cx="2667000" cy="571500"/>
            </a:xfrm>
            <a:prstGeom prst="chevron">
              <a:avLst>
                <a:gd name="adj" fmla="val 46666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番号円"/>
            <p:cNvSpPr/>
            <p:nvPr/>
          </p:nvSpPr>
          <p:spPr>
            <a:xfrm>
              <a:off x="3657600" y="1571625"/>
              <a:ext cx="285750" cy="285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番号"/>
            <p:cNvSpPr/>
            <p:nvPr/>
          </p:nvSpPr>
          <p:spPr>
            <a:xfrm>
              <a:off x="3657600" y="1581150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3"/>
                  </a:solidFill>
                </a:rPr>
                <a:t>2</a:t>
              </a:r>
            </a:p>
          </p:txBody>
        </p:sp>
        <p:sp>
          <p:nvSpPr>
            <p:cNvPr id="20" name="ステップ名"/>
            <p:cNvSpPr/>
            <p:nvPr/>
          </p:nvSpPr>
          <p:spPr>
            <a:xfrm>
              <a:off x="4019550" y="1428750"/>
              <a:ext cx="15621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初期設定</a:t>
              </a:r>
            </a:p>
          </p:txBody>
        </p:sp>
        <p:sp>
          <p:nvSpPr>
            <p:cNvPr id="21" name="ステップ説明"/>
            <p:cNvSpPr/>
            <p:nvPr/>
          </p:nvSpPr>
          <p:spPr>
            <a:xfrm>
              <a:off x="3257550" y="2152650"/>
              <a:ext cx="2667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テンプレ・権限設定は当社が代行</a:t>
              </a:r>
            </a:p>
          </p:txBody>
        </p:sp>
      </p:grpSp>
      <p:grpSp>
        <p:nvGrpSpPr>
          <p:cNvPr id="22" name="導入ステップ03_試験運用"/>
          <p:cNvGrpSpPr/>
          <p:nvPr/>
        </p:nvGrpSpPr>
        <p:grpSpPr>
          <a:xfrm>
            <a:off x="5943600" y="1428750"/>
            <a:ext cx="2667000" cy="914400"/>
            <a:chOff x="5943600" y="1428750"/>
            <a:chExt cx="2667000" cy="914400"/>
          </a:xfrm>
        </p:grpSpPr>
        <p:sp>
          <p:nvSpPr>
            <p:cNvPr id="23" name="シェブロン3"/>
            <p:cNvSpPr/>
            <p:nvPr/>
          </p:nvSpPr>
          <p:spPr>
            <a:xfrm>
              <a:off x="5943600" y="1428750"/>
              <a:ext cx="2667000" cy="571500"/>
            </a:xfrm>
            <a:prstGeom prst="chevron">
              <a:avLst>
                <a:gd name="adj" fmla="val 4666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番号円"/>
            <p:cNvSpPr/>
            <p:nvPr/>
          </p:nvSpPr>
          <p:spPr>
            <a:xfrm>
              <a:off x="6343650" y="1571625"/>
              <a:ext cx="285750" cy="285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番号"/>
            <p:cNvSpPr/>
            <p:nvPr/>
          </p:nvSpPr>
          <p:spPr>
            <a:xfrm>
              <a:off x="6343650" y="1581150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3</a:t>
              </a:r>
            </a:p>
          </p:txBody>
        </p:sp>
        <p:sp>
          <p:nvSpPr>
            <p:cNvPr id="26" name="ステップ名"/>
            <p:cNvSpPr/>
            <p:nvPr/>
          </p:nvSpPr>
          <p:spPr>
            <a:xfrm>
              <a:off x="6705600" y="1428750"/>
              <a:ext cx="15621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試験運用</a:t>
              </a:r>
            </a:p>
          </p:txBody>
        </p:sp>
        <p:sp>
          <p:nvSpPr>
            <p:cNvPr id="27" name="ステップ説明"/>
            <p:cNvSpPr/>
            <p:nvPr/>
          </p:nvSpPr>
          <p:spPr>
            <a:xfrm>
              <a:off x="5943600" y="2152650"/>
              <a:ext cx="2667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まず1部門で効果を実測</a:t>
              </a:r>
            </a:p>
          </p:txBody>
        </p:sp>
      </p:grpSp>
      <p:grpSp>
        <p:nvGrpSpPr>
          <p:cNvPr id="28" name="導入ステップ04_全社展開"/>
          <p:cNvGrpSpPr/>
          <p:nvPr/>
        </p:nvGrpSpPr>
        <p:grpSpPr>
          <a:xfrm>
            <a:off x="8629650" y="1428750"/>
            <a:ext cx="2667000" cy="914400"/>
            <a:chOff x="8629650" y="1428750"/>
            <a:chExt cx="2667000" cy="914400"/>
          </a:xfrm>
        </p:grpSpPr>
        <p:sp>
          <p:nvSpPr>
            <p:cNvPr id="29" name="シェブロン4"/>
            <p:cNvSpPr/>
            <p:nvPr/>
          </p:nvSpPr>
          <p:spPr>
            <a:xfrm>
              <a:off x="8629650" y="1428750"/>
              <a:ext cx="2667000" cy="571500"/>
            </a:xfrm>
            <a:prstGeom prst="chevron">
              <a:avLst>
                <a:gd name="adj" fmla="val 4666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番号円"/>
            <p:cNvSpPr/>
            <p:nvPr/>
          </p:nvSpPr>
          <p:spPr>
            <a:xfrm>
              <a:off x="9029700" y="1571625"/>
              <a:ext cx="285750" cy="285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番号"/>
            <p:cNvSpPr/>
            <p:nvPr/>
          </p:nvSpPr>
          <p:spPr>
            <a:xfrm>
              <a:off x="9029700" y="1581150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4</a:t>
              </a:r>
            </a:p>
          </p:txBody>
        </p:sp>
        <p:sp>
          <p:nvSpPr>
            <p:cNvPr id="32" name="ステップ名"/>
            <p:cNvSpPr/>
            <p:nvPr/>
          </p:nvSpPr>
          <p:spPr>
            <a:xfrm>
              <a:off x="9391650" y="1428750"/>
              <a:ext cx="15621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全社展開</a:t>
              </a:r>
            </a:p>
          </p:txBody>
        </p:sp>
        <p:sp>
          <p:nvSpPr>
            <p:cNvPr id="33" name="ステップ説明"/>
            <p:cNvSpPr/>
            <p:nvPr/>
          </p:nvSpPr>
          <p:spPr>
            <a:xfrm>
              <a:off x="8629650" y="2152650"/>
              <a:ext cx="2667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2週目から全部門で利用開始</a:t>
              </a:r>
            </a:p>
          </p:txBody>
        </p:sp>
      </p:grpSp>
      <p:grpSp>
        <p:nvGrpSpPr>
          <p:cNvPr id="34" name="導入_期間軸"/>
          <p:cNvGrpSpPr/>
          <p:nvPr/>
        </p:nvGrpSpPr>
        <p:grpSpPr>
          <a:xfrm>
            <a:off x="571500" y="2752725"/>
            <a:ext cx="11049000" cy="504825"/>
            <a:chOff x="571500" y="2752725"/>
            <a:chExt cx="11049000" cy="504825"/>
          </a:xfrm>
        </p:grpSpPr>
        <p:cxnSp>
          <p:nvCxnSpPr>
            <p:cNvPr id="35" name="時間軸"/>
            <p:cNvCxnSpPr/>
            <p:nvPr/>
          </p:nvCxnSpPr>
          <p:spPr>
            <a:xfrm>
              <a:off x="571500" y="2819400"/>
              <a:ext cx="11049000" cy="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目盛1"/>
            <p:cNvCxnSpPr/>
            <p:nvPr/>
          </p:nvCxnSpPr>
          <p:spPr>
            <a:xfrm>
              <a:off x="571500" y="2752725"/>
              <a:ext cx="0" cy="13335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目盛2"/>
            <p:cNvCxnSpPr/>
            <p:nvPr/>
          </p:nvCxnSpPr>
          <p:spPr>
            <a:xfrm>
              <a:off x="3257550" y="2752725"/>
              <a:ext cx="0" cy="13335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目盛3"/>
            <p:cNvCxnSpPr/>
            <p:nvPr/>
          </p:nvCxnSpPr>
          <p:spPr>
            <a:xfrm>
              <a:off x="5943600" y="2752725"/>
              <a:ext cx="0" cy="13335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目盛4"/>
            <p:cNvCxnSpPr/>
            <p:nvPr/>
          </p:nvCxnSpPr>
          <p:spPr>
            <a:xfrm>
              <a:off x="8629650" y="2752725"/>
              <a:ext cx="0" cy="13335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目盛5"/>
            <p:cNvCxnSpPr/>
            <p:nvPr/>
          </p:nvCxnSpPr>
          <p:spPr>
            <a:xfrm>
              <a:off x="11315700" y="2752725"/>
              <a:ext cx="0" cy="13335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期間チップ1"/>
            <p:cNvSpPr/>
            <p:nvPr/>
          </p:nvSpPr>
          <p:spPr>
            <a:xfrm>
              <a:off x="1362075" y="3009900"/>
              <a:ext cx="1104900" cy="2476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期間1"/>
            <p:cNvSpPr/>
            <p:nvPr/>
          </p:nvSpPr>
          <p:spPr>
            <a:xfrm>
              <a:off x="1362075" y="3019425"/>
              <a:ext cx="1104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当日</a:t>
              </a:r>
            </a:p>
          </p:txBody>
        </p:sp>
        <p:sp>
          <p:nvSpPr>
            <p:cNvPr id="43" name="期間チップ2"/>
            <p:cNvSpPr/>
            <p:nvPr/>
          </p:nvSpPr>
          <p:spPr>
            <a:xfrm>
              <a:off x="4048125" y="3009900"/>
              <a:ext cx="1104900" cy="2476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期間2"/>
            <p:cNvSpPr/>
            <p:nvPr/>
          </p:nvSpPr>
          <p:spPr>
            <a:xfrm>
              <a:off x="4048125" y="3019425"/>
              <a:ext cx="1104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〜3営業日</a:t>
              </a:r>
            </a:p>
          </p:txBody>
        </p:sp>
        <p:sp>
          <p:nvSpPr>
            <p:cNvPr id="45" name="期間チップ3"/>
            <p:cNvSpPr/>
            <p:nvPr/>
          </p:nvSpPr>
          <p:spPr>
            <a:xfrm>
              <a:off x="6734175" y="3009900"/>
              <a:ext cx="1104900" cy="2476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期間3"/>
            <p:cNvSpPr/>
            <p:nvPr/>
          </p:nvSpPr>
          <p:spPr>
            <a:xfrm>
              <a:off x="6734175" y="3019425"/>
              <a:ext cx="1104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〜1週間</a:t>
              </a:r>
            </a:p>
          </p:txBody>
        </p:sp>
        <p:sp>
          <p:nvSpPr>
            <p:cNvPr id="47" name="期間チップ4（朱）"/>
            <p:cNvSpPr/>
            <p:nvPr/>
          </p:nvSpPr>
          <p:spPr>
            <a:xfrm>
              <a:off x="9420225" y="3009900"/>
              <a:ext cx="11049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期間4"/>
            <p:cNvSpPr/>
            <p:nvPr/>
          </p:nvSpPr>
          <p:spPr>
            <a:xfrm>
              <a:off x="9420225" y="3019425"/>
              <a:ext cx="11049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2週間目〜</a:t>
              </a:r>
            </a:p>
          </p:txBody>
        </p:sp>
      </p:grpSp>
      <p:grpSp>
        <p:nvGrpSpPr>
          <p:cNvPr id="49" name="役割分担_当社"/>
          <p:cNvGrpSpPr/>
          <p:nvPr/>
        </p:nvGrpSpPr>
        <p:grpSpPr>
          <a:xfrm>
            <a:off x="571500" y="3810000"/>
            <a:ext cx="5429250" cy="2228850"/>
            <a:chOff x="571500" y="3810000"/>
            <a:chExt cx="5429250" cy="2228850"/>
          </a:xfrm>
        </p:grpSpPr>
        <p:sp>
          <p:nvSpPr>
            <p:cNvPr id="50" name="役割カード"/>
            <p:cNvSpPr/>
            <p:nvPr/>
          </p:nvSpPr>
          <p:spPr>
            <a:xfrm>
              <a:off x="571500" y="3810000"/>
              <a:ext cx="5429250" cy="2228850"/>
            </a:xfrm>
            <a:prstGeom prst="roundRect">
              <a:avLst>
                <a:gd name="adj" fmla="val 341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役割見出し"/>
            <p:cNvSpPr/>
            <p:nvPr/>
          </p:nvSpPr>
          <p:spPr>
            <a:xfrm>
              <a:off x="800100" y="400050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当社が行うこと</a:t>
              </a:r>
            </a:p>
          </p:txBody>
        </p:sp>
        <p:sp>
          <p:nvSpPr>
            <p:cNvPr id="52" name="チェック1_丸"/>
            <p:cNvSpPr/>
            <p:nvPr/>
          </p:nvSpPr>
          <p:spPr>
            <a:xfrm>
              <a:off x="800100" y="436245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チェック1_チェック"/>
            <p:cNvSpPr/>
            <p:nvPr/>
          </p:nvSpPr>
          <p:spPr>
            <a:xfrm>
              <a:off x="800100" y="436245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項目1"/>
            <p:cNvSpPr/>
            <p:nvPr/>
          </p:nvSpPr>
          <p:spPr>
            <a:xfrm>
              <a:off x="1143000" y="4343400"/>
              <a:ext cx="46291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初期設定・既存資料のテンプレート化</a:t>
              </a:r>
            </a:p>
          </p:txBody>
        </p:sp>
        <p:sp>
          <p:nvSpPr>
            <p:cNvPr id="55" name="チェック2_丸"/>
            <p:cNvSpPr/>
            <p:nvPr/>
          </p:nvSpPr>
          <p:spPr>
            <a:xfrm>
              <a:off x="800100" y="487680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チェック2_チェック"/>
            <p:cNvSpPr/>
            <p:nvPr/>
          </p:nvSpPr>
          <p:spPr>
            <a:xfrm>
              <a:off x="800100" y="48768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項目2"/>
            <p:cNvSpPr/>
            <p:nvPr/>
          </p:nvSpPr>
          <p:spPr>
            <a:xfrm>
              <a:off x="1143000" y="4857750"/>
              <a:ext cx="46291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利用者向け30分研修の実施</a:t>
              </a:r>
            </a:p>
          </p:txBody>
        </p:sp>
        <p:sp>
          <p:nvSpPr>
            <p:cNvPr id="58" name="チェック3_丸"/>
            <p:cNvSpPr/>
            <p:nvPr/>
          </p:nvSpPr>
          <p:spPr>
            <a:xfrm>
              <a:off x="800100" y="5391150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チェック3_チェック"/>
            <p:cNvSpPr/>
            <p:nvPr/>
          </p:nvSpPr>
          <p:spPr>
            <a:xfrm>
              <a:off x="800100" y="539115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項目3"/>
            <p:cNvSpPr/>
            <p:nvPr/>
          </p:nvSpPr>
          <p:spPr>
            <a:xfrm>
              <a:off x="1143000" y="5372100"/>
              <a:ext cx="46291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週次の利用状況レポート</a:t>
              </a:r>
            </a:p>
          </p:txBody>
        </p:sp>
      </p:grpSp>
      <p:grpSp>
        <p:nvGrpSpPr>
          <p:cNvPr id="61" name="役割分担_お客様"/>
          <p:cNvGrpSpPr/>
          <p:nvPr/>
        </p:nvGrpSpPr>
        <p:grpSpPr>
          <a:xfrm>
            <a:off x="6191250" y="3810000"/>
            <a:ext cx="5429250" cy="2228850"/>
            <a:chOff x="6191250" y="3810000"/>
            <a:chExt cx="5429250" cy="2228850"/>
          </a:xfrm>
        </p:grpSpPr>
        <p:sp>
          <p:nvSpPr>
            <p:cNvPr id="62" name="役割カード"/>
            <p:cNvSpPr/>
            <p:nvPr/>
          </p:nvSpPr>
          <p:spPr>
            <a:xfrm>
              <a:off x="6191250" y="3810000"/>
              <a:ext cx="5429250" cy="2228850"/>
            </a:xfrm>
            <a:prstGeom prst="roundRect">
              <a:avLst>
                <a:gd name="adj" fmla="val 341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役割見出し"/>
            <p:cNvSpPr/>
            <p:nvPr/>
          </p:nvSpPr>
          <p:spPr>
            <a:xfrm>
              <a:off x="6419850" y="400050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お客様にお願いすること</a:t>
              </a:r>
            </a:p>
          </p:txBody>
        </p:sp>
        <p:sp>
          <p:nvSpPr>
            <p:cNvPr id="64" name="チェック1_丸"/>
            <p:cNvSpPr/>
            <p:nvPr/>
          </p:nvSpPr>
          <p:spPr>
            <a:xfrm>
              <a:off x="6419850" y="4362450"/>
              <a:ext cx="209550" cy="20955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チェック1_チェック"/>
            <p:cNvSpPr/>
            <p:nvPr/>
          </p:nvSpPr>
          <p:spPr>
            <a:xfrm>
              <a:off x="6419850" y="436245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項目1"/>
            <p:cNvSpPr/>
            <p:nvPr/>
          </p:nvSpPr>
          <p:spPr>
            <a:xfrm>
              <a:off x="6762750" y="4343400"/>
              <a:ext cx="46291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お申込みと利用メンバーの選定</a:t>
              </a:r>
            </a:p>
          </p:txBody>
        </p:sp>
        <p:sp>
          <p:nvSpPr>
            <p:cNvPr id="67" name="チェック2_丸"/>
            <p:cNvSpPr/>
            <p:nvPr/>
          </p:nvSpPr>
          <p:spPr>
            <a:xfrm>
              <a:off x="6419850" y="4876800"/>
              <a:ext cx="209550" cy="20955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チェック2_チェック"/>
            <p:cNvSpPr/>
            <p:nvPr/>
          </p:nvSpPr>
          <p:spPr>
            <a:xfrm>
              <a:off x="6419850" y="487680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項目2"/>
            <p:cNvSpPr/>
            <p:nvPr/>
          </p:nvSpPr>
          <p:spPr>
            <a:xfrm>
              <a:off x="6762750" y="4857750"/>
              <a:ext cx="46291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既存資料・データのご提供</a:t>
              </a:r>
            </a:p>
          </p:txBody>
        </p:sp>
        <p:sp>
          <p:nvSpPr>
            <p:cNvPr id="70" name="チェック3_丸"/>
            <p:cNvSpPr/>
            <p:nvPr/>
          </p:nvSpPr>
          <p:spPr>
            <a:xfrm>
              <a:off x="6419850" y="5391150"/>
              <a:ext cx="209550" cy="20955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チェック3_チェック"/>
            <p:cNvSpPr/>
            <p:nvPr/>
          </p:nvSpPr>
          <p:spPr>
            <a:xfrm>
              <a:off x="6419850" y="5391150"/>
              <a:ext cx="209550" cy="209550"/>
            </a:xfrm>
            <a:custGeom>
              <a:avLst/>
              <a:gdLst/>
              <a:ahLst/>
              <a:cxnLst/>
              <a:rect l="0" t="0" r="209550" b="209550"/>
              <a:pathLst>
                <a:path w="209550" h="209550" fill="none">
                  <a:moveTo>
                    <a:pt x="58674" y="113157"/>
                  </a:moveTo>
                  <a:lnTo>
                    <a:pt x="92202" y="146685"/>
                  </a:lnTo>
                  <a:lnTo>
                    <a:pt x="155067" y="75438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項目3"/>
            <p:cNvSpPr/>
            <p:nvPr/>
          </p:nvSpPr>
          <p:spPr>
            <a:xfrm>
              <a:off x="6762750" y="5372100"/>
              <a:ext cx="46291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試験運用する1部門の決定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導入にあたって｜SUPPORT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導入前の不安は、この4つの回答でほぼ解消できる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よくいただく質問（導入検討時）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注：回答は標準提供条件の要約です（架空サンプル）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出所：SampleWorksサポートFAQ（架空サンプル）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11</a:t>
            </a:r>
          </a:p>
        </p:txBody>
      </p:sp>
      <p:grpSp>
        <p:nvGrpSpPr>
          <p:cNvPr id="10" name="FAQ01"/>
          <p:cNvGrpSpPr/>
          <p:nvPr/>
        </p:nvGrpSpPr>
        <p:grpSpPr>
          <a:xfrm>
            <a:off x="571500" y="1333500"/>
            <a:ext cx="5334000" cy="1943100"/>
            <a:chOff x="571500" y="1333500"/>
            <a:chExt cx="5334000" cy="1943100"/>
          </a:xfrm>
        </p:grpSpPr>
        <p:sp>
          <p:nvSpPr>
            <p:cNvPr id="11" name="Qマーカー"/>
            <p:cNvSpPr/>
            <p:nvPr/>
          </p:nvSpPr>
          <p:spPr>
            <a:xfrm>
              <a:off x="571500" y="13335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Q文字"/>
            <p:cNvSpPr/>
            <p:nvPr/>
          </p:nvSpPr>
          <p:spPr>
            <a:xfrm>
              <a:off x="571500" y="13430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Q</a:t>
              </a:r>
            </a:p>
          </p:txBody>
        </p:sp>
        <p:sp>
          <p:nvSpPr>
            <p:cNvPr id="13" name="質問文"/>
            <p:cNvSpPr/>
            <p:nvPr/>
          </p:nvSpPr>
          <p:spPr>
            <a:xfrm>
              <a:off x="1066800" y="1333500"/>
              <a:ext cx="48387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ITに不慣れなメンバーでも使えますか？</a:t>
              </a:r>
            </a:p>
          </p:txBody>
        </p:sp>
        <p:cxnSp>
          <p:nvCxnSpPr>
            <p:cNvPr id="14" name="区切り線"/>
            <p:cNvCxnSpPr/>
            <p:nvPr/>
          </p:nvCxnSpPr>
          <p:spPr>
            <a:xfrm>
              <a:off x="571500" y="186690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Aマーカー"/>
            <p:cNvSpPr/>
            <p:nvPr/>
          </p:nvSpPr>
          <p:spPr>
            <a:xfrm>
              <a:off x="571500" y="2057400"/>
              <a:ext cx="342900" cy="3429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A文字"/>
            <p:cNvSpPr/>
            <p:nvPr/>
          </p:nvSpPr>
          <p:spPr>
            <a:xfrm>
              <a:off x="571500" y="20669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17" name="回答文"/>
            <p:cNvSpPr/>
            <p:nvPr/>
          </p:nvSpPr>
          <p:spPr>
            <a:xfrm>
              <a:off x="1066800" y="2038350"/>
              <a:ext cx="48387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操作は「選ぶ→生成→共有」の3ステップだけです。初期設定は当社が代行し、導入時に30分の研修を行うため、初日から全員が使い始められます。</a:t>
              </a:r>
            </a:p>
          </p:txBody>
        </p:sp>
      </p:grpSp>
      <p:grpSp>
        <p:nvGrpSpPr>
          <p:cNvPr id="18" name="FAQ02"/>
          <p:cNvGrpSpPr/>
          <p:nvPr/>
        </p:nvGrpSpPr>
        <p:grpSpPr>
          <a:xfrm>
            <a:off x="6286500" y="1333500"/>
            <a:ext cx="5334000" cy="1943100"/>
            <a:chOff x="6286500" y="1333500"/>
            <a:chExt cx="5334000" cy="1943100"/>
          </a:xfrm>
        </p:grpSpPr>
        <p:sp>
          <p:nvSpPr>
            <p:cNvPr id="19" name="Qマーカー"/>
            <p:cNvSpPr/>
            <p:nvPr/>
          </p:nvSpPr>
          <p:spPr>
            <a:xfrm>
              <a:off x="6286500" y="13335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Q文字"/>
            <p:cNvSpPr/>
            <p:nvPr/>
          </p:nvSpPr>
          <p:spPr>
            <a:xfrm>
              <a:off x="6286500" y="13430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Q</a:t>
              </a:r>
            </a:p>
          </p:txBody>
        </p:sp>
        <p:sp>
          <p:nvSpPr>
            <p:cNvPr id="21" name="質問文"/>
            <p:cNvSpPr/>
            <p:nvPr/>
          </p:nvSpPr>
          <p:spPr>
            <a:xfrm>
              <a:off x="6781800" y="1333500"/>
              <a:ext cx="48387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これまでのExcel・PowerPoint資産は無駄になりませんか？</a:t>
              </a:r>
            </a:p>
          </p:txBody>
        </p:sp>
        <p:cxnSp>
          <p:nvCxnSpPr>
            <p:cNvPr id="22" name="区切り線"/>
            <p:cNvCxnSpPr/>
            <p:nvPr/>
          </p:nvCxnSpPr>
          <p:spPr>
            <a:xfrm>
              <a:off x="6286500" y="186690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Aマーカー"/>
            <p:cNvSpPr/>
            <p:nvPr/>
          </p:nvSpPr>
          <p:spPr>
            <a:xfrm>
              <a:off x="6286500" y="2057400"/>
              <a:ext cx="342900" cy="3429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A文字"/>
            <p:cNvSpPr/>
            <p:nvPr/>
          </p:nvSpPr>
          <p:spPr>
            <a:xfrm>
              <a:off x="6286500" y="20669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25" name="回答文"/>
            <p:cNvSpPr/>
            <p:nvPr/>
          </p:nvSpPr>
          <p:spPr>
            <a:xfrm>
              <a:off x="6781800" y="2038350"/>
              <a:ext cx="48387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なりません。既存のファイルを取り込んでテンプレート化できるため、いままで育ててきた資料の型を活かしたまま移行できます。</a:t>
              </a:r>
            </a:p>
          </p:txBody>
        </p:sp>
      </p:grpSp>
      <p:grpSp>
        <p:nvGrpSpPr>
          <p:cNvPr id="26" name="FAQ03"/>
          <p:cNvGrpSpPr/>
          <p:nvPr/>
        </p:nvGrpSpPr>
        <p:grpSpPr>
          <a:xfrm>
            <a:off x="571500" y="3714750"/>
            <a:ext cx="5334000" cy="1943100"/>
            <a:chOff x="571500" y="3714750"/>
            <a:chExt cx="5334000" cy="1943100"/>
          </a:xfrm>
        </p:grpSpPr>
        <p:sp>
          <p:nvSpPr>
            <p:cNvPr id="27" name="Qマーカー"/>
            <p:cNvSpPr/>
            <p:nvPr/>
          </p:nvSpPr>
          <p:spPr>
            <a:xfrm>
              <a:off x="571500" y="37147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Q文字"/>
            <p:cNvSpPr/>
            <p:nvPr/>
          </p:nvSpPr>
          <p:spPr>
            <a:xfrm>
              <a:off x="571500" y="372427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Q</a:t>
              </a:r>
            </a:p>
          </p:txBody>
        </p:sp>
        <p:sp>
          <p:nvSpPr>
            <p:cNvPr id="29" name="質問文"/>
            <p:cNvSpPr/>
            <p:nvPr/>
          </p:nvSpPr>
          <p:spPr>
            <a:xfrm>
              <a:off x="1066800" y="3714750"/>
              <a:ext cx="48387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セキュリティ対策はどうなっていますか？</a:t>
              </a:r>
            </a:p>
          </p:txBody>
        </p:sp>
        <p:cxnSp>
          <p:nvCxnSpPr>
            <p:cNvPr id="30" name="区切り線"/>
            <p:cNvCxnSpPr/>
            <p:nvPr/>
          </p:nvCxnSpPr>
          <p:spPr>
            <a:xfrm>
              <a:off x="571500" y="424815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Aマーカー"/>
            <p:cNvSpPr/>
            <p:nvPr/>
          </p:nvSpPr>
          <p:spPr>
            <a:xfrm>
              <a:off x="571500" y="4438650"/>
              <a:ext cx="342900" cy="3429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A文字"/>
            <p:cNvSpPr/>
            <p:nvPr/>
          </p:nvSpPr>
          <p:spPr>
            <a:xfrm>
              <a:off x="571500" y="444817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33" name="回答文"/>
            <p:cNvSpPr/>
            <p:nvPr/>
          </p:nvSpPr>
          <p:spPr>
            <a:xfrm>
              <a:off x="1066800" y="4419600"/>
              <a:ext cx="48387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データは国内データセンターで暗号化して保管します。SSO・IP制限・操作ログの取得にも対応しています（Enterpriseプラン）。</a:t>
              </a:r>
            </a:p>
          </p:txBody>
        </p:sp>
      </p:grpSp>
      <p:grpSp>
        <p:nvGrpSpPr>
          <p:cNvPr id="34" name="FAQ04"/>
          <p:cNvGrpSpPr/>
          <p:nvPr/>
        </p:nvGrpSpPr>
        <p:grpSpPr>
          <a:xfrm>
            <a:off x="6286500" y="3714750"/>
            <a:ext cx="5334000" cy="1943100"/>
            <a:chOff x="6286500" y="3714750"/>
            <a:chExt cx="5334000" cy="1943100"/>
          </a:xfrm>
        </p:grpSpPr>
        <p:sp>
          <p:nvSpPr>
            <p:cNvPr id="35" name="Qマーカー"/>
            <p:cNvSpPr/>
            <p:nvPr/>
          </p:nvSpPr>
          <p:spPr>
            <a:xfrm>
              <a:off x="6286500" y="37147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Q文字"/>
            <p:cNvSpPr/>
            <p:nvPr/>
          </p:nvSpPr>
          <p:spPr>
            <a:xfrm>
              <a:off x="6286500" y="372427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Q</a:t>
              </a:r>
            </a:p>
          </p:txBody>
        </p:sp>
        <p:sp>
          <p:nvSpPr>
            <p:cNvPr id="37" name="質問文"/>
            <p:cNvSpPr/>
            <p:nvPr/>
          </p:nvSpPr>
          <p:spPr>
            <a:xfrm>
              <a:off x="6781800" y="3714750"/>
              <a:ext cx="48387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契約期間の縛りや解約金はありますか？</a:t>
              </a:r>
            </a:p>
          </p:txBody>
        </p:sp>
        <p:cxnSp>
          <p:nvCxnSpPr>
            <p:cNvPr id="38" name="区切り線"/>
            <p:cNvCxnSpPr/>
            <p:nvPr/>
          </p:nvCxnSpPr>
          <p:spPr>
            <a:xfrm>
              <a:off x="6286500" y="424815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Aマーカー"/>
            <p:cNvSpPr/>
            <p:nvPr/>
          </p:nvSpPr>
          <p:spPr>
            <a:xfrm>
              <a:off x="6286500" y="4438650"/>
              <a:ext cx="342900" cy="3429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A文字"/>
            <p:cNvSpPr/>
            <p:nvPr/>
          </p:nvSpPr>
          <p:spPr>
            <a:xfrm>
              <a:off x="6286500" y="444817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41" name="回答文"/>
            <p:cNvSpPr/>
            <p:nvPr/>
          </p:nvSpPr>
          <p:spPr>
            <a:xfrm>
              <a:off x="6781800" y="4419600"/>
              <a:ext cx="48387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ありません。月単位の契約で、解約時にはご利用データを一括エクスポートできます。安心してお試しください。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次のステップ｜NEXT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次の一歩は、30分の無料オンライン相談から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ご相談から試験導入までの進み方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注：連絡先はダミー表記です。本資料の内容はすべて架空のサンプル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出所：株式会社サンプルワークス（架空サンプル）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12</a:t>
            </a:r>
          </a:p>
        </p:txBody>
      </p:sp>
      <p:grpSp>
        <p:nvGrpSpPr>
          <p:cNvPr id="10" name="結び_結論ボックス"/>
          <p:cNvGrpSpPr/>
          <p:nvPr/>
        </p:nvGrpSpPr>
        <p:grpSpPr>
          <a:xfrm>
            <a:off x="571500" y="1333500"/>
            <a:ext cx="11049000" cy="1104900"/>
            <a:chOff x="571500" y="1333500"/>
            <a:chExt cx="11049000" cy="1104900"/>
          </a:xfrm>
        </p:grpSpPr>
        <p:sp>
          <p:nvSpPr>
            <p:cNvPr id="11" name="結論ボックス"/>
            <p:cNvSpPr/>
            <p:nvPr/>
          </p:nvSpPr>
          <p:spPr>
            <a:xfrm>
              <a:off x="571500" y="1333500"/>
              <a:ext cx="11049000" cy="1104900"/>
            </a:xfrm>
            <a:prstGeom prst="roundRect">
              <a:avLst>
                <a:gd name="adj" fmla="val 6896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結論ラベル"/>
            <p:cNvSpPr/>
            <p:nvPr/>
          </p:nvSpPr>
          <p:spPr>
            <a:xfrm>
              <a:off x="857250" y="148590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4"/>
                  </a:solidFill>
                </a:rPr>
                <a:t>本日の結論</a:t>
              </a:r>
            </a:p>
          </p:txBody>
        </p:sp>
        <p:sp>
          <p:nvSpPr>
            <p:cNvPr id="13" name="結論本文"/>
            <p:cNvSpPr/>
            <p:nvPr/>
          </p:nvSpPr>
          <p:spPr>
            <a:xfrm>
              <a:off x="857250" y="1714500"/>
              <a:ext cx="104775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5000"/>
                </a:lnSpc>
              </a:pPr>
              <a:r>
                <a:rPr sz="1500" b="1">
                  <a:solidFill>
                    <a:schemeClr val="lt1"/>
                  </a:solidFill>
                </a:rPr>
                <a:t>資料づくりの悩みは、個人の努力ではなく“仕組み”で解決できる。</a:t>
              </a:r>
            </a:p>
            <a:p>
              <a:pPr algn="l">
                <a:lnSpc>
                  <a:spcPct val="155000"/>
                </a:lnSpc>
              </a:pPr>
              <a:r>
                <a:rPr sz="1500" b="1">
                  <a:solidFill>
                    <a:schemeClr val="lt1"/>
                  </a:solidFill>
                </a:rPr>
                <a:t>SampleWorksが、その仕組みを最短2週間で立ち上げます。</a:t>
              </a:r>
            </a:p>
          </p:txBody>
        </p:sp>
      </p:grpSp>
      <p:grpSp>
        <p:nvGrpSpPr>
          <p:cNvPr id="14" name="次のステップ01_無料オンライン相談"/>
          <p:cNvGrpSpPr/>
          <p:nvPr/>
        </p:nvGrpSpPr>
        <p:grpSpPr>
          <a:xfrm>
            <a:off x="571500" y="2819400"/>
            <a:ext cx="3162300" cy="1219200"/>
            <a:chOff x="571500" y="2819400"/>
            <a:chExt cx="3162300" cy="1219200"/>
          </a:xfrm>
        </p:grpSpPr>
        <p:sp>
          <p:nvSpPr>
            <p:cNvPr id="15" name="ステップカード"/>
            <p:cNvSpPr/>
            <p:nvPr/>
          </p:nvSpPr>
          <p:spPr>
            <a:xfrm>
              <a:off x="571500" y="2819400"/>
              <a:ext cx="3162300" cy="12192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番号円"/>
            <p:cNvSpPr/>
            <p:nvPr/>
          </p:nvSpPr>
          <p:spPr>
            <a:xfrm>
              <a:off x="781050" y="3028950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番号"/>
            <p:cNvSpPr/>
            <p:nvPr/>
          </p:nvSpPr>
          <p:spPr>
            <a:xfrm>
              <a:off x="781050" y="30384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18" name="ステップ名"/>
            <p:cNvSpPr/>
            <p:nvPr/>
          </p:nvSpPr>
          <p:spPr>
            <a:xfrm>
              <a:off x="1219200" y="3067050"/>
              <a:ext cx="23812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無料オンライン相談</a:t>
              </a:r>
            </a:p>
          </p:txBody>
        </p:sp>
        <p:sp>
          <p:nvSpPr>
            <p:cNvPr id="19" name="ステップ説明"/>
            <p:cNvSpPr/>
            <p:nvPr/>
          </p:nvSpPr>
          <p:spPr>
            <a:xfrm>
              <a:off x="781050" y="3486150"/>
              <a:ext cx="27432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いまの資料づくりの悩みを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30分でヒアリング</a:t>
              </a:r>
            </a:p>
          </p:txBody>
        </p:sp>
      </p:grpSp>
      <p:grpSp>
        <p:nvGrpSpPr>
          <p:cNvPr id="20" name="次のステップ02_貴社資料でデモ"/>
          <p:cNvGrpSpPr/>
          <p:nvPr/>
        </p:nvGrpSpPr>
        <p:grpSpPr>
          <a:xfrm>
            <a:off x="4514850" y="2819400"/>
            <a:ext cx="3162300" cy="1219200"/>
            <a:chOff x="4514850" y="2819400"/>
            <a:chExt cx="3162300" cy="1219200"/>
          </a:xfrm>
        </p:grpSpPr>
        <p:sp>
          <p:nvSpPr>
            <p:cNvPr id="21" name="ステップカード"/>
            <p:cNvSpPr/>
            <p:nvPr/>
          </p:nvSpPr>
          <p:spPr>
            <a:xfrm>
              <a:off x="4514850" y="2819400"/>
              <a:ext cx="3162300" cy="12192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番号円"/>
            <p:cNvSpPr/>
            <p:nvPr/>
          </p:nvSpPr>
          <p:spPr>
            <a:xfrm>
              <a:off x="4724400" y="3028950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番号"/>
            <p:cNvSpPr/>
            <p:nvPr/>
          </p:nvSpPr>
          <p:spPr>
            <a:xfrm>
              <a:off x="4724400" y="30384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24" name="ステップ名"/>
            <p:cNvSpPr/>
            <p:nvPr/>
          </p:nvSpPr>
          <p:spPr>
            <a:xfrm>
              <a:off x="5162550" y="3067050"/>
              <a:ext cx="23812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貴社資料でデモ</a:t>
              </a:r>
            </a:p>
          </p:txBody>
        </p:sp>
        <p:sp>
          <p:nvSpPr>
            <p:cNvPr id="25" name="ステップ説明"/>
            <p:cNvSpPr/>
            <p:nvPr/>
          </p:nvSpPr>
          <p:spPr>
            <a:xfrm>
              <a:off x="4724400" y="3486150"/>
              <a:ext cx="27432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お手元の資料をそのまま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再現してご確認</a:t>
              </a:r>
            </a:p>
          </p:txBody>
        </p:sp>
      </p:grpSp>
      <p:grpSp>
        <p:nvGrpSpPr>
          <p:cNvPr id="26" name="次のステップ03_1部門で試験導入"/>
          <p:cNvGrpSpPr/>
          <p:nvPr/>
        </p:nvGrpSpPr>
        <p:grpSpPr>
          <a:xfrm>
            <a:off x="8458200" y="2819400"/>
            <a:ext cx="3162300" cy="1219200"/>
            <a:chOff x="8458200" y="2819400"/>
            <a:chExt cx="3162300" cy="1219200"/>
          </a:xfrm>
        </p:grpSpPr>
        <p:sp>
          <p:nvSpPr>
            <p:cNvPr id="27" name="ステップカード"/>
            <p:cNvSpPr/>
            <p:nvPr/>
          </p:nvSpPr>
          <p:spPr>
            <a:xfrm>
              <a:off x="8458200" y="2819400"/>
              <a:ext cx="3162300" cy="12192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番号円"/>
            <p:cNvSpPr/>
            <p:nvPr/>
          </p:nvSpPr>
          <p:spPr>
            <a:xfrm>
              <a:off x="8667750" y="3028950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番号"/>
            <p:cNvSpPr/>
            <p:nvPr/>
          </p:nvSpPr>
          <p:spPr>
            <a:xfrm>
              <a:off x="8667750" y="30384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30" name="ステップ名"/>
            <p:cNvSpPr/>
            <p:nvPr/>
          </p:nvSpPr>
          <p:spPr>
            <a:xfrm>
              <a:off x="9105900" y="3067050"/>
              <a:ext cx="23812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1部門で試験導入</a:t>
              </a:r>
            </a:p>
          </p:txBody>
        </p:sp>
        <p:sp>
          <p:nvSpPr>
            <p:cNvPr id="31" name="ステップ説明"/>
            <p:cNvSpPr/>
            <p:nvPr/>
          </p:nvSpPr>
          <p:spPr>
            <a:xfrm>
              <a:off x="8667750" y="3486150"/>
              <a:ext cx="27432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効果を実測してから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全社展開をご判断</a:t>
              </a:r>
            </a:p>
          </p:txBody>
        </p:sp>
      </p:grpSp>
      <p:grpSp>
        <p:nvGrpSpPr>
          <p:cNvPr id="32" name="次ステップ矢印"/>
          <p:cNvGrpSpPr/>
          <p:nvPr/>
        </p:nvGrpSpPr>
        <p:grpSpPr>
          <a:xfrm>
            <a:off x="3810000" y="3429000"/>
            <a:ext cx="4572000" cy="19050"/>
            <a:chOff x="3810000" y="3429000"/>
            <a:chExt cx="4572000" cy="19050"/>
          </a:xfrm>
        </p:grpSpPr>
        <p:cxnSp>
          <p:nvCxnSpPr>
            <p:cNvPr id="33" name="1→2"/>
            <p:cNvCxnSpPr/>
            <p:nvPr/>
          </p:nvCxnSpPr>
          <p:spPr>
            <a:xfrm>
              <a:off x="3810000" y="3429000"/>
              <a:ext cx="628650" cy="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2→3"/>
            <p:cNvCxnSpPr/>
            <p:nvPr/>
          </p:nvCxnSpPr>
          <p:spPr>
            <a:xfrm>
              <a:off x="7753350" y="3429000"/>
              <a:ext cx="628650" cy="0"/>
            </a:xfrm>
            <a:prstGeom prst="line">
              <a:avLst/>
            </a:prstGeom>
            <a:ln w="14287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結び_CTAボタン"/>
          <p:cNvGrpSpPr/>
          <p:nvPr/>
        </p:nvGrpSpPr>
        <p:grpSpPr>
          <a:xfrm>
            <a:off x="4191000" y="4533900"/>
            <a:ext cx="3810000" cy="552450"/>
            <a:chOff x="4191000" y="4533900"/>
            <a:chExt cx="3810000" cy="552450"/>
          </a:xfrm>
        </p:grpSpPr>
        <p:sp>
          <p:nvSpPr>
            <p:cNvPr id="36" name="CTAボタン（朱）"/>
            <p:cNvSpPr/>
            <p:nvPr/>
          </p:nvSpPr>
          <p:spPr>
            <a:xfrm>
              <a:off x="4191000" y="4533900"/>
              <a:ext cx="3810000" cy="5524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CTA文字"/>
            <p:cNvSpPr/>
            <p:nvPr/>
          </p:nvSpPr>
          <p:spPr>
            <a:xfrm>
              <a:off x="4191000" y="4543425"/>
              <a:ext cx="38100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50" b="1">
                  <a:solidFill>
                    <a:schemeClr val="lt1"/>
                  </a:solidFill>
                </a:rPr>
                <a:t>無料オンライン相談を予約する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571500" y="5334000"/>
            <a:ext cx="11049000" cy="19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contact@sampleworks.example　／　00-0000-0000（平日 9:00–18:00）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表紙_社名"/>
          <p:cNvGrpSpPr/>
          <p:nvPr/>
        </p:nvGrpSpPr>
        <p:grpSpPr>
          <a:xfrm>
            <a:off x="609600" y="419100"/>
            <a:ext cx="10972800" cy="342900"/>
            <a:chOff x="609600" y="419100"/>
            <a:chExt cx="10972800" cy="342900"/>
          </a:xfrm>
        </p:grpSpPr>
        <p:sp>
          <p:nvSpPr>
            <p:cNvPr id="4" name="ロゴワードマーク"/>
            <p:cNvSpPr/>
            <p:nvPr/>
          </p:nvSpPr>
          <p:spPr>
            <a:xfrm>
              <a:off x="609600" y="419100"/>
              <a:ext cx="3810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SAMPLE Inc.</a:t>
              </a:r>
            </a:p>
          </p:txBody>
        </p:sp>
        <p:sp>
          <p:nvSpPr>
            <p:cNvPr id="5" name="資料種別"/>
            <p:cNvSpPr/>
            <p:nvPr/>
          </p:nvSpPr>
          <p:spPr>
            <a:xfrm>
              <a:off x="8153400" y="457200"/>
              <a:ext cx="3429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COMPANY PROFILE</a:t>
              </a:r>
            </a:p>
          </p:txBody>
        </p:sp>
        <p:cxnSp>
          <p:nvCxnSpPr>
            <p:cNvPr id="6" name="ロゴ下罫線"/>
            <p:cNvCxnSpPr/>
            <p:nvPr/>
          </p:nvCxnSpPr>
          <p:spPr>
            <a:xfrm>
              <a:off x="609600" y="762000"/>
              <a:ext cx="1143000" cy="0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表紙_メッセージ"/>
          <p:cNvGrpSpPr/>
          <p:nvPr/>
        </p:nvGrpSpPr>
        <p:grpSpPr>
          <a:xfrm>
            <a:off x="609600" y="2209800"/>
            <a:ext cx="10477500" cy="2381250"/>
            <a:chOff x="609600" y="2209800"/>
            <a:chExt cx="10477500" cy="2381250"/>
          </a:xfrm>
        </p:grpSpPr>
        <p:sp>
          <p:nvSpPr>
            <p:cNvPr id="8" name="アクセントスクエア"/>
            <p:cNvSpPr/>
            <p:nvPr/>
          </p:nvSpPr>
          <p:spPr>
            <a:xfrm>
              <a:off x="609600" y="224790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キッカー"/>
            <p:cNvSpPr/>
            <p:nvPr/>
          </p:nvSpPr>
          <p:spPr>
            <a:xfrm>
              <a:off x="838200" y="2209800"/>
              <a:ext cx="4762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CORPORATE MESSAGE</a:t>
              </a:r>
            </a:p>
          </p:txBody>
        </p:sp>
        <p:sp>
          <p:nvSpPr>
            <p:cNvPr id="10" name="コーポレートメッセージ"/>
            <p:cNvSpPr/>
            <p:nvPr/>
          </p:nvSpPr>
          <p:spPr>
            <a:xfrm>
              <a:off x="609600" y="2552700"/>
              <a:ext cx="104775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3400" b="1">
                  <a:solidFill>
                    <a:schemeClr val="dk2"/>
                  </a:solidFill>
                </a:rPr>
                <a:t>確かな技術で、</a:t>
              </a:r>
            </a:p>
            <a:p>
              <a:pPr algn="l">
                <a:lnSpc>
                  <a:spcPct val="140000"/>
                </a:lnSpc>
              </a:pPr>
              <a:r>
                <a:rPr sz="3400" b="1">
                  <a:solidFill>
                    <a:schemeClr val="dk2"/>
                  </a:solidFill>
                </a:rPr>
                <a:t>明日の“あたりまえ”をつくる。</a:t>
              </a:r>
            </a:p>
          </p:txBody>
        </p:sp>
        <p:sp>
          <p:nvSpPr>
            <p:cNvPr id="11" name="資料名"/>
            <p:cNvSpPr/>
            <p:nvPr/>
          </p:nvSpPr>
          <p:spPr>
            <a:xfrm>
              <a:off x="609600" y="4095750"/>
              <a:ext cx="6667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会社紹介資料｜株式会社サンプル</a:t>
              </a:r>
            </a:p>
          </p:txBody>
        </p:sp>
        <p:sp>
          <p:nvSpPr>
            <p:cNvPr id="12" name="日付"/>
            <p:cNvSpPr/>
            <p:nvPr/>
          </p:nvSpPr>
          <p:spPr>
            <a:xfrm>
              <a:off x="609600" y="4419600"/>
              <a:ext cx="666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2026年7月</a:t>
              </a:r>
            </a:p>
          </p:txBody>
        </p:sp>
      </p:grpSp>
      <p:grpSp>
        <p:nvGrpSpPr>
          <p:cNvPr id="13" name="表紙_モチーフ"/>
          <p:cNvGrpSpPr/>
          <p:nvPr/>
        </p:nvGrpSpPr>
        <p:grpSpPr>
          <a:xfrm>
            <a:off x="8763000" y="4648200"/>
            <a:ext cx="2705100" cy="1447800"/>
            <a:chOff x="8763000" y="4648200"/>
            <a:chExt cx="2705100" cy="1447800"/>
          </a:xfrm>
        </p:grpSpPr>
        <p:sp>
          <p:nvSpPr>
            <p:cNvPr id="14" name="成長バー1"/>
            <p:cNvSpPr/>
            <p:nvPr/>
          </p:nvSpPr>
          <p:spPr>
            <a:xfrm>
              <a:off x="8763000" y="5486400"/>
              <a:ext cx="800100" cy="609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成長バー2"/>
            <p:cNvSpPr/>
            <p:nvPr/>
          </p:nvSpPr>
          <p:spPr>
            <a:xfrm>
              <a:off x="9715500" y="5105400"/>
              <a:ext cx="800100" cy="990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成長バー3"/>
            <p:cNvSpPr/>
            <p:nvPr/>
          </p:nvSpPr>
          <p:spPr>
            <a:xfrm>
              <a:off x="10668000" y="4648200"/>
              <a:ext cx="800100" cy="144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18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本資料の社名・人物・数値はすべて架空のサンプルです</a:t>
              </a:r>
            </a:p>
          </p:txBody>
        </p:sp>
        <p:sp>
          <p:nvSpPr>
            <p:cNvPr id="19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419100"/>
            <a:chOff x="609600" y="266700"/>
            <a:chExt cx="10972800" cy="41910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lt1"/>
                  </a:solidFill>
                </a:rPr>
                <a:t>ミッションを、すべての事業判断の起点にしています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02｜ミッション・ビジョン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ミッション"/>
          <p:cNvGrpSpPr/>
          <p:nvPr/>
        </p:nvGrpSpPr>
        <p:grpSpPr>
          <a:xfrm>
            <a:off x="0" y="1257300"/>
            <a:ext cx="12192000" cy="1162050"/>
            <a:chOff x="0" y="1257300"/>
            <a:chExt cx="12192000" cy="1162050"/>
          </a:xfrm>
        </p:grpSpPr>
        <p:sp>
          <p:nvSpPr>
            <p:cNvPr id="8" name="アクセントスクエア"/>
            <p:cNvSpPr/>
            <p:nvPr/>
          </p:nvSpPr>
          <p:spPr>
            <a:xfrm>
              <a:off x="6038850" y="125730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ラベル"/>
            <p:cNvSpPr/>
            <p:nvPr/>
          </p:nvSpPr>
          <p:spPr>
            <a:xfrm>
              <a:off x="0" y="1543050"/>
              <a:ext cx="1219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accent4"/>
                  </a:solidFill>
                </a:rPr>
                <a:t>MISSION</a:t>
              </a:r>
            </a:p>
          </p:txBody>
        </p:sp>
        <p:sp>
          <p:nvSpPr>
            <p:cNvPr id="10" name="ミッション文"/>
            <p:cNvSpPr/>
            <p:nvPr/>
          </p:nvSpPr>
          <p:spPr>
            <a:xfrm>
              <a:off x="0" y="1847850"/>
              <a:ext cx="121920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3000" b="1">
                  <a:solidFill>
                    <a:schemeClr val="lt1"/>
                  </a:solidFill>
                </a:rPr>
                <a:t>現場の困りごとを、技術で解き続ける。</a:t>
              </a:r>
            </a:p>
          </p:txBody>
        </p:sp>
      </p:grpSp>
      <p:grpSp>
        <p:nvGrpSpPr>
          <p:cNvPr id="11" name="ビジョン"/>
          <p:cNvGrpSpPr/>
          <p:nvPr/>
        </p:nvGrpSpPr>
        <p:grpSpPr>
          <a:xfrm>
            <a:off x="0" y="2857500"/>
            <a:ext cx="12192000" cy="914400"/>
            <a:chOff x="0" y="2857500"/>
            <a:chExt cx="12192000" cy="914400"/>
          </a:xfrm>
        </p:grpSpPr>
        <p:cxnSp>
          <p:nvCxnSpPr>
            <p:cNvPr id="12" name="区切り線"/>
            <p:cNvCxnSpPr/>
            <p:nvPr/>
          </p:nvCxnSpPr>
          <p:spPr>
            <a:xfrm>
              <a:off x="5715000" y="2857500"/>
              <a:ext cx="762000" cy="0"/>
            </a:xfrm>
            <a:prstGeom prst="bentConnector3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ラベル"/>
            <p:cNvSpPr/>
            <p:nvPr/>
          </p:nvSpPr>
          <p:spPr>
            <a:xfrm>
              <a:off x="0" y="3105150"/>
              <a:ext cx="1219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accent4"/>
                  </a:solidFill>
                </a:rPr>
                <a:t>VISION</a:t>
              </a:r>
            </a:p>
          </p:txBody>
        </p:sp>
        <p:sp>
          <p:nvSpPr>
            <p:cNvPr id="14" name="ビジョン文"/>
            <p:cNvSpPr/>
            <p:nvPr/>
          </p:nvSpPr>
          <p:spPr>
            <a:xfrm>
              <a:off x="0" y="3390900"/>
              <a:ext cx="121920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100" b="1">
                  <a:solidFill>
                    <a:schemeClr val="lt1"/>
                  </a:solidFill>
                </a:rPr>
                <a:t>2030年、現場データで“ものづくりの生産性”を変える。</a:t>
              </a:r>
            </a:p>
          </p:txBody>
        </p:sp>
      </p:grpSp>
      <p:grpSp>
        <p:nvGrpSpPr>
          <p:cNvPr id="15" name="バリュー"/>
          <p:cNvGrpSpPr/>
          <p:nvPr/>
        </p:nvGrpSpPr>
        <p:grpSpPr>
          <a:xfrm>
            <a:off x="0" y="4305300"/>
            <a:ext cx="12192000" cy="742950"/>
            <a:chOff x="0" y="4305300"/>
            <a:chExt cx="12192000" cy="742950"/>
          </a:xfrm>
        </p:grpSpPr>
        <p:sp>
          <p:nvSpPr>
            <p:cNvPr id="16" name="ラベル"/>
            <p:cNvSpPr/>
            <p:nvPr/>
          </p:nvSpPr>
          <p:spPr>
            <a:xfrm>
              <a:off x="0" y="4305300"/>
              <a:ext cx="1219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4"/>
                  </a:solidFill>
                </a:rPr>
                <a:t>VALUE — 私たちの行動基準</a:t>
              </a:r>
            </a:p>
          </p:txBody>
        </p:sp>
        <p:sp>
          <p:nvSpPr>
            <p:cNvPr id="17" name="バリューチップ1"/>
            <p:cNvSpPr/>
            <p:nvPr/>
          </p:nvSpPr>
          <p:spPr>
            <a:xfrm>
              <a:off x="2857500" y="4610100"/>
              <a:ext cx="1905000" cy="438150"/>
            </a:xfrm>
            <a:prstGeom prst="roundRect">
              <a:avLst>
                <a:gd name="adj" fmla="val 50000"/>
              </a:avLst>
            </a:prstGeom>
            <a:noFill/>
            <a:ln w="11906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バリュー1"/>
            <p:cNvSpPr/>
            <p:nvPr/>
          </p:nvSpPr>
          <p:spPr>
            <a:xfrm>
              <a:off x="2857500" y="4619625"/>
              <a:ext cx="19050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現場起点</a:t>
              </a:r>
            </a:p>
          </p:txBody>
        </p:sp>
        <p:sp>
          <p:nvSpPr>
            <p:cNvPr id="19" name="バリューチップ2"/>
            <p:cNvSpPr/>
            <p:nvPr/>
          </p:nvSpPr>
          <p:spPr>
            <a:xfrm>
              <a:off x="5143500" y="4610100"/>
              <a:ext cx="1905000" cy="438150"/>
            </a:xfrm>
            <a:prstGeom prst="roundRect">
              <a:avLst>
                <a:gd name="adj" fmla="val 50000"/>
              </a:avLst>
            </a:prstGeom>
            <a:noFill/>
            <a:ln w="11906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バリュー2"/>
            <p:cNvSpPr/>
            <p:nvPr/>
          </p:nvSpPr>
          <p:spPr>
            <a:xfrm>
              <a:off x="5143500" y="4619625"/>
              <a:ext cx="19050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誠実な提案</a:t>
              </a:r>
            </a:p>
          </p:txBody>
        </p:sp>
        <p:sp>
          <p:nvSpPr>
            <p:cNvPr id="21" name="バリューチップ3"/>
            <p:cNvSpPr/>
            <p:nvPr/>
          </p:nvSpPr>
          <p:spPr>
            <a:xfrm>
              <a:off x="7429500" y="4610100"/>
              <a:ext cx="1905000" cy="438150"/>
            </a:xfrm>
            <a:prstGeom prst="roundRect">
              <a:avLst>
                <a:gd name="adj" fmla="val 50000"/>
              </a:avLst>
            </a:prstGeom>
            <a:noFill/>
            <a:ln w="11906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バリュー3"/>
            <p:cNvSpPr/>
            <p:nvPr/>
          </p:nvSpPr>
          <p:spPr>
            <a:xfrm>
              <a:off x="7429500" y="4619625"/>
              <a:ext cx="19050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継続改善</a:t>
              </a:r>
            </a:p>
          </p:txBody>
        </p:sp>
      </p:grpSp>
      <p:grpSp>
        <p:nvGrpSpPr>
          <p:cNvPr id="23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24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4"/>
                  </a:solidFill>
                </a:rPr>
                <a:t>ミッション・ビジョン・バリューの文言はサンプルです</a:t>
              </a:r>
            </a:p>
          </p:txBody>
        </p:sp>
        <p:sp>
          <p:nvSpPr>
            <p:cNvPr id="25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設立12年・社員280名、現場ITの専業会社です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03｜会社概要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会社概要（2026年6月30日時点）</a:t>
              </a:r>
            </a:p>
          </p:txBody>
        </p:sp>
      </p:grpSp>
      <p:grpSp>
        <p:nvGrpSpPr>
          <p:cNvPr id="8" name="会社概要_表左"/>
          <p:cNvGrpSpPr/>
          <p:nvPr/>
        </p:nvGrpSpPr>
        <p:grpSpPr>
          <a:xfrm>
            <a:off x="609600" y="1257300"/>
            <a:ext cx="5143500" cy="2286000"/>
            <a:chOff x="609600" y="1257300"/>
            <a:chExt cx="5143500" cy="2286000"/>
          </a:xfrm>
        </p:grpSpPr>
        <p:cxnSp>
          <p:nvCxnSpPr>
            <p:cNvPr id="9" name="罫線上端"/>
            <p:cNvCxnSpPr/>
            <p:nvPr/>
          </p:nvCxnSpPr>
          <p:spPr>
            <a:xfrm>
              <a:off x="609600" y="12573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項目_会社名"/>
            <p:cNvSpPr/>
            <p:nvPr/>
          </p:nvSpPr>
          <p:spPr>
            <a:xfrm>
              <a:off x="647700" y="1257300"/>
              <a:ext cx="1333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会社名</a:t>
              </a:r>
            </a:p>
          </p:txBody>
        </p:sp>
        <p:sp>
          <p:nvSpPr>
            <p:cNvPr id="11" name="内容_会社名"/>
            <p:cNvSpPr/>
            <p:nvPr/>
          </p:nvSpPr>
          <p:spPr>
            <a:xfrm>
              <a:off x="2095500" y="1257300"/>
              <a:ext cx="3619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株式会社サンプル</a:t>
              </a:r>
            </a:p>
          </p:txBody>
        </p:sp>
        <p:cxnSp>
          <p:nvCxnSpPr>
            <p:cNvPr id="12" name="罫線1"/>
            <p:cNvCxnSpPr/>
            <p:nvPr/>
          </p:nvCxnSpPr>
          <p:spPr>
            <a:xfrm>
              <a:off x="609600" y="18288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項目_設立"/>
            <p:cNvSpPr/>
            <p:nvPr/>
          </p:nvSpPr>
          <p:spPr>
            <a:xfrm>
              <a:off x="647700" y="1828800"/>
              <a:ext cx="1333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設立</a:t>
              </a:r>
            </a:p>
          </p:txBody>
        </p:sp>
        <p:sp>
          <p:nvSpPr>
            <p:cNvPr id="14" name="内容_設立"/>
            <p:cNvSpPr/>
            <p:nvPr/>
          </p:nvSpPr>
          <p:spPr>
            <a:xfrm>
              <a:off x="2095500" y="1828800"/>
              <a:ext cx="3619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2014年4月</a:t>
              </a:r>
            </a:p>
          </p:txBody>
        </p:sp>
        <p:cxnSp>
          <p:nvCxnSpPr>
            <p:cNvPr id="15" name="罫線2"/>
            <p:cNvCxnSpPr/>
            <p:nvPr/>
          </p:nvCxnSpPr>
          <p:spPr>
            <a:xfrm>
              <a:off x="609600" y="24003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項目_代表者"/>
            <p:cNvSpPr/>
            <p:nvPr/>
          </p:nvSpPr>
          <p:spPr>
            <a:xfrm>
              <a:off x="647700" y="2400300"/>
              <a:ext cx="1333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代表者</a:t>
              </a:r>
            </a:p>
          </p:txBody>
        </p:sp>
        <p:sp>
          <p:nvSpPr>
            <p:cNvPr id="17" name="内容_代表者"/>
            <p:cNvSpPr/>
            <p:nvPr/>
          </p:nvSpPr>
          <p:spPr>
            <a:xfrm>
              <a:off x="2095500" y="2400300"/>
              <a:ext cx="3619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代表取締役社長　見本 太郎</a:t>
              </a:r>
            </a:p>
          </p:txBody>
        </p:sp>
        <p:cxnSp>
          <p:nvCxnSpPr>
            <p:cNvPr id="18" name="罫線3"/>
            <p:cNvCxnSpPr/>
            <p:nvPr/>
          </p:nvCxnSpPr>
          <p:spPr>
            <a:xfrm>
              <a:off x="609600" y="29718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項目_資本金"/>
            <p:cNvSpPr/>
            <p:nvPr/>
          </p:nvSpPr>
          <p:spPr>
            <a:xfrm>
              <a:off x="647700" y="2971800"/>
              <a:ext cx="1333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資本金</a:t>
              </a:r>
            </a:p>
          </p:txBody>
        </p:sp>
        <p:sp>
          <p:nvSpPr>
            <p:cNvPr id="20" name="内容_資本金"/>
            <p:cNvSpPr/>
            <p:nvPr/>
          </p:nvSpPr>
          <p:spPr>
            <a:xfrm>
              <a:off x="2095500" y="2971800"/>
              <a:ext cx="3619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3億2,000万円</a:t>
              </a:r>
            </a:p>
          </p:txBody>
        </p:sp>
        <p:cxnSp>
          <p:nvCxnSpPr>
            <p:cNvPr id="21" name="罫線4"/>
            <p:cNvCxnSpPr/>
            <p:nvPr/>
          </p:nvCxnSpPr>
          <p:spPr>
            <a:xfrm>
              <a:off x="609600" y="35433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会社概要_表右"/>
          <p:cNvGrpSpPr/>
          <p:nvPr/>
        </p:nvGrpSpPr>
        <p:grpSpPr>
          <a:xfrm>
            <a:off x="6438900" y="1257300"/>
            <a:ext cx="5143500" cy="2286000"/>
            <a:chOff x="6438900" y="1257300"/>
            <a:chExt cx="5143500" cy="2286000"/>
          </a:xfrm>
        </p:grpSpPr>
        <p:cxnSp>
          <p:nvCxnSpPr>
            <p:cNvPr id="23" name="罫線上端"/>
            <p:cNvCxnSpPr/>
            <p:nvPr/>
          </p:nvCxnSpPr>
          <p:spPr>
            <a:xfrm>
              <a:off x="6438900" y="12573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項目_本社所在地"/>
            <p:cNvSpPr/>
            <p:nvPr/>
          </p:nvSpPr>
          <p:spPr>
            <a:xfrm>
              <a:off x="6477000" y="1257300"/>
              <a:ext cx="1333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本社所在地</a:t>
              </a:r>
            </a:p>
          </p:txBody>
        </p:sp>
        <p:sp>
          <p:nvSpPr>
            <p:cNvPr id="25" name="内容_本社所在地"/>
            <p:cNvSpPr/>
            <p:nvPr/>
          </p:nvSpPr>
          <p:spPr>
            <a:xfrm>
              <a:off x="7924800" y="1257300"/>
              <a:ext cx="3619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東京都サンプル区見本町1-2-3</a:t>
              </a:r>
            </a:p>
          </p:txBody>
        </p:sp>
        <p:cxnSp>
          <p:nvCxnSpPr>
            <p:cNvPr id="26" name="罫線1"/>
            <p:cNvCxnSpPr/>
            <p:nvPr/>
          </p:nvCxnSpPr>
          <p:spPr>
            <a:xfrm>
              <a:off x="6438900" y="18288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項目_従業員数"/>
            <p:cNvSpPr/>
            <p:nvPr/>
          </p:nvSpPr>
          <p:spPr>
            <a:xfrm>
              <a:off x="6477000" y="1828800"/>
              <a:ext cx="1333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従業員数</a:t>
              </a:r>
            </a:p>
          </p:txBody>
        </p:sp>
        <p:sp>
          <p:nvSpPr>
            <p:cNvPr id="28" name="内容_従業員数"/>
            <p:cNvSpPr/>
            <p:nvPr/>
          </p:nvSpPr>
          <p:spPr>
            <a:xfrm>
              <a:off x="7924800" y="1828800"/>
              <a:ext cx="3619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280名（2026年6月時点）</a:t>
              </a:r>
            </a:p>
          </p:txBody>
        </p:sp>
        <p:cxnSp>
          <p:nvCxnSpPr>
            <p:cNvPr id="29" name="罫線2"/>
            <p:cNvCxnSpPr/>
            <p:nvPr/>
          </p:nvCxnSpPr>
          <p:spPr>
            <a:xfrm>
              <a:off x="6438900" y="24003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項目_事業内容"/>
            <p:cNvSpPr/>
            <p:nvPr/>
          </p:nvSpPr>
          <p:spPr>
            <a:xfrm>
              <a:off x="6477000" y="2400300"/>
              <a:ext cx="1333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事業内容</a:t>
              </a:r>
            </a:p>
          </p:txBody>
        </p:sp>
        <p:sp>
          <p:nvSpPr>
            <p:cNvPr id="31" name="内容_事業内容"/>
            <p:cNvSpPr/>
            <p:nvPr/>
          </p:nvSpPr>
          <p:spPr>
            <a:xfrm>
              <a:off x="7924800" y="2400300"/>
              <a:ext cx="3619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システム開発／クラウドサービス／データ活用支援</a:t>
              </a:r>
            </a:p>
          </p:txBody>
        </p:sp>
        <p:cxnSp>
          <p:nvCxnSpPr>
            <p:cNvPr id="32" name="罫線3"/>
            <p:cNvCxnSpPr/>
            <p:nvPr/>
          </p:nvCxnSpPr>
          <p:spPr>
            <a:xfrm>
              <a:off x="6438900" y="29718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項目_拠点"/>
            <p:cNvSpPr/>
            <p:nvPr/>
          </p:nvSpPr>
          <p:spPr>
            <a:xfrm>
              <a:off x="6477000" y="2971800"/>
              <a:ext cx="1333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拠点</a:t>
              </a:r>
            </a:p>
          </p:txBody>
        </p:sp>
        <p:sp>
          <p:nvSpPr>
            <p:cNvPr id="34" name="内容_拠点"/>
            <p:cNvSpPr/>
            <p:nvPr/>
          </p:nvSpPr>
          <p:spPr>
            <a:xfrm>
              <a:off x="7924800" y="2971800"/>
              <a:ext cx="3619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全国5拠点（東京・大阪・名古屋・福岡・仙台）</a:t>
              </a:r>
            </a:p>
          </p:txBody>
        </p:sp>
        <p:cxnSp>
          <p:nvCxnSpPr>
            <p:cNvPr id="35" name="罫線4"/>
            <p:cNvCxnSpPr/>
            <p:nvPr/>
          </p:nvCxnSpPr>
          <p:spPr>
            <a:xfrm>
              <a:off x="6438900" y="35433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会社概要_認証"/>
          <p:cNvGrpSpPr/>
          <p:nvPr/>
        </p:nvGrpSpPr>
        <p:grpSpPr>
          <a:xfrm>
            <a:off x="609600" y="4038600"/>
            <a:ext cx="7486650" cy="628650"/>
            <a:chOff x="609600" y="4038600"/>
            <a:chExt cx="7486650" cy="628650"/>
          </a:xfrm>
        </p:grpSpPr>
        <p:sp>
          <p:nvSpPr>
            <p:cNvPr id="37" name="小見出し"/>
            <p:cNvSpPr/>
            <p:nvPr/>
          </p:nvSpPr>
          <p:spPr>
            <a:xfrm>
              <a:off x="609600" y="4038600"/>
              <a:ext cx="476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登録・認証</a:t>
              </a:r>
            </a:p>
          </p:txBody>
        </p:sp>
        <p:sp>
          <p:nvSpPr>
            <p:cNvPr id="38" name="認証チップ1"/>
            <p:cNvSpPr/>
            <p:nvPr/>
          </p:nvSpPr>
          <p:spPr>
            <a:xfrm>
              <a:off x="609600" y="4286250"/>
              <a:ext cx="2381250" cy="381000"/>
            </a:xfrm>
            <a:prstGeom prst="roundRect">
              <a:avLst>
                <a:gd name="adj" fmla="val 5000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認証1"/>
            <p:cNvSpPr/>
            <p:nvPr/>
          </p:nvSpPr>
          <p:spPr>
            <a:xfrm>
              <a:off x="609600" y="4295775"/>
              <a:ext cx="238125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ISO/IEC 27001（ISMS）</a:t>
              </a:r>
            </a:p>
          </p:txBody>
        </p:sp>
        <p:sp>
          <p:nvSpPr>
            <p:cNvPr id="40" name="認証チップ2"/>
            <p:cNvSpPr/>
            <p:nvPr/>
          </p:nvSpPr>
          <p:spPr>
            <a:xfrm>
              <a:off x="3162300" y="4286250"/>
              <a:ext cx="2381250" cy="381000"/>
            </a:xfrm>
            <a:prstGeom prst="roundRect">
              <a:avLst>
                <a:gd name="adj" fmla="val 5000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認証2"/>
            <p:cNvSpPr/>
            <p:nvPr/>
          </p:nvSpPr>
          <p:spPr>
            <a:xfrm>
              <a:off x="3162300" y="4295775"/>
              <a:ext cx="238125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プライバシーマーク</a:t>
              </a:r>
            </a:p>
          </p:txBody>
        </p:sp>
        <p:sp>
          <p:nvSpPr>
            <p:cNvPr id="42" name="認証チップ3"/>
            <p:cNvSpPr/>
            <p:nvPr/>
          </p:nvSpPr>
          <p:spPr>
            <a:xfrm>
              <a:off x="5715000" y="4286250"/>
              <a:ext cx="2381250" cy="381000"/>
            </a:xfrm>
            <a:prstGeom prst="roundRect">
              <a:avLst>
                <a:gd name="adj" fmla="val 5000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認証3"/>
            <p:cNvSpPr/>
            <p:nvPr/>
          </p:nvSpPr>
          <p:spPr>
            <a:xfrm>
              <a:off x="5715000" y="4295775"/>
              <a:ext cx="238125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健康経営優良法人</a:t>
              </a:r>
            </a:p>
          </p:txBody>
        </p:sp>
      </p:grpSp>
      <p:grpSp>
        <p:nvGrpSpPr>
          <p:cNvPr id="44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45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注：社名・所在地・数値はすべて架空のサンプルです</a:t>
              </a:r>
            </a:p>
          </p:txBody>
        </p:sp>
        <p:sp>
          <p:nvSpPr>
            <p:cNvPr id="46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出所：株式会社サンプル 会社資料（2026年6月）</a:t>
              </a:r>
            </a:p>
          </p:txBody>
        </p:sp>
        <p:sp>
          <p:nvSpPr>
            <p:cNvPr id="47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顧客の課題の広がりとともに、事業を広げてきました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04｜沿革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沿革（2014–2026）</a:t>
              </a:r>
            </a:p>
          </p:txBody>
        </p:sp>
      </p:grpSp>
      <p:grpSp>
        <p:nvGrpSpPr>
          <p:cNvPr id="8" name="沿革_フェーズ帯"/>
          <p:cNvGrpSpPr/>
          <p:nvPr/>
        </p:nvGrpSpPr>
        <p:grpSpPr>
          <a:xfrm>
            <a:off x="609600" y="1181100"/>
            <a:ext cx="10972800" cy="247650"/>
            <a:chOff x="609600" y="1181100"/>
            <a:chExt cx="10972800" cy="247650"/>
          </a:xfrm>
        </p:grpSpPr>
        <p:sp>
          <p:nvSpPr>
            <p:cNvPr id="9" name="帯_創業期"/>
            <p:cNvSpPr/>
            <p:nvPr/>
          </p:nvSpPr>
          <p:spPr>
            <a:xfrm>
              <a:off x="619125" y="1181100"/>
              <a:ext cx="363855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帯名_創業期"/>
            <p:cNvSpPr/>
            <p:nvPr/>
          </p:nvSpPr>
          <p:spPr>
            <a:xfrm>
              <a:off x="609600" y="1190625"/>
              <a:ext cx="3657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創業期（2014–2017）</a:t>
              </a:r>
            </a:p>
          </p:txBody>
        </p:sp>
        <p:sp>
          <p:nvSpPr>
            <p:cNvPr id="11" name="帯_拡大期"/>
            <p:cNvSpPr/>
            <p:nvPr/>
          </p:nvSpPr>
          <p:spPr>
            <a:xfrm>
              <a:off x="4276725" y="1181100"/>
              <a:ext cx="363855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帯名_拡大期"/>
            <p:cNvSpPr/>
            <p:nvPr/>
          </p:nvSpPr>
          <p:spPr>
            <a:xfrm>
              <a:off x="4267200" y="1190625"/>
              <a:ext cx="3657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拡大期（2018–2022）</a:t>
              </a:r>
            </a:p>
          </p:txBody>
        </p:sp>
        <p:sp>
          <p:nvSpPr>
            <p:cNvPr id="13" name="帯_変革期"/>
            <p:cNvSpPr/>
            <p:nvPr/>
          </p:nvSpPr>
          <p:spPr>
            <a:xfrm>
              <a:off x="7934325" y="1181100"/>
              <a:ext cx="3638550" cy="247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帯名_変革期"/>
            <p:cNvSpPr/>
            <p:nvPr/>
          </p:nvSpPr>
          <p:spPr>
            <a:xfrm>
              <a:off x="7924800" y="1190625"/>
              <a:ext cx="3657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変革期（2023–）</a:t>
              </a:r>
            </a:p>
          </p:txBody>
        </p:sp>
      </p:grpSp>
      <p:grpSp>
        <p:nvGrpSpPr>
          <p:cNvPr id="15" name="沿革_転機注記"/>
          <p:cNvGrpSpPr/>
          <p:nvPr/>
        </p:nvGrpSpPr>
        <p:grpSpPr>
          <a:xfrm>
            <a:off x="4838700" y="2000250"/>
            <a:ext cx="2514600" cy="552450"/>
            <a:chOff x="4838700" y="2000250"/>
            <a:chExt cx="2514600" cy="552450"/>
          </a:xfrm>
        </p:grpSpPr>
        <p:sp>
          <p:nvSpPr>
            <p:cNvPr id="16" name="転機吹き出し"/>
            <p:cNvSpPr/>
            <p:nvPr/>
          </p:nvSpPr>
          <p:spPr>
            <a:xfrm>
              <a:off x="4838700" y="2000250"/>
              <a:ext cx="2514600" cy="552450"/>
            </a:xfrm>
            <a:custGeom>
              <a:avLst/>
              <a:gdLst/>
              <a:ahLst/>
              <a:cxnLst/>
              <a:rect l="0" t="0" r="2514600" b="438150"/>
              <a:pathLst>
                <a:path w="2514600" h="552450">
                  <a:moveTo>
                    <a:pt x="76200" y="0"/>
                  </a:moveTo>
                  <a:lnTo>
                    <a:pt x="2438400" y="0"/>
                  </a:lnTo>
                  <a:arcTo wR="76200" hR="76200" stAng="16200000" swAng="5400000"/>
                  <a:lnTo>
                    <a:pt x="2514600" y="361950"/>
                  </a:lnTo>
                  <a:arcTo wR="76200" hR="76200" stAng="0" swAng="5400000"/>
                  <a:lnTo>
                    <a:pt x="1333500" y="438150"/>
                  </a:lnTo>
                  <a:lnTo>
                    <a:pt x="1257300" y="552450"/>
                  </a:lnTo>
                  <a:lnTo>
                    <a:pt x="1181100" y="438150"/>
                  </a:lnTo>
                  <a:lnTo>
                    <a:pt x="76200" y="43815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972050" y="2000250"/>
              <a:ext cx="22479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lt1"/>
                  </a:solidFill>
                </a:rPr>
                <a:t>転機：受託中心から自社サービスへ</a:t>
              </a:r>
            </a:p>
          </p:txBody>
        </p:sp>
      </p:grpSp>
      <p:grpSp>
        <p:nvGrpSpPr>
          <p:cNvPr id="18" name="沿革_タイムライン"/>
          <p:cNvGrpSpPr/>
          <p:nvPr/>
        </p:nvGrpSpPr>
        <p:grpSpPr>
          <a:xfrm>
            <a:off x="609599" y="2914650"/>
            <a:ext cx="10972801" cy="1466850"/>
            <a:chOff x="609599" y="2914650"/>
            <a:chExt cx="10972801" cy="1466850"/>
          </a:xfrm>
        </p:grpSpPr>
        <p:cxnSp>
          <p:nvCxnSpPr>
            <p:cNvPr id="19" name="時間軸"/>
            <p:cNvCxnSpPr/>
            <p:nvPr/>
          </p:nvCxnSpPr>
          <p:spPr>
            <a:xfrm>
              <a:off x="1706880" y="3352800"/>
              <a:ext cx="8778240" cy="0"/>
            </a:xfrm>
            <a:prstGeom prst="bentConnector3">
              <a:avLst/>
            </a:prstGeom>
            <a:ln w="19050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ノード2014"/>
            <p:cNvSpPr/>
            <p:nvPr/>
          </p:nvSpPr>
          <p:spPr>
            <a:xfrm>
              <a:off x="1630680" y="32766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年2014"/>
            <p:cNvSpPr/>
            <p:nvPr/>
          </p:nvSpPr>
          <p:spPr>
            <a:xfrm>
              <a:off x="609599" y="2914650"/>
              <a:ext cx="219456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accent1"/>
                  </a:solidFill>
                </a:rPr>
                <a:t>2014</a:t>
              </a:r>
            </a:p>
          </p:txBody>
        </p:sp>
        <p:sp>
          <p:nvSpPr>
            <p:cNvPr id="22" name="出来事2014"/>
            <p:cNvSpPr/>
            <p:nvPr/>
          </p:nvSpPr>
          <p:spPr>
            <a:xfrm>
              <a:off x="723899" y="3581400"/>
              <a:ext cx="196596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製造業向けの受託</a:t>
              </a:r>
            </a:p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システム開発で創業</a:t>
              </a:r>
            </a:p>
          </p:txBody>
        </p:sp>
        <p:sp>
          <p:nvSpPr>
            <p:cNvPr id="23" name="ノード2017"/>
            <p:cNvSpPr/>
            <p:nvPr/>
          </p:nvSpPr>
          <p:spPr>
            <a:xfrm>
              <a:off x="3825239" y="32766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年2017"/>
            <p:cNvSpPr/>
            <p:nvPr/>
          </p:nvSpPr>
          <p:spPr>
            <a:xfrm>
              <a:off x="2804160" y="2914650"/>
              <a:ext cx="219456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accent1"/>
                  </a:solidFill>
                </a:rPr>
                <a:t>2017</a:t>
              </a:r>
            </a:p>
          </p:txBody>
        </p:sp>
        <p:sp>
          <p:nvSpPr>
            <p:cNvPr id="25" name="出来事2017"/>
            <p:cNvSpPr/>
            <p:nvPr/>
          </p:nvSpPr>
          <p:spPr>
            <a:xfrm>
              <a:off x="2918460" y="3581400"/>
              <a:ext cx="196596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保守・運用サービス</a:t>
              </a:r>
            </a:p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を開始し安定収益化</a:t>
              </a:r>
            </a:p>
          </p:txBody>
        </p:sp>
        <p:sp>
          <p:nvSpPr>
            <p:cNvPr id="26" name="ノード2020"/>
            <p:cNvSpPr/>
            <p:nvPr/>
          </p:nvSpPr>
          <p:spPr>
            <a:xfrm>
              <a:off x="6019800" y="32766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年2020"/>
            <p:cNvSpPr/>
            <p:nvPr/>
          </p:nvSpPr>
          <p:spPr>
            <a:xfrm>
              <a:off x="4998720" y="2914650"/>
              <a:ext cx="219456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accent1"/>
                  </a:solidFill>
                </a:rPr>
                <a:t>2020</a:t>
              </a:r>
            </a:p>
          </p:txBody>
        </p:sp>
        <p:sp>
          <p:nvSpPr>
            <p:cNvPr id="28" name="出来事2020"/>
            <p:cNvSpPr/>
            <p:nvPr/>
          </p:nvSpPr>
          <p:spPr>
            <a:xfrm>
              <a:off x="5113020" y="3581400"/>
              <a:ext cx="196596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自社クラウド</a:t>
              </a:r>
            </a:p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「Sample Cloud」提供開始</a:t>
              </a:r>
            </a:p>
          </p:txBody>
        </p:sp>
        <p:sp>
          <p:nvSpPr>
            <p:cNvPr id="29" name="ノード2023"/>
            <p:cNvSpPr/>
            <p:nvPr/>
          </p:nvSpPr>
          <p:spPr>
            <a:xfrm>
              <a:off x="8214360" y="32766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年2023"/>
            <p:cNvSpPr/>
            <p:nvPr/>
          </p:nvSpPr>
          <p:spPr>
            <a:xfrm>
              <a:off x="7193280" y="2914650"/>
              <a:ext cx="219456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accent1"/>
                  </a:solidFill>
                </a:rPr>
                <a:t>2023</a:t>
              </a:r>
            </a:p>
          </p:txBody>
        </p:sp>
        <p:sp>
          <p:nvSpPr>
            <p:cNvPr id="31" name="出来事2023"/>
            <p:cNvSpPr/>
            <p:nvPr/>
          </p:nvSpPr>
          <p:spPr>
            <a:xfrm>
              <a:off x="7307580" y="3581400"/>
              <a:ext cx="196596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データ活用支援</a:t>
              </a:r>
            </a:p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事業に参入</a:t>
              </a:r>
            </a:p>
          </p:txBody>
        </p:sp>
        <p:sp>
          <p:nvSpPr>
            <p:cNvPr id="32" name="ノード2026"/>
            <p:cNvSpPr/>
            <p:nvPr/>
          </p:nvSpPr>
          <p:spPr>
            <a:xfrm>
              <a:off x="10408920" y="32766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年2026"/>
            <p:cNvSpPr/>
            <p:nvPr/>
          </p:nvSpPr>
          <p:spPr>
            <a:xfrm>
              <a:off x="9387840" y="2914650"/>
              <a:ext cx="219456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accent1"/>
                  </a:solidFill>
                </a:rPr>
                <a:t>2026</a:t>
              </a:r>
            </a:p>
          </p:txBody>
        </p:sp>
        <p:sp>
          <p:nvSpPr>
            <p:cNvPr id="34" name="出来事2026"/>
            <p:cNvSpPr/>
            <p:nvPr/>
          </p:nvSpPr>
          <p:spPr>
            <a:xfrm>
              <a:off x="9502140" y="3581400"/>
              <a:ext cx="196596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取引420社・</a:t>
              </a:r>
            </a:p>
            <a:p>
              <a:pPr algn="ctr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社員280名に拡大</a:t>
              </a:r>
            </a:p>
          </p:txBody>
        </p:sp>
      </p:grpSp>
      <p:grpSp>
        <p:nvGrpSpPr>
          <p:cNvPr id="35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36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注：年・出来事はサンプルです</a:t>
              </a:r>
            </a:p>
          </p:txBody>
        </p:sp>
        <p:sp>
          <p:nvSpPr>
            <p:cNvPr id="37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出所：株式会社サンプル 会社資料</a:t>
              </a:r>
            </a:p>
          </p:txBody>
        </p:sp>
        <p:sp>
          <p:nvSpPr>
            <p:cNvPr id="38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3つの事業で、開発から活用までを一気通貫で担います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05｜事業内容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事業セグメントと売上構成比（FY2025・サンプル値）</a:t>
              </a:r>
            </a:p>
          </p:txBody>
        </p:sp>
      </p:grpSp>
      <p:grpSp>
        <p:nvGrpSpPr>
          <p:cNvPr id="8" name="事業カード01_システム開発"/>
          <p:cNvGrpSpPr/>
          <p:nvPr/>
        </p:nvGrpSpPr>
        <p:grpSpPr>
          <a:xfrm>
            <a:off x="609600" y="1219200"/>
            <a:ext cx="3429000" cy="3581400"/>
            <a:chOff x="609600" y="1219200"/>
            <a:chExt cx="3429000" cy="3581400"/>
          </a:xfrm>
        </p:grpSpPr>
        <p:sp>
          <p:nvSpPr>
            <p:cNvPr id="9" name="カード"/>
            <p:cNvSpPr/>
            <p:nvPr/>
          </p:nvSpPr>
          <p:spPr>
            <a:xfrm>
              <a:off x="609600" y="1219200"/>
              <a:ext cx="3429000" cy="3581400"/>
            </a:xfrm>
            <a:prstGeom prst="roundRect">
              <a:avLst>
                <a:gd name="adj" fmla="val 277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番号"/>
            <p:cNvSpPr/>
            <p:nvPr/>
          </p:nvSpPr>
          <p:spPr>
            <a:xfrm>
              <a:off x="857250" y="1428750"/>
              <a:ext cx="1143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400" b="1">
                  <a:solidFill>
                    <a:schemeClr val="accent1"/>
                  </a:solidFill>
                </a:rPr>
                <a:t>01</a:t>
              </a:r>
            </a:p>
          </p:txBody>
        </p:sp>
        <p:sp>
          <p:nvSpPr>
            <p:cNvPr id="11" name="役割チップ"/>
            <p:cNvSpPr/>
            <p:nvPr/>
          </p:nvSpPr>
          <p:spPr>
            <a:xfrm>
              <a:off x="2914650" y="146685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役割"/>
            <p:cNvSpPr/>
            <p:nvPr/>
          </p:nvSpPr>
          <p:spPr>
            <a:xfrm>
              <a:off x="2914650" y="1476375"/>
              <a:ext cx="8763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つくる</a:t>
              </a:r>
            </a:p>
          </p:txBody>
        </p:sp>
        <p:sp>
          <p:nvSpPr>
            <p:cNvPr id="13" name="事業名"/>
            <p:cNvSpPr/>
            <p:nvPr/>
          </p:nvSpPr>
          <p:spPr>
            <a:xfrm>
              <a:off x="857250" y="1847850"/>
              <a:ext cx="2933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システム開発事業</a:t>
              </a:r>
            </a:p>
          </p:txBody>
        </p:sp>
        <p:cxnSp>
          <p:nvCxnSpPr>
            <p:cNvPr id="14" name="仕切り線"/>
            <p:cNvCxnSpPr/>
            <p:nvPr/>
          </p:nvCxnSpPr>
          <p:spPr>
            <a:xfrm>
              <a:off x="857250" y="220980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説明"/>
            <p:cNvSpPr/>
            <p:nvPr/>
          </p:nvSpPr>
          <p:spPr>
            <a:xfrm>
              <a:off x="857250" y="2362200"/>
              <a:ext cx="2933700" cy="1428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製造・物流の基幹／現場システムを、</a:t>
              </a:r>
            </a:p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要件定義から運用まで一括で受託。</a:t>
              </a:r>
            </a:p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累計600件超の開発実績。</a:t>
              </a:r>
            </a:p>
          </p:txBody>
        </p:sp>
        <p:sp>
          <p:nvSpPr>
            <p:cNvPr id="16" name="構成比ラベル"/>
            <p:cNvSpPr/>
            <p:nvPr/>
          </p:nvSpPr>
          <p:spPr>
            <a:xfrm>
              <a:off x="857250" y="400050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売上構成比</a:t>
              </a:r>
            </a:p>
          </p:txBody>
        </p:sp>
        <p:sp>
          <p:nvSpPr>
            <p:cNvPr id="17" name="構成比値"/>
            <p:cNvSpPr/>
            <p:nvPr/>
          </p:nvSpPr>
          <p:spPr>
            <a:xfrm>
              <a:off x="3028950" y="3962400"/>
              <a:ext cx="762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400" b="1">
                  <a:solidFill>
                    <a:schemeClr val="accent1"/>
                  </a:solidFill>
                </a:rPr>
                <a:t>55%</a:t>
              </a:r>
            </a:p>
          </p:txBody>
        </p:sp>
        <p:sp>
          <p:nvSpPr>
            <p:cNvPr id="18" name="構成比トラック"/>
            <p:cNvSpPr/>
            <p:nvPr/>
          </p:nvSpPr>
          <p:spPr>
            <a:xfrm>
              <a:off x="857250" y="4267200"/>
              <a:ext cx="2933700" cy="133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構成比バー"/>
            <p:cNvSpPr/>
            <p:nvPr/>
          </p:nvSpPr>
          <p:spPr>
            <a:xfrm>
              <a:off x="857250" y="4267200"/>
              <a:ext cx="1613535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事業カード02_クラウドサー"/>
          <p:cNvGrpSpPr/>
          <p:nvPr/>
        </p:nvGrpSpPr>
        <p:grpSpPr>
          <a:xfrm>
            <a:off x="4381500" y="1219200"/>
            <a:ext cx="3429000" cy="3581400"/>
            <a:chOff x="4381500" y="1219200"/>
            <a:chExt cx="3429000" cy="3581400"/>
          </a:xfrm>
        </p:grpSpPr>
        <p:sp>
          <p:nvSpPr>
            <p:cNvPr id="21" name="カード"/>
            <p:cNvSpPr/>
            <p:nvPr/>
          </p:nvSpPr>
          <p:spPr>
            <a:xfrm>
              <a:off x="4381500" y="1219200"/>
              <a:ext cx="3429000" cy="3581400"/>
            </a:xfrm>
            <a:prstGeom prst="roundRect">
              <a:avLst>
                <a:gd name="adj" fmla="val 277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番号"/>
            <p:cNvSpPr/>
            <p:nvPr/>
          </p:nvSpPr>
          <p:spPr>
            <a:xfrm>
              <a:off x="4629150" y="1428750"/>
              <a:ext cx="1143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400" b="1">
                  <a:solidFill>
                    <a:schemeClr val="accent1"/>
                  </a:solidFill>
                </a:rPr>
                <a:t>02</a:t>
              </a:r>
            </a:p>
          </p:txBody>
        </p:sp>
        <p:sp>
          <p:nvSpPr>
            <p:cNvPr id="23" name="役割チップ"/>
            <p:cNvSpPr/>
            <p:nvPr/>
          </p:nvSpPr>
          <p:spPr>
            <a:xfrm>
              <a:off x="6686550" y="146685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役割"/>
            <p:cNvSpPr/>
            <p:nvPr/>
          </p:nvSpPr>
          <p:spPr>
            <a:xfrm>
              <a:off x="6686550" y="1476375"/>
              <a:ext cx="8763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ささえる</a:t>
              </a:r>
            </a:p>
          </p:txBody>
        </p:sp>
        <p:sp>
          <p:nvSpPr>
            <p:cNvPr id="25" name="事業名"/>
            <p:cNvSpPr/>
            <p:nvPr/>
          </p:nvSpPr>
          <p:spPr>
            <a:xfrm>
              <a:off x="4629150" y="1847850"/>
              <a:ext cx="2933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クラウドサービス事業</a:t>
              </a:r>
            </a:p>
          </p:txBody>
        </p:sp>
        <p:cxnSp>
          <p:nvCxnSpPr>
            <p:cNvPr id="26" name="仕切り線"/>
            <p:cNvCxnSpPr/>
            <p:nvPr/>
          </p:nvCxnSpPr>
          <p:spPr>
            <a:xfrm>
              <a:off x="4629150" y="220980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説明"/>
            <p:cNvSpPr/>
            <p:nvPr/>
          </p:nvSpPr>
          <p:spPr>
            <a:xfrm>
              <a:off x="4629150" y="2362200"/>
              <a:ext cx="2933700" cy="1428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現場帳票・設備点検をデジタル化する</a:t>
              </a:r>
            </a:p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自社SaaS「Sample Cloud」を提供。</a:t>
              </a:r>
            </a:p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有償利用は310社。</a:t>
              </a:r>
            </a:p>
          </p:txBody>
        </p:sp>
        <p:sp>
          <p:nvSpPr>
            <p:cNvPr id="28" name="構成比ラベル"/>
            <p:cNvSpPr/>
            <p:nvPr/>
          </p:nvSpPr>
          <p:spPr>
            <a:xfrm>
              <a:off x="4629150" y="400050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売上構成比</a:t>
              </a:r>
            </a:p>
          </p:txBody>
        </p:sp>
        <p:sp>
          <p:nvSpPr>
            <p:cNvPr id="29" name="構成比値"/>
            <p:cNvSpPr/>
            <p:nvPr/>
          </p:nvSpPr>
          <p:spPr>
            <a:xfrm>
              <a:off x="6800850" y="3962400"/>
              <a:ext cx="762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400" b="1">
                  <a:solidFill>
                    <a:schemeClr val="accent1"/>
                  </a:solidFill>
                </a:rPr>
                <a:t>35%</a:t>
              </a:r>
            </a:p>
          </p:txBody>
        </p:sp>
        <p:sp>
          <p:nvSpPr>
            <p:cNvPr id="30" name="構成比トラック"/>
            <p:cNvSpPr/>
            <p:nvPr/>
          </p:nvSpPr>
          <p:spPr>
            <a:xfrm>
              <a:off x="4629150" y="4267200"/>
              <a:ext cx="2933700" cy="133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構成比バー"/>
            <p:cNvSpPr/>
            <p:nvPr/>
          </p:nvSpPr>
          <p:spPr>
            <a:xfrm>
              <a:off x="4629150" y="4267200"/>
              <a:ext cx="1026795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" name="事業カード03_データ活用支"/>
          <p:cNvGrpSpPr/>
          <p:nvPr/>
        </p:nvGrpSpPr>
        <p:grpSpPr>
          <a:xfrm>
            <a:off x="8153400" y="1219200"/>
            <a:ext cx="3429000" cy="3581400"/>
            <a:chOff x="8153400" y="1219200"/>
            <a:chExt cx="3429000" cy="3581400"/>
          </a:xfrm>
        </p:grpSpPr>
        <p:sp>
          <p:nvSpPr>
            <p:cNvPr id="33" name="カード"/>
            <p:cNvSpPr/>
            <p:nvPr/>
          </p:nvSpPr>
          <p:spPr>
            <a:xfrm>
              <a:off x="8153400" y="1219200"/>
              <a:ext cx="3429000" cy="3581400"/>
            </a:xfrm>
            <a:prstGeom prst="roundRect">
              <a:avLst>
                <a:gd name="adj" fmla="val 277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番号"/>
            <p:cNvSpPr/>
            <p:nvPr/>
          </p:nvSpPr>
          <p:spPr>
            <a:xfrm>
              <a:off x="8401050" y="1428750"/>
              <a:ext cx="11430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400" b="1">
                  <a:solidFill>
                    <a:schemeClr val="accent1"/>
                  </a:solidFill>
                </a:rPr>
                <a:t>03</a:t>
              </a:r>
            </a:p>
          </p:txBody>
        </p:sp>
        <p:sp>
          <p:nvSpPr>
            <p:cNvPr id="35" name="役割チップ"/>
            <p:cNvSpPr/>
            <p:nvPr/>
          </p:nvSpPr>
          <p:spPr>
            <a:xfrm>
              <a:off x="10458450" y="146685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役割"/>
            <p:cNvSpPr/>
            <p:nvPr/>
          </p:nvSpPr>
          <p:spPr>
            <a:xfrm>
              <a:off x="10458450" y="1476375"/>
              <a:ext cx="8763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いかす</a:t>
              </a:r>
            </a:p>
          </p:txBody>
        </p:sp>
        <p:sp>
          <p:nvSpPr>
            <p:cNvPr id="37" name="事業名"/>
            <p:cNvSpPr/>
            <p:nvPr/>
          </p:nvSpPr>
          <p:spPr>
            <a:xfrm>
              <a:off x="8401050" y="1847850"/>
              <a:ext cx="2933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データ活用支援事業</a:t>
              </a:r>
            </a:p>
          </p:txBody>
        </p:sp>
        <p:cxnSp>
          <p:nvCxnSpPr>
            <p:cNvPr id="38" name="仕切り線"/>
            <p:cNvCxnSpPr/>
            <p:nvPr/>
          </p:nvCxnSpPr>
          <p:spPr>
            <a:xfrm>
              <a:off x="8401050" y="220980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説明"/>
            <p:cNvSpPr/>
            <p:nvPr/>
          </p:nvSpPr>
          <p:spPr>
            <a:xfrm>
              <a:off x="8401050" y="2362200"/>
              <a:ext cx="2933700" cy="1428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現場に蓄積したデータの分析・</a:t>
              </a:r>
            </a:p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予測モデルの構築を伴走支援。</a:t>
              </a:r>
            </a:p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専任のデータ人材は40名。</a:t>
              </a:r>
            </a:p>
          </p:txBody>
        </p:sp>
        <p:sp>
          <p:nvSpPr>
            <p:cNvPr id="40" name="構成比ラベル"/>
            <p:cNvSpPr/>
            <p:nvPr/>
          </p:nvSpPr>
          <p:spPr>
            <a:xfrm>
              <a:off x="8401050" y="400050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売上構成比</a:t>
              </a:r>
            </a:p>
          </p:txBody>
        </p:sp>
        <p:sp>
          <p:nvSpPr>
            <p:cNvPr id="41" name="構成比値"/>
            <p:cNvSpPr/>
            <p:nvPr/>
          </p:nvSpPr>
          <p:spPr>
            <a:xfrm>
              <a:off x="10572750" y="3962400"/>
              <a:ext cx="762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400" b="1">
                  <a:solidFill>
                    <a:schemeClr val="accent1"/>
                  </a:solidFill>
                </a:rPr>
                <a:t>10%</a:t>
              </a:r>
            </a:p>
          </p:txBody>
        </p:sp>
        <p:sp>
          <p:nvSpPr>
            <p:cNvPr id="42" name="構成比トラック"/>
            <p:cNvSpPr/>
            <p:nvPr/>
          </p:nvSpPr>
          <p:spPr>
            <a:xfrm>
              <a:off x="8401050" y="4267200"/>
              <a:ext cx="2933700" cy="133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構成比バー"/>
            <p:cNvSpPr/>
            <p:nvPr/>
          </p:nvSpPr>
          <p:spPr>
            <a:xfrm>
              <a:off x="8401050" y="4267200"/>
              <a:ext cx="293370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事業_ポイント"/>
          <p:cNvGrpSpPr/>
          <p:nvPr/>
        </p:nvGrpSpPr>
        <p:grpSpPr>
          <a:xfrm>
            <a:off x="609600" y="5019675"/>
            <a:ext cx="10972800" cy="752475"/>
            <a:chOff x="609600" y="5019675"/>
            <a:chExt cx="10972800" cy="752475"/>
          </a:xfrm>
        </p:grpSpPr>
        <p:sp>
          <p:nvSpPr>
            <p:cNvPr id="45" name="ポイント枠"/>
            <p:cNvSpPr/>
            <p:nvPr/>
          </p:nvSpPr>
          <p:spPr>
            <a:xfrm>
              <a:off x="609600" y="5124450"/>
              <a:ext cx="10972800" cy="647700"/>
            </a:xfrm>
            <a:prstGeom prst="roundRect">
              <a:avLst>
                <a:gd name="adj" fmla="val 11764"/>
              </a:avLst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POINTバッジ"/>
            <p:cNvSpPr/>
            <p:nvPr/>
          </p:nvSpPr>
          <p:spPr>
            <a:xfrm>
              <a:off x="819150" y="5019675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バッジ文字"/>
            <p:cNvSpPr/>
            <p:nvPr/>
          </p:nvSpPr>
          <p:spPr>
            <a:xfrm>
              <a:off x="819150" y="5029200"/>
              <a:ext cx="6096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POINT</a:t>
              </a:r>
            </a:p>
          </p:txBody>
        </p:sp>
        <p:sp>
          <p:nvSpPr>
            <p:cNvPr id="48" name="ポイント文"/>
            <p:cNvSpPr/>
            <p:nvPr/>
          </p:nvSpPr>
          <p:spPr>
            <a:xfrm>
              <a:off x="838200" y="5200650"/>
              <a:ext cx="105156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>
                  <a:solidFill>
                    <a:schemeClr val="dk1"/>
                  </a:solidFill>
                </a:rPr>
                <a:t>3事業は同じ顧客の現場データでつながり、「つくる→ささえる→いかす」の循環で価値を高めます</a:t>
              </a:r>
            </a:p>
          </p:txBody>
        </p:sp>
      </p:grpSp>
      <p:grpSp>
        <p:nvGrpSpPr>
          <p:cNvPr id="49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50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注：構成比・実績値はサンプルです</a:t>
              </a:r>
            </a:p>
          </p:txBody>
        </p:sp>
        <p:sp>
          <p:nvSpPr>
            <p:cNvPr id="51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出所：自社決算データ（FY2025・サンプル）</a:t>
              </a:r>
            </a:p>
          </p:txBody>
        </p:sp>
        <p:sp>
          <p:nvSpPr>
            <p:cNvPr id="52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継続率98%。選ばれ続けてきたことが数字に表れています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06｜数字で見る当社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主要指標一覧（2026年6月時点・サンプル値）</a:t>
              </a:r>
            </a:p>
          </p:txBody>
        </p:sp>
      </p:grpSp>
      <p:grpSp>
        <p:nvGrpSpPr>
          <p:cNvPr id="8" name="KPIカード_取引社数"/>
          <p:cNvGrpSpPr/>
          <p:nvPr/>
        </p:nvGrpSpPr>
        <p:grpSpPr>
          <a:xfrm>
            <a:off x="609600" y="1257300"/>
            <a:ext cx="3429000" cy="1828800"/>
            <a:chOff x="609600" y="1257300"/>
            <a:chExt cx="3429000" cy="1828800"/>
          </a:xfrm>
        </p:grpSpPr>
        <p:sp>
          <p:nvSpPr>
            <p:cNvPr id="9" name="カード"/>
            <p:cNvSpPr/>
            <p:nvPr/>
          </p:nvSpPr>
          <p:spPr>
            <a:xfrm>
              <a:off x="609600" y="1257300"/>
              <a:ext cx="3429000" cy="1828800"/>
            </a:xfrm>
            <a:prstGeom prst="roundRect">
              <a:avLst>
                <a:gd name="adj" fmla="val 520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指標名"/>
            <p:cNvSpPr/>
            <p:nvPr/>
          </p:nvSpPr>
          <p:spPr>
            <a:xfrm>
              <a:off x="838200" y="14287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取引社数</a:t>
              </a:r>
            </a:p>
          </p:txBody>
        </p:sp>
        <p:sp>
          <p:nvSpPr>
            <p:cNvPr id="11" name="大数字"/>
            <p:cNvSpPr/>
            <p:nvPr/>
          </p:nvSpPr>
          <p:spPr>
            <a:xfrm>
              <a:off x="838200" y="1752600"/>
              <a:ext cx="1438275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400" b="1">
                  <a:solidFill>
                    <a:schemeClr val="dk2"/>
                  </a:solidFill>
                </a:rPr>
                <a:t>420</a:t>
              </a:r>
            </a:p>
          </p:txBody>
        </p:sp>
        <p:sp>
          <p:nvSpPr>
            <p:cNvPr id="12" name="単位"/>
            <p:cNvSpPr/>
            <p:nvPr/>
          </p:nvSpPr>
          <p:spPr>
            <a:xfrm>
              <a:off x="2200275" y="1981200"/>
              <a:ext cx="1609725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社</a:t>
              </a:r>
            </a:p>
          </p:txBody>
        </p:sp>
        <p:sp>
          <p:nvSpPr>
            <p:cNvPr id="13" name="補足"/>
            <p:cNvSpPr/>
            <p:nvPr/>
          </p:nvSpPr>
          <p:spPr>
            <a:xfrm>
              <a:off x="838200" y="27622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2014年比 8.4倍</a:t>
              </a:r>
            </a:p>
          </p:txBody>
        </p:sp>
      </p:grpSp>
      <p:grpSp>
        <p:nvGrpSpPr>
          <p:cNvPr id="14" name="KPIカード_サービス継続率"/>
          <p:cNvGrpSpPr/>
          <p:nvPr/>
        </p:nvGrpSpPr>
        <p:grpSpPr>
          <a:xfrm>
            <a:off x="4381500" y="1257300"/>
            <a:ext cx="3429000" cy="1828800"/>
            <a:chOff x="4381500" y="1257300"/>
            <a:chExt cx="3429000" cy="1828800"/>
          </a:xfrm>
        </p:grpSpPr>
        <p:sp>
          <p:nvSpPr>
            <p:cNvPr id="15" name="カード"/>
            <p:cNvSpPr/>
            <p:nvPr/>
          </p:nvSpPr>
          <p:spPr>
            <a:xfrm>
              <a:off x="4381500" y="1257300"/>
              <a:ext cx="3429000" cy="1828800"/>
            </a:xfrm>
            <a:prstGeom prst="roundRect">
              <a:avLst>
                <a:gd name="adj" fmla="val 5208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指標名"/>
            <p:cNvSpPr/>
            <p:nvPr/>
          </p:nvSpPr>
          <p:spPr>
            <a:xfrm>
              <a:off x="4610100" y="14287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4"/>
                  </a:solidFill>
                </a:rPr>
                <a:t>サービス継続率</a:t>
              </a:r>
            </a:p>
          </p:txBody>
        </p:sp>
        <p:sp>
          <p:nvSpPr>
            <p:cNvPr id="17" name="大数字"/>
            <p:cNvSpPr/>
            <p:nvPr/>
          </p:nvSpPr>
          <p:spPr>
            <a:xfrm>
              <a:off x="4610100" y="1752600"/>
              <a:ext cx="1604962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400" b="1">
                  <a:solidFill>
                    <a:schemeClr val="lt1"/>
                  </a:solidFill>
                </a:rPr>
                <a:t>98.2</a:t>
              </a:r>
            </a:p>
          </p:txBody>
        </p:sp>
        <p:sp>
          <p:nvSpPr>
            <p:cNvPr id="18" name="単位"/>
            <p:cNvSpPr/>
            <p:nvPr/>
          </p:nvSpPr>
          <p:spPr>
            <a:xfrm>
              <a:off x="6138862" y="1981200"/>
              <a:ext cx="1443037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%</a:t>
              </a:r>
            </a:p>
          </p:txBody>
        </p:sp>
        <p:sp>
          <p:nvSpPr>
            <p:cNvPr id="19" name="補足"/>
            <p:cNvSpPr/>
            <p:nvPr/>
          </p:nvSpPr>
          <p:spPr>
            <a:xfrm>
              <a:off x="4610100" y="27622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直近3期平均</a:t>
              </a:r>
            </a:p>
          </p:txBody>
        </p:sp>
      </p:grpSp>
      <p:grpSp>
        <p:nvGrpSpPr>
          <p:cNvPr id="20" name="KPIカード_社員数"/>
          <p:cNvGrpSpPr/>
          <p:nvPr/>
        </p:nvGrpSpPr>
        <p:grpSpPr>
          <a:xfrm>
            <a:off x="8153400" y="1257300"/>
            <a:ext cx="3429000" cy="1828800"/>
            <a:chOff x="8153400" y="1257300"/>
            <a:chExt cx="3429000" cy="1828800"/>
          </a:xfrm>
        </p:grpSpPr>
        <p:sp>
          <p:nvSpPr>
            <p:cNvPr id="21" name="カード"/>
            <p:cNvSpPr/>
            <p:nvPr/>
          </p:nvSpPr>
          <p:spPr>
            <a:xfrm>
              <a:off x="8153400" y="1257300"/>
              <a:ext cx="3429000" cy="1828800"/>
            </a:xfrm>
            <a:prstGeom prst="roundRect">
              <a:avLst>
                <a:gd name="adj" fmla="val 520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指標名"/>
            <p:cNvSpPr/>
            <p:nvPr/>
          </p:nvSpPr>
          <p:spPr>
            <a:xfrm>
              <a:off x="8382000" y="14287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社員数</a:t>
              </a:r>
            </a:p>
          </p:txBody>
        </p:sp>
        <p:sp>
          <p:nvSpPr>
            <p:cNvPr id="23" name="大数字"/>
            <p:cNvSpPr/>
            <p:nvPr/>
          </p:nvSpPr>
          <p:spPr>
            <a:xfrm>
              <a:off x="8382000" y="1752600"/>
              <a:ext cx="1438275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400" b="1">
                  <a:solidFill>
                    <a:schemeClr val="dk2"/>
                  </a:solidFill>
                </a:rPr>
                <a:t>280</a:t>
              </a:r>
            </a:p>
          </p:txBody>
        </p:sp>
        <p:sp>
          <p:nvSpPr>
            <p:cNvPr id="24" name="単位"/>
            <p:cNvSpPr/>
            <p:nvPr/>
          </p:nvSpPr>
          <p:spPr>
            <a:xfrm>
              <a:off x="9744075" y="1981200"/>
              <a:ext cx="1609725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名</a:t>
              </a:r>
            </a:p>
          </p:txBody>
        </p:sp>
        <p:sp>
          <p:nvSpPr>
            <p:cNvPr id="25" name="補足"/>
            <p:cNvSpPr/>
            <p:nvPr/>
          </p:nvSpPr>
          <p:spPr>
            <a:xfrm>
              <a:off x="8382000" y="27622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エンジニア比率 64%</a:t>
              </a:r>
            </a:p>
          </p:txBody>
        </p:sp>
      </p:grpSp>
      <p:grpSp>
        <p:nvGrpSpPr>
          <p:cNvPr id="26" name="KPIカード_拠点数"/>
          <p:cNvGrpSpPr/>
          <p:nvPr/>
        </p:nvGrpSpPr>
        <p:grpSpPr>
          <a:xfrm>
            <a:off x="609600" y="3276600"/>
            <a:ext cx="3429000" cy="1828800"/>
            <a:chOff x="609600" y="3276600"/>
            <a:chExt cx="3429000" cy="1828800"/>
          </a:xfrm>
        </p:grpSpPr>
        <p:sp>
          <p:nvSpPr>
            <p:cNvPr id="27" name="カード"/>
            <p:cNvSpPr/>
            <p:nvPr/>
          </p:nvSpPr>
          <p:spPr>
            <a:xfrm>
              <a:off x="609600" y="3276600"/>
              <a:ext cx="3429000" cy="1828800"/>
            </a:xfrm>
            <a:prstGeom prst="roundRect">
              <a:avLst>
                <a:gd name="adj" fmla="val 520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指標名"/>
            <p:cNvSpPr/>
            <p:nvPr/>
          </p:nvSpPr>
          <p:spPr>
            <a:xfrm>
              <a:off x="838200" y="34480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拠点数</a:t>
              </a:r>
            </a:p>
          </p:txBody>
        </p:sp>
        <p:sp>
          <p:nvSpPr>
            <p:cNvPr id="29" name="大数字"/>
            <p:cNvSpPr/>
            <p:nvPr/>
          </p:nvSpPr>
          <p:spPr>
            <a:xfrm>
              <a:off x="838200" y="3771900"/>
              <a:ext cx="581025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400" b="1">
                  <a:solidFill>
                    <a:schemeClr val="dk2"/>
                  </a:solidFill>
                </a:rPr>
                <a:t>5</a:t>
              </a:r>
            </a:p>
          </p:txBody>
        </p:sp>
        <p:sp>
          <p:nvSpPr>
            <p:cNvPr id="30" name="単位"/>
            <p:cNvSpPr/>
            <p:nvPr/>
          </p:nvSpPr>
          <p:spPr>
            <a:xfrm>
              <a:off x="1343025" y="4000500"/>
              <a:ext cx="2466975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拠点</a:t>
              </a:r>
            </a:p>
          </p:txBody>
        </p:sp>
        <p:sp>
          <p:nvSpPr>
            <p:cNvPr id="31" name="補足"/>
            <p:cNvSpPr/>
            <p:nvPr/>
          </p:nvSpPr>
          <p:spPr>
            <a:xfrm>
              <a:off x="838200" y="47815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東京・大阪・名古屋・福岡・仙台</a:t>
              </a:r>
            </a:p>
          </p:txBody>
        </p:sp>
      </p:grpSp>
      <p:grpSp>
        <p:nvGrpSpPr>
          <p:cNvPr id="32" name="KPIカード_平均勤続年数"/>
          <p:cNvGrpSpPr/>
          <p:nvPr/>
        </p:nvGrpSpPr>
        <p:grpSpPr>
          <a:xfrm>
            <a:off x="4381500" y="3276600"/>
            <a:ext cx="3429000" cy="1828800"/>
            <a:chOff x="4381500" y="3276600"/>
            <a:chExt cx="3429000" cy="1828800"/>
          </a:xfrm>
        </p:grpSpPr>
        <p:sp>
          <p:nvSpPr>
            <p:cNvPr id="33" name="カード"/>
            <p:cNvSpPr/>
            <p:nvPr/>
          </p:nvSpPr>
          <p:spPr>
            <a:xfrm>
              <a:off x="4381500" y="3276600"/>
              <a:ext cx="3429000" cy="1828800"/>
            </a:xfrm>
            <a:prstGeom prst="roundRect">
              <a:avLst>
                <a:gd name="adj" fmla="val 520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指標名"/>
            <p:cNvSpPr/>
            <p:nvPr/>
          </p:nvSpPr>
          <p:spPr>
            <a:xfrm>
              <a:off x="4610100" y="34480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平均勤続年数</a:t>
              </a:r>
            </a:p>
          </p:txBody>
        </p:sp>
        <p:sp>
          <p:nvSpPr>
            <p:cNvPr id="35" name="大数字"/>
            <p:cNvSpPr/>
            <p:nvPr/>
          </p:nvSpPr>
          <p:spPr>
            <a:xfrm>
              <a:off x="4610100" y="3771900"/>
              <a:ext cx="1176337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400" b="1">
                  <a:solidFill>
                    <a:schemeClr val="dk2"/>
                  </a:solidFill>
                </a:rPr>
                <a:t>7.2</a:t>
              </a:r>
            </a:p>
          </p:txBody>
        </p:sp>
        <p:sp>
          <p:nvSpPr>
            <p:cNvPr id="36" name="単位"/>
            <p:cNvSpPr/>
            <p:nvPr/>
          </p:nvSpPr>
          <p:spPr>
            <a:xfrm>
              <a:off x="5710237" y="4000500"/>
              <a:ext cx="1871662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年</a:t>
              </a:r>
            </a:p>
          </p:txBody>
        </p:sp>
        <p:sp>
          <p:nvSpPr>
            <p:cNvPr id="37" name="補足"/>
            <p:cNvSpPr/>
            <p:nvPr/>
          </p:nvSpPr>
          <p:spPr>
            <a:xfrm>
              <a:off x="4610100" y="47815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業界平均 4.8年（サンプル）</a:t>
              </a:r>
            </a:p>
          </p:txBody>
        </p:sp>
      </p:grpSp>
      <p:grpSp>
        <p:nvGrpSpPr>
          <p:cNvPr id="38" name="KPIカード_年間プロジェクト数"/>
          <p:cNvGrpSpPr/>
          <p:nvPr/>
        </p:nvGrpSpPr>
        <p:grpSpPr>
          <a:xfrm>
            <a:off x="8153400" y="3276600"/>
            <a:ext cx="3429000" cy="1828800"/>
            <a:chOff x="8153400" y="3276600"/>
            <a:chExt cx="3429000" cy="1828800"/>
          </a:xfrm>
        </p:grpSpPr>
        <p:sp>
          <p:nvSpPr>
            <p:cNvPr id="39" name="カード"/>
            <p:cNvSpPr/>
            <p:nvPr/>
          </p:nvSpPr>
          <p:spPr>
            <a:xfrm>
              <a:off x="8153400" y="3276600"/>
              <a:ext cx="3429000" cy="1828800"/>
            </a:xfrm>
            <a:prstGeom prst="roundRect">
              <a:avLst>
                <a:gd name="adj" fmla="val 520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指標名"/>
            <p:cNvSpPr/>
            <p:nvPr/>
          </p:nvSpPr>
          <p:spPr>
            <a:xfrm>
              <a:off x="8382000" y="34480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年間プロジェクト数</a:t>
              </a:r>
            </a:p>
          </p:txBody>
        </p:sp>
        <p:sp>
          <p:nvSpPr>
            <p:cNvPr id="41" name="大数字"/>
            <p:cNvSpPr/>
            <p:nvPr/>
          </p:nvSpPr>
          <p:spPr>
            <a:xfrm>
              <a:off x="8382000" y="3771900"/>
              <a:ext cx="1438275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400" b="1">
                  <a:solidFill>
                    <a:schemeClr val="dk2"/>
                  </a:solidFill>
                </a:rPr>
                <a:t>150</a:t>
              </a:r>
            </a:p>
          </p:txBody>
        </p:sp>
        <p:sp>
          <p:nvSpPr>
            <p:cNvPr id="42" name="単位"/>
            <p:cNvSpPr/>
            <p:nvPr/>
          </p:nvSpPr>
          <p:spPr>
            <a:xfrm>
              <a:off x="9744075" y="4000500"/>
              <a:ext cx="1609725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件</a:t>
              </a:r>
            </a:p>
          </p:txBody>
        </p:sp>
        <p:sp>
          <p:nvSpPr>
            <p:cNvPr id="43" name="補足"/>
            <p:cNvSpPr/>
            <p:nvPr/>
          </p:nvSpPr>
          <p:spPr>
            <a:xfrm>
              <a:off x="8382000" y="4781550"/>
              <a:ext cx="2971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リピート率 82%</a:t>
              </a:r>
            </a:p>
          </p:txBody>
        </p:sp>
      </p:grpSp>
      <p:grpSp>
        <p:nvGrpSpPr>
          <p:cNvPr id="44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45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注：数値はすべて架空のサンプルです</a:t>
              </a:r>
            </a:p>
          </p:txBody>
        </p:sp>
        <p:sp>
          <p:nvSpPr>
            <p:cNvPr id="46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出所：自社集計（2026年6月）</a:t>
              </a:r>
            </a:p>
          </p:txBody>
        </p:sp>
        <p:sp>
          <p:nvSpPr>
            <p:cNvPr id="47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強みは「現場理解×技術力×伴走体制」の掛け算です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07｜当社の強み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選ばれる理由の構造（結論と3つの根拠）</a:t>
              </a:r>
            </a:p>
          </p:txBody>
        </p:sp>
      </p:grpSp>
      <p:grpSp>
        <p:nvGrpSpPr>
          <p:cNvPr id="8" name="強み_結論"/>
          <p:cNvGrpSpPr/>
          <p:nvPr/>
        </p:nvGrpSpPr>
        <p:grpSpPr>
          <a:xfrm>
            <a:off x="3619500" y="1123950"/>
            <a:ext cx="4953000" cy="533400"/>
            <a:chOff x="3619500" y="1123950"/>
            <a:chExt cx="4953000" cy="533400"/>
          </a:xfrm>
        </p:grpSpPr>
        <p:sp>
          <p:nvSpPr>
            <p:cNvPr id="9" name="結論ボックス"/>
            <p:cNvSpPr/>
            <p:nvPr/>
          </p:nvSpPr>
          <p:spPr>
            <a:xfrm>
              <a:off x="3619500" y="1123950"/>
              <a:ext cx="4953000" cy="533400"/>
            </a:xfrm>
            <a:prstGeom prst="roundRect">
              <a:avLst>
                <a:gd name="adj" fmla="val 14285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結論文"/>
            <p:cNvSpPr/>
            <p:nvPr/>
          </p:nvSpPr>
          <p:spPr>
            <a:xfrm>
              <a:off x="3619500" y="1123950"/>
              <a:ext cx="49530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lt1"/>
                  </a:solidFill>
                </a:rPr>
                <a:t>3つが揃うから、導入後も成果につながる</a:t>
              </a:r>
            </a:p>
          </p:txBody>
        </p:sp>
      </p:grpSp>
      <p:grpSp>
        <p:nvGrpSpPr>
          <p:cNvPr id="11" name="強み_コネクタ"/>
          <p:cNvGrpSpPr/>
          <p:nvPr/>
        </p:nvGrpSpPr>
        <p:grpSpPr>
          <a:xfrm>
            <a:off x="2324100" y="1657350"/>
            <a:ext cx="7543800" cy="381000"/>
            <a:chOff x="2324100" y="1657350"/>
            <a:chExt cx="7543800" cy="381000"/>
          </a:xfrm>
        </p:grpSpPr>
        <p:cxnSp>
          <p:nvCxnSpPr>
            <p:cNvPr id="12" name="幹"/>
            <p:cNvCxnSpPr/>
            <p:nvPr/>
          </p:nvCxnSpPr>
          <p:spPr>
            <a:xfrm>
              <a:off x="6096000" y="1657350"/>
              <a:ext cx="0" cy="1905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バス"/>
            <p:cNvCxnSpPr/>
            <p:nvPr/>
          </p:nvCxnSpPr>
          <p:spPr>
            <a:xfrm>
              <a:off x="2324100" y="1847850"/>
              <a:ext cx="7543800" cy="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枝1"/>
            <p:cNvCxnSpPr/>
            <p:nvPr/>
          </p:nvCxnSpPr>
          <p:spPr>
            <a:xfrm>
              <a:off x="2324100" y="1847850"/>
              <a:ext cx="0" cy="1905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枝2"/>
            <p:cNvCxnSpPr/>
            <p:nvPr/>
          </p:nvCxnSpPr>
          <p:spPr>
            <a:xfrm>
              <a:off x="6096000" y="1847850"/>
              <a:ext cx="0" cy="1905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枝3"/>
            <p:cNvCxnSpPr/>
            <p:nvPr/>
          </p:nvCxnSpPr>
          <p:spPr>
            <a:xfrm>
              <a:off x="9867900" y="1847850"/>
              <a:ext cx="0" cy="1905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強みカード1_現場理解"/>
          <p:cNvGrpSpPr/>
          <p:nvPr/>
        </p:nvGrpSpPr>
        <p:grpSpPr>
          <a:xfrm>
            <a:off x="609600" y="2038350"/>
            <a:ext cx="3429000" cy="3314700"/>
            <a:chOff x="609600" y="2038350"/>
            <a:chExt cx="3429000" cy="3314700"/>
          </a:xfrm>
        </p:grpSpPr>
        <p:sp>
          <p:nvSpPr>
            <p:cNvPr id="18" name="カード"/>
            <p:cNvSpPr/>
            <p:nvPr/>
          </p:nvSpPr>
          <p:spPr>
            <a:xfrm>
              <a:off x="609600" y="2038350"/>
              <a:ext cx="3429000" cy="3314700"/>
            </a:xfrm>
            <a:prstGeom prst="roundRect">
              <a:avLst>
                <a:gd name="adj" fmla="val 287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番号丸"/>
            <p:cNvSpPr/>
            <p:nvPr/>
          </p:nvSpPr>
          <p:spPr>
            <a:xfrm>
              <a:off x="838200" y="22479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番号"/>
            <p:cNvSpPr/>
            <p:nvPr/>
          </p:nvSpPr>
          <p:spPr>
            <a:xfrm>
              <a:off x="838200" y="22574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21" name="強み名"/>
            <p:cNvSpPr/>
            <p:nvPr/>
          </p:nvSpPr>
          <p:spPr>
            <a:xfrm>
              <a:off x="1314450" y="2295525"/>
              <a:ext cx="24955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50" b="1">
                  <a:solidFill>
                    <a:schemeClr val="dk2"/>
                  </a:solidFill>
                </a:rPr>
                <a:t>現場理解</a:t>
              </a:r>
            </a:p>
          </p:txBody>
        </p:sp>
        <p:cxnSp>
          <p:nvCxnSpPr>
            <p:cNvPr id="22" name="仕切り線"/>
            <p:cNvCxnSpPr/>
            <p:nvPr/>
          </p:nvCxnSpPr>
          <p:spPr>
            <a:xfrm>
              <a:off x="838200" y="27622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説明"/>
            <p:cNvSpPr/>
            <p:nvPr/>
          </p:nvSpPr>
          <p:spPr>
            <a:xfrm>
              <a:off x="838200" y="2914650"/>
              <a:ext cx="29718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営業もエンジニアも、まず現場に入り込みます。要件の手前にある“困りごと”から設計します。</a:t>
              </a:r>
            </a:p>
          </p:txBody>
        </p:sp>
        <p:cxnSp>
          <p:nvCxnSpPr>
            <p:cNvPr id="24" name="根拠仕切り"/>
            <p:cNvCxnSpPr/>
            <p:nvPr/>
          </p:nvCxnSpPr>
          <p:spPr>
            <a:xfrm>
              <a:off x="838200" y="43624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根拠チップ"/>
            <p:cNvSpPr/>
            <p:nvPr/>
          </p:nvSpPr>
          <p:spPr>
            <a:xfrm>
              <a:off x="838200" y="4514850"/>
              <a:ext cx="495300" cy="2095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根拠ラベル"/>
            <p:cNvSpPr/>
            <p:nvPr/>
          </p:nvSpPr>
          <p:spPr>
            <a:xfrm>
              <a:off x="838200" y="4524375"/>
              <a:ext cx="4953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根拠</a:t>
              </a:r>
            </a:p>
          </p:txBody>
        </p:sp>
        <p:sp>
          <p:nvSpPr>
            <p:cNvPr id="27" name="根拠事実"/>
            <p:cNvSpPr/>
            <p:nvPr/>
          </p:nvSpPr>
          <p:spPr>
            <a:xfrm>
              <a:off x="838200" y="4819650"/>
              <a:ext cx="29718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社員の45%が現場業務の経験者</a:t>
              </a:r>
            </a:p>
          </p:txBody>
        </p:sp>
      </p:grpSp>
      <p:grpSp>
        <p:nvGrpSpPr>
          <p:cNvPr id="28" name="強みカード2_技術力"/>
          <p:cNvGrpSpPr/>
          <p:nvPr/>
        </p:nvGrpSpPr>
        <p:grpSpPr>
          <a:xfrm>
            <a:off x="4381500" y="2038350"/>
            <a:ext cx="3429000" cy="3314700"/>
            <a:chOff x="4381500" y="2038350"/>
            <a:chExt cx="3429000" cy="3314700"/>
          </a:xfrm>
        </p:grpSpPr>
        <p:sp>
          <p:nvSpPr>
            <p:cNvPr id="29" name="カード"/>
            <p:cNvSpPr/>
            <p:nvPr/>
          </p:nvSpPr>
          <p:spPr>
            <a:xfrm>
              <a:off x="4381500" y="2038350"/>
              <a:ext cx="3429000" cy="3314700"/>
            </a:xfrm>
            <a:prstGeom prst="roundRect">
              <a:avLst>
                <a:gd name="adj" fmla="val 287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番号丸"/>
            <p:cNvSpPr/>
            <p:nvPr/>
          </p:nvSpPr>
          <p:spPr>
            <a:xfrm>
              <a:off x="4610100" y="22479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番号"/>
            <p:cNvSpPr/>
            <p:nvPr/>
          </p:nvSpPr>
          <p:spPr>
            <a:xfrm>
              <a:off x="4610100" y="22574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32" name="強み名"/>
            <p:cNvSpPr/>
            <p:nvPr/>
          </p:nvSpPr>
          <p:spPr>
            <a:xfrm>
              <a:off x="5086350" y="2295525"/>
              <a:ext cx="24955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50" b="1">
                  <a:solidFill>
                    <a:schemeClr val="dk2"/>
                  </a:solidFill>
                </a:rPr>
                <a:t>技術力</a:t>
              </a:r>
            </a:p>
          </p:txBody>
        </p:sp>
        <p:cxnSp>
          <p:nvCxnSpPr>
            <p:cNvPr id="33" name="仕切り線"/>
            <p:cNvCxnSpPr/>
            <p:nvPr/>
          </p:nvCxnSpPr>
          <p:spPr>
            <a:xfrm>
              <a:off x="4610100" y="27622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説明"/>
            <p:cNvSpPr/>
            <p:nvPr/>
          </p:nvSpPr>
          <p:spPr>
            <a:xfrm>
              <a:off x="4610100" y="2914650"/>
              <a:ext cx="29718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新技術は横断の技術研究室で検証してから導入。品質レビューを全プロジェクトに義務化しています。</a:t>
              </a:r>
            </a:p>
          </p:txBody>
        </p:sp>
        <p:cxnSp>
          <p:nvCxnSpPr>
            <p:cNvPr id="35" name="根拠仕切り"/>
            <p:cNvCxnSpPr/>
            <p:nvPr/>
          </p:nvCxnSpPr>
          <p:spPr>
            <a:xfrm>
              <a:off x="4610100" y="43624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根拠チップ"/>
            <p:cNvSpPr/>
            <p:nvPr/>
          </p:nvSpPr>
          <p:spPr>
            <a:xfrm>
              <a:off x="4610100" y="4514850"/>
              <a:ext cx="495300" cy="2095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根拠ラベル"/>
            <p:cNvSpPr/>
            <p:nvPr/>
          </p:nvSpPr>
          <p:spPr>
            <a:xfrm>
              <a:off x="4610100" y="4524375"/>
              <a:ext cx="4953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根拠</a:t>
              </a:r>
            </a:p>
          </p:txBody>
        </p:sp>
        <p:sp>
          <p:nvSpPr>
            <p:cNvPr id="38" name="根拠事実"/>
            <p:cNvSpPr/>
            <p:nvPr/>
          </p:nvSpPr>
          <p:spPr>
            <a:xfrm>
              <a:off x="4610100" y="4819650"/>
              <a:ext cx="29718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有資格エンジニア120名が在籍</a:t>
              </a:r>
            </a:p>
          </p:txBody>
        </p:sp>
      </p:grpSp>
      <p:grpSp>
        <p:nvGrpSpPr>
          <p:cNvPr id="39" name="強みカード3_伴走体制"/>
          <p:cNvGrpSpPr/>
          <p:nvPr/>
        </p:nvGrpSpPr>
        <p:grpSpPr>
          <a:xfrm>
            <a:off x="8153400" y="2038350"/>
            <a:ext cx="3429000" cy="3314700"/>
            <a:chOff x="8153400" y="2038350"/>
            <a:chExt cx="3429000" cy="3314700"/>
          </a:xfrm>
        </p:grpSpPr>
        <p:sp>
          <p:nvSpPr>
            <p:cNvPr id="40" name="カード"/>
            <p:cNvSpPr/>
            <p:nvPr/>
          </p:nvSpPr>
          <p:spPr>
            <a:xfrm>
              <a:off x="8153400" y="2038350"/>
              <a:ext cx="3429000" cy="3314700"/>
            </a:xfrm>
            <a:prstGeom prst="roundRect">
              <a:avLst>
                <a:gd name="adj" fmla="val 287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番号丸"/>
            <p:cNvSpPr/>
            <p:nvPr/>
          </p:nvSpPr>
          <p:spPr>
            <a:xfrm>
              <a:off x="8382000" y="22479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番号"/>
            <p:cNvSpPr/>
            <p:nvPr/>
          </p:nvSpPr>
          <p:spPr>
            <a:xfrm>
              <a:off x="8382000" y="22574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43" name="強み名"/>
            <p:cNvSpPr/>
            <p:nvPr/>
          </p:nvSpPr>
          <p:spPr>
            <a:xfrm>
              <a:off x="8858250" y="2295525"/>
              <a:ext cx="24955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50" b="1">
                  <a:solidFill>
                    <a:schemeClr val="dk2"/>
                  </a:solidFill>
                </a:rPr>
                <a:t>伴走体制</a:t>
              </a:r>
            </a:p>
          </p:txBody>
        </p:sp>
        <p:cxnSp>
          <p:nvCxnSpPr>
            <p:cNvPr id="44" name="仕切り線"/>
            <p:cNvCxnSpPr/>
            <p:nvPr/>
          </p:nvCxnSpPr>
          <p:spPr>
            <a:xfrm>
              <a:off x="8382000" y="27622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説明"/>
            <p:cNvSpPr/>
            <p:nvPr/>
          </p:nvSpPr>
          <p:spPr>
            <a:xfrm>
              <a:off x="8382000" y="2914650"/>
              <a:ext cx="29718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80000"/>
                </a:lnSpc>
              </a:pPr>
              <a:r>
                <a:rPr sz="1200">
                  <a:solidFill>
                    <a:schemeClr val="dk1"/>
                  </a:solidFill>
                </a:rPr>
                <a:t>導入後は専任のカスタマーサクセスが定着まで支援。四半期ごとに活用度をレポートします。</a:t>
              </a:r>
            </a:p>
          </p:txBody>
        </p:sp>
        <p:cxnSp>
          <p:nvCxnSpPr>
            <p:cNvPr id="46" name="根拠仕切り"/>
            <p:cNvCxnSpPr/>
            <p:nvPr/>
          </p:nvCxnSpPr>
          <p:spPr>
            <a:xfrm>
              <a:off x="8382000" y="43624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根拠チップ"/>
            <p:cNvSpPr/>
            <p:nvPr/>
          </p:nvSpPr>
          <p:spPr>
            <a:xfrm>
              <a:off x="8382000" y="4514850"/>
              <a:ext cx="495300" cy="2095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根拠ラベル"/>
            <p:cNvSpPr/>
            <p:nvPr/>
          </p:nvSpPr>
          <p:spPr>
            <a:xfrm>
              <a:off x="8382000" y="4524375"/>
              <a:ext cx="4953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根拠</a:t>
              </a:r>
            </a:p>
          </p:txBody>
        </p:sp>
        <p:sp>
          <p:nvSpPr>
            <p:cNvPr id="49" name="根拠事実"/>
            <p:cNvSpPr/>
            <p:nvPr/>
          </p:nvSpPr>
          <p:spPr>
            <a:xfrm>
              <a:off x="8382000" y="4819650"/>
              <a:ext cx="29718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専任担当が全420社をカバー</a:t>
              </a:r>
            </a:p>
          </p:txBody>
        </p:sp>
      </p:grpSp>
      <p:grpSp>
        <p:nvGrpSpPr>
          <p:cNvPr id="50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51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注：根拠の数値はサンプルです</a:t>
              </a:r>
            </a:p>
          </p:txBody>
        </p:sp>
        <p:sp>
          <p:nvSpPr>
            <p:cNvPr id="52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出所：自社集計（2026年6月）</a:t>
              </a:r>
            </a:p>
          </p:txBody>
        </p:sp>
        <p:sp>
          <p:nvSpPr>
            <p:cNvPr id="53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3つの事業本部を、2つの横断機能が支える体制です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08｜組織体制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組織図（2026年6月時点）</a:t>
              </a:r>
            </a:p>
          </p:txBody>
        </p:sp>
      </p:grpSp>
      <p:grpSp>
        <p:nvGrpSpPr>
          <p:cNvPr id="8" name="組織図_トップ"/>
          <p:cNvGrpSpPr/>
          <p:nvPr/>
        </p:nvGrpSpPr>
        <p:grpSpPr>
          <a:xfrm>
            <a:off x="4857750" y="1104900"/>
            <a:ext cx="2476500" cy="495300"/>
            <a:chOff x="4857750" y="1104900"/>
            <a:chExt cx="2476500" cy="495300"/>
          </a:xfrm>
        </p:grpSpPr>
        <p:sp>
          <p:nvSpPr>
            <p:cNvPr id="9" name="社長ボックス"/>
            <p:cNvSpPr/>
            <p:nvPr/>
          </p:nvSpPr>
          <p:spPr>
            <a:xfrm>
              <a:off x="4857750" y="1104900"/>
              <a:ext cx="2476500" cy="495300"/>
            </a:xfrm>
            <a:prstGeom prst="roundRect">
              <a:avLst>
                <a:gd name="adj" fmla="val 15384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社長"/>
            <p:cNvSpPr/>
            <p:nvPr/>
          </p:nvSpPr>
          <p:spPr>
            <a:xfrm>
              <a:off x="4857750" y="1104900"/>
              <a:ext cx="24765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lt1"/>
                  </a:solidFill>
                </a:rPr>
                <a:t>代表取締役社長</a:t>
              </a:r>
            </a:p>
          </p:txBody>
        </p:sp>
      </p:grpSp>
      <p:grpSp>
        <p:nvGrpSpPr>
          <p:cNvPr id="11" name="組織図_コネクタ"/>
          <p:cNvGrpSpPr/>
          <p:nvPr/>
        </p:nvGrpSpPr>
        <p:grpSpPr>
          <a:xfrm>
            <a:off x="1943100" y="1600200"/>
            <a:ext cx="8229600" cy="419100"/>
            <a:chOff x="1943100" y="1600200"/>
            <a:chExt cx="8229600" cy="419100"/>
          </a:xfrm>
        </p:grpSpPr>
        <p:cxnSp>
          <p:nvCxnSpPr>
            <p:cNvPr id="12" name="幹"/>
            <p:cNvCxnSpPr/>
            <p:nvPr/>
          </p:nvCxnSpPr>
          <p:spPr>
            <a:xfrm>
              <a:off x="6096000" y="1600200"/>
              <a:ext cx="0" cy="2286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バス"/>
            <p:cNvCxnSpPr/>
            <p:nvPr/>
          </p:nvCxnSpPr>
          <p:spPr>
            <a:xfrm>
              <a:off x="1943100" y="1828800"/>
              <a:ext cx="8229600" cy="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枝1"/>
            <p:cNvCxnSpPr/>
            <p:nvPr/>
          </p:nvCxnSpPr>
          <p:spPr>
            <a:xfrm>
              <a:off x="1943100" y="1828800"/>
              <a:ext cx="0" cy="1905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枝2"/>
            <p:cNvCxnSpPr/>
            <p:nvPr/>
          </p:nvCxnSpPr>
          <p:spPr>
            <a:xfrm>
              <a:off x="4686300" y="1828800"/>
              <a:ext cx="0" cy="1905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枝3"/>
            <p:cNvCxnSpPr/>
            <p:nvPr/>
          </p:nvCxnSpPr>
          <p:spPr>
            <a:xfrm>
              <a:off x="7429500" y="1828800"/>
              <a:ext cx="0" cy="1905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枝4"/>
            <p:cNvCxnSpPr/>
            <p:nvPr/>
          </p:nvCxnSpPr>
          <p:spPr>
            <a:xfrm>
              <a:off x="10172700" y="1828800"/>
              <a:ext cx="0" cy="19050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組織図_システム開発本部"/>
          <p:cNvGrpSpPr/>
          <p:nvPr/>
        </p:nvGrpSpPr>
        <p:grpSpPr>
          <a:xfrm>
            <a:off x="800100" y="2019300"/>
            <a:ext cx="2286000" cy="1409700"/>
            <a:chOff x="800100" y="2019300"/>
            <a:chExt cx="2286000" cy="1409700"/>
          </a:xfrm>
        </p:grpSpPr>
        <p:sp>
          <p:nvSpPr>
            <p:cNvPr id="19" name="本部ボックス"/>
            <p:cNvSpPr/>
            <p:nvPr/>
          </p:nvSpPr>
          <p:spPr>
            <a:xfrm>
              <a:off x="800100" y="2019300"/>
              <a:ext cx="2286000" cy="476250"/>
            </a:xfrm>
            <a:prstGeom prst="roundRect">
              <a:avLst>
                <a:gd name="adj" fmla="val 16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本部名"/>
            <p:cNvSpPr/>
            <p:nvPr/>
          </p:nvSpPr>
          <p:spPr>
            <a:xfrm>
              <a:off x="800100" y="2019300"/>
              <a:ext cx="22860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システム開発本部</a:t>
              </a:r>
            </a:p>
          </p:txBody>
        </p:sp>
        <p:sp>
          <p:nvSpPr>
            <p:cNvPr id="21" name="部署"/>
            <p:cNvSpPr/>
            <p:nvPr/>
          </p:nvSpPr>
          <p:spPr>
            <a:xfrm>
              <a:off x="895350" y="2628900"/>
              <a:ext cx="20955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70000"/>
                </a:lnSpc>
              </a:pPr>
              <a:r>
                <a:rPr sz="1100">
                  <a:solidFill>
                    <a:schemeClr val="dk1"/>
                  </a:solidFill>
                </a:rPr>
                <a:t>・第1〜第3開発部</a:t>
              </a:r>
            </a:p>
            <a:p>
              <a:pPr algn="ctr">
                <a:lnSpc>
                  <a:spcPct val="170000"/>
                </a:lnSpc>
              </a:pPr>
              <a:r>
                <a:rPr sz="1100">
                  <a:solidFill>
                    <a:schemeClr val="dk1"/>
                  </a:solidFill>
                </a:rPr>
                <a:t>・PMO室</a:t>
              </a:r>
            </a:p>
          </p:txBody>
        </p:sp>
        <p:sp>
          <p:nvSpPr>
            <p:cNvPr id="22" name="人数"/>
            <p:cNvSpPr/>
            <p:nvPr/>
          </p:nvSpPr>
          <p:spPr>
            <a:xfrm>
              <a:off x="800100" y="3276600"/>
              <a:ext cx="2286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120名</a:t>
              </a:r>
            </a:p>
          </p:txBody>
        </p:sp>
      </p:grpSp>
      <p:grpSp>
        <p:nvGrpSpPr>
          <p:cNvPr id="23" name="組織図_クラウドサービス本部"/>
          <p:cNvGrpSpPr/>
          <p:nvPr/>
        </p:nvGrpSpPr>
        <p:grpSpPr>
          <a:xfrm>
            <a:off x="3543300" y="2019300"/>
            <a:ext cx="2286000" cy="1409700"/>
            <a:chOff x="3543300" y="2019300"/>
            <a:chExt cx="2286000" cy="1409700"/>
          </a:xfrm>
        </p:grpSpPr>
        <p:sp>
          <p:nvSpPr>
            <p:cNvPr id="24" name="本部ボックス"/>
            <p:cNvSpPr/>
            <p:nvPr/>
          </p:nvSpPr>
          <p:spPr>
            <a:xfrm>
              <a:off x="3543300" y="2019300"/>
              <a:ext cx="2286000" cy="476250"/>
            </a:xfrm>
            <a:prstGeom prst="roundRect">
              <a:avLst>
                <a:gd name="adj" fmla="val 16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本部名"/>
            <p:cNvSpPr/>
            <p:nvPr/>
          </p:nvSpPr>
          <p:spPr>
            <a:xfrm>
              <a:off x="3543300" y="2019300"/>
              <a:ext cx="22860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クラウドサービス本部</a:t>
              </a:r>
            </a:p>
          </p:txBody>
        </p:sp>
        <p:sp>
          <p:nvSpPr>
            <p:cNvPr id="26" name="部署"/>
            <p:cNvSpPr/>
            <p:nvPr/>
          </p:nvSpPr>
          <p:spPr>
            <a:xfrm>
              <a:off x="3638550" y="2628900"/>
              <a:ext cx="20955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70000"/>
                </a:lnSpc>
              </a:pPr>
              <a:r>
                <a:rPr sz="1100">
                  <a:solidFill>
                    <a:schemeClr val="dk1"/>
                  </a:solidFill>
                </a:rPr>
                <a:t>・プロダクト開発部</a:t>
              </a:r>
            </a:p>
            <a:p>
              <a:pPr algn="ctr">
                <a:lnSpc>
                  <a:spcPct val="170000"/>
                </a:lnSpc>
              </a:pPr>
              <a:r>
                <a:rPr sz="1100">
                  <a:solidFill>
                    <a:schemeClr val="dk1"/>
                  </a:solidFill>
                </a:rPr>
                <a:t>・カスタマーサクセス部</a:t>
              </a:r>
            </a:p>
          </p:txBody>
        </p:sp>
        <p:sp>
          <p:nvSpPr>
            <p:cNvPr id="27" name="人数"/>
            <p:cNvSpPr/>
            <p:nvPr/>
          </p:nvSpPr>
          <p:spPr>
            <a:xfrm>
              <a:off x="3543300" y="3276600"/>
              <a:ext cx="2286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80名</a:t>
              </a:r>
            </a:p>
          </p:txBody>
        </p:sp>
      </p:grpSp>
      <p:grpSp>
        <p:nvGrpSpPr>
          <p:cNvPr id="28" name="組織図_データ活用支援本部"/>
          <p:cNvGrpSpPr/>
          <p:nvPr/>
        </p:nvGrpSpPr>
        <p:grpSpPr>
          <a:xfrm>
            <a:off x="6286500" y="2019300"/>
            <a:ext cx="2286000" cy="1409700"/>
            <a:chOff x="6286500" y="2019300"/>
            <a:chExt cx="2286000" cy="1409700"/>
          </a:xfrm>
        </p:grpSpPr>
        <p:sp>
          <p:nvSpPr>
            <p:cNvPr id="29" name="本部ボックス"/>
            <p:cNvSpPr/>
            <p:nvPr/>
          </p:nvSpPr>
          <p:spPr>
            <a:xfrm>
              <a:off x="6286500" y="2019300"/>
              <a:ext cx="2286000" cy="476250"/>
            </a:xfrm>
            <a:prstGeom prst="roundRect">
              <a:avLst>
                <a:gd name="adj" fmla="val 16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本部名"/>
            <p:cNvSpPr/>
            <p:nvPr/>
          </p:nvSpPr>
          <p:spPr>
            <a:xfrm>
              <a:off x="6286500" y="2019300"/>
              <a:ext cx="22860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データ活用支援本部</a:t>
              </a:r>
            </a:p>
          </p:txBody>
        </p:sp>
        <p:sp>
          <p:nvSpPr>
            <p:cNvPr id="31" name="部署"/>
            <p:cNvSpPr/>
            <p:nvPr/>
          </p:nvSpPr>
          <p:spPr>
            <a:xfrm>
              <a:off x="6381750" y="2628900"/>
              <a:ext cx="20955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70000"/>
                </a:lnSpc>
              </a:pPr>
              <a:r>
                <a:rPr sz="1100">
                  <a:solidFill>
                    <a:schemeClr val="dk1"/>
                  </a:solidFill>
                </a:rPr>
                <a:t>・データサイエンス部</a:t>
              </a:r>
            </a:p>
            <a:p>
              <a:pPr algn="ctr">
                <a:lnSpc>
                  <a:spcPct val="170000"/>
                </a:lnSpc>
              </a:pPr>
              <a:r>
                <a:rPr sz="1100">
                  <a:solidFill>
                    <a:schemeClr val="dk1"/>
                  </a:solidFill>
                </a:rPr>
                <a:t>・データ基盤部</a:t>
              </a:r>
            </a:p>
          </p:txBody>
        </p:sp>
        <p:sp>
          <p:nvSpPr>
            <p:cNvPr id="32" name="人数"/>
            <p:cNvSpPr/>
            <p:nvPr/>
          </p:nvSpPr>
          <p:spPr>
            <a:xfrm>
              <a:off x="6286500" y="3276600"/>
              <a:ext cx="2286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40名</a:t>
              </a:r>
            </a:p>
          </p:txBody>
        </p:sp>
      </p:grpSp>
      <p:grpSp>
        <p:nvGrpSpPr>
          <p:cNvPr id="33" name="組織図_コーポレート本部"/>
          <p:cNvGrpSpPr/>
          <p:nvPr/>
        </p:nvGrpSpPr>
        <p:grpSpPr>
          <a:xfrm>
            <a:off x="9029700" y="2019300"/>
            <a:ext cx="2286000" cy="1409700"/>
            <a:chOff x="9029700" y="2019300"/>
            <a:chExt cx="2286000" cy="1409700"/>
          </a:xfrm>
        </p:grpSpPr>
        <p:sp>
          <p:nvSpPr>
            <p:cNvPr id="34" name="本部ボックス"/>
            <p:cNvSpPr/>
            <p:nvPr/>
          </p:nvSpPr>
          <p:spPr>
            <a:xfrm>
              <a:off x="9029700" y="2019300"/>
              <a:ext cx="2286000" cy="476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本部名"/>
            <p:cNvSpPr/>
            <p:nvPr/>
          </p:nvSpPr>
          <p:spPr>
            <a:xfrm>
              <a:off x="9029700" y="2019300"/>
              <a:ext cx="22860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コーポレート本部</a:t>
              </a:r>
            </a:p>
          </p:txBody>
        </p:sp>
        <p:sp>
          <p:nvSpPr>
            <p:cNvPr id="36" name="部署"/>
            <p:cNvSpPr/>
            <p:nvPr/>
          </p:nvSpPr>
          <p:spPr>
            <a:xfrm>
              <a:off x="9124950" y="2628900"/>
              <a:ext cx="20955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70000"/>
                </a:lnSpc>
              </a:pPr>
              <a:r>
                <a:rPr sz="1100">
                  <a:solidFill>
                    <a:schemeClr val="dk1"/>
                  </a:solidFill>
                </a:rPr>
                <a:t>・経営企画部</a:t>
              </a:r>
            </a:p>
            <a:p>
              <a:pPr algn="ctr">
                <a:lnSpc>
                  <a:spcPct val="170000"/>
                </a:lnSpc>
              </a:pPr>
              <a:r>
                <a:rPr sz="1100">
                  <a:solidFill>
                    <a:schemeClr val="dk1"/>
                  </a:solidFill>
                </a:rPr>
                <a:t>・人事総務部／経理部</a:t>
              </a:r>
            </a:p>
          </p:txBody>
        </p:sp>
        <p:sp>
          <p:nvSpPr>
            <p:cNvPr id="37" name="人数"/>
            <p:cNvSpPr/>
            <p:nvPr/>
          </p:nvSpPr>
          <p:spPr>
            <a:xfrm>
              <a:off x="9029700" y="3276600"/>
              <a:ext cx="2286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40名</a:t>
              </a:r>
            </a:p>
          </p:txBody>
        </p:sp>
      </p:grpSp>
      <p:grpSp>
        <p:nvGrpSpPr>
          <p:cNvPr id="38" name="組織図_横断機能"/>
          <p:cNvGrpSpPr/>
          <p:nvPr/>
        </p:nvGrpSpPr>
        <p:grpSpPr>
          <a:xfrm>
            <a:off x="800100" y="3771900"/>
            <a:ext cx="7772400" cy="1085850"/>
            <a:chOff x="800100" y="3771900"/>
            <a:chExt cx="7772400" cy="1085850"/>
          </a:xfrm>
        </p:grpSpPr>
        <p:sp>
          <p:nvSpPr>
            <p:cNvPr id="39" name="小見出し"/>
            <p:cNvSpPr/>
            <p:nvPr/>
          </p:nvSpPr>
          <p:spPr>
            <a:xfrm>
              <a:off x="800100" y="3771900"/>
              <a:ext cx="571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横断機能（3事業本部を横断して支援）</a:t>
              </a:r>
            </a:p>
          </p:txBody>
        </p:sp>
        <p:sp>
          <p:nvSpPr>
            <p:cNvPr id="40" name="帯_品質管理室"/>
            <p:cNvSpPr/>
            <p:nvPr/>
          </p:nvSpPr>
          <p:spPr>
            <a:xfrm>
              <a:off x="800100" y="4019550"/>
              <a:ext cx="7772400" cy="361950"/>
            </a:xfrm>
            <a:prstGeom prst="roundRect">
              <a:avLst>
                <a:gd name="adj" fmla="val 21052"/>
              </a:avLst>
            </a:prstGeom>
            <a:noFill/>
            <a:ln w="11906">
              <a:solidFill>
                <a:schemeClr val="accent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名称_品質管理室"/>
            <p:cNvSpPr/>
            <p:nvPr/>
          </p:nvSpPr>
          <p:spPr>
            <a:xfrm>
              <a:off x="800100" y="4029075"/>
              <a:ext cx="77724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品質管理室 ― 全プロジェクトの品質レビューを実施</a:t>
              </a:r>
            </a:p>
          </p:txBody>
        </p:sp>
        <p:sp>
          <p:nvSpPr>
            <p:cNvPr id="42" name="帯_技術研究室"/>
            <p:cNvSpPr/>
            <p:nvPr/>
          </p:nvSpPr>
          <p:spPr>
            <a:xfrm>
              <a:off x="800100" y="4495800"/>
              <a:ext cx="7772400" cy="361950"/>
            </a:xfrm>
            <a:prstGeom prst="roundRect">
              <a:avLst>
                <a:gd name="adj" fmla="val 21052"/>
              </a:avLst>
            </a:prstGeom>
            <a:noFill/>
            <a:ln w="11906">
              <a:solidFill>
                <a:schemeClr val="accent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名称_技術研究室"/>
            <p:cNvSpPr/>
            <p:nvPr/>
          </p:nvSpPr>
          <p:spPr>
            <a:xfrm>
              <a:off x="800100" y="4505325"/>
              <a:ext cx="77724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技術研究室 ― 新技術の検証と社内標準化</a:t>
              </a:r>
            </a:p>
          </p:txBody>
        </p:sp>
      </p:grpSp>
      <p:grpSp>
        <p:nvGrpSpPr>
          <p:cNvPr id="44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45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注：組織名・人数はサンプルです（2026年6月時点）</a:t>
              </a:r>
            </a:p>
          </p:txBody>
        </p:sp>
        <p:sp>
          <p:nvSpPr>
            <p:cNvPr id="46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出所：株式会社サンプル 会社資料</a:t>
              </a:r>
            </a:p>
          </p:txBody>
        </p:sp>
        <p:sp>
          <p:nvSpPr>
            <p:cNvPr id="47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製造を中心に、業界を越えて420社で使われています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09｜実績・取引先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業界別の取引社数と主要お取引先（社数はサンプル）</a:t>
              </a:r>
            </a:p>
          </p:txBody>
        </p:sp>
      </p:grpSp>
      <p:grpSp>
        <p:nvGrpSpPr>
          <p:cNvPr id="8" name="実績_区切り"/>
          <p:cNvGrpSpPr/>
          <p:nvPr/>
        </p:nvGrpSpPr>
        <p:grpSpPr>
          <a:xfrm>
            <a:off x="6124575" y="1219200"/>
            <a:ext cx="19050" cy="4686300"/>
            <a:chOff x="6124575" y="1219200"/>
            <a:chExt cx="19050" cy="4686300"/>
          </a:xfrm>
        </p:grpSpPr>
        <p:cxnSp>
          <p:nvCxnSpPr>
            <p:cNvPr id="9" name="中央区切り線"/>
            <p:cNvCxnSpPr/>
            <p:nvPr/>
          </p:nvCxnSpPr>
          <p:spPr>
            <a:xfrm>
              <a:off x="6134100" y="1219200"/>
              <a:ext cx="0" cy="46863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伸長ダミー"/>
            <p:cNvSpPr/>
            <p:nvPr/>
          </p:nvSpPr>
          <p:spPr>
            <a:xfrm>
              <a:off x="6124575" y="1219200"/>
              <a:ext cx="19050" cy="4686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実績_業界内訳"/>
          <p:cNvGrpSpPr/>
          <p:nvPr/>
        </p:nvGrpSpPr>
        <p:grpSpPr>
          <a:xfrm>
            <a:off x="609600" y="1200150"/>
            <a:ext cx="5105400" cy="3657600"/>
            <a:chOff x="609600" y="1200150"/>
            <a:chExt cx="5105400" cy="3657600"/>
          </a:xfrm>
        </p:grpSpPr>
        <p:sp>
          <p:nvSpPr>
            <p:cNvPr id="12" name="小見出し"/>
            <p:cNvSpPr/>
            <p:nvPr/>
          </p:nvSpPr>
          <p:spPr>
            <a:xfrm>
              <a:off x="609600" y="1200150"/>
              <a:ext cx="381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業界別の取引社数</a:t>
              </a:r>
            </a:p>
          </p:txBody>
        </p:sp>
        <p:sp>
          <p:nvSpPr>
            <p:cNvPr id="13" name="タグ_製造"/>
            <p:cNvSpPr/>
            <p:nvPr/>
          </p:nvSpPr>
          <p:spPr>
            <a:xfrm>
              <a:off x="609600" y="1504950"/>
              <a:ext cx="10668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業界_製造"/>
            <p:cNvSpPr/>
            <p:nvPr/>
          </p:nvSpPr>
          <p:spPr>
            <a:xfrm>
              <a:off x="609600" y="1514475"/>
              <a:ext cx="10668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製造</a:t>
              </a:r>
            </a:p>
          </p:txBody>
        </p:sp>
        <p:sp>
          <p:nvSpPr>
            <p:cNvPr id="15" name="バー_製造"/>
            <p:cNvSpPr/>
            <p:nvPr/>
          </p:nvSpPr>
          <p:spPr>
            <a:xfrm>
              <a:off x="1828800" y="1524000"/>
              <a:ext cx="2914650" cy="209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社数_製造"/>
            <p:cNvSpPr/>
            <p:nvPr/>
          </p:nvSpPr>
          <p:spPr>
            <a:xfrm>
              <a:off x="4838700" y="1524000"/>
              <a:ext cx="857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1"/>
                  </a:solidFill>
                </a:rPr>
                <a:t>180社</a:t>
              </a:r>
            </a:p>
          </p:txBody>
        </p:sp>
        <p:sp>
          <p:nvSpPr>
            <p:cNvPr id="17" name="タグ_物流"/>
            <p:cNvSpPr/>
            <p:nvPr/>
          </p:nvSpPr>
          <p:spPr>
            <a:xfrm>
              <a:off x="609600" y="2038350"/>
              <a:ext cx="10668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業界_物流"/>
            <p:cNvSpPr/>
            <p:nvPr/>
          </p:nvSpPr>
          <p:spPr>
            <a:xfrm>
              <a:off x="609600" y="2047875"/>
              <a:ext cx="10668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物流</a:t>
              </a:r>
            </a:p>
          </p:txBody>
        </p:sp>
        <p:sp>
          <p:nvSpPr>
            <p:cNvPr id="19" name="バー_物流"/>
            <p:cNvSpPr/>
            <p:nvPr/>
          </p:nvSpPr>
          <p:spPr>
            <a:xfrm>
              <a:off x="1828800" y="2057400"/>
              <a:ext cx="1457325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社数_物流"/>
            <p:cNvSpPr/>
            <p:nvPr/>
          </p:nvSpPr>
          <p:spPr>
            <a:xfrm>
              <a:off x="3381375" y="2057400"/>
              <a:ext cx="857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5"/>
                  </a:solidFill>
                </a:rPr>
                <a:t>90社</a:t>
              </a:r>
            </a:p>
          </p:txBody>
        </p:sp>
        <p:sp>
          <p:nvSpPr>
            <p:cNvPr id="21" name="タグ_小売・流通"/>
            <p:cNvSpPr/>
            <p:nvPr/>
          </p:nvSpPr>
          <p:spPr>
            <a:xfrm>
              <a:off x="609600" y="2571750"/>
              <a:ext cx="10668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業界_小売・流通"/>
            <p:cNvSpPr/>
            <p:nvPr/>
          </p:nvSpPr>
          <p:spPr>
            <a:xfrm>
              <a:off x="609600" y="2581275"/>
              <a:ext cx="10668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小売・流通</a:t>
              </a:r>
            </a:p>
          </p:txBody>
        </p:sp>
        <p:sp>
          <p:nvSpPr>
            <p:cNvPr id="23" name="バー_小売・流通"/>
            <p:cNvSpPr/>
            <p:nvPr/>
          </p:nvSpPr>
          <p:spPr>
            <a:xfrm>
              <a:off x="1828800" y="2590800"/>
              <a:ext cx="1133475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社数_小売・流通"/>
            <p:cNvSpPr/>
            <p:nvPr/>
          </p:nvSpPr>
          <p:spPr>
            <a:xfrm>
              <a:off x="3057525" y="2590800"/>
              <a:ext cx="857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5"/>
                  </a:solidFill>
                </a:rPr>
                <a:t>70社</a:t>
              </a:r>
            </a:p>
          </p:txBody>
        </p:sp>
        <p:sp>
          <p:nvSpPr>
            <p:cNvPr id="25" name="タグ_金融・サービス"/>
            <p:cNvSpPr/>
            <p:nvPr/>
          </p:nvSpPr>
          <p:spPr>
            <a:xfrm>
              <a:off x="609600" y="3105150"/>
              <a:ext cx="10668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業界_金融・サービス"/>
            <p:cNvSpPr/>
            <p:nvPr/>
          </p:nvSpPr>
          <p:spPr>
            <a:xfrm>
              <a:off x="609600" y="3114675"/>
              <a:ext cx="10668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金融・サービス</a:t>
              </a:r>
            </a:p>
          </p:txBody>
        </p:sp>
        <p:sp>
          <p:nvSpPr>
            <p:cNvPr id="27" name="バー_金融・サービス"/>
            <p:cNvSpPr/>
            <p:nvPr/>
          </p:nvSpPr>
          <p:spPr>
            <a:xfrm>
              <a:off x="1828800" y="3124200"/>
              <a:ext cx="809625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社数_金融・サービス"/>
            <p:cNvSpPr/>
            <p:nvPr/>
          </p:nvSpPr>
          <p:spPr>
            <a:xfrm>
              <a:off x="2733675" y="3124200"/>
              <a:ext cx="857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5"/>
                  </a:solidFill>
                </a:rPr>
                <a:t>50社</a:t>
              </a:r>
            </a:p>
          </p:txBody>
        </p:sp>
        <p:sp>
          <p:nvSpPr>
            <p:cNvPr id="29" name="タグ_その他"/>
            <p:cNvSpPr/>
            <p:nvPr/>
          </p:nvSpPr>
          <p:spPr>
            <a:xfrm>
              <a:off x="609600" y="3638550"/>
              <a:ext cx="10668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業界_その他"/>
            <p:cNvSpPr/>
            <p:nvPr/>
          </p:nvSpPr>
          <p:spPr>
            <a:xfrm>
              <a:off x="609600" y="3648075"/>
              <a:ext cx="10668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その他</a:t>
              </a:r>
            </a:p>
          </p:txBody>
        </p:sp>
        <p:sp>
          <p:nvSpPr>
            <p:cNvPr id="31" name="バー_その他"/>
            <p:cNvSpPr/>
            <p:nvPr/>
          </p:nvSpPr>
          <p:spPr>
            <a:xfrm>
              <a:off x="1828800" y="3657600"/>
              <a:ext cx="485775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社数_その他"/>
            <p:cNvSpPr/>
            <p:nvPr/>
          </p:nvSpPr>
          <p:spPr>
            <a:xfrm>
              <a:off x="2409825" y="3657600"/>
              <a:ext cx="857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5"/>
                  </a:solidFill>
                </a:rPr>
                <a:t>30社</a:t>
              </a:r>
            </a:p>
          </p:txBody>
        </p:sp>
        <p:cxnSp>
          <p:nvCxnSpPr>
            <p:cNvPr id="33" name="合計線"/>
            <p:cNvCxnSpPr/>
            <p:nvPr/>
          </p:nvCxnSpPr>
          <p:spPr>
            <a:xfrm>
              <a:off x="609600" y="4267200"/>
              <a:ext cx="5105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合計"/>
            <p:cNvSpPr/>
            <p:nvPr/>
          </p:nvSpPr>
          <p:spPr>
            <a:xfrm>
              <a:off x="609600" y="4400550"/>
              <a:ext cx="51054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合計 420社（2026年6月時点）</a:t>
              </a:r>
            </a:p>
          </p:txBody>
        </p:sp>
        <p:sp>
          <p:nvSpPr>
            <p:cNvPr id="35" name="継続注記"/>
            <p:cNvSpPr/>
            <p:nvPr/>
          </p:nvSpPr>
          <p:spPr>
            <a:xfrm>
              <a:off x="609600" y="4686300"/>
              <a:ext cx="5105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うち5年以上の継続取引 62%</a:t>
              </a:r>
            </a:p>
          </p:txBody>
        </p:sp>
      </p:grpSp>
      <p:grpSp>
        <p:nvGrpSpPr>
          <p:cNvPr id="36" name="実績_ロゴ配置"/>
          <p:cNvGrpSpPr/>
          <p:nvPr/>
        </p:nvGrpSpPr>
        <p:grpSpPr>
          <a:xfrm>
            <a:off x="6667500" y="1200150"/>
            <a:ext cx="4914900" cy="1905000"/>
            <a:chOff x="6667500" y="1200150"/>
            <a:chExt cx="4914900" cy="1905000"/>
          </a:xfrm>
        </p:grpSpPr>
        <p:sp>
          <p:nvSpPr>
            <p:cNvPr id="37" name="小見出し"/>
            <p:cNvSpPr/>
            <p:nvPr/>
          </p:nvSpPr>
          <p:spPr>
            <a:xfrm>
              <a:off x="6667500" y="1200150"/>
              <a:ext cx="457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主要お取引先（ロゴ配置スペース）</a:t>
              </a:r>
            </a:p>
          </p:txBody>
        </p:sp>
        <p:sp>
          <p:nvSpPr>
            <p:cNvPr id="38" name="ロゴ枠1"/>
            <p:cNvSpPr/>
            <p:nvPr/>
          </p:nvSpPr>
          <p:spPr>
            <a:xfrm>
              <a:off x="6667500" y="1504950"/>
              <a:ext cx="1524000" cy="723900"/>
            </a:xfrm>
            <a:prstGeom prst="roundRect">
              <a:avLst>
                <a:gd name="adj" fmla="val 7894"/>
              </a:avLst>
            </a:prstGeom>
            <a:noFill/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ロゴ案内1"/>
            <p:cNvSpPr/>
            <p:nvPr/>
          </p:nvSpPr>
          <p:spPr>
            <a:xfrm>
              <a:off x="6667500" y="1504950"/>
              <a:ext cx="1524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ロゴ配置</a:t>
              </a:r>
            </a:p>
          </p:txBody>
        </p:sp>
        <p:sp>
          <p:nvSpPr>
            <p:cNvPr id="40" name="ロゴ枠2"/>
            <p:cNvSpPr/>
            <p:nvPr/>
          </p:nvSpPr>
          <p:spPr>
            <a:xfrm>
              <a:off x="8362950" y="1504950"/>
              <a:ext cx="1524000" cy="723900"/>
            </a:xfrm>
            <a:prstGeom prst="roundRect">
              <a:avLst>
                <a:gd name="adj" fmla="val 7894"/>
              </a:avLst>
            </a:prstGeom>
            <a:noFill/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ロゴ案内2"/>
            <p:cNvSpPr/>
            <p:nvPr/>
          </p:nvSpPr>
          <p:spPr>
            <a:xfrm>
              <a:off x="8362950" y="1504950"/>
              <a:ext cx="1524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ロゴ配置</a:t>
              </a:r>
            </a:p>
          </p:txBody>
        </p:sp>
        <p:sp>
          <p:nvSpPr>
            <p:cNvPr id="42" name="ロゴ枠3"/>
            <p:cNvSpPr/>
            <p:nvPr/>
          </p:nvSpPr>
          <p:spPr>
            <a:xfrm>
              <a:off x="10058400" y="1504950"/>
              <a:ext cx="1524000" cy="723900"/>
            </a:xfrm>
            <a:prstGeom prst="roundRect">
              <a:avLst>
                <a:gd name="adj" fmla="val 7894"/>
              </a:avLst>
            </a:prstGeom>
            <a:noFill/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ロゴ案内3"/>
            <p:cNvSpPr/>
            <p:nvPr/>
          </p:nvSpPr>
          <p:spPr>
            <a:xfrm>
              <a:off x="10058400" y="1504950"/>
              <a:ext cx="1524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ロゴ配置</a:t>
              </a:r>
            </a:p>
          </p:txBody>
        </p:sp>
        <p:sp>
          <p:nvSpPr>
            <p:cNvPr id="44" name="ロゴ枠4"/>
            <p:cNvSpPr/>
            <p:nvPr/>
          </p:nvSpPr>
          <p:spPr>
            <a:xfrm>
              <a:off x="6667500" y="2381250"/>
              <a:ext cx="1524000" cy="723900"/>
            </a:xfrm>
            <a:prstGeom prst="roundRect">
              <a:avLst>
                <a:gd name="adj" fmla="val 7894"/>
              </a:avLst>
            </a:prstGeom>
            <a:noFill/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ロゴ案内4"/>
            <p:cNvSpPr/>
            <p:nvPr/>
          </p:nvSpPr>
          <p:spPr>
            <a:xfrm>
              <a:off x="6667500" y="2381250"/>
              <a:ext cx="1524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ロゴ配置</a:t>
              </a:r>
            </a:p>
          </p:txBody>
        </p:sp>
        <p:sp>
          <p:nvSpPr>
            <p:cNvPr id="46" name="ロゴ枠5"/>
            <p:cNvSpPr/>
            <p:nvPr/>
          </p:nvSpPr>
          <p:spPr>
            <a:xfrm>
              <a:off x="8362950" y="2381250"/>
              <a:ext cx="1524000" cy="723900"/>
            </a:xfrm>
            <a:prstGeom prst="roundRect">
              <a:avLst>
                <a:gd name="adj" fmla="val 7894"/>
              </a:avLst>
            </a:prstGeom>
            <a:noFill/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ロゴ案内5"/>
            <p:cNvSpPr/>
            <p:nvPr/>
          </p:nvSpPr>
          <p:spPr>
            <a:xfrm>
              <a:off x="8362950" y="2381250"/>
              <a:ext cx="1524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ロゴ配置</a:t>
              </a:r>
            </a:p>
          </p:txBody>
        </p:sp>
        <p:sp>
          <p:nvSpPr>
            <p:cNvPr id="48" name="ロゴ枠6"/>
            <p:cNvSpPr/>
            <p:nvPr/>
          </p:nvSpPr>
          <p:spPr>
            <a:xfrm>
              <a:off x="10058400" y="2381250"/>
              <a:ext cx="1524000" cy="723900"/>
            </a:xfrm>
            <a:prstGeom prst="roundRect">
              <a:avLst>
                <a:gd name="adj" fmla="val 7894"/>
              </a:avLst>
            </a:prstGeom>
            <a:noFill/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ロゴ案内6"/>
            <p:cNvSpPr/>
            <p:nvPr/>
          </p:nvSpPr>
          <p:spPr>
            <a:xfrm>
              <a:off x="10058400" y="2381250"/>
              <a:ext cx="1524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ロゴ配置</a:t>
              </a:r>
            </a:p>
          </p:txBody>
        </p:sp>
      </p:grpSp>
      <p:grpSp>
        <p:nvGrpSpPr>
          <p:cNvPr id="50" name="実績_代表事例"/>
          <p:cNvGrpSpPr/>
          <p:nvPr/>
        </p:nvGrpSpPr>
        <p:grpSpPr>
          <a:xfrm>
            <a:off x="6667500" y="3543300"/>
            <a:ext cx="4914900" cy="1619250"/>
            <a:chOff x="6667500" y="3543300"/>
            <a:chExt cx="4914900" cy="1619250"/>
          </a:xfrm>
        </p:grpSpPr>
        <p:sp>
          <p:nvSpPr>
            <p:cNvPr id="51" name="小見出し"/>
            <p:cNvSpPr/>
            <p:nvPr/>
          </p:nvSpPr>
          <p:spPr>
            <a:xfrm>
              <a:off x="6667500" y="3543300"/>
              <a:ext cx="457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代表的なプロジェクト（サンプル）</a:t>
              </a:r>
            </a:p>
          </p:txBody>
        </p:sp>
        <p:sp>
          <p:nvSpPr>
            <p:cNvPr id="52" name="ビュレット1"/>
            <p:cNvSpPr/>
            <p:nvPr/>
          </p:nvSpPr>
          <p:spPr>
            <a:xfrm>
              <a:off x="6667500" y="388620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事例1"/>
            <p:cNvSpPr/>
            <p:nvPr/>
          </p:nvSpPr>
          <p:spPr>
            <a:xfrm>
              <a:off x="6858000" y="3829050"/>
              <a:ext cx="4724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150">
                  <a:solidFill>
                    <a:schemeClr val="dk1"/>
                  </a:solidFill>
                </a:rPr>
                <a:t>製造A社｜基幹システム刷新と現場データ連携（12ヶ月）</a:t>
              </a:r>
            </a:p>
          </p:txBody>
        </p:sp>
        <p:sp>
          <p:nvSpPr>
            <p:cNvPr id="54" name="ビュレット2"/>
            <p:cNvSpPr/>
            <p:nvPr/>
          </p:nvSpPr>
          <p:spPr>
            <a:xfrm>
              <a:off x="6667500" y="43624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事例2"/>
            <p:cNvSpPr/>
            <p:nvPr/>
          </p:nvSpPr>
          <p:spPr>
            <a:xfrm>
              <a:off x="6858000" y="4305300"/>
              <a:ext cx="4724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150">
                  <a:solidFill>
                    <a:schemeClr val="dk1"/>
                  </a:solidFill>
                </a:rPr>
                <a:t>物流B社｜配車計画SaaSを3ヶ月で全12拠点に導入</a:t>
              </a:r>
            </a:p>
          </p:txBody>
        </p:sp>
        <p:sp>
          <p:nvSpPr>
            <p:cNvPr id="56" name="ビュレット3"/>
            <p:cNvSpPr/>
            <p:nvPr/>
          </p:nvSpPr>
          <p:spPr>
            <a:xfrm>
              <a:off x="6667500" y="483870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事例3"/>
            <p:cNvSpPr/>
            <p:nvPr/>
          </p:nvSpPr>
          <p:spPr>
            <a:xfrm>
              <a:off x="6858000" y="4781550"/>
              <a:ext cx="47244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150">
                  <a:solidFill>
                    <a:schemeClr val="dk1"/>
                  </a:solidFill>
                </a:rPr>
                <a:t>小売C社｜需要予測モデルの構築と内製化を伴走支援</a:t>
              </a:r>
            </a:p>
          </p:txBody>
        </p:sp>
      </p:grpSp>
      <p:grpSp>
        <p:nvGrpSpPr>
          <p:cNvPr id="58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59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注：社数・社名・案件名はすべて架空のサンプルです。ロゴは承諾を得たもののみ掲載してください</a:t>
              </a:r>
            </a:p>
          </p:txBody>
        </p:sp>
        <p:sp>
          <p:nvSpPr>
            <p:cNvPr id="60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出所：自社集計（2026年6月）</a:t>
              </a:r>
            </a:p>
          </p:txBody>
        </p:sp>
        <p:sp>
          <p:nvSpPr>
            <p:cNvPr id="61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学びと裁量への投資が、サービスの質を支えています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10｜働く環境・カルチャー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主な制度と社員の声（内容はサンプル）</a:t>
              </a:r>
            </a:p>
          </p:txBody>
        </p:sp>
      </p:grpSp>
      <p:grpSp>
        <p:nvGrpSpPr>
          <p:cNvPr id="8" name="環境_制度リスト"/>
          <p:cNvGrpSpPr/>
          <p:nvPr/>
        </p:nvGrpSpPr>
        <p:grpSpPr>
          <a:xfrm>
            <a:off x="609600" y="1200150"/>
            <a:ext cx="5486400" cy="3200400"/>
            <a:chOff x="609600" y="1200150"/>
            <a:chExt cx="5486400" cy="3200400"/>
          </a:xfrm>
        </p:grpSpPr>
        <p:sp>
          <p:nvSpPr>
            <p:cNvPr id="9" name="小見出し"/>
            <p:cNvSpPr/>
            <p:nvPr/>
          </p:nvSpPr>
          <p:spPr>
            <a:xfrm>
              <a:off x="609600" y="1200150"/>
              <a:ext cx="381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主な制度</a:t>
              </a:r>
            </a:p>
          </p:txBody>
        </p:sp>
        <p:sp>
          <p:nvSpPr>
            <p:cNvPr id="10" name="分類_1"/>
            <p:cNvSpPr/>
            <p:nvPr/>
          </p:nvSpPr>
          <p:spPr>
            <a:xfrm>
              <a:off x="609600" y="1562100"/>
              <a:ext cx="723900" cy="2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分類名1"/>
            <p:cNvSpPr/>
            <p:nvPr/>
          </p:nvSpPr>
          <p:spPr>
            <a:xfrm>
              <a:off x="609600" y="1571625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働き方</a:t>
              </a:r>
            </a:p>
          </p:txBody>
        </p:sp>
        <p:sp>
          <p:nvSpPr>
            <p:cNvPr id="12" name="制度名1"/>
            <p:cNvSpPr/>
            <p:nvPr/>
          </p:nvSpPr>
          <p:spPr>
            <a:xfrm>
              <a:off x="1485900" y="1524000"/>
              <a:ext cx="46101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フルフレックス×リモート併用</a:t>
              </a:r>
            </a:p>
          </p:txBody>
        </p:sp>
        <p:sp>
          <p:nvSpPr>
            <p:cNvPr id="13" name="説明1"/>
            <p:cNvSpPr/>
            <p:nvPr/>
          </p:nvSpPr>
          <p:spPr>
            <a:xfrm>
              <a:off x="1485900" y="1752600"/>
              <a:ext cx="46101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コアタイムなし。働く場所と時間は成果で選ぶ</a:t>
              </a:r>
            </a:p>
          </p:txBody>
        </p:sp>
        <p:cxnSp>
          <p:nvCxnSpPr>
            <p:cNvPr id="14" name="罫線1"/>
            <p:cNvCxnSpPr/>
            <p:nvPr/>
          </p:nvCxnSpPr>
          <p:spPr>
            <a:xfrm>
              <a:off x="609600" y="2038350"/>
              <a:ext cx="5105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分類_2"/>
            <p:cNvSpPr/>
            <p:nvPr/>
          </p:nvSpPr>
          <p:spPr>
            <a:xfrm>
              <a:off x="609600" y="2152650"/>
              <a:ext cx="723900" cy="2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分類名2"/>
            <p:cNvSpPr/>
            <p:nvPr/>
          </p:nvSpPr>
          <p:spPr>
            <a:xfrm>
              <a:off x="609600" y="2162175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働き方</a:t>
              </a:r>
            </a:p>
          </p:txBody>
        </p:sp>
        <p:sp>
          <p:nvSpPr>
            <p:cNvPr id="17" name="制度名2"/>
            <p:cNvSpPr/>
            <p:nvPr/>
          </p:nvSpPr>
          <p:spPr>
            <a:xfrm>
              <a:off x="1485900" y="2114550"/>
              <a:ext cx="46101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週1「ノー会議デー」</a:t>
              </a:r>
            </a:p>
          </p:txBody>
        </p:sp>
        <p:sp>
          <p:nvSpPr>
            <p:cNvPr id="18" name="説明2"/>
            <p:cNvSpPr/>
            <p:nvPr/>
          </p:nvSpPr>
          <p:spPr>
            <a:xfrm>
              <a:off x="1485900" y="2343150"/>
              <a:ext cx="46101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集中して考える時間を全社で確保</a:t>
              </a:r>
            </a:p>
          </p:txBody>
        </p:sp>
        <p:cxnSp>
          <p:nvCxnSpPr>
            <p:cNvPr id="19" name="罫線2"/>
            <p:cNvCxnSpPr/>
            <p:nvPr/>
          </p:nvCxnSpPr>
          <p:spPr>
            <a:xfrm>
              <a:off x="609600" y="2628900"/>
              <a:ext cx="5105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分類_3"/>
            <p:cNvSpPr/>
            <p:nvPr/>
          </p:nvSpPr>
          <p:spPr>
            <a:xfrm>
              <a:off x="609600" y="2743200"/>
              <a:ext cx="723900" cy="2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分類名3"/>
            <p:cNvSpPr/>
            <p:nvPr/>
          </p:nvSpPr>
          <p:spPr>
            <a:xfrm>
              <a:off x="609600" y="2752725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学び</a:t>
              </a:r>
            </a:p>
          </p:txBody>
        </p:sp>
        <p:sp>
          <p:nvSpPr>
            <p:cNvPr id="22" name="制度名3"/>
            <p:cNvSpPr/>
            <p:nvPr/>
          </p:nvSpPr>
          <p:spPr>
            <a:xfrm>
              <a:off x="1485900" y="2705100"/>
              <a:ext cx="46101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資格取得支援</a:t>
              </a:r>
            </a:p>
          </p:txBody>
        </p:sp>
        <p:sp>
          <p:nvSpPr>
            <p:cNvPr id="23" name="説明3"/>
            <p:cNvSpPr/>
            <p:nvPr/>
          </p:nvSpPr>
          <p:spPr>
            <a:xfrm>
              <a:off x="1485900" y="2933700"/>
              <a:ext cx="46101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受験料・更新料は全額会社負担、合格報奨金つき</a:t>
              </a:r>
            </a:p>
          </p:txBody>
        </p:sp>
        <p:cxnSp>
          <p:nvCxnSpPr>
            <p:cNvPr id="24" name="罫線3"/>
            <p:cNvCxnSpPr/>
            <p:nvPr/>
          </p:nvCxnSpPr>
          <p:spPr>
            <a:xfrm>
              <a:off x="609600" y="3219450"/>
              <a:ext cx="5105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分類_4"/>
            <p:cNvSpPr/>
            <p:nvPr/>
          </p:nvSpPr>
          <p:spPr>
            <a:xfrm>
              <a:off x="609600" y="3333750"/>
              <a:ext cx="723900" cy="2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分類名4"/>
            <p:cNvSpPr/>
            <p:nvPr/>
          </p:nvSpPr>
          <p:spPr>
            <a:xfrm>
              <a:off x="609600" y="3343275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学び</a:t>
              </a:r>
            </a:p>
          </p:txBody>
        </p:sp>
        <p:sp>
          <p:nvSpPr>
            <p:cNvPr id="27" name="制度名4"/>
            <p:cNvSpPr/>
            <p:nvPr/>
          </p:nvSpPr>
          <p:spPr>
            <a:xfrm>
              <a:off x="1485900" y="3295650"/>
              <a:ext cx="46101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社内勉強会「現場ゼミ」</a:t>
              </a:r>
            </a:p>
          </p:txBody>
        </p:sp>
        <p:sp>
          <p:nvSpPr>
            <p:cNvPr id="28" name="説明4"/>
            <p:cNvSpPr/>
            <p:nvPr/>
          </p:nvSpPr>
          <p:spPr>
            <a:xfrm>
              <a:off x="1485900" y="3524250"/>
              <a:ext cx="46101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毎週金曜、現場の学びを持ち寄り共有</a:t>
              </a:r>
            </a:p>
          </p:txBody>
        </p:sp>
        <p:cxnSp>
          <p:nvCxnSpPr>
            <p:cNvPr id="29" name="罫線4"/>
            <p:cNvCxnSpPr/>
            <p:nvPr/>
          </p:nvCxnSpPr>
          <p:spPr>
            <a:xfrm>
              <a:off x="609600" y="3810000"/>
              <a:ext cx="5105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分類_5"/>
            <p:cNvSpPr/>
            <p:nvPr/>
          </p:nvSpPr>
          <p:spPr>
            <a:xfrm>
              <a:off x="609600" y="3924300"/>
              <a:ext cx="723900" cy="2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分類名5"/>
            <p:cNvSpPr/>
            <p:nvPr/>
          </p:nvSpPr>
          <p:spPr>
            <a:xfrm>
              <a:off x="609600" y="3933825"/>
              <a:ext cx="723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健康</a:t>
              </a:r>
            </a:p>
          </p:txBody>
        </p:sp>
        <p:sp>
          <p:nvSpPr>
            <p:cNvPr id="32" name="制度名5"/>
            <p:cNvSpPr/>
            <p:nvPr/>
          </p:nvSpPr>
          <p:spPr>
            <a:xfrm>
              <a:off x="1485900" y="3886200"/>
              <a:ext cx="46101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リフレッシュ休暇</a:t>
              </a:r>
            </a:p>
          </p:txBody>
        </p:sp>
        <p:sp>
          <p:nvSpPr>
            <p:cNvPr id="33" name="説明5"/>
            <p:cNvSpPr/>
            <p:nvPr/>
          </p:nvSpPr>
          <p:spPr>
            <a:xfrm>
              <a:off x="1485900" y="4114800"/>
              <a:ext cx="46101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年1回・5連休。取得率100%（サンプル）</a:t>
              </a:r>
            </a:p>
          </p:txBody>
        </p:sp>
        <p:cxnSp>
          <p:nvCxnSpPr>
            <p:cNvPr id="34" name="罫線5"/>
            <p:cNvCxnSpPr/>
            <p:nvPr/>
          </p:nvCxnSpPr>
          <p:spPr>
            <a:xfrm>
              <a:off x="609600" y="4400550"/>
              <a:ext cx="51054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環境_区切り"/>
          <p:cNvGrpSpPr/>
          <p:nvPr/>
        </p:nvGrpSpPr>
        <p:grpSpPr>
          <a:xfrm>
            <a:off x="6124575" y="1219200"/>
            <a:ext cx="19050" cy="4686300"/>
            <a:chOff x="6124575" y="1219200"/>
            <a:chExt cx="19050" cy="4686300"/>
          </a:xfrm>
        </p:grpSpPr>
        <p:cxnSp>
          <p:nvCxnSpPr>
            <p:cNvPr id="36" name="中央区切り線"/>
            <p:cNvCxnSpPr/>
            <p:nvPr/>
          </p:nvCxnSpPr>
          <p:spPr>
            <a:xfrm>
              <a:off x="6134100" y="1219200"/>
              <a:ext cx="0" cy="46863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伸長ダミー"/>
            <p:cNvSpPr/>
            <p:nvPr/>
          </p:nvSpPr>
          <p:spPr>
            <a:xfrm>
              <a:off x="6124575" y="1219200"/>
              <a:ext cx="19050" cy="4686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" name="環境_声カード1"/>
          <p:cNvGrpSpPr/>
          <p:nvPr/>
        </p:nvGrpSpPr>
        <p:grpSpPr>
          <a:xfrm>
            <a:off x="6667500" y="1200150"/>
            <a:ext cx="4914900" cy="1809750"/>
            <a:chOff x="6667500" y="1200150"/>
            <a:chExt cx="4914900" cy="1809750"/>
          </a:xfrm>
        </p:grpSpPr>
        <p:sp>
          <p:nvSpPr>
            <p:cNvPr id="39" name="小見出し"/>
            <p:cNvSpPr/>
            <p:nvPr/>
          </p:nvSpPr>
          <p:spPr>
            <a:xfrm>
              <a:off x="6667500" y="1200150"/>
              <a:ext cx="457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社員の声</a:t>
              </a:r>
            </a:p>
          </p:txBody>
        </p:sp>
        <p:sp>
          <p:nvSpPr>
            <p:cNvPr id="40" name="声吹き出し1"/>
            <p:cNvSpPr/>
            <p:nvPr/>
          </p:nvSpPr>
          <p:spPr>
            <a:xfrm>
              <a:off x="6667500" y="1504950"/>
              <a:ext cx="4914900" cy="1047750"/>
            </a:xfrm>
            <a:custGeom>
              <a:avLst/>
              <a:gdLst/>
              <a:ahLst/>
              <a:cxnLst/>
              <a:rect l="0" t="0" r="4914900" b="876300"/>
              <a:pathLst>
                <a:path w="4914900" h="1047750">
                  <a:moveTo>
                    <a:pt x="76200" y="0"/>
                  </a:moveTo>
                  <a:lnTo>
                    <a:pt x="4838700" y="0"/>
                  </a:lnTo>
                  <a:arcTo wR="76200" hR="76200" stAng="16200000" swAng="5400000"/>
                  <a:lnTo>
                    <a:pt x="4914900" y="800100"/>
                  </a:lnTo>
                  <a:arcTo wR="76200" hR="76200" stAng="0" swAng="5400000"/>
                  <a:lnTo>
                    <a:pt x="694563" y="876300"/>
                  </a:lnTo>
                  <a:lnTo>
                    <a:pt x="589788" y="1047750"/>
                  </a:lnTo>
                  <a:lnTo>
                    <a:pt x="485013" y="876300"/>
                  </a:lnTo>
                  <a:lnTo>
                    <a:pt x="76200" y="8763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800850" y="1504950"/>
              <a:ext cx="4648200" cy="876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「まず現場へ行こう」が合言葉。机の上の想像で仕様を決めない文化が、私の誇りです。</a:t>
              </a:r>
            </a:p>
          </p:txBody>
        </p:sp>
        <p:sp>
          <p:nvSpPr>
            <p:cNvPr id="42" name="話者1頭文字"/>
            <p:cNvSpPr/>
            <p:nvPr/>
          </p:nvSpPr>
          <p:spPr>
            <a:xfrm>
              <a:off x="6781800" y="27051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頭文字1"/>
            <p:cNvSpPr/>
            <p:nvPr/>
          </p:nvSpPr>
          <p:spPr>
            <a:xfrm>
              <a:off x="6781800" y="2714625"/>
              <a:ext cx="304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E</a:t>
              </a:r>
            </a:p>
          </p:txBody>
        </p:sp>
        <p:sp>
          <p:nvSpPr>
            <p:cNvPr id="44" name="話者1"/>
            <p:cNvSpPr/>
            <p:nvPr/>
          </p:nvSpPr>
          <p:spPr>
            <a:xfrm>
              <a:off x="7200900" y="2714625"/>
              <a:ext cx="3810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エンジニア職｜入社5年目</a:t>
              </a:r>
            </a:p>
          </p:txBody>
        </p:sp>
      </p:grpSp>
      <p:grpSp>
        <p:nvGrpSpPr>
          <p:cNvPr id="45" name="環境_声カード2"/>
          <p:cNvGrpSpPr/>
          <p:nvPr/>
        </p:nvGrpSpPr>
        <p:grpSpPr>
          <a:xfrm>
            <a:off x="6667500" y="3390900"/>
            <a:ext cx="4914900" cy="1504950"/>
            <a:chOff x="6667500" y="3390900"/>
            <a:chExt cx="4914900" cy="1504950"/>
          </a:xfrm>
        </p:grpSpPr>
        <p:sp>
          <p:nvSpPr>
            <p:cNvPr id="46" name="声吹き出し2"/>
            <p:cNvSpPr/>
            <p:nvPr/>
          </p:nvSpPr>
          <p:spPr>
            <a:xfrm>
              <a:off x="6667500" y="3390900"/>
              <a:ext cx="4914900" cy="1047750"/>
            </a:xfrm>
            <a:custGeom>
              <a:avLst/>
              <a:gdLst/>
              <a:ahLst/>
              <a:cxnLst/>
              <a:rect l="0" t="0" r="4914900" b="876300"/>
              <a:pathLst>
                <a:path w="4914900" h="1047750">
                  <a:moveTo>
                    <a:pt x="76200" y="0"/>
                  </a:moveTo>
                  <a:lnTo>
                    <a:pt x="4838700" y="0"/>
                  </a:lnTo>
                  <a:arcTo wR="76200" hR="76200" stAng="16200000" swAng="5400000"/>
                  <a:lnTo>
                    <a:pt x="4914900" y="800100"/>
                  </a:lnTo>
                  <a:arcTo wR="76200" hR="76200" stAng="0" swAng="5400000"/>
                  <a:lnTo>
                    <a:pt x="694563" y="876300"/>
                  </a:lnTo>
                  <a:lnTo>
                    <a:pt x="589788" y="1047750"/>
                  </a:lnTo>
                  <a:lnTo>
                    <a:pt x="485013" y="876300"/>
                  </a:lnTo>
                  <a:lnTo>
                    <a:pt x="76200" y="8763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800850" y="3390900"/>
              <a:ext cx="4648200" cy="876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資格も勉強会も“業務の一部”。学んだ分だけ、任される範囲が広がっていきます。</a:t>
              </a:r>
            </a:p>
          </p:txBody>
        </p:sp>
        <p:sp>
          <p:nvSpPr>
            <p:cNvPr id="48" name="話者2頭文字"/>
            <p:cNvSpPr/>
            <p:nvPr/>
          </p:nvSpPr>
          <p:spPr>
            <a:xfrm>
              <a:off x="6781800" y="4591050"/>
              <a:ext cx="304800" cy="304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頭文字2"/>
            <p:cNvSpPr/>
            <p:nvPr/>
          </p:nvSpPr>
          <p:spPr>
            <a:xfrm>
              <a:off x="6781800" y="4600575"/>
              <a:ext cx="304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S</a:t>
              </a:r>
            </a:p>
          </p:txBody>
        </p:sp>
        <p:sp>
          <p:nvSpPr>
            <p:cNvPr id="50" name="話者2"/>
            <p:cNvSpPr/>
            <p:nvPr/>
          </p:nvSpPr>
          <p:spPr>
            <a:xfrm>
              <a:off x="7200900" y="4600575"/>
              <a:ext cx="38100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営業職｜入社3年目</a:t>
              </a:r>
            </a:p>
          </p:txBody>
        </p:sp>
      </p:grpSp>
      <p:grpSp>
        <p:nvGrpSpPr>
          <p:cNvPr id="51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52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注：制度・コメントはサンプルです</a:t>
              </a:r>
            </a:p>
          </p:txBody>
        </p:sp>
        <p:sp>
          <p:nvSpPr>
            <p:cNvPr id="53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出所：社内制度資料・社員インタビュー（サンプル）</a:t>
              </a:r>
            </a:p>
          </p:txBody>
        </p:sp>
        <p:sp>
          <p:nvSpPr>
            <p:cNvPr id="54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2028年、「現場データ基盤」の提供企業へ進化します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11｜今後の展望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中期ロードマップ（2026→2028・計画はサンプル）</a:t>
              </a:r>
            </a:p>
          </p:txBody>
        </p:sp>
      </p:grpSp>
      <p:grpSp>
        <p:nvGrpSpPr>
          <p:cNvPr id="8" name="展望_年ヘッダ"/>
          <p:cNvGrpSpPr/>
          <p:nvPr/>
        </p:nvGrpSpPr>
        <p:grpSpPr>
          <a:xfrm>
            <a:off x="1752600" y="1200150"/>
            <a:ext cx="9829800" cy="419100"/>
            <a:chOff x="1752600" y="1200150"/>
            <a:chExt cx="9829800" cy="419100"/>
          </a:xfrm>
        </p:grpSpPr>
        <p:sp>
          <p:nvSpPr>
            <p:cNvPr id="9" name="ヘッダ2026"/>
            <p:cNvSpPr/>
            <p:nvPr/>
          </p:nvSpPr>
          <p:spPr>
            <a:xfrm>
              <a:off x="1762125" y="1200150"/>
              <a:ext cx="325755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年2026"/>
            <p:cNvSpPr/>
            <p:nvPr/>
          </p:nvSpPr>
          <p:spPr>
            <a:xfrm>
              <a:off x="1752600" y="1257300"/>
              <a:ext cx="3276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2026</a:t>
              </a:r>
            </a:p>
          </p:txBody>
        </p:sp>
        <p:sp>
          <p:nvSpPr>
            <p:cNvPr id="11" name="フェーズ2026"/>
            <p:cNvSpPr/>
            <p:nvPr/>
          </p:nvSpPr>
          <p:spPr>
            <a:xfrm>
              <a:off x="1752600" y="1447800"/>
              <a:ext cx="32766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基盤強化</a:t>
              </a:r>
            </a:p>
          </p:txBody>
        </p:sp>
        <p:sp>
          <p:nvSpPr>
            <p:cNvPr id="12" name="ヘッダ2027"/>
            <p:cNvSpPr/>
            <p:nvPr/>
          </p:nvSpPr>
          <p:spPr>
            <a:xfrm>
              <a:off x="5038725" y="1200150"/>
              <a:ext cx="325755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年2027"/>
            <p:cNvSpPr/>
            <p:nvPr/>
          </p:nvSpPr>
          <p:spPr>
            <a:xfrm>
              <a:off x="5029200" y="1257300"/>
              <a:ext cx="3276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2027</a:t>
              </a:r>
            </a:p>
          </p:txBody>
        </p:sp>
        <p:sp>
          <p:nvSpPr>
            <p:cNvPr id="14" name="フェーズ2027"/>
            <p:cNvSpPr/>
            <p:nvPr/>
          </p:nvSpPr>
          <p:spPr>
            <a:xfrm>
              <a:off x="5029200" y="1447800"/>
              <a:ext cx="32766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領域拡大</a:t>
              </a:r>
            </a:p>
          </p:txBody>
        </p:sp>
        <p:sp>
          <p:nvSpPr>
            <p:cNvPr id="15" name="ヘッダ2028"/>
            <p:cNvSpPr/>
            <p:nvPr/>
          </p:nvSpPr>
          <p:spPr>
            <a:xfrm>
              <a:off x="8315325" y="1200150"/>
              <a:ext cx="325755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年2028"/>
            <p:cNvSpPr/>
            <p:nvPr/>
          </p:nvSpPr>
          <p:spPr>
            <a:xfrm>
              <a:off x="8305800" y="1257300"/>
              <a:ext cx="3276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2028</a:t>
              </a:r>
            </a:p>
          </p:txBody>
        </p:sp>
        <p:sp>
          <p:nvSpPr>
            <p:cNvPr id="17" name="フェーズ2028"/>
            <p:cNvSpPr/>
            <p:nvPr/>
          </p:nvSpPr>
          <p:spPr>
            <a:xfrm>
              <a:off x="8305800" y="1447800"/>
              <a:ext cx="32766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事業進化</a:t>
              </a:r>
            </a:p>
          </p:txBody>
        </p:sp>
      </p:grpSp>
      <p:grpSp>
        <p:nvGrpSpPr>
          <p:cNvPr id="18" name="展望_グリッド"/>
          <p:cNvGrpSpPr/>
          <p:nvPr/>
        </p:nvGrpSpPr>
        <p:grpSpPr>
          <a:xfrm>
            <a:off x="1752600" y="1695450"/>
            <a:ext cx="9829800" cy="2552700"/>
            <a:chOff x="1752600" y="1695450"/>
            <a:chExt cx="9829800" cy="2552700"/>
          </a:xfrm>
        </p:grpSpPr>
        <p:cxnSp>
          <p:nvCxnSpPr>
            <p:cNvPr id="19" name="目盛1"/>
            <p:cNvCxnSpPr/>
            <p:nvPr/>
          </p:nvCxnSpPr>
          <p:spPr>
            <a:xfrm>
              <a:off x="1752600" y="1695450"/>
              <a:ext cx="0" cy="2552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目盛2"/>
            <p:cNvCxnSpPr/>
            <p:nvPr/>
          </p:nvCxnSpPr>
          <p:spPr>
            <a:xfrm>
              <a:off x="5029200" y="1695450"/>
              <a:ext cx="0" cy="2552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目盛3"/>
            <p:cNvCxnSpPr/>
            <p:nvPr/>
          </p:nvCxnSpPr>
          <p:spPr>
            <a:xfrm>
              <a:off x="8305800" y="1695450"/>
              <a:ext cx="0" cy="2552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目盛4"/>
            <p:cNvCxnSpPr/>
            <p:nvPr/>
          </p:nvCxnSpPr>
          <p:spPr>
            <a:xfrm>
              <a:off x="11582400" y="1695450"/>
              <a:ext cx="0" cy="2552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行仕切り268"/>
            <p:cNvCxnSpPr/>
            <p:nvPr/>
          </p:nvCxnSpPr>
          <p:spPr>
            <a:xfrm>
              <a:off x="1752600" y="2552700"/>
              <a:ext cx="9829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行仕切り358"/>
            <p:cNvCxnSpPr/>
            <p:nvPr/>
          </p:nvCxnSpPr>
          <p:spPr>
            <a:xfrm>
              <a:off x="1752600" y="3409950"/>
              <a:ext cx="9829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展望_レーン名"/>
          <p:cNvGrpSpPr/>
          <p:nvPr/>
        </p:nvGrpSpPr>
        <p:grpSpPr>
          <a:xfrm>
            <a:off x="609600" y="2038350"/>
            <a:ext cx="1028700" cy="1885950"/>
            <a:chOff x="609600" y="2038350"/>
            <a:chExt cx="1028700" cy="1885950"/>
          </a:xfrm>
        </p:grpSpPr>
        <p:sp>
          <p:nvSpPr>
            <p:cNvPr id="26" name="レーン_事業"/>
            <p:cNvSpPr/>
            <p:nvPr/>
          </p:nvSpPr>
          <p:spPr>
            <a:xfrm>
              <a:off x="609600" y="2038350"/>
              <a:ext cx="1028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事業</a:t>
              </a:r>
            </a:p>
          </p:txBody>
        </p:sp>
        <p:sp>
          <p:nvSpPr>
            <p:cNvPr id="27" name="レーン_プロダクト"/>
            <p:cNvSpPr/>
            <p:nvPr/>
          </p:nvSpPr>
          <p:spPr>
            <a:xfrm>
              <a:off x="609600" y="2895600"/>
              <a:ext cx="1028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プロダクト</a:t>
              </a:r>
            </a:p>
          </p:txBody>
        </p:sp>
        <p:sp>
          <p:nvSpPr>
            <p:cNvPr id="28" name="レーン_組織"/>
            <p:cNvSpPr/>
            <p:nvPr/>
          </p:nvSpPr>
          <p:spPr>
            <a:xfrm>
              <a:off x="609600" y="3752850"/>
              <a:ext cx="1028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組織</a:t>
              </a:r>
            </a:p>
          </p:txBody>
        </p:sp>
      </p:grpSp>
      <p:grpSp>
        <p:nvGrpSpPr>
          <p:cNvPr id="29" name="展望_バー"/>
          <p:cNvGrpSpPr/>
          <p:nvPr/>
        </p:nvGrpSpPr>
        <p:grpSpPr>
          <a:xfrm>
            <a:off x="1866900" y="1962150"/>
            <a:ext cx="9601200" cy="2038350"/>
            <a:chOff x="1866900" y="1962150"/>
            <a:chExt cx="9601200" cy="2038350"/>
          </a:xfrm>
        </p:grpSpPr>
        <p:sp>
          <p:nvSpPr>
            <p:cNvPr id="30" name="事業バー1"/>
            <p:cNvSpPr/>
            <p:nvPr/>
          </p:nvSpPr>
          <p:spPr>
            <a:xfrm>
              <a:off x="1866900" y="1962150"/>
              <a:ext cx="4686300" cy="323850"/>
            </a:xfrm>
            <a:prstGeom prst="roundRect">
              <a:avLst>
                <a:gd name="adj" fmla="val 23529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事業施策1"/>
            <p:cNvSpPr/>
            <p:nvPr/>
          </p:nvSpPr>
          <p:spPr>
            <a:xfrm>
              <a:off x="1866900" y="1962150"/>
              <a:ext cx="46863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3事業のデータ連携を標準化</a:t>
              </a:r>
            </a:p>
          </p:txBody>
        </p:sp>
        <p:sp>
          <p:nvSpPr>
            <p:cNvPr id="32" name="事業バー2"/>
            <p:cNvSpPr/>
            <p:nvPr/>
          </p:nvSpPr>
          <p:spPr>
            <a:xfrm>
              <a:off x="8420100" y="1962150"/>
              <a:ext cx="3048000" cy="323850"/>
            </a:xfrm>
            <a:prstGeom prst="roundRect">
              <a:avLst>
                <a:gd name="adj" fmla="val 23529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事業施策2"/>
            <p:cNvSpPr/>
            <p:nvPr/>
          </p:nvSpPr>
          <p:spPr>
            <a:xfrm>
              <a:off x="8420100" y="1962150"/>
              <a:ext cx="30480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現場データ基盤サービス開始</a:t>
              </a:r>
            </a:p>
          </p:txBody>
        </p:sp>
        <p:sp>
          <p:nvSpPr>
            <p:cNvPr id="34" name="マイルストーン"/>
            <p:cNvSpPr/>
            <p:nvPr/>
          </p:nvSpPr>
          <p:spPr>
            <a:xfrm>
              <a:off x="8239125" y="20574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プロダクトバー"/>
            <p:cNvSpPr/>
            <p:nvPr/>
          </p:nvSpPr>
          <p:spPr>
            <a:xfrm>
              <a:off x="1866900" y="2819400"/>
              <a:ext cx="6324600" cy="323850"/>
            </a:xfrm>
            <a:prstGeom prst="roundRect">
              <a:avLst>
                <a:gd name="adj" fmla="val 23529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プロダクト施策"/>
            <p:cNvSpPr/>
            <p:nvPr/>
          </p:nvSpPr>
          <p:spPr>
            <a:xfrm>
              <a:off x="1866900" y="2819400"/>
              <a:ext cx="63246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「Sample Cloud」にAI予測機能を拡張</a:t>
              </a:r>
            </a:p>
          </p:txBody>
        </p:sp>
        <p:sp>
          <p:nvSpPr>
            <p:cNvPr id="37" name="組織バー"/>
            <p:cNvSpPr/>
            <p:nvPr/>
          </p:nvSpPr>
          <p:spPr>
            <a:xfrm>
              <a:off x="5143500" y="3676650"/>
              <a:ext cx="6324600" cy="323850"/>
            </a:xfrm>
            <a:prstGeom prst="roundRect">
              <a:avLst>
                <a:gd name="adj" fmla="val 23529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組織施策"/>
            <p:cNvSpPr/>
            <p:nvPr/>
          </p:nvSpPr>
          <p:spPr>
            <a:xfrm>
              <a:off x="5143500" y="3676650"/>
              <a:ext cx="63246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データ人材を40名から80名へ倍増</a:t>
              </a:r>
            </a:p>
          </p:txBody>
        </p:sp>
      </p:grpSp>
      <p:grpSp>
        <p:nvGrpSpPr>
          <p:cNvPr id="39" name="展望_経営目標"/>
          <p:cNvGrpSpPr/>
          <p:nvPr/>
        </p:nvGrpSpPr>
        <p:grpSpPr>
          <a:xfrm>
            <a:off x="609600" y="4476750"/>
            <a:ext cx="10972800" cy="800100"/>
            <a:chOff x="609600" y="4476750"/>
            <a:chExt cx="10972800" cy="800100"/>
          </a:xfrm>
        </p:grpSpPr>
        <p:cxnSp>
          <p:nvCxnSpPr>
            <p:cNvPr id="40" name="仕切り線"/>
            <p:cNvCxnSpPr/>
            <p:nvPr/>
          </p:nvCxnSpPr>
          <p:spPr>
            <a:xfrm>
              <a:off x="609600" y="44767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小見出し"/>
            <p:cNvSpPr/>
            <p:nvPr/>
          </p:nvSpPr>
          <p:spPr>
            <a:xfrm>
              <a:off x="609600" y="4610100"/>
              <a:ext cx="381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2028年の経営目標（サンプル）</a:t>
              </a:r>
            </a:p>
          </p:txBody>
        </p:sp>
        <p:sp>
          <p:nvSpPr>
            <p:cNvPr id="42" name="目標_売上高"/>
            <p:cNvSpPr/>
            <p:nvPr/>
          </p:nvSpPr>
          <p:spPr>
            <a:xfrm>
              <a:off x="1866900" y="483870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売上高</a:t>
              </a:r>
            </a:p>
          </p:txBody>
        </p:sp>
        <p:sp>
          <p:nvSpPr>
            <p:cNvPr id="43" name="目標値_売上高"/>
            <p:cNvSpPr/>
            <p:nvPr/>
          </p:nvSpPr>
          <p:spPr>
            <a:xfrm>
              <a:off x="1866900" y="5029200"/>
              <a:ext cx="30480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52億円 → 100億円</a:t>
              </a:r>
            </a:p>
          </p:txBody>
        </p:sp>
        <p:sp>
          <p:nvSpPr>
            <p:cNvPr id="44" name="目標_取引社数"/>
            <p:cNvSpPr/>
            <p:nvPr/>
          </p:nvSpPr>
          <p:spPr>
            <a:xfrm>
              <a:off x="5143500" y="483870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取引社数</a:t>
              </a:r>
            </a:p>
          </p:txBody>
        </p:sp>
        <p:sp>
          <p:nvSpPr>
            <p:cNvPr id="45" name="目標値_取引社数"/>
            <p:cNvSpPr/>
            <p:nvPr/>
          </p:nvSpPr>
          <p:spPr>
            <a:xfrm>
              <a:off x="5143500" y="5029200"/>
              <a:ext cx="30480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420社 → 600社</a:t>
              </a:r>
            </a:p>
          </p:txBody>
        </p:sp>
        <p:sp>
          <p:nvSpPr>
            <p:cNvPr id="46" name="目標_データ人材"/>
            <p:cNvSpPr/>
            <p:nvPr/>
          </p:nvSpPr>
          <p:spPr>
            <a:xfrm>
              <a:off x="8420100" y="4838700"/>
              <a:ext cx="1143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データ人材</a:t>
              </a:r>
            </a:p>
          </p:txBody>
        </p:sp>
        <p:sp>
          <p:nvSpPr>
            <p:cNvPr id="47" name="目標値_データ人材"/>
            <p:cNvSpPr/>
            <p:nvPr/>
          </p:nvSpPr>
          <p:spPr>
            <a:xfrm>
              <a:off x="8420100" y="5029200"/>
              <a:ext cx="30480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40名 → 80名</a:t>
              </a:r>
            </a:p>
          </p:txBody>
        </p:sp>
      </p:grpSp>
      <p:grpSp>
        <p:nvGrpSpPr>
          <p:cNvPr id="48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49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注：計画・目標値はすべてサンプルです</a:t>
              </a:r>
            </a:p>
          </p:txBody>
        </p:sp>
        <p:sp>
          <p:nvSpPr>
            <p:cNvPr id="50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出所：中期経営計画（2026–2028・サンプル）</a:t>
              </a:r>
            </a:p>
          </p:txBody>
        </p:sp>
        <p:sp>
          <p:nvSpPr>
            <p:cNvPr id="51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9334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まずは、現場の困りごとからお聞かせください</a:t>
              </a:r>
            </a:p>
          </p:txBody>
        </p:sp>
        <p:sp>
          <p:nvSpPr>
            <p:cNvPr id="5" name="セクションタグ"/>
            <p:cNvSpPr/>
            <p:nvPr/>
          </p:nvSpPr>
          <p:spPr>
            <a:xfrm>
              <a:off x="9944100" y="342900"/>
              <a:ext cx="1638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12｜お問い合わせ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連絡先とご相談の流れ</a:t>
              </a:r>
            </a:p>
          </p:txBody>
        </p:sp>
      </p:grpSp>
      <p:grpSp>
        <p:nvGrpSpPr>
          <p:cNvPr id="8" name="問い合わせ_結論ボックス"/>
          <p:cNvGrpSpPr/>
          <p:nvPr/>
        </p:nvGrpSpPr>
        <p:grpSpPr>
          <a:xfrm>
            <a:off x="609600" y="1123950"/>
            <a:ext cx="10972800" cy="1600200"/>
            <a:chOff x="609600" y="1123950"/>
            <a:chExt cx="10972800" cy="1600200"/>
          </a:xfrm>
        </p:grpSpPr>
        <p:sp>
          <p:nvSpPr>
            <p:cNvPr id="9" name="結論ボックス"/>
            <p:cNvSpPr/>
            <p:nvPr/>
          </p:nvSpPr>
          <p:spPr>
            <a:xfrm>
              <a:off x="609600" y="1123950"/>
              <a:ext cx="10972800" cy="1600200"/>
            </a:xfrm>
            <a:prstGeom prst="roundRect">
              <a:avLst>
                <a:gd name="adj" fmla="val 7142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ラベル"/>
            <p:cNvSpPr/>
            <p:nvPr/>
          </p:nvSpPr>
          <p:spPr>
            <a:xfrm>
              <a:off x="609600" y="1333500"/>
              <a:ext cx="10972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4"/>
                  </a:solidFill>
                </a:rPr>
                <a:t>CONTACT</a:t>
              </a:r>
            </a:p>
          </p:txBody>
        </p:sp>
        <p:sp>
          <p:nvSpPr>
            <p:cNvPr id="11" name="結論文"/>
            <p:cNvSpPr/>
            <p:nvPr/>
          </p:nvSpPr>
          <p:spPr>
            <a:xfrm>
              <a:off x="1181100" y="1562100"/>
              <a:ext cx="98298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sz="1500" b="1">
                  <a:solidFill>
                    <a:schemeClr val="lt1"/>
                  </a:solidFill>
                </a:rPr>
                <a:t>情報収集の段階でも歓迎します。貴社の現場に近い活用例を添えて、</a:t>
              </a:r>
            </a:p>
            <a:p>
              <a:pPr algn="ctr">
                <a:lnSpc>
                  <a:spcPct val="150000"/>
                </a:lnSpc>
              </a:pPr>
              <a:r>
                <a:rPr sz="1500" b="1">
                  <a:solidFill>
                    <a:schemeClr val="lt1"/>
                  </a:solidFill>
                </a:rPr>
                <a:t>1営業日以内にご返信します。</a:t>
              </a:r>
            </a:p>
          </p:txBody>
        </p:sp>
        <p:sp>
          <p:nvSpPr>
            <p:cNvPr id="12" name="CTAボタン"/>
            <p:cNvSpPr/>
            <p:nvPr/>
          </p:nvSpPr>
          <p:spPr>
            <a:xfrm>
              <a:off x="5048250" y="2190750"/>
              <a:ext cx="20955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TA文言"/>
            <p:cNvSpPr/>
            <p:nvPr/>
          </p:nvSpPr>
          <p:spPr>
            <a:xfrm>
              <a:off x="5048250" y="2200275"/>
              <a:ext cx="209550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無料相談を申し込む</a:t>
              </a:r>
            </a:p>
          </p:txBody>
        </p:sp>
      </p:grpSp>
      <p:grpSp>
        <p:nvGrpSpPr>
          <p:cNvPr id="14" name="問い合わせ_連絡先左"/>
          <p:cNvGrpSpPr/>
          <p:nvPr/>
        </p:nvGrpSpPr>
        <p:grpSpPr>
          <a:xfrm>
            <a:off x="609600" y="3048000"/>
            <a:ext cx="5143500" cy="990600"/>
            <a:chOff x="609600" y="3048000"/>
            <a:chExt cx="5143500" cy="990600"/>
          </a:xfrm>
        </p:grpSpPr>
        <p:cxnSp>
          <p:nvCxnSpPr>
            <p:cNvPr id="15" name="罫線上端"/>
            <p:cNvCxnSpPr/>
            <p:nvPr/>
          </p:nvCxnSpPr>
          <p:spPr>
            <a:xfrm>
              <a:off x="609600" y="30480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項目_窓口"/>
            <p:cNvSpPr/>
            <p:nvPr/>
          </p:nvSpPr>
          <p:spPr>
            <a:xfrm>
              <a:off x="647700" y="3048000"/>
              <a:ext cx="10477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窓口</a:t>
              </a:r>
            </a:p>
          </p:txBody>
        </p:sp>
        <p:sp>
          <p:nvSpPr>
            <p:cNvPr id="17" name="内容_窓口"/>
            <p:cNvSpPr/>
            <p:nvPr/>
          </p:nvSpPr>
          <p:spPr>
            <a:xfrm>
              <a:off x="1809750" y="3048000"/>
              <a:ext cx="39052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営業企画部 お客様相談窓口</a:t>
              </a:r>
            </a:p>
          </p:txBody>
        </p:sp>
        <p:cxnSp>
          <p:nvCxnSpPr>
            <p:cNvPr id="18" name="罫線1"/>
            <p:cNvCxnSpPr/>
            <p:nvPr/>
          </p:nvCxnSpPr>
          <p:spPr>
            <a:xfrm>
              <a:off x="609600" y="35433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項目_TEL"/>
            <p:cNvSpPr/>
            <p:nvPr/>
          </p:nvSpPr>
          <p:spPr>
            <a:xfrm>
              <a:off x="647700" y="3543300"/>
              <a:ext cx="10477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TEL</a:t>
              </a:r>
            </a:p>
          </p:txBody>
        </p:sp>
        <p:sp>
          <p:nvSpPr>
            <p:cNvPr id="20" name="内容_TEL"/>
            <p:cNvSpPr/>
            <p:nvPr/>
          </p:nvSpPr>
          <p:spPr>
            <a:xfrm>
              <a:off x="1809750" y="3543300"/>
              <a:ext cx="39052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03-0000-0000（平日 9:00–18:00）</a:t>
              </a:r>
            </a:p>
          </p:txBody>
        </p:sp>
        <p:cxnSp>
          <p:nvCxnSpPr>
            <p:cNvPr id="21" name="罫線2"/>
            <p:cNvCxnSpPr/>
            <p:nvPr/>
          </p:nvCxnSpPr>
          <p:spPr>
            <a:xfrm>
              <a:off x="609600" y="40386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問い合わせ_連絡先右"/>
          <p:cNvGrpSpPr/>
          <p:nvPr/>
        </p:nvGrpSpPr>
        <p:grpSpPr>
          <a:xfrm>
            <a:off x="6438900" y="3048000"/>
            <a:ext cx="5143500" cy="990600"/>
            <a:chOff x="6438900" y="3048000"/>
            <a:chExt cx="5143500" cy="990600"/>
          </a:xfrm>
        </p:grpSpPr>
        <p:cxnSp>
          <p:nvCxnSpPr>
            <p:cNvPr id="23" name="罫線上端"/>
            <p:cNvCxnSpPr/>
            <p:nvPr/>
          </p:nvCxnSpPr>
          <p:spPr>
            <a:xfrm>
              <a:off x="6438900" y="30480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項目_MAIL"/>
            <p:cNvSpPr/>
            <p:nvPr/>
          </p:nvSpPr>
          <p:spPr>
            <a:xfrm>
              <a:off x="6477000" y="3048000"/>
              <a:ext cx="10477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MAIL</a:t>
              </a:r>
            </a:p>
          </p:txBody>
        </p:sp>
        <p:sp>
          <p:nvSpPr>
            <p:cNvPr id="25" name="内容_MAIL"/>
            <p:cNvSpPr/>
            <p:nvPr/>
          </p:nvSpPr>
          <p:spPr>
            <a:xfrm>
              <a:off x="7639050" y="3048000"/>
              <a:ext cx="39052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info@sample.example.jp</a:t>
              </a:r>
            </a:p>
          </p:txBody>
        </p:sp>
        <p:cxnSp>
          <p:nvCxnSpPr>
            <p:cNvPr id="26" name="罫線1"/>
            <p:cNvCxnSpPr/>
            <p:nvPr/>
          </p:nvCxnSpPr>
          <p:spPr>
            <a:xfrm>
              <a:off x="6438900" y="35433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項目_WEB"/>
            <p:cNvSpPr/>
            <p:nvPr/>
          </p:nvSpPr>
          <p:spPr>
            <a:xfrm>
              <a:off x="6477000" y="3543300"/>
              <a:ext cx="10477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WEB</a:t>
              </a:r>
            </a:p>
          </p:txBody>
        </p:sp>
        <p:sp>
          <p:nvSpPr>
            <p:cNvPr id="28" name="内容_WEB"/>
            <p:cNvSpPr/>
            <p:nvPr/>
          </p:nvSpPr>
          <p:spPr>
            <a:xfrm>
              <a:off x="7639050" y="3543300"/>
              <a:ext cx="39052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250">
                  <a:solidFill>
                    <a:schemeClr val="dk1"/>
                  </a:solidFill>
                </a:rPr>
                <a:t>https://www.sample.example.jp</a:t>
              </a:r>
            </a:p>
          </p:txBody>
        </p:sp>
        <p:cxnSp>
          <p:nvCxnSpPr>
            <p:cNvPr id="29" name="罫線2"/>
            <p:cNvCxnSpPr/>
            <p:nvPr/>
          </p:nvCxnSpPr>
          <p:spPr>
            <a:xfrm>
              <a:off x="6438900" y="40386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問い合わせ_相談の流れ"/>
          <p:cNvGrpSpPr/>
          <p:nvPr/>
        </p:nvGrpSpPr>
        <p:grpSpPr>
          <a:xfrm>
            <a:off x="609600" y="4400550"/>
            <a:ext cx="10972800" cy="857250"/>
            <a:chOff x="609600" y="4400550"/>
            <a:chExt cx="10972800" cy="857250"/>
          </a:xfrm>
        </p:grpSpPr>
        <p:sp>
          <p:nvSpPr>
            <p:cNvPr id="31" name="小見出し"/>
            <p:cNvSpPr/>
            <p:nvPr/>
          </p:nvSpPr>
          <p:spPr>
            <a:xfrm>
              <a:off x="609600" y="4400550"/>
              <a:ext cx="381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ご相談の流れ</a:t>
              </a:r>
            </a:p>
          </p:txBody>
        </p:sp>
        <p:sp>
          <p:nvSpPr>
            <p:cNvPr id="32" name="ステップ枠1"/>
            <p:cNvSpPr/>
            <p:nvPr/>
          </p:nvSpPr>
          <p:spPr>
            <a:xfrm>
              <a:off x="609600" y="4648200"/>
              <a:ext cx="32385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ステップ1"/>
            <p:cNvSpPr/>
            <p:nvPr/>
          </p:nvSpPr>
          <p:spPr>
            <a:xfrm>
              <a:off x="609600" y="4762500"/>
              <a:ext cx="3238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STEP 1｜お問い合わせ</a:t>
              </a:r>
            </a:p>
          </p:txBody>
        </p:sp>
        <p:sp>
          <p:nvSpPr>
            <p:cNvPr id="34" name="ステップ補足1"/>
            <p:cNvSpPr/>
            <p:nvPr/>
          </p:nvSpPr>
          <p:spPr>
            <a:xfrm>
              <a:off x="609600" y="4991100"/>
              <a:ext cx="3238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フォームまたはメールで受付</a:t>
              </a:r>
            </a:p>
          </p:txBody>
        </p:sp>
        <p:sp>
          <p:nvSpPr>
            <p:cNvPr id="35" name="矢印1"/>
            <p:cNvSpPr/>
            <p:nvPr/>
          </p:nvSpPr>
          <p:spPr>
            <a:xfrm rot="5400000">
              <a:off x="4000500" y="4857750"/>
              <a:ext cx="171450" cy="19050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ステップ枠2"/>
            <p:cNvSpPr/>
            <p:nvPr/>
          </p:nvSpPr>
          <p:spPr>
            <a:xfrm>
              <a:off x="4476750" y="4648200"/>
              <a:ext cx="32385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ステップ2"/>
            <p:cNvSpPr/>
            <p:nvPr/>
          </p:nvSpPr>
          <p:spPr>
            <a:xfrm>
              <a:off x="4476750" y="4762500"/>
              <a:ext cx="3238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STEP 2｜ヒアリング</a:t>
              </a:r>
            </a:p>
          </p:txBody>
        </p:sp>
        <p:sp>
          <p:nvSpPr>
            <p:cNvPr id="38" name="ステップ補足2"/>
            <p:cNvSpPr/>
            <p:nvPr/>
          </p:nvSpPr>
          <p:spPr>
            <a:xfrm>
              <a:off x="4476750" y="4991100"/>
              <a:ext cx="3238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オンライン30分で現状を整理</a:t>
              </a:r>
            </a:p>
          </p:txBody>
        </p:sp>
        <p:sp>
          <p:nvSpPr>
            <p:cNvPr id="39" name="矢印2"/>
            <p:cNvSpPr/>
            <p:nvPr/>
          </p:nvSpPr>
          <p:spPr>
            <a:xfrm rot="5400000">
              <a:off x="7867650" y="4857750"/>
              <a:ext cx="171450" cy="19050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ステップ枠3"/>
            <p:cNvSpPr/>
            <p:nvPr/>
          </p:nvSpPr>
          <p:spPr>
            <a:xfrm>
              <a:off x="8343900" y="4648200"/>
              <a:ext cx="32385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ステップ3"/>
            <p:cNvSpPr/>
            <p:nvPr/>
          </p:nvSpPr>
          <p:spPr>
            <a:xfrm>
              <a:off x="8343900" y="4762500"/>
              <a:ext cx="3238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STEP 3｜ご提案</a:t>
              </a:r>
            </a:p>
          </p:txBody>
        </p:sp>
        <p:sp>
          <p:nvSpPr>
            <p:cNvPr id="42" name="ステップ補足3"/>
            <p:cNvSpPr/>
            <p:nvPr/>
          </p:nvSpPr>
          <p:spPr>
            <a:xfrm>
              <a:off x="8343900" y="4991100"/>
              <a:ext cx="3238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最短2週間でお見積りを提示</a:t>
              </a:r>
            </a:p>
          </p:txBody>
        </p:sp>
      </p:grpSp>
      <p:grpSp>
        <p:nvGrpSpPr>
          <p:cNvPr id="43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44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注：連絡先・社名はすべて架空のサンプルです</a:t>
              </a:r>
            </a:p>
          </p:txBody>
        </p:sp>
        <p:sp>
          <p:nvSpPr>
            <p:cNvPr id="45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出所：株式会社サンプル（サンプル資料）</a:t>
              </a:r>
            </a:p>
          </p:txBody>
        </p:sp>
        <p:sp>
          <p:nvSpPr>
            <p:cNvPr id="46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レイアウト名"/>
          <p:cNvGrpSpPr/>
          <p:nvPr/>
        </p:nvGrpSpPr>
        <p:grpSpPr>
          <a:xfrm>
            <a:off x="7200900" y="247650"/>
            <a:ext cx="4381500" cy="152400"/>
            <a:chOff x="7200900" y="247650"/>
            <a:chExt cx="4381500" cy="152400"/>
          </a:xfrm>
        </p:grpSpPr>
        <p:sp>
          <p:nvSpPr>
            <p:cNvPr id="4" name="レイアウト名"/>
            <p:cNvSpPr/>
            <p:nvPr/>
          </p:nvSpPr>
          <p:spPr>
            <a:xfrm>
              <a:off x="7200900" y="247650"/>
              <a:ext cx="438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レイアウト：表紙01 提案・攻め型</a:t>
              </a:r>
            </a:p>
          </p:txBody>
        </p:sp>
      </p:grpSp>
      <p:grpSp>
        <p:nvGrpSpPr>
          <p:cNvPr id="5" name="表紙01_提案攻め"/>
          <p:cNvGrpSpPr/>
          <p:nvPr/>
        </p:nvGrpSpPr>
        <p:grpSpPr>
          <a:xfrm>
            <a:off x="609600" y="933450"/>
            <a:ext cx="10972800" cy="4171950"/>
            <a:chOff x="609600" y="933450"/>
            <a:chExt cx="10972800" cy="4171950"/>
          </a:xfrm>
        </p:grpSpPr>
        <p:cxnSp>
          <p:nvCxnSpPr>
            <p:cNvPr id="6" name="飾り罫"/>
            <p:cNvCxnSpPr/>
            <p:nvPr/>
          </p:nvCxnSpPr>
          <p:spPr>
            <a:xfrm>
              <a:off x="609600" y="1028700"/>
              <a:ext cx="381000" cy="0"/>
            </a:xfrm>
            <a:prstGeom prst="bentConnector3">
              <a:avLst/>
            </a:prstGeom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書種別"/>
            <p:cNvSpPr/>
            <p:nvPr/>
          </p:nvSpPr>
          <p:spPr>
            <a:xfrm>
              <a:off x="1104900" y="933450"/>
              <a:ext cx="1905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ご提案</a:t>
              </a:r>
            </a:p>
          </p:txBody>
        </p:sp>
        <p:sp>
          <p:nvSpPr>
            <p:cNvPr id="8" name="タイトル"/>
            <p:cNvSpPr/>
            <p:nvPr/>
          </p:nvSpPr>
          <p:spPr>
            <a:xfrm>
              <a:off x="609600" y="1600200"/>
              <a:ext cx="8191500" cy="1047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3200" b="1">
                  <a:solidFill>
                    <a:schemeClr val="dk2"/>
                  </a:solidFill>
                </a:rPr>
                <a:t>営業の書類時間を半分にし、</a:t>
              </a:r>
            </a:p>
            <a:p>
              <a:pPr algn="l">
                <a:lnSpc>
                  <a:spcPct val="140000"/>
                </a:lnSpc>
              </a:pPr>
              <a:r>
                <a:rPr sz="3200" b="1">
                  <a:solidFill>
                    <a:schemeClr val="dk2"/>
                  </a:solidFill>
                </a:rPr>
                <a:t>年1.9万時間を商談に返す</a:t>
              </a:r>
            </a:p>
          </p:txBody>
        </p:sp>
        <p:sp>
          <p:nvSpPr>
            <p:cNvPr id="9" name="サブタイトル"/>
            <p:cNvSpPr/>
            <p:nvPr/>
          </p:nvSpPr>
          <p:spPr>
            <a:xfrm>
              <a:off x="609600" y="3067050"/>
              <a:ext cx="6667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>
                  <a:solidFill>
                    <a:schemeClr val="dk1"/>
                  </a:solidFill>
                </a:rPr>
                <a:t>業務改善AI「◯◯」導入のご提案</a:t>
              </a:r>
            </a:p>
          </p:txBody>
        </p:sp>
        <p:cxnSp>
          <p:nvCxnSpPr>
            <p:cNvPr id="10" name="縦罫線"/>
            <p:cNvCxnSpPr/>
            <p:nvPr/>
          </p:nvCxnSpPr>
          <p:spPr>
            <a:xfrm>
              <a:off x="8915400" y="1676400"/>
              <a:ext cx="0" cy="11811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数字ラベル"/>
            <p:cNvSpPr/>
            <p:nvPr/>
          </p:nvSpPr>
          <p:spPr>
            <a:xfrm>
              <a:off x="9220200" y="1752600"/>
              <a:ext cx="2362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書類作成時間の削減率</a:t>
              </a:r>
            </a:p>
          </p:txBody>
        </p:sp>
        <p:sp>
          <p:nvSpPr>
            <p:cNvPr id="12" name="数字補足"/>
            <p:cNvSpPr/>
            <p:nvPr/>
          </p:nvSpPr>
          <p:spPr>
            <a:xfrm>
              <a:off x="9220200" y="1943100"/>
              <a:ext cx="2362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（導入初年度・試算）</a:t>
              </a:r>
            </a:p>
          </p:txBody>
        </p:sp>
        <p:sp>
          <p:nvSpPr>
            <p:cNvPr id="13" name="効果数字"/>
            <p:cNvSpPr/>
            <p:nvPr/>
          </p:nvSpPr>
          <p:spPr>
            <a:xfrm>
              <a:off x="9220200" y="2152650"/>
              <a:ext cx="23622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5200" b="1">
                  <a:solidFill>
                    <a:schemeClr val="accent2"/>
                  </a:solidFill>
                </a:rPr>
                <a:t>−50%</a:t>
              </a:r>
            </a:p>
          </p:txBody>
        </p:sp>
        <p:cxnSp>
          <p:nvCxnSpPr>
            <p:cNvPr id="14" name="区切り線"/>
            <p:cNvCxnSpPr/>
            <p:nvPr/>
          </p:nvCxnSpPr>
          <p:spPr>
            <a:xfrm>
              <a:off x="609600" y="4305300"/>
              <a:ext cx="52959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宛先"/>
            <p:cNvSpPr/>
            <p:nvPr/>
          </p:nvSpPr>
          <p:spPr>
            <a:xfrm>
              <a:off x="609600" y="4552950"/>
              <a:ext cx="47625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株式会社◯◯ 御中</a:t>
              </a:r>
            </a:p>
          </p:txBody>
        </p:sp>
        <p:sp>
          <p:nvSpPr>
            <p:cNvPr id="16" name="差出・日付"/>
            <p:cNvSpPr/>
            <p:nvPr/>
          </p:nvSpPr>
          <p:spPr>
            <a:xfrm>
              <a:off x="609600" y="4914900"/>
              <a:ext cx="666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△△コンサルティング株式会社｜20XX年◯月◯日</a:t>
              </a:r>
            </a:p>
          </p:txBody>
        </p:sp>
      </p:grpSp>
      <p:grpSp>
        <p:nvGrpSpPr>
          <p:cNvPr id="17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18" name="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Confidential　　注：本資料の社名・数値・文言はすべてサンプルです</a:t>
              </a:r>
            </a:p>
          </p:txBody>
        </p:sp>
        <p:sp>
          <p:nvSpPr>
            <p:cNvPr id="19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レイアウト名"/>
          <p:cNvGrpSpPr/>
          <p:nvPr/>
        </p:nvGrpSpPr>
        <p:grpSpPr>
          <a:xfrm>
            <a:off x="7200900" y="247650"/>
            <a:ext cx="4381500" cy="152400"/>
            <a:chOff x="7200900" y="247650"/>
            <a:chExt cx="4381500" cy="152400"/>
          </a:xfrm>
        </p:grpSpPr>
        <p:sp>
          <p:nvSpPr>
            <p:cNvPr id="4" name="レイアウト名"/>
            <p:cNvSpPr/>
            <p:nvPr/>
          </p:nvSpPr>
          <p:spPr>
            <a:xfrm>
              <a:off x="7200900" y="247650"/>
              <a:ext cx="438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レイアウト：表紙02 提案・標準型</a:t>
              </a:r>
            </a:p>
          </p:txBody>
        </p:sp>
      </p:grpSp>
      <p:grpSp>
        <p:nvGrpSpPr>
          <p:cNvPr id="5" name="表紙02_提案標準"/>
          <p:cNvGrpSpPr/>
          <p:nvPr/>
        </p:nvGrpSpPr>
        <p:grpSpPr>
          <a:xfrm>
            <a:off x="609600" y="914400"/>
            <a:ext cx="10972800" cy="4419600"/>
            <a:chOff x="609600" y="914400"/>
            <a:chExt cx="10972800" cy="4419600"/>
          </a:xfrm>
        </p:grpSpPr>
        <p:sp>
          <p:nvSpPr>
            <p:cNvPr id="6" name="文書番号"/>
            <p:cNvSpPr/>
            <p:nvPr/>
          </p:nvSpPr>
          <p:spPr>
            <a:xfrm>
              <a:off x="8915400" y="914400"/>
              <a:ext cx="2667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文書番号：P-20XX-042</a:t>
              </a:r>
            </a:p>
          </p:txBody>
        </p:sp>
        <p:sp>
          <p:nvSpPr>
            <p:cNvPr id="7" name="種別ピル"/>
            <p:cNvSpPr/>
            <p:nvPr/>
          </p:nvSpPr>
          <p:spPr>
            <a:xfrm>
              <a:off x="5619750" y="1219200"/>
              <a:ext cx="952500" cy="266700"/>
            </a:xfrm>
            <a:prstGeom prst="roundRect">
              <a:avLst>
                <a:gd name="adj" fmla="val 50000"/>
              </a:avLst>
            </a:prstGeom>
            <a:noFill/>
            <a:ln w="11906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619750" y="1228725"/>
              <a:ext cx="952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ご提案書</a:t>
              </a:r>
            </a:p>
          </p:txBody>
        </p:sp>
        <p:sp>
          <p:nvSpPr>
            <p:cNvPr id="9" name="タイトル"/>
            <p:cNvSpPr/>
            <p:nvPr/>
          </p:nvSpPr>
          <p:spPr>
            <a:xfrm>
              <a:off x="609600" y="2209800"/>
              <a:ext cx="109728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3000" b="1">
                  <a:solidFill>
                    <a:schemeClr val="dk2"/>
                  </a:solidFill>
                </a:rPr>
                <a:t>販売管理システム刷新のご提案</a:t>
              </a:r>
            </a:p>
          </p:txBody>
        </p:sp>
        <p:sp>
          <p:nvSpPr>
            <p:cNvPr id="10" name="サブタイトル"/>
            <p:cNvSpPr/>
            <p:nvPr/>
          </p:nvSpPr>
          <p:spPr>
            <a:xfrm>
              <a:off x="609600" y="2857500"/>
              <a:ext cx="109728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50">
                  <a:solidFill>
                    <a:schemeClr val="dk1"/>
                  </a:solidFill>
                </a:rPr>
                <a:t>― 「入力は一度だけ」を、全社の当たり前に ―</a:t>
              </a:r>
            </a:p>
          </p:txBody>
        </p:sp>
        <p:cxnSp>
          <p:nvCxnSpPr>
            <p:cNvPr id="11" name="区切り線"/>
            <p:cNvCxnSpPr/>
            <p:nvPr/>
          </p:nvCxnSpPr>
          <p:spPr>
            <a:xfrm>
              <a:off x="4572000" y="3505200"/>
              <a:ext cx="3048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宛先"/>
            <p:cNvSpPr/>
            <p:nvPr/>
          </p:nvSpPr>
          <p:spPr>
            <a:xfrm>
              <a:off x="609600" y="3790950"/>
              <a:ext cx="109728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株式会社◯◯ 御中</a:t>
              </a:r>
            </a:p>
          </p:txBody>
        </p:sp>
        <p:sp>
          <p:nvSpPr>
            <p:cNvPr id="13" name="差出"/>
            <p:cNvSpPr/>
            <p:nvPr/>
          </p:nvSpPr>
          <p:spPr>
            <a:xfrm>
              <a:off x="609600" y="4876800"/>
              <a:ext cx="109728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1"/>
                  </a:solidFill>
                </a:rPr>
                <a:t>△△株式会社 ソリューション事業部</a:t>
              </a:r>
            </a:p>
          </p:txBody>
        </p:sp>
        <p:sp>
          <p:nvSpPr>
            <p:cNvPr id="14" name="日付"/>
            <p:cNvSpPr/>
            <p:nvPr/>
          </p:nvSpPr>
          <p:spPr>
            <a:xfrm>
              <a:off x="609600" y="5162550"/>
              <a:ext cx="10972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20XX年◯月◯日</a:t>
              </a:r>
            </a:p>
          </p:txBody>
        </p:sp>
      </p:grpSp>
      <p:grpSp>
        <p:nvGrpSpPr>
          <p:cNvPr id="15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16" name="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Confidential　　注：本資料の社名・数値・文言はすべてサンプルです</a:t>
              </a:r>
            </a:p>
          </p:txBody>
        </p:sp>
        <p:sp>
          <p:nvSpPr>
            <p:cNvPr id="17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レイアウト名"/>
          <p:cNvGrpSpPr/>
          <p:nvPr/>
        </p:nvGrpSpPr>
        <p:grpSpPr>
          <a:xfrm>
            <a:off x="7200900" y="247650"/>
            <a:ext cx="4381500" cy="152400"/>
            <a:chOff x="7200900" y="247650"/>
            <a:chExt cx="4381500" cy="152400"/>
          </a:xfrm>
        </p:grpSpPr>
        <p:sp>
          <p:nvSpPr>
            <p:cNvPr id="4" name="レイアウト名"/>
            <p:cNvSpPr/>
            <p:nvPr/>
          </p:nvSpPr>
          <p:spPr>
            <a:xfrm>
              <a:off x="7200900" y="247650"/>
              <a:ext cx="438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レイアウト：表紙03 報告・月次型</a:t>
              </a:r>
            </a:p>
          </p:txBody>
        </p:sp>
      </p:grpSp>
      <p:grpSp>
        <p:nvGrpSpPr>
          <p:cNvPr id="5" name="表紙03_報告月次"/>
          <p:cNvGrpSpPr/>
          <p:nvPr/>
        </p:nvGrpSpPr>
        <p:grpSpPr>
          <a:xfrm>
            <a:off x="609600" y="876300"/>
            <a:ext cx="10972800" cy="4362450"/>
            <a:chOff x="609600" y="876300"/>
            <a:chExt cx="10972800" cy="4362450"/>
          </a:xfrm>
        </p:grpSpPr>
        <p:sp>
          <p:nvSpPr>
            <p:cNvPr id="6" name="会議体タグ"/>
            <p:cNvSpPr/>
            <p:nvPr/>
          </p:nvSpPr>
          <p:spPr>
            <a:xfrm>
              <a:off x="609600" y="876300"/>
              <a:ext cx="1028700" cy="285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09600" y="885825"/>
              <a:ext cx="10287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経営会議</a:t>
              </a:r>
            </a:p>
          </p:txBody>
        </p:sp>
        <p:sp>
          <p:nvSpPr>
            <p:cNvPr id="8" name="会議種別"/>
            <p:cNvSpPr/>
            <p:nvPr/>
          </p:nvSpPr>
          <p:spPr>
            <a:xfrm>
              <a:off x="1771650" y="93345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月次定例報告</a:t>
              </a:r>
            </a:p>
          </p:txBody>
        </p:sp>
        <p:sp>
          <p:nvSpPr>
            <p:cNvPr id="9" name="回次"/>
            <p:cNvSpPr/>
            <p:nvPr/>
          </p:nvSpPr>
          <p:spPr>
            <a:xfrm>
              <a:off x="7772400" y="933450"/>
              <a:ext cx="3810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20XX年度 上期｜第◯回</a:t>
              </a:r>
            </a:p>
          </p:txBody>
        </p:sp>
        <p:sp>
          <p:nvSpPr>
            <p:cNvPr id="10" name="タイトル"/>
            <p:cNvSpPr/>
            <p:nvPr/>
          </p:nvSpPr>
          <p:spPr>
            <a:xfrm>
              <a:off x="609600" y="1962150"/>
              <a:ext cx="10287000" cy="457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800" b="1">
                  <a:solidFill>
                    <a:schemeClr val="dk2"/>
                  </a:solidFill>
                </a:rPr>
                <a:t>20XX年◯月度 営業部門 月次報告</a:t>
              </a:r>
            </a:p>
          </p:txBody>
        </p:sp>
        <p:sp>
          <p:nvSpPr>
            <p:cNvPr id="11" name="結論バー"/>
            <p:cNvSpPr/>
            <p:nvPr/>
          </p:nvSpPr>
          <p:spPr>
            <a:xfrm>
              <a:off x="609600" y="2724150"/>
              <a:ext cx="381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今月の結論"/>
            <p:cNvSpPr/>
            <p:nvPr/>
          </p:nvSpPr>
          <p:spPr>
            <a:xfrm>
              <a:off x="800100" y="2743200"/>
              <a:ext cx="95250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>
                  <a:solidFill>
                    <a:schemeClr val="dk1"/>
                  </a:solidFill>
                </a:rPr>
                <a:t>受注は計画比102%で着地。来月の焦点は新規開拓の商談化率である</a:t>
              </a:r>
            </a:p>
          </p:txBody>
        </p:sp>
        <p:cxnSp>
          <p:nvCxnSpPr>
            <p:cNvPr id="13" name="メタ上罫線"/>
            <p:cNvCxnSpPr/>
            <p:nvPr/>
          </p:nvCxnSpPr>
          <p:spPr>
            <a:xfrm>
              <a:off x="609600" y="44767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メタ項目_対象期間"/>
            <p:cNvSpPr/>
            <p:nvPr/>
          </p:nvSpPr>
          <p:spPr>
            <a:xfrm>
              <a:off x="609600" y="4629150"/>
              <a:ext cx="2476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対象期間</a:t>
              </a:r>
            </a:p>
          </p:txBody>
        </p:sp>
        <p:sp>
          <p:nvSpPr>
            <p:cNvPr id="15" name="メタ値_対象期間"/>
            <p:cNvSpPr/>
            <p:nvPr/>
          </p:nvSpPr>
          <p:spPr>
            <a:xfrm>
              <a:off x="609600" y="4838700"/>
              <a:ext cx="2590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20XX年◯月1日–◯月31日</a:t>
              </a:r>
            </a:p>
          </p:txBody>
        </p:sp>
        <p:cxnSp>
          <p:nvCxnSpPr>
            <p:cNvPr id="16" name="メタ区切り1"/>
            <p:cNvCxnSpPr/>
            <p:nvPr/>
          </p:nvCxnSpPr>
          <p:spPr>
            <a:xfrm>
              <a:off x="3200400" y="4610100"/>
              <a:ext cx="0" cy="4762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メタ項目_所管部署"/>
            <p:cNvSpPr/>
            <p:nvPr/>
          </p:nvSpPr>
          <p:spPr>
            <a:xfrm>
              <a:off x="3352800" y="4629150"/>
              <a:ext cx="2476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所管部署</a:t>
              </a:r>
            </a:p>
          </p:txBody>
        </p:sp>
        <p:sp>
          <p:nvSpPr>
            <p:cNvPr id="18" name="メタ値_所管部署"/>
            <p:cNvSpPr/>
            <p:nvPr/>
          </p:nvSpPr>
          <p:spPr>
            <a:xfrm>
              <a:off x="3352800" y="4838700"/>
              <a:ext cx="2590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営業部門</a:t>
              </a:r>
            </a:p>
          </p:txBody>
        </p:sp>
        <p:cxnSp>
          <p:nvCxnSpPr>
            <p:cNvPr id="19" name="メタ区切り2"/>
            <p:cNvCxnSpPr/>
            <p:nvPr/>
          </p:nvCxnSpPr>
          <p:spPr>
            <a:xfrm>
              <a:off x="5943600" y="4610100"/>
              <a:ext cx="0" cy="4762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メタ項目_報告者"/>
            <p:cNvSpPr/>
            <p:nvPr/>
          </p:nvSpPr>
          <p:spPr>
            <a:xfrm>
              <a:off x="6096000" y="4629150"/>
              <a:ext cx="2476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報告者</a:t>
              </a:r>
            </a:p>
          </p:txBody>
        </p:sp>
        <p:sp>
          <p:nvSpPr>
            <p:cNvPr id="21" name="メタ値_報告者"/>
            <p:cNvSpPr/>
            <p:nvPr/>
          </p:nvSpPr>
          <p:spPr>
            <a:xfrm>
              <a:off x="6096000" y="4838700"/>
              <a:ext cx="2590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◯◯ ◯◯（営業部長）</a:t>
              </a:r>
            </a:p>
          </p:txBody>
        </p:sp>
        <p:cxnSp>
          <p:nvCxnSpPr>
            <p:cNvPr id="22" name="メタ区切り3"/>
            <p:cNvCxnSpPr/>
            <p:nvPr/>
          </p:nvCxnSpPr>
          <p:spPr>
            <a:xfrm>
              <a:off x="8686800" y="4610100"/>
              <a:ext cx="0" cy="4762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メタ項目_報告日"/>
            <p:cNvSpPr/>
            <p:nvPr/>
          </p:nvSpPr>
          <p:spPr>
            <a:xfrm>
              <a:off x="8839200" y="4629150"/>
              <a:ext cx="2476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報告日</a:t>
              </a:r>
            </a:p>
          </p:txBody>
        </p:sp>
        <p:sp>
          <p:nvSpPr>
            <p:cNvPr id="24" name="メタ値_報告日"/>
            <p:cNvSpPr/>
            <p:nvPr/>
          </p:nvSpPr>
          <p:spPr>
            <a:xfrm>
              <a:off x="8839200" y="4838700"/>
              <a:ext cx="2590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20XX年◯月◯日</a:t>
              </a:r>
            </a:p>
          </p:txBody>
        </p:sp>
        <p:cxnSp>
          <p:nvCxnSpPr>
            <p:cNvPr id="25" name="メタ下罫線"/>
            <p:cNvCxnSpPr/>
            <p:nvPr/>
          </p:nvCxnSpPr>
          <p:spPr>
            <a:xfrm>
              <a:off x="609600" y="52387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27" name="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出所：営業管理システム 20XX年◯月末時点　　注：本資料の社名・数値・文言はすべてサンプルです</a:t>
              </a:r>
            </a:p>
          </p:txBody>
        </p:sp>
        <p:sp>
          <p:nvSpPr>
            <p:cNvPr id="28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レイアウト名"/>
          <p:cNvGrpSpPr/>
          <p:nvPr/>
        </p:nvGrpSpPr>
        <p:grpSpPr>
          <a:xfrm>
            <a:off x="7200900" y="247650"/>
            <a:ext cx="4381500" cy="152400"/>
            <a:chOff x="7200900" y="247650"/>
            <a:chExt cx="4381500" cy="152400"/>
          </a:xfrm>
        </p:grpSpPr>
        <p:sp>
          <p:nvSpPr>
            <p:cNvPr id="4" name="レイアウト名"/>
            <p:cNvSpPr/>
            <p:nvPr/>
          </p:nvSpPr>
          <p:spPr>
            <a:xfrm>
              <a:off x="7200900" y="247650"/>
              <a:ext cx="438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4"/>
                  </a:solidFill>
                </a:rPr>
                <a:t>レイアウト：表紙08 ミニマル型（章扉兼用）</a:t>
              </a:r>
            </a:p>
          </p:txBody>
        </p:sp>
      </p:grpSp>
      <p:grpSp>
        <p:nvGrpSpPr>
          <p:cNvPr id="5" name="表紙08_ミニマル"/>
          <p:cNvGrpSpPr/>
          <p:nvPr/>
        </p:nvGrpSpPr>
        <p:grpSpPr>
          <a:xfrm>
            <a:off x="609600" y="3143250"/>
            <a:ext cx="9525000" cy="1028700"/>
            <a:chOff x="609600" y="3143250"/>
            <a:chExt cx="9525000" cy="1028700"/>
          </a:xfrm>
        </p:grpSpPr>
        <p:cxnSp>
          <p:nvCxnSpPr>
            <p:cNvPr id="6" name="飾り罫"/>
            <p:cNvCxnSpPr/>
            <p:nvPr/>
          </p:nvCxnSpPr>
          <p:spPr>
            <a:xfrm>
              <a:off x="609600" y="3143250"/>
              <a:ext cx="533400" cy="0"/>
            </a:xfrm>
            <a:prstGeom prst="bentConnector3">
              <a:avLst/>
            </a:prstGeom>
            <a:ln w="19050">
              <a:solidFill>
                <a:schemeClr val="accent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タイトル"/>
            <p:cNvSpPr/>
            <p:nvPr/>
          </p:nvSpPr>
          <p:spPr>
            <a:xfrm>
              <a:off x="609600" y="3352800"/>
              <a:ext cx="9525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3000" b="1">
                  <a:solidFill>
                    <a:schemeClr val="lt1"/>
                  </a:solidFill>
                </a:rPr>
                <a:t>業務改善AIの導入について</a:t>
              </a:r>
            </a:p>
          </p:txBody>
        </p:sp>
        <p:sp>
          <p:nvSpPr>
            <p:cNvPr id="8" name="日付・部署"/>
            <p:cNvSpPr/>
            <p:nvPr/>
          </p:nvSpPr>
          <p:spPr>
            <a:xfrm>
              <a:off x="609600" y="3981450"/>
              <a:ext cx="666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4"/>
                  </a:solidFill>
                </a:rPr>
                <a:t>20XX年◯月◯日｜経営企画室</a:t>
              </a:r>
            </a:p>
          </p:txBody>
        </p:sp>
      </p:grpSp>
      <p:grpSp>
        <p:nvGrpSpPr>
          <p:cNvPr id="9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10" name="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4"/>
                  </a:solidFill>
                </a:rPr>
                <a:t>注：本資料の社名・数値・文言はすべてサンプルです</a:t>
              </a:r>
            </a:p>
          </p:txBody>
        </p:sp>
        <p:sp>
          <p:nvSpPr>
            <p:cNvPr id="11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4"/>
                  </a:solidFill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838200"/>
            <a:chOff x="609600" y="285750"/>
            <a:chExt cx="10972800" cy="8382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666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本日の流れ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本日の論点は、現状・打ち手・計画の3つである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レイアウト名"/>
          <p:cNvGrpSpPr/>
          <p:nvPr/>
        </p:nvGrpSpPr>
        <p:grpSpPr>
          <a:xfrm>
            <a:off x="7200900" y="247650"/>
            <a:ext cx="4381500" cy="152400"/>
            <a:chOff x="7200900" y="247650"/>
            <a:chExt cx="4381500" cy="152400"/>
          </a:xfrm>
        </p:grpSpPr>
        <p:sp>
          <p:nvSpPr>
            <p:cNvPr id="8" name="レイアウト名"/>
            <p:cNvSpPr/>
            <p:nvPr/>
          </p:nvSpPr>
          <p:spPr>
            <a:xfrm>
              <a:off x="7200900" y="247650"/>
              <a:ext cx="438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レイアウト：目次01 標準・数字リスト</a:t>
              </a:r>
            </a:p>
          </p:txBody>
        </p:sp>
      </p:grpSp>
      <p:grpSp>
        <p:nvGrpSpPr>
          <p:cNvPr id="9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10" name="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注：本資料の社名・数値・文言はすべてサンプルです</a:t>
              </a:r>
            </a:p>
          </p:txBody>
        </p:sp>
        <p:sp>
          <p:nvSpPr>
            <p:cNvPr id="11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10</a:t>
              </a:r>
            </a:p>
          </p:txBody>
        </p:sp>
      </p:grpSp>
      <p:grpSp>
        <p:nvGrpSpPr>
          <p:cNvPr id="12" name="目次01_標準数字リスト"/>
          <p:cNvGrpSpPr/>
          <p:nvPr/>
        </p:nvGrpSpPr>
        <p:grpSpPr>
          <a:xfrm>
            <a:off x="609600" y="1524000"/>
            <a:ext cx="10972800" cy="3486150"/>
            <a:chOff x="609600" y="1524000"/>
            <a:chExt cx="10972800" cy="3486150"/>
          </a:xfrm>
        </p:grpSpPr>
        <p:sp>
          <p:nvSpPr>
            <p:cNvPr id="13" name="番号01"/>
            <p:cNvSpPr/>
            <p:nvPr/>
          </p:nvSpPr>
          <p:spPr>
            <a:xfrm>
              <a:off x="609600" y="1524000"/>
              <a:ext cx="40005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09600" y="15335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01</a:t>
              </a:r>
            </a:p>
          </p:txBody>
        </p:sp>
        <p:sp>
          <p:nvSpPr>
            <p:cNvPr id="15" name="章タイトル01"/>
            <p:cNvSpPr/>
            <p:nvPr/>
          </p:nvSpPr>
          <p:spPr>
            <a:xfrm>
              <a:off x="1238250" y="1524000"/>
              <a:ext cx="4381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現状と課題</a:t>
              </a:r>
            </a:p>
          </p:txBody>
        </p:sp>
        <p:sp>
          <p:nvSpPr>
            <p:cNvPr id="16" name="章説明01"/>
            <p:cNvSpPr/>
            <p:nvPr/>
          </p:nvSpPr>
          <p:spPr>
            <a:xfrm>
              <a:off x="1238250" y="1790700"/>
              <a:ext cx="6096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データで現状を確認し、課題の大きさを共有する</a:t>
              </a:r>
            </a:p>
          </p:txBody>
        </p:sp>
        <p:sp>
          <p:nvSpPr>
            <p:cNvPr id="17" name="頁01"/>
            <p:cNvSpPr/>
            <p:nvPr/>
          </p:nvSpPr>
          <p:spPr>
            <a:xfrm>
              <a:off x="10439400" y="1562100"/>
              <a:ext cx="114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P.03</a:t>
              </a:r>
            </a:p>
          </p:txBody>
        </p:sp>
        <p:cxnSp>
          <p:nvCxnSpPr>
            <p:cNvPr id="18" name="区切り線1"/>
            <p:cNvCxnSpPr/>
            <p:nvPr/>
          </p:nvCxnSpPr>
          <p:spPr>
            <a:xfrm>
              <a:off x="609600" y="21336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番号02"/>
            <p:cNvSpPr/>
            <p:nvPr/>
          </p:nvSpPr>
          <p:spPr>
            <a:xfrm>
              <a:off x="609600" y="2286000"/>
              <a:ext cx="40005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09600" y="22955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02</a:t>
              </a:r>
            </a:p>
          </p:txBody>
        </p:sp>
        <p:sp>
          <p:nvSpPr>
            <p:cNvPr id="21" name="章タイトル02"/>
            <p:cNvSpPr/>
            <p:nvPr/>
          </p:nvSpPr>
          <p:spPr>
            <a:xfrm>
              <a:off x="1238250" y="2286000"/>
              <a:ext cx="4381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課題の真因</a:t>
              </a:r>
            </a:p>
          </p:txBody>
        </p:sp>
        <p:sp>
          <p:nvSpPr>
            <p:cNvPr id="22" name="章説明02"/>
            <p:cNvSpPr/>
            <p:nvPr/>
          </p:nvSpPr>
          <p:spPr>
            <a:xfrm>
              <a:off x="1238250" y="2552700"/>
              <a:ext cx="6096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時間がどこに消えているかを構造で特定する</a:t>
              </a:r>
            </a:p>
          </p:txBody>
        </p:sp>
        <p:sp>
          <p:nvSpPr>
            <p:cNvPr id="23" name="頁02"/>
            <p:cNvSpPr/>
            <p:nvPr/>
          </p:nvSpPr>
          <p:spPr>
            <a:xfrm>
              <a:off x="10439400" y="2324100"/>
              <a:ext cx="114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P.06</a:t>
              </a:r>
            </a:p>
          </p:txBody>
        </p:sp>
        <p:cxnSp>
          <p:nvCxnSpPr>
            <p:cNvPr id="24" name="区切り線2"/>
            <p:cNvCxnSpPr/>
            <p:nvPr/>
          </p:nvCxnSpPr>
          <p:spPr>
            <a:xfrm>
              <a:off x="609600" y="28956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番号03"/>
            <p:cNvSpPr/>
            <p:nvPr/>
          </p:nvSpPr>
          <p:spPr>
            <a:xfrm>
              <a:off x="609600" y="3048000"/>
              <a:ext cx="40005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09600" y="30575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03</a:t>
              </a:r>
            </a:p>
          </p:txBody>
        </p:sp>
        <p:sp>
          <p:nvSpPr>
            <p:cNvPr id="27" name="章タイトル03"/>
            <p:cNvSpPr/>
            <p:nvPr/>
          </p:nvSpPr>
          <p:spPr>
            <a:xfrm>
              <a:off x="1238250" y="3048000"/>
              <a:ext cx="4381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打ち手の比較</a:t>
              </a:r>
            </a:p>
          </p:txBody>
        </p:sp>
        <p:sp>
          <p:nvSpPr>
            <p:cNvPr id="28" name="章説明03"/>
            <p:cNvSpPr/>
            <p:nvPr/>
          </p:nvSpPr>
          <p:spPr>
            <a:xfrm>
              <a:off x="1238250" y="3314700"/>
              <a:ext cx="6096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3つの選択肢を費用対効果で比較し、推奨案を示す</a:t>
              </a:r>
            </a:p>
          </p:txBody>
        </p:sp>
        <p:sp>
          <p:nvSpPr>
            <p:cNvPr id="29" name="頁03"/>
            <p:cNvSpPr/>
            <p:nvPr/>
          </p:nvSpPr>
          <p:spPr>
            <a:xfrm>
              <a:off x="10439400" y="3086100"/>
              <a:ext cx="114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P.09</a:t>
              </a:r>
            </a:p>
          </p:txBody>
        </p:sp>
        <p:cxnSp>
          <p:nvCxnSpPr>
            <p:cNvPr id="30" name="区切り線3"/>
            <p:cNvCxnSpPr/>
            <p:nvPr/>
          </p:nvCxnSpPr>
          <p:spPr>
            <a:xfrm>
              <a:off x="609600" y="36576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番号04"/>
            <p:cNvSpPr/>
            <p:nvPr/>
          </p:nvSpPr>
          <p:spPr>
            <a:xfrm>
              <a:off x="609600" y="3810000"/>
              <a:ext cx="40005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09600" y="38195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04</a:t>
              </a:r>
            </a:p>
          </p:txBody>
        </p:sp>
        <p:sp>
          <p:nvSpPr>
            <p:cNvPr id="33" name="章タイトル04"/>
            <p:cNvSpPr/>
            <p:nvPr/>
          </p:nvSpPr>
          <p:spPr>
            <a:xfrm>
              <a:off x="1238250" y="3810000"/>
              <a:ext cx="4381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効果と計画</a:t>
              </a:r>
            </a:p>
          </p:txBody>
        </p:sp>
        <p:sp>
          <p:nvSpPr>
            <p:cNvPr id="34" name="章説明04"/>
            <p:cNvSpPr/>
            <p:nvPr/>
          </p:nvSpPr>
          <p:spPr>
            <a:xfrm>
              <a:off x="1238250" y="4076700"/>
              <a:ext cx="6096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期待効果・投資回収・スケジュールを提示する</a:t>
              </a:r>
            </a:p>
          </p:txBody>
        </p:sp>
        <p:sp>
          <p:nvSpPr>
            <p:cNvPr id="35" name="頁04"/>
            <p:cNvSpPr/>
            <p:nvPr/>
          </p:nvSpPr>
          <p:spPr>
            <a:xfrm>
              <a:off x="10439400" y="3848100"/>
              <a:ext cx="114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P.12</a:t>
              </a:r>
            </a:p>
          </p:txBody>
        </p:sp>
        <p:cxnSp>
          <p:nvCxnSpPr>
            <p:cNvPr id="36" name="区切り線4"/>
            <p:cNvCxnSpPr/>
            <p:nvPr/>
          </p:nvCxnSpPr>
          <p:spPr>
            <a:xfrm>
              <a:off x="609600" y="44196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番号05"/>
            <p:cNvSpPr/>
            <p:nvPr/>
          </p:nvSpPr>
          <p:spPr>
            <a:xfrm>
              <a:off x="609600" y="4572000"/>
              <a:ext cx="400050" cy="40005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09600" y="45815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05</a:t>
              </a:r>
            </a:p>
          </p:txBody>
        </p:sp>
        <p:sp>
          <p:nvSpPr>
            <p:cNvPr id="39" name="章タイトル05"/>
            <p:cNvSpPr/>
            <p:nvPr/>
          </p:nvSpPr>
          <p:spPr>
            <a:xfrm>
              <a:off x="1238250" y="4572000"/>
              <a:ext cx="4381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費用と次の一歩</a:t>
              </a:r>
            </a:p>
          </p:txBody>
        </p:sp>
        <p:sp>
          <p:nvSpPr>
            <p:cNvPr id="40" name="章説明05"/>
            <p:cNvSpPr/>
            <p:nvPr/>
          </p:nvSpPr>
          <p:spPr>
            <a:xfrm>
              <a:off x="1238250" y="4838700"/>
              <a:ext cx="6096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投資額と、最初に決めていただきたい事項</a:t>
              </a:r>
            </a:p>
          </p:txBody>
        </p:sp>
        <p:sp>
          <p:nvSpPr>
            <p:cNvPr id="41" name="頁05"/>
            <p:cNvSpPr/>
            <p:nvPr/>
          </p:nvSpPr>
          <p:spPr>
            <a:xfrm>
              <a:off x="10439400" y="4610100"/>
              <a:ext cx="114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P.15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838200"/>
            <a:chOff x="609600" y="285750"/>
            <a:chExt cx="10972800" cy="8382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666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本日の時間割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会議は60分。報告20分・議論30分・決定10分の配分である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レイアウト名"/>
          <p:cNvGrpSpPr/>
          <p:nvPr/>
        </p:nvGrpSpPr>
        <p:grpSpPr>
          <a:xfrm>
            <a:off x="7200900" y="247650"/>
            <a:ext cx="4381500" cy="152400"/>
            <a:chOff x="7200900" y="247650"/>
            <a:chExt cx="4381500" cy="152400"/>
          </a:xfrm>
        </p:grpSpPr>
        <p:sp>
          <p:nvSpPr>
            <p:cNvPr id="8" name="レイアウト名"/>
            <p:cNvSpPr/>
            <p:nvPr/>
          </p:nvSpPr>
          <p:spPr>
            <a:xfrm>
              <a:off x="7200900" y="247650"/>
              <a:ext cx="438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レイアウト：目次05 所要時間付き</a:t>
              </a:r>
            </a:p>
          </p:txBody>
        </p:sp>
      </p:grpSp>
      <p:grpSp>
        <p:nvGrpSpPr>
          <p:cNvPr id="9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10" name="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注：時間・議題はサンプル（合計を持ち時間に合わせて調整）</a:t>
              </a:r>
            </a:p>
          </p:txBody>
        </p:sp>
        <p:sp>
          <p:nvSpPr>
            <p:cNvPr id="11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14</a:t>
              </a:r>
            </a:p>
          </p:txBody>
        </p:sp>
      </p:grpSp>
      <p:grpSp>
        <p:nvGrpSpPr>
          <p:cNvPr id="12" name="目次05_時間バー"/>
          <p:cNvGrpSpPr/>
          <p:nvPr/>
        </p:nvGrpSpPr>
        <p:grpSpPr>
          <a:xfrm>
            <a:off x="609600" y="1428750"/>
            <a:ext cx="10972800" cy="647700"/>
            <a:chOff x="609600" y="1428750"/>
            <a:chExt cx="10972800" cy="647700"/>
          </a:xfrm>
        </p:grpSpPr>
        <p:sp>
          <p:nvSpPr>
            <p:cNvPr id="13" name="帯_現状共有"/>
            <p:cNvSpPr/>
            <p:nvPr/>
          </p:nvSpPr>
          <p:spPr>
            <a:xfrm>
              <a:off x="609600" y="1428750"/>
              <a:ext cx="1809750" cy="3238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09600" y="1438275"/>
              <a:ext cx="1809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現状共有 10分</a:t>
              </a:r>
            </a:p>
          </p:txBody>
        </p:sp>
        <p:sp>
          <p:nvSpPr>
            <p:cNvPr id="15" name="帯_課題と真因"/>
            <p:cNvSpPr/>
            <p:nvPr/>
          </p:nvSpPr>
          <p:spPr>
            <a:xfrm>
              <a:off x="2438400" y="1428750"/>
              <a:ext cx="1809750" cy="3238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438400" y="1438275"/>
              <a:ext cx="1809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課題と真因 10分</a:t>
              </a:r>
            </a:p>
          </p:txBody>
        </p:sp>
        <p:sp>
          <p:nvSpPr>
            <p:cNvPr id="17" name="帯_打ち手の議論"/>
            <p:cNvSpPr/>
            <p:nvPr/>
          </p:nvSpPr>
          <p:spPr>
            <a:xfrm>
              <a:off x="4267200" y="1428750"/>
              <a:ext cx="27241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267200" y="1438275"/>
              <a:ext cx="27241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打ち手の議論 15分</a:t>
              </a:r>
            </a:p>
          </p:txBody>
        </p:sp>
        <p:sp>
          <p:nvSpPr>
            <p:cNvPr id="19" name="帯_効果と計画"/>
            <p:cNvSpPr/>
            <p:nvPr/>
          </p:nvSpPr>
          <p:spPr>
            <a:xfrm>
              <a:off x="7010400" y="1428750"/>
              <a:ext cx="27241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010400" y="1438275"/>
              <a:ext cx="27241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効果と計画 15分</a:t>
              </a:r>
            </a:p>
          </p:txBody>
        </p:sp>
        <p:sp>
          <p:nvSpPr>
            <p:cNvPr id="21" name="帯_決裁"/>
            <p:cNvSpPr/>
            <p:nvPr/>
          </p:nvSpPr>
          <p:spPr>
            <a:xfrm>
              <a:off x="9753600" y="1428750"/>
              <a:ext cx="1809750" cy="323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753600" y="1438275"/>
              <a:ext cx="18097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決裁 10分</a:t>
              </a:r>
            </a:p>
          </p:txBody>
        </p:sp>
        <p:cxnSp>
          <p:nvCxnSpPr>
            <p:cNvPr id="23" name="括り_報告 20分"/>
            <p:cNvCxnSpPr/>
            <p:nvPr/>
          </p:nvCxnSpPr>
          <p:spPr>
            <a:xfrm>
              <a:off x="647700" y="1866900"/>
              <a:ext cx="3562350" cy="0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括りラベル_報告 20分"/>
            <p:cNvSpPr/>
            <p:nvPr/>
          </p:nvSpPr>
          <p:spPr>
            <a:xfrm>
              <a:off x="609600" y="1924050"/>
              <a:ext cx="36576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報告 20分</a:t>
              </a:r>
            </a:p>
          </p:txBody>
        </p:sp>
        <p:cxnSp>
          <p:nvCxnSpPr>
            <p:cNvPr id="25" name="括り_議論 30分"/>
            <p:cNvCxnSpPr/>
            <p:nvPr/>
          </p:nvCxnSpPr>
          <p:spPr>
            <a:xfrm>
              <a:off x="4305300" y="1866900"/>
              <a:ext cx="5391150" cy="0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括りラベル_議論 30分"/>
            <p:cNvSpPr/>
            <p:nvPr/>
          </p:nvSpPr>
          <p:spPr>
            <a:xfrm>
              <a:off x="4267200" y="1924050"/>
              <a:ext cx="54864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議論 30分</a:t>
              </a:r>
            </a:p>
          </p:txBody>
        </p:sp>
        <p:cxnSp>
          <p:nvCxnSpPr>
            <p:cNvPr id="27" name="括り_決定 10分"/>
            <p:cNvCxnSpPr/>
            <p:nvPr/>
          </p:nvCxnSpPr>
          <p:spPr>
            <a:xfrm>
              <a:off x="9791700" y="1866900"/>
              <a:ext cx="1733550" cy="0"/>
            </a:xfrm>
            <a:prstGeom prst="bentConnector3">
              <a:avLst/>
            </a:prstGeom>
            <a:ln w="9525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括りラベル_決定 10分"/>
            <p:cNvSpPr/>
            <p:nvPr/>
          </p:nvSpPr>
          <p:spPr>
            <a:xfrm>
              <a:off x="9753600" y="1924050"/>
              <a:ext cx="1828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決定 10分</a:t>
              </a:r>
            </a:p>
          </p:txBody>
        </p:sp>
      </p:grpSp>
      <p:grpSp>
        <p:nvGrpSpPr>
          <p:cNvPr id="29" name="目次05_時間割リスト"/>
          <p:cNvGrpSpPr/>
          <p:nvPr/>
        </p:nvGrpSpPr>
        <p:grpSpPr>
          <a:xfrm>
            <a:off x="609600" y="2343150"/>
            <a:ext cx="10972800" cy="3067050"/>
            <a:chOff x="609600" y="2343150"/>
            <a:chExt cx="10972800" cy="3067050"/>
          </a:xfrm>
        </p:grpSpPr>
        <p:sp>
          <p:nvSpPr>
            <p:cNvPr id="30" name="番号01"/>
            <p:cNvSpPr/>
            <p:nvPr/>
          </p:nvSpPr>
          <p:spPr>
            <a:xfrm>
              <a:off x="609600" y="23622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09600" y="2371725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01</a:t>
              </a:r>
            </a:p>
          </p:txBody>
        </p:sp>
        <p:sp>
          <p:nvSpPr>
            <p:cNvPr id="32" name="議題01"/>
            <p:cNvSpPr/>
            <p:nvPr/>
          </p:nvSpPr>
          <p:spPr>
            <a:xfrm>
              <a:off x="1028700" y="234315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現状共有</a:t>
              </a:r>
            </a:p>
          </p:txBody>
        </p:sp>
        <p:sp>
          <p:nvSpPr>
            <p:cNvPr id="33" name="議題説明01"/>
            <p:cNvSpPr/>
            <p:nvPr/>
          </p:nvSpPr>
          <p:spPr>
            <a:xfrm>
              <a:off x="1028700" y="2590800"/>
              <a:ext cx="4191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書類時間の推移と課題の大きさ</a:t>
              </a:r>
            </a:p>
          </p:txBody>
        </p:sp>
        <p:sp>
          <p:nvSpPr>
            <p:cNvPr id="34" name="時刻01"/>
            <p:cNvSpPr/>
            <p:nvPr/>
          </p:nvSpPr>
          <p:spPr>
            <a:xfrm>
              <a:off x="8286750" y="2400300"/>
              <a:ext cx="1619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0:00–0:10</a:t>
              </a:r>
            </a:p>
          </p:txBody>
        </p:sp>
        <p:sp>
          <p:nvSpPr>
            <p:cNvPr id="35" name="時間01"/>
            <p:cNvSpPr/>
            <p:nvPr/>
          </p:nvSpPr>
          <p:spPr>
            <a:xfrm>
              <a:off x="10725150" y="2362200"/>
              <a:ext cx="8572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10分</a:t>
              </a:r>
            </a:p>
          </p:txBody>
        </p:sp>
        <p:cxnSp>
          <p:nvCxnSpPr>
            <p:cNvPr id="36" name="罫線01"/>
            <p:cNvCxnSpPr/>
            <p:nvPr/>
          </p:nvCxnSpPr>
          <p:spPr>
            <a:xfrm>
              <a:off x="609600" y="28765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番号02"/>
            <p:cNvSpPr/>
            <p:nvPr/>
          </p:nvSpPr>
          <p:spPr>
            <a:xfrm>
              <a:off x="609600" y="302895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09600" y="3038475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02</a:t>
              </a:r>
            </a:p>
          </p:txBody>
        </p:sp>
        <p:sp>
          <p:nvSpPr>
            <p:cNvPr id="39" name="議題02"/>
            <p:cNvSpPr/>
            <p:nvPr/>
          </p:nvSpPr>
          <p:spPr>
            <a:xfrm>
              <a:off x="1028700" y="30099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課題と真因</a:t>
              </a:r>
            </a:p>
          </p:txBody>
        </p:sp>
        <p:sp>
          <p:nvSpPr>
            <p:cNvPr id="40" name="議題説明02"/>
            <p:cNvSpPr/>
            <p:nvPr/>
          </p:nvSpPr>
          <p:spPr>
            <a:xfrm>
              <a:off x="1028700" y="3257550"/>
              <a:ext cx="4191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時間がどこに消えているかの構造</a:t>
              </a:r>
            </a:p>
          </p:txBody>
        </p:sp>
        <p:sp>
          <p:nvSpPr>
            <p:cNvPr id="41" name="時刻02"/>
            <p:cNvSpPr/>
            <p:nvPr/>
          </p:nvSpPr>
          <p:spPr>
            <a:xfrm>
              <a:off x="8286750" y="3067050"/>
              <a:ext cx="1619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0:10–0:20</a:t>
              </a:r>
            </a:p>
          </p:txBody>
        </p:sp>
        <p:sp>
          <p:nvSpPr>
            <p:cNvPr id="42" name="時間02"/>
            <p:cNvSpPr/>
            <p:nvPr/>
          </p:nvSpPr>
          <p:spPr>
            <a:xfrm>
              <a:off x="10725150" y="3028950"/>
              <a:ext cx="8572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10分</a:t>
              </a:r>
            </a:p>
          </p:txBody>
        </p:sp>
        <p:cxnSp>
          <p:nvCxnSpPr>
            <p:cNvPr id="43" name="罫線02"/>
            <p:cNvCxnSpPr/>
            <p:nvPr/>
          </p:nvCxnSpPr>
          <p:spPr>
            <a:xfrm>
              <a:off x="609600" y="35433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番号03"/>
            <p:cNvSpPr/>
            <p:nvPr/>
          </p:nvSpPr>
          <p:spPr>
            <a:xfrm>
              <a:off x="609600" y="36957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09600" y="3705225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03</a:t>
              </a:r>
            </a:p>
          </p:txBody>
        </p:sp>
        <p:sp>
          <p:nvSpPr>
            <p:cNvPr id="46" name="議題03"/>
            <p:cNvSpPr/>
            <p:nvPr/>
          </p:nvSpPr>
          <p:spPr>
            <a:xfrm>
              <a:off x="1028700" y="367665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打ち手の議論</a:t>
              </a:r>
            </a:p>
          </p:txBody>
        </p:sp>
        <p:sp>
          <p:nvSpPr>
            <p:cNvPr id="47" name="議題説明03"/>
            <p:cNvSpPr/>
            <p:nvPr/>
          </p:nvSpPr>
          <p:spPr>
            <a:xfrm>
              <a:off x="1028700" y="3924300"/>
              <a:ext cx="4191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増員・外注・AIの3案比較</a:t>
              </a:r>
            </a:p>
          </p:txBody>
        </p:sp>
        <p:sp>
          <p:nvSpPr>
            <p:cNvPr id="48" name="時刻03"/>
            <p:cNvSpPr/>
            <p:nvPr/>
          </p:nvSpPr>
          <p:spPr>
            <a:xfrm>
              <a:off x="8286750" y="3733800"/>
              <a:ext cx="1619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0:20–0:35</a:t>
              </a:r>
            </a:p>
          </p:txBody>
        </p:sp>
        <p:sp>
          <p:nvSpPr>
            <p:cNvPr id="49" name="時間03"/>
            <p:cNvSpPr/>
            <p:nvPr/>
          </p:nvSpPr>
          <p:spPr>
            <a:xfrm>
              <a:off x="10725150" y="3695700"/>
              <a:ext cx="8572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15分</a:t>
              </a:r>
            </a:p>
          </p:txBody>
        </p:sp>
        <p:cxnSp>
          <p:nvCxnSpPr>
            <p:cNvPr id="50" name="罫線03"/>
            <p:cNvCxnSpPr/>
            <p:nvPr/>
          </p:nvCxnSpPr>
          <p:spPr>
            <a:xfrm>
              <a:off x="609600" y="42100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番号04"/>
            <p:cNvSpPr/>
            <p:nvPr/>
          </p:nvSpPr>
          <p:spPr>
            <a:xfrm>
              <a:off x="609600" y="436245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09600" y="4371975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04</a:t>
              </a:r>
            </a:p>
          </p:txBody>
        </p:sp>
        <p:sp>
          <p:nvSpPr>
            <p:cNvPr id="53" name="議題04"/>
            <p:cNvSpPr/>
            <p:nvPr/>
          </p:nvSpPr>
          <p:spPr>
            <a:xfrm>
              <a:off x="1028700" y="43434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効果と計画</a:t>
              </a:r>
            </a:p>
          </p:txBody>
        </p:sp>
        <p:sp>
          <p:nvSpPr>
            <p:cNvPr id="54" name="議題説明04"/>
            <p:cNvSpPr/>
            <p:nvPr/>
          </p:nvSpPr>
          <p:spPr>
            <a:xfrm>
              <a:off x="1028700" y="4591050"/>
              <a:ext cx="4191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投資回収・スケジュール・体制</a:t>
              </a:r>
            </a:p>
          </p:txBody>
        </p:sp>
        <p:sp>
          <p:nvSpPr>
            <p:cNvPr id="55" name="時刻04"/>
            <p:cNvSpPr/>
            <p:nvPr/>
          </p:nvSpPr>
          <p:spPr>
            <a:xfrm>
              <a:off x="8286750" y="4400550"/>
              <a:ext cx="1619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0:35–0:50</a:t>
              </a:r>
            </a:p>
          </p:txBody>
        </p:sp>
        <p:sp>
          <p:nvSpPr>
            <p:cNvPr id="56" name="時間04"/>
            <p:cNvSpPr/>
            <p:nvPr/>
          </p:nvSpPr>
          <p:spPr>
            <a:xfrm>
              <a:off x="10725150" y="4362450"/>
              <a:ext cx="8572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15分</a:t>
              </a:r>
            </a:p>
          </p:txBody>
        </p:sp>
        <p:cxnSp>
          <p:nvCxnSpPr>
            <p:cNvPr id="57" name="罫線04"/>
            <p:cNvCxnSpPr/>
            <p:nvPr/>
          </p:nvCxnSpPr>
          <p:spPr>
            <a:xfrm>
              <a:off x="609600" y="4876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番号05"/>
            <p:cNvSpPr/>
            <p:nvPr/>
          </p:nvSpPr>
          <p:spPr>
            <a:xfrm>
              <a:off x="609600" y="50292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09600" y="5038725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05</a:t>
              </a:r>
            </a:p>
          </p:txBody>
        </p:sp>
        <p:sp>
          <p:nvSpPr>
            <p:cNvPr id="60" name="議題05"/>
            <p:cNvSpPr/>
            <p:nvPr/>
          </p:nvSpPr>
          <p:spPr>
            <a:xfrm>
              <a:off x="1028700" y="501015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決裁</a:t>
              </a:r>
            </a:p>
          </p:txBody>
        </p:sp>
        <p:sp>
          <p:nvSpPr>
            <p:cNvPr id="61" name="議題説明05"/>
            <p:cNvSpPr/>
            <p:nvPr/>
          </p:nvSpPr>
          <p:spPr>
            <a:xfrm>
              <a:off x="1028700" y="5257800"/>
              <a:ext cx="4191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トライアル開始可否のご判断</a:t>
              </a:r>
            </a:p>
          </p:txBody>
        </p:sp>
        <p:sp>
          <p:nvSpPr>
            <p:cNvPr id="62" name="時刻05"/>
            <p:cNvSpPr/>
            <p:nvPr/>
          </p:nvSpPr>
          <p:spPr>
            <a:xfrm>
              <a:off x="8286750" y="5067300"/>
              <a:ext cx="1619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0:50–1:00</a:t>
              </a:r>
            </a:p>
          </p:txBody>
        </p:sp>
        <p:sp>
          <p:nvSpPr>
            <p:cNvPr id="63" name="時間05"/>
            <p:cNvSpPr/>
            <p:nvPr/>
          </p:nvSpPr>
          <p:spPr>
            <a:xfrm>
              <a:off x="10725150" y="5029200"/>
              <a:ext cx="8572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10分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7658100" y="304800"/>
            <a:ext cx="3924300" cy="152400"/>
            <a:chOff x="7658100" y="304800"/>
            <a:chExt cx="3924300" cy="152400"/>
          </a:xfrm>
        </p:grpSpPr>
        <p:sp>
          <p:nvSpPr>
            <p:cNvPr id="4" name="レイアウト名タグ"/>
            <p:cNvSpPr/>
            <p:nvPr/>
          </p:nvSpPr>
          <p:spPr>
            <a:xfrm>
              <a:off x="7658100" y="304800"/>
              <a:ext cx="3924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章扉①｜面使い・章番号特大</a:t>
              </a:r>
            </a:p>
          </p:txBody>
        </p:sp>
      </p:grpSp>
      <p:grpSp>
        <p:nvGrpSpPr>
          <p:cNvPr id="5" name="章扉_面パネル"/>
          <p:cNvGrpSpPr/>
          <p:nvPr/>
        </p:nvGrpSpPr>
        <p:grpSpPr>
          <a:xfrm>
            <a:off x="0" y="0"/>
            <a:ext cx="4067175" cy="6858000"/>
            <a:chOff x="0" y="0"/>
            <a:chExt cx="4067175" cy="6858000"/>
          </a:xfrm>
        </p:grpSpPr>
        <p:sp>
          <p:nvSpPr>
            <p:cNvPr id="6" name="章の面"/>
            <p:cNvSpPr/>
            <p:nvPr/>
          </p:nvSpPr>
          <p:spPr>
            <a:xfrm>
              <a:off x="0" y="0"/>
              <a:ext cx="4067175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章ラベル"/>
            <p:cNvSpPr/>
            <p:nvPr/>
          </p:nvSpPr>
          <p:spPr>
            <a:xfrm>
              <a:off x="685800" y="224790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4"/>
                  </a:solidFill>
                </a:rPr>
                <a:t>CHAPTER</a:t>
              </a:r>
            </a:p>
          </p:txBody>
        </p:sp>
        <p:sp>
          <p:nvSpPr>
            <p:cNvPr id="8" name="章番号"/>
            <p:cNvSpPr/>
            <p:nvPr/>
          </p:nvSpPr>
          <p:spPr>
            <a:xfrm>
              <a:off x="628650" y="2495550"/>
              <a:ext cx="3048000" cy="1809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600" b="1">
                  <a:solidFill>
                    <a:schemeClr val="lt1"/>
                  </a:solidFill>
                </a:rPr>
                <a:t>02</a:t>
              </a:r>
            </a:p>
          </p:txBody>
        </p:sp>
        <p:cxnSp>
          <p:nvCxnSpPr>
            <p:cNvPr id="9" name="番号下罫線"/>
            <p:cNvCxnSpPr/>
            <p:nvPr/>
          </p:nvCxnSpPr>
          <p:spPr>
            <a:xfrm>
              <a:off x="685800" y="4476750"/>
              <a:ext cx="762000" cy="0"/>
            </a:xfrm>
            <a:prstGeom prst="bentConnector3">
              <a:avLst/>
            </a:prstGeom>
            <a:ln w="19050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資料名"/>
            <p:cNvSpPr/>
            <p:nvPr/>
          </p:nvSpPr>
          <p:spPr>
            <a:xfrm>
              <a:off x="685800" y="6057900"/>
              <a:ext cx="3048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4"/>
                  </a:solidFill>
                </a:rPr>
                <a:t>業務改革のご提案｜株式会社サンプル</a:t>
              </a:r>
            </a:p>
          </p:txBody>
        </p:sp>
      </p:grpSp>
      <p:grpSp>
        <p:nvGrpSpPr>
          <p:cNvPr id="11" name="章扉_タイトル"/>
          <p:cNvGrpSpPr/>
          <p:nvPr/>
        </p:nvGrpSpPr>
        <p:grpSpPr>
          <a:xfrm>
            <a:off x="4676775" y="2181225"/>
            <a:ext cx="6572250" cy="1685925"/>
            <a:chOff x="4676775" y="2181225"/>
            <a:chExt cx="6572250" cy="1685925"/>
          </a:xfrm>
        </p:grpSpPr>
        <p:sp>
          <p:nvSpPr>
            <p:cNvPr id="12" name="アクセントスクエア"/>
            <p:cNvSpPr/>
            <p:nvPr/>
          </p:nvSpPr>
          <p:spPr>
            <a:xfrm>
              <a:off x="4676775" y="220980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章番号小"/>
            <p:cNvSpPr/>
            <p:nvPr/>
          </p:nvSpPr>
          <p:spPr>
            <a:xfrm>
              <a:off x="4905375" y="2181225"/>
              <a:ext cx="3810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CHAPTER 02</a:t>
              </a:r>
            </a:p>
          </p:txBody>
        </p:sp>
        <p:sp>
          <p:nvSpPr>
            <p:cNvPr id="14" name="章タイトル"/>
            <p:cNvSpPr/>
            <p:nvPr/>
          </p:nvSpPr>
          <p:spPr>
            <a:xfrm>
              <a:off x="4676775" y="2476500"/>
              <a:ext cx="65722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3000" b="1">
                  <a:solidFill>
                    <a:schemeClr val="dk2"/>
                  </a:solidFill>
                </a:rPr>
                <a:t>原因分析</a:t>
              </a:r>
            </a:p>
          </p:txBody>
        </p:sp>
        <p:sp>
          <p:nvSpPr>
            <p:cNvPr id="15" name="章キーメッセージ"/>
            <p:cNvSpPr/>
            <p:nvPr/>
          </p:nvSpPr>
          <p:spPr>
            <a:xfrm>
              <a:off x="4676775" y="3257550"/>
              <a:ext cx="657225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500" b="1">
                  <a:solidFill>
                    <a:schemeClr val="dk2"/>
                  </a:solidFill>
                </a:rPr>
                <a:t>課題の8割は、業務プロセスではなく</a:t>
              </a:r>
            </a:p>
            <a:p>
              <a:pPr algn="l">
                <a:lnSpc>
                  <a:spcPct val="160000"/>
                </a:lnSpc>
              </a:pPr>
              <a:r>
                <a:rPr sz="1500" b="1">
                  <a:solidFill>
                    <a:schemeClr val="dk2"/>
                  </a:solidFill>
                </a:rPr>
                <a:t>“データの分断”に起因します</a:t>
              </a:r>
            </a:p>
          </p:txBody>
        </p:sp>
      </p:grpSp>
      <p:grpSp>
        <p:nvGrpSpPr>
          <p:cNvPr id="16" name="章扉_本章の流れ"/>
          <p:cNvGrpSpPr/>
          <p:nvPr/>
        </p:nvGrpSpPr>
        <p:grpSpPr>
          <a:xfrm>
            <a:off x="4676775" y="4267200"/>
            <a:ext cx="6286500" cy="1257300"/>
            <a:chOff x="4676775" y="4267200"/>
            <a:chExt cx="6286500" cy="1257300"/>
          </a:xfrm>
        </p:grpSpPr>
        <p:cxnSp>
          <p:nvCxnSpPr>
            <p:cNvPr id="17" name="仕切り線"/>
            <p:cNvCxnSpPr/>
            <p:nvPr/>
          </p:nvCxnSpPr>
          <p:spPr>
            <a:xfrm>
              <a:off x="4676775" y="4267200"/>
              <a:ext cx="6286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小見出し"/>
            <p:cNvSpPr/>
            <p:nvPr/>
          </p:nvSpPr>
          <p:spPr>
            <a:xfrm>
              <a:off x="4676775" y="441960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本章の流れ</a:t>
              </a:r>
            </a:p>
          </p:txBody>
        </p:sp>
        <p:sp>
          <p:nvSpPr>
            <p:cNvPr id="19" name="ビュレット1"/>
            <p:cNvSpPr/>
            <p:nvPr/>
          </p:nvSpPr>
          <p:spPr>
            <a:xfrm>
              <a:off x="4676775" y="4733925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項目1"/>
            <p:cNvSpPr/>
            <p:nvPr/>
          </p:nvSpPr>
          <p:spPr>
            <a:xfrm>
              <a:off x="4867275" y="4686300"/>
              <a:ext cx="609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2-1 部門別の作業時間の実測</a:t>
              </a:r>
            </a:p>
          </p:txBody>
        </p:sp>
        <p:sp>
          <p:nvSpPr>
            <p:cNvPr id="21" name="ビュレット2"/>
            <p:cNvSpPr/>
            <p:nvPr/>
          </p:nvSpPr>
          <p:spPr>
            <a:xfrm>
              <a:off x="4676775" y="5057775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項目2"/>
            <p:cNvSpPr/>
            <p:nvPr/>
          </p:nvSpPr>
          <p:spPr>
            <a:xfrm>
              <a:off x="4867275" y="5010150"/>
              <a:ext cx="609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2-2 データ受け渡しの現状把握</a:t>
              </a:r>
            </a:p>
          </p:txBody>
        </p:sp>
        <p:sp>
          <p:nvSpPr>
            <p:cNvPr id="23" name="ビュレット3"/>
            <p:cNvSpPr/>
            <p:nvPr/>
          </p:nvSpPr>
          <p:spPr>
            <a:xfrm>
              <a:off x="4676775" y="5381625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項目3"/>
            <p:cNvSpPr/>
            <p:nvPr/>
          </p:nvSpPr>
          <p:spPr>
            <a:xfrm>
              <a:off x="4867275" y="5334000"/>
              <a:ext cx="609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2-3 ボトルネックの特定</a:t>
              </a:r>
            </a:p>
          </p:txBody>
        </p:sp>
      </p:grpSp>
      <p:grpSp>
        <p:nvGrpSpPr>
          <p:cNvPr id="25" name="フッター"/>
          <p:cNvGrpSpPr/>
          <p:nvPr/>
        </p:nvGrpSpPr>
        <p:grpSpPr>
          <a:xfrm>
            <a:off x="4676775" y="6248400"/>
            <a:ext cx="6905625" cy="304800"/>
            <a:chOff x="4676775" y="6248400"/>
            <a:chExt cx="6905625" cy="304800"/>
          </a:xfrm>
        </p:grpSpPr>
        <p:sp>
          <p:nvSpPr>
            <p:cNvPr id="26" name="脚注"/>
            <p:cNvSpPr/>
            <p:nvPr/>
          </p:nvSpPr>
          <p:spPr>
            <a:xfrm>
              <a:off x="4676775" y="6248400"/>
              <a:ext cx="6143625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注：章タイトル・内容はサンプルです</a:t>
              </a:r>
            </a:p>
          </p:txBody>
        </p:sp>
        <p:sp>
          <p:nvSpPr>
            <p:cNvPr id="27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7658100" y="304800"/>
            <a:ext cx="3924300" cy="152400"/>
            <a:chOff x="7658100" y="304800"/>
            <a:chExt cx="3924300" cy="152400"/>
          </a:xfrm>
        </p:grpSpPr>
        <p:sp>
          <p:nvSpPr>
            <p:cNvPr id="4" name="レイアウト名タグ"/>
            <p:cNvSpPr/>
            <p:nvPr/>
          </p:nvSpPr>
          <p:spPr>
            <a:xfrm>
              <a:off x="7658100" y="304800"/>
              <a:ext cx="3924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章扉③｜進捗ドット付き</a:t>
              </a:r>
            </a:p>
          </p:txBody>
        </p:sp>
      </p:grpSp>
      <p:grpSp>
        <p:nvGrpSpPr>
          <p:cNvPr id="5" name="章扉_タイトル"/>
          <p:cNvGrpSpPr/>
          <p:nvPr/>
        </p:nvGrpSpPr>
        <p:grpSpPr>
          <a:xfrm>
            <a:off x="0" y="1600200"/>
            <a:ext cx="12192000" cy="1200150"/>
            <a:chOff x="0" y="1600200"/>
            <a:chExt cx="12192000" cy="1200150"/>
          </a:xfrm>
        </p:grpSpPr>
        <p:sp>
          <p:nvSpPr>
            <p:cNvPr id="6" name="章番号小"/>
            <p:cNvSpPr/>
            <p:nvPr/>
          </p:nvSpPr>
          <p:spPr>
            <a:xfrm>
              <a:off x="0" y="1600200"/>
              <a:ext cx="1219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CHAPTER 04</a:t>
              </a:r>
            </a:p>
          </p:txBody>
        </p:sp>
        <p:sp>
          <p:nvSpPr>
            <p:cNvPr id="7" name="章タイトル"/>
            <p:cNvSpPr/>
            <p:nvPr/>
          </p:nvSpPr>
          <p:spPr>
            <a:xfrm>
              <a:off x="0" y="1866900"/>
              <a:ext cx="121920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3000" b="1">
                  <a:solidFill>
                    <a:schemeClr val="dk2"/>
                  </a:solidFill>
                </a:rPr>
                <a:t>導入計画</a:t>
              </a:r>
            </a:p>
          </p:txBody>
        </p:sp>
        <p:sp>
          <p:nvSpPr>
            <p:cNvPr id="8" name="章キーメッセージ"/>
            <p:cNvSpPr/>
            <p:nvPr/>
          </p:nvSpPr>
          <p:spPr>
            <a:xfrm>
              <a:off x="0" y="2571750"/>
              <a:ext cx="12192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dk1"/>
                  </a:solidFill>
                </a:rPr>
                <a:t>“最初の90日”で成果を出す計画から始めます</a:t>
              </a:r>
            </a:p>
          </p:txBody>
        </p:sp>
      </p:grpSp>
      <p:grpSp>
        <p:nvGrpSpPr>
          <p:cNvPr id="9" name="章扉_進捗"/>
          <p:cNvGrpSpPr/>
          <p:nvPr/>
        </p:nvGrpSpPr>
        <p:grpSpPr>
          <a:xfrm>
            <a:off x="1428750" y="3657600"/>
            <a:ext cx="9334500" cy="857250"/>
            <a:chOff x="1428750" y="3657600"/>
            <a:chExt cx="9334500" cy="857250"/>
          </a:xfrm>
        </p:grpSpPr>
        <p:cxnSp>
          <p:nvCxnSpPr>
            <p:cNvPr id="10" name="進捗軸"/>
            <p:cNvCxnSpPr/>
            <p:nvPr/>
          </p:nvCxnSpPr>
          <p:spPr>
            <a:xfrm>
              <a:off x="2286000" y="4095750"/>
              <a:ext cx="7620000" cy="0"/>
            </a:xfrm>
            <a:prstGeom prst="bentConnector3">
              <a:avLst/>
            </a:prstGeom>
            <a:ln w="14287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ドット1_済"/>
            <p:cNvSpPr/>
            <p:nvPr/>
          </p:nvSpPr>
          <p:spPr>
            <a:xfrm>
              <a:off x="2219325" y="402907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章名1"/>
            <p:cNvSpPr/>
            <p:nvPr/>
          </p:nvSpPr>
          <p:spPr>
            <a:xfrm>
              <a:off x="1428750" y="4343400"/>
              <a:ext cx="1714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01｜現状課題</a:t>
              </a:r>
            </a:p>
          </p:txBody>
        </p:sp>
        <p:sp>
          <p:nvSpPr>
            <p:cNvPr id="13" name="ドット2_済"/>
            <p:cNvSpPr/>
            <p:nvPr/>
          </p:nvSpPr>
          <p:spPr>
            <a:xfrm>
              <a:off x="4124325" y="402907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章名2"/>
            <p:cNvSpPr/>
            <p:nvPr/>
          </p:nvSpPr>
          <p:spPr>
            <a:xfrm>
              <a:off x="3333750" y="4343400"/>
              <a:ext cx="1714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02｜原因分析</a:t>
              </a:r>
            </a:p>
          </p:txBody>
        </p:sp>
        <p:sp>
          <p:nvSpPr>
            <p:cNvPr id="15" name="ドット3_済"/>
            <p:cNvSpPr/>
            <p:nvPr/>
          </p:nvSpPr>
          <p:spPr>
            <a:xfrm>
              <a:off x="6029325" y="402907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章名3"/>
            <p:cNvSpPr/>
            <p:nvPr/>
          </p:nvSpPr>
          <p:spPr>
            <a:xfrm>
              <a:off x="5238750" y="4343400"/>
              <a:ext cx="1714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03｜解決の方向性</a:t>
              </a:r>
            </a:p>
          </p:txBody>
        </p:sp>
        <p:sp>
          <p:nvSpPr>
            <p:cNvPr id="17" name="現在地ラベル"/>
            <p:cNvSpPr/>
            <p:nvPr/>
          </p:nvSpPr>
          <p:spPr>
            <a:xfrm>
              <a:off x="7620000" y="3657600"/>
              <a:ext cx="76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いまここ</a:t>
              </a:r>
            </a:p>
          </p:txBody>
        </p:sp>
        <p:sp>
          <p:nvSpPr>
            <p:cNvPr id="18" name="現在地マーカー"/>
            <p:cNvSpPr/>
            <p:nvPr/>
          </p:nvSpPr>
          <p:spPr>
            <a:xfrm rot="10800000">
              <a:off x="7943850" y="3848100"/>
              <a:ext cx="114300" cy="95250"/>
            </a:xfrm>
            <a:prstGeom prst="triangl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ドット4_現在"/>
            <p:cNvSpPr/>
            <p:nvPr/>
          </p:nvSpPr>
          <p:spPr>
            <a:xfrm>
              <a:off x="7896225" y="3990975"/>
              <a:ext cx="209550" cy="2095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章名4"/>
            <p:cNvSpPr/>
            <p:nvPr/>
          </p:nvSpPr>
          <p:spPr>
            <a:xfrm>
              <a:off x="7143750" y="4343400"/>
              <a:ext cx="171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04｜導入計画</a:t>
              </a:r>
            </a:p>
          </p:txBody>
        </p:sp>
        <p:sp>
          <p:nvSpPr>
            <p:cNvPr id="21" name="ドット5_未"/>
            <p:cNvSpPr/>
            <p:nvPr/>
          </p:nvSpPr>
          <p:spPr>
            <a:xfrm>
              <a:off x="9839325" y="4029075"/>
              <a:ext cx="133350" cy="133350"/>
            </a:xfrm>
            <a:prstGeom prst="ellipse">
              <a:avLst/>
            </a:prstGeom>
            <a:solidFill>
              <a:schemeClr val="lt1"/>
            </a:solidFill>
            <a:ln w="11906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章名5"/>
            <p:cNvSpPr/>
            <p:nvPr/>
          </p:nvSpPr>
          <p:spPr>
            <a:xfrm>
              <a:off x="9048750" y="4343400"/>
              <a:ext cx="1714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05｜費用・体制</a:t>
              </a:r>
            </a:p>
          </p:txBody>
        </p:sp>
      </p:grpSp>
      <p:grpSp>
        <p:nvGrpSpPr>
          <p:cNvPr id="23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24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注：章構成はサンプルです</a:t>
              </a:r>
            </a:p>
          </p:txBody>
        </p:sp>
        <p:sp>
          <p:nvSpPr>
            <p:cNvPr id="25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7658100" y="304800"/>
            <a:ext cx="3924300" cy="152400"/>
            <a:chOff x="7658100" y="304800"/>
            <a:chExt cx="3924300" cy="152400"/>
          </a:xfrm>
        </p:grpSpPr>
        <p:sp>
          <p:nvSpPr>
            <p:cNvPr id="4" name="レイアウト名タグ"/>
            <p:cNvSpPr/>
            <p:nvPr/>
          </p:nvSpPr>
          <p:spPr>
            <a:xfrm>
              <a:off x="7658100" y="304800"/>
              <a:ext cx="39243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章扉⑤｜キーメッセージ先出し</a:t>
              </a:r>
            </a:p>
          </p:txBody>
        </p:sp>
      </p:grpSp>
      <p:grpSp>
        <p:nvGrpSpPr>
          <p:cNvPr id="5" name="章扉_タイトル"/>
          <p:cNvGrpSpPr/>
          <p:nvPr/>
        </p:nvGrpSpPr>
        <p:grpSpPr>
          <a:xfrm>
            <a:off x="0" y="1428750"/>
            <a:ext cx="12192000" cy="704850"/>
            <a:chOff x="0" y="1428750"/>
            <a:chExt cx="12192000" cy="704850"/>
          </a:xfrm>
        </p:grpSpPr>
        <p:sp>
          <p:nvSpPr>
            <p:cNvPr id="6" name="章番号小"/>
            <p:cNvSpPr/>
            <p:nvPr/>
          </p:nvSpPr>
          <p:spPr>
            <a:xfrm>
              <a:off x="0" y="1428750"/>
              <a:ext cx="1219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CHAPTER 03</a:t>
              </a:r>
            </a:p>
          </p:txBody>
        </p:sp>
        <p:sp>
          <p:nvSpPr>
            <p:cNvPr id="7" name="章タイトル"/>
            <p:cNvSpPr/>
            <p:nvPr/>
          </p:nvSpPr>
          <p:spPr>
            <a:xfrm>
              <a:off x="0" y="1695450"/>
              <a:ext cx="121920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600" b="1">
                  <a:solidFill>
                    <a:schemeClr val="dk2"/>
                  </a:solidFill>
                </a:rPr>
                <a:t>解決の方向性</a:t>
              </a:r>
            </a:p>
          </p:txBody>
        </p:sp>
      </p:grpSp>
      <p:grpSp>
        <p:nvGrpSpPr>
          <p:cNvPr id="8" name="章扉_結論ボックス"/>
          <p:cNvGrpSpPr/>
          <p:nvPr/>
        </p:nvGrpSpPr>
        <p:grpSpPr>
          <a:xfrm>
            <a:off x="2000250" y="2743200"/>
            <a:ext cx="8191500" cy="1352550"/>
            <a:chOff x="2000250" y="2743200"/>
            <a:chExt cx="8191500" cy="1352550"/>
          </a:xfrm>
        </p:grpSpPr>
        <p:sp>
          <p:nvSpPr>
            <p:cNvPr id="9" name="結論ボックス"/>
            <p:cNvSpPr/>
            <p:nvPr/>
          </p:nvSpPr>
          <p:spPr>
            <a:xfrm>
              <a:off x="2000250" y="2857500"/>
              <a:ext cx="8191500" cy="1238250"/>
            </a:xfrm>
            <a:prstGeom prst="roundRect">
              <a:avLst>
                <a:gd name="adj" fmla="val 9230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結論チップ"/>
            <p:cNvSpPr/>
            <p:nvPr/>
          </p:nvSpPr>
          <p:spPr>
            <a:xfrm>
              <a:off x="5486400" y="2743200"/>
              <a:ext cx="12192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チップ文字"/>
            <p:cNvSpPr/>
            <p:nvPr/>
          </p:nvSpPr>
          <p:spPr>
            <a:xfrm>
              <a:off x="5486400" y="2752725"/>
              <a:ext cx="12192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この章の結論</a:t>
              </a:r>
            </a:p>
          </p:txBody>
        </p:sp>
        <p:sp>
          <p:nvSpPr>
            <p:cNvPr id="12" name="章の結論"/>
            <p:cNvSpPr/>
            <p:nvPr/>
          </p:nvSpPr>
          <p:spPr>
            <a:xfrm>
              <a:off x="2381250" y="2857500"/>
              <a:ext cx="74295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60000"/>
                </a:lnSpc>
              </a:pPr>
              <a:r>
                <a:rPr sz="1700" b="1">
                  <a:solidFill>
                    <a:schemeClr val="lt1"/>
                  </a:solidFill>
                </a:rPr>
                <a:t>ツール導入ではなく、</a:t>
              </a:r>
            </a:p>
            <a:p>
              <a:pPr algn="ctr">
                <a:lnSpc>
                  <a:spcPct val="160000"/>
                </a:lnSpc>
              </a:pPr>
              <a:r>
                <a:rPr sz="1700" b="1">
                  <a:solidFill>
                    <a:schemeClr val="lt1"/>
                  </a:solidFill>
                </a:rPr>
                <a:t>“データ基盤の統合”から着手すべきです</a:t>
              </a:r>
            </a:p>
          </p:txBody>
        </p:sp>
      </p:grpSp>
      <p:grpSp>
        <p:nvGrpSpPr>
          <p:cNvPr id="13" name="章扉_補足"/>
          <p:cNvGrpSpPr/>
          <p:nvPr/>
        </p:nvGrpSpPr>
        <p:grpSpPr>
          <a:xfrm>
            <a:off x="0" y="4476750"/>
            <a:ext cx="12192000" cy="171450"/>
            <a:chOff x="0" y="4476750"/>
            <a:chExt cx="12192000" cy="171450"/>
          </a:xfrm>
        </p:grpSpPr>
        <p:sp>
          <p:nvSpPr>
            <p:cNvPr id="14" name="根拠の予告"/>
            <p:cNvSpPr/>
            <p:nvPr/>
          </p:nvSpPr>
          <p:spPr>
            <a:xfrm>
              <a:off x="0" y="4476750"/>
              <a:ext cx="1219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根拠は本章の3つの分析（コスト比較／移行リスク／他社事例）で示します</a:t>
              </a:r>
            </a:p>
          </p:txBody>
        </p:sp>
      </p:grpSp>
      <p:grpSp>
        <p:nvGrpSpPr>
          <p:cNvPr id="15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16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注：結論・分析名はサンプルです</a:t>
              </a:r>
            </a:p>
          </p:txBody>
        </p:sp>
        <p:sp>
          <p:nvSpPr>
            <p:cNvPr id="17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7048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現場データを活かせている企業は、4社に1社です</a:t>
              </a:r>
            </a:p>
          </p:txBody>
        </p:sp>
        <p:sp>
          <p:nvSpPr>
            <p:cNvPr id="5" name="レイアウト名タグ"/>
            <p:cNvSpPr/>
            <p:nvPr/>
          </p:nvSpPr>
          <p:spPr>
            <a:xfrm>
              <a:off x="7658100" y="342900"/>
              <a:ext cx="3924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メッセージ④｜データ引用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外部統計の引用（出典強調型）</a:t>
              </a:r>
            </a:p>
          </p:txBody>
        </p:sp>
      </p:grpSp>
      <p:grpSp>
        <p:nvGrpSpPr>
          <p:cNvPr id="8" name="データ引用_大数字"/>
          <p:cNvGrpSpPr/>
          <p:nvPr/>
        </p:nvGrpSpPr>
        <p:grpSpPr>
          <a:xfrm>
            <a:off x="609600" y="1600200"/>
            <a:ext cx="4381500" cy="2552700"/>
            <a:chOff x="609600" y="1600200"/>
            <a:chExt cx="4381500" cy="2552700"/>
          </a:xfrm>
        </p:grpSpPr>
        <p:sp>
          <p:nvSpPr>
            <p:cNvPr id="9" name="大数字"/>
            <p:cNvSpPr/>
            <p:nvPr/>
          </p:nvSpPr>
          <p:spPr>
            <a:xfrm>
              <a:off x="609600" y="1600200"/>
              <a:ext cx="1885950" cy="1524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8800" b="1">
                  <a:solidFill>
                    <a:schemeClr val="accent1"/>
                  </a:solidFill>
                </a:rPr>
                <a:t>74</a:t>
              </a:r>
            </a:p>
          </p:txBody>
        </p:sp>
        <p:sp>
          <p:nvSpPr>
            <p:cNvPr id="10" name="単位"/>
            <p:cNvSpPr/>
            <p:nvPr/>
          </p:nvSpPr>
          <p:spPr>
            <a:xfrm>
              <a:off x="2457450" y="2438400"/>
              <a:ext cx="11430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3000" b="1">
                  <a:solidFill>
                    <a:schemeClr val="accent1"/>
                  </a:solidFill>
                </a:rPr>
                <a:t>%</a:t>
              </a:r>
            </a:p>
          </p:txBody>
        </p:sp>
        <p:sp>
          <p:nvSpPr>
            <p:cNvPr id="11" name="強調下線"/>
            <p:cNvSpPr/>
            <p:nvPr/>
          </p:nvSpPr>
          <p:spPr>
            <a:xfrm>
              <a:off x="647700" y="3276600"/>
              <a:ext cx="14287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数字の説明"/>
            <p:cNvSpPr/>
            <p:nvPr/>
          </p:nvSpPr>
          <p:spPr>
            <a:xfrm>
              <a:off x="609600" y="3581400"/>
              <a:ext cx="43815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350" b="1">
                  <a:solidFill>
                    <a:schemeClr val="dk2"/>
                  </a:solidFill>
                </a:rPr>
                <a:t>国内製造業のうち「現場データを</a:t>
              </a:r>
            </a:p>
            <a:p>
              <a:pPr algn="l">
                <a:lnSpc>
                  <a:spcPct val="160000"/>
                </a:lnSpc>
              </a:pPr>
              <a:r>
                <a:rPr sz="1350" b="1">
                  <a:solidFill>
                    <a:schemeClr val="dk2"/>
                  </a:solidFill>
                </a:rPr>
                <a:t>活用できていない」と回答した割合</a:t>
              </a:r>
            </a:p>
          </p:txBody>
        </p:sp>
      </p:grpSp>
      <p:grpSp>
        <p:nvGrpSpPr>
          <p:cNvPr id="13" name="データ引用_内訳"/>
          <p:cNvGrpSpPr/>
          <p:nvPr/>
        </p:nvGrpSpPr>
        <p:grpSpPr>
          <a:xfrm>
            <a:off x="5524500" y="1600200"/>
            <a:ext cx="5825490" cy="1743075"/>
            <a:chOff x="5524500" y="1600200"/>
            <a:chExt cx="5825490" cy="1743075"/>
          </a:xfrm>
        </p:grpSpPr>
        <p:sp>
          <p:nvSpPr>
            <p:cNvPr id="14" name="小見出し"/>
            <p:cNvSpPr/>
            <p:nvPr/>
          </p:nvSpPr>
          <p:spPr>
            <a:xfrm>
              <a:off x="5524500" y="1600200"/>
              <a:ext cx="381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回答の内訳（n=1,200）</a:t>
              </a:r>
            </a:p>
          </p:txBody>
        </p:sp>
        <p:sp>
          <p:nvSpPr>
            <p:cNvPr id="15" name="項目_活用できていない"/>
            <p:cNvSpPr/>
            <p:nvPr/>
          </p:nvSpPr>
          <p:spPr>
            <a:xfrm>
              <a:off x="5524500" y="1924050"/>
              <a:ext cx="1676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活用できていない</a:t>
              </a:r>
            </a:p>
          </p:txBody>
        </p:sp>
        <p:sp>
          <p:nvSpPr>
            <p:cNvPr id="16" name="バー_活用できていない"/>
            <p:cNvSpPr/>
            <p:nvPr/>
          </p:nvSpPr>
          <p:spPr>
            <a:xfrm>
              <a:off x="7296150" y="1914525"/>
              <a:ext cx="3101340" cy="209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値_活用できていない"/>
            <p:cNvSpPr/>
            <p:nvPr/>
          </p:nvSpPr>
          <p:spPr>
            <a:xfrm>
              <a:off x="10492740" y="1914525"/>
              <a:ext cx="857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74%</a:t>
              </a:r>
            </a:p>
          </p:txBody>
        </p:sp>
        <p:sp>
          <p:nvSpPr>
            <p:cNvPr id="18" name="項目_一部の部門で活用"/>
            <p:cNvSpPr/>
            <p:nvPr/>
          </p:nvSpPr>
          <p:spPr>
            <a:xfrm>
              <a:off x="5524500" y="2533650"/>
              <a:ext cx="1676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一部の部門で活用</a:t>
              </a:r>
            </a:p>
          </p:txBody>
        </p:sp>
        <p:sp>
          <p:nvSpPr>
            <p:cNvPr id="19" name="バー_一部の部門で活用"/>
            <p:cNvSpPr/>
            <p:nvPr/>
          </p:nvSpPr>
          <p:spPr>
            <a:xfrm>
              <a:off x="7296150" y="2524125"/>
              <a:ext cx="796290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値_一部の部門で活用"/>
            <p:cNvSpPr/>
            <p:nvPr/>
          </p:nvSpPr>
          <p:spPr>
            <a:xfrm>
              <a:off x="8187690" y="2524125"/>
              <a:ext cx="857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19%</a:t>
              </a:r>
            </a:p>
          </p:txBody>
        </p:sp>
        <p:sp>
          <p:nvSpPr>
            <p:cNvPr id="21" name="項目_全社で活用"/>
            <p:cNvSpPr/>
            <p:nvPr/>
          </p:nvSpPr>
          <p:spPr>
            <a:xfrm>
              <a:off x="5524500" y="3143250"/>
              <a:ext cx="1676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全社で活用</a:t>
              </a:r>
            </a:p>
          </p:txBody>
        </p:sp>
        <p:sp>
          <p:nvSpPr>
            <p:cNvPr id="22" name="バー_全社で活用"/>
            <p:cNvSpPr/>
            <p:nvPr/>
          </p:nvSpPr>
          <p:spPr>
            <a:xfrm>
              <a:off x="7296150" y="3133725"/>
              <a:ext cx="293370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値_全社で活用"/>
            <p:cNvSpPr/>
            <p:nvPr/>
          </p:nvSpPr>
          <p:spPr>
            <a:xfrm>
              <a:off x="7684770" y="3133725"/>
              <a:ext cx="857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7%</a:t>
              </a:r>
            </a:p>
          </p:txBody>
        </p:sp>
      </p:grpSp>
      <p:grpSp>
        <p:nvGrpSpPr>
          <p:cNvPr id="24" name="データ引用_出典"/>
          <p:cNvGrpSpPr/>
          <p:nvPr/>
        </p:nvGrpSpPr>
        <p:grpSpPr>
          <a:xfrm>
            <a:off x="609600" y="4629150"/>
            <a:ext cx="10972800" cy="762000"/>
            <a:chOff x="609600" y="4629150"/>
            <a:chExt cx="10972800" cy="762000"/>
          </a:xfrm>
        </p:grpSpPr>
        <p:sp>
          <p:nvSpPr>
            <p:cNvPr id="25" name="出典ボックス"/>
            <p:cNvSpPr/>
            <p:nvPr/>
          </p:nvSpPr>
          <p:spPr>
            <a:xfrm>
              <a:off x="609600" y="4629150"/>
              <a:ext cx="109728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出典チップ"/>
            <p:cNvSpPr/>
            <p:nvPr/>
          </p:nvSpPr>
          <p:spPr>
            <a:xfrm>
              <a:off x="819150" y="4838700"/>
              <a:ext cx="533400" cy="2286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チップ文字"/>
            <p:cNvSpPr/>
            <p:nvPr/>
          </p:nvSpPr>
          <p:spPr>
            <a:xfrm>
              <a:off x="819150" y="4848225"/>
              <a:ext cx="5334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出典</a:t>
              </a:r>
            </a:p>
          </p:txBody>
        </p:sp>
        <p:sp>
          <p:nvSpPr>
            <p:cNvPr id="28" name="出典名"/>
            <p:cNvSpPr/>
            <p:nvPr/>
          </p:nvSpPr>
          <p:spPr>
            <a:xfrm>
              <a:off x="1524000" y="4762500"/>
              <a:ext cx="9715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サンプル総合研究所「製造業DX実態調査2026」</a:t>
              </a:r>
            </a:p>
          </p:txBody>
        </p:sp>
        <p:sp>
          <p:nvSpPr>
            <p:cNvPr id="29" name="調査概要"/>
            <p:cNvSpPr/>
            <p:nvPr/>
          </p:nvSpPr>
          <p:spPr>
            <a:xfrm>
              <a:off x="1524000" y="5029200"/>
              <a:ext cx="9715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2026年3月実施／Web調査／n=1,200（従業員100名以上の国内製造業）</a:t>
              </a:r>
            </a:p>
          </p:txBody>
        </p:sp>
      </p:grpSp>
      <p:grpSp>
        <p:nvGrpSpPr>
          <p:cNvPr id="30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31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注：調査名・数値は架空のサンプルです。実際の引用では出典・時点・調査規模を必ず併記してください</a:t>
              </a:r>
            </a:p>
          </p:txBody>
        </p:sp>
        <p:sp>
          <p:nvSpPr>
            <p:cNvPr id="32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7048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進め方は3つ。推奨は“小さく始める”B案です</a:t>
              </a:r>
            </a:p>
          </p:txBody>
        </p:sp>
        <p:sp>
          <p:nvSpPr>
            <p:cNvPr id="5" name="レイアウト名タグ"/>
            <p:cNvSpPr/>
            <p:nvPr/>
          </p:nvSpPr>
          <p:spPr>
            <a:xfrm>
              <a:off x="7658100" y="342900"/>
              <a:ext cx="3924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クロージング①｜次のステップ3択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進め方のご選択（3案比較）</a:t>
              </a:r>
            </a:p>
          </p:txBody>
        </p:sp>
      </p:grpSp>
      <p:grpSp>
        <p:nvGrpSpPr>
          <p:cNvPr id="8" name="選択肢A案_全社一斉"/>
          <p:cNvGrpSpPr/>
          <p:nvPr/>
        </p:nvGrpSpPr>
        <p:grpSpPr>
          <a:xfrm>
            <a:off x="609600" y="1428750"/>
            <a:ext cx="3429000" cy="3143250"/>
            <a:chOff x="609600" y="1428750"/>
            <a:chExt cx="3429000" cy="3143250"/>
          </a:xfrm>
        </p:grpSpPr>
        <p:sp>
          <p:nvSpPr>
            <p:cNvPr id="9" name="カード"/>
            <p:cNvSpPr/>
            <p:nvPr/>
          </p:nvSpPr>
          <p:spPr>
            <a:xfrm>
              <a:off x="609600" y="1428750"/>
              <a:ext cx="3429000" cy="3143250"/>
            </a:xfrm>
            <a:prstGeom prst="roundRect">
              <a:avLst>
                <a:gd name="adj" fmla="val 303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案名"/>
            <p:cNvSpPr/>
            <p:nvPr/>
          </p:nvSpPr>
          <p:spPr>
            <a:xfrm>
              <a:off x="857250" y="1638300"/>
              <a:ext cx="857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200" b="1">
                  <a:solidFill>
                    <a:schemeClr val="accent1"/>
                  </a:solidFill>
                </a:rPr>
                <a:t>A案</a:t>
              </a:r>
            </a:p>
          </p:txBody>
        </p:sp>
        <p:sp>
          <p:nvSpPr>
            <p:cNvPr id="11" name="タイトル"/>
            <p:cNvSpPr/>
            <p:nvPr/>
          </p:nvSpPr>
          <p:spPr>
            <a:xfrm>
              <a:off x="857250" y="2019300"/>
              <a:ext cx="29337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全社一斉導入</a:t>
              </a:r>
            </a:p>
          </p:txBody>
        </p:sp>
        <p:cxnSp>
          <p:nvCxnSpPr>
            <p:cNvPr id="12" name="仕切り線"/>
            <p:cNvCxnSpPr/>
            <p:nvPr/>
          </p:nvCxnSpPr>
          <p:spPr>
            <a:xfrm>
              <a:off x="857250" y="240030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項目_期間"/>
            <p:cNvSpPr/>
            <p:nvPr/>
          </p:nvSpPr>
          <p:spPr>
            <a:xfrm>
              <a:off x="857250" y="2533650"/>
              <a:ext cx="857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期間</a:t>
              </a:r>
            </a:p>
          </p:txBody>
        </p:sp>
        <p:sp>
          <p:nvSpPr>
            <p:cNvPr id="14" name="値_期間"/>
            <p:cNvSpPr/>
            <p:nvPr/>
          </p:nvSpPr>
          <p:spPr>
            <a:xfrm>
              <a:off x="1752600" y="2505075"/>
              <a:ext cx="20383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6ヶ月</a:t>
              </a:r>
            </a:p>
          </p:txBody>
        </p:sp>
        <p:cxnSp>
          <p:nvCxnSpPr>
            <p:cNvPr id="15" name="罫線1"/>
            <p:cNvCxnSpPr/>
            <p:nvPr/>
          </p:nvCxnSpPr>
          <p:spPr>
            <a:xfrm>
              <a:off x="857250" y="287655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項目_初期費用"/>
            <p:cNvSpPr/>
            <p:nvPr/>
          </p:nvSpPr>
          <p:spPr>
            <a:xfrm>
              <a:off x="857250" y="3028950"/>
              <a:ext cx="857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初期費用</a:t>
              </a:r>
            </a:p>
          </p:txBody>
        </p:sp>
        <p:sp>
          <p:nvSpPr>
            <p:cNvPr id="17" name="値_初期費用"/>
            <p:cNvSpPr/>
            <p:nvPr/>
          </p:nvSpPr>
          <p:spPr>
            <a:xfrm>
              <a:off x="1752600" y="3000375"/>
              <a:ext cx="20383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480万円</a:t>
              </a:r>
            </a:p>
          </p:txBody>
        </p:sp>
        <p:cxnSp>
          <p:nvCxnSpPr>
            <p:cNvPr id="18" name="罫線2"/>
            <p:cNvCxnSpPr/>
            <p:nvPr/>
          </p:nvCxnSpPr>
          <p:spPr>
            <a:xfrm>
              <a:off x="857250" y="337185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特徴ラベル"/>
            <p:cNvSpPr/>
            <p:nvPr/>
          </p:nvSpPr>
          <p:spPr>
            <a:xfrm>
              <a:off x="857250" y="3638550"/>
              <a:ext cx="857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特徴</a:t>
              </a:r>
            </a:p>
          </p:txBody>
        </p:sp>
        <p:sp>
          <p:nvSpPr>
            <p:cNvPr id="20" name="特徴"/>
            <p:cNvSpPr/>
            <p:nvPr/>
          </p:nvSpPr>
          <p:spPr>
            <a:xfrm>
              <a:off x="857250" y="3848100"/>
              <a:ext cx="29337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効果は最大。ただし現場負荷と初期投資も大</a:t>
              </a:r>
            </a:p>
          </p:txBody>
        </p:sp>
      </p:grpSp>
      <p:grpSp>
        <p:nvGrpSpPr>
          <p:cNvPr id="21" name="選択肢B案_部門パイ"/>
          <p:cNvGrpSpPr/>
          <p:nvPr/>
        </p:nvGrpSpPr>
        <p:grpSpPr>
          <a:xfrm>
            <a:off x="4381500" y="1323975"/>
            <a:ext cx="3429000" cy="3248025"/>
            <a:chOff x="4381500" y="1323975"/>
            <a:chExt cx="3429000" cy="3248025"/>
          </a:xfrm>
        </p:grpSpPr>
        <p:sp>
          <p:nvSpPr>
            <p:cNvPr id="22" name="カード"/>
            <p:cNvSpPr/>
            <p:nvPr/>
          </p:nvSpPr>
          <p:spPr>
            <a:xfrm>
              <a:off x="4381500" y="1428750"/>
              <a:ext cx="3429000" cy="3143250"/>
            </a:xfrm>
            <a:prstGeom prst="roundRect">
              <a:avLst>
                <a:gd name="adj" fmla="val 3030"/>
              </a:avLst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推奨チップ"/>
            <p:cNvSpPr/>
            <p:nvPr/>
          </p:nvSpPr>
          <p:spPr>
            <a:xfrm>
              <a:off x="5791200" y="1323975"/>
              <a:ext cx="60960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推奨文字"/>
            <p:cNvSpPr/>
            <p:nvPr/>
          </p:nvSpPr>
          <p:spPr>
            <a:xfrm>
              <a:off x="5791200" y="1333500"/>
              <a:ext cx="6096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推奨</a:t>
              </a:r>
            </a:p>
          </p:txBody>
        </p:sp>
        <p:sp>
          <p:nvSpPr>
            <p:cNvPr id="25" name="案名"/>
            <p:cNvSpPr/>
            <p:nvPr/>
          </p:nvSpPr>
          <p:spPr>
            <a:xfrm>
              <a:off x="4629150" y="1638300"/>
              <a:ext cx="857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200" b="1">
                  <a:solidFill>
                    <a:schemeClr val="accent1"/>
                  </a:solidFill>
                </a:rPr>
                <a:t>B案</a:t>
              </a:r>
            </a:p>
          </p:txBody>
        </p:sp>
        <p:sp>
          <p:nvSpPr>
            <p:cNvPr id="26" name="タイトル"/>
            <p:cNvSpPr/>
            <p:nvPr/>
          </p:nvSpPr>
          <p:spPr>
            <a:xfrm>
              <a:off x="4629150" y="2019300"/>
              <a:ext cx="29337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部門パイロット</a:t>
              </a:r>
            </a:p>
          </p:txBody>
        </p:sp>
        <p:cxnSp>
          <p:nvCxnSpPr>
            <p:cNvPr id="27" name="仕切り線"/>
            <p:cNvCxnSpPr/>
            <p:nvPr/>
          </p:nvCxnSpPr>
          <p:spPr>
            <a:xfrm>
              <a:off x="4629150" y="240030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項目_期間"/>
            <p:cNvSpPr/>
            <p:nvPr/>
          </p:nvSpPr>
          <p:spPr>
            <a:xfrm>
              <a:off x="4629150" y="2533650"/>
              <a:ext cx="857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期間</a:t>
              </a:r>
            </a:p>
          </p:txBody>
        </p:sp>
        <p:sp>
          <p:nvSpPr>
            <p:cNvPr id="29" name="値_期間"/>
            <p:cNvSpPr/>
            <p:nvPr/>
          </p:nvSpPr>
          <p:spPr>
            <a:xfrm>
              <a:off x="5524500" y="2505075"/>
              <a:ext cx="20383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90日</a:t>
              </a:r>
            </a:p>
          </p:txBody>
        </p:sp>
        <p:cxnSp>
          <p:nvCxnSpPr>
            <p:cNvPr id="30" name="罫線1"/>
            <p:cNvCxnSpPr/>
            <p:nvPr/>
          </p:nvCxnSpPr>
          <p:spPr>
            <a:xfrm>
              <a:off x="4629150" y="287655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項目_初期費用"/>
            <p:cNvSpPr/>
            <p:nvPr/>
          </p:nvSpPr>
          <p:spPr>
            <a:xfrm>
              <a:off x="4629150" y="3028950"/>
              <a:ext cx="857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初期費用</a:t>
              </a:r>
            </a:p>
          </p:txBody>
        </p:sp>
        <p:sp>
          <p:nvSpPr>
            <p:cNvPr id="32" name="値_初期費用"/>
            <p:cNvSpPr/>
            <p:nvPr/>
          </p:nvSpPr>
          <p:spPr>
            <a:xfrm>
              <a:off x="5524500" y="3000375"/>
              <a:ext cx="20383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120万円</a:t>
              </a:r>
            </a:p>
          </p:txBody>
        </p:sp>
        <p:cxnSp>
          <p:nvCxnSpPr>
            <p:cNvPr id="33" name="罫線2"/>
            <p:cNvCxnSpPr/>
            <p:nvPr/>
          </p:nvCxnSpPr>
          <p:spPr>
            <a:xfrm>
              <a:off x="4629150" y="337185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特徴ラベル"/>
            <p:cNvSpPr/>
            <p:nvPr/>
          </p:nvSpPr>
          <p:spPr>
            <a:xfrm>
              <a:off x="4629150" y="3638550"/>
              <a:ext cx="857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特徴</a:t>
              </a:r>
            </a:p>
          </p:txBody>
        </p:sp>
        <p:sp>
          <p:nvSpPr>
            <p:cNvPr id="35" name="特徴"/>
            <p:cNvSpPr/>
            <p:nvPr/>
          </p:nvSpPr>
          <p:spPr>
            <a:xfrm>
              <a:off x="4629150" y="3848100"/>
              <a:ext cx="29337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2部門で小さく検証し、成果を見て全社へ拡大</a:t>
              </a:r>
            </a:p>
          </p:txBody>
        </p:sp>
      </p:grpSp>
      <p:grpSp>
        <p:nvGrpSpPr>
          <p:cNvPr id="36" name="選択肢C案_情報収集"/>
          <p:cNvGrpSpPr/>
          <p:nvPr/>
        </p:nvGrpSpPr>
        <p:grpSpPr>
          <a:xfrm>
            <a:off x="8153400" y="1428750"/>
            <a:ext cx="3429000" cy="3143250"/>
            <a:chOff x="8153400" y="1428750"/>
            <a:chExt cx="3429000" cy="3143250"/>
          </a:xfrm>
        </p:grpSpPr>
        <p:sp>
          <p:nvSpPr>
            <p:cNvPr id="37" name="カード"/>
            <p:cNvSpPr/>
            <p:nvPr/>
          </p:nvSpPr>
          <p:spPr>
            <a:xfrm>
              <a:off x="8153400" y="1428750"/>
              <a:ext cx="3429000" cy="3143250"/>
            </a:xfrm>
            <a:prstGeom prst="roundRect">
              <a:avLst>
                <a:gd name="adj" fmla="val 303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案名"/>
            <p:cNvSpPr/>
            <p:nvPr/>
          </p:nvSpPr>
          <p:spPr>
            <a:xfrm>
              <a:off x="8401050" y="1638300"/>
              <a:ext cx="857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200" b="1">
                  <a:solidFill>
                    <a:schemeClr val="accent1"/>
                  </a:solidFill>
                </a:rPr>
                <a:t>C案</a:t>
              </a:r>
            </a:p>
          </p:txBody>
        </p:sp>
        <p:sp>
          <p:nvSpPr>
            <p:cNvPr id="39" name="タイトル"/>
            <p:cNvSpPr/>
            <p:nvPr/>
          </p:nvSpPr>
          <p:spPr>
            <a:xfrm>
              <a:off x="8401050" y="2019300"/>
              <a:ext cx="29337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情報収集を継続</a:t>
              </a:r>
            </a:p>
          </p:txBody>
        </p:sp>
        <p:cxnSp>
          <p:nvCxnSpPr>
            <p:cNvPr id="40" name="仕切り線"/>
            <p:cNvCxnSpPr/>
            <p:nvPr/>
          </p:nvCxnSpPr>
          <p:spPr>
            <a:xfrm>
              <a:off x="8401050" y="240030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項目_期間"/>
            <p:cNvSpPr/>
            <p:nvPr/>
          </p:nvSpPr>
          <p:spPr>
            <a:xfrm>
              <a:off x="8401050" y="2533650"/>
              <a:ext cx="857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期間</a:t>
              </a:r>
            </a:p>
          </p:txBody>
        </p:sp>
        <p:sp>
          <p:nvSpPr>
            <p:cNvPr id="42" name="値_期間"/>
            <p:cNvSpPr/>
            <p:nvPr/>
          </p:nvSpPr>
          <p:spPr>
            <a:xfrm>
              <a:off x="9296400" y="2505075"/>
              <a:ext cx="20383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—</a:t>
              </a:r>
            </a:p>
          </p:txBody>
        </p:sp>
        <p:cxnSp>
          <p:nvCxnSpPr>
            <p:cNvPr id="43" name="罫線1"/>
            <p:cNvCxnSpPr/>
            <p:nvPr/>
          </p:nvCxnSpPr>
          <p:spPr>
            <a:xfrm>
              <a:off x="8401050" y="287655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項目_初期費用"/>
            <p:cNvSpPr/>
            <p:nvPr/>
          </p:nvSpPr>
          <p:spPr>
            <a:xfrm>
              <a:off x="8401050" y="3028950"/>
              <a:ext cx="857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初期費用</a:t>
              </a:r>
            </a:p>
          </p:txBody>
        </p:sp>
        <p:sp>
          <p:nvSpPr>
            <p:cNvPr id="45" name="値_初期費用"/>
            <p:cNvSpPr/>
            <p:nvPr/>
          </p:nvSpPr>
          <p:spPr>
            <a:xfrm>
              <a:off x="9296400" y="3000375"/>
              <a:ext cx="20383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0円</a:t>
              </a:r>
            </a:p>
          </p:txBody>
        </p:sp>
        <p:cxnSp>
          <p:nvCxnSpPr>
            <p:cNvPr id="46" name="罫線2"/>
            <p:cNvCxnSpPr/>
            <p:nvPr/>
          </p:nvCxnSpPr>
          <p:spPr>
            <a:xfrm>
              <a:off x="8401050" y="3371850"/>
              <a:ext cx="29337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特徴ラベル"/>
            <p:cNvSpPr/>
            <p:nvPr/>
          </p:nvSpPr>
          <p:spPr>
            <a:xfrm>
              <a:off x="8401050" y="3638550"/>
              <a:ext cx="857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特徴</a:t>
              </a:r>
            </a:p>
          </p:txBody>
        </p:sp>
        <p:sp>
          <p:nvSpPr>
            <p:cNvPr id="48" name="特徴"/>
            <p:cNvSpPr/>
            <p:nvPr/>
          </p:nvSpPr>
          <p:spPr>
            <a:xfrm>
              <a:off x="8401050" y="3848100"/>
              <a:ext cx="29337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リスクはないが、月40時間の損失も継続</a:t>
              </a:r>
            </a:p>
          </p:txBody>
        </p:sp>
      </p:grpSp>
      <p:grpSp>
        <p:nvGrpSpPr>
          <p:cNvPr id="49" name="選択_お願い"/>
          <p:cNvGrpSpPr/>
          <p:nvPr/>
        </p:nvGrpSpPr>
        <p:grpSpPr>
          <a:xfrm>
            <a:off x="609600" y="4886325"/>
            <a:ext cx="10972800" cy="676275"/>
            <a:chOff x="609600" y="4886325"/>
            <a:chExt cx="10972800" cy="676275"/>
          </a:xfrm>
        </p:grpSpPr>
        <p:sp>
          <p:nvSpPr>
            <p:cNvPr id="50" name="お願い枠"/>
            <p:cNvSpPr/>
            <p:nvPr/>
          </p:nvSpPr>
          <p:spPr>
            <a:xfrm>
              <a:off x="609600" y="4991100"/>
              <a:ext cx="10972800" cy="571500"/>
            </a:xfrm>
            <a:prstGeom prst="roundRect">
              <a:avLst>
                <a:gd name="adj" fmla="val 13333"/>
              </a:avLst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バッジ"/>
            <p:cNvSpPr/>
            <p:nvPr/>
          </p:nvSpPr>
          <p:spPr>
            <a:xfrm>
              <a:off x="819150" y="4886325"/>
              <a:ext cx="1047750" cy="2095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バッジ文字"/>
            <p:cNvSpPr/>
            <p:nvPr/>
          </p:nvSpPr>
          <p:spPr>
            <a:xfrm>
              <a:off x="819150" y="4895850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本日のお願い</a:t>
              </a:r>
            </a:p>
          </p:txBody>
        </p:sp>
        <p:sp>
          <p:nvSpPr>
            <p:cNvPr id="53" name="お願い文"/>
            <p:cNvSpPr/>
            <p:nvPr/>
          </p:nvSpPr>
          <p:spPr>
            <a:xfrm>
              <a:off x="838200" y="5010150"/>
              <a:ext cx="105156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1"/>
                  </a:solidFill>
                </a:rPr>
                <a:t>A〜Cのいずれで進めるか、本日ご判断をお願いします</a:t>
              </a:r>
            </a:p>
          </p:txBody>
        </p:sp>
      </p:grpSp>
      <p:grpSp>
        <p:nvGrpSpPr>
          <p:cNvPr id="54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55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注：金額・期間はサンプルです</a:t>
              </a:r>
            </a:p>
          </p:txBody>
        </p:sp>
        <p:sp>
          <p:nvSpPr>
            <p:cNvPr id="56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出所：株式会社サンプル お見積り（サンプル）</a:t>
              </a:r>
            </a:p>
          </p:txBody>
        </p:sp>
        <p:sp>
          <p:nvSpPr>
            <p:cNvPr id="57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09600" y="266700"/>
            <a:ext cx="10972800" cy="704850"/>
            <a:chOff x="609600" y="266700"/>
            <a:chExt cx="10972800" cy="704850"/>
          </a:xfrm>
        </p:grpSpPr>
        <p:sp>
          <p:nvSpPr>
            <p:cNvPr id="4" name="ヘッドメッセージ"/>
            <p:cNvSpPr/>
            <p:nvPr/>
          </p:nvSpPr>
          <p:spPr>
            <a:xfrm>
              <a:off x="609600" y="266700"/>
              <a:ext cx="70485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800" b="1">
                  <a:solidFill>
                    <a:schemeClr val="dk2"/>
                  </a:solidFill>
                </a:rPr>
                <a:t>本日のまとめは3点、お願いは1点です</a:t>
              </a:r>
            </a:p>
          </p:txBody>
        </p:sp>
        <p:sp>
          <p:nvSpPr>
            <p:cNvPr id="5" name="レイアウト名タグ"/>
            <p:cNvSpPr/>
            <p:nvPr/>
          </p:nvSpPr>
          <p:spPr>
            <a:xfrm>
              <a:off x="7658100" y="342900"/>
              <a:ext cx="39243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クロージング④｜まとめ＋依頼</a:t>
              </a:r>
            </a:p>
          </p:txBody>
        </p:sp>
        <p:cxnSp>
          <p:nvCxnSpPr>
            <p:cNvPr id="6" name="ヘッダー罫線"/>
            <p:cNvCxnSpPr/>
            <p:nvPr/>
          </p:nvCxnSpPr>
          <p:spPr>
            <a:xfrm>
              <a:off x="609600" y="685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819150"/>
              <a:ext cx="762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本日の要点とご依頼事項</a:t>
              </a:r>
            </a:p>
          </p:txBody>
        </p:sp>
      </p:grpSp>
      <p:grpSp>
        <p:nvGrpSpPr>
          <p:cNvPr id="8" name="まとめ_3点"/>
          <p:cNvGrpSpPr/>
          <p:nvPr/>
        </p:nvGrpSpPr>
        <p:grpSpPr>
          <a:xfrm>
            <a:off x="609600" y="1428750"/>
            <a:ext cx="6477000" cy="3257550"/>
            <a:chOff x="609600" y="1428750"/>
            <a:chExt cx="6477000" cy="3257550"/>
          </a:xfrm>
        </p:grpSpPr>
        <p:sp>
          <p:nvSpPr>
            <p:cNvPr id="9" name="小見出し"/>
            <p:cNvSpPr/>
            <p:nvPr/>
          </p:nvSpPr>
          <p:spPr>
            <a:xfrm>
              <a:off x="609600" y="1428750"/>
              <a:ext cx="3810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本日のまとめ</a:t>
              </a:r>
            </a:p>
          </p:txBody>
        </p:sp>
        <p:sp>
          <p:nvSpPr>
            <p:cNvPr id="10" name="番号丸1"/>
            <p:cNvSpPr/>
            <p:nvPr/>
          </p:nvSpPr>
          <p:spPr>
            <a:xfrm>
              <a:off x="609600" y="17526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番号1"/>
            <p:cNvSpPr/>
            <p:nvPr/>
          </p:nvSpPr>
          <p:spPr>
            <a:xfrm>
              <a:off x="609600" y="17621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12" name="要点1"/>
            <p:cNvSpPr/>
            <p:nvPr/>
          </p:nvSpPr>
          <p:spPr>
            <a:xfrm>
              <a:off x="1123950" y="1771650"/>
              <a:ext cx="5962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課題の8割は“データの分断”に起因しています</a:t>
              </a:r>
            </a:p>
          </p:txBody>
        </p:sp>
        <p:sp>
          <p:nvSpPr>
            <p:cNvPr id="13" name="参照1"/>
            <p:cNvSpPr/>
            <p:nvPr/>
          </p:nvSpPr>
          <p:spPr>
            <a:xfrm>
              <a:off x="1123950" y="2076450"/>
              <a:ext cx="59626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詳細：第2章（部門別の作業時間分析）</a:t>
              </a:r>
            </a:p>
          </p:txBody>
        </p:sp>
        <p:cxnSp>
          <p:nvCxnSpPr>
            <p:cNvPr id="14" name="罫線1"/>
            <p:cNvCxnSpPr/>
            <p:nvPr/>
          </p:nvCxnSpPr>
          <p:spPr>
            <a:xfrm>
              <a:off x="609600" y="2438400"/>
              <a:ext cx="6477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番号丸2"/>
            <p:cNvSpPr/>
            <p:nvPr/>
          </p:nvSpPr>
          <p:spPr>
            <a:xfrm>
              <a:off x="609600" y="28765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番号2"/>
            <p:cNvSpPr/>
            <p:nvPr/>
          </p:nvSpPr>
          <p:spPr>
            <a:xfrm>
              <a:off x="609600" y="288607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17" name="要点2"/>
            <p:cNvSpPr/>
            <p:nvPr/>
          </p:nvSpPr>
          <p:spPr>
            <a:xfrm>
              <a:off x="1123950" y="2895600"/>
              <a:ext cx="5962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解決は、ツール追加ではなくデータ基盤の統合です</a:t>
              </a:r>
            </a:p>
          </p:txBody>
        </p:sp>
        <p:sp>
          <p:nvSpPr>
            <p:cNvPr id="18" name="参照2"/>
            <p:cNvSpPr/>
            <p:nvPr/>
          </p:nvSpPr>
          <p:spPr>
            <a:xfrm>
              <a:off x="1123950" y="3200400"/>
              <a:ext cx="59626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詳細：第3章（コスト比較・移行リスク）</a:t>
              </a:r>
            </a:p>
          </p:txBody>
        </p:sp>
        <p:cxnSp>
          <p:nvCxnSpPr>
            <p:cNvPr id="19" name="罫線2"/>
            <p:cNvCxnSpPr/>
            <p:nvPr/>
          </p:nvCxnSpPr>
          <p:spPr>
            <a:xfrm>
              <a:off x="609600" y="3562350"/>
              <a:ext cx="6477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番号丸3"/>
            <p:cNvSpPr/>
            <p:nvPr/>
          </p:nvSpPr>
          <p:spPr>
            <a:xfrm>
              <a:off x="609600" y="40005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番号3"/>
            <p:cNvSpPr/>
            <p:nvPr/>
          </p:nvSpPr>
          <p:spPr>
            <a:xfrm>
              <a:off x="609600" y="40100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22" name="要点3"/>
            <p:cNvSpPr/>
            <p:nvPr/>
          </p:nvSpPr>
          <p:spPr>
            <a:xfrm>
              <a:off x="1123950" y="4019550"/>
              <a:ext cx="5962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90日の部門パイロットで、費用対効果を検証できます</a:t>
              </a:r>
            </a:p>
          </p:txBody>
        </p:sp>
        <p:sp>
          <p:nvSpPr>
            <p:cNvPr id="23" name="参照3"/>
            <p:cNvSpPr/>
            <p:nvPr/>
          </p:nvSpPr>
          <p:spPr>
            <a:xfrm>
              <a:off x="1123950" y="4324350"/>
              <a:ext cx="59626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詳細：第4章（導入計画・体制）</a:t>
              </a:r>
            </a:p>
          </p:txBody>
        </p:sp>
        <p:cxnSp>
          <p:nvCxnSpPr>
            <p:cNvPr id="24" name="罫線3"/>
            <p:cNvCxnSpPr/>
            <p:nvPr/>
          </p:nvCxnSpPr>
          <p:spPr>
            <a:xfrm>
              <a:off x="609600" y="4686300"/>
              <a:ext cx="6477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依頼_1点"/>
          <p:cNvGrpSpPr/>
          <p:nvPr/>
        </p:nvGrpSpPr>
        <p:grpSpPr>
          <a:xfrm>
            <a:off x="7620000" y="1314450"/>
            <a:ext cx="3962400" cy="3257550"/>
            <a:chOff x="7620000" y="1314450"/>
            <a:chExt cx="3962400" cy="3257550"/>
          </a:xfrm>
        </p:grpSpPr>
        <p:sp>
          <p:nvSpPr>
            <p:cNvPr id="26" name="依頼カード"/>
            <p:cNvSpPr/>
            <p:nvPr/>
          </p:nvSpPr>
          <p:spPr>
            <a:xfrm>
              <a:off x="7620000" y="1428750"/>
              <a:ext cx="3962400" cy="3143250"/>
            </a:xfrm>
            <a:prstGeom prst="roundRect">
              <a:avLst>
                <a:gd name="adj" fmla="val 3636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依頼チップ"/>
            <p:cNvSpPr/>
            <p:nvPr/>
          </p:nvSpPr>
          <p:spPr>
            <a:xfrm>
              <a:off x="7848600" y="1314450"/>
              <a:ext cx="11811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チップ文字"/>
            <p:cNvSpPr/>
            <p:nvPr/>
          </p:nvSpPr>
          <p:spPr>
            <a:xfrm>
              <a:off x="7848600" y="1323975"/>
              <a:ext cx="11811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お願い（1点）</a:t>
              </a:r>
            </a:p>
          </p:txBody>
        </p:sp>
        <p:sp>
          <p:nvSpPr>
            <p:cNvPr id="29" name="依頼文"/>
            <p:cNvSpPr/>
            <p:nvPr/>
          </p:nvSpPr>
          <p:spPr>
            <a:xfrm>
              <a:off x="7848600" y="1943100"/>
              <a:ext cx="3505200" cy="857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70000"/>
                </a:lnSpc>
              </a:pPr>
              <a:r>
                <a:rPr sz="1600" b="1">
                  <a:solidFill>
                    <a:schemeClr val="lt1"/>
                  </a:solidFill>
                </a:rPr>
                <a:t>パイロット対象の2部門を、</a:t>
              </a:r>
            </a:p>
            <a:p>
              <a:pPr algn="l">
                <a:lnSpc>
                  <a:spcPct val="170000"/>
                </a:lnSpc>
              </a:pPr>
              <a:r>
                <a:rPr sz="1600" b="1">
                  <a:solidFill>
                    <a:schemeClr val="lt1"/>
                  </a:solidFill>
                </a:rPr>
                <a:t>今週中にご指名ください。</a:t>
              </a:r>
            </a:p>
          </p:txBody>
        </p:sp>
        <p:cxnSp>
          <p:nvCxnSpPr>
            <p:cNvPr id="30" name="区切り線"/>
            <p:cNvCxnSpPr/>
            <p:nvPr/>
          </p:nvCxnSpPr>
          <p:spPr>
            <a:xfrm>
              <a:off x="7848600" y="3009900"/>
              <a:ext cx="3505200" cy="0"/>
            </a:xfrm>
            <a:prstGeom prst="bentConnector3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次の動き"/>
            <p:cNvSpPr/>
            <p:nvPr/>
          </p:nvSpPr>
          <p:spPr>
            <a:xfrm>
              <a:off x="7848600" y="3200400"/>
              <a:ext cx="35052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70000"/>
                </a:lnSpc>
              </a:pPr>
              <a:r>
                <a:rPr sz="1050">
                  <a:solidFill>
                    <a:schemeClr val="accent4"/>
                  </a:solidFill>
                </a:rPr>
                <a:t>ご指名いただければ、来週から</a:t>
              </a:r>
            </a:p>
            <a:p>
              <a:pPr algn="l">
                <a:lnSpc>
                  <a:spcPct val="170000"/>
                </a:lnSpc>
              </a:pPr>
              <a:r>
                <a:rPr sz="1050">
                  <a:solidFill>
                    <a:schemeClr val="accent4"/>
                  </a:solidFill>
                </a:rPr>
                <a:t>キックオフの調整を開始します</a:t>
              </a:r>
            </a:p>
          </p:txBody>
        </p:sp>
      </p:grpSp>
      <p:grpSp>
        <p:nvGrpSpPr>
          <p:cNvPr id="32" name="フッター"/>
          <p:cNvGrpSpPr/>
          <p:nvPr/>
        </p:nvGrpSpPr>
        <p:grpSpPr>
          <a:xfrm>
            <a:off x="609600" y="6248400"/>
            <a:ext cx="10972800" cy="304800"/>
            <a:chOff x="609600" y="6248400"/>
            <a:chExt cx="10972800" cy="304800"/>
          </a:xfrm>
        </p:grpSpPr>
        <p:sp>
          <p:nvSpPr>
            <p:cNvPr id="33" name="脚注"/>
            <p:cNvSpPr/>
            <p:nvPr/>
          </p:nvSpPr>
          <p:spPr>
            <a:xfrm>
              <a:off x="609600" y="624840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注：要点・部門名等はサンプルです</a:t>
              </a:r>
            </a:p>
          </p:txBody>
        </p:sp>
        <p:sp>
          <p:nvSpPr>
            <p:cNvPr id="34" name="出所"/>
            <p:cNvSpPr/>
            <p:nvPr/>
          </p:nvSpPr>
          <p:spPr>
            <a:xfrm>
              <a:off x="609600" y="6419850"/>
              <a:ext cx="8572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出所：本資料 第2〜4章</a:t>
              </a:r>
            </a:p>
          </p:txBody>
        </p:sp>
        <p:sp>
          <p:nvSpPr>
            <p:cNvPr id="35" name="ページ番号"/>
            <p:cNvSpPr/>
            <p:nvPr/>
          </p:nvSpPr>
          <p:spPr>
            <a:xfrm>
              <a:off x="11010900" y="64198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現状分析①｜推移グラフ＋示唆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問い合わせ対応は月420時間と、3年で1.8倍に増えた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問い合わせ対応時間の推移（時間/月）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出所：CS部門 工数集計 20XX年◯月（数値はサンプル）　　注：対象はCS部門12名の合計対応時間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02</a:t>
              </a:r>
            </a:p>
          </p:txBody>
        </p:sp>
      </p:grpSp>
      <p:grpSp>
        <p:nvGrpSpPr>
          <p:cNvPr id="11" name="推移グラフ"/>
          <p:cNvGrpSpPr/>
          <p:nvPr/>
        </p:nvGrpSpPr>
        <p:grpSpPr>
          <a:xfrm>
            <a:off x="762000" y="1962150"/>
            <a:ext cx="6324600" cy="3600450"/>
            <a:chOff x="762000" y="1962150"/>
            <a:chExt cx="6324600" cy="3600450"/>
          </a:xfrm>
        </p:grpSpPr>
        <p:cxnSp>
          <p:nvCxnSpPr>
            <p:cNvPr id="12" name="基準線"/>
            <p:cNvCxnSpPr/>
            <p:nvPr/>
          </p:nvCxnSpPr>
          <p:spPr>
            <a:xfrm>
              <a:off x="762000" y="5334000"/>
              <a:ext cx="63246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20X3年水準線"/>
            <p:cNvCxnSpPr/>
            <p:nvPr/>
          </p:nvCxnSpPr>
          <p:spPr>
            <a:xfrm>
              <a:off x="762000" y="3597728"/>
              <a:ext cx="6324600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棒20X3"/>
            <p:cNvSpPr/>
            <p:nvPr/>
          </p:nvSpPr>
          <p:spPr>
            <a:xfrm>
              <a:off x="914400" y="3597728"/>
              <a:ext cx="914400" cy="173627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値20X3"/>
            <p:cNvSpPr/>
            <p:nvPr/>
          </p:nvSpPr>
          <p:spPr>
            <a:xfrm>
              <a:off x="762000" y="3369128"/>
              <a:ext cx="1219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accent5"/>
                  </a:solidFill>
                </a:rPr>
                <a:t>232</a:t>
              </a:r>
            </a:p>
          </p:txBody>
        </p:sp>
        <p:sp>
          <p:nvSpPr>
            <p:cNvPr id="16" name="年20X3"/>
            <p:cNvSpPr/>
            <p:nvPr/>
          </p:nvSpPr>
          <p:spPr>
            <a:xfrm>
              <a:off x="762000" y="5410200"/>
              <a:ext cx="1219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20X3</a:t>
              </a:r>
            </a:p>
          </p:txBody>
        </p:sp>
        <p:sp>
          <p:nvSpPr>
            <p:cNvPr id="17" name="棒20X4"/>
            <p:cNvSpPr/>
            <p:nvPr/>
          </p:nvSpPr>
          <p:spPr>
            <a:xfrm>
              <a:off x="2438400" y="3126241"/>
              <a:ext cx="914400" cy="220775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値20X4"/>
            <p:cNvSpPr/>
            <p:nvPr/>
          </p:nvSpPr>
          <p:spPr>
            <a:xfrm>
              <a:off x="2286000" y="2897641"/>
              <a:ext cx="1219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accent5"/>
                  </a:solidFill>
                </a:rPr>
                <a:t>295</a:t>
              </a:r>
            </a:p>
          </p:txBody>
        </p:sp>
        <p:sp>
          <p:nvSpPr>
            <p:cNvPr id="19" name="年20X4"/>
            <p:cNvSpPr/>
            <p:nvPr/>
          </p:nvSpPr>
          <p:spPr>
            <a:xfrm>
              <a:off x="2286000" y="5410200"/>
              <a:ext cx="1219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20X4</a:t>
              </a:r>
            </a:p>
          </p:txBody>
        </p:sp>
        <p:sp>
          <p:nvSpPr>
            <p:cNvPr id="20" name="棒20X5"/>
            <p:cNvSpPr/>
            <p:nvPr/>
          </p:nvSpPr>
          <p:spPr>
            <a:xfrm>
              <a:off x="3962400" y="2729592"/>
              <a:ext cx="914400" cy="26044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値20X5"/>
            <p:cNvSpPr/>
            <p:nvPr/>
          </p:nvSpPr>
          <p:spPr>
            <a:xfrm>
              <a:off x="3810000" y="2500992"/>
              <a:ext cx="1219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accent5"/>
                  </a:solidFill>
                </a:rPr>
                <a:t>348</a:t>
              </a:r>
            </a:p>
          </p:txBody>
        </p:sp>
        <p:sp>
          <p:nvSpPr>
            <p:cNvPr id="22" name="年20X5"/>
            <p:cNvSpPr/>
            <p:nvPr/>
          </p:nvSpPr>
          <p:spPr>
            <a:xfrm>
              <a:off x="3810000" y="5410200"/>
              <a:ext cx="1219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20X5</a:t>
              </a:r>
            </a:p>
          </p:txBody>
        </p:sp>
        <p:sp>
          <p:nvSpPr>
            <p:cNvPr id="23" name="棒20X6"/>
            <p:cNvSpPr/>
            <p:nvPr/>
          </p:nvSpPr>
          <p:spPr>
            <a:xfrm>
              <a:off x="5486400" y="2190750"/>
              <a:ext cx="914400" cy="3143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値20X6"/>
            <p:cNvSpPr/>
            <p:nvPr/>
          </p:nvSpPr>
          <p:spPr>
            <a:xfrm>
              <a:off x="5334000" y="1962150"/>
              <a:ext cx="1219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420</a:t>
              </a:r>
            </a:p>
          </p:txBody>
        </p:sp>
        <p:sp>
          <p:nvSpPr>
            <p:cNvPr id="25" name="年20X6"/>
            <p:cNvSpPr/>
            <p:nvPr/>
          </p:nvSpPr>
          <p:spPr>
            <a:xfrm>
              <a:off x="5334000" y="5410200"/>
              <a:ext cx="1219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20X6</a:t>
              </a:r>
            </a:p>
          </p:txBody>
        </p:sp>
        <p:sp>
          <p:nvSpPr>
            <p:cNvPr id="26" name="水準ラベル"/>
            <p:cNvSpPr/>
            <p:nvPr/>
          </p:nvSpPr>
          <p:spPr>
            <a:xfrm>
              <a:off x="6362700" y="3254828"/>
              <a:ext cx="7239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850">
                  <a:solidFill>
                    <a:schemeClr val="accent5"/>
                  </a:solidFill>
                </a:rPr>
                <a:t>20X3年の</a:t>
              </a:r>
            </a:p>
            <a:p>
              <a:pPr algn="ctr">
                <a:lnSpc>
                  <a:spcPct val="125000"/>
                </a:lnSpc>
              </a:pPr>
              <a:r>
                <a:rPr sz="850">
                  <a:solidFill>
                    <a:schemeClr val="accent5"/>
                  </a:solidFill>
                </a:rPr>
                <a:t>水準</a:t>
              </a:r>
            </a:p>
          </p:txBody>
        </p:sp>
      </p:grpSp>
      <p:grpSp>
        <p:nvGrpSpPr>
          <p:cNvPr id="27" name="グラフ注記"/>
          <p:cNvGrpSpPr/>
          <p:nvPr/>
        </p:nvGrpSpPr>
        <p:grpSpPr>
          <a:xfrm>
            <a:off x="5334000" y="1600200"/>
            <a:ext cx="1295400" cy="457200"/>
            <a:chOff x="5334000" y="1600200"/>
            <a:chExt cx="1295400" cy="457200"/>
          </a:xfrm>
        </p:grpSpPr>
        <p:sp>
          <p:nvSpPr>
            <p:cNvPr id="28" name="吹き出し_倍率"/>
            <p:cNvSpPr/>
            <p:nvPr/>
          </p:nvSpPr>
          <p:spPr>
            <a:xfrm>
              <a:off x="5334000" y="1600200"/>
              <a:ext cx="1295400" cy="457200"/>
            </a:xfrm>
            <a:custGeom>
              <a:avLst/>
              <a:gdLst/>
              <a:ahLst/>
              <a:cxnLst/>
              <a:rect l="0" t="0" r="1295400" b="361950"/>
              <a:pathLst>
                <a:path w="1295400" h="457200">
                  <a:moveTo>
                    <a:pt x="57150" y="0"/>
                  </a:moveTo>
                  <a:lnTo>
                    <a:pt x="1238250" y="0"/>
                  </a:lnTo>
                  <a:arcTo wR="57150" hR="57150" stAng="16200000" swAng="5400000"/>
                  <a:lnTo>
                    <a:pt x="1295400" y="304800"/>
                  </a:lnTo>
                  <a:arcTo wR="57150" hR="57150" stAng="0" swAng="5400000"/>
                  <a:lnTo>
                    <a:pt x="714375" y="361950"/>
                  </a:lnTo>
                  <a:lnTo>
                    <a:pt x="647700" y="457200"/>
                  </a:lnTo>
                  <a:lnTo>
                    <a:pt x="581025" y="361950"/>
                  </a:lnTo>
                  <a:lnTo>
                    <a:pt x="57150" y="361950"/>
                  </a:lnTo>
                  <a:arcTo wR="57150" hR="57150" stAng="5400000" swAng="5400000"/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467350" y="1600200"/>
              <a:ext cx="102870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lt1"/>
                  </a:solidFill>
                </a:rPr>
                <a:t>3年で ×1.8</a:t>
              </a:r>
            </a:p>
          </p:txBody>
        </p:sp>
      </p:grpSp>
      <p:grpSp>
        <p:nvGrpSpPr>
          <p:cNvPr id="30" name="示唆パネル"/>
          <p:cNvGrpSpPr/>
          <p:nvPr/>
        </p:nvGrpSpPr>
        <p:grpSpPr>
          <a:xfrm>
            <a:off x="7734300" y="1676400"/>
            <a:ext cx="3848100" cy="3067050"/>
            <a:chOff x="7734300" y="1676400"/>
            <a:chExt cx="3848100" cy="3067050"/>
          </a:xfrm>
        </p:grpSpPr>
        <p:sp>
          <p:nvSpPr>
            <p:cNvPr id="31" name="パネル"/>
            <p:cNvSpPr/>
            <p:nvPr/>
          </p:nvSpPr>
          <p:spPr>
            <a:xfrm>
              <a:off x="7734300" y="1676400"/>
              <a:ext cx="3848100" cy="3067050"/>
            </a:xfrm>
            <a:prstGeom prst="roundRect">
              <a:avLst>
                <a:gd name="adj" fmla="val 310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ラベル"/>
            <p:cNvSpPr/>
            <p:nvPr/>
          </p:nvSpPr>
          <p:spPr>
            <a:xfrm>
              <a:off x="8020050" y="192405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1"/>
                  </a:solidFill>
                </a:rPr>
                <a:t>POINT</a:t>
              </a:r>
            </a:p>
          </p:txBody>
        </p:sp>
        <p:sp>
          <p:nvSpPr>
            <p:cNvPr id="33" name="示唆本文"/>
            <p:cNvSpPr/>
            <p:nvPr/>
          </p:nvSpPr>
          <p:spPr>
            <a:xfrm>
              <a:off x="8020050" y="2209800"/>
              <a:ext cx="3276600" cy="1809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問い合わせの「件数」は3年で</a:t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+12%にとどまる。</a:t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/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増えているのは、1件に答える</a:t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までにかかる時間である。</a:t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/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増員で件数をさばいても、</a:t>
              </a:r>
            </a:p>
            <a:p>
              <a:pPr algn="l">
                <a:lnSpc>
                  <a:spcPct val="155000"/>
                </a:lnSpc>
              </a:pPr>
              <a:r>
                <a:rPr sz="1200">
                  <a:solidFill>
                    <a:schemeClr val="dk1"/>
                  </a:solidFill>
                </a:rPr>
                <a:t>この伸び方は止まらない。</a:t>
              </a:r>
            </a:p>
          </p:txBody>
        </p:sp>
        <p:cxnSp>
          <p:nvCxnSpPr>
            <p:cNvPr id="34" name="区切り線"/>
            <p:cNvCxnSpPr/>
            <p:nvPr/>
          </p:nvCxnSpPr>
          <p:spPr>
            <a:xfrm>
              <a:off x="8020050" y="4171950"/>
              <a:ext cx="32766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次頁予告"/>
            <p:cNvSpPr/>
            <p:nvPr/>
          </p:nvSpPr>
          <p:spPr>
            <a:xfrm>
              <a:off x="8020050" y="4305300"/>
              <a:ext cx="3276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次：時間がどの工程で消えているかを特定する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現状分析⑤｜ヒートマップ棚卸し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問題は営業部門に集中しており、全社一律の問題ではない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業務課題の棚卸し（部門×観点）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出所：全部門ヒアリング（32名）をもとに△△コンサルティング評価（サンプル）　　注：評価は5段階（濃いほど深刻）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06</a:t>
              </a:r>
            </a:p>
          </p:txBody>
        </p:sp>
      </p:grpSp>
      <p:grpSp>
        <p:nvGrpSpPr>
          <p:cNvPr id="11" name="棚卸し表"/>
          <p:cNvGrpSpPr/>
          <p:nvPr/>
        </p:nvGrpSpPr>
        <p:grpSpPr>
          <a:xfrm>
            <a:off x="609600" y="1619250"/>
            <a:ext cx="7515225" cy="3019425"/>
            <a:chOff x="609600" y="1619250"/>
            <a:chExt cx="7515225" cy="3019425"/>
          </a:xfrm>
        </p:grpSpPr>
        <p:sp>
          <p:nvSpPr>
            <p:cNvPr id="12" name="観点_業務量過多"/>
            <p:cNvSpPr/>
            <p:nvPr/>
          </p:nvSpPr>
          <p:spPr>
            <a:xfrm>
              <a:off x="1943100" y="161925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業務量過多</a:t>
              </a:r>
            </a:p>
          </p:txBody>
        </p:sp>
        <p:sp>
          <p:nvSpPr>
            <p:cNvPr id="13" name="観点_属人化"/>
            <p:cNvSpPr/>
            <p:nvPr/>
          </p:nvSpPr>
          <p:spPr>
            <a:xfrm>
              <a:off x="3495675" y="161925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属人化</a:t>
              </a:r>
            </a:p>
          </p:txBody>
        </p:sp>
        <p:sp>
          <p:nvSpPr>
            <p:cNvPr id="14" name="観点_システム分断"/>
            <p:cNvSpPr/>
            <p:nvPr/>
          </p:nvSpPr>
          <p:spPr>
            <a:xfrm>
              <a:off x="5048250" y="161925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システム分断</a:t>
              </a:r>
            </a:p>
          </p:txBody>
        </p:sp>
        <p:sp>
          <p:nvSpPr>
            <p:cNvPr id="15" name="観点_人員逼迫"/>
            <p:cNvSpPr/>
            <p:nvPr/>
          </p:nvSpPr>
          <p:spPr>
            <a:xfrm>
              <a:off x="6600825" y="161925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人員逼迫</a:t>
              </a:r>
            </a:p>
          </p:txBody>
        </p:sp>
        <p:sp>
          <p:nvSpPr>
            <p:cNvPr id="16" name="部門_営業"/>
            <p:cNvSpPr/>
            <p:nvPr/>
          </p:nvSpPr>
          <p:spPr>
            <a:xfrm>
              <a:off x="609600" y="1885950"/>
              <a:ext cx="125730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25000"/>
                </a:lnSpc>
              </a:pPr>
              <a:r>
                <a:rPr sz="1050" b="1">
                  <a:solidFill>
                    <a:schemeClr val="dk2"/>
                  </a:solidFill>
                </a:rPr>
                <a:t>営業</a:t>
              </a:r>
            </a:p>
          </p:txBody>
        </p:sp>
        <p:sp>
          <p:nvSpPr>
            <p:cNvPr id="17" name="評価_営業_業務量過多"/>
            <p:cNvSpPr/>
            <p:nvPr/>
          </p:nvSpPr>
          <p:spPr>
            <a:xfrm>
              <a:off x="1943100" y="1885950"/>
              <a:ext cx="1524000" cy="666750"/>
            </a:xfrm>
            <a:prstGeom prst="roundRect">
              <a:avLst>
                <a:gd name="adj" fmla="val 5714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43100" y="1895475"/>
              <a:ext cx="1524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深刻</a:t>
              </a:r>
            </a:p>
          </p:txBody>
        </p:sp>
        <p:sp>
          <p:nvSpPr>
            <p:cNvPr id="19" name="評価_営業_属人化"/>
            <p:cNvSpPr/>
            <p:nvPr/>
          </p:nvSpPr>
          <p:spPr>
            <a:xfrm>
              <a:off x="3495675" y="1885950"/>
              <a:ext cx="1524000" cy="666750"/>
            </a:xfrm>
            <a:prstGeom prst="roundRect">
              <a:avLst>
                <a:gd name="adj" fmla="val 5714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495675" y="1895475"/>
              <a:ext cx="1524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深刻</a:t>
              </a:r>
            </a:p>
          </p:txBody>
        </p:sp>
        <p:sp>
          <p:nvSpPr>
            <p:cNvPr id="21" name="評価_営業_システム分断"/>
            <p:cNvSpPr/>
            <p:nvPr/>
          </p:nvSpPr>
          <p:spPr>
            <a:xfrm>
              <a:off x="5048250" y="1885950"/>
              <a:ext cx="1524000" cy="66675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048250" y="1895475"/>
              <a:ext cx="1524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高</a:t>
              </a:r>
            </a:p>
          </p:txBody>
        </p:sp>
        <p:sp>
          <p:nvSpPr>
            <p:cNvPr id="23" name="評価_営業_人員逼迫"/>
            <p:cNvSpPr/>
            <p:nvPr/>
          </p:nvSpPr>
          <p:spPr>
            <a:xfrm>
              <a:off x="6600825" y="1885950"/>
              <a:ext cx="1524000" cy="666750"/>
            </a:xfrm>
            <a:prstGeom prst="roundRect">
              <a:avLst>
                <a:gd name="adj" fmla="val 5714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600825" y="1895475"/>
              <a:ext cx="1524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lt1"/>
                  </a:solidFill>
                </a:rPr>
                <a:t>中</a:t>
              </a:r>
            </a:p>
          </p:txBody>
        </p:sp>
        <p:sp>
          <p:nvSpPr>
            <p:cNvPr id="25" name="部門_カスタマー&#10;サポート"/>
            <p:cNvSpPr/>
            <p:nvPr/>
          </p:nvSpPr>
          <p:spPr>
            <a:xfrm>
              <a:off x="609600" y="2581275"/>
              <a:ext cx="125730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25000"/>
                </a:lnSpc>
              </a:pPr>
              <a:r>
                <a:rPr sz="1050" b="1">
                  <a:solidFill>
                    <a:schemeClr val="dk2"/>
                  </a:solidFill>
                </a:rPr>
                <a:t>カスタマー</a:t>
              </a:r>
            </a:p>
            <a:p>
              <a:pPr algn="l">
                <a:lnSpc>
                  <a:spcPct val="125000"/>
                </a:lnSpc>
              </a:pPr>
              <a:r>
                <a:rPr sz="1050" b="1">
                  <a:solidFill>
                    <a:schemeClr val="dk2"/>
                  </a:solidFill>
                </a:rPr>
                <a:t>サポート</a:t>
              </a:r>
            </a:p>
          </p:txBody>
        </p:sp>
        <p:sp>
          <p:nvSpPr>
            <p:cNvPr id="26" name="評価_カスタマー&#10;サポート_業務量過多"/>
            <p:cNvSpPr/>
            <p:nvPr/>
          </p:nvSpPr>
          <p:spPr>
            <a:xfrm>
              <a:off x="1943100" y="2581275"/>
              <a:ext cx="1524000" cy="666750"/>
            </a:xfrm>
            <a:prstGeom prst="roundRect">
              <a:avLst>
                <a:gd name="adj" fmla="val 5714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43100" y="2590800"/>
              <a:ext cx="1524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lt1"/>
                  </a:solidFill>
                </a:rPr>
                <a:t>中</a:t>
              </a:r>
            </a:p>
          </p:txBody>
        </p:sp>
        <p:sp>
          <p:nvSpPr>
            <p:cNvPr id="28" name="評価_カスタマー&#10;サポート_属人化"/>
            <p:cNvSpPr/>
            <p:nvPr/>
          </p:nvSpPr>
          <p:spPr>
            <a:xfrm>
              <a:off x="3495675" y="2581275"/>
              <a:ext cx="1524000" cy="66675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495675" y="2590800"/>
              <a:ext cx="1524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高</a:t>
              </a:r>
            </a:p>
          </p:txBody>
        </p:sp>
        <p:sp>
          <p:nvSpPr>
            <p:cNvPr id="30" name="評価_カスタマー&#10;サポート_システム分断"/>
            <p:cNvSpPr/>
            <p:nvPr/>
          </p:nvSpPr>
          <p:spPr>
            <a:xfrm>
              <a:off x="5048250" y="2581275"/>
              <a:ext cx="1524000" cy="666750"/>
            </a:xfrm>
            <a:prstGeom prst="roundRect">
              <a:avLst>
                <a:gd name="adj" fmla="val 5714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048250" y="2590800"/>
              <a:ext cx="1524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lt1"/>
                  </a:solidFill>
                </a:rPr>
                <a:t>中</a:t>
              </a:r>
            </a:p>
          </p:txBody>
        </p:sp>
        <p:sp>
          <p:nvSpPr>
            <p:cNvPr id="32" name="評価_カスタマー&#10;サポート_人員逼迫"/>
            <p:cNvSpPr/>
            <p:nvPr/>
          </p:nvSpPr>
          <p:spPr>
            <a:xfrm>
              <a:off x="6600825" y="2581275"/>
              <a:ext cx="1524000" cy="666750"/>
            </a:xfrm>
            <a:prstGeom prst="roundRect">
              <a:avLst>
                <a:gd name="adj" fmla="val 5714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600825" y="2590800"/>
              <a:ext cx="1524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2"/>
                  </a:solidFill>
                </a:rPr>
                <a:t>低</a:t>
              </a:r>
            </a:p>
          </p:txBody>
        </p:sp>
        <p:sp>
          <p:nvSpPr>
            <p:cNvPr id="34" name="部門_経理"/>
            <p:cNvSpPr/>
            <p:nvPr/>
          </p:nvSpPr>
          <p:spPr>
            <a:xfrm>
              <a:off x="609600" y="3276600"/>
              <a:ext cx="125730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25000"/>
                </a:lnSpc>
              </a:pPr>
              <a:r>
                <a:rPr sz="1050" b="1">
                  <a:solidFill>
                    <a:schemeClr val="dk2"/>
                  </a:solidFill>
                </a:rPr>
                <a:t>経理</a:t>
              </a:r>
            </a:p>
          </p:txBody>
        </p:sp>
        <p:sp>
          <p:nvSpPr>
            <p:cNvPr id="35" name="評価_経理_業務量過多"/>
            <p:cNvSpPr/>
            <p:nvPr/>
          </p:nvSpPr>
          <p:spPr>
            <a:xfrm>
              <a:off x="1943100" y="3276600"/>
              <a:ext cx="1524000" cy="666750"/>
            </a:xfrm>
            <a:prstGeom prst="roundRect">
              <a:avLst>
                <a:gd name="adj" fmla="val 5714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943100" y="3286125"/>
              <a:ext cx="1524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2"/>
                  </a:solidFill>
                </a:rPr>
                <a:t>低</a:t>
              </a:r>
            </a:p>
          </p:txBody>
        </p:sp>
        <p:sp>
          <p:nvSpPr>
            <p:cNvPr id="37" name="評価_経理_属人化"/>
            <p:cNvSpPr/>
            <p:nvPr/>
          </p:nvSpPr>
          <p:spPr>
            <a:xfrm>
              <a:off x="3495675" y="3276600"/>
              <a:ext cx="1524000" cy="666750"/>
            </a:xfrm>
            <a:prstGeom prst="roundRect">
              <a:avLst>
                <a:gd name="adj" fmla="val 5714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495675" y="3286125"/>
              <a:ext cx="1524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lt1"/>
                  </a:solidFill>
                </a:rPr>
                <a:t>中</a:t>
              </a:r>
            </a:p>
          </p:txBody>
        </p:sp>
        <p:sp>
          <p:nvSpPr>
            <p:cNvPr id="39" name="評価_経理_システム分断"/>
            <p:cNvSpPr/>
            <p:nvPr/>
          </p:nvSpPr>
          <p:spPr>
            <a:xfrm>
              <a:off x="5048250" y="3276600"/>
              <a:ext cx="1524000" cy="666750"/>
            </a:xfrm>
            <a:prstGeom prst="roundRect">
              <a:avLst>
                <a:gd name="adj" fmla="val 5714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048250" y="3286125"/>
              <a:ext cx="1524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2"/>
                  </a:solidFill>
                </a:rPr>
                <a:t>低</a:t>
              </a:r>
            </a:p>
          </p:txBody>
        </p:sp>
        <p:sp>
          <p:nvSpPr>
            <p:cNvPr id="41" name="評価_経理_人員逼迫"/>
            <p:cNvSpPr/>
            <p:nvPr/>
          </p:nvSpPr>
          <p:spPr>
            <a:xfrm>
              <a:off x="6600825" y="3276600"/>
              <a:ext cx="1524000" cy="66675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600825" y="3286125"/>
              <a:ext cx="1524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軽微</a:t>
              </a:r>
            </a:p>
          </p:txBody>
        </p:sp>
        <p:sp>
          <p:nvSpPr>
            <p:cNvPr id="43" name="部門_製造"/>
            <p:cNvSpPr/>
            <p:nvPr/>
          </p:nvSpPr>
          <p:spPr>
            <a:xfrm>
              <a:off x="609600" y="3971925"/>
              <a:ext cx="125730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25000"/>
                </a:lnSpc>
              </a:pPr>
              <a:r>
                <a:rPr sz="1050" b="1">
                  <a:solidFill>
                    <a:schemeClr val="dk2"/>
                  </a:solidFill>
                </a:rPr>
                <a:t>製造</a:t>
              </a:r>
            </a:p>
          </p:txBody>
        </p:sp>
        <p:sp>
          <p:nvSpPr>
            <p:cNvPr id="44" name="評価_製造_業務量過多"/>
            <p:cNvSpPr/>
            <p:nvPr/>
          </p:nvSpPr>
          <p:spPr>
            <a:xfrm>
              <a:off x="1943100" y="3971925"/>
              <a:ext cx="1524000" cy="66675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943100" y="3981450"/>
              <a:ext cx="1524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軽微</a:t>
              </a:r>
            </a:p>
          </p:txBody>
        </p:sp>
        <p:sp>
          <p:nvSpPr>
            <p:cNvPr id="46" name="評価_製造_属人化"/>
            <p:cNvSpPr/>
            <p:nvPr/>
          </p:nvSpPr>
          <p:spPr>
            <a:xfrm>
              <a:off x="3495675" y="3971925"/>
              <a:ext cx="1524000" cy="666750"/>
            </a:xfrm>
            <a:prstGeom prst="roundRect">
              <a:avLst>
                <a:gd name="adj" fmla="val 5714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495675" y="3981450"/>
              <a:ext cx="1524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2"/>
                  </a:solidFill>
                </a:rPr>
                <a:t>低</a:t>
              </a:r>
            </a:p>
          </p:txBody>
        </p:sp>
        <p:sp>
          <p:nvSpPr>
            <p:cNvPr id="48" name="評価_製造_システム分断"/>
            <p:cNvSpPr/>
            <p:nvPr/>
          </p:nvSpPr>
          <p:spPr>
            <a:xfrm>
              <a:off x="5048250" y="3971925"/>
              <a:ext cx="1524000" cy="666750"/>
            </a:xfrm>
            <a:prstGeom prst="roundRect">
              <a:avLst>
                <a:gd name="adj" fmla="val 5714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048250" y="3981450"/>
              <a:ext cx="1524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dk2"/>
                  </a:solidFill>
                </a:rPr>
                <a:t>低</a:t>
              </a:r>
            </a:p>
          </p:txBody>
        </p:sp>
        <p:sp>
          <p:nvSpPr>
            <p:cNvPr id="50" name="評価_製造_人員逼迫"/>
            <p:cNvSpPr/>
            <p:nvPr/>
          </p:nvSpPr>
          <p:spPr>
            <a:xfrm>
              <a:off x="6600825" y="3971925"/>
              <a:ext cx="1524000" cy="66675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600825" y="3981450"/>
              <a:ext cx="1524000" cy="647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軽微</a:t>
              </a:r>
            </a:p>
          </p:txBody>
        </p:sp>
      </p:grpSp>
      <p:grpSp>
        <p:nvGrpSpPr>
          <p:cNvPr id="52" name="最優先マーク"/>
          <p:cNvGrpSpPr/>
          <p:nvPr/>
        </p:nvGrpSpPr>
        <p:grpSpPr>
          <a:xfrm>
            <a:off x="3467100" y="1857375"/>
            <a:ext cx="1581150" cy="885825"/>
            <a:chOff x="3467100" y="1857375"/>
            <a:chExt cx="1581150" cy="885825"/>
          </a:xfrm>
        </p:grpSpPr>
        <p:sp>
          <p:nvSpPr>
            <p:cNvPr id="53" name="最優先セル枠"/>
            <p:cNvSpPr/>
            <p:nvPr/>
          </p:nvSpPr>
          <p:spPr>
            <a:xfrm>
              <a:off x="3467100" y="1857375"/>
              <a:ext cx="1581150" cy="723900"/>
            </a:xfrm>
            <a:prstGeom prst="roundRect">
              <a:avLst>
                <a:gd name="adj" fmla="val 7894"/>
              </a:avLst>
            </a:prstGeom>
            <a:noFill/>
            <a:ln w="23812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ラベル"/>
            <p:cNvSpPr/>
            <p:nvPr/>
          </p:nvSpPr>
          <p:spPr>
            <a:xfrm>
              <a:off x="3495675" y="2609850"/>
              <a:ext cx="1524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dk2"/>
                  </a:solidFill>
                </a:rPr>
                <a:t>最初に手を打つ</a:t>
              </a:r>
            </a:p>
          </p:txBody>
        </p:sp>
      </p:grpSp>
      <p:grpSp>
        <p:nvGrpSpPr>
          <p:cNvPr id="55" name="凡例"/>
          <p:cNvGrpSpPr/>
          <p:nvPr/>
        </p:nvGrpSpPr>
        <p:grpSpPr>
          <a:xfrm>
            <a:off x="609600" y="4914900"/>
            <a:ext cx="4838700" cy="152400"/>
            <a:chOff x="609600" y="4914900"/>
            <a:chExt cx="4838700" cy="152400"/>
          </a:xfrm>
        </p:grpSpPr>
        <p:sp>
          <p:nvSpPr>
            <p:cNvPr id="56" name="ラベル"/>
            <p:cNvSpPr/>
            <p:nvPr/>
          </p:nvSpPr>
          <p:spPr>
            <a:xfrm>
              <a:off x="609600" y="491490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凡例：</a:t>
              </a:r>
            </a:p>
          </p:txBody>
        </p:sp>
        <p:sp>
          <p:nvSpPr>
            <p:cNvPr id="57" name="凡例1"/>
            <p:cNvSpPr/>
            <p:nvPr/>
          </p:nvSpPr>
          <p:spPr>
            <a:xfrm>
              <a:off x="1104900" y="491490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314450" y="4914900"/>
              <a:ext cx="6286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軽微</a:t>
              </a:r>
            </a:p>
          </p:txBody>
        </p:sp>
        <p:sp>
          <p:nvSpPr>
            <p:cNvPr id="59" name="凡例2"/>
            <p:cNvSpPr/>
            <p:nvPr/>
          </p:nvSpPr>
          <p:spPr>
            <a:xfrm>
              <a:off x="1981200" y="491490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190750" y="4914900"/>
              <a:ext cx="6286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低</a:t>
              </a:r>
            </a:p>
          </p:txBody>
        </p:sp>
        <p:sp>
          <p:nvSpPr>
            <p:cNvPr id="61" name="凡例3"/>
            <p:cNvSpPr/>
            <p:nvPr/>
          </p:nvSpPr>
          <p:spPr>
            <a:xfrm>
              <a:off x="2857500" y="491490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3067050" y="4914900"/>
              <a:ext cx="6286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中</a:t>
              </a:r>
            </a:p>
          </p:txBody>
        </p:sp>
        <p:sp>
          <p:nvSpPr>
            <p:cNvPr id="63" name="凡例4"/>
            <p:cNvSpPr/>
            <p:nvPr/>
          </p:nvSpPr>
          <p:spPr>
            <a:xfrm>
              <a:off x="3733800" y="491490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943350" y="4914900"/>
              <a:ext cx="6286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高</a:t>
              </a:r>
            </a:p>
          </p:txBody>
        </p:sp>
        <p:sp>
          <p:nvSpPr>
            <p:cNvPr id="65" name="凡例5"/>
            <p:cNvSpPr/>
            <p:nvPr/>
          </p:nvSpPr>
          <p:spPr>
            <a:xfrm>
              <a:off x="4610100" y="491490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819650" y="4914900"/>
              <a:ext cx="6286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深刻</a:t>
              </a:r>
            </a:p>
          </p:txBody>
        </p:sp>
      </p:grpSp>
      <p:grpSp>
        <p:nvGrpSpPr>
          <p:cNvPr id="67" name="読み取りパネル"/>
          <p:cNvGrpSpPr/>
          <p:nvPr/>
        </p:nvGrpSpPr>
        <p:grpSpPr>
          <a:xfrm>
            <a:off x="8420100" y="1619250"/>
            <a:ext cx="3162300" cy="3143250"/>
            <a:chOff x="8420100" y="1619250"/>
            <a:chExt cx="3162300" cy="3143250"/>
          </a:xfrm>
        </p:grpSpPr>
        <p:sp>
          <p:nvSpPr>
            <p:cNvPr id="68" name="パネル"/>
            <p:cNvSpPr/>
            <p:nvPr/>
          </p:nvSpPr>
          <p:spPr>
            <a:xfrm>
              <a:off x="8420100" y="1619250"/>
              <a:ext cx="3162300" cy="3143250"/>
            </a:xfrm>
            <a:prstGeom prst="roundRect">
              <a:avLst>
                <a:gd name="adj" fmla="val 303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ラベル"/>
            <p:cNvSpPr/>
            <p:nvPr/>
          </p:nvSpPr>
          <p:spPr>
            <a:xfrm>
              <a:off x="8686800" y="180975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読み取り</a:t>
              </a:r>
            </a:p>
          </p:txBody>
        </p:sp>
        <p:sp>
          <p:nvSpPr>
            <p:cNvPr id="70" name="本文"/>
            <p:cNvSpPr/>
            <p:nvPr/>
          </p:nvSpPr>
          <p:spPr>
            <a:xfrm>
              <a:off x="8686800" y="2057400"/>
              <a:ext cx="2628900" cy="2286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・深刻評価の6割が営業に集中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/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・「属人化」だけは全部門を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　横断して残る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/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・製造・経理はおおむね健全。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　全社一斉の施策は過剰投資</a:t>
              </a:r>
            </a:p>
          </p:txBody>
        </p:sp>
      </p:grpSp>
      <p:grpSp>
        <p:nvGrpSpPr>
          <p:cNvPr id="71" name="示唆"/>
          <p:cNvGrpSpPr/>
          <p:nvPr/>
        </p:nvGrpSpPr>
        <p:grpSpPr>
          <a:xfrm>
            <a:off x="609600" y="5391150"/>
            <a:ext cx="7429500" cy="323850"/>
            <a:chOff x="609600" y="5391150"/>
            <a:chExt cx="7429500" cy="323850"/>
          </a:xfrm>
        </p:grpSpPr>
        <p:sp>
          <p:nvSpPr>
            <p:cNvPr id="72" name="引用バー"/>
            <p:cNvSpPr/>
            <p:nvPr/>
          </p:nvSpPr>
          <p:spPr>
            <a:xfrm>
              <a:off x="609600" y="5391150"/>
              <a:ext cx="381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示唆"/>
            <p:cNvSpPr/>
            <p:nvPr/>
          </p:nvSpPr>
          <p:spPr>
            <a:xfrm>
              <a:off x="781050" y="5410200"/>
              <a:ext cx="72580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全社一斉ではなく、「営業×属人化」から着手する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課題構造①｜ロジックツリー型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対応遅延の真因は、情報が3システムに分散していることにある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「対応が遅い」の要因分解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出所：業務ヒアリング・システム操作ログ分析（数値はサンプル）　　注：所要時間は1件あたりの平均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07</a:t>
              </a:r>
            </a:p>
          </p:txBody>
        </p:sp>
      </p:grpSp>
      <p:grpSp>
        <p:nvGrpSpPr>
          <p:cNvPr id="11" name="ロジックツリー"/>
          <p:cNvGrpSpPr/>
          <p:nvPr/>
        </p:nvGrpSpPr>
        <p:grpSpPr>
          <a:xfrm>
            <a:off x="609600" y="1809750"/>
            <a:ext cx="8343900" cy="3409950"/>
            <a:chOff x="609600" y="1809750"/>
            <a:chExt cx="8343900" cy="3409950"/>
          </a:xfrm>
        </p:grpSpPr>
        <p:sp>
          <p:nvSpPr>
            <p:cNvPr id="12" name="親_対応が遅い"/>
            <p:cNvSpPr/>
            <p:nvPr/>
          </p:nvSpPr>
          <p:spPr>
            <a:xfrm>
              <a:off x="609600" y="3143250"/>
              <a:ext cx="1676400" cy="723900"/>
            </a:xfrm>
            <a:prstGeom prst="roundRect">
              <a:avLst>
                <a:gd name="adj" fmla="val 1052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09600" y="3314700"/>
              <a:ext cx="16764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対応が遅い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09600" y="3562350"/>
              <a:ext cx="16764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平均46時間</a:t>
              </a:r>
            </a:p>
          </p:txBody>
        </p:sp>
        <p:cxnSp>
          <p:nvCxnSpPr>
            <p:cNvPr id="15" name="幹"/>
            <p:cNvCxnSpPr/>
            <p:nvPr/>
          </p:nvCxnSpPr>
          <p:spPr>
            <a:xfrm>
              <a:off x="2286000" y="3505200"/>
              <a:ext cx="5715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背骨1"/>
            <p:cNvCxnSpPr/>
            <p:nvPr/>
          </p:nvCxnSpPr>
          <p:spPr>
            <a:xfrm>
              <a:off x="2857500" y="2524125"/>
              <a:ext cx="0" cy="190500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枝1"/>
            <p:cNvCxnSpPr/>
            <p:nvPr/>
          </p:nvCxnSpPr>
          <p:spPr>
            <a:xfrm>
              <a:off x="2857500" y="2524125"/>
              <a:ext cx="2857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中間_処理に時間がかかる"/>
            <p:cNvSpPr/>
            <p:nvPr/>
          </p:nvSpPr>
          <p:spPr>
            <a:xfrm>
              <a:off x="3143250" y="2190750"/>
              <a:ext cx="2000250" cy="666750"/>
            </a:xfrm>
            <a:prstGeom prst="roundRect">
              <a:avLst>
                <a:gd name="adj" fmla="val 11428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143250" y="2324100"/>
              <a:ext cx="2000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処理に時間がかかる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143250" y="2552700"/>
              <a:ext cx="2000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1件あたり 3.4時間</a:t>
              </a:r>
            </a:p>
          </p:txBody>
        </p:sp>
        <p:cxnSp>
          <p:nvCxnSpPr>
            <p:cNvPr id="21" name="枝2"/>
            <p:cNvCxnSpPr/>
            <p:nvPr/>
          </p:nvCxnSpPr>
          <p:spPr>
            <a:xfrm>
              <a:off x="2857500" y="4429125"/>
              <a:ext cx="2857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中間_手戻りが多い"/>
            <p:cNvSpPr/>
            <p:nvPr/>
          </p:nvSpPr>
          <p:spPr>
            <a:xfrm>
              <a:off x="3143250" y="4095750"/>
              <a:ext cx="2000250" cy="666750"/>
            </a:xfrm>
            <a:prstGeom prst="roundRect">
              <a:avLst>
                <a:gd name="adj" fmla="val 11428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143250" y="4229100"/>
              <a:ext cx="2000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手戻りが多い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143250" y="4457700"/>
              <a:ext cx="2000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差し戻し 平均2.8回</a:t>
              </a:r>
            </a:p>
          </p:txBody>
        </p:sp>
        <p:cxnSp>
          <p:nvCxnSpPr>
            <p:cNvPr id="25" name="幹2a"/>
            <p:cNvCxnSpPr/>
            <p:nvPr/>
          </p:nvCxnSpPr>
          <p:spPr>
            <a:xfrm>
              <a:off x="5143500" y="2524125"/>
              <a:ext cx="3810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背骨2a"/>
            <p:cNvCxnSpPr/>
            <p:nvPr/>
          </p:nvCxnSpPr>
          <p:spPr>
            <a:xfrm>
              <a:off x="5524500" y="2114550"/>
              <a:ext cx="0" cy="80010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幹2b"/>
            <p:cNvCxnSpPr/>
            <p:nvPr/>
          </p:nvCxnSpPr>
          <p:spPr>
            <a:xfrm>
              <a:off x="5143500" y="4429125"/>
              <a:ext cx="38100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背骨2b"/>
            <p:cNvCxnSpPr/>
            <p:nvPr/>
          </p:nvCxnSpPr>
          <p:spPr>
            <a:xfrm>
              <a:off x="5524500" y="4114800"/>
              <a:ext cx="0" cy="80010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葉枝1"/>
            <p:cNvCxnSpPr/>
            <p:nvPr/>
          </p:nvCxnSpPr>
          <p:spPr>
            <a:xfrm>
              <a:off x="5524500" y="2114550"/>
              <a:ext cx="2857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要因_情報が3システムに分散"/>
            <p:cNvSpPr/>
            <p:nvPr/>
          </p:nvSpPr>
          <p:spPr>
            <a:xfrm>
              <a:off x="5810250" y="1809750"/>
              <a:ext cx="3143250" cy="609600"/>
            </a:xfrm>
            <a:prstGeom prst="roundRect">
              <a:avLst>
                <a:gd name="adj" fmla="val 12500"/>
              </a:avLst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981700" y="1905000"/>
              <a:ext cx="285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情報が3システムに分散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981700" y="213360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集める作業だけで45分/件</a:t>
              </a:r>
            </a:p>
          </p:txBody>
        </p:sp>
        <p:cxnSp>
          <p:nvCxnSpPr>
            <p:cNvPr id="33" name="葉枝2"/>
            <p:cNvCxnSpPr/>
            <p:nvPr/>
          </p:nvCxnSpPr>
          <p:spPr>
            <a:xfrm>
              <a:off x="5524500" y="2914650"/>
              <a:ext cx="2857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要因_同じ内容を二重入力"/>
            <p:cNvSpPr/>
            <p:nvPr/>
          </p:nvSpPr>
          <p:spPr>
            <a:xfrm>
              <a:off x="5810250" y="2609850"/>
              <a:ext cx="3143250" cy="609600"/>
            </a:xfrm>
            <a:prstGeom prst="roundRect">
              <a:avLst>
                <a:gd name="adj" fmla="val 1250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981700" y="2705100"/>
              <a:ext cx="285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1"/>
                  </a:solidFill>
                </a:rPr>
                <a:t>同じ内容を二重入力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981700" y="293370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SFAと基幹システムに別入力</a:t>
              </a:r>
            </a:p>
          </p:txBody>
        </p:sp>
        <p:cxnSp>
          <p:nvCxnSpPr>
            <p:cNvPr id="37" name="葉枝3"/>
            <p:cNvCxnSpPr/>
            <p:nvPr/>
          </p:nvCxnSpPr>
          <p:spPr>
            <a:xfrm>
              <a:off x="5524500" y="4114800"/>
              <a:ext cx="2857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要因_判断基準が人で異なる"/>
            <p:cNvSpPr/>
            <p:nvPr/>
          </p:nvSpPr>
          <p:spPr>
            <a:xfrm>
              <a:off x="5810250" y="3810000"/>
              <a:ext cx="3143250" cy="609600"/>
            </a:xfrm>
            <a:prstGeom prst="roundRect">
              <a:avLst>
                <a:gd name="adj" fmla="val 1250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981700" y="3905250"/>
              <a:ext cx="285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1"/>
                  </a:solidFill>
                </a:rPr>
                <a:t>判断基準が人で異なる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981700" y="41338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確認の往復が発生</a:t>
              </a:r>
            </a:p>
          </p:txBody>
        </p:sp>
        <p:cxnSp>
          <p:nvCxnSpPr>
            <p:cNvPr id="41" name="葉枝4"/>
            <p:cNvCxnSpPr/>
            <p:nvPr/>
          </p:nvCxnSpPr>
          <p:spPr>
            <a:xfrm>
              <a:off x="5524500" y="4914900"/>
              <a:ext cx="285750" cy="0"/>
            </a:xfrm>
            <a:prstGeom prst="bentConnector3">
              <a:avLst/>
            </a:prstGeom>
            <a:ln w="11906">
              <a:solidFill>
                <a:schemeClr val="accent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要因_最新版がどれか不明"/>
            <p:cNvSpPr/>
            <p:nvPr/>
          </p:nvSpPr>
          <p:spPr>
            <a:xfrm>
              <a:off x="5810250" y="4610100"/>
              <a:ext cx="3143250" cy="609600"/>
            </a:xfrm>
            <a:prstGeom prst="roundRect">
              <a:avLst>
                <a:gd name="adj" fmla="val 1250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5981700" y="4705350"/>
              <a:ext cx="285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1"/>
                  </a:solidFill>
                </a:rPr>
                <a:t>最新版がどれか不明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981700" y="49339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版の取り違え 月9件</a:t>
              </a:r>
            </a:p>
          </p:txBody>
        </p:sp>
      </p:grpSp>
      <p:grpSp>
        <p:nvGrpSpPr>
          <p:cNvPr id="45" name="真因ハイライト"/>
          <p:cNvGrpSpPr/>
          <p:nvPr/>
        </p:nvGrpSpPr>
        <p:grpSpPr>
          <a:xfrm>
            <a:off x="9086850" y="1866900"/>
            <a:ext cx="2495550" cy="1333500"/>
            <a:chOff x="9086850" y="1866900"/>
            <a:chExt cx="2495550" cy="1333500"/>
          </a:xfrm>
        </p:grpSpPr>
        <p:cxnSp>
          <p:nvCxnSpPr>
            <p:cNvPr id="46" name="ブラケット縦"/>
            <p:cNvCxnSpPr/>
            <p:nvPr/>
          </p:nvCxnSpPr>
          <p:spPr>
            <a:xfrm>
              <a:off x="9163050" y="1866900"/>
              <a:ext cx="0" cy="49530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ブラケット上"/>
            <p:cNvCxnSpPr/>
            <p:nvPr/>
          </p:nvCxnSpPr>
          <p:spPr>
            <a:xfrm>
              <a:off x="9086850" y="1866900"/>
              <a:ext cx="76200" cy="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ブラケット下"/>
            <p:cNvCxnSpPr/>
            <p:nvPr/>
          </p:nvCxnSpPr>
          <p:spPr>
            <a:xfrm>
              <a:off x="9086850" y="2362200"/>
              <a:ext cx="76200" cy="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真因チップ"/>
            <p:cNvSpPr/>
            <p:nvPr/>
          </p:nvSpPr>
          <p:spPr>
            <a:xfrm>
              <a:off x="9372600" y="1885950"/>
              <a:ext cx="60960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9372600" y="1895475"/>
              <a:ext cx="6096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真因</a:t>
              </a:r>
            </a:p>
          </p:txBody>
        </p:sp>
        <p:sp>
          <p:nvSpPr>
            <p:cNvPr id="51" name="真因コメント"/>
            <p:cNvSpPr/>
            <p:nvPr/>
          </p:nvSpPr>
          <p:spPr>
            <a:xfrm>
              <a:off x="9372600" y="2247900"/>
              <a:ext cx="2209800" cy="952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100" b="1">
                  <a:solidFill>
                    <a:schemeClr val="dk2"/>
                  </a:solidFill>
                </a:rPr>
                <a:t>二重入力も、判断のブレも、</a:t>
              </a:r>
            </a:p>
            <a:p>
              <a:pPr algn="l">
                <a:lnSpc>
                  <a:spcPct val="150000"/>
                </a:lnSpc>
              </a:pPr>
              <a:r>
                <a:rPr sz="1100" b="1">
                  <a:solidFill>
                    <a:schemeClr val="dk2"/>
                  </a:solidFill>
                </a:rPr>
                <a:t>版の混乱も、元をたどれば</a:t>
              </a:r>
            </a:p>
            <a:p>
              <a:pPr algn="l">
                <a:lnSpc>
                  <a:spcPct val="150000"/>
                </a:lnSpc>
              </a:pPr>
              <a:r>
                <a:rPr sz="1100" b="1">
                  <a:solidFill>
                    <a:schemeClr val="dk2"/>
                  </a:solidFill>
                </a:rPr>
                <a:t>「情報の分散」に行き着く。</a:t>
              </a:r>
            </a:p>
            <a:p>
              <a:pPr algn="l">
                <a:lnSpc>
                  <a:spcPct val="150000"/>
                </a:lnSpc>
              </a:pPr>
              <a:r>
                <a:rPr sz="1100" b="1">
                  <a:solidFill>
                    <a:schemeClr val="dk2"/>
                  </a:solidFill>
                </a:rPr>
                <a:t>断つべき点は1つである。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課題構造②｜氷山型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見えている遅延は、権限と情報の構造問題の表れである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表面の事象と、その下の構造要因（氷山モデル）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出所：社内ヒアリング（32名）・月次実績（数値はサンプル）　　注：事象の件数は直近3ヶ月の平均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08</a:t>
              </a:r>
            </a:p>
          </p:txBody>
        </p:sp>
      </p:grpSp>
      <p:grpSp>
        <p:nvGrpSpPr>
          <p:cNvPr id="11" name="事象カード1"/>
          <p:cNvGrpSpPr/>
          <p:nvPr/>
        </p:nvGrpSpPr>
        <p:grpSpPr>
          <a:xfrm>
            <a:off x="609600" y="1638300"/>
            <a:ext cx="3429000" cy="838200"/>
            <a:chOff x="609600" y="1638300"/>
            <a:chExt cx="3429000" cy="838200"/>
          </a:xfrm>
        </p:grpSpPr>
        <p:sp>
          <p:nvSpPr>
            <p:cNvPr id="12" name="事象_納期遅延"/>
            <p:cNvSpPr/>
            <p:nvPr/>
          </p:nvSpPr>
          <p:spPr>
            <a:xfrm>
              <a:off x="609600" y="1638300"/>
              <a:ext cx="3429000" cy="838200"/>
            </a:xfrm>
            <a:prstGeom prst="roundRect">
              <a:avLst>
                <a:gd name="adj" fmla="val 909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事象名"/>
            <p:cNvSpPr/>
            <p:nvPr/>
          </p:nvSpPr>
          <p:spPr>
            <a:xfrm>
              <a:off x="819150" y="1790700"/>
              <a:ext cx="3048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納期遅延</a:t>
              </a:r>
            </a:p>
          </p:txBody>
        </p:sp>
        <p:sp>
          <p:nvSpPr>
            <p:cNvPr id="14" name="規模"/>
            <p:cNvSpPr/>
            <p:nvPr/>
          </p:nvSpPr>
          <p:spPr>
            <a:xfrm>
              <a:off x="819150" y="2057400"/>
              <a:ext cx="3048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月12件で常態化</a:t>
              </a:r>
            </a:p>
          </p:txBody>
        </p:sp>
      </p:grpSp>
      <p:cxnSp>
        <p:nvCxnSpPr>
          <p:cNvPr id="15" name="沈降矢印1"/>
          <p:cNvCxnSpPr/>
          <p:nvPr/>
        </p:nvCxnSpPr>
        <p:spPr>
          <a:xfrm>
            <a:off x="2324100" y="2514600"/>
            <a:ext cx="0" cy="552450"/>
          </a:xfrm>
          <a:prstGeom prst="bentConnector3">
            <a:avLst/>
          </a:prstGeom>
          <a:ln w="14287">
            <a:solidFill>
              <a:schemeClr val="accent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事象カード2"/>
          <p:cNvGrpSpPr/>
          <p:nvPr/>
        </p:nvGrpSpPr>
        <p:grpSpPr>
          <a:xfrm>
            <a:off x="4381500" y="1638300"/>
            <a:ext cx="3429000" cy="838200"/>
            <a:chOff x="4381500" y="1638300"/>
            <a:chExt cx="3429000" cy="838200"/>
          </a:xfrm>
        </p:grpSpPr>
        <p:sp>
          <p:nvSpPr>
            <p:cNvPr id="17" name="事象_残業の増加"/>
            <p:cNvSpPr/>
            <p:nvPr/>
          </p:nvSpPr>
          <p:spPr>
            <a:xfrm>
              <a:off x="4381500" y="1638300"/>
              <a:ext cx="3429000" cy="838200"/>
            </a:xfrm>
            <a:prstGeom prst="roundRect">
              <a:avLst>
                <a:gd name="adj" fmla="val 909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事象名"/>
            <p:cNvSpPr/>
            <p:nvPr/>
          </p:nvSpPr>
          <p:spPr>
            <a:xfrm>
              <a:off x="4591050" y="1790700"/>
              <a:ext cx="3048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残業の増加</a:t>
              </a:r>
            </a:p>
          </p:txBody>
        </p:sp>
        <p:sp>
          <p:nvSpPr>
            <p:cNvPr id="19" name="規模"/>
            <p:cNvSpPr/>
            <p:nvPr/>
          </p:nvSpPr>
          <p:spPr>
            <a:xfrm>
              <a:off x="4591050" y="2057400"/>
              <a:ext cx="3048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1人あたり月34時間</a:t>
              </a:r>
            </a:p>
          </p:txBody>
        </p:sp>
      </p:grpSp>
      <p:cxnSp>
        <p:nvCxnSpPr>
          <p:cNvPr id="20" name="沈降矢印2"/>
          <p:cNvCxnSpPr/>
          <p:nvPr/>
        </p:nvCxnSpPr>
        <p:spPr>
          <a:xfrm>
            <a:off x="6096000" y="2514600"/>
            <a:ext cx="0" cy="552450"/>
          </a:xfrm>
          <a:prstGeom prst="bentConnector3">
            <a:avLst/>
          </a:prstGeom>
          <a:ln w="14287">
            <a:solidFill>
              <a:schemeClr val="accent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事象カード3"/>
          <p:cNvGrpSpPr/>
          <p:nvPr/>
        </p:nvGrpSpPr>
        <p:grpSpPr>
          <a:xfrm>
            <a:off x="8153400" y="1638300"/>
            <a:ext cx="3429000" cy="838200"/>
            <a:chOff x="8153400" y="1638300"/>
            <a:chExt cx="3429000" cy="838200"/>
          </a:xfrm>
        </p:grpSpPr>
        <p:sp>
          <p:nvSpPr>
            <p:cNvPr id="22" name="事象_クレーム"/>
            <p:cNvSpPr/>
            <p:nvPr/>
          </p:nvSpPr>
          <p:spPr>
            <a:xfrm>
              <a:off x="8153400" y="1638300"/>
              <a:ext cx="3429000" cy="838200"/>
            </a:xfrm>
            <a:prstGeom prst="roundRect">
              <a:avLst>
                <a:gd name="adj" fmla="val 909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事象名"/>
            <p:cNvSpPr/>
            <p:nvPr/>
          </p:nvSpPr>
          <p:spPr>
            <a:xfrm>
              <a:off x="8362950" y="1790700"/>
              <a:ext cx="3048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クレーム</a:t>
              </a:r>
            </a:p>
          </p:txBody>
        </p:sp>
        <p:sp>
          <p:nvSpPr>
            <p:cNvPr id="24" name="規模"/>
            <p:cNvSpPr/>
            <p:nvPr/>
          </p:nvSpPr>
          <p:spPr>
            <a:xfrm>
              <a:off x="8362950" y="2057400"/>
              <a:ext cx="3048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前年比 +40%</a:t>
              </a:r>
            </a:p>
          </p:txBody>
        </p:sp>
      </p:grpSp>
      <p:cxnSp>
        <p:nvCxnSpPr>
          <p:cNvPr id="25" name="沈降矢印3"/>
          <p:cNvCxnSpPr/>
          <p:nvPr/>
        </p:nvCxnSpPr>
        <p:spPr>
          <a:xfrm>
            <a:off x="9867900" y="2514600"/>
            <a:ext cx="0" cy="552450"/>
          </a:xfrm>
          <a:prstGeom prst="bentConnector3">
            <a:avLst/>
          </a:prstGeom>
          <a:ln w="14287">
            <a:solidFill>
              <a:schemeClr val="accent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水面"/>
          <p:cNvGrpSpPr/>
          <p:nvPr/>
        </p:nvGrpSpPr>
        <p:grpSpPr>
          <a:xfrm>
            <a:off x="609600" y="2819400"/>
            <a:ext cx="10972800" cy="171450"/>
            <a:chOff x="609600" y="2819400"/>
            <a:chExt cx="10972800" cy="171450"/>
          </a:xfrm>
        </p:grpSpPr>
        <p:cxnSp>
          <p:nvCxnSpPr>
            <p:cNvPr id="27" name="水面線"/>
            <p:cNvCxnSpPr/>
            <p:nvPr/>
          </p:nvCxnSpPr>
          <p:spPr>
            <a:xfrm>
              <a:off x="609600" y="2819400"/>
              <a:ext cx="10972800" cy="0"/>
            </a:xfrm>
            <a:prstGeom prst="bentConnector3">
              <a:avLst/>
            </a:prstGeom>
            <a:ln w="14287">
              <a:solidFill>
                <a:schemeClr val="accent3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水面ラベル"/>
            <p:cNvSpPr/>
            <p:nvPr/>
          </p:nvSpPr>
          <p:spPr>
            <a:xfrm>
              <a:off x="9105900" y="2857500"/>
              <a:ext cx="2476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── ここから下は日常では見えない</a:t>
              </a:r>
            </a:p>
          </p:txBody>
        </p:sp>
      </p:grpSp>
      <p:grpSp>
        <p:nvGrpSpPr>
          <p:cNvPr id="29" name="構造要因パネル"/>
          <p:cNvGrpSpPr/>
          <p:nvPr/>
        </p:nvGrpSpPr>
        <p:grpSpPr>
          <a:xfrm>
            <a:off x="609600" y="3200400"/>
            <a:ext cx="10972800" cy="2381250"/>
            <a:chOff x="609600" y="3200400"/>
            <a:chExt cx="10972800" cy="2381250"/>
          </a:xfrm>
        </p:grpSpPr>
        <p:sp>
          <p:nvSpPr>
            <p:cNvPr id="30" name="パネル"/>
            <p:cNvSpPr/>
            <p:nvPr/>
          </p:nvSpPr>
          <p:spPr>
            <a:xfrm>
              <a:off x="609600" y="3200400"/>
              <a:ext cx="10972800" cy="2381250"/>
            </a:xfrm>
            <a:prstGeom prst="roundRect">
              <a:avLst>
                <a:gd name="adj" fmla="val 4000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本質チップ"/>
            <p:cNvSpPr/>
            <p:nvPr/>
          </p:nvSpPr>
          <p:spPr>
            <a:xfrm>
              <a:off x="876300" y="3390900"/>
              <a:ext cx="102870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76300" y="3400425"/>
              <a:ext cx="10287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水面下の本質</a:t>
              </a:r>
            </a:p>
          </p:txBody>
        </p:sp>
        <p:sp>
          <p:nvSpPr>
            <p:cNvPr id="33" name="ラベル"/>
            <p:cNvSpPr/>
            <p:nvPr/>
          </p:nvSpPr>
          <p:spPr>
            <a:xfrm>
              <a:off x="2038350" y="3409950"/>
              <a:ext cx="666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4"/>
                  </a:solidFill>
                </a:rPr>
                <a:t>構造要因｜事象を生み続けている仕組み</a:t>
              </a:r>
            </a:p>
          </p:txBody>
        </p:sp>
        <p:sp>
          <p:nvSpPr>
            <p:cNvPr id="34" name="要因1見出し"/>
            <p:cNvSpPr/>
            <p:nvPr/>
          </p:nvSpPr>
          <p:spPr>
            <a:xfrm>
              <a:off x="876300" y="3771900"/>
              <a:ext cx="4953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構造要因1｜承認権限の集中</a:t>
              </a:r>
            </a:p>
          </p:txBody>
        </p:sp>
        <p:sp>
          <p:nvSpPr>
            <p:cNvPr id="35" name="要因1本文"/>
            <p:cNvSpPr/>
            <p:nvPr/>
          </p:nvSpPr>
          <p:spPr>
            <a:xfrm>
              <a:off x="876300" y="4057650"/>
              <a:ext cx="49530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4"/>
                  </a:solidFill>
                </a:rPr>
                <a:t>全案件の承認が1人に集まり、不在時は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4"/>
                  </a:solidFill>
                </a:rPr>
                <a:t>すべての案件が止まる。</a:t>
              </a:r>
            </a:p>
          </p:txBody>
        </p:sp>
        <p:sp>
          <p:nvSpPr>
            <p:cNvPr id="36" name="要因2見出し"/>
            <p:cNvSpPr/>
            <p:nvPr/>
          </p:nvSpPr>
          <p:spPr>
            <a:xfrm>
              <a:off x="6305550" y="3771900"/>
              <a:ext cx="4953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構造要因2｜情報の部門分断</a:t>
              </a:r>
            </a:p>
          </p:txBody>
        </p:sp>
        <p:sp>
          <p:nvSpPr>
            <p:cNvPr id="37" name="要因2本文"/>
            <p:cNvSpPr/>
            <p:nvPr/>
          </p:nvSpPr>
          <p:spPr>
            <a:xfrm>
              <a:off x="6305550" y="4057650"/>
              <a:ext cx="49530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4"/>
                  </a:solidFill>
                </a:rPr>
                <a:t>営業・製造・経理が別システムで、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4"/>
                  </a:solidFill>
                </a:rPr>
                <a:t>進捗の全体像を誰も持っていない。</a:t>
              </a:r>
            </a:p>
          </p:txBody>
        </p:sp>
        <p:cxnSp>
          <p:nvCxnSpPr>
            <p:cNvPr id="38" name="区切り線"/>
            <p:cNvCxnSpPr/>
            <p:nvPr/>
          </p:nvCxnSpPr>
          <p:spPr>
            <a:xfrm>
              <a:off x="876300" y="4819650"/>
              <a:ext cx="10439400" cy="0"/>
            </a:xfrm>
            <a:prstGeom prst="bentConnector3">
              <a:avLst/>
            </a:prstGeom>
            <a:ln w="9525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結論"/>
            <p:cNvSpPr/>
            <p:nvPr/>
          </p:nvSpPr>
          <p:spPr>
            <a:xfrm>
              <a:off x="876300" y="4953000"/>
              <a:ext cx="104394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150" b="1">
                  <a:solidFill>
                    <a:schemeClr val="lt1"/>
                  </a:solidFill>
                </a:rPr>
                <a:t>増員や残業削減指示は事象への対処にすぎず、必ず再発する。手を打つべきは水面下の2つの構造である。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市場・機会①｜市場規模 TAM/SAM/SOM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狙う市場は120億円。まず確実に届く範囲だけで12億円ある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市場の入れ子構造（TAM／SAM／SOM）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出所：◯◯市場調査レポート20XX・当社試算（数値はサンプル）　　注：SOMは現行の営業体制で3年内に到達可能な範囲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11</a:t>
              </a:r>
            </a:p>
          </p:txBody>
        </p:sp>
      </p:grpSp>
      <p:grpSp>
        <p:nvGrpSpPr>
          <p:cNvPr id="11" name="同心円"/>
          <p:cNvGrpSpPr/>
          <p:nvPr/>
        </p:nvGrpSpPr>
        <p:grpSpPr>
          <a:xfrm>
            <a:off x="1524000" y="1905000"/>
            <a:ext cx="3810000" cy="3810000"/>
            <a:chOff x="1524000" y="1905000"/>
            <a:chExt cx="3810000" cy="3810000"/>
          </a:xfrm>
        </p:grpSpPr>
        <p:sp>
          <p:nvSpPr>
            <p:cNvPr id="12" name="TAM円"/>
            <p:cNvSpPr/>
            <p:nvPr/>
          </p:nvSpPr>
          <p:spPr>
            <a:xfrm>
              <a:off x="1524000" y="1905000"/>
              <a:ext cx="3810000" cy="3810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l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SAM円"/>
            <p:cNvSpPr/>
            <p:nvPr/>
          </p:nvSpPr>
          <p:spPr>
            <a:xfrm>
              <a:off x="2209800" y="3276600"/>
              <a:ext cx="2438400" cy="2438400"/>
            </a:xfrm>
            <a:prstGeom prst="ellipse">
              <a:avLst/>
            </a:prstGeom>
            <a:solidFill>
              <a:schemeClr val="accent4"/>
            </a:solidFill>
            <a:ln w="19050">
              <a:solidFill>
                <a:schemeClr val="l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SOM円"/>
            <p:cNvSpPr/>
            <p:nvPr/>
          </p:nvSpPr>
          <p:spPr>
            <a:xfrm>
              <a:off x="2857500" y="4572000"/>
              <a:ext cx="1143000" cy="11430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AMラベル"/>
            <p:cNvSpPr/>
            <p:nvPr/>
          </p:nvSpPr>
          <p:spPr>
            <a:xfrm>
              <a:off x="2286000" y="2076450"/>
              <a:ext cx="228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TAM｜840億円</a:t>
              </a:r>
            </a:p>
          </p:txBody>
        </p:sp>
        <p:sp>
          <p:nvSpPr>
            <p:cNvPr id="16" name="SAMラベル"/>
            <p:cNvSpPr/>
            <p:nvPr/>
          </p:nvSpPr>
          <p:spPr>
            <a:xfrm>
              <a:off x="2286000" y="3467100"/>
              <a:ext cx="2286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SAM｜120億円</a:t>
              </a:r>
            </a:p>
          </p:txBody>
        </p:sp>
        <p:sp>
          <p:nvSpPr>
            <p:cNvPr id="17" name="SOMラベル"/>
            <p:cNvSpPr/>
            <p:nvPr/>
          </p:nvSpPr>
          <p:spPr>
            <a:xfrm>
              <a:off x="2857500" y="4972050"/>
              <a:ext cx="11430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100" b="1">
                  <a:solidFill>
                    <a:schemeClr val="lt1"/>
                  </a:solidFill>
                </a:rPr>
                <a:t>SOM</a:t>
              </a:r>
            </a:p>
            <a:p>
              <a:pPr algn="ctr">
                <a:lnSpc>
                  <a:spcPct val="130000"/>
                </a:lnSpc>
              </a:pPr>
              <a:r>
                <a:rPr sz="1100" b="1">
                  <a:solidFill>
                    <a:schemeClr val="lt1"/>
                  </a:solidFill>
                </a:rPr>
                <a:t>12億円</a:t>
              </a:r>
            </a:p>
          </p:txBody>
        </p:sp>
      </p:grpSp>
      <p:grpSp>
        <p:nvGrpSpPr>
          <p:cNvPr id="18" name="定義_TAM"/>
          <p:cNvGrpSpPr/>
          <p:nvPr/>
        </p:nvGrpSpPr>
        <p:grpSpPr>
          <a:xfrm>
            <a:off x="6286500" y="1809750"/>
            <a:ext cx="5295900" cy="914400"/>
            <a:chOff x="6286500" y="1809750"/>
            <a:chExt cx="5295900" cy="914400"/>
          </a:xfrm>
        </p:grpSpPr>
        <p:sp>
          <p:nvSpPr>
            <p:cNvPr id="19" name="カード"/>
            <p:cNvSpPr/>
            <p:nvPr/>
          </p:nvSpPr>
          <p:spPr>
            <a:xfrm>
              <a:off x="6286500" y="1809750"/>
              <a:ext cx="5295900" cy="914400"/>
            </a:xfrm>
            <a:prstGeom prst="roundRect">
              <a:avLst>
                <a:gd name="adj" fmla="val 8333"/>
              </a:avLst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色見本"/>
            <p:cNvSpPr/>
            <p:nvPr/>
          </p:nvSpPr>
          <p:spPr>
            <a:xfrm>
              <a:off x="6515100" y="2000250"/>
              <a:ext cx="171450" cy="17145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用語"/>
            <p:cNvSpPr/>
            <p:nvPr/>
          </p:nvSpPr>
          <p:spPr>
            <a:xfrm>
              <a:off x="6800850" y="1962150"/>
              <a:ext cx="2476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TAM｜市場全体</a:t>
              </a:r>
            </a:p>
          </p:txBody>
        </p:sp>
        <p:sp>
          <p:nvSpPr>
            <p:cNvPr id="22" name="定義"/>
            <p:cNvSpPr/>
            <p:nvPr/>
          </p:nvSpPr>
          <p:spPr>
            <a:xfrm>
              <a:off x="6800850" y="2247900"/>
              <a:ext cx="3143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国内◯◯業務支援市場の総需要</a:t>
              </a:r>
            </a:p>
          </p:txBody>
        </p:sp>
        <p:sp>
          <p:nvSpPr>
            <p:cNvPr id="23" name="規模"/>
            <p:cNvSpPr/>
            <p:nvPr/>
          </p:nvSpPr>
          <p:spPr>
            <a:xfrm>
              <a:off x="9944100" y="2038350"/>
              <a:ext cx="14097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2000" b="1">
                  <a:solidFill>
                    <a:schemeClr val="dk2"/>
                  </a:solidFill>
                </a:rPr>
                <a:t>840億円</a:t>
              </a:r>
            </a:p>
          </p:txBody>
        </p:sp>
      </p:grpSp>
      <p:grpSp>
        <p:nvGrpSpPr>
          <p:cNvPr id="24" name="定義_SAM"/>
          <p:cNvGrpSpPr/>
          <p:nvPr/>
        </p:nvGrpSpPr>
        <p:grpSpPr>
          <a:xfrm>
            <a:off x="6286500" y="2914650"/>
            <a:ext cx="5295900" cy="914400"/>
            <a:chOff x="6286500" y="2914650"/>
            <a:chExt cx="5295900" cy="914400"/>
          </a:xfrm>
        </p:grpSpPr>
        <p:sp>
          <p:nvSpPr>
            <p:cNvPr id="25" name="カード"/>
            <p:cNvSpPr/>
            <p:nvPr/>
          </p:nvSpPr>
          <p:spPr>
            <a:xfrm>
              <a:off x="6286500" y="2914650"/>
              <a:ext cx="5295900" cy="914400"/>
            </a:xfrm>
            <a:prstGeom prst="roundRect">
              <a:avLst>
                <a:gd name="adj" fmla="val 8333"/>
              </a:avLst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色見本"/>
            <p:cNvSpPr/>
            <p:nvPr/>
          </p:nvSpPr>
          <p:spPr>
            <a:xfrm>
              <a:off x="6515100" y="3105150"/>
              <a:ext cx="171450" cy="171450"/>
            </a:xfrm>
            <a:prstGeom prst="ellipse">
              <a:avLst/>
            </a:prstGeom>
            <a:solidFill>
              <a:schemeClr val="accent4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用語"/>
            <p:cNvSpPr/>
            <p:nvPr/>
          </p:nvSpPr>
          <p:spPr>
            <a:xfrm>
              <a:off x="6800850" y="3067050"/>
              <a:ext cx="2476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SAM｜対象にできる範囲</a:t>
              </a:r>
            </a:p>
          </p:txBody>
        </p:sp>
        <p:sp>
          <p:nvSpPr>
            <p:cNvPr id="28" name="定義"/>
            <p:cNvSpPr/>
            <p:nvPr/>
          </p:nvSpPr>
          <p:spPr>
            <a:xfrm>
              <a:off x="6800850" y="3352800"/>
              <a:ext cx="3143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当社製品が対応できる中堅企業セグメント</a:t>
              </a:r>
            </a:p>
          </p:txBody>
        </p:sp>
        <p:sp>
          <p:nvSpPr>
            <p:cNvPr id="29" name="規模"/>
            <p:cNvSpPr/>
            <p:nvPr/>
          </p:nvSpPr>
          <p:spPr>
            <a:xfrm>
              <a:off x="9944100" y="3143250"/>
              <a:ext cx="14097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2000" b="1">
                  <a:solidFill>
                    <a:schemeClr val="dk2"/>
                  </a:solidFill>
                </a:rPr>
                <a:t>120億円</a:t>
              </a:r>
            </a:p>
          </p:txBody>
        </p:sp>
      </p:grpSp>
      <p:grpSp>
        <p:nvGrpSpPr>
          <p:cNvPr id="30" name="定義_SOM"/>
          <p:cNvGrpSpPr/>
          <p:nvPr/>
        </p:nvGrpSpPr>
        <p:grpSpPr>
          <a:xfrm>
            <a:off x="6286500" y="4019550"/>
            <a:ext cx="5295900" cy="914400"/>
            <a:chOff x="6286500" y="4019550"/>
            <a:chExt cx="5295900" cy="914400"/>
          </a:xfrm>
        </p:grpSpPr>
        <p:sp>
          <p:nvSpPr>
            <p:cNvPr id="31" name="カード"/>
            <p:cNvSpPr/>
            <p:nvPr/>
          </p:nvSpPr>
          <p:spPr>
            <a:xfrm>
              <a:off x="6286500" y="4019550"/>
              <a:ext cx="5295900" cy="914400"/>
            </a:xfrm>
            <a:prstGeom prst="roundRect">
              <a:avLst>
                <a:gd name="adj" fmla="val 8333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色見本"/>
            <p:cNvSpPr/>
            <p:nvPr/>
          </p:nvSpPr>
          <p:spPr>
            <a:xfrm>
              <a:off x="6515100" y="4210050"/>
              <a:ext cx="171450" cy="1714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用語"/>
            <p:cNvSpPr/>
            <p:nvPr/>
          </p:nvSpPr>
          <p:spPr>
            <a:xfrm>
              <a:off x="6800850" y="4171950"/>
              <a:ext cx="2476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SOM｜確実に届く範囲</a:t>
              </a:r>
            </a:p>
          </p:txBody>
        </p:sp>
        <p:sp>
          <p:nvSpPr>
            <p:cNvPr id="34" name="定義"/>
            <p:cNvSpPr/>
            <p:nvPr/>
          </p:nvSpPr>
          <p:spPr>
            <a:xfrm>
              <a:off x="6800850" y="4457700"/>
              <a:ext cx="3143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営業体制で3年内に到達可能な範囲</a:t>
              </a:r>
            </a:p>
          </p:txBody>
        </p:sp>
        <p:sp>
          <p:nvSpPr>
            <p:cNvPr id="35" name="規模"/>
            <p:cNvSpPr/>
            <p:nvPr/>
          </p:nvSpPr>
          <p:spPr>
            <a:xfrm>
              <a:off x="9944100" y="4248150"/>
              <a:ext cx="14097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2000" b="1">
                  <a:solidFill>
                    <a:schemeClr val="dk2"/>
                  </a:solidFill>
                </a:rPr>
                <a:t>12億円</a:t>
              </a:r>
            </a:p>
          </p:txBody>
        </p:sp>
        <p:sp>
          <p:nvSpPr>
            <p:cNvPr id="36" name="主戦場チップ"/>
            <p:cNvSpPr/>
            <p:nvPr/>
          </p:nvSpPr>
          <p:spPr>
            <a:xfrm>
              <a:off x="8858250" y="4171950"/>
              <a:ext cx="87630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858250" y="4181475"/>
              <a:ext cx="8763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主戦場</a:t>
              </a:r>
            </a:p>
          </p:txBody>
        </p:sp>
      </p:grpSp>
      <p:grpSp>
        <p:nvGrpSpPr>
          <p:cNvPr id="38" name="示唆"/>
          <p:cNvGrpSpPr/>
          <p:nvPr/>
        </p:nvGrpSpPr>
        <p:grpSpPr>
          <a:xfrm>
            <a:off x="6286500" y="5295900"/>
            <a:ext cx="5295900" cy="552450"/>
            <a:chOff x="6286500" y="5295900"/>
            <a:chExt cx="5295900" cy="552450"/>
          </a:xfrm>
        </p:grpSpPr>
        <p:sp>
          <p:nvSpPr>
            <p:cNvPr id="39" name="引用バー"/>
            <p:cNvSpPr/>
            <p:nvPr/>
          </p:nvSpPr>
          <p:spPr>
            <a:xfrm>
              <a:off x="6286500" y="5295900"/>
              <a:ext cx="3810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示唆"/>
            <p:cNvSpPr/>
            <p:nvPr/>
          </p:nvSpPr>
          <p:spPr>
            <a:xfrm>
              <a:off x="6457950" y="5314950"/>
              <a:ext cx="51244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840億円ではなく12億円を語る。数字が小さいほど計画は信じられる</a:t>
              </a:r>
            </a:p>
          </p:txBody>
        </p:sp>
        <p:sp>
          <p:nvSpPr>
            <p:cNvPr id="41" name="補足"/>
            <p:cNvSpPr/>
            <p:nvPr/>
          </p:nvSpPr>
          <p:spPr>
            <a:xfrm>
              <a:off x="6457950" y="5600700"/>
              <a:ext cx="51244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SOMの根拠＝営業6名×年間新規24社×平均単価830万円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市場・機会③｜ポジショニングマップ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高品質×低価格帯は空白であり、当社が最初に取れる位置にある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競合ポジショニング（品質×価格）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出所：各社公開価格・第三者評価をもとに当社整理（サンプル）　　注：品質は第三者評価スコア、価格は標準プラン月額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13</a:t>
              </a:r>
            </a:p>
          </p:txBody>
        </p:sp>
      </p:grpSp>
      <p:grpSp>
        <p:nvGrpSpPr>
          <p:cNvPr id="11" name="ポジショニングマップ"/>
          <p:cNvGrpSpPr/>
          <p:nvPr/>
        </p:nvGrpSpPr>
        <p:grpSpPr>
          <a:xfrm>
            <a:off x="1390650" y="1333500"/>
            <a:ext cx="6134100" cy="4114800"/>
            <a:chOff x="1390650" y="1333500"/>
            <a:chExt cx="6134100" cy="4114800"/>
          </a:xfrm>
        </p:grpSpPr>
        <p:sp>
          <p:nvSpPr>
            <p:cNvPr id="12" name="外枠"/>
            <p:cNvSpPr/>
            <p:nvPr/>
          </p:nvSpPr>
          <p:spPr>
            <a:xfrm>
              <a:off x="1619250" y="1581150"/>
              <a:ext cx="5143500" cy="36195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縦仕切り"/>
            <p:cNvCxnSpPr/>
            <p:nvPr/>
          </p:nvCxnSpPr>
          <p:spPr>
            <a:xfrm>
              <a:off x="4191000" y="1581150"/>
              <a:ext cx="0" cy="36195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横仕切り"/>
            <p:cNvCxnSpPr/>
            <p:nvPr/>
          </p:nvCxnSpPr>
          <p:spPr>
            <a:xfrm>
              <a:off x="1619250" y="3390900"/>
              <a:ext cx="5143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縦軸"/>
            <p:cNvCxnSpPr/>
            <p:nvPr/>
          </p:nvCxnSpPr>
          <p:spPr>
            <a:xfrm flipV="1">
              <a:off x="1619250" y="1485900"/>
              <a:ext cx="0" cy="371475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横軸"/>
            <p:cNvCxnSpPr/>
            <p:nvPr/>
          </p:nvCxnSpPr>
          <p:spPr>
            <a:xfrm>
              <a:off x="1619250" y="5200650"/>
              <a:ext cx="5238750" cy="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縦軸ラベル"/>
            <p:cNvSpPr/>
            <p:nvPr/>
          </p:nvSpPr>
          <p:spPr>
            <a:xfrm>
              <a:off x="1714500" y="1333500"/>
              <a:ext cx="1333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品質</a:t>
              </a:r>
            </a:p>
          </p:txBody>
        </p:sp>
        <p:sp>
          <p:nvSpPr>
            <p:cNvPr id="18" name="横軸ラベル"/>
            <p:cNvSpPr/>
            <p:nvPr/>
          </p:nvSpPr>
          <p:spPr>
            <a:xfrm>
              <a:off x="6191250" y="5295900"/>
              <a:ext cx="1333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価格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390650" y="1543050"/>
              <a:ext cx="190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高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915150" y="5029200"/>
              <a:ext cx="190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高</a:t>
              </a:r>
            </a:p>
          </p:txBody>
        </p:sp>
        <p:sp>
          <p:nvSpPr>
            <p:cNvPr id="21" name="A社プロット"/>
            <p:cNvSpPr/>
            <p:nvPr/>
          </p:nvSpPr>
          <p:spPr>
            <a:xfrm>
              <a:off x="5429250" y="21145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A社名"/>
            <p:cNvSpPr/>
            <p:nvPr/>
          </p:nvSpPr>
          <p:spPr>
            <a:xfrm>
              <a:off x="5638800" y="2095500"/>
              <a:ext cx="533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A社</a:t>
              </a:r>
            </a:p>
          </p:txBody>
        </p:sp>
        <p:sp>
          <p:nvSpPr>
            <p:cNvPr id="23" name="B社プロット"/>
            <p:cNvSpPr/>
            <p:nvPr/>
          </p:nvSpPr>
          <p:spPr>
            <a:xfrm>
              <a:off x="5924550" y="2914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B社名"/>
            <p:cNvSpPr/>
            <p:nvPr/>
          </p:nvSpPr>
          <p:spPr>
            <a:xfrm>
              <a:off x="6134100" y="2895600"/>
              <a:ext cx="533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B社</a:t>
              </a:r>
            </a:p>
          </p:txBody>
        </p:sp>
        <p:sp>
          <p:nvSpPr>
            <p:cNvPr id="25" name="C社プロット"/>
            <p:cNvSpPr/>
            <p:nvPr/>
          </p:nvSpPr>
          <p:spPr>
            <a:xfrm>
              <a:off x="4343400" y="3524250"/>
              <a:ext cx="152400" cy="152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C社名"/>
            <p:cNvSpPr/>
            <p:nvPr/>
          </p:nvSpPr>
          <p:spPr>
            <a:xfrm>
              <a:off x="4552950" y="3505200"/>
              <a:ext cx="533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C社</a:t>
              </a:r>
            </a:p>
          </p:txBody>
        </p:sp>
        <p:sp>
          <p:nvSpPr>
            <p:cNvPr id="27" name="D社プロット"/>
            <p:cNvSpPr/>
            <p:nvPr/>
          </p:nvSpPr>
          <p:spPr>
            <a:xfrm>
              <a:off x="2800350" y="4305300"/>
              <a:ext cx="152400" cy="152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D社名"/>
            <p:cNvSpPr/>
            <p:nvPr/>
          </p:nvSpPr>
          <p:spPr>
            <a:xfrm>
              <a:off x="3009900" y="4286250"/>
              <a:ext cx="533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D社</a:t>
              </a:r>
            </a:p>
          </p:txBody>
        </p:sp>
        <p:sp>
          <p:nvSpPr>
            <p:cNvPr id="29" name="E社プロット"/>
            <p:cNvSpPr/>
            <p:nvPr/>
          </p:nvSpPr>
          <p:spPr>
            <a:xfrm>
              <a:off x="2209800" y="4648200"/>
              <a:ext cx="152400" cy="152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E社名"/>
            <p:cNvSpPr/>
            <p:nvPr/>
          </p:nvSpPr>
          <p:spPr>
            <a:xfrm>
              <a:off x="2419350" y="4629150"/>
              <a:ext cx="533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E社</a:t>
              </a:r>
            </a:p>
          </p:txBody>
        </p:sp>
      </p:grpSp>
      <p:grpSp>
        <p:nvGrpSpPr>
          <p:cNvPr id="31" name="空白地帯"/>
          <p:cNvGrpSpPr/>
          <p:nvPr/>
        </p:nvGrpSpPr>
        <p:grpSpPr>
          <a:xfrm>
            <a:off x="1943100" y="1866900"/>
            <a:ext cx="2095500" cy="1390650"/>
            <a:chOff x="1943100" y="1866900"/>
            <a:chExt cx="2095500" cy="1390650"/>
          </a:xfrm>
        </p:grpSpPr>
        <p:sp>
          <p:nvSpPr>
            <p:cNvPr id="32" name="空白地帯囲み"/>
            <p:cNvSpPr/>
            <p:nvPr/>
          </p:nvSpPr>
          <p:spPr>
            <a:xfrm>
              <a:off x="1943100" y="1866900"/>
              <a:ext cx="2057400" cy="139065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空白ラベル"/>
            <p:cNvSpPr/>
            <p:nvPr/>
          </p:nvSpPr>
          <p:spPr>
            <a:xfrm>
              <a:off x="2228850" y="198120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空白地帯</a:t>
              </a:r>
            </a:p>
          </p:txBody>
        </p:sp>
        <p:sp>
          <p:nvSpPr>
            <p:cNvPr id="34" name="当社プロット"/>
            <p:cNvSpPr/>
            <p:nvPr/>
          </p:nvSpPr>
          <p:spPr>
            <a:xfrm>
              <a:off x="2743200" y="2457450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当社名"/>
            <p:cNvSpPr/>
            <p:nvPr/>
          </p:nvSpPr>
          <p:spPr>
            <a:xfrm>
              <a:off x="2990850" y="2438400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当社（狙い）</a:t>
              </a:r>
            </a:p>
          </p:txBody>
        </p:sp>
      </p:grpSp>
      <p:grpSp>
        <p:nvGrpSpPr>
          <p:cNvPr id="36" name="読み取りパネル"/>
          <p:cNvGrpSpPr/>
          <p:nvPr/>
        </p:nvGrpSpPr>
        <p:grpSpPr>
          <a:xfrm>
            <a:off x="7524750" y="1676400"/>
            <a:ext cx="4057650" cy="2857500"/>
            <a:chOff x="7524750" y="1676400"/>
            <a:chExt cx="4057650" cy="2857500"/>
          </a:xfrm>
        </p:grpSpPr>
        <p:sp>
          <p:nvSpPr>
            <p:cNvPr id="37" name="パネル"/>
            <p:cNvSpPr/>
            <p:nvPr/>
          </p:nvSpPr>
          <p:spPr>
            <a:xfrm>
              <a:off x="7524750" y="1676400"/>
              <a:ext cx="4057650" cy="2857500"/>
            </a:xfrm>
            <a:prstGeom prst="roundRect">
              <a:avLst>
                <a:gd name="adj" fmla="val 3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ラベル"/>
            <p:cNvSpPr/>
            <p:nvPr/>
          </p:nvSpPr>
          <p:spPr>
            <a:xfrm>
              <a:off x="7791450" y="186690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読み取り</a:t>
              </a:r>
            </a:p>
          </p:txBody>
        </p:sp>
        <p:sp>
          <p:nvSpPr>
            <p:cNvPr id="39" name="本文"/>
            <p:cNvSpPr/>
            <p:nvPr/>
          </p:nvSpPr>
          <p:spPr>
            <a:xfrm>
              <a:off x="7791450" y="2114550"/>
              <a:ext cx="3524250" cy="2190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・上位2社は高品質だが高価格。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　中堅企業には手が出ない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/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・低価格帯は品質も低く、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　乗り換え理由になっている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/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・高品質×低価格はAI活用の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　コスト構造で初めて成立する。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　先行者が基準価格を決められる</a:t>
              </a:r>
            </a:p>
          </p:txBody>
        </p:sp>
      </p:grpSp>
      <p:grpSp>
        <p:nvGrpSpPr>
          <p:cNvPr id="40" name="示唆"/>
          <p:cNvGrpSpPr/>
          <p:nvPr/>
        </p:nvGrpSpPr>
        <p:grpSpPr>
          <a:xfrm>
            <a:off x="7524750" y="4762500"/>
            <a:ext cx="4057650" cy="323850"/>
            <a:chOff x="7524750" y="4762500"/>
            <a:chExt cx="4057650" cy="323850"/>
          </a:xfrm>
        </p:grpSpPr>
        <p:sp>
          <p:nvSpPr>
            <p:cNvPr id="41" name="引用バー"/>
            <p:cNvSpPr/>
            <p:nvPr/>
          </p:nvSpPr>
          <p:spPr>
            <a:xfrm>
              <a:off x="7524750" y="4762500"/>
              <a:ext cx="381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示唆"/>
            <p:cNvSpPr/>
            <p:nvPr/>
          </p:nvSpPr>
          <p:spPr>
            <a:xfrm>
              <a:off x="7696200" y="4781550"/>
              <a:ext cx="38862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空白は「誰も気づかない場所」ではなく、旧コスト構造では成立しなかった場所である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比較①｜3案比較表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自社開発・パッケージ・SaaSの3案では、総合でSaaSが最も優れる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実現手段3案の比較（費用・期間・拡張性）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出所：各社公開価格・RFI回答をもとに当社試算（サンプル）　　注：費用は標準構成・5年利用の場合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15</a:t>
              </a:r>
            </a:p>
          </p:txBody>
        </p:sp>
      </p:grpSp>
      <p:grpSp>
        <p:nvGrpSpPr>
          <p:cNvPr id="11" name="比較表"/>
          <p:cNvGrpSpPr/>
          <p:nvPr/>
        </p:nvGrpSpPr>
        <p:grpSpPr>
          <a:xfrm>
            <a:off x="609600" y="1619250"/>
            <a:ext cx="10972800" cy="3810000"/>
            <a:chOff x="609600" y="1619250"/>
            <a:chExt cx="10972800" cy="3810000"/>
          </a:xfrm>
        </p:grpSpPr>
        <p:sp>
          <p:nvSpPr>
            <p:cNvPr id="12" name="見出し_比較項目"/>
            <p:cNvSpPr/>
            <p:nvPr/>
          </p:nvSpPr>
          <p:spPr>
            <a:xfrm>
              <a:off x="609600" y="1619250"/>
              <a:ext cx="2190750" cy="4953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09600" y="1619250"/>
              <a:ext cx="219075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比較項目</a:t>
              </a:r>
            </a:p>
          </p:txBody>
        </p:sp>
        <p:sp>
          <p:nvSpPr>
            <p:cNvPr id="14" name="見出し_A案：自社開発"/>
            <p:cNvSpPr/>
            <p:nvPr/>
          </p:nvSpPr>
          <p:spPr>
            <a:xfrm>
              <a:off x="2800350" y="1619250"/>
              <a:ext cx="26670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800350" y="1619250"/>
              <a:ext cx="2667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A案：自社開発</a:t>
              </a:r>
            </a:p>
          </p:txBody>
        </p:sp>
        <p:sp>
          <p:nvSpPr>
            <p:cNvPr id="16" name="見出し_B案：パッケージ"/>
            <p:cNvSpPr/>
            <p:nvPr/>
          </p:nvSpPr>
          <p:spPr>
            <a:xfrm>
              <a:off x="5467350" y="1619250"/>
              <a:ext cx="26670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467350" y="1619250"/>
              <a:ext cx="26670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B案：パッケージ</a:t>
              </a:r>
            </a:p>
          </p:txBody>
        </p:sp>
        <p:sp>
          <p:nvSpPr>
            <p:cNvPr id="18" name="見出し_C案：SaaS利用"/>
            <p:cNvSpPr/>
            <p:nvPr/>
          </p:nvSpPr>
          <p:spPr>
            <a:xfrm>
              <a:off x="8134350" y="1619250"/>
              <a:ext cx="3448050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134350" y="1619250"/>
              <a:ext cx="2819400" cy="4953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C案：SaaS利用</a:t>
              </a:r>
            </a:p>
          </p:txBody>
        </p:sp>
        <p:sp>
          <p:nvSpPr>
            <p:cNvPr id="20" name="推奨チップ"/>
            <p:cNvSpPr/>
            <p:nvPr/>
          </p:nvSpPr>
          <p:spPr>
            <a:xfrm>
              <a:off x="10991850" y="1752600"/>
              <a:ext cx="45720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991850" y="1762125"/>
              <a:ext cx="4572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推奨</a:t>
              </a:r>
            </a:p>
          </p:txBody>
        </p:sp>
        <p:sp>
          <p:nvSpPr>
            <p:cNvPr id="22" name="推奨列_初期費用"/>
            <p:cNvSpPr/>
            <p:nvPr/>
          </p:nvSpPr>
          <p:spPr>
            <a:xfrm>
              <a:off x="8134350" y="211455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81050" y="211455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初期費用</a:t>
              </a:r>
            </a:p>
          </p:txBody>
        </p:sp>
        <p:sp>
          <p:nvSpPr>
            <p:cNvPr id="24" name="初期費用_A案"/>
            <p:cNvSpPr/>
            <p:nvPr/>
          </p:nvSpPr>
          <p:spPr>
            <a:xfrm>
              <a:off x="2800350" y="21145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3,800万円</a:t>
              </a:r>
            </a:p>
          </p:txBody>
        </p:sp>
        <p:sp>
          <p:nvSpPr>
            <p:cNvPr id="25" name="初期費用_B案"/>
            <p:cNvSpPr/>
            <p:nvPr/>
          </p:nvSpPr>
          <p:spPr>
            <a:xfrm>
              <a:off x="5467350" y="21145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1,600万円</a:t>
              </a:r>
            </a:p>
          </p:txBody>
        </p:sp>
        <p:sp>
          <p:nvSpPr>
            <p:cNvPr id="26" name="初期費用_C案"/>
            <p:cNvSpPr/>
            <p:nvPr/>
          </p:nvSpPr>
          <p:spPr>
            <a:xfrm>
              <a:off x="8134350" y="211455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300万円</a:t>
              </a:r>
            </a:p>
          </p:txBody>
        </p:sp>
        <p:cxnSp>
          <p:nvCxnSpPr>
            <p:cNvPr id="27" name="罫線_初期費用"/>
            <p:cNvCxnSpPr/>
            <p:nvPr/>
          </p:nvCxnSpPr>
          <p:spPr>
            <a:xfrm>
              <a:off x="609600" y="26670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推奨列_年間費用"/>
            <p:cNvSpPr/>
            <p:nvPr/>
          </p:nvSpPr>
          <p:spPr>
            <a:xfrm>
              <a:off x="8134350" y="266700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81050" y="266700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年間費用</a:t>
              </a:r>
            </a:p>
          </p:txBody>
        </p:sp>
        <p:sp>
          <p:nvSpPr>
            <p:cNvPr id="30" name="年間費用_A案"/>
            <p:cNvSpPr/>
            <p:nvPr/>
          </p:nvSpPr>
          <p:spPr>
            <a:xfrm>
              <a:off x="2800350" y="26670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400万円</a:t>
              </a:r>
            </a:p>
          </p:txBody>
        </p:sp>
        <p:sp>
          <p:nvSpPr>
            <p:cNvPr id="31" name="年間費用_B案"/>
            <p:cNvSpPr/>
            <p:nvPr/>
          </p:nvSpPr>
          <p:spPr>
            <a:xfrm>
              <a:off x="5467350" y="26670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520万円</a:t>
              </a:r>
            </a:p>
          </p:txBody>
        </p:sp>
        <p:sp>
          <p:nvSpPr>
            <p:cNvPr id="32" name="年間費用_C案"/>
            <p:cNvSpPr/>
            <p:nvPr/>
          </p:nvSpPr>
          <p:spPr>
            <a:xfrm>
              <a:off x="8134350" y="266700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720万円</a:t>
              </a:r>
            </a:p>
          </p:txBody>
        </p:sp>
        <p:cxnSp>
          <p:nvCxnSpPr>
            <p:cNvPr id="33" name="罫線_年間費用"/>
            <p:cNvCxnSpPr/>
            <p:nvPr/>
          </p:nvCxnSpPr>
          <p:spPr>
            <a:xfrm>
              <a:off x="609600" y="32194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推奨列_導入期間"/>
            <p:cNvSpPr/>
            <p:nvPr/>
          </p:nvSpPr>
          <p:spPr>
            <a:xfrm>
              <a:off x="8134350" y="321945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81050" y="321945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導入期間</a:t>
              </a:r>
            </a:p>
          </p:txBody>
        </p:sp>
        <p:sp>
          <p:nvSpPr>
            <p:cNvPr id="36" name="導入期間_A案"/>
            <p:cNvSpPr/>
            <p:nvPr/>
          </p:nvSpPr>
          <p:spPr>
            <a:xfrm>
              <a:off x="2800350" y="32194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12ヶ月</a:t>
              </a:r>
            </a:p>
          </p:txBody>
        </p:sp>
        <p:sp>
          <p:nvSpPr>
            <p:cNvPr id="37" name="導入期間_B案"/>
            <p:cNvSpPr/>
            <p:nvPr/>
          </p:nvSpPr>
          <p:spPr>
            <a:xfrm>
              <a:off x="5467350" y="32194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6ヶ月</a:t>
              </a:r>
            </a:p>
          </p:txBody>
        </p:sp>
        <p:sp>
          <p:nvSpPr>
            <p:cNvPr id="38" name="導入期間_C案"/>
            <p:cNvSpPr/>
            <p:nvPr/>
          </p:nvSpPr>
          <p:spPr>
            <a:xfrm>
              <a:off x="8134350" y="321945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2ヶ月</a:t>
              </a:r>
            </a:p>
          </p:txBody>
        </p:sp>
        <p:cxnSp>
          <p:nvCxnSpPr>
            <p:cNvPr id="39" name="罫線_導入期間"/>
            <p:cNvCxnSpPr/>
            <p:nvPr/>
          </p:nvCxnSpPr>
          <p:spPr>
            <a:xfrm>
              <a:off x="609600" y="37719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推奨列_拡張性"/>
            <p:cNvSpPr/>
            <p:nvPr/>
          </p:nvSpPr>
          <p:spPr>
            <a:xfrm>
              <a:off x="8134350" y="377190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81050" y="377190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拡張性</a:t>
              </a:r>
            </a:p>
          </p:txBody>
        </p:sp>
        <p:sp>
          <p:nvSpPr>
            <p:cNvPr id="42" name="拡張性_A案"/>
            <p:cNvSpPr/>
            <p:nvPr/>
          </p:nvSpPr>
          <p:spPr>
            <a:xfrm>
              <a:off x="2800350" y="37719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自由（要開発費）</a:t>
              </a:r>
            </a:p>
          </p:txBody>
        </p:sp>
        <p:sp>
          <p:nvSpPr>
            <p:cNvPr id="43" name="拡張性_B案"/>
            <p:cNvSpPr/>
            <p:nvPr/>
          </p:nvSpPr>
          <p:spPr>
            <a:xfrm>
              <a:off x="5467350" y="37719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限定的</a:t>
              </a:r>
            </a:p>
          </p:txBody>
        </p:sp>
        <p:sp>
          <p:nvSpPr>
            <p:cNvPr id="44" name="拡張性_C案"/>
            <p:cNvSpPr/>
            <p:nvPr/>
          </p:nvSpPr>
          <p:spPr>
            <a:xfrm>
              <a:off x="8134350" y="377190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必要十分（設定で対応）</a:t>
              </a:r>
            </a:p>
          </p:txBody>
        </p:sp>
        <p:cxnSp>
          <p:nvCxnSpPr>
            <p:cNvPr id="45" name="罫線_拡張性"/>
            <p:cNvCxnSpPr/>
            <p:nvPr/>
          </p:nvCxnSpPr>
          <p:spPr>
            <a:xfrm>
              <a:off x="609600" y="43243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推奨列_保守負担"/>
            <p:cNvSpPr/>
            <p:nvPr/>
          </p:nvSpPr>
          <p:spPr>
            <a:xfrm>
              <a:off x="8134350" y="432435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81050" y="432435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保守負担</a:t>
              </a:r>
            </a:p>
          </p:txBody>
        </p:sp>
        <p:sp>
          <p:nvSpPr>
            <p:cNvPr id="48" name="保守負担_A案"/>
            <p:cNvSpPr/>
            <p:nvPr/>
          </p:nvSpPr>
          <p:spPr>
            <a:xfrm>
              <a:off x="2800350" y="43243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自社で全て</a:t>
              </a:r>
            </a:p>
          </p:txBody>
        </p:sp>
        <p:sp>
          <p:nvSpPr>
            <p:cNvPr id="49" name="保守負担_B案"/>
            <p:cNvSpPr/>
            <p:nvPr/>
          </p:nvSpPr>
          <p:spPr>
            <a:xfrm>
              <a:off x="5467350" y="432435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ベンダー依存</a:t>
              </a:r>
            </a:p>
          </p:txBody>
        </p:sp>
        <p:sp>
          <p:nvSpPr>
            <p:cNvPr id="50" name="保守負担_C案"/>
            <p:cNvSpPr/>
            <p:nvPr/>
          </p:nvSpPr>
          <p:spPr>
            <a:xfrm>
              <a:off x="8134350" y="432435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不要（自動更新）</a:t>
              </a:r>
            </a:p>
          </p:txBody>
        </p:sp>
        <p:cxnSp>
          <p:nvCxnSpPr>
            <p:cNvPr id="51" name="罫線_保守負担"/>
            <p:cNvCxnSpPr/>
            <p:nvPr/>
          </p:nvCxnSpPr>
          <p:spPr>
            <a:xfrm>
              <a:off x="609600" y="48768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推奨列_総合評価"/>
            <p:cNvSpPr/>
            <p:nvPr/>
          </p:nvSpPr>
          <p:spPr>
            <a:xfrm>
              <a:off x="8134350" y="4876800"/>
              <a:ext cx="344805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81050" y="4876800"/>
              <a:ext cx="19621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総合評価</a:t>
              </a:r>
            </a:p>
          </p:txBody>
        </p:sp>
        <p:sp>
          <p:nvSpPr>
            <p:cNvPr id="54" name="総合評価_A案"/>
            <p:cNvSpPr/>
            <p:nvPr/>
          </p:nvSpPr>
          <p:spPr>
            <a:xfrm>
              <a:off x="2800350" y="48768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>
                  <a:solidFill>
                    <a:schemeClr val="accent5"/>
                  </a:solidFill>
                </a:rPr>
                <a:t>△</a:t>
              </a:r>
            </a:p>
          </p:txBody>
        </p:sp>
        <p:sp>
          <p:nvSpPr>
            <p:cNvPr id="55" name="総合評価_B案"/>
            <p:cNvSpPr/>
            <p:nvPr/>
          </p:nvSpPr>
          <p:spPr>
            <a:xfrm>
              <a:off x="5467350" y="4876800"/>
              <a:ext cx="26670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>
                  <a:solidFill>
                    <a:schemeClr val="accent5"/>
                  </a:solidFill>
                </a:rPr>
                <a:t>○</a:t>
              </a:r>
            </a:p>
          </p:txBody>
        </p:sp>
        <p:sp>
          <p:nvSpPr>
            <p:cNvPr id="56" name="総合評価_C案"/>
            <p:cNvSpPr/>
            <p:nvPr/>
          </p:nvSpPr>
          <p:spPr>
            <a:xfrm>
              <a:off x="8134350" y="4876800"/>
              <a:ext cx="3448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◎</a:t>
              </a:r>
            </a:p>
          </p:txBody>
        </p:sp>
        <p:cxnSp>
          <p:nvCxnSpPr>
            <p:cNvPr id="57" name="罫線_総合評価"/>
            <p:cNvCxnSpPr/>
            <p:nvPr/>
          </p:nvCxnSpPr>
          <p:spPr>
            <a:xfrm>
              <a:off x="609600" y="54292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ヘッダ下罫線"/>
            <p:cNvCxnSpPr/>
            <p:nvPr/>
          </p:nvCxnSpPr>
          <p:spPr>
            <a:xfrm>
              <a:off x="609600" y="21145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Rectangle 58"/>
          <p:cNvSpPr/>
          <p:nvPr/>
        </p:nvSpPr>
        <p:spPr>
          <a:xfrm>
            <a:off x="609600" y="5562600"/>
            <a:ext cx="109728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年間費用はC案が最大だが、初期費用と導入期間を含む5年総額ではC案が最小（A案の54%）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施策詳細②｜Before→After差分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新フローでは、承認2段と転記作業が丸ごと消える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受注処理フローの現行→新運用（1件あたり）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出所：△△コンサルティング株式会社作成（数値はサンプル）　　注：本資料の数値はすべてサンプルです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03</a:t>
              </a:r>
            </a:p>
          </p:txBody>
        </p:sp>
      </p:grpSp>
      <p:grpSp>
        <p:nvGrpSpPr>
          <p:cNvPr id="11" name="現行帯"/>
          <p:cNvGrpSpPr/>
          <p:nvPr/>
        </p:nvGrpSpPr>
        <p:grpSpPr>
          <a:xfrm>
            <a:off x="609600" y="1562100"/>
            <a:ext cx="10172700" cy="781050"/>
            <a:chOff x="609600" y="1562100"/>
            <a:chExt cx="10172700" cy="781050"/>
          </a:xfrm>
        </p:grpSpPr>
        <p:sp>
          <p:nvSpPr>
            <p:cNvPr id="12" name="現行ラベル"/>
            <p:cNvSpPr/>
            <p:nvPr/>
          </p:nvSpPr>
          <p:spPr>
            <a:xfrm>
              <a:off x="609600" y="156210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現行｜5.2日</a:t>
              </a:r>
            </a:p>
          </p:txBody>
        </p:sp>
        <p:sp>
          <p:nvSpPr>
            <p:cNvPr id="13" name="現行_受付"/>
            <p:cNvSpPr/>
            <p:nvPr/>
          </p:nvSpPr>
          <p:spPr>
            <a:xfrm>
              <a:off x="609600" y="1809750"/>
              <a:ext cx="1504950" cy="53340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受付"/>
            <p:cNvSpPr/>
            <p:nvPr/>
          </p:nvSpPr>
          <p:spPr>
            <a:xfrm>
              <a:off x="609600" y="1962150"/>
              <a:ext cx="15049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受付</a:t>
              </a:r>
            </a:p>
          </p:txBody>
        </p:sp>
        <p:sp>
          <p:nvSpPr>
            <p:cNvPr id="15" name="現行_転記"/>
            <p:cNvSpPr/>
            <p:nvPr/>
          </p:nvSpPr>
          <p:spPr>
            <a:xfrm>
              <a:off x="2343150" y="1809750"/>
              <a:ext cx="1504950" cy="533400"/>
            </a:xfrm>
            <a:prstGeom prst="roundRect">
              <a:avLst>
                <a:gd name="adj" fmla="val 14285"/>
              </a:avLst>
            </a:prstGeom>
            <a:noFill/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転記"/>
            <p:cNvSpPr/>
            <p:nvPr/>
          </p:nvSpPr>
          <p:spPr>
            <a:xfrm>
              <a:off x="2343150" y="1962150"/>
              <a:ext cx="15049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accent5"/>
                  </a:solidFill>
                </a:rPr>
                <a:t>転記</a:t>
              </a:r>
            </a:p>
          </p:txBody>
        </p:sp>
        <p:sp>
          <p:nvSpPr>
            <p:cNvPr id="17" name="現行_承認1"/>
            <p:cNvSpPr/>
            <p:nvPr/>
          </p:nvSpPr>
          <p:spPr>
            <a:xfrm>
              <a:off x="4076700" y="1809750"/>
              <a:ext cx="1504950" cy="533400"/>
            </a:xfrm>
            <a:prstGeom prst="roundRect">
              <a:avLst>
                <a:gd name="adj" fmla="val 14285"/>
              </a:avLst>
            </a:prstGeom>
            <a:noFill/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承認1"/>
            <p:cNvSpPr/>
            <p:nvPr/>
          </p:nvSpPr>
          <p:spPr>
            <a:xfrm>
              <a:off x="4076700" y="1962150"/>
              <a:ext cx="15049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accent5"/>
                  </a:solidFill>
                </a:rPr>
                <a:t>承認1</a:t>
              </a:r>
            </a:p>
          </p:txBody>
        </p:sp>
        <p:sp>
          <p:nvSpPr>
            <p:cNvPr id="19" name="現行_承認2"/>
            <p:cNvSpPr/>
            <p:nvPr/>
          </p:nvSpPr>
          <p:spPr>
            <a:xfrm>
              <a:off x="5810250" y="1809750"/>
              <a:ext cx="1504950" cy="533400"/>
            </a:xfrm>
            <a:prstGeom prst="roundRect">
              <a:avLst>
                <a:gd name="adj" fmla="val 14285"/>
              </a:avLst>
            </a:prstGeom>
            <a:noFill/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承認2"/>
            <p:cNvSpPr/>
            <p:nvPr/>
          </p:nvSpPr>
          <p:spPr>
            <a:xfrm>
              <a:off x="5810250" y="1962150"/>
              <a:ext cx="15049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accent5"/>
                  </a:solidFill>
                </a:rPr>
                <a:t>承認2</a:t>
              </a:r>
            </a:p>
          </p:txBody>
        </p:sp>
        <p:sp>
          <p:nvSpPr>
            <p:cNvPr id="21" name="現行_登録"/>
            <p:cNvSpPr/>
            <p:nvPr/>
          </p:nvSpPr>
          <p:spPr>
            <a:xfrm>
              <a:off x="7543800" y="1809750"/>
              <a:ext cx="1504950" cy="53340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登録"/>
            <p:cNvSpPr/>
            <p:nvPr/>
          </p:nvSpPr>
          <p:spPr>
            <a:xfrm>
              <a:off x="7543800" y="1962150"/>
              <a:ext cx="15049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登録</a:t>
              </a:r>
            </a:p>
          </p:txBody>
        </p:sp>
        <p:sp>
          <p:nvSpPr>
            <p:cNvPr id="23" name="現行_請求"/>
            <p:cNvSpPr/>
            <p:nvPr/>
          </p:nvSpPr>
          <p:spPr>
            <a:xfrm>
              <a:off x="9277350" y="1809750"/>
              <a:ext cx="1504950" cy="533400"/>
            </a:xfrm>
            <a:prstGeom prst="roundRect">
              <a:avLst>
                <a:gd name="adj" fmla="val 1428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請求"/>
            <p:cNvSpPr/>
            <p:nvPr/>
          </p:nvSpPr>
          <p:spPr>
            <a:xfrm>
              <a:off x="9277350" y="1962150"/>
              <a:ext cx="15049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請求</a:t>
              </a:r>
            </a:p>
          </p:txBody>
        </p:sp>
      </p:grpSp>
      <p:grpSp>
        <p:nvGrpSpPr>
          <p:cNvPr id="25" name="変化矢印"/>
          <p:cNvGrpSpPr/>
          <p:nvPr/>
        </p:nvGrpSpPr>
        <p:grpSpPr>
          <a:xfrm>
            <a:off x="6086475" y="2724150"/>
            <a:ext cx="19050" cy="552450"/>
            <a:chOff x="6086475" y="2724150"/>
            <a:chExt cx="19050" cy="552450"/>
          </a:xfrm>
        </p:grpSpPr>
        <p:cxnSp>
          <p:nvCxnSpPr>
            <p:cNvPr id="26" name="変化"/>
            <p:cNvCxnSpPr/>
            <p:nvPr/>
          </p:nvCxnSpPr>
          <p:spPr>
            <a:xfrm>
              <a:off x="6096000" y="2724150"/>
              <a:ext cx="0" cy="552450"/>
            </a:xfrm>
            <a:prstGeom prst="bentConnector3">
              <a:avLst/>
            </a:prstGeom>
            <a:ln w="23812">
              <a:solidFill>
                <a:schemeClr val="accent1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伸長ダミー"/>
            <p:cNvSpPr/>
            <p:nvPr/>
          </p:nvSpPr>
          <p:spPr>
            <a:xfrm>
              <a:off x="6086475" y="2724150"/>
              <a:ext cx="1905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新帯"/>
          <p:cNvGrpSpPr/>
          <p:nvPr/>
        </p:nvGrpSpPr>
        <p:grpSpPr>
          <a:xfrm>
            <a:off x="609600" y="3238500"/>
            <a:ext cx="10172700" cy="781050"/>
            <a:chOff x="609600" y="3238500"/>
            <a:chExt cx="10172700" cy="781050"/>
          </a:xfrm>
        </p:grpSpPr>
        <p:sp>
          <p:nvSpPr>
            <p:cNvPr id="29" name="新ラベル"/>
            <p:cNvSpPr/>
            <p:nvPr/>
          </p:nvSpPr>
          <p:spPr>
            <a:xfrm>
              <a:off x="609600" y="3238500"/>
              <a:ext cx="2476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新運用｜3.0日</a:t>
              </a:r>
            </a:p>
          </p:txBody>
        </p:sp>
        <p:sp>
          <p:nvSpPr>
            <p:cNvPr id="30" name="新_受付"/>
            <p:cNvSpPr/>
            <p:nvPr/>
          </p:nvSpPr>
          <p:spPr>
            <a:xfrm>
              <a:off x="609600" y="3486150"/>
              <a:ext cx="1504950" cy="533400"/>
            </a:xfrm>
            <a:prstGeom prst="roundRect">
              <a:avLst>
                <a:gd name="adj" fmla="val 14285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受付"/>
            <p:cNvSpPr/>
            <p:nvPr/>
          </p:nvSpPr>
          <p:spPr>
            <a:xfrm>
              <a:off x="609600" y="3638550"/>
              <a:ext cx="15049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受付</a:t>
              </a:r>
            </a:p>
          </p:txBody>
        </p:sp>
        <p:sp>
          <p:nvSpPr>
            <p:cNvPr id="32" name="新_自動処理"/>
            <p:cNvSpPr/>
            <p:nvPr/>
          </p:nvSpPr>
          <p:spPr>
            <a:xfrm>
              <a:off x="2343150" y="3486150"/>
              <a:ext cx="4972050" cy="533400"/>
            </a:xfrm>
            <a:prstGeom prst="roundRect">
              <a:avLst>
                <a:gd name="adj" fmla="val 14285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自動処理"/>
            <p:cNvSpPr/>
            <p:nvPr/>
          </p:nvSpPr>
          <p:spPr>
            <a:xfrm>
              <a:off x="2343150" y="3638550"/>
              <a:ext cx="49720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自動処理（旧3工程を置換）</a:t>
              </a:r>
            </a:p>
          </p:txBody>
        </p:sp>
        <p:sp>
          <p:nvSpPr>
            <p:cNvPr id="34" name="新_登録"/>
            <p:cNvSpPr/>
            <p:nvPr/>
          </p:nvSpPr>
          <p:spPr>
            <a:xfrm>
              <a:off x="7543800" y="3486150"/>
              <a:ext cx="1504950" cy="533400"/>
            </a:xfrm>
            <a:prstGeom prst="roundRect">
              <a:avLst>
                <a:gd name="adj" fmla="val 14285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登録"/>
            <p:cNvSpPr/>
            <p:nvPr/>
          </p:nvSpPr>
          <p:spPr>
            <a:xfrm>
              <a:off x="7543800" y="3638550"/>
              <a:ext cx="15049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登録</a:t>
              </a:r>
            </a:p>
          </p:txBody>
        </p:sp>
        <p:sp>
          <p:nvSpPr>
            <p:cNvPr id="36" name="新_請求"/>
            <p:cNvSpPr/>
            <p:nvPr/>
          </p:nvSpPr>
          <p:spPr>
            <a:xfrm>
              <a:off x="9277350" y="3486150"/>
              <a:ext cx="1504950" cy="533400"/>
            </a:xfrm>
            <a:prstGeom prst="roundRect">
              <a:avLst>
                <a:gd name="adj" fmla="val 14285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請求"/>
            <p:cNvSpPr/>
            <p:nvPr/>
          </p:nvSpPr>
          <p:spPr>
            <a:xfrm>
              <a:off x="9277350" y="3638550"/>
              <a:ext cx="15049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請求</a:t>
              </a:r>
            </a:p>
          </p:txBody>
        </p:sp>
      </p:grpSp>
      <p:grpSp>
        <p:nvGrpSpPr>
          <p:cNvPr id="38" name="短縮"/>
          <p:cNvGrpSpPr/>
          <p:nvPr/>
        </p:nvGrpSpPr>
        <p:grpSpPr>
          <a:xfrm>
            <a:off x="10325100" y="3162300"/>
            <a:ext cx="1257300" cy="228600"/>
            <a:chOff x="10325100" y="3162300"/>
            <a:chExt cx="1257300" cy="228600"/>
          </a:xfrm>
        </p:grpSpPr>
        <p:sp>
          <p:nvSpPr>
            <p:cNvPr id="39" name="短縮チップ"/>
            <p:cNvSpPr/>
            <p:nvPr/>
          </p:nvSpPr>
          <p:spPr>
            <a:xfrm>
              <a:off x="10325100" y="3162300"/>
              <a:ext cx="125730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0325100" y="3171825"/>
              <a:ext cx="12573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▲2.2日／件</a:t>
              </a:r>
            </a:p>
          </p:txBody>
        </p:sp>
      </p:grpSp>
      <p:grpSp>
        <p:nvGrpSpPr>
          <p:cNvPr id="41" name="凡例"/>
          <p:cNvGrpSpPr/>
          <p:nvPr/>
        </p:nvGrpSpPr>
        <p:grpSpPr>
          <a:xfrm>
            <a:off x="609600" y="4476750"/>
            <a:ext cx="10972800" cy="152400"/>
            <a:chOff x="609600" y="4476750"/>
            <a:chExt cx="10972800" cy="152400"/>
          </a:xfrm>
        </p:grpSpPr>
        <p:sp>
          <p:nvSpPr>
            <p:cNvPr id="42" name="凡例"/>
            <p:cNvSpPr/>
            <p:nvPr/>
          </p:nvSpPr>
          <p:spPr>
            <a:xfrm>
              <a:off x="609600" y="4476750"/>
              <a:ext cx="10972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破線＝新運用で廃止される工程。工程の位置は現行と揃えて配置（位置不変の原則）</a:t>
              </a:r>
            </a:p>
          </p:txBody>
        </p:sp>
      </p:grpSp>
      <p:grpSp>
        <p:nvGrpSpPr>
          <p:cNvPr id="43" name="示唆"/>
          <p:cNvGrpSpPr/>
          <p:nvPr/>
        </p:nvGrpSpPr>
        <p:grpSpPr>
          <a:xfrm>
            <a:off x="609600" y="5334000"/>
            <a:ext cx="10972800" cy="552450"/>
            <a:chOff x="609600" y="5334000"/>
            <a:chExt cx="10972800" cy="552450"/>
          </a:xfrm>
        </p:grpSpPr>
        <p:sp>
          <p:nvSpPr>
            <p:cNvPr id="44" name="引用バー"/>
            <p:cNvSpPr/>
            <p:nvPr/>
          </p:nvSpPr>
          <p:spPr>
            <a:xfrm>
              <a:off x="609600" y="5334000"/>
              <a:ext cx="3810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示唆"/>
            <p:cNvSpPr/>
            <p:nvPr/>
          </p:nvSpPr>
          <p:spPr>
            <a:xfrm>
              <a:off x="781050" y="5353050"/>
              <a:ext cx="108013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承認は「2段だから安心」ではなく「2段だから遅い」だった。権限テーブルの整理が伴走する</a:t>
              </a:r>
            </a:p>
          </p:txBody>
        </p:sp>
        <p:sp>
          <p:nvSpPr>
            <p:cNvPr id="46" name="補足"/>
            <p:cNvSpPr/>
            <p:nvPr/>
          </p:nvSpPr>
          <p:spPr>
            <a:xfrm>
              <a:off x="781050" y="5638800"/>
              <a:ext cx="108013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廃止する承認の権限は自動チェック（金額閾値・与信）に置き換える。詳細は次頁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施策詳細④｜パイロット設計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パイロットは営業1課・90日。継続判断の基準を先に決めておく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パイロットの設計と継続判断の基準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出所：△△コンサルティング株式会社作成（数値はサンプル）　　注：本資料の数値はすべてサンプルです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05</a:t>
              </a:r>
            </a:p>
          </p:txBody>
        </p:sp>
      </p:grpSp>
      <p:grpSp>
        <p:nvGrpSpPr>
          <p:cNvPr id="11" name="設計表"/>
          <p:cNvGrpSpPr/>
          <p:nvPr/>
        </p:nvGrpSpPr>
        <p:grpSpPr>
          <a:xfrm>
            <a:off x="609600" y="1638300"/>
            <a:ext cx="4953000" cy="2743200"/>
            <a:chOff x="609600" y="1638300"/>
            <a:chExt cx="4953000" cy="2743200"/>
          </a:xfrm>
        </p:grpSpPr>
        <p:sp>
          <p:nvSpPr>
            <p:cNvPr id="12" name="見出し"/>
            <p:cNvSpPr/>
            <p:nvPr/>
          </p:nvSpPr>
          <p:spPr>
            <a:xfrm>
              <a:off x="609600" y="1638300"/>
              <a:ext cx="4953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1"/>
                  </a:solidFill>
                </a:rPr>
                <a:t>パイロットの設計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609600" y="2324100"/>
              <a:ext cx="4953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対象"/>
            <p:cNvSpPr/>
            <p:nvPr/>
          </p:nvSpPr>
          <p:spPr>
            <a:xfrm>
              <a:off x="609600" y="2019300"/>
              <a:ext cx="857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対象</a:t>
              </a:r>
            </a:p>
          </p:txBody>
        </p:sp>
        <p:sp>
          <p:nvSpPr>
            <p:cNvPr id="15" name="対象値"/>
            <p:cNvSpPr/>
            <p:nvPr/>
          </p:nvSpPr>
          <p:spPr>
            <a:xfrm>
              <a:off x="1657350" y="2019300"/>
              <a:ext cx="3905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営業1課（12名）＋経理1名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609600" y="2838450"/>
              <a:ext cx="4953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期間"/>
            <p:cNvSpPr/>
            <p:nvPr/>
          </p:nvSpPr>
          <p:spPr>
            <a:xfrm>
              <a:off x="609600" y="2533650"/>
              <a:ext cx="857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期間</a:t>
              </a:r>
            </a:p>
          </p:txBody>
        </p:sp>
        <p:sp>
          <p:nvSpPr>
            <p:cNvPr id="18" name="期間値"/>
            <p:cNvSpPr/>
            <p:nvPr/>
          </p:nvSpPr>
          <p:spPr>
            <a:xfrm>
              <a:off x="1657350" y="2533650"/>
              <a:ext cx="3905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90日（7月〜9月）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609600" y="3352800"/>
              <a:ext cx="4953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範囲"/>
            <p:cNvSpPr/>
            <p:nvPr/>
          </p:nvSpPr>
          <p:spPr>
            <a:xfrm>
              <a:off x="609600" y="3048000"/>
              <a:ext cx="857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範囲</a:t>
              </a:r>
            </a:p>
          </p:txBody>
        </p:sp>
        <p:sp>
          <p:nvSpPr>
            <p:cNvPr id="21" name="範囲値"/>
            <p:cNvSpPr/>
            <p:nvPr/>
          </p:nvSpPr>
          <p:spPr>
            <a:xfrm>
              <a:off x="1657350" y="3048000"/>
              <a:ext cx="3905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受発注入力のみ。請求は対象外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609600" y="3867150"/>
              <a:ext cx="4953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体制"/>
            <p:cNvSpPr/>
            <p:nvPr/>
          </p:nvSpPr>
          <p:spPr>
            <a:xfrm>
              <a:off x="609600" y="3562350"/>
              <a:ext cx="857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体制</a:t>
              </a:r>
            </a:p>
          </p:txBody>
        </p:sp>
        <p:sp>
          <p:nvSpPr>
            <p:cNvPr id="24" name="体制値"/>
            <p:cNvSpPr/>
            <p:nvPr/>
          </p:nvSpPr>
          <p:spPr>
            <a:xfrm>
              <a:off x="1657350" y="3562350"/>
              <a:ext cx="3905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貴社2名＋当社2名（週次定例）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609600" y="4381500"/>
              <a:ext cx="4953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費用"/>
            <p:cNvSpPr/>
            <p:nvPr/>
          </p:nvSpPr>
          <p:spPr>
            <a:xfrm>
              <a:off x="609600" y="4076700"/>
              <a:ext cx="857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費用</a:t>
              </a:r>
            </a:p>
          </p:txBody>
        </p:sp>
        <p:sp>
          <p:nvSpPr>
            <p:cNvPr id="27" name="費用値"/>
            <p:cNvSpPr/>
            <p:nvPr/>
          </p:nvSpPr>
          <p:spPr>
            <a:xfrm>
              <a:off x="1657350" y="4076700"/>
              <a:ext cx="3905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パイロット費用は月額に含む（追加なし）</a:t>
              </a:r>
            </a:p>
          </p:txBody>
        </p:sp>
      </p:grpSp>
      <p:grpSp>
        <p:nvGrpSpPr>
          <p:cNvPr id="28" name="判断基準"/>
          <p:cNvGrpSpPr/>
          <p:nvPr/>
        </p:nvGrpSpPr>
        <p:grpSpPr>
          <a:xfrm>
            <a:off x="6019800" y="1638300"/>
            <a:ext cx="5562600" cy="2343150"/>
            <a:chOff x="6019800" y="1638300"/>
            <a:chExt cx="5562600" cy="2343150"/>
          </a:xfrm>
        </p:grpSpPr>
        <p:sp>
          <p:nvSpPr>
            <p:cNvPr id="29" name="見出し"/>
            <p:cNvSpPr/>
            <p:nvPr/>
          </p:nvSpPr>
          <p:spPr>
            <a:xfrm>
              <a:off x="6019800" y="1638300"/>
              <a:ext cx="5562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1"/>
                  </a:solidFill>
                </a:rPr>
                <a:t>継続判断の基準（90日後・3つすべて）</a:t>
              </a:r>
            </a:p>
          </p:txBody>
        </p:sp>
        <p:sp>
          <p:nvSpPr>
            <p:cNvPr id="30" name="削減時間"/>
            <p:cNvSpPr/>
            <p:nvPr/>
          </p:nvSpPr>
          <p:spPr>
            <a:xfrm>
              <a:off x="6019800" y="2000250"/>
              <a:ext cx="5562600" cy="571500"/>
            </a:xfrm>
            <a:prstGeom prst="roundRect">
              <a:avLst>
                <a:gd name="adj" fmla="val 13333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判定丸"/>
            <p:cNvSpPr/>
            <p:nvPr/>
          </p:nvSpPr>
          <p:spPr>
            <a:xfrm>
              <a:off x="6172200" y="21717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削減時間名"/>
            <p:cNvSpPr/>
            <p:nvPr/>
          </p:nvSpPr>
          <p:spPr>
            <a:xfrm>
              <a:off x="6515100" y="2095500"/>
              <a:ext cx="48958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削減時間</a:t>
              </a:r>
            </a:p>
          </p:txBody>
        </p:sp>
        <p:sp>
          <p:nvSpPr>
            <p:cNvPr id="33" name="削減時間基準"/>
            <p:cNvSpPr/>
            <p:nvPr/>
          </p:nvSpPr>
          <p:spPr>
            <a:xfrm>
              <a:off x="6515100" y="2305050"/>
              <a:ext cx="48958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月200時間以上（実測）</a:t>
              </a:r>
            </a:p>
          </p:txBody>
        </p:sp>
        <p:sp>
          <p:nvSpPr>
            <p:cNvPr id="34" name="エラー率"/>
            <p:cNvSpPr/>
            <p:nvPr/>
          </p:nvSpPr>
          <p:spPr>
            <a:xfrm>
              <a:off x="6019800" y="2705100"/>
              <a:ext cx="5562600" cy="571500"/>
            </a:xfrm>
            <a:prstGeom prst="roundRect">
              <a:avLst>
                <a:gd name="adj" fmla="val 13333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判定丸"/>
            <p:cNvSpPr/>
            <p:nvPr/>
          </p:nvSpPr>
          <p:spPr>
            <a:xfrm>
              <a:off x="6172200" y="287655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エラー率名"/>
            <p:cNvSpPr/>
            <p:nvPr/>
          </p:nvSpPr>
          <p:spPr>
            <a:xfrm>
              <a:off x="6515100" y="2800350"/>
              <a:ext cx="48958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エラー率</a:t>
              </a:r>
            </a:p>
          </p:txBody>
        </p:sp>
        <p:sp>
          <p:nvSpPr>
            <p:cNvPr id="37" name="エラー率基準"/>
            <p:cNvSpPr/>
            <p:nvPr/>
          </p:nvSpPr>
          <p:spPr>
            <a:xfrm>
              <a:off x="6515100" y="3009900"/>
              <a:ext cx="48958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0.5%未満で安定</a:t>
              </a:r>
            </a:p>
          </p:txBody>
        </p:sp>
        <p:sp>
          <p:nvSpPr>
            <p:cNvPr id="38" name="現場の受容"/>
            <p:cNvSpPr/>
            <p:nvPr/>
          </p:nvSpPr>
          <p:spPr>
            <a:xfrm>
              <a:off x="6019800" y="3409950"/>
              <a:ext cx="5562600" cy="571500"/>
            </a:xfrm>
            <a:prstGeom prst="roundRect">
              <a:avLst>
                <a:gd name="adj" fmla="val 13333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判定丸"/>
            <p:cNvSpPr/>
            <p:nvPr/>
          </p:nvSpPr>
          <p:spPr>
            <a:xfrm>
              <a:off x="6172200" y="35814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現場の受容名"/>
            <p:cNvSpPr/>
            <p:nvPr/>
          </p:nvSpPr>
          <p:spPr>
            <a:xfrm>
              <a:off x="6515100" y="3505200"/>
              <a:ext cx="48958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現場の受容</a:t>
              </a:r>
            </a:p>
          </p:txBody>
        </p:sp>
        <p:sp>
          <p:nvSpPr>
            <p:cNvPr id="41" name="現場の受容基準"/>
            <p:cNvSpPr/>
            <p:nvPr/>
          </p:nvSpPr>
          <p:spPr>
            <a:xfrm>
              <a:off x="6515100" y="3714750"/>
              <a:ext cx="48958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利用者アンケートで継続希望70%以上</a:t>
              </a:r>
            </a:p>
          </p:txBody>
        </p:sp>
      </p:grpSp>
      <p:grpSp>
        <p:nvGrpSpPr>
          <p:cNvPr id="42" name="判断box"/>
          <p:cNvGrpSpPr/>
          <p:nvPr/>
        </p:nvGrpSpPr>
        <p:grpSpPr>
          <a:xfrm>
            <a:off x="6019800" y="4000500"/>
            <a:ext cx="5562600" cy="1104900"/>
            <a:chOff x="6019800" y="4000500"/>
            <a:chExt cx="5562600" cy="1104900"/>
          </a:xfrm>
        </p:grpSpPr>
        <p:sp>
          <p:nvSpPr>
            <p:cNvPr id="43" name="判断ボックス"/>
            <p:cNvSpPr/>
            <p:nvPr/>
          </p:nvSpPr>
          <p:spPr>
            <a:xfrm>
              <a:off x="6019800" y="4305300"/>
              <a:ext cx="5562600" cy="800100"/>
            </a:xfrm>
            <a:prstGeom prst="roundRect">
              <a:avLst>
                <a:gd name="adj" fmla="val 9523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判断文"/>
            <p:cNvSpPr/>
            <p:nvPr/>
          </p:nvSpPr>
          <p:spPr>
            <a:xfrm>
              <a:off x="6210300" y="4419600"/>
              <a:ext cx="5181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基準を満たさなければ、全社展開はしない</a:t>
              </a:r>
            </a:p>
          </p:txBody>
        </p:sp>
        <p:sp>
          <p:nvSpPr>
            <p:cNvPr id="45" name="補足"/>
            <p:cNvSpPr/>
            <p:nvPr/>
          </p:nvSpPr>
          <p:spPr>
            <a:xfrm>
              <a:off x="6210300" y="4705350"/>
              <a:ext cx="51816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撤退しても検証データは貴社に残る＝失敗しても学習が残る設計</a:t>
              </a:r>
            </a:p>
          </p:txBody>
        </p:sp>
        <p:sp>
          <p:nvSpPr>
            <p:cNvPr id="46" name="基準チップ"/>
            <p:cNvSpPr/>
            <p:nvPr/>
          </p:nvSpPr>
          <p:spPr>
            <a:xfrm>
              <a:off x="10153650" y="4000500"/>
              <a:ext cx="123825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153650" y="4010025"/>
              <a:ext cx="1238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先に決める</a:t>
              </a: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効果・ROI①｜効果サマリー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効果は年2,600万円。投資は14ヶ月で回収できる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導入効果のサマリー（年間・全社展開時）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出所：△△コンサルティング株式会社作成（数値はサンプル）　　注：本資料の数値はすべてサンプルです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08</a:t>
              </a:r>
            </a:p>
          </p:txBody>
        </p:sp>
      </p:grpSp>
      <p:grpSp>
        <p:nvGrpSpPr>
          <p:cNvPr id="11" name="KPI_削減時間"/>
          <p:cNvGrpSpPr/>
          <p:nvPr/>
        </p:nvGrpSpPr>
        <p:grpSpPr>
          <a:xfrm>
            <a:off x="609600" y="1714500"/>
            <a:ext cx="3476625" cy="2286000"/>
            <a:chOff x="609600" y="1714500"/>
            <a:chExt cx="3476625" cy="2286000"/>
          </a:xfrm>
        </p:grpSpPr>
        <p:sp>
          <p:nvSpPr>
            <p:cNvPr id="12" name="削減時間"/>
            <p:cNvSpPr/>
            <p:nvPr/>
          </p:nvSpPr>
          <p:spPr>
            <a:xfrm>
              <a:off x="609600" y="1714500"/>
              <a:ext cx="3476625" cy="2286000"/>
            </a:xfrm>
            <a:prstGeom prst="roundRect">
              <a:avLst>
                <a:gd name="adj" fmla="val 3333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指標名"/>
            <p:cNvSpPr/>
            <p:nvPr/>
          </p:nvSpPr>
          <p:spPr>
            <a:xfrm>
              <a:off x="838200" y="1905000"/>
              <a:ext cx="301942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削減時間</a:t>
              </a:r>
            </a:p>
          </p:txBody>
        </p:sp>
        <p:sp>
          <p:nvSpPr>
            <p:cNvPr id="14" name="数値"/>
            <p:cNvSpPr/>
            <p:nvPr/>
          </p:nvSpPr>
          <p:spPr>
            <a:xfrm>
              <a:off x="838200" y="2247900"/>
              <a:ext cx="3019425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4600" b="1">
                  <a:solidFill>
                    <a:schemeClr val="dk2"/>
                  </a:solidFill>
                </a:rPr>
                <a:t>870</a:t>
              </a:r>
            </a:p>
          </p:txBody>
        </p:sp>
        <p:sp>
          <p:nvSpPr>
            <p:cNvPr id="15" name="単位"/>
            <p:cNvSpPr/>
            <p:nvPr/>
          </p:nvSpPr>
          <p:spPr>
            <a:xfrm>
              <a:off x="838200" y="2952750"/>
              <a:ext cx="3019425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時間/月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838200" y="3276600"/>
              <a:ext cx="3019425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根拠"/>
            <p:cNvSpPr/>
            <p:nvPr/>
          </p:nvSpPr>
          <p:spPr>
            <a:xfrm>
              <a:off x="838200" y="3390900"/>
              <a:ext cx="3019425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900">
                  <a:solidFill>
                    <a:schemeClr val="accent5"/>
                  </a:solidFill>
                </a:rPr>
                <a:t>3部門合計・実測ベースの試算</a:t>
              </a:r>
            </a:p>
          </p:txBody>
        </p:sp>
      </p:grpSp>
      <p:grpSp>
        <p:nvGrpSpPr>
          <p:cNvPr id="18" name="KPI_金額効果"/>
          <p:cNvGrpSpPr/>
          <p:nvPr/>
        </p:nvGrpSpPr>
        <p:grpSpPr>
          <a:xfrm>
            <a:off x="4352925" y="1714500"/>
            <a:ext cx="3476625" cy="2286000"/>
            <a:chOff x="4352925" y="1714500"/>
            <a:chExt cx="3476625" cy="2286000"/>
          </a:xfrm>
        </p:grpSpPr>
        <p:sp>
          <p:nvSpPr>
            <p:cNvPr id="19" name="金額効果"/>
            <p:cNvSpPr/>
            <p:nvPr/>
          </p:nvSpPr>
          <p:spPr>
            <a:xfrm>
              <a:off x="4352925" y="1714500"/>
              <a:ext cx="3476625" cy="2286000"/>
            </a:xfrm>
            <a:prstGeom prst="roundRect">
              <a:avLst>
                <a:gd name="adj" fmla="val 3333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指標名"/>
            <p:cNvSpPr/>
            <p:nvPr/>
          </p:nvSpPr>
          <p:spPr>
            <a:xfrm>
              <a:off x="4581525" y="1905000"/>
              <a:ext cx="301942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金額効果</a:t>
              </a:r>
            </a:p>
          </p:txBody>
        </p:sp>
        <p:sp>
          <p:nvSpPr>
            <p:cNvPr id="21" name="数値"/>
            <p:cNvSpPr/>
            <p:nvPr/>
          </p:nvSpPr>
          <p:spPr>
            <a:xfrm>
              <a:off x="4581525" y="2247900"/>
              <a:ext cx="3019425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4600" b="1">
                  <a:solidFill>
                    <a:schemeClr val="dk2"/>
                  </a:solidFill>
                </a:rPr>
                <a:t>2,600</a:t>
              </a:r>
            </a:p>
          </p:txBody>
        </p:sp>
        <p:sp>
          <p:nvSpPr>
            <p:cNvPr id="22" name="単位"/>
            <p:cNvSpPr/>
            <p:nvPr/>
          </p:nvSpPr>
          <p:spPr>
            <a:xfrm>
              <a:off x="4581525" y="2952750"/>
              <a:ext cx="3019425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万円/年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4581525" y="3276600"/>
              <a:ext cx="3019425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根拠"/>
            <p:cNvSpPr/>
            <p:nvPr/>
          </p:nvSpPr>
          <p:spPr>
            <a:xfrm>
              <a:off x="4581525" y="3390900"/>
              <a:ext cx="3019425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900">
                  <a:solidFill>
                    <a:schemeClr val="accent5"/>
                  </a:solidFill>
                </a:rPr>
                <a:t>人件費換算＋ミス起因の損失削減</a:t>
              </a:r>
            </a:p>
          </p:txBody>
        </p:sp>
      </p:grpSp>
      <p:grpSp>
        <p:nvGrpSpPr>
          <p:cNvPr id="25" name="KPI_投資回収"/>
          <p:cNvGrpSpPr/>
          <p:nvPr/>
        </p:nvGrpSpPr>
        <p:grpSpPr>
          <a:xfrm>
            <a:off x="8096250" y="1714500"/>
            <a:ext cx="3476625" cy="2286000"/>
            <a:chOff x="8096250" y="1714500"/>
            <a:chExt cx="3476625" cy="2286000"/>
          </a:xfrm>
        </p:grpSpPr>
        <p:sp>
          <p:nvSpPr>
            <p:cNvPr id="26" name="投資回収"/>
            <p:cNvSpPr/>
            <p:nvPr/>
          </p:nvSpPr>
          <p:spPr>
            <a:xfrm>
              <a:off x="8096250" y="1714500"/>
              <a:ext cx="3476625" cy="2286000"/>
            </a:xfrm>
            <a:prstGeom prst="roundRect">
              <a:avLst>
                <a:gd name="adj" fmla="val 3333"/>
              </a:avLst>
            </a:prstGeom>
            <a:solidFill>
              <a:schemeClr val="lt2"/>
            </a:solidFill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指標名"/>
            <p:cNvSpPr/>
            <p:nvPr/>
          </p:nvSpPr>
          <p:spPr>
            <a:xfrm>
              <a:off x="8324850" y="1905000"/>
              <a:ext cx="301942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投資回収</a:t>
              </a:r>
            </a:p>
          </p:txBody>
        </p:sp>
        <p:sp>
          <p:nvSpPr>
            <p:cNvPr id="28" name="数値"/>
            <p:cNvSpPr/>
            <p:nvPr/>
          </p:nvSpPr>
          <p:spPr>
            <a:xfrm>
              <a:off x="8324850" y="2247900"/>
              <a:ext cx="3019425" cy="628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4600" b="1">
                  <a:solidFill>
                    <a:schemeClr val="dk2"/>
                  </a:solidFill>
                </a:rPr>
                <a:t>14</a:t>
              </a:r>
            </a:p>
          </p:txBody>
        </p:sp>
        <p:sp>
          <p:nvSpPr>
            <p:cNvPr id="29" name="単位"/>
            <p:cNvSpPr/>
            <p:nvPr/>
          </p:nvSpPr>
          <p:spPr>
            <a:xfrm>
              <a:off x="8324850" y="2952750"/>
              <a:ext cx="3019425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ヶ月</a:t>
              </a:r>
            </a:p>
          </p:txBody>
        </p:sp>
        <p:cxnSp>
          <p:nvCxnSpPr>
            <p:cNvPr id="30" name="Connector 29"/>
            <p:cNvCxnSpPr/>
            <p:nvPr/>
          </p:nvCxnSpPr>
          <p:spPr>
            <a:xfrm>
              <a:off x="8324850" y="3276600"/>
              <a:ext cx="3019425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根拠"/>
            <p:cNvSpPr/>
            <p:nvPr/>
          </p:nvSpPr>
          <p:spPr>
            <a:xfrm>
              <a:off x="8324850" y="3390900"/>
              <a:ext cx="3019425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900">
                  <a:solidFill>
                    <a:schemeClr val="accent5"/>
                  </a:solidFill>
                </a:rPr>
                <a:t>初期800万円＋月40万円に対して</a:t>
              </a:r>
            </a:p>
          </p:txBody>
        </p:sp>
      </p:grpSp>
      <p:grpSp>
        <p:nvGrpSpPr>
          <p:cNvPr id="32" name="回収強調"/>
          <p:cNvGrpSpPr/>
          <p:nvPr/>
        </p:nvGrpSpPr>
        <p:grpSpPr>
          <a:xfrm>
            <a:off x="8324850" y="1409700"/>
            <a:ext cx="1619250" cy="228600"/>
            <a:chOff x="8324850" y="1409700"/>
            <a:chExt cx="1619250" cy="228600"/>
          </a:xfrm>
        </p:grpSpPr>
        <p:sp>
          <p:nvSpPr>
            <p:cNvPr id="33" name="回収チップ"/>
            <p:cNvSpPr/>
            <p:nvPr/>
          </p:nvSpPr>
          <p:spPr>
            <a:xfrm>
              <a:off x="8324850" y="1409700"/>
              <a:ext cx="161925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8324850" y="1419225"/>
              <a:ext cx="1619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決裁者が見る数字</a:t>
              </a:r>
            </a:p>
          </p:txBody>
        </p:sp>
      </p:grpSp>
      <p:grpSp>
        <p:nvGrpSpPr>
          <p:cNvPr id="35" name="前提"/>
          <p:cNvGrpSpPr/>
          <p:nvPr/>
        </p:nvGrpSpPr>
        <p:grpSpPr>
          <a:xfrm>
            <a:off x="609600" y="5334000"/>
            <a:ext cx="10972800" cy="552450"/>
            <a:chOff x="609600" y="5334000"/>
            <a:chExt cx="10972800" cy="552450"/>
          </a:xfrm>
        </p:grpSpPr>
        <p:sp>
          <p:nvSpPr>
            <p:cNvPr id="36" name="引用バー"/>
            <p:cNvSpPr/>
            <p:nvPr/>
          </p:nvSpPr>
          <p:spPr>
            <a:xfrm>
              <a:off x="609600" y="5334000"/>
              <a:ext cx="3810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示唆"/>
            <p:cNvSpPr/>
            <p:nvPr/>
          </p:nvSpPr>
          <p:spPr>
            <a:xfrm>
              <a:off x="781050" y="5353050"/>
              <a:ext cx="108013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前提を保守側に置いても回収は14ヶ月。強気シナリオなら9ヶ月まで縮む（次頁で分解）</a:t>
              </a:r>
            </a:p>
          </p:txBody>
        </p:sp>
        <p:sp>
          <p:nvSpPr>
            <p:cNvPr id="38" name="補足"/>
            <p:cNvSpPr/>
            <p:nvPr/>
          </p:nvSpPr>
          <p:spPr>
            <a:xfrm>
              <a:off x="781050" y="5638800"/>
              <a:ext cx="108013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人件費単価・対象件数などの前提はAppendixに全て開示</a:t>
              </a: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効果・ROI②｜投資対効果ブリッジ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投資1,200万円は、3つの効果で初年度から黒字化する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初年度の投資と効果の内訳（万円）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出所：△△コンサルティング株式会社作成（数値はサンプル）　　注：本資料の数値はすべてサンプルです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09</a:t>
              </a:r>
            </a:p>
          </p:txBody>
        </p:sp>
      </p:grpSp>
      <p:grpSp>
        <p:nvGrpSpPr>
          <p:cNvPr id="11" name="滝_初期＋運用投"/>
          <p:cNvGrpSpPr/>
          <p:nvPr/>
        </p:nvGrpSpPr>
        <p:grpSpPr>
          <a:xfrm>
            <a:off x="800100" y="3914775"/>
            <a:ext cx="2190750" cy="2505075"/>
            <a:chOff x="800100" y="3914775"/>
            <a:chExt cx="2190750" cy="2505075"/>
          </a:xfrm>
        </p:grpSpPr>
        <p:sp>
          <p:nvSpPr>
            <p:cNvPr id="12" name="初期＋運用投資"/>
            <p:cNvSpPr/>
            <p:nvPr/>
          </p:nvSpPr>
          <p:spPr>
            <a:xfrm>
              <a:off x="800100" y="4162425"/>
              <a:ext cx="1619250" cy="1771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初期＋運用投資値"/>
            <p:cNvSpPr/>
            <p:nvPr/>
          </p:nvSpPr>
          <p:spPr>
            <a:xfrm>
              <a:off x="800100" y="3914775"/>
              <a:ext cx="1619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▲1,200</a:t>
              </a:r>
            </a:p>
          </p:txBody>
        </p:sp>
        <p:sp>
          <p:nvSpPr>
            <p:cNvPr id="14" name="初期＋運用投資名"/>
            <p:cNvSpPr/>
            <p:nvPr/>
          </p:nvSpPr>
          <p:spPr>
            <a:xfrm>
              <a:off x="800100" y="6115050"/>
              <a:ext cx="1619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950">
                  <a:solidFill>
                    <a:schemeClr val="accent5"/>
                  </a:solidFill>
                </a:rPr>
                <a:t>初期＋運用投資</a:t>
              </a:r>
            </a:p>
          </p:txBody>
        </p:sp>
        <p:cxnSp>
          <p:nvCxnSpPr>
            <p:cNvPr id="15" name="水位線"/>
            <p:cNvCxnSpPr/>
            <p:nvPr/>
          </p:nvCxnSpPr>
          <p:spPr>
            <a:xfrm>
              <a:off x="2419350" y="5934075"/>
              <a:ext cx="571500" cy="0"/>
            </a:xfrm>
            <a:prstGeom prst="bentConnector3">
              <a:avLst/>
            </a:prstGeom>
            <a:ln w="9525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滝_入力自動化"/>
          <p:cNvGrpSpPr/>
          <p:nvPr/>
        </p:nvGrpSpPr>
        <p:grpSpPr>
          <a:xfrm>
            <a:off x="2990850" y="3619500"/>
            <a:ext cx="2190750" cy="2800350"/>
            <a:chOff x="2990850" y="3619500"/>
            <a:chExt cx="2190750" cy="2800350"/>
          </a:xfrm>
        </p:grpSpPr>
        <p:sp>
          <p:nvSpPr>
            <p:cNvPr id="17" name="入力自動化"/>
            <p:cNvSpPr/>
            <p:nvPr/>
          </p:nvSpPr>
          <p:spPr>
            <a:xfrm>
              <a:off x="2990850" y="3867150"/>
              <a:ext cx="1619250" cy="20669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入力自動化値"/>
            <p:cNvSpPr/>
            <p:nvPr/>
          </p:nvSpPr>
          <p:spPr>
            <a:xfrm>
              <a:off x="2990850" y="3619500"/>
              <a:ext cx="1619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+1,400</a:t>
              </a:r>
            </a:p>
          </p:txBody>
        </p:sp>
        <p:sp>
          <p:nvSpPr>
            <p:cNvPr id="19" name="入力自動化名"/>
            <p:cNvSpPr/>
            <p:nvPr/>
          </p:nvSpPr>
          <p:spPr>
            <a:xfrm>
              <a:off x="2990850" y="6115050"/>
              <a:ext cx="1619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950">
                  <a:solidFill>
                    <a:schemeClr val="accent5"/>
                  </a:solidFill>
                </a:rPr>
                <a:t>入力自動化</a:t>
              </a:r>
            </a:p>
          </p:txBody>
        </p:sp>
        <p:cxnSp>
          <p:nvCxnSpPr>
            <p:cNvPr id="20" name="水位線"/>
            <p:cNvCxnSpPr/>
            <p:nvPr/>
          </p:nvCxnSpPr>
          <p:spPr>
            <a:xfrm>
              <a:off x="4610100" y="3867150"/>
              <a:ext cx="571500" cy="0"/>
            </a:xfrm>
            <a:prstGeom prst="bentConnector3">
              <a:avLst/>
            </a:prstGeom>
            <a:ln w="9525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滝_承認再設計"/>
          <p:cNvGrpSpPr/>
          <p:nvPr/>
        </p:nvGrpSpPr>
        <p:grpSpPr>
          <a:xfrm>
            <a:off x="5181600" y="2438400"/>
            <a:ext cx="2190750" cy="3981450"/>
            <a:chOff x="5181600" y="2438400"/>
            <a:chExt cx="2190750" cy="3981450"/>
          </a:xfrm>
        </p:grpSpPr>
        <p:sp>
          <p:nvSpPr>
            <p:cNvPr id="22" name="承認再設計"/>
            <p:cNvSpPr/>
            <p:nvPr/>
          </p:nvSpPr>
          <p:spPr>
            <a:xfrm>
              <a:off x="5181600" y="2686050"/>
              <a:ext cx="1619250" cy="1181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承認再設計値"/>
            <p:cNvSpPr/>
            <p:nvPr/>
          </p:nvSpPr>
          <p:spPr>
            <a:xfrm>
              <a:off x="5181600" y="2438400"/>
              <a:ext cx="1619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+800</a:t>
              </a:r>
            </a:p>
          </p:txBody>
        </p:sp>
        <p:sp>
          <p:nvSpPr>
            <p:cNvPr id="24" name="承認再設計名"/>
            <p:cNvSpPr/>
            <p:nvPr/>
          </p:nvSpPr>
          <p:spPr>
            <a:xfrm>
              <a:off x="5181600" y="6115050"/>
              <a:ext cx="1619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950">
                  <a:solidFill>
                    <a:schemeClr val="accent5"/>
                  </a:solidFill>
                </a:rPr>
                <a:t>承認再設計</a:t>
              </a:r>
            </a:p>
          </p:txBody>
        </p:sp>
        <p:cxnSp>
          <p:nvCxnSpPr>
            <p:cNvPr id="25" name="水位線"/>
            <p:cNvCxnSpPr/>
            <p:nvPr/>
          </p:nvCxnSpPr>
          <p:spPr>
            <a:xfrm>
              <a:off x="6800850" y="2686050"/>
              <a:ext cx="571500" cy="0"/>
            </a:xfrm>
            <a:prstGeom prst="bentConnector3">
              <a:avLst/>
            </a:prstGeom>
            <a:ln w="9525">
              <a:solidFill>
                <a:schemeClr val="accent6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滝_ミス起因損失"/>
          <p:cNvGrpSpPr/>
          <p:nvPr/>
        </p:nvGrpSpPr>
        <p:grpSpPr>
          <a:xfrm>
            <a:off x="7372350" y="1847850"/>
            <a:ext cx="1619250" cy="4572000"/>
            <a:chOff x="7372350" y="1847850"/>
            <a:chExt cx="1619250" cy="4572000"/>
          </a:xfrm>
        </p:grpSpPr>
        <p:sp>
          <p:nvSpPr>
            <p:cNvPr id="27" name="ミス起因損失の削減"/>
            <p:cNvSpPr/>
            <p:nvPr/>
          </p:nvSpPr>
          <p:spPr>
            <a:xfrm>
              <a:off x="7372350" y="2095500"/>
              <a:ext cx="1619250" cy="590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ミス起因損失の削減値"/>
            <p:cNvSpPr/>
            <p:nvPr/>
          </p:nvSpPr>
          <p:spPr>
            <a:xfrm>
              <a:off x="7372350" y="1847850"/>
              <a:ext cx="1619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+400</a:t>
              </a:r>
            </a:p>
          </p:txBody>
        </p:sp>
        <p:sp>
          <p:nvSpPr>
            <p:cNvPr id="29" name="ミス起因損失の削減名"/>
            <p:cNvSpPr/>
            <p:nvPr/>
          </p:nvSpPr>
          <p:spPr>
            <a:xfrm>
              <a:off x="7372350" y="6115050"/>
              <a:ext cx="1619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950">
                  <a:solidFill>
                    <a:schemeClr val="accent5"/>
                  </a:solidFill>
                </a:rPr>
                <a:t>ミス起因損失の削減</a:t>
              </a:r>
            </a:p>
          </p:txBody>
        </p:sp>
      </p:grpSp>
      <p:grpSp>
        <p:nvGrpSpPr>
          <p:cNvPr id="30" name="滝_初年度 純効"/>
          <p:cNvGrpSpPr/>
          <p:nvPr/>
        </p:nvGrpSpPr>
        <p:grpSpPr>
          <a:xfrm>
            <a:off x="9563100" y="1847850"/>
            <a:ext cx="1619250" cy="4572000"/>
            <a:chOff x="9563100" y="1847850"/>
            <a:chExt cx="1619250" cy="4572000"/>
          </a:xfrm>
        </p:grpSpPr>
        <p:sp>
          <p:nvSpPr>
            <p:cNvPr id="31" name="初年度 純効果"/>
            <p:cNvSpPr/>
            <p:nvPr/>
          </p:nvSpPr>
          <p:spPr>
            <a:xfrm>
              <a:off x="9563100" y="2095500"/>
              <a:ext cx="1619250" cy="206692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初年度 純効果値"/>
            <p:cNvSpPr/>
            <p:nvPr/>
          </p:nvSpPr>
          <p:spPr>
            <a:xfrm>
              <a:off x="9563100" y="1847850"/>
              <a:ext cx="1619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1,400</a:t>
              </a:r>
            </a:p>
          </p:txBody>
        </p:sp>
        <p:sp>
          <p:nvSpPr>
            <p:cNvPr id="33" name="初年度 純効果名"/>
            <p:cNvSpPr/>
            <p:nvPr/>
          </p:nvSpPr>
          <p:spPr>
            <a:xfrm>
              <a:off x="9563100" y="6115050"/>
              <a:ext cx="16192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950">
                  <a:solidFill>
                    <a:schemeClr val="accent5"/>
                  </a:solidFill>
                </a:rPr>
                <a:t>初年度 純効果</a:t>
              </a:r>
            </a:p>
          </p:txBody>
        </p:sp>
      </p:grpSp>
      <p:grpSp>
        <p:nvGrpSpPr>
          <p:cNvPr id="34" name="基準"/>
          <p:cNvGrpSpPr/>
          <p:nvPr/>
        </p:nvGrpSpPr>
        <p:grpSpPr>
          <a:xfrm>
            <a:off x="609600" y="4152900"/>
            <a:ext cx="10972800" cy="19050"/>
            <a:chOff x="609600" y="4152900"/>
            <a:chExt cx="10972800" cy="19050"/>
          </a:xfrm>
        </p:grpSpPr>
        <p:cxnSp>
          <p:nvCxnSpPr>
            <p:cNvPr id="35" name="ゼロ線"/>
            <p:cNvCxnSpPr/>
            <p:nvPr/>
          </p:nvCxnSpPr>
          <p:spPr>
            <a:xfrm>
              <a:off x="609600" y="4162425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伸長ダミー"/>
            <p:cNvSpPr/>
            <p:nvPr/>
          </p:nvSpPr>
          <p:spPr>
            <a:xfrm>
              <a:off x="609600" y="4152900"/>
              <a:ext cx="10972800" cy="19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スケジュール②｜ガント詳細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クリティカルパスはデータ移行。ここだけは遅らせない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導入スケジュール詳細（週次・7月〜9月）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出所：△△コンサルティング株式会社作成（数値はサンプル）　　注：本資料の数値はすべてサンプルです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13</a:t>
              </a:r>
            </a:p>
          </p:txBody>
        </p:sp>
      </p:grpSp>
      <p:grpSp>
        <p:nvGrpSpPr>
          <p:cNvPr id="11" name="ヘッダ帯"/>
          <p:cNvGrpSpPr/>
          <p:nvPr/>
        </p:nvGrpSpPr>
        <p:grpSpPr>
          <a:xfrm>
            <a:off x="2705100" y="1638300"/>
            <a:ext cx="8877300" cy="3314700"/>
            <a:chOff x="2705100" y="1638300"/>
            <a:chExt cx="8877300" cy="3314700"/>
          </a:xfrm>
        </p:grpSpPr>
        <p:sp>
          <p:nvSpPr>
            <p:cNvPr id="12" name="月ヘッダ"/>
            <p:cNvSpPr/>
            <p:nvPr/>
          </p:nvSpPr>
          <p:spPr>
            <a:xfrm>
              <a:off x="2705100" y="1638300"/>
              <a:ext cx="88773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7月"/>
            <p:cNvSpPr/>
            <p:nvPr/>
          </p:nvSpPr>
          <p:spPr>
            <a:xfrm>
              <a:off x="2705100" y="1714500"/>
              <a:ext cx="2952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7月</a:t>
              </a:r>
            </a:p>
          </p:txBody>
        </p:sp>
        <p:sp>
          <p:nvSpPr>
            <p:cNvPr id="14" name="8月"/>
            <p:cNvSpPr/>
            <p:nvPr/>
          </p:nvSpPr>
          <p:spPr>
            <a:xfrm>
              <a:off x="5657850" y="1714500"/>
              <a:ext cx="2952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8月</a:t>
              </a:r>
            </a:p>
          </p:txBody>
        </p:sp>
        <p:cxnSp>
          <p:nvCxnSpPr>
            <p:cNvPr id="15" name="区切8月"/>
            <p:cNvCxnSpPr/>
            <p:nvPr/>
          </p:nvCxnSpPr>
          <p:spPr>
            <a:xfrm>
              <a:off x="5657850" y="1638300"/>
              <a:ext cx="0" cy="3314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9月"/>
            <p:cNvSpPr/>
            <p:nvPr/>
          </p:nvSpPr>
          <p:spPr>
            <a:xfrm>
              <a:off x="8620125" y="1714500"/>
              <a:ext cx="2952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9月</a:t>
              </a:r>
            </a:p>
          </p:txBody>
        </p:sp>
        <p:cxnSp>
          <p:nvCxnSpPr>
            <p:cNvPr id="17" name="区切9月"/>
            <p:cNvCxnSpPr/>
            <p:nvPr/>
          </p:nvCxnSpPr>
          <p:spPr>
            <a:xfrm>
              <a:off x="8620125" y="1638300"/>
              <a:ext cx="0" cy="3314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タスク_キックオフ・"/>
          <p:cNvGrpSpPr/>
          <p:nvPr/>
        </p:nvGrpSpPr>
        <p:grpSpPr>
          <a:xfrm>
            <a:off x="609600" y="2133600"/>
            <a:ext cx="3427094" cy="400050"/>
            <a:chOff x="609600" y="2133600"/>
            <a:chExt cx="3427094" cy="400050"/>
          </a:xfrm>
        </p:grpSpPr>
        <p:sp>
          <p:nvSpPr>
            <p:cNvPr id="19" name="キックオフ・要件整理"/>
            <p:cNvSpPr/>
            <p:nvPr/>
          </p:nvSpPr>
          <p:spPr>
            <a:xfrm>
              <a:off x="609600" y="2209800"/>
              <a:ext cx="1952625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25000"/>
                </a:lnSpc>
              </a:pPr>
              <a:r>
                <a:rPr sz="1000">
                  <a:solidFill>
                    <a:schemeClr val="dk2"/>
                  </a:solidFill>
                </a:rPr>
                <a:t>キックオフ・要件整理</a:t>
              </a:r>
            </a:p>
          </p:txBody>
        </p:sp>
        <p:sp>
          <p:nvSpPr>
            <p:cNvPr id="20" name="キックオフ・要件整理帯"/>
            <p:cNvSpPr/>
            <p:nvPr/>
          </p:nvSpPr>
          <p:spPr>
            <a:xfrm>
              <a:off x="2705100" y="2133600"/>
              <a:ext cx="1331594" cy="323850"/>
            </a:xfrm>
            <a:prstGeom prst="roundRect">
              <a:avLst>
                <a:gd name="adj" fmla="val 17647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タスク_環境構築"/>
          <p:cNvGrpSpPr/>
          <p:nvPr/>
        </p:nvGrpSpPr>
        <p:grpSpPr>
          <a:xfrm>
            <a:off x="609600" y="2705100"/>
            <a:ext cx="4758689" cy="400050"/>
            <a:chOff x="609600" y="2705100"/>
            <a:chExt cx="4758689" cy="400050"/>
          </a:xfrm>
        </p:grpSpPr>
        <p:sp>
          <p:nvSpPr>
            <p:cNvPr id="22" name="環境構築"/>
            <p:cNvSpPr/>
            <p:nvPr/>
          </p:nvSpPr>
          <p:spPr>
            <a:xfrm>
              <a:off x="609600" y="2781300"/>
              <a:ext cx="1952625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25000"/>
                </a:lnSpc>
              </a:pPr>
              <a:r>
                <a:rPr sz="1000">
                  <a:solidFill>
                    <a:schemeClr val="dk2"/>
                  </a:solidFill>
                </a:rPr>
                <a:t>環境構築</a:t>
              </a:r>
            </a:p>
          </p:txBody>
        </p:sp>
        <p:sp>
          <p:nvSpPr>
            <p:cNvPr id="23" name="環境構築帯"/>
            <p:cNvSpPr/>
            <p:nvPr/>
          </p:nvSpPr>
          <p:spPr>
            <a:xfrm>
              <a:off x="3592830" y="2705100"/>
              <a:ext cx="1775459" cy="323850"/>
            </a:xfrm>
            <a:prstGeom prst="roundRect">
              <a:avLst>
                <a:gd name="adj" fmla="val 17647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" name="タスク_データ移行"/>
          <p:cNvGrpSpPr/>
          <p:nvPr/>
        </p:nvGrpSpPr>
        <p:grpSpPr>
          <a:xfrm>
            <a:off x="609600" y="3276600"/>
            <a:ext cx="9212579" cy="400050"/>
            <a:chOff x="609600" y="3276600"/>
            <a:chExt cx="9212579" cy="400050"/>
          </a:xfrm>
        </p:grpSpPr>
        <p:sp>
          <p:nvSpPr>
            <p:cNvPr id="25" name="データ移行"/>
            <p:cNvSpPr/>
            <p:nvPr/>
          </p:nvSpPr>
          <p:spPr>
            <a:xfrm>
              <a:off x="609600" y="3352800"/>
              <a:ext cx="1952625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25000"/>
                </a:lnSpc>
              </a:pPr>
              <a:r>
                <a:rPr sz="1000" b="1">
                  <a:solidFill>
                    <a:schemeClr val="dk2"/>
                  </a:solidFill>
                </a:rPr>
                <a:t>データ移行</a:t>
              </a:r>
            </a:p>
          </p:txBody>
        </p:sp>
        <p:sp>
          <p:nvSpPr>
            <p:cNvPr id="26" name="データ移行帯"/>
            <p:cNvSpPr/>
            <p:nvPr/>
          </p:nvSpPr>
          <p:spPr>
            <a:xfrm>
              <a:off x="4924425" y="3276600"/>
              <a:ext cx="3107055" cy="323850"/>
            </a:xfrm>
            <a:prstGeom prst="roundRect">
              <a:avLst>
                <a:gd name="adj" fmla="val 17647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CPチップ"/>
            <p:cNvSpPr/>
            <p:nvPr/>
          </p:nvSpPr>
          <p:spPr>
            <a:xfrm>
              <a:off x="8145779" y="3324225"/>
              <a:ext cx="167640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145779" y="3333750"/>
              <a:ext cx="16764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クリティカルパス</a:t>
              </a:r>
            </a:p>
          </p:txBody>
        </p:sp>
      </p:grpSp>
      <p:grpSp>
        <p:nvGrpSpPr>
          <p:cNvPr id="29" name="タスク_並行稼働テス"/>
          <p:cNvGrpSpPr/>
          <p:nvPr/>
        </p:nvGrpSpPr>
        <p:grpSpPr>
          <a:xfrm>
            <a:off x="609600" y="3848100"/>
            <a:ext cx="9641204" cy="400050"/>
            <a:chOff x="609600" y="3848100"/>
            <a:chExt cx="9641204" cy="400050"/>
          </a:xfrm>
        </p:grpSpPr>
        <p:sp>
          <p:nvSpPr>
            <p:cNvPr id="30" name="並行稼働テスト"/>
            <p:cNvSpPr/>
            <p:nvPr/>
          </p:nvSpPr>
          <p:spPr>
            <a:xfrm>
              <a:off x="609600" y="3924300"/>
              <a:ext cx="1952625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25000"/>
                </a:lnSpc>
              </a:pPr>
              <a:r>
                <a:rPr sz="1000">
                  <a:solidFill>
                    <a:schemeClr val="dk2"/>
                  </a:solidFill>
                </a:rPr>
                <a:t>並行稼働テスト</a:t>
              </a:r>
            </a:p>
          </p:txBody>
        </p:sp>
        <p:sp>
          <p:nvSpPr>
            <p:cNvPr id="31" name="並行稼働テスト帯"/>
            <p:cNvSpPr/>
            <p:nvPr/>
          </p:nvSpPr>
          <p:spPr>
            <a:xfrm>
              <a:off x="7587615" y="3848100"/>
              <a:ext cx="2663189" cy="323850"/>
            </a:xfrm>
            <a:prstGeom prst="roundRect">
              <a:avLst>
                <a:gd name="adj" fmla="val 17647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" name="タスク_本稼働・継続"/>
          <p:cNvGrpSpPr/>
          <p:nvPr/>
        </p:nvGrpSpPr>
        <p:grpSpPr>
          <a:xfrm>
            <a:off x="609600" y="4419600"/>
            <a:ext cx="10972799" cy="400050"/>
            <a:chOff x="609600" y="4419600"/>
            <a:chExt cx="10972799" cy="400050"/>
          </a:xfrm>
        </p:grpSpPr>
        <p:sp>
          <p:nvSpPr>
            <p:cNvPr id="33" name="本稼働・継続判断"/>
            <p:cNvSpPr/>
            <p:nvPr/>
          </p:nvSpPr>
          <p:spPr>
            <a:xfrm>
              <a:off x="609600" y="4495800"/>
              <a:ext cx="1952625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25000"/>
                </a:lnSpc>
              </a:pPr>
              <a:r>
                <a:rPr sz="1000">
                  <a:solidFill>
                    <a:schemeClr val="dk2"/>
                  </a:solidFill>
                </a:rPr>
                <a:t>本稼働・継続判断</a:t>
              </a:r>
            </a:p>
          </p:txBody>
        </p:sp>
        <p:sp>
          <p:nvSpPr>
            <p:cNvPr id="34" name="本稼働・継続判断帯"/>
            <p:cNvSpPr/>
            <p:nvPr/>
          </p:nvSpPr>
          <p:spPr>
            <a:xfrm>
              <a:off x="9806940" y="4419600"/>
              <a:ext cx="1775459" cy="323850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現在線"/>
          <p:cNvGrpSpPr/>
          <p:nvPr/>
        </p:nvGrpSpPr>
        <p:grpSpPr>
          <a:xfrm>
            <a:off x="4017264" y="1409700"/>
            <a:ext cx="762000" cy="3600450"/>
            <a:chOff x="4017264" y="1409700"/>
            <a:chExt cx="762000" cy="3600450"/>
          </a:xfrm>
        </p:grpSpPr>
        <p:cxnSp>
          <p:nvCxnSpPr>
            <p:cNvPr id="36" name="現在線"/>
            <p:cNvCxnSpPr/>
            <p:nvPr/>
          </p:nvCxnSpPr>
          <p:spPr>
            <a:xfrm>
              <a:off x="4303014" y="1581150"/>
              <a:ext cx="0" cy="3429000"/>
            </a:xfrm>
            <a:prstGeom prst="bentConnector3">
              <a:avLst/>
            </a:prstGeom>
            <a:ln w="11906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現在ラベル"/>
            <p:cNvSpPr/>
            <p:nvPr/>
          </p:nvSpPr>
          <p:spPr>
            <a:xfrm>
              <a:off x="4017264" y="1409700"/>
              <a:ext cx="762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現在</a:t>
              </a:r>
            </a:p>
          </p:txBody>
        </p:sp>
      </p:grpSp>
      <p:grpSp>
        <p:nvGrpSpPr>
          <p:cNvPr id="38" name="示唆"/>
          <p:cNvGrpSpPr/>
          <p:nvPr/>
        </p:nvGrpSpPr>
        <p:grpSpPr>
          <a:xfrm>
            <a:off x="609600" y="5334000"/>
            <a:ext cx="10972800" cy="552450"/>
            <a:chOff x="609600" y="5334000"/>
            <a:chExt cx="10972800" cy="552450"/>
          </a:xfrm>
        </p:grpSpPr>
        <p:sp>
          <p:nvSpPr>
            <p:cNvPr id="39" name="引用バー"/>
            <p:cNvSpPr/>
            <p:nvPr/>
          </p:nvSpPr>
          <p:spPr>
            <a:xfrm>
              <a:off x="609600" y="5334000"/>
              <a:ext cx="3810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示唆"/>
            <p:cNvSpPr/>
            <p:nvPr/>
          </p:nvSpPr>
          <p:spPr>
            <a:xfrm>
              <a:off x="781050" y="5353050"/>
              <a:ext cx="108013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データ移行が1週遅れると本稼働も1週遅れる。ここに両社の主力を貼り付ける</a:t>
              </a:r>
            </a:p>
          </p:txBody>
        </p:sp>
        <p:sp>
          <p:nvSpPr>
            <p:cNvPr id="41" name="補足"/>
            <p:cNvSpPr/>
            <p:nvPr/>
          </p:nvSpPr>
          <p:spPr>
            <a:xfrm>
              <a:off x="781050" y="5638800"/>
              <a:ext cx="108013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遅延の兆候は週次定例で監視し、48時間以内にエスカレーション（p.17）</a:t>
              </a:r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体制②｜役割分担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決めるのは貴社、動かすのは当社。役割は表で明確に分ける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主要タスクの役割分担（R=実行 A=承認 C=相談）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出所：△△コンサルティング株式会社作成（数値はサンプル）　　注：本資料の数値はすべてサンプルです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16</a:t>
              </a:r>
            </a:p>
          </p:txBody>
        </p:sp>
      </p:grpSp>
      <p:grpSp>
        <p:nvGrpSpPr>
          <p:cNvPr id="11" name="RACI表"/>
          <p:cNvGrpSpPr/>
          <p:nvPr/>
        </p:nvGrpSpPr>
        <p:grpSpPr>
          <a:xfrm>
            <a:off x="609600" y="1676400"/>
            <a:ext cx="10972800" cy="247650"/>
            <a:chOff x="609600" y="1676400"/>
            <a:chExt cx="10972800" cy="247650"/>
          </a:xfrm>
        </p:grpSpPr>
        <p:sp>
          <p:nvSpPr>
            <p:cNvPr id="12" name="見出しタスク"/>
            <p:cNvSpPr/>
            <p:nvPr/>
          </p:nvSpPr>
          <p:spPr>
            <a:xfrm>
              <a:off x="609600" y="1676400"/>
              <a:ext cx="5143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タスク</a:t>
              </a:r>
            </a:p>
          </p:txBody>
        </p:sp>
        <p:sp>
          <p:nvSpPr>
            <p:cNvPr id="13" name="見出し貴社"/>
            <p:cNvSpPr/>
            <p:nvPr/>
          </p:nvSpPr>
          <p:spPr>
            <a:xfrm>
              <a:off x="5943600" y="1676400"/>
              <a:ext cx="2095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貴社</a:t>
              </a:r>
            </a:p>
          </p:txBody>
        </p:sp>
        <p:sp>
          <p:nvSpPr>
            <p:cNvPr id="14" name="見出し当社"/>
            <p:cNvSpPr/>
            <p:nvPr/>
          </p:nvSpPr>
          <p:spPr>
            <a:xfrm>
              <a:off x="8229600" y="1676400"/>
              <a:ext cx="2095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当社</a:t>
              </a:r>
            </a:p>
          </p:txBody>
        </p:sp>
        <p:cxnSp>
          <p:nvCxnSpPr>
            <p:cNvPr id="15" name="頭罫"/>
            <p:cNvCxnSpPr/>
            <p:nvPr/>
          </p:nvCxnSpPr>
          <p:spPr>
            <a:xfrm>
              <a:off x="609600" y="1924050"/>
              <a:ext cx="10972800" cy="0"/>
            </a:xfrm>
            <a:prstGeom prst="bentConnector3">
              <a:avLst/>
            </a:prstGeom>
            <a:ln w="14287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行_対象業務の選"/>
          <p:cNvGrpSpPr/>
          <p:nvPr/>
        </p:nvGrpSpPr>
        <p:grpSpPr>
          <a:xfrm>
            <a:off x="609600" y="2095500"/>
            <a:ext cx="10972800" cy="342900"/>
            <a:chOff x="609600" y="2095500"/>
            <a:chExt cx="10972800" cy="342900"/>
          </a:xfrm>
        </p:grpSpPr>
        <p:sp>
          <p:nvSpPr>
            <p:cNvPr id="17" name="対象業務の選定・優先"/>
            <p:cNvSpPr/>
            <p:nvPr/>
          </p:nvSpPr>
          <p:spPr>
            <a:xfrm>
              <a:off x="609600" y="2152650"/>
              <a:ext cx="5143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対象業務の選定・優先順位</a:t>
              </a:r>
            </a:p>
          </p:txBody>
        </p:sp>
        <p:sp>
          <p:nvSpPr>
            <p:cNvPr id="18" name="A"/>
            <p:cNvSpPr/>
            <p:nvPr/>
          </p:nvSpPr>
          <p:spPr>
            <a:xfrm>
              <a:off x="6867525" y="2095500"/>
              <a:ext cx="247650" cy="24765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67525" y="210502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A</a:t>
              </a:r>
            </a:p>
          </p:txBody>
        </p:sp>
        <p:sp>
          <p:nvSpPr>
            <p:cNvPr id="20" name="C"/>
            <p:cNvSpPr/>
            <p:nvPr/>
          </p:nvSpPr>
          <p:spPr>
            <a:xfrm>
              <a:off x="9153525" y="2095500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9153525" y="210502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C</a:t>
              </a:r>
            </a:p>
          </p:txBody>
        </p:sp>
        <p:cxnSp>
          <p:nvCxnSpPr>
            <p:cNvPr id="22" name="罫線"/>
            <p:cNvCxnSpPr/>
            <p:nvPr/>
          </p:nvCxnSpPr>
          <p:spPr>
            <a:xfrm>
              <a:off x="609600" y="24384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行_システム設計"/>
          <p:cNvGrpSpPr/>
          <p:nvPr/>
        </p:nvGrpSpPr>
        <p:grpSpPr>
          <a:xfrm>
            <a:off x="609600" y="2571750"/>
            <a:ext cx="10972800" cy="342900"/>
            <a:chOff x="609600" y="2571750"/>
            <a:chExt cx="10972800" cy="342900"/>
          </a:xfrm>
        </p:grpSpPr>
        <p:sp>
          <p:nvSpPr>
            <p:cNvPr id="24" name="システム設計・構築"/>
            <p:cNvSpPr/>
            <p:nvPr/>
          </p:nvSpPr>
          <p:spPr>
            <a:xfrm>
              <a:off x="609600" y="2628900"/>
              <a:ext cx="5143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システム設計・構築</a:t>
              </a:r>
            </a:p>
          </p:txBody>
        </p:sp>
        <p:sp>
          <p:nvSpPr>
            <p:cNvPr id="25" name="C"/>
            <p:cNvSpPr/>
            <p:nvPr/>
          </p:nvSpPr>
          <p:spPr>
            <a:xfrm>
              <a:off x="6867525" y="2571750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867525" y="25812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C</a:t>
              </a:r>
            </a:p>
          </p:txBody>
        </p:sp>
        <p:sp>
          <p:nvSpPr>
            <p:cNvPr id="27" name="R"/>
            <p:cNvSpPr/>
            <p:nvPr/>
          </p:nvSpPr>
          <p:spPr>
            <a:xfrm>
              <a:off x="9153525" y="2571750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153525" y="25812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R</a:t>
              </a:r>
            </a:p>
          </p:txBody>
        </p:sp>
        <p:cxnSp>
          <p:nvCxnSpPr>
            <p:cNvPr id="29" name="罫線"/>
            <p:cNvCxnSpPr/>
            <p:nvPr/>
          </p:nvCxnSpPr>
          <p:spPr>
            <a:xfrm>
              <a:off x="609600" y="29146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行_業務ルールの"/>
          <p:cNvGrpSpPr/>
          <p:nvPr/>
        </p:nvGrpSpPr>
        <p:grpSpPr>
          <a:xfrm>
            <a:off x="609600" y="3048000"/>
            <a:ext cx="10972800" cy="342900"/>
            <a:chOff x="609600" y="3048000"/>
            <a:chExt cx="10972800" cy="342900"/>
          </a:xfrm>
        </p:grpSpPr>
        <p:sp>
          <p:nvSpPr>
            <p:cNvPr id="31" name="業務ルールの改定"/>
            <p:cNvSpPr/>
            <p:nvPr/>
          </p:nvSpPr>
          <p:spPr>
            <a:xfrm>
              <a:off x="609600" y="3105150"/>
              <a:ext cx="5143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業務ルールの改定</a:t>
              </a:r>
            </a:p>
          </p:txBody>
        </p:sp>
        <p:sp>
          <p:nvSpPr>
            <p:cNvPr id="32" name="A"/>
            <p:cNvSpPr/>
            <p:nvPr/>
          </p:nvSpPr>
          <p:spPr>
            <a:xfrm>
              <a:off x="6867525" y="3048000"/>
              <a:ext cx="247650" cy="24765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867525" y="305752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A</a:t>
              </a:r>
            </a:p>
          </p:txBody>
        </p:sp>
        <p:sp>
          <p:nvSpPr>
            <p:cNvPr id="34" name="C"/>
            <p:cNvSpPr/>
            <p:nvPr/>
          </p:nvSpPr>
          <p:spPr>
            <a:xfrm>
              <a:off x="9153525" y="3048000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153525" y="305752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C</a:t>
              </a:r>
            </a:p>
          </p:txBody>
        </p:sp>
        <p:cxnSp>
          <p:nvCxnSpPr>
            <p:cNvPr id="36" name="罫線"/>
            <p:cNvCxnSpPr/>
            <p:nvPr/>
          </p:nvCxnSpPr>
          <p:spPr>
            <a:xfrm>
              <a:off x="609600" y="33909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行_現場への展開"/>
          <p:cNvGrpSpPr/>
          <p:nvPr/>
        </p:nvGrpSpPr>
        <p:grpSpPr>
          <a:xfrm>
            <a:off x="609600" y="3524250"/>
            <a:ext cx="10972800" cy="342900"/>
            <a:chOff x="609600" y="3524250"/>
            <a:chExt cx="10972800" cy="342900"/>
          </a:xfrm>
        </p:grpSpPr>
        <p:sp>
          <p:nvSpPr>
            <p:cNvPr id="38" name="現場への展開・教育"/>
            <p:cNvSpPr/>
            <p:nvPr/>
          </p:nvSpPr>
          <p:spPr>
            <a:xfrm>
              <a:off x="609600" y="3581400"/>
              <a:ext cx="5143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現場への展開・教育</a:t>
              </a:r>
            </a:p>
          </p:txBody>
        </p:sp>
        <p:sp>
          <p:nvSpPr>
            <p:cNvPr id="39" name="R"/>
            <p:cNvSpPr/>
            <p:nvPr/>
          </p:nvSpPr>
          <p:spPr>
            <a:xfrm>
              <a:off x="6867525" y="3524250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867525" y="35337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R</a:t>
              </a:r>
            </a:p>
          </p:txBody>
        </p:sp>
        <p:sp>
          <p:nvSpPr>
            <p:cNvPr id="41" name="R"/>
            <p:cNvSpPr/>
            <p:nvPr/>
          </p:nvSpPr>
          <p:spPr>
            <a:xfrm>
              <a:off x="9153525" y="3524250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9153525" y="35337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R</a:t>
              </a:r>
            </a:p>
          </p:txBody>
        </p:sp>
        <p:cxnSp>
          <p:nvCxnSpPr>
            <p:cNvPr id="43" name="罫線"/>
            <p:cNvCxnSpPr/>
            <p:nvPr/>
          </p:nvCxnSpPr>
          <p:spPr>
            <a:xfrm>
              <a:off x="609600" y="38671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行_効果測定・レ"/>
          <p:cNvGrpSpPr/>
          <p:nvPr/>
        </p:nvGrpSpPr>
        <p:grpSpPr>
          <a:xfrm>
            <a:off x="609600" y="4000500"/>
            <a:ext cx="10972800" cy="342900"/>
            <a:chOff x="609600" y="4000500"/>
            <a:chExt cx="10972800" cy="342900"/>
          </a:xfrm>
        </p:grpSpPr>
        <p:sp>
          <p:nvSpPr>
            <p:cNvPr id="45" name="効果測定・レポート"/>
            <p:cNvSpPr/>
            <p:nvPr/>
          </p:nvSpPr>
          <p:spPr>
            <a:xfrm>
              <a:off x="609600" y="4057650"/>
              <a:ext cx="5143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効果測定・レポート</a:t>
              </a:r>
            </a:p>
          </p:txBody>
        </p:sp>
        <p:sp>
          <p:nvSpPr>
            <p:cNvPr id="46" name="C"/>
            <p:cNvSpPr/>
            <p:nvPr/>
          </p:nvSpPr>
          <p:spPr>
            <a:xfrm>
              <a:off x="6867525" y="4000500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867525" y="401002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C</a:t>
              </a:r>
            </a:p>
          </p:txBody>
        </p:sp>
        <p:sp>
          <p:nvSpPr>
            <p:cNvPr id="48" name="R"/>
            <p:cNvSpPr/>
            <p:nvPr/>
          </p:nvSpPr>
          <p:spPr>
            <a:xfrm>
              <a:off x="9153525" y="4000500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9153525" y="401002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R</a:t>
              </a:r>
            </a:p>
          </p:txBody>
        </p:sp>
        <p:cxnSp>
          <p:nvCxnSpPr>
            <p:cNvPr id="50" name="罫線"/>
            <p:cNvCxnSpPr/>
            <p:nvPr/>
          </p:nvCxnSpPr>
          <p:spPr>
            <a:xfrm>
              <a:off x="609600" y="434340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行_継続・展開の"/>
          <p:cNvGrpSpPr/>
          <p:nvPr/>
        </p:nvGrpSpPr>
        <p:grpSpPr>
          <a:xfrm>
            <a:off x="609600" y="4476750"/>
            <a:ext cx="10972800" cy="342900"/>
            <a:chOff x="609600" y="4476750"/>
            <a:chExt cx="10972800" cy="342900"/>
          </a:xfrm>
        </p:grpSpPr>
        <p:sp>
          <p:nvSpPr>
            <p:cNvPr id="52" name="継続・展開の最終判断"/>
            <p:cNvSpPr/>
            <p:nvPr/>
          </p:nvSpPr>
          <p:spPr>
            <a:xfrm>
              <a:off x="609600" y="4533900"/>
              <a:ext cx="5143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継続・展開の最終判断</a:t>
              </a:r>
            </a:p>
          </p:txBody>
        </p:sp>
        <p:sp>
          <p:nvSpPr>
            <p:cNvPr id="53" name="A"/>
            <p:cNvSpPr/>
            <p:nvPr/>
          </p:nvSpPr>
          <p:spPr>
            <a:xfrm>
              <a:off x="6867525" y="4476750"/>
              <a:ext cx="247650" cy="24765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867525" y="44862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lt1"/>
                  </a:solidFill>
                </a:rPr>
                <a:t>A</a:t>
              </a:r>
            </a:p>
          </p:txBody>
        </p:sp>
        <p:sp>
          <p:nvSpPr>
            <p:cNvPr id="55" name="C"/>
            <p:cNvSpPr/>
            <p:nvPr/>
          </p:nvSpPr>
          <p:spPr>
            <a:xfrm>
              <a:off x="9153525" y="4476750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9153525" y="4486275"/>
              <a:ext cx="2476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C</a:t>
              </a:r>
            </a:p>
          </p:txBody>
        </p:sp>
        <p:cxnSp>
          <p:nvCxnSpPr>
            <p:cNvPr id="57" name="罫線"/>
            <p:cNvCxnSpPr/>
            <p:nvPr/>
          </p:nvCxnSpPr>
          <p:spPr>
            <a:xfrm>
              <a:off x="609600" y="48196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凡例"/>
          <p:cNvGrpSpPr/>
          <p:nvPr/>
        </p:nvGrpSpPr>
        <p:grpSpPr>
          <a:xfrm>
            <a:off x="609600" y="5067300"/>
            <a:ext cx="10972800" cy="171450"/>
            <a:chOff x="609600" y="5067300"/>
            <a:chExt cx="10972800" cy="171450"/>
          </a:xfrm>
        </p:grpSpPr>
        <p:sp>
          <p:nvSpPr>
            <p:cNvPr id="59" name="凡例"/>
            <p:cNvSpPr/>
            <p:nvPr/>
          </p:nvSpPr>
          <p:spPr>
            <a:xfrm>
              <a:off x="609600" y="5067300"/>
              <a:ext cx="10972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A（Accountable）＝最終承認　R（Responsible）＝実行責任　C（Consulted）＝相談・支援</a:t>
              </a:r>
            </a:p>
          </p:txBody>
        </p:sp>
      </p:grpSp>
      <p:grpSp>
        <p:nvGrpSpPr>
          <p:cNvPr id="60" name="示唆"/>
          <p:cNvGrpSpPr/>
          <p:nvPr/>
        </p:nvGrpSpPr>
        <p:grpSpPr>
          <a:xfrm>
            <a:off x="609600" y="5600700"/>
            <a:ext cx="10972800" cy="323850"/>
            <a:chOff x="609600" y="5600700"/>
            <a:chExt cx="10972800" cy="323850"/>
          </a:xfrm>
        </p:grpSpPr>
        <p:sp>
          <p:nvSpPr>
            <p:cNvPr id="61" name="引用バー"/>
            <p:cNvSpPr/>
            <p:nvPr/>
          </p:nvSpPr>
          <p:spPr>
            <a:xfrm>
              <a:off x="609600" y="5600700"/>
              <a:ext cx="381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示唆"/>
            <p:cNvSpPr/>
            <p:nvPr/>
          </p:nvSpPr>
          <p:spPr>
            <a:xfrm>
              <a:off x="781050" y="5619750"/>
              <a:ext cx="108013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判断の場面で「これは誰が決める話か」に迷わない——揉めるプロジェクトはここが曖昧なまま走っている</a:t>
              </a: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費用①｜費用内訳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費用は初期800万円＋月40万円。内訳はすべて開示する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費用の内訳（税別）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出所：△△コンサルティング株式会社作成（数値はサンプル）　　注：本資料の数値はすべてサンプルです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18</a:t>
              </a:r>
            </a:p>
          </p:txBody>
        </p:sp>
      </p:grpSp>
      <p:grpSp>
        <p:nvGrpSpPr>
          <p:cNvPr id="11" name="初期表"/>
          <p:cNvGrpSpPr/>
          <p:nvPr/>
        </p:nvGrpSpPr>
        <p:grpSpPr>
          <a:xfrm>
            <a:off x="609600" y="1638300"/>
            <a:ext cx="6096000" cy="2647950"/>
            <a:chOff x="609600" y="1638300"/>
            <a:chExt cx="6096000" cy="2647950"/>
          </a:xfrm>
        </p:grpSpPr>
        <p:sp>
          <p:nvSpPr>
            <p:cNvPr id="12" name="初期見出し"/>
            <p:cNvSpPr/>
            <p:nvPr/>
          </p:nvSpPr>
          <p:spPr>
            <a:xfrm>
              <a:off x="609600" y="1638300"/>
              <a:ext cx="6096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1"/>
                  </a:solidFill>
                </a:rPr>
                <a:t>初期費用（一式）</a:t>
              </a:r>
            </a:p>
          </p:txBody>
        </p:sp>
        <p:sp>
          <p:nvSpPr>
            <p:cNvPr id="13" name="要件整理・設計"/>
            <p:cNvSpPr/>
            <p:nvPr/>
          </p:nvSpPr>
          <p:spPr>
            <a:xfrm>
              <a:off x="609600" y="2019300"/>
              <a:ext cx="285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要件整理・設計</a:t>
              </a:r>
            </a:p>
          </p:txBody>
        </p:sp>
        <p:sp>
          <p:nvSpPr>
            <p:cNvPr id="14" name="要件整理・設計額"/>
            <p:cNvSpPr/>
            <p:nvPr/>
          </p:nvSpPr>
          <p:spPr>
            <a:xfrm>
              <a:off x="3467100" y="2019300"/>
              <a:ext cx="1238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180万円</a:t>
              </a:r>
            </a:p>
          </p:txBody>
        </p:sp>
        <p:sp>
          <p:nvSpPr>
            <p:cNvPr id="15" name="要件整理・設計説明"/>
            <p:cNvSpPr/>
            <p:nvPr/>
          </p:nvSpPr>
          <p:spPr>
            <a:xfrm>
              <a:off x="4914900" y="2038350"/>
              <a:ext cx="1790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対象業務の棚卸しとフロー設計</a:t>
              </a:r>
            </a:p>
          </p:txBody>
        </p:sp>
        <p:cxnSp>
          <p:nvCxnSpPr>
            <p:cNvPr id="16" name="罫"/>
            <p:cNvCxnSpPr/>
            <p:nvPr/>
          </p:nvCxnSpPr>
          <p:spPr>
            <a:xfrm>
              <a:off x="609600" y="2305050"/>
              <a:ext cx="6096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構築・環境設定"/>
            <p:cNvSpPr/>
            <p:nvPr/>
          </p:nvSpPr>
          <p:spPr>
            <a:xfrm>
              <a:off x="609600" y="2476500"/>
              <a:ext cx="285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構築・環境設定</a:t>
              </a:r>
            </a:p>
          </p:txBody>
        </p:sp>
        <p:sp>
          <p:nvSpPr>
            <p:cNvPr id="18" name="構築・環境設定額"/>
            <p:cNvSpPr/>
            <p:nvPr/>
          </p:nvSpPr>
          <p:spPr>
            <a:xfrm>
              <a:off x="3467100" y="2476500"/>
              <a:ext cx="1238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420万円</a:t>
              </a:r>
            </a:p>
          </p:txBody>
        </p:sp>
        <p:sp>
          <p:nvSpPr>
            <p:cNvPr id="19" name="構築・環境設定説明"/>
            <p:cNvSpPr/>
            <p:nvPr/>
          </p:nvSpPr>
          <p:spPr>
            <a:xfrm>
              <a:off x="4914900" y="2495550"/>
              <a:ext cx="1790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自動化シナリオ開発・テスト込み</a:t>
              </a:r>
            </a:p>
          </p:txBody>
        </p:sp>
        <p:cxnSp>
          <p:nvCxnSpPr>
            <p:cNvPr id="20" name="罫"/>
            <p:cNvCxnSpPr/>
            <p:nvPr/>
          </p:nvCxnSpPr>
          <p:spPr>
            <a:xfrm>
              <a:off x="609600" y="2762250"/>
              <a:ext cx="6096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データ移行"/>
            <p:cNvSpPr/>
            <p:nvPr/>
          </p:nvSpPr>
          <p:spPr>
            <a:xfrm>
              <a:off x="609600" y="2933700"/>
              <a:ext cx="285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データ移行</a:t>
              </a:r>
            </a:p>
          </p:txBody>
        </p:sp>
        <p:sp>
          <p:nvSpPr>
            <p:cNvPr id="22" name="データ移行額"/>
            <p:cNvSpPr/>
            <p:nvPr/>
          </p:nvSpPr>
          <p:spPr>
            <a:xfrm>
              <a:off x="3467100" y="2933700"/>
              <a:ext cx="1238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120万円</a:t>
              </a:r>
            </a:p>
          </p:txBody>
        </p:sp>
        <p:sp>
          <p:nvSpPr>
            <p:cNvPr id="23" name="データ移行説明"/>
            <p:cNvSpPr/>
            <p:nvPr/>
          </p:nvSpPr>
          <p:spPr>
            <a:xfrm>
              <a:off x="4914900" y="2952750"/>
              <a:ext cx="1790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過去データの整備と移行検証</a:t>
              </a:r>
            </a:p>
          </p:txBody>
        </p:sp>
        <p:cxnSp>
          <p:nvCxnSpPr>
            <p:cNvPr id="24" name="罫"/>
            <p:cNvCxnSpPr/>
            <p:nvPr/>
          </p:nvCxnSpPr>
          <p:spPr>
            <a:xfrm>
              <a:off x="609600" y="3219450"/>
              <a:ext cx="6096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教育・立ち上げ支援"/>
            <p:cNvSpPr/>
            <p:nvPr/>
          </p:nvSpPr>
          <p:spPr>
            <a:xfrm>
              <a:off x="609600" y="3390900"/>
              <a:ext cx="2857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教育・立ち上げ支援</a:t>
              </a:r>
            </a:p>
          </p:txBody>
        </p:sp>
        <p:sp>
          <p:nvSpPr>
            <p:cNvPr id="26" name="教育・立ち上げ支援額"/>
            <p:cNvSpPr/>
            <p:nvPr/>
          </p:nvSpPr>
          <p:spPr>
            <a:xfrm>
              <a:off x="3467100" y="3390900"/>
              <a:ext cx="1238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80万円</a:t>
              </a:r>
            </a:p>
          </p:txBody>
        </p:sp>
        <p:sp>
          <p:nvSpPr>
            <p:cNvPr id="27" name="教育・立ち上げ支援説明"/>
            <p:cNvSpPr/>
            <p:nvPr/>
          </p:nvSpPr>
          <p:spPr>
            <a:xfrm>
              <a:off x="4914900" y="3409950"/>
              <a:ext cx="1790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現場研修・マニュアル整備</a:t>
              </a:r>
            </a:p>
          </p:txBody>
        </p:sp>
        <p:cxnSp>
          <p:nvCxnSpPr>
            <p:cNvPr id="28" name="罫"/>
            <p:cNvCxnSpPr/>
            <p:nvPr/>
          </p:nvCxnSpPr>
          <p:spPr>
            <a:xfrm>
              <a:off x="609600" y="3676650"/>
              <a:ext cx="6096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初期合計"/>
            <p:cNvSpPr/>
            <p:nvPr/>
          </p:nvSpPr>
          <p:spPr>
            <a:xfrm>
              <a:off x="609600" y="3848100"/>
              <a:ext cx="6096000" cy="438150"/>
            </a:xfrm>
            <a:prstGeom prst="roundRect">
              <a:avLst>
                <a:gd name="adj" fmla="val 13043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初期合計名"/>
            <p:cNvSpPr/>
            <p:nvPr/>
          </p:nvSpPr>
          <p:spPr>
            <a:xfrm>
              <a:off x="781050" y="3962400"/>
              <a:ext cx="1905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初期合計</a:t>
              </a:r>
            </a:p>
          </p:txBody>
        </p:sp>
        <p:sp>
          <p:nvSpPr>
            <p:cNvPr id="31" name="初期合計額"/>
            <p:cNvSpPr/>
            <p:nvPr/>
          </p:nvSpPr>
          <p:spPr>
            <a:xfrm>
              <a:off x="3467100" y="3962400"/>
              <a:ext cx="1238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800万円</a:t>
              </a:r>
            </a:p>
          </p:txBody>
        </p:sp>
      </p:grpSp>
      <p:grpSp>
        <p:nvGrpSpPr>
          <p:cNvPr id="32" name="月額カード"/>
          <p:cNvGrpSpPr/>
          <p:nvPr/>
        </p:nvGrpSpPr>
        <p:grpSpPr>
          <a:xfrm>
            <a:off x="7162800" y="1638300"/>
            <a:ext cx="4419600" cy="2381250"/>
            <a:chOff x="7162800" y="1638300"/>
            <a:chExt cx="4419600" cy="2381250"/>
          </a:xfrm>
        </p:grpSpPr>
        <p:sp>
          <p:nvSpPr>
            <p:cNvPr id="33" name="月額"/>
            <p:cNvSpPr/>
            <p:nvPr/>
          </p:nvSpPr>
          <p:spPr>
            <a:xfrm>
              <a:off x="7162800" y="1638300"/>
              <a:ext cx="4419600" cy="2381250"/>
            </a:xfrm>
            <a:prstGeom prst="roundRect">
              <a:avLst>
                <a:gd name="adj" fmla="val 3200"/>
              </a:avLst>
            </a:prstGeom>
            <a:solidFill>
              <a:schemeClr val="lt2"/>
            </a:solidFill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月額見出し"/>
            <p:cNvSpPr/>
            <p:nvPr/>
          </p:nvSpPr>
          <p:spPr>
            <a:xfrm>
              <a:off x="7391400" y="1828800"/>
              <a:ext cx="39624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1"/>
                  </a:solidFill>
                </a:rPr>
                <a:t>月額費用</a:t>
              </a:r>
            </a:p>
          </p:txBody>
        </p:sp>
        <p:sp>
          <p:nvSpPr>
            <p:cNvPr id="35" name="月額額"/>
            <p:cNvSpPr/>
            <p:nvPr/>
          </p:nvSpPr>
          <p:spPr>
            <a:xfrm>
              <a:off x="7391400" y="2133600"/>
              <a:ext cx="39624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3400" b="1">
                  <a:solidFill>
                    <a:schemeClr val="dk2"/>
                  </a:solidFill>
                </a:rPr>
                <a:t>40万円</a:t>
              </a:r>
            </a:p>
          </p:txBody>
        </p:sp>
        <p:sp>
          <p:nvSpPr>
            <p:cNvPr id="36" name="ライセンス・"/>
            <p:cNvSpPr/>
            <p:nvPr/>
          </p:nvSpPr>
          <p:spPr>
            <a:xfrm>
              <a:off x="7391400" y="2819400"/>
              <a:ext cx="39624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・ライセンス・保守</a:t>
              </a:r>
            </a:p>
          </p:txBody>
        </p:sp>
        <p:sp>
          <p:nvSpPr>
            <p:cNvPr id="37" name="週次定例と改"/>
            <p:cNvSpPr/>
            <p:nvPr/>
          </p:nvSpPr>
          <p:spPr>
            <a:xfrm>
              <a:off x="7391400" y="3105150"/>
              <a:ext cx="39624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・週次定例と改善対応</a:t>
              </a:r>
            </a:p>
          </p:txBody>
        </p:sp>
        <p:sp>
          <p:nvSpPr>
            <p:cNvPr id="38" name="効果レポート"/>
            <p:cNvSpPr/>
            <p:nvPr/>
          </p:nvSpPr>
          <p:spPr>
            <a:xfrm>
              <a:off x="7391400" y="3390900"/>
              <a:ext cx="39624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dk1"/>
                  </a:solidFill>
                </a:rPr>
                <a:t>・効果レポート（月次）</a:t>
              </a:r>
            </a:p>
          </p:txBody>
        </p:sp>
      </p:grpSp>
      <p:grpSp>
        <p:nvGrpSpPr>
          <p:cNvPr id="39" name="含まない"/>
          <p:cNvGrpSpPr/>
          <p:nvPr/>
        </p:nvGrpSpPr>
        <p:grpSpPr>
          <a:xfrm>
            <a:off x="7162800" y="4210050"/>
            <a:ext cx="4419600" cy="914400"/>
            <a:chOff x="7162800" y="4210050"/>
            <a:chExt cx="4419600" cy="914400"/>
          </a:xfrm>
        </p:grpSpPr>
        <p:sp>
          <p:nvSpPr>
            <p:cNvPr id="40" name="含まれない枠"/>
            <p:cNvSpPr/>
            <p:nvPr/>
          </p:nvSpPr>
          <p:spPr>
            <a:xfrm>
              <a:off x="7162800" y="4210050"/>
              <a:ext cx="4419600" cy="914400"/>
            </a:xfrm>
            <a:prstGeom prst="roundRect">
              <a:avLst>
                <a:gd name="adj" fmla="val 8333"/>
              </a:avLst>
            </a:prstGeom>
            <a:noFill/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含まない見出し"/>
            <p:cNvSpPr/>
            <p:nvPr/>
          </p:nvSpPr>
          <p:spPr>
            <a:xfrm>
              <a:off x="7353300" y="4324350"/>
              <a:ext cx="4038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含まれないもの（正直に）</a:t>
              </a:r>
            </a:p>
          </p:txBody>
        </p:sp>
        <p:sp>
          <p:nvSpPr>
            <p:cNvPr id="42" name="含まない内容"/>
            <p:cNvSpPr/>
            <p:nvPr/>
          </p:nvSpPr>
          <p:spPr>
            <a:xfrm>
              <a:off x="7353300" y="4552950"/>
              <a:ext cx="40386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dk1"/>
                  </a:solidFill>
                </a:rPr>
                <a:t>既存システム側の改修費／対象業務の追加（都度見積り）</a:t>
              </a:r>
            </a:p>
          </p:txBody>
        </p:sp>
      </p:grpSp>
      <p:grpSp>
        <p:nvGrpSpPr>
          <p:cNvPr id="43" name="強調"/>
          <p:cNvGrpSpPr/>
          <p:nvPr/>
        </p:nvGrpSpPr>
        <p:grpSpPr>
          <a:xfrm>
            <a:off x="5086350" y="1333500"/>
            <a:ext cx="1619250" cy="228600"/>
            <a:chOff x="5086350" y="1333500"/>
            <a:chExt cx="1619250" cy="228600"/>
          </a:xfrm>
        </p:grpSpPr>
        <p:sp>
          <p:nvSpPr>
            <p:cNvPr id="44" name="開示チップ"/>
            <p:cNvSpPr/>
            <p:nvPr/>
          </p:nvSpPr>
          <p:spPr>
            <a:xfrm>
              <a:off x="5086350" y="1333500"/>
              <a:ext cx="161925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086350" y="1343025"/>
              <a:ext cx="161925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lt1"/>
                  </a:solidFill>
                </a:rPr>
                <a:t>追加費用なしの範囲明示</a:t>
              </a:r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悩み共感｜EMPATHY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立場がちがっても、悩みの根はひとつしかない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立場別に聞かれる典型的な声（例）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注：発言は複数企業へのヒアリングを要約した架空の例です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出所：導入検討企業ヒアリング（2026年・架空サンプル）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2</a:t>
            </a:r>
          </a:p>
        </p:txBody>
      </p:sp>
      <p:grpSp>
        <p:nvGrpSpPr>
          <p:cNvPr id="10" name="声01_時間"/>
          <p:cNvGrpSpPr/>
          <p:nvPr/>
        </p:nvGrpSpPr>
        <p:grpSpPr>
          <a:xfrm>
            <a:off x="571500" y="1352550"/>
            <a:ext cx="3429000" cy="2724150"/>
            <a:chOff x="571500" y="1352550"/>
            <a:chExt cx="3429000" cy="2724150"/>
          </a:xfrm>
        </p:grpSpPr>
        <p:sp>
          <p:nvSpPr>
            <p:cNvPr id="11" name="分類タグ"/>
            <p:cNvSpPr/>
            <p:nvPr/>
          </p:nvSpPr>
          <p:spPr>
            <a:xfrm>
              <a:off x="571500" y="1352550"/>
              <a:ext cx="800100" cy="228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分類タグ文字"/>
            <p:cNvSpPr/>
            <p:nvPr/>
          </p:nvSpPr>
          <p:spPr>
            <a:xfrm>
              <a:off x="571500" y="1362075"/>
              <a:ext cx="8001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時間</a:t>
              </a:r>
            </a:p>
          </p:txBody>
        </p:sp>
        <p:sp>
          <p:nvSpPr>
            <p:cNvPr id="13" name="声の吹き出し"/>
            <p:cNvSpPr/>
            <p:nvPr/>
          </p:nvSpPr>
          <p:spPr>
            <a:xfrm>
              <a:off x="571500" y="1733550"/>
              <a:ext cx="3429000" cy="1771650"/>
            </a:xfrm>
            <a:custGeom>
              <a:avLst/>
              <a:gdLst/>
              <a:ahLst/>
              <a:cxnLst/>
              <a:rect l="0" t="0" r="3429000" b="1600200"/>
              <a:pathLst>
                <a:path w="3429000" h="1771650">
                  <a:moveTo>
                    <a:pt x="76200" y="0"/>
                  </a:moveTo>
                  <a:lnTo>
                    <a:pt x="3352800" y="0"/>
                  </a:lnTo>
                  <a:arcTo wR="76200" hR="76200" stAng="16200000" swAng="5400000"/>
                  <a:lnTo>
                    <a:pt x="3429000" y="1524000"/>
                  </a:lnTo>
                  <a:arcTo wR="76200" hR="76200" stAng="0" swAng="5400000"/>
                  <a:lnTo>
                    <a:pt x="790575" y="1600200"/>
                  </a:lnTo>
                  <a:lnTo>
                    <a:pt x="685800" y="1771650"/>
                  </a:lnTo>
                  <a:lnTo>
                    <a:pt x="581025" y="1600200"/>
                  </a:lnTo>
                  <a:lnTo>
                    <a:pt x="76200" y="16002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04850" y="1733550"/>
              <a:ext cx="3162300" cy="1600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提案のたびにゼロから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作り直し。夜に資料を作り、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昼に商談へ走る毎日です</a:t>
              </a:r>
            </a:p>
          </p:txBody>
        </p:sp>
        <p:sp>
          <p:nvSpPr>
            <p:cNvPr id="15" name="話者頭文字"/>
            <p:cNvSpPr/>
            <p:nvPr/>
          </p:nvSpPr>
          <p:spPr>
            <a:xfrm>
              <a:off x="666750" y="3752850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頭文字"/>
            <p:cNvSpPr/>
            <p:nvPr/>
          </p:nvSpPr>
          <p:spPr>
            <a:xfrm>
              <a:off x="666750" y="37623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A</a:t>
              </a:r>
            </a:p>
          </p:txBody>
        </p:sp>
        <p:sp>
          <p:nvSpPr>
            <p:cNvPr id="17" name="話者ラベル"/>
            <p:cNvSpPr/>
            <p:nvPr/>
          </p:nvSpPr>
          <p:spPr>
            <a:xfrm>
              <a:off x="1104900" y="3781425"/>
              <a:ext cx="28194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営業部門｜部長</a:t>
              </a:r>
            </a:p>
          </p:txBody>
        </p:sp>
      </p:grpSp>
      <p:grpSp>
        <p:nvGrpSpPr>
          <p:cNvPr id="18" name="声02_品質"/>
          <p:cNvGrpSpPr/>
          <p:nvPr/>
        </p:nvGrpSpPr>
        <p:grpSpPr>
          <a:xfrm>
            <a:off x="4381500" y="1352550"/>
            <a:ext cx="3429000" cy="2724150"/>
            <a:chOff x="4381500" y="1352550"/>
            <a:chExt cx="3429000" cy="2724150"/>
          </a:xfrm>
        </p:grpSpPr>
        <p:sp>
          <p:nvSpPr>
            <p:cNvPr id="19" name="分類タグ"/>
            <p:cNvSpPr/>
            <p:nvPr/>
          </p:nvSpPr>
          <p:spPr>
            <a:xfrm>
              <a:off x="4381500" y="1352550"/>
              <a:ext cx="800100" cy="228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分類タグ文字"/>
            <p:cNvSpPr/>
            <p:nvPr/>
          </p:nvSpPr>
          <p:spPr>
            <a:xfrm>
              <a:off x="4381500" y="1362075"/>
              <a:ext cx="8001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品質</a:t>
              </a:r>
            </a:p>
          </p:txBody>
        </p:sp>
        <p:sp>
          <p:nvSpPr>
            <p:cNvPr id="21" name="声の吹き出し"/>
            <p:cNvSpPr/>
            <p:nvPr/>
          </p:nvSpPr>
          <p:spPr>
            <a:xfrm>
              <a:off x="4381500" y="1733550"/>
              <a:ext cx="3429000" cy="1771650"/>
            </a:xfrm>
            <a:custGeom>
              <a:avLst/>
              <a:gdLst/>
              <a:ahLst/>
              <a:cxnLst/>
              <a:rect l="0" t="0" r="3429000" b="1600200"/>
              <a:pathLst>
                <a:path w="3429000" h="1771650">
                  <a:moveTo>
                    <a:pt x="76200" y="0"/>
                  </a:moveTo>
                  <a:lnTo>
                    <a:pt x="3352800" y="0"/>
                  </a:lnTo>
                  <a:arcTo wR="76200" hR="76200" stAng="16200000" swAng="5400000"/>
                  <a:lnTo>
                    <a:pt x="3429000" y="1524000"/>
                  </a:lnTo>
                  <a:arcTo wR="76200" hR="76200" stAng="0" swAng="5400000"/>
                  <a:lnTo>
                    <a:pt x="1819275" y="1600200"/>
                  </a:lnTo>
                  <a:lnTo>
                    <a:pt x="1714500" y="1771650"/>
                  </a:lnTo>
                  <a:lnTo>
                    <a:pt x="1609725" y="1600200"/>
                  </a:lnTo>
                  <a:lnTo>
                    <a:pt x="76200" y="16002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14850" y="1733550"/>
              <a:ext cx="3162300" cy="1600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レビューのたびに形式の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指摘ばかり。中身の議論まで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たどり着けません</a:t>
              </a:r>
            </a:p>
          </p:txBody>
        </p:sp>
        <p:sp>
          <p:nvSpPr>
            <p:cNvPr id="23" name="話者頭文字"/>
            <p:cNvSpPr/>
            <p:nvPr/>
          </p:nvSpPr>
          <p:spPr>
            <a:xfrm>
              <a:off x="4476750" y="3752850"/>
              <a:ext cx="323850" cy="3238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頭文字"/>
            <p:cNvSpPr/>
            <p:nvPr/>
          </p:nvSpPr>
          <p:spPr>
            <a:xfrm>
              <a:off x="4476750" y="37623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B</a:t>
              </a:r>
            </a:p>
          </p:txBody>
        </p:sp>
        <p:sp>
          <p:nvSpPr>
            <p:cNvPr id="25" name="話者ラベル"/>
            <p:cNvSpPr/>
            <p:nvPr/>
          </p:nvSpPr>
          <p:spPr>
            <a:xfrm>
              <a:off x="4914900" y="3781425"/>
              <a:ext cx="28194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企画部門｜マネージャー</a:t>
              </a:r>
            </a:p>
          </p:txBody>
        </p:sp>
      </p:grpSp>
      <p:grpSp>
        <p:nvGrpSpPr>
          <p:cNvPr id="26" name="声03_ブランド"/>
          <p:cNvGrpSpPr/>
          <p:nvPr/>
        </p:nvGrpSpPr>
        <p:grpSpPr>
          <a:xfrm>
            <a:off x="8191500" y="1352550"/>
            <a:ext cx="3429000" cy="2724150"/>
            <a:chOff x="8191500" y="1352550"/>
            <a:chExt cx="3429000" cy="2724150"/>
          </a:xfrm>
        </p:grpSpPr>
        <p:sp>
          <p:nvSpPr>
            <p:cNvPr id="27" name="分類タグ"/>
            <p:cNvSpPr/>
            <p:nvPr/>
          </p:nvSpPr>
          <p:spPr>
            <a:xfrm>
              <a:off x="8191500" y="1352550"/>
              <a:ext cx="800100" cy="228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分類タグ文字"/>
            <p:cNvSpPr/>
            <p:nvPr/>
          </p:nvSpPr>
          <p:spPr>
            <a:xfrm>
              <a:off x="8191500" y="1362075"/>
              <a:ext cx="8001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ブランド</a:t>
              </a:r>
            </a:p>
          </p:txBody>
        </p:sp>
        <p:sp>
          <p:nvSpPr>
            <p:cNvPr id="29" name="声の吹き出し"/>
            <p:cNvSpPr/>
            <p:nvPr/>
          </p:nvSpPr>
          <p:spPr>
            <a:xfrm>
              <a:off x="8191500" y="1733550"/>
              <a:ext cx="3429000" cy="1771650"/>
            </a:xfrm>
            <a:custGeom>
              <a:avLst/>
              <a:gdLst/>
              <a:ahLst/>
              <a:cxnLst/>
              <a:rect l="0" t="0" r="3429000" b="1600200"/>
              <a:pathLst>
                <a:path w="3429000" h="1771650">
                  <a:moveTo>
                    <a:pt x="76200" y="0"/>
                  </a:moveTo>
                  <a:lnTo>
                    <a:pt x="3352800" y="0"/>
                  </a:lnTo>
                  <a:arcTo wR="76200" hR="76200" stAng="16200000" swAng="5400000"/>
                  <a:lnTo>
                    <a:pt x="3429000" y="1524000"/>
                  </a:lnTo>
                  <a:arcTo wR="76200" hR="76200" stAng="0" swAng="5400000"/>
                  <a:lnTo>
                    <a:pt x="2847975" y="1600200"/>
                  </a:lnTo>
                  <a:lnTo>
                    <a:pt x="2743200" y="1771650"/>
                  </a:lnTo>
                  <a:lnTo>
                    <a:pt x="2638425" y="1600200"/>
                  </a:lnTo>
                  <a:lnTo>
                    <a:pt x="76200" y="16002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324850" y="1733550"/>
              <a:ext cx="3162300" cy="1600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部門ごとに資料の顔が違う。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会社としての信頼感が</a:t>
              </a:r>
            </a:p>
            <a:p>
              <a:pPr algn="ctr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出せていません</a:t>
              </a:r>
            </a:p>
          </p:txBody>
        </p:sp>
        <p:sp>
          <p:nvSpPr>
            <p:cNvPr id="31" name="話者頭文字"/>
            <p:cNvSpPr/>
            <p:nvPr/>
          </p:nvSpPr>
          <p:spPr>
            <a:xfrm>
              <a:off x="8286750" y="3752850"/>
              <a:ext cx="323850" cy="32385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頭文字"/>
            <p:cNvSpPr/>
            <p:nvPr/>
          </p:nvSpPr>
          <p:spPr>
            <a:xfrm>
              <a:off x="8286750" y="376237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C</a:t>
              </a:r>
            </a:p>
          </p:txBody>
        </p:sp>
        <p:sp>
          <p:nvSpPr>
            <p:cNvPr id="33" name="話者ラベル"/>
            <p:cNvSpPr/>
            <p:nvPr/>
          </p:nvSpPr>
          <p:spPr>
            <a:xfrm>
              <a:off x="8724900" y="3781425"/>
              <a:ext cx="28194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経営企画｜役員</a:t>
              </a:r>
            </a:p>
          </p:txBody>
        </p:sp>
      </p:grpSp>
      <p:grpSp>
        <p:nvGrpSpPr>
          <p:cNvPr id="34" name="SoWhatボックス"/>
          <p:cNvGrpSpPr/>
          <p:nvPr/>
        </p:nvGrpSpPr>
        <p:grpSpPr>
          <a:xfrm>
            <a:off x="571500" y="4629150"/>
            <a:ext cx="11049000" cy="514350"/>
            <a:chOff x="571500" y="4629150"/>
            <a:chExt cx="11049000" cy="514350"/>
          </a:xfrm>
        </p:grpSpPr>
        <p:sp>
          <p:nvSpPr>
            <p:cNvPr id="35" name="示唆地"/>
            <p:cNvSpPr/>
            <p:nvPr/>
          </p:nvSpPr>
          <p:spPr>
            <a:xfrm>
              <a:off x="571500" y="4629150"/>
              <a:ext cx="1104900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示唆ラベル"/>
            <p:cNvSpPr/>
            <p:nvPr/>
          </p:nvSpPr>
          <p:spPr>
            <a:xfrm>
              <a:off x="800100" y="4629150"/>
              <a:ext cx="8001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So What</a:t>
              </a:r>
            </a:p>
          </p:txBody>
        </p:sp>
        <p:cxnSp>
          <p:nvCxnSpPr>
            <p:cNvPr id="37" name="区切り縦線"/>
            <p:cNvCxnSpPr/>
            <p:nvPr/>
          </p:nvCxnSpPr>
          <p:spPr>
            <a:xfrm>
              <a:off x="1676400" y="4752975"/>
              <a:ext cx="0" cy="266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示唆本文"/>
            <p:cNvSpPr/>
            <p:nvPr/>
          </p:nvSpPr>
          <p:spPr>
            <a:xfrm>
              <a:off x="1866900" y="4629150"/>
              <a:ext cx="95250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3つの声はつながっている——次頁で“ある1日”として追体験する</a:t>
              </a:r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悩み共感｜EMPATHY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3つ当てはまったら、個人ではなく会社の課題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資料づくり課題チェックリスト（6項目）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注：項目・判定基準は説明用の架空サンプルです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出所：SampleWorks導入診断シート（架空サンプル）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4</a:t>
            </a:r>
          </a:p>
        </p:txBody>
      </p:sp>
      <p:grpSp>
        <p:nvGrpSpPr>
          <p:cNvPr id="10" name="チェック項目01"/>
          <p:cNvGrpSpPr/>
          <p:nvPr/>
        </p:nvGrpSpPr>
        <p:grpSpPr>
          <a:xfrm>
            <a:off x="571500" y="1466850"/>
            <a:ext cx="5334000" cy="552450"/>
            <a:chOff x="571500" y="1466850"/>
            <a:chExt cx="5334000" cy="552450"/>
          </a:xfrm>
        </p:grpSpPr>
        <p:sp>
          <p:nvSpPr>
            <p:cNvPr id="11" name="チェック欄"/>
            <p:cNvSpPr/>
            <p:nvPr/>
          </p:nvSpPr>
          <p:spPr>
            <a:xfrm>
              <a:off x="571500" y="1543050"/>
              <a:ext cx="247650" cy="247650"/>
            </a:xfrm>
            <a:prstGeom prst="roundRect">
              <a:avLst>
                <a:gd name="adj" fmla="val 19230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項目文"/>
            <p:cNvSpPr/>
            <p:nvPr/>
          </p:nvSpPr>
          <p:spPr>
            <a:xfrm>
              <a:off x="990600" y="1466850"/>
              <a:ext cx="49149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>
                  <a:solidFill>
                    <a:schemeClr val="dk2"/>
                  </a:solidFill>
                </a:rPr>
                <a:t>資料作成に、1人あたり週8時間以上使っている</a:t>
              </a:r>
            </a:p>
          </p:txBody>
        </p:sp>
        <p:cxnSp>
          <p:nvCxnSpPr>
            <p:cNvPr id="13" name="下罫線"/>
            <p:cNvCxnSpPr/>
            <p:nvPr/>
          </p:nvCxnSpPr>
          <p:spPr>
            <a:xfrm>
              <a:off x="571500" y="201930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チェック項目02"/>
          <p:cNvGrpSpPr/>
          <p:nvPr/>
        </p:nvGrpSpPr>
        <p:grpSpPr>
          <a:xfrm>
            <a:off x="6286500" y="1466850"/>
            <a:ext cx="5334000" cy="552450"/>
            <a:chOff x="6286500" y="1466850"/>
            <a:chExt cx="5334000" cy="552450"/>
          </a:xfrm>
        </p:grpSpPr>
        <p:sp>
          <p:nvSpPr>
            <p:cNvPr id="15" name="チェック欄"/>
            <p:cNvSpPr/>
            <p:nvPr/>
          </p:nvSpPr>
          <p:spPr>
            <a:xfrm>
              <a:off x="6286500" y="1543050"/>
              <a:ext cx="247650" cy="247650"/>
            </a:xfrm>
            <a:prstGeom prst="roundRect">
              <a:avLst>
                <a:gd name="adj" fmla="val 19230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項目文"/>
            <p:cNvSpPr/>
            <p:nvPr/>
          </p:nvSpPr>
          <p:spPr>
            <a:xfrm>
              <a:off x="6705600" y="1466850"/>
              <a:ext cx="49149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>
                  <a:solidFill>
                    <a:schemeClr val="dk2"/>
                  </a:solidFill>
                </a:rPr>
                <a:t>過去資料がどこにあるか、すぐに答えられない</a:t>
              </a:r>
            </a:p>
          </p:txBody>
        </p:sp>
        <p:cxnSp>
          <p:nvCxnSpPr>
            <p:cNvPr id="17" name="下罫線"/>
            <p:cNvCxnSpPr/>
            <p:nvPr/>
          </p:nvCxnSpPr>
          <p:spPr>
            <a:xfrm>
              <a:off x="6286500" y="201930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チェック項目03"/>
          <p:cNvGrpSpPr/>
          <p:nvPr/>
        </p:nvGrpSpPr>
        <p:grpSpPr>
          <a:xfrm>
            <a:off x="571500" y="2247900"/>
            <a:ext cx="5334000" cy="552450"/>
            <a:chOff x="571500" y="2247900"/>
            <a:chExt cx="5334000" cy="552450"/>
          </a:xfrm>
        </p:grpSpPr>
        <p:sp>
          <p:nvSpPr>
            <p:cNvPr id="19" name="チェック欄"/>
            <p:cNvSpPr/>
            <p:nvPr/>
          </p:nvSpPr>
          <p:spPr>
            <a:xfrm>
              <a:off x="571500" y="2324100"/>
              <a:ext cx="247650" cy="247650"/>
            </a:xfrm>
            <a:prstGeom prst="roundRect">
              <a:avLst>
                <a:gd name="adj" fmla="val 19230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項目文"/>
            <p:cNvSpPr/>
            <p:nvPr/>
          </p:nvSpPr>
          <p:spPr>
            <a:xfrm>
              <a:off x="990600" y="2247900"/>
              <a:ext cx="49149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>
                  <a:solidFill>
                    <a:schemeClr val="dk2"/>
                  </a:solidFill>
                </a:rPr>
                <a:t>資料の出来ばえが、作る人によって明らかに違う</a:t>
              </a:r>
            </a:p>
          </p:txBody>
        </p:sp>
        <p:cxnSp>
          <p:nvCxnSpPr>
            <p:cNvPr id="21" name="下罫線"/>
            <p:cNvCxnSpPr/>
            <p:nvPr/>
          </p:nvCxnSpPr>
          <p:spPr>
            <a:xfrm>
              <a:off x="571500" y="280035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チェック項目04"/>
          <p:cNvGrpSpPr/>
          <p:nvPr/>
        </p:nvGrpSpPr>
        <p:grpSpPr>
          <a:xfrm>
            <a:off x="6286500" y="2247900"/>
            <a:ext cx="5334000" cy="552450"/>
            <a:chOff x="6286500" y="2247900"/>
            <a:chExt cx="5334000" cy="552450"/>
          </a:xfrm>
        </p:grpSpPr>
        <p:sp>
          <p:nvSpPr>
            <p:cNvPr id="23" name="チェック欄"/>
            <p:cNvSpPr/>
            <p:nvPr/>
          </p:nvSpPr>
          <p:spPr>
            <a:xfrm>
              <a:off x="6286500" y="2324100"/>
              <a:ext cx="247650" cy="247650"/>
            </a:xfrm>
            <a:prstGeom prst="roundRect">
              <a:avLst>
                <a:gd name="adj" fmla="val 19230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項目文"/>
            <p:cNvSpPr/>
            <p:nvPr/>
          </p:nvSpPr>
          <p:spPr>
            <a:xfrm>
              <a:off x="6705600" y="2247900"/>
              <a:ext cx="49149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>
                  <a:solidFill>
                    <a:schemeClr val="dk2"/>
                  </a:solidFill>
                </a:rPr>
                <a:t>上司・先輩の手直しが、月5件を超えている</a:t>
              </a:r>
            </a:p>
          </p:txBody>
        </p:sp>
        <p:cxnSp>
          <p:nvCxnSpPr>
            <p:cNvPr id="25" name="下罫線"/>
            <p:cNvCxnSpPr/>
            <p:nvPr/>
          </p:nvCxnSpPr>
          <p:spPr>
            <a:xfrm>
              <a:off x="6286500" y="280035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チェック項目05"/>
          <p:cNvGrpSpPr/>
          <p:nvPr/>
        </p:nvGrpSpPr>
        <p:grpSpPr>
          <a:xfrm>
            <a:off x="571500" y="3028950"/>
            <a:ext cx="5334000" cy="552450"/>
            <a:chOff x="571500" y="3028950"/>
            <a:chExt cx="5334000" cy="552450"/>
          </a:xfrm>
        </p:grpSpPr>
        <p:sp>
          <p:nvSpPr>
            <p:cNvPr id="27" name="チェック欄"/>
            <p:cNvSpPr/>
            <p:nvPr/>
          </p:nvSpPr>
          <p:spPr>
            <a:xfrm>
              <a:off x="571500" y="3105150"/>
              <a:ext cx="247650" cy="247650"/>
            </a:xfrm>
            <a:prstGeom prst="roundRect">
              <a:avLst>
                <a:gd name="adj" fmla="val 19230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項目文"/>
            <p:cNvSpPr/>
            <p:nvPr/>
          </p:nvSpPr>
          <p:spPr>
            <a:xfrm>
              <a:off x="990600" y="3028950"/>
              <a:ext cx="49149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>
                  <a:solidFill>
                    <a:schemeClr val="dk2"/>
                  </a:solidFill>
                </a:rPr>
                <a:t>最新版がどれか、確認しないと分からない</a:t>
              </a:r>
            </a:p>
          </p:txBody>
        </p:sp>
        <p:cxnSp>
          <p:nvCxnSpPr>
            <p:cNvPr id="29" name="下罫線"/>
            <p:cNvCxnSpPr/>
            <p:nvPr/>
          </p:nvCxnSpPr>
          <p:spPr>
            <a:xfrm>
              <a:off x="571500" y="358140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チェック項目06"/>
          <p:cNvGrpSpPr/>
          <p:nvPr/>
        </p:nvGrpSpPr>
        <p:grpSpPr>
          <a:xfrm>
            <a:off x="6286500" y="3028950"/>
            <a:ext cx="5334000" cy="552450"/>
            <a:chOff x="6286500" y="3028950"/>
            <a:chExt cx="5334000" cy="552450"/>
          </a:xfrm>
        </p:grpSpPr>
        <p:sp>
          <p:nvSpPr>
            <p:cNvPr id="31" name="チェック欄"/>
            <p:cNvSpPr/>
            <p:nvPr/>
          </p:nvSpPr>
          <p:spPr>
            <a:xfrm>
              <a:off x="6286500" y="3105150"/>
              <a:ext cx="247650" cy="247650"/>
            </a:xfrm>
            <a:prstGeom prst="roundRect">
              <a:avLst>
                <a:gd name="adj" fmla="val 19230"/>
              </a:avLst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項目文"/>
            <p:cNvSpPr/>
            <p:nvPr/>
          </p:nvSpPr>
          <p:spPr>
            <a:xfrm>
              <a:off x="6705600" y="3028950"/>
              <a:ext cx="49149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>
                  <a:solidFill>
                    <a:schemeClr val="dk2"/>
                  </a:solidFill>
                </a:rPr>
                <a:t>会議直前の「資料まだ？」が月1回以上ある</a:t>
              </a:r>
            </a:p>
          </p:txBody>
        </p:sp>
        <p:cxnSp>
          <p:nvCxnSpPr>
            <p:cNvPr id="33" name="下罫線"/>
            <p:cNvCxnSpPr/>
            <p:nvPr/>
          </p:nvCxnSpPr>
          <p:spPr>
            <a:xfrm>
              <a:off x="6286500" y="358140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/>
          <p:cNvSpPr/>
          <p:nvPr/>
        </p:nvSpPr>
        <p:spPr>
          <a:xfrm>
            <a:off x="571500" y="3962400"/>
            <a:ext cx="3810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chemeClr val="accent5"/>
                </a:solidFill>
              </a:rPr>
              <a:t>当てはまった数の読み方</a:t>
            </a:r>
          </a:p>
        </p:txBody>
      </p:sp>
      <p:grpSp>
        <p:nvGrpSpPr>
          <p:cNvPr id="35" name="判定ゾーン01_0〜2個"/>
          <p:cNvGrpSpPr/>
          <p:nvPr/>
        </p:nvGrpSpPr>
        <p:grpSpPr>
          <a:xfrm>
            <a:off x="571500" y="4191000"/>
            <a:ext cx="3429000" cy="914400"/>
            <a:chOff x="571500" y="4191000"/>
            <a:chExt cx="3429000" cy="914400"/>
          </a:xfrm>
        </p:grpSpPr>
        <p:sp>
          <p:nvSpPr>
            <p:cNvPr id="36" name="判定カード"/>
            <p:cNvSpPr/>
            <p:nvPr/>
          </p:nvSpPr>
          <p:spPr>
            <a:xfrm>
              <a:off x="571500" y="4191000"/>
              <a:ext cx="3429000" cy="914400"/>
            </a:xfrm>
            <a:prstGeom prst="roundRect">
              <a:avLst>
                <a:gd name="adj" fmla="val 8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個数"/>
            <p:cNvSpPr/>
            <p:nvPr/>
          </p:nvSpPr>
          <p:spPr>
            <a:xfrm>
              <a:off x="781050" y="4343400"/>
              <a:ext cx="857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0〜2個</a:t>
              </a:r>
            </a:p>
          </p:txBody>
        </p:sp>
        <p:cxnSp>
          <p:nvCxnSpPr>
            <p:cNvPr id="38" name="区切り縦線"/>
            <p:cNvCxnSpPr/>
            <p:nvPr/>
          </p:nvCxnSpPr>
          <p:spPr>
            <a:xfrm>
              <a:off x="1752600" y="4343400"/>
              <a:ext cx="0" cy="6096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判定文"/>
            <p:cNvSpPr/>
            <p:nvPr/>
          </p:nvSpPr>
          <p:spPr>
            <a:xfrm>
              <a:off x="1905000" y="4305300"/>
              <a:ext cx="1943100" cy="704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2"/>
                  </a:solidFill>
                </a:rPr>
                <a:t>まだ個人技で回る段階。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2"/>
                  </a:solidFill>
                </a:rPr>
                <a:t>再発したら要観察</a:t>
              </a:r>
            </a:p>
          </p:txBody>
        </p:sp>
      </p:grpSp>
      <p:grpSp>
        <p:nvGrpSpPr>
          <p:cNvPr id="40" name="判定ゾーン02_3〜4個"/>
          <p:cNvGrpSpPr/>
          <p:nvPr/>
        </p:nvGrpSpPr>
        <p:grpSpPr>
          <a:xfrm>
            <a:off x="4381500" y="4191000"/>
            <a:ext cx="3429000" cy="914400"/>
            <a:chOff x="4381500" y="4191000"/>
            <a:chExt cx="3429000" cy="914400"/>
          </a:xfrm>
        </p:grpSpPr>
        <p:sp>
          <p:nvSpPr>
            <p:cNvPr id="41" name="判定カード"/>
            <p:cNvSpPr/>
            <p:nvPr/>
          </p:nvSpPr>
          <p:spPr>
            <a:xfrm>
              <a:off x="4381500" y="4191000"/>
              <a:ext cx="3429000" cy="9144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個数"/>
            <p:cNvSpPr/>
            <p:nvPr/>
          </p:nvSpPr>
          <p:spPr>
            <a:xfrm>
              <a:off x="4591050" y="4343400"/>
              <a:ext cx="857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1">
                  <a:solidFill>
                    <a:schemeClr val="accent1"/>
                  </a:solidFill>
                </a:rPr>
                <a:t>3〜4個</a:t>
              </a:r>
            </a:p>
          </p:txBody>
        </p:sp>
        <p:cxnSp>
          <p:nvCxnSpPr>
            <p:cNvPr id="43" name="区切り縦線"/>
            <p:cNvCxnSpPr/>
            <p:nvPr/>
          </p:nvCxnSpPr>
          <p:spPr>
            <a:xfrm>
              <a:off x="5562600" y="4343400"/>
              <a:ext cx="0" cy="6096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判定文"/>
            <p:cNvSpPr/>
            <p:nvPr/>
          </p:nvSpPr>
          <p:spPr>
            <a:xfrm>
              <a:off x="5715000" y="4305300"/>
              <a:ext cx="1943100" cy="704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2"/>
                  </a:solidFill>
                </a:rPr>
                <a:t>仕組み化の検討ライン。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2"/>
                  </a:solidFill>
                </a:rPr>
                <a:t>現場の限界が近い</a:t>
              </a:r>
            </a:p>
          </p:txBody>
        </p:sp>
      </p:grpSp>
      <p:grpSp>
        <p:nvGrpSpPr>
          <p:cNvPr id="45" name="判定ゾーン03_5〜6個"/>
          <p:cNvGrpSpPr/>
          <p:nvPr/>
        </p:nvGrpSpPr>
        <p:grpSpPr>
          <a:xfrm>
            <a:off x="8191500" y="4191000"/>
            <a:ext cx="3429000" cy="914400"/>
            <a:chOff x="8191500" y="4191000"/>
            <a:chExt cx="3429000" cy="914400"/>
          </a:xfrm>
        </p:grpSpPr>
        <p:sp>
          <p:nvSpPr>
            <p:cNvPr id="46" name="判定カード"/>
            <p:cNvSpPr/>
            <p:nvPr/>
          </p:nvSpPr>
          <p:spPr>
            <a:xfrm>
              <a:off x="8191500" y="4191000"/>
              <a:ext cx="3429000" cy="914400"/>
            </a:xfrm>
            <a:prstGeom prst="roundRect">
              <a:avLst>
                <a:gd name="adj" fmla="val 8333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個数"/>
            <p:cNvSpPr/>
            <p:nvPr/>
          </p:nvSpPr>
          <p:spPr>
            <a:xfrm>
              <a:off x="8401050" y="4343400"/>
              <a:ext cx="857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1">
                  <a:solidFill>
                    <a:schemeClr val="lt1"/>
                  </a:solidFill>
                </a:rPr>
                <a:t>5〜6個</a:t>
              </a:r>
            </a:p>
          </p:txBody>
        </p:sp>
        <p:cxnSp>
          <p:nvCxnSpPr>
            <p:cNvPr id="48" name="区切り縦線"/>
            <p:cNvCxnSpPr/>
            <p:nvPr/>
          </p:nvCxnSpPr>
          <p:spPr>
            <a:xfrm>
              <a:off x="9372600" y="4343400"/>
              <a:ext cx="0" cy="6096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判定文"/>
            <p:cNvSpPr/>
            <p:nvPr/>
          </p:nvSpPr>
          <p:spPr>
            <a:xfrm>
              <a:off x="9525000" y="4305300"/>
              <a:ext cx="1943100" cy="704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lt1"/>
                  </a:solidFill>
                </a:rPr>
                <a:t>資料づくりが経営課題化。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lt1"/>
                  </a:solidFill>
                </a:rPr>
                <a:t>今すぐ着手すべき段階</a:t>
              </a:r>
            </a:p>
          </p:txBody>
        </p:sp>
      </p:grpSp>
      <p:grpSp>
        <p:nvGrpSpPr>
          <p:cNvPr id="50" name="判定_見直しライン"/>
          <p:cNvGrpSpPr/>
          <p:nvPr/>
        </p:nvGrpSpPr>
        <p:grpSpPr>
          <a:xfrm>
            <a:off x="4210050" y="4057650"/>
            <a:ext cx="1257300" cy="247650"/>
            <a:chOff x="4210050" y="4057650"/>
            <a:chExt cx="1257300" cy="247650"/>
          </a:xfrm>
        </p:grpSpPr>
        <p:sp>
          <p:nvSpPr>
            <p:cNvPr id="51" name="見直しラインタグ（朱）"/>
            <p:cNvSpPr/>
            <p:nvPr/>
          </p:nvSpPr>
          <p:spPr>
            <a:xfrm>
              <a:off x="4210050" y="4057650"/>
              <a:ext cx="12573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タグ文字"/>
            <p:cNvSpPr/>
            <p:nvPr/>
          </p:nvSpPr>
          <p:spPr>
            <a:xfrm>
              <a:off x="4210050" y="4067175"/>
              <a:ext cx="12573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ここから見直しどき</a:t>
              </a:r>
            </a:p>
          </p:txBody>
        </p:sp>
      </p:grpSp>
      <p:grpSp>
        <p:nvGrpSpPr>
          <p:cNvPr id="53" name="SoWhatボックス"/>
          <p:cNvGrpSpPr/>
          <p:nvPr/>
        </p:nvGrpSpPr>
        <p:grpSpPr>
          <a:xfrm>
            <a:off x="571500" y="5391150"/>
            <a:ext cx="11049000" cy="514350"/>
            <a:chOff x="571500" y="5391150"/>
            <a:chExt cx="11049000" cy="514350"/>
          </a:xfrm>
        </p:grpSpPr>
        <p:sp>
          <p:nvSpPr>
            <p:cNvPr id="54" name="示唆地"/>
            <p:cNvSpPr/>
            <p:nvPr/>
          </p:nvSpPr>
          <p:spPr>
            <a:xfrm>
              <a:off x="571500" y="5391150"/>
              <a:ext cx="1104900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示唆ラベル"/>
            <p:cNvSpPr/>
            <p:nvPr/>
          </p:nvSpPr>
          <p:spPr>
            <a:xfrm>
              <a:off x="800100" y="5391150"/>
              <a:ext cx="8001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So What</a:t>
              </a:r>
            </a:p>
          </p:txBody>
        </p:sp>
        <p:cxnSp>
          <p:nvCxnSpPr>
            <p:cNvPr id="56" name="区切り縦線"/>
            <p:cNvCxnSpPr/>
            <p:nvPr/>
          </p:nvCxnSpPr>
          <p:spPr>
            <a:xfrm>
              <a:off x="1676400" y="5514975"/>
              <a:ext cx="0" cy="266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示唆本文"/>
            <p:cNvSpPr/>
            <p:nvPr/>
          </p:nvSpPr>
          <p:spPr>
            <a:xfrm>
              <a:off x="1866900" y="5391150"/>
              <a:ext cx="95250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当てはまりの多さは能力の問題ではない——仕組みの不在を示すシグナル</a:t>
              </a: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コンセプト｜CONCEPT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私たちの約束は、この一文に尽きる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サービスコンセプト（1文の約束）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注：コンセプト文・サービス名は架空のサンプルです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出所：SampleWorksサービス資料（架空サンプル）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6</a:t>
            </a:r>
          </a:p>
        </p:txBody>
      </p:sp>
      <p:grpSp>
        <p:nvGrpSpPr>
          <p:cNvPr id="10" name="コンセプト_中央"/>
          <p:cNvGrpSpPr/>
          <p:nvPr/>
        </p:nvGrpSpPr>
        <p:grpSpPr>
          <a:xfrm>
            <a:off x="571500" y="2152650"/>
            <a:ext cx="11049000" cy="2781300"/>
            <a:chOff x="571500" y="2152650"/>
            <a:chExt cx="11049000" cy="2781300"/>
          </a:xfrm>
        </p:grpSpPr>
        <p:sp>
          <p:nvSpPr>
            <p:cNvPr id="11" name="サービス名"/>
            <p:cNvSpPr/>
            <p:nvPr/>
          </p:nvSpPr>
          <p:spPr>
            <a:xfrm>
              <a:off x="571500" y="2152650"/>
              <a:ext cx="11049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SampleWorks</a:t>
              </a:r>
            </a:p>
          </p:txBody>
        </p:sp>
        <p:sp>
          <p:nvSpPr>
            <p:cNvPr id="14" name="コンセプト一文"/>
            <p:cNvSpPr/>
            <p:nvPr/>
          </p:nvSpPr>
          <p:spPr>
            <a:xfrm>
              <a:off x="571500" y="2819400"/>
              <a:ext cx="1104900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3200" b="1">
                  <a:solidFill>
                    <a:schemeClr val="dk2"/>
                  </a:solidFill>
                </a:rPr>
                <a:t>つくる時間を、考える時間へ。</a:t>
              </a:r>
            </a:p>
          </p:txBody>
        </p:sp>
        <p:cxnSp>
          <p:nvCxnSpPr>
            <p:cNvPr id="15" name="下ルール"/>
            <p:cNvCxnSpPr/>
            <p:nvPr/>
          </p:nvCxnSpPr>
          <p:spPr>
            <a:xfrm>
              <a:off x="5334000" y="3695700"/>
              <a:ext cx="152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補足文"/>
            <p:cNvSpPr/>
            <p:nvPr/>
          </p:nvSpPr>
          <p:spPr>
            <a:xfrm>
              <a:off x="2476500" y="3924300"/>
              <a:ext cx="7239000" cy="457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70000"/>
                </a:lnSpc>
              </a:pPr>
              <a:r>
                <a:rPr sz="1150">
                  <a:solidFill>
                    <a:schemeClr val="accent5"/>
                  </a:solidFill>
                </a:rPr>
                <a:t>資料づくりの手作業を仕組みに置き換え、</a:t>
              </a:r>
            </a:p>
            <a:p>
              <a:pPr algn="ctr">
                <a:lnSpc>
                  <a:spcPct val="170000"/>
                </a:lnSpc>
              </a:pPr>
              <a:r>
                <a:rPr sz="1150">
                  <a:solidFill>
                    <a:schemeClr val="accent5"/>
                  </a:solidFill>
                </a:rPr>
                <a:t>人は「考えること」だけに時間を使えるようにします。</a:t>
              </a:r>
            </a:p>
          </p:txBody>
        </p:sp>
        <p:sp>
          <p:nvSpPr>
            <p:cNvPr id="17" name="3つの価値キーワード"/>
            <p:cNvSpPr/>
            <p:nvPr/>
          </p:nvSpPr>
          <p:spPr>
            <a:xfrm>
              <a:off x="571500" y="4762500"/>
              <a:ext cx="11049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accent3"/>
                  </a:solidFill>
                </a:rPr>
                <a:t>速い　／　揃う　／　見える</a:t>
              </a:r>
            </a:p>
          </p:txBody>
        </p:sp>
      </p:grpSp>
      <p:grpSp>
        <p:nvGrpSpPr>
          <p:cNvPr id="12" name="コンセプト_朱ルール"/>
          <p:cNvGrpSpPr/>
          <p:nvPr/>
        </p:nvGrpSpPr>
        <p:grpSpPr>
          <a:xfrm>
            <a:off x="5867400" y="2495550"/>
            <a:ext cx="457200" cy="28575"/>
            <a:chOff x="5867400" y="2495550"/>
            <a:chExt cx="457200" cy="28575"/>
          </a:xfrm>
        </p:grpSpPr>
        <p:sp>
          <p:nvSpPr>
            <p:cNvPr id="13" name="小ルール（朱）"/>
            <p:cNvSpPr/>
            <p:nvPr/>
          </p:nvSpPr>
          <p:spPr>
            <a:xfrm>
              <a:off x="5867400" y="2495550"/>
              <a:ext cx="4572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特徴・強み｜STRENGTH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強みは「速い・揃う・見える」の3本柱に集約される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3つの強みと、それぞれの裏づけ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注：数値は導入企業の平均値をもとにした架空のサンプルです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出所：SampleWorksサービス資料（架空サンプル）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9</a:t>
            </a:r>
          </a:p>
        </p:txBody>
      </p:sp>
      <p:grpSp>
        <p:nvGrpSpPr>
          <p:cNvPr id="10" name="柱01_速い"/>
          <p:cNvGrpSpPr/>
          <p:nvPr/>
        </p:nvGrpSpPr>
        <p:grpSpPr>
          <a:xfrm>
            <a:off x="571500" y="1428750"/>
            <a:ext cx="3429000" cy="3200400"/>
            <a:chOff x="571500" y="1428750"/>
            <a:chExt cx="3429000" cy="3200400"/>
          </a:xfrm>
        </p:grpSpPr>
        <p:sp>
          <p:nvSpPr>
            <p:cNvPr id="11" name="柱1_カード本体"/>
            <p:cNvSpPr/>
            <p:nvPr/>
          </p:nvSpPr>
          <p:spPr>
            <a:xfrm>
              <a:off x="571500" y="1428750"/>
              <a:ext cx="3429000" cy="3200400"/>
            </a:xfrm>
            <a:prstGeom prst="roundRect">
              <a:avLst>
                <a:gd name="adj" fmla="val 238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柱1_見出し帯"/>
            <p:cNvSpPr/>
            <p:nvPr/>
          </p:nvSpPr>
          <p:spPr>
            <a:xfrm>
              <a:off x="571500" y="1428750"/>
              <a:ext cx="3429000" cy="533400"/>
            </a:xfrm>
            <a:prstGeom prst="roundRect">
              <a:avLst>
                <a:gd name="adj" fmla="val 14285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柱1_見出し帯・角"/>
            <p:cNvSpPr/>
            <p:nvPr/>
          </p:nvSpPr>
          <p:spPr>
            <a:xfrm>
              <a:off x="571500" y="1695450"/>
              <a:ext cx="34290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23900" y="1428750"/>
              <a:ext cx="31242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lt1"/>
                  </a:solidFill>
                </a:rPr>
                <a:t>01｜速い</a:t>
              </a:r>
            </a:p>
          </p:txBody>
        </p:sp>
        <p:sp>
          <p:nvSpPr>
            <p:cNvPr id="15" name="価値の言い切り"/>
            <p:cNvSpPr/>
            <p:nvPr/>
          </p:nvSpPr>
          <p:spPr>
            <a:xfrm>
              <a:off x="800100" y="2171700"/>
              <a:ext cx="2971800" cy="457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資料1本を、3時間から</a:t>
              </a:r>
            </a:p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20分に短縮する</a:t>
              </a:r>
            </a:p>
          </p:txBody>
        </p:sp>
        <p:sp>
          <p:nvSpPr>
            <p:cNvPr id="16" name="実現方法"/>
            <p:cNvSpPr/>
            <p:nvPr/>
          </p:nvSpPr>
          <p:spPr>
            <a:xfrm>
              <a:off x="800100" y="2781300"/>
              <a:ext cx="29718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テンプレ選択と自動生成で、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「作る」工程そのものを削る</a:t>
              </a:r>
            </a:p>
          </p:txBody>
        </p:sp>
        <p:cxnSp>
          <p:nvCxnSpPr>
            <p:cNvPr id="17" name="区切り線"/>
            <p:cNvCxnSpPr/>
            <p:nvPr/>
          </p:nvCxnSpPr>
          <p:spPr>
            <a:xfrm>
              <a:off x="800100" y="339090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裏づけラベル"/>
            <p:cNvSpPr/>
            <p:nvPr/>
          </p:nvSpPr>
          <p:spPr>
            <a:xfrm>
              <a:off x="800100" y="3524250"/>
              <a:ext cx="1143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裏づけ</a:t>
              </a:r>
            </a:p>
          </p:txBody>
        </p:sp>
        <p:sp>
          <p:nvSpPr>
            <p:cNvPr id="19" name="裏づけ数字"/>
            <p:cNvSpPr/>
            <p:nvPr/>
          </p:nvSpPr>
          <p:spPr>
            <a:xfrm>
              <a:off x="800100" y="3733800"/>
              <a:ext cx="29718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1"/>
                  </a:solidFill>
                </a:rPr>
                <a:t>作成時間 −58%（導入3ヶ月平均）</a:t>
              </a:r>
            </a:p>
          </p:txBody>
        </p:sp>
      </p:grpSp>
      <p:grpSp>
        <p:nvGrpSpPr>
          <p:cNvPr id="20" name="柱02_揃う"/>
          <p:cNvGrpSpPr/>
          <p:nvPr/>
        </p:nvGrpSpPr>
        <p:grpSpPr>
          <a:xfrm>
            <a:off x="4381500" y="1428750"/>
            <a:ext cx="3429000" cy="3200400"/>
            <a:chOff x="4381500" y="1428750"/>
            <a:chExt cx="3429000" cy="3200400"/>
          </a:xfrm>
        </p:grpSpPr>
        <p:sp>
          <p:nvSpPr>
            <p:cNvPr id="21" name="柱2_カード本体"/>
            <p:cNvSpPr/>
            <p:nvPr/>
          </p:nvSpPr>
          <p:spPr>
            <a:xfrm>
              <a:off x="4381500" y="1428750"/>
              <a:ext cx="3429000" cy="3200400"/>
            </a:xfrm>
            <a:prstGeom prst="roundRect">
              <a:avLst>
                <a:gd name="adj" fmla="val 238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柱2_見出し帯"/>
            <p:cNvSpPr/>
            <p:nvPr/>
          </p:nvSpPr>
          <p:spPr>
            <a:xfrm>
              <a:off x="4381500" y="1428750"/>
              <a:ext cx="3429000" cy="533400"/>
            </a:xfrm>
            <a:prstGeom prst="roundRect">
              <a:avLst>
                <a:gd name="adj" fmla="val 14285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柱2_見出し帯・角"/>
            <p:cNvSpPr/>
            <p:nvPr/>
          </p:nvSpPr>
          <p:spPr>
            <a:xfrm>
              <a:off x="4381500" y="1695450"/>
              <a:ext cx="34290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533900" y="1428750"/>
              <a:ext cx="31242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lt1"/>
                  </a:solidFill>
                </a:rPr>
                <a:t>02｜揃う</a:t>
              </a:r>
            </a:p>
          </p:txBody>
        </p:sp>
        <p:sp>
          <p:nvSpPr>
            <p:cNvPr id="25" name="価値の言い切り"/>
            <p:cNvSpPr/>
            <p:nvPr/>
          </p:nvSpPr>
          <p:spPr>
            <a:xfrm>
              <a:off x="4610100" y="2171700"/>
              <a:ext cx="2971800" cy="457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誰が作っても、会社の型と</a:t>
              </a:r>
            </a:p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表現に自動で揃う</a:t>
              </a:r>
            </a:p>
          </p:txBody>
        </p:sp>
        <p:sp>
          <p:nvSpPr>
            <p:cNvPr id="26" name="実現方法"/>
            <p:cNvSpPr/>
            <p:nvPr/>
          </p:nvSpPr>
          <p:spPr>
            <a:xfrm>
              <a:off x="4610100" y="2781300"/>
              <a:ext cx="29718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全社共通テンプレートと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ブランド設定の一括適用</a:t>
              </a:r>
            </a:p>
          </p:txBody>
        </p:sp>
        <p:cxnSp>
          <p:nvCxnSpPr>
            <p:cNvPr id="27" name="区切り線"/>
            <p:cNvCxnSpPr/>
            <p:nvPr/>
          </p:nvCxnSpPr>
          <p:spPr>
            <a:xfrm>
              <a:off x="4610100" y="339090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裏づけラベル"/>
            <p:cNvSpPr/>
            <p:nvPr/>
          </p:nvSpPr>
          <p:spPr>
            <a:xfrm>
              <a:off x="4610100" y="3524250"/>
              <a:ext cx="1143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裏づけ</a:t>
              </a:r>
            </a:p>
          </p:txBody>
        </p:sp>
        <p:sp>
          <p:nvSpPr>
            <p:cNvPr id="29" name="裏づけ数字"/>
            <p:cNvSpPr/>
            <p:nvPr/>
          </p:nvSpPr>
          <p:spPr>
            <a:xfrm>
              <a:off x="4610100" y="3733800"/>
              <a:ext cx="29718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1"/>
                  </a:solidFill>
                </a:rPr>
                <a:t>上司の手直し回数 −70%</a:t>
              </a:r>
            </a:p>
          </p:txBody>
        </p:sp>
      </p:grpSp>
      <p:grpSp>
        <p:nvGrpSpPr>
          <p:cNvPr id="30" name="柱03_見える"/>
          <p:cNvGrpSpPr/>
          <p:nvPr/>
        </p:nvGrpSpPr>
        <p:grpSpPr>
          <a:xfrm>
            <a:off x="8191500" y="1428750"/>
            <a:ext cx="3429000" cy="3200400"/>
            <a:chOff x="8191500" y="1428750"/>
            <a:chExt cx="3429000" cy="3200400"/>
          </a:xfrm>
        </p:grpSpPr>
        <p:sp>
          <p:nvSpPr>
            <p:cNvPr id="31" name="柱3_カード本体"/>
            <p:cNvSpPr/>
            <p:nvPr/>
          </p:nvSpPr>
          <p:spPr>
            <a:xfrm>
              <a:off x="8191500" y="1428750"/>
              <a:ext cx="3429000" cy="3200400"/>
            </a:xfrm>
            <a:prstGeom prst="roundRect">
              <a:avLst>
                <a:gd name="adj" fmla="val 238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柱3_見出し帯"/>
            <p:cNvSpPr/>
            <p:nvPr/>
          </p:nvSpPr>
          <p:spPr>
            <a:xfrm>
              <a:off x="8191500" y="1428750"/>
              <a:ext cx="3429000" cy="533400"/>
            </a:xfrm>
            <a:prstGeom prst="roundRect">
              <a:avLst>
                <a:gd name="adj" fmla="val 14285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柱3_見出し帯・角"/>
            <p:cNvSpPr/>
            <p:nvPr/>
          </p:nvSpPr>
          <p:spPr>
            <a:xfrm>
              <a:off x="8191500" y="1695450"/>
              <a:ext cx="34290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8343900" y="1428750"/>
              <a:ext cx="31242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lt1"/>
                  </a:solidFill>
                </a:rPr>
                <a:t>03｜見える</a:t>
              </a:r>
            </a:p>
          </p:txBody>
        </p:sp>
        <p:sp>
          <p:nvSpPr>
            <p:cNvPr id="35" name="価値の言い切り"/>
            <p:cNvSpPr/>
            <p:nvPr/>
          </p:nvSpPr>
          <p:spPr>
            <a:xfrm>
              <a:off x="8420100" y="2171700"/>
              <a:ext cx="2971800" cy="457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最新版と利用状況が</a:t>
              </a:r>
            </a:p>
            <a:p>
              <a:pPr algn="l">
                <a:lnSpc>
                  <a:spcPct val="150000"/>
                </a:lnSpc>
              </a:pPr>
              <a:r>
                <a:rPr sz="1300" b="1">
                  <a:solidFill>
                    <a:schemeClr val="dk2"/>
                  </a:solidFill>
                </a:rPr>
                <a:t>つねに見えている</a:t>
              </a:r>
            </a:p>
          </p:txBody>
        </p:sp>
        <p:sp>
          <p:nvSpPr>
            <p:cNvPr id="36" name="実現方法"/>
            <p:cNvSpPr/>
            <p:nvPr/>
          </p:nvSpPr>
          <p:spPr>
            <a:xfrm>
              <a:off x="8420100" y="2781300"/>
              <a:ext cx="29718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共有ワークスペースと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利用ログで「迷子」をなくす</a:t>
              </a:r>
            </a:p>
          </p:txBody>
        </p:sp>
        <p:cxnSp>
          <p:nvCxnSpPr>
            <p:cNvPr id="37" name="区切り線"/>
            <p:cNvCxnSpPr/>
            <p:nvPr/>
          </p:nvCxnSpPr>
          <p:spPr>
            <a:xfrm>
              <a:off x="8420100" y="339090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裏づけラベル"/>
            <p:cNvSpPr/>
            <p:nvPr/>
          </p:nvSpPr>
          <p:spPr>
            <a:xfrm>
              <a:off x="8420100" y="3524250"/>
              <a:ext cx="1143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裏づけ</a:t>
              </a:r>
            </a:p>
          </p:txBody>
        </p:sp>
        <p:sp>
          <p:nvSpPr>
            <p:cNvPr id="39" name="裏づけ数字"/>
            <p:cNvSpPr/>
            <p:nvPr/>
          </p:nvSpPr>
          <p:spPr>
            <a:xfrm>
              <a:off x="8420100" y="3733800"/>
              <a:ext cx="29718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accent1"/>
                  </a:solidFill>
                </a:rPr>
                <a:t>版違い事故 0件（320社・年間）</a:t>
              </a:r>
            </a:p>
          </p:txBody>
        </p:sp>
      </p:grpSp>
      <p:grpSp>
        <p:nvGrpSpPr>
          <p:cNvPr id="40" name="SoWhatボックス"/>
          <p:cNvGrpSpPr/>
          <p:nvPr/>
        </p:nvGrpSpPr>
        <p:grpSpPr>
          <a:xfrm>
            <a:off x="571500" y="4953000"/>
            <a:ext cx="11049000" cy="514350"/>
            <a:chOff x="571500" y="4953000"/>
            <a:chExt cx="11049000" cy="514350"/>
          </a:xfrm>
        </p:grpSpPr>
        <p:sp>
          <p:nvSpPr>
            <p:cNvPr id="41" name="示唆地"/>
            <p:cNvSpPr/>
            <p:nvPr/>
          </p:nvSpPr>
          <p:spPr>
            <a:xfrm>
              <a:off x="571500" y="4953000"/>
              <a:ext cx="1104900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示唆ラベル"/>
            <p:cNvSpPr/>
            <p:nvPr/>
          </p:nvSpPr>
          <p:spPr>
            <a:xfrm>
              <a:off x="800100" y="4953000"/>
              <a:ext cx="8001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So What</a:t>
              </a:r>
            </a:p>
          </p:txBody>
        </p:sp>
        <p:cxnSp>
          <p:nvCxnSpPr>
            <p:cNvPr id="43" name="区切り縦線"/>
            <p:cNvCxnSpPr/>
            <p:nvPr/>
          </p:nvCxnSpPr>
          <p:spPr>
            <a:xfrm>
              <a:off x="1676400" y="5076825"/>
              <a:ext cx="0" cy="266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示唆本文"/>
            <p:cNvSpPr/>
            <p:nvPr/>
          </p:nvSpPr>
          <p:spPr>
            <a:xfrm>
              <a:off x="1866900" y="4953000"/>
              <a:ext cx="95250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3本柱は連動して効く——次頁から柱ごとに証拠を示していく</a:t>
              </a:r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特徴・強み｜STRENGTH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選定の主要5項目すべてで、SampleWorksが基準を満たす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サービス選定の比較表（主要5項目）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注：A社・B社は説明用の架空の比較対象であり、実在の事業者ではありません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出所：各社公開資料の比較整理（2026年7月・架空サンプル）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11</a:t>
            </a:r>
          </a:p>
        </p:txBody>
      </p:sp>
      <p:grpSp>
        <p:nvGrpSpPr>
          <p:cNvPr id="10" name="比較_当社ハイライト"/>
          <p:cNvGrpSpPr/>
          <p:nvPr/>
        </p:nvGrpSpPr>
        <p:grpSpPr>
          <a:xfrm>
            <a:off x="4191000" y="1295400"/>
            <a:ext cx="2667000" cy="4476750"/>
            <a:chOff x="4191000" y="1295400"/>
            <a:chExt cx="2667000" cy="4476750"/>
          </a:xfrm>
        </p:grpSpPr>
        <p:sp>
          <p:nvSpPr>
            <p:cNvPr id="11" name="当社列ハイライト"/>
            <p:cNvSpPr/>
            <p:nvPr/>
          </p:nvSpPr>
          <p:spPr>
            <a:xfrm>
              <a:off x="4191000" y="1295400"/>
              <a:ext cx="2667000" cy="4476750"/>
            </a:xfrm>
            <a:prstGeom prst="roundRect">
              <a:avLst>
                <a:gd name="adj" fmla="val 3571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" name="比較_列見出し"/>
          <p:cNvGrpSpPr/>
          <p:nvPr/>
        </p:nvGrpSpPr>
        <p:grpSpPr>
          <a:xfrm>
            <a:off x="4381500" y="1428750"/>
            <a:ext cx="7048500" cy="419100"/>
            <a:chOff x="4381500" y="1428750"/>
            <a:chExt cx="7048500" cy="419100"/>
          </a:xfrm>
        </p:grpSpPr>
        <p:sp>
          <p:nvSpPr>
            <p:cNvPr id="13" name="当社見出し帯"/>
            <p:cNvSpPr/>
            <p:nvPr/>
          </p:nvSpPr>
          <p:spPr>
            <a:xfrm>
              <a:off x="4381500" y="1428750"/>
              <a:ext cx="2286000" cy="419100"/>
            </a:xfrm>
            <a:prstGeom prst="roundRect">
              <a:avLst>
                <a:gd name="adj" fmla="val 18181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当社名"/>
            <p:cNvSpPr/>
            <p:nvPr/>
          </p:nvSpPr>
          <p:spPr>
            <a:xfrm>
              <a:off x="4381500" y="1438275"/>
              <a:ext cx="22860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SampleWorks</a:t>
              </a:r>
            </a:p>
          </p:txBody>
        </p:sp>
        <p:sp>
          <p:nvSpPr>
            <p:cNvPr id="15" name="A社名"/>
            <p:cNvSpPr/>
            <p:nvPr/>
          </p:nvSpPr>
          <p:spPr>
            <a:xfrm>
              <a:off x="7048500" y="1428750"/>
              <a:ext cx="20955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A社（架空）</a:t>
              </a:r>
            </a:p>
          </p:txBody>
        </p:sp>
        <p:sp>
          <p:nvSpPr>
            <p:cNvPr id="16" name="B社名"/>
            <p:cNvSpPr/>
            <p:nvPr/>
          </p:nvSpPr>
          <p:spPr>
            <a:xfrm>
              <a:off x="9334500" y="1428750"/>
              <a:ext cx="209550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B社（架空）</a:t>
              </a:r>
            </a:p>
          </p:txBody>
        </p:sp>
      </p:grpSp>
      <p:grpSp>
        <p:nvGrpSpPr>
          <p:cNvPr id="17" name="比較_表本体"/>
          <p:cNvGrpSpPr/>
          <p:nvPr/>
        </p:nvGrpSpPr>
        <p:grpSpPr>
          <a:xfrm>
            <a:off x="571500" y="2000250"/>
            <a:ext cx="11049000" cy="3619500"/>
            <a:chOff x="571500" y="2000250"/>
            <a:chExt cx="11049000" cy="3619500"/>
          </a:xfrm>
        </p:grpSpPr>
        <p:cxnSp>
          <p:nvCxnSpPr>
            <p:cNvPr id="18" name="罫線1"/>
            <p:cNvCxnSpPr/>
            <p:nvPr/>
          </p:nvCxnSpPr>
          <p:spPr>
            <a:xfrm>
              <a:off x="571500" y="200025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罫線2"/>
            <p:cNvCxnSpPr/>
            <p:nvPr/>
          </p:nvCxnSpPr>
          <p:spPr>
            <a:xfrm>
              <a:off x="571500" y="272415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罫線3"/>
            <p:cNvCxnSpPr/>
            <p:nvPr/>
          </p:nvCxnSpPr>
          <p:spPr>
            <a:xfrm>
              <a:off x="571500" y="344805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罫線4"/>
            <p:cNvCxnSpPr/>
            <p:nvPr/>
          </p:nvCxnSpPr>
          <p:spPr>
            <a:xfrm>
              <a:off x="571500" y="417195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罫線5"/>
            <p:cNvCxnSpPr/>
            <p:nvPr/>
          </p:nvCxnSpPr>
          <p:spPr>
            <a:xfrm>
              <a:off x="571500" y="489585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罫線6"/>
            <p:cNvCxnSpPr/>
            <p:nvPr/>
          </p:nvCxnSpPr>
          <p:spPr>
            <a:xfrm>
              <a:off x="571500" y="561975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軸1"/>
            <p:cNvSpPr/>
            <p:nvPr/>
          </p:nvSpPr>
          <p:spPr>
            <a:xfrm>
              <a:off x="571500" y="2133600"/>
              <a:ext cx="3429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導入までの期間</a:t>
              </a:r>
            </a:p>
          </p:txBody>
        </p:sp>
        <p:sp>
          <p:nvSpPr>
            <p:cNvPr id="25" name="軸補足1"/>
            <p:cNvSpPr/>
            <p:nvPr/>
          </p:nvSpPr>
          <p:spPr>
            <a:xfrm>
              <a:off x="571500" y="2400300"/>
              <a:ext cx="342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申込みから利用開始まで</a:t>
              </a:r>
            </a:p>
          </p:txBody>
        </p:sp>
        <p:sp>
          <p:nvSpPr>
            <p:cNvPr id="26" name="値1_1"/>
            <p:cNvSpPr/>
            <p:nvPr/>
          </p:nvSpPr>
          <p:spPr>
            <a:xfrm>
              <a:off x="4381500" y="2000250"/>
              <a:ext cx="2286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最短2週間</a:t>
              </a:r>
            </a:p>
          </p:txBody>
        </p:sp>
        <p:sp>
          <p:nvSpPr>
            <p:cNvPr id="27" name="値1_2"/>
            <p:cNvSpPr/>
            <p:nvPr/>
          </p:nvSpPr>
          <p:spPr>
            <a:xfrm>
              <a:off x="7048500" y="2000250"/>
              <a:ext cx="2095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1〜2ヶ月</a:t>
              </a:r>
            </a:p>
          </p:txBody>
        </p:sp>
        <p:sp>
          <p:nvSpPr>
            <p:cNvPr id="28" name="値1_3"/>
            <p:cNvSpPr/>
            <p:nvPr/>
          </p:nvSpPr>
          <p:spPr>
            <a:xfrm>
              <a:off x="9334500" y="2000250"/>
              <a:ext cx="2095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約1ヶ月</a:t>
              </a:r>
            </a:p>
          </p:txBody>
        </p:sp>
        <p:sp>
          <p:nvSpPr>
            <p:cNvPr id="29" name="軸2"/>
            <p:cNvSpPr/>
            <p:nvPr/>
          </p:nvSpPr>
          <p:spPr>
            <a:xfrm>
              <a:off x="571500" y="2857500"/>
              <a:ext cx="3429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自動レイアウト生成</a:t>
              </a:r>
            </a:p>
          </p:txBody>
        </p:sp>
        <p:sp>
          <p:nvSpPr>
            <p:cNvPr id="30" name="軸補足2"/>
            <p:cNvSpPr/>
            <p:nvPr/>
          </p:nvSpPr>
          <p:spPr>
            <a:xfrm>
              <a:off x="571500" y="3124200"/>
              <a:ext cx="342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流し込み後の体裁調整</a:t>
              </a:r>
            </a:p>
          </p:txBody>
        </p:sp>
        <p:sp>
          <p:nvSpPr>
            <p:cNvPr id="31" name="対応2_1_丸"/>
            <p:cNvSpPr/>
            <p:nvPr/>
          </p:nvSpPr>
          <p:spPr>
            <a:xfrm>
              <a:off x="5391150" y="29527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対応2_1_チェック"/>
            <p:cNvSpPr/>
            <p:nvPr/>
          </p:nvSpPr>
          <p:spPr>
            <a:xfrm>
              <a:off x="5391150" y="2952750"/>
              <a:ext cx="266700" cy="266700"/>
            </a:xfrm>
            <a:custGeom>
              <a:avLst/>
              <a:gdLst/>
              <a:ahLst/>
              <a:cxnLst/>
              <a:rect l="0" t="0" r="266700" b="266700"/>
              <a:pathLst>
                <a:path w="266700" h="266700" fill="none">
                  <a:moveTo>
                    <a:pt x="74676" y="144018"/>
                  </a:moveTo>
                  <a:lnTo>
                    <a:pt x="117348" y="186690"/>
                  </a:lnTo>
                  <a:lnTo>
                    <a:pt x="197358" y="96012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非対応2_2_丸"/>
            <p:cNvSpPr/>
            <p:nvPr/>
          </p:nvSpPr>
          <p:spPr>
            <a:xfrm>
              <a:off x="7962900" y="2952750"/>
              <a:ext cx="266700" cy="26670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非対応2_2_バツ"/>
            <p:cNvSpPr/>
            <p:nvPr/>
          </p:nvSpPr>
          <p:spPr>
            <a:xfrm>
              <a:off x="7962900" y="2952750"/>
              <a:ext cx="266700" cy="266700"/>
            </a:xfrm>
            <a:custGeom>
              <a:avLst/>
              <a:gdLst/>
              <a:ahLst/>
              <a:cxnLst/>
              <a:rect l="0" t="0" r="266700" b="266700"/>
              <a:pathLst>
                <a:path w="266700" h="266700" fill="none">
                  <a:moveTo>
                    <a:pt x="88011" y="88011"/>
                  </a:moveTo>
                  <a:lnTo>
                    <a:pt x="178689" y="178689"/>
                  </a:lnTo>
                  <a:moveTo>
                    <a:pt x="178689" y="88011"/>
                  </a:moveTo>
                  <a:lnTo>
                    <a:pt x="88011" y="178689"/>
                  </a:lnTo>
                </a:path>
              </a:pathLst>
            </a:custGeom>
            <a:noFill/>
            <a:ln w="19050" cap="rnd">
              <a:solidFill>
                <a:schemeClr val="accent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非対応2_3_丸"/>
            <p:cNvSpPr/>
            <p:nvPr/>
          </p:nvSpPr>
          <p:spPr>
            <a:xfrm>
              <a:off x="10248900" y="2952750"/>
              <a:ext cx="266700" cy="26670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非対応2_3_バツ"/>
            <p:cNvSpPr/>
            <p:nvPr/>
          </p:nvSpPr>
          <p:spPr>
            <a:xfrm>
              <a:off x="10248900" y="2952750"/>
              <a:ext cx="266700" cy="266700"/>
            </a:xfrm>
            <a:custGeom>
              <a:avLst/>
              <a:gdLst/>
              <a:ahLst/>
              <a:cxnLst/>
              <a:rect l="0" t="0" r="266700" b="266700"/>
              <a:pathLst>
                <a:path w="266700" h="266700" fill="none">
                  <a:moveTo>
                    <a:pt x="88011" y="88011"/>
                  </a:moveTo>
                  <a:lnTo>
                    <a:pt x="178689" y="178689"/>
                  </a:lnTo>
                  <a:moveTo>
                    <a:pt x="178689" y="88011"/>
                  </a:moveTo>
                  <a:lnTo>
                    <a:pt x="88011" y="178689"/>
                  </a:lnTo>
                </a:path>
              </a:pathLst>
            </a:custGeom>
            <a:noFill/>
            <a:ln w="19050" cap="rnd">
              <a:solidFill>
                <a:schemeClr val="accent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軸3"/>
            <p:cNvSpPr/>
            <p:nvPr/>
          </p:nvSpPr>
          <p:spPr>
            <a:xfrm>
              <a:off x="571500" y="3581400"/>
              <a:ext cx="3429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日本語テンプレート</a:t>
              </a:r>
            </a:p>
          </p:txBody>
        </p:sp>
        <p:sp>
          <p:nvSpPr>
            <p:cNvPr id="38" name="軸補足3"/>
            <p:cNvSpPr/>
            <p:nvPr/>
          </p:nvSpPr>
          <p:spPr>
            <a:xfrm>
              <a:off x="571500" y="3848100"/>
              <a:ext cx="342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業務資料向けの収録数</a:t>
              </a:r>
            </a:p>
          </p:txBody>
        </p:sp>
        <p:sp>
          <p:nvSpPr>
            <p:cNvPr id="39" name="値3_1"/>
            <p:cNvSpPr/>
            <p:nvPr/>
          </p:nvSpPr>
          <p:spPr>
            <a:xfrm>
              <a:off x="4381500" y="3448050"/>
              <a:ext cx="22860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100種</a:t>
              </a:r>
            </a:p>
          </p:txBody>
        </p:sp>
        <p:sp>
          <p:nvSpPr>
            <p:cNvPr id="40" name="値3_2"/>
            <p:cNvSpPr/>
            <p:nvPr/>
          </p:nvSpPr>
          <p:spPr>
            <a:xfrm>
              <a:off x="7048500" y="3448050"/>
              <a:ext cx="2095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30種</a:t>
              </a:r>
            </a:p>
          </p:txBody>
        </p:sp>
        <p:sp>
          <p:nvSpPr>
            <p:cNvPr id="41" name="値3_3"/>
            <p:cNvSpPr/>
            <p:nvPr/>
          </p:nvSpPr>
          <p:spPr>
            <a:xfrm>
              <a:off x="9334500" y="3448050"/>
              <a:ext cx="2095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50種</a:t>
              </a:r>
            </a:p>
          </p:txBody>
        </p:sp>
        <p:sp>
          <p:nvSpPr>
            <p:cNvPr id="42" name="軸4"/>
            <p:cNvSpPr/>
            <p:nvPr/>
          </p:nvSpPr>
          <p:spPr>
            <a:xfrm>
              <a:off x="571500" y="4305300"/>
              <a:ext cx="3429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共有ワークスペース</a:t>
              </a:r>
            </a:p>
          </p:txBody>
        </p:sp>
        <p:sp>
          <p:nvSpPr>
            <p:cNvPr id="43" name="軸補足4"/>
            <p:cNvSpPr/>
            <p:nvPr/>
          </p:nvSpPr>
          <p:spPr>
            <a:xfrm>
              <a:off x="571500" y="4572000"/>
              <a:ext cx="342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全社での最新版共有</a:t>
              </a:r>
            </a:p>
          </p:txBody>
        </p:sp>
        <p:sp>
          <p:nvSpPr>
            <p:cNvPr id="44" name="対応4_1_丸"/>
            <p:cNvSpPr/>
            <p:nvPr/>
          </p:nvSpPr>
          <p:spPr>
            <a:xfrm>
              <a:off x="5391150" y="44005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対応4_1_チェック"/>
            <p:cNvSpPr/>
            <p:nvPr/>
          </p:nvSpPr>
          <p:spPr>
            <a:xfrm>
              <a:off x="5391150" y="4400550"/>
              <a:ext cx="266700" cy="266700"/>
            </a:xfrm>
            <a:custGeom>
              <a:avLst/>
              <a:gdLst/>
              <a:ahLst/>
              <a:cxnLst/>
              <a:rect l="0" t="0" r="266700" b="266700"/>
              <a:pathLst>
                <a:path w="266700" h="266700" fill="none">
                  <a:moveTo>
                    <a:pt x="74676" y="144018"/>
                  </a:moveTo>
                  <a:lnTo>
                    <a:pt x="117348" y="186690"/>
                  </a:lnTo>
                  <a:lnTo>
                    <a:pt x="197358" y="96012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対応4_2_丸"/>
            <p:cNvSpPr/>
            <p:nvPr/>
          </p:nvSpPr>
          <p:spPr>
            <a:xfrm>
              <a:off x="7962900" y="44005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対応4_2_チェック"/>
            <p:cNvSpPr/>
            <p:nvPr/>
          </p:nvSpPr>
          <p:spPr>
            <a:xfrm>
              <a:off x="7962900" y="4400550"/>
              <a:ext cx="266700" cy="266700"/>
            </a:xfrm>
            <a:custGeom>
              <a:avLst/>
              <a:gdLst/>
              <a:ahLst/>
              <a:cxnLst/>
              <a:rect l="0" t="0" r="266700" b="266700"/>
              <a:pathLst>
                <a:path w="266700" h="266700" fill="none">
                  <a:moveTo>
                    <a:pt x="74676" y="144018"/>
                  </a:moveTo>
                  <a:lnTo>
                    <a:pt x="117348" y="186690"/>
                  </a:lnTo>
                  <a:lnTo>
                    <a:pt x="197358" y="96012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非対応4_3_丸"/>
            <p:cNvSpPr/>
            <p:nvPr/>
          </p:nvSpPr>
          <p:spPr>
            <a:xfrm>
              <a:off x="10248900" y="4400550"/>
              <a:ext cx="266700" cy="26670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非対応4_3_バツ"/>
            <p:cNvSpPr/>
            <p:nvPr/>
          </p:nvSpPr>
          <p:spPr>
            <a:xfrm>
              <a:off x="10248900" y="4400550"/>
              <a:ext cx="266700" cy="266700"/>
            </a:xfrm>
            <a:custGeom>
              <a:avLst/>
              <a:gdLst/>
              <a:ahLst/>
              <a:cxnLst/>
              <a:rect l="0" t="0" r="266700" b="266700"/>
              <a:pathLst>
                <a:path w="266700" h="266700" fill="none">
                  <a:moveTo>
                    <a:pt x="88011" y="88011"/>
                  </a:moveTo>
                  <a:lnTo>
                    <a:pt x="178689" y="178689"/>
                  </a:lnTo>
                  <a:moveTo>
                    <a:pt x="178689" y="88011"/>
                  </a:moveTo>
                  <a:lnTo>
                    <a:pt x="88011" y="178689"/>
                  </a:lnTo>
                </a:path>
              </a:pathLst>
            </a:custGeom>
            <a:noFill/>
            <a:ln w="19050" cap="rnd">
              <a:solidFill>
                <a:schemeClr val="accent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軸5"/>
            <p:cNvSpPr/>
            <p:nvPr/>
          </p:nvSpPr>
          <p:spPr>
            <a:xfrm>
              <a:off x="571500" y="5029200"/>
              <a:ext cx="3429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月単位契約</a:t>
              </a:r>
            </a:p>
          </p:txBody>
        </p:sp>
        <p:sp>
          <p:nvSpPr>
            <p:cNvPr id="51" name="軸補足5"/>
            <p:cNvSpPr/>
            <p:nvPr/>
          </p:nvSpPr>
          <p:spPr>
            <a:xfrm>
              <a:off x="571500" y="5295900"/>
              <a:ext cx="3429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解約金・期間縛りなし</a:t>
              </a:r>
            </a:p>
          </p:txBody>
        </p:sp>
        <p:sp>
          <p:nvSpPr>
            <p:cNvPr id="52" name="対応5_1_丸"/>
            <p:cNvSpPr/>
            <p:nvPr/>
          </p:nvSpPr>
          <p:spPr>
            <a:xfrm>
              <a:off x="5391150" y="51244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対応5_1_チェック"/>
            <p:cNvSpPr/>
            <p:nvPr/>
          </p:nvSpPr>
          <p:spPr>
            <a:xfrm>
              <a:off x="5391150" y="5124450"/>
              <a:ext cx="266700" cy="266700"/>
            </a:xfrm>
            <a:custGeom>
              <a:avLst/>
              <a:gdLst/>
              <a:ahLst/>
              <a:cxnLst/>
              <a:rect l="0" t="0" r="266700" b="266700"/>
              <a:pathLst>
                <a:path w="266700" h="266700" fill="none">
                  <a:moveTo>
                    <a:pt x="74676" y="144018"/>
                  </a:moveTo>
                  <a:lnTo>
                    <a:pt x="117348" y="186690"/>
                  </a:lnTo>
                  <a:lnTo>
                    <a:pt x="197358" y="96012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非対応5_2_丸"/>
            <p:cNvSpPr/>
            <p:nvPr/>
          </p:nvSpPr>
          <p:spPr>
            <a:xfrm>
              <a:off x="7962900" y="5124450"/>
              <a:ext cx="266700" cy="26670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非対応5_2_バツ"/>
            <p:cNvSpPr/>
            <p:nvPr/>
          </p:nvSpPr>
          <p:spPr>
            <a:xfrm>
              <a:off x="7962900" y="5124450"/>
              <a:ext cx="266700" cy="266700"/>
            </a:xfrm>
            <a:custGeom>
              <a:avLst/>
              <a:gdLst/>
              <a:ahLst/>
              <a:cxnLst/>
              <a:rect l="0" t="0" r="266700" b="266700"/>
              <a:pathLst>
                <a:path w="266700" h="266700" fill="none">
                  <a:moveTo>
                    <a:pt x="88011" y="88011"/>
                  </a:moveTo>
                  <a:lnTo>
                    <a:pt x="178689" y="178689"/>
                  </a:lnTo>
                  <a:moveTo>
                    <a:pt x="178689" y="88011"/>
                  </a:moveTo>
                  <a:lnTo>
                    <a:pt x="88011" y="178689"/>
                  </a:lnTo>
                </a:path>
              </a:pathLst>
            </a:custGeom>
            <a:noFill/>
            <a:ln w="19050" cap="rnd">
              <a:solidFill>
                <a:schemeClr val="accent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対応5_3_丸"/>
            <p:cNvSpPr/>
            <p:nvPr/>
          </p:nvSpPr>
          <p:spPr>
            <a:xfrm>
              <a:off x="10248900" y="51244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対応5_3_チェック"/>
            <p:cNvSpPr/>
            <p:nvPr/>
          </p:nvSpPr>
          <p:spPr>
            <a:xfrm>
              <a:off x="10248900" y="5124450"/>
              <a:ext cx="266700" cy="266700"/>
            </a:xfrm>
            <a:custGeom>
              <a:avLst/>
              <a:gdLst/>
              <a:ahLst/>
              <a:cxnLst/>
              <a:rect l="0" t="0" r="266700" b="266700"/>
              <a:pathLst>
                <a:path w="266700" h="266700" fill="none">
                  <a:moveTo>
                    <a:pt x="74676" y="144018"/>
                  </a:moveTo>
                  <a:lnTo>
                    <a:pt x="117348" y="186690"/>
                  </a:lnTo>
                  <a:lnTo>
                    <a:pt x="197358" y="96012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" name="比較_全項目タグ"/>
          <p:cNvGrpSpPr/>
          <p:nvPr/>
        </p:nvGrpSpPr>
        <p:grpSpPr>
          <a:xfrm>
            <a:off x="4895850" y="5467350"/>
            <a:ext cx="1257300" cy="228600"/>
            <a:chOff x="4895850" y="5467350"/>
            <a:chExt cx="1257300" cy="228600"/>
          </a:xfrm>
        </p:grpSpPr>
        <p:sp>
          <p:nvSpPr>
            <p:cNvPr id="59" name="全項目タグ（朱）"/>
            <p:cNvSpPr/>
            <p:nvPr/>
          </p:nvSpPr>
          <p:spPr>
            <a:xfrm>
              <a:off x="4895850" y="5467350"/>
              <a:ext cx="1257300" cy="228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タグ文字"/>
            <p:cNvSpPr/>
            <p:nvPr/>
          </p:nvSpPr>
          <p:spPr>
            <a:xfrm>
              <a:off x="4895850" y="5476875"/>
              <a:ext cx="12573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5項目すべて対応</a:t>
              </a:r>
            </a:p>
          </p:txBody>
        </p:sp>
      </p:grpSp>
      <p:sp>
        <p:nvSpPr>
          <p:cNvPr id="61" name="Rectangle 60"/>
          <p:cNvSpPr/>
          <p:nvPr/>
        </p:nvSpPr>
        <p:spPr>
          <a:xfrm>
            <a:off x="571500" y="5867400"/>
            <a:ext cx="11049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比較軸は「読み手が選定時に必ず確認する項目」から先回りして提示する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機能・仕組み｜FEATURE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毎日使う機能は、この1画面に集約されている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メイン画面と主要3機能の対応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注：丸数字は画面スクリーンショットの該当位置へ移動してお使いください。画面はイメージです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出所：SampleWorksサービス資料（架空サンプル）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15</a:t>
            </a:r>
          </a:p>
        </p:txBody>
      </p:sp>
      <p:grpSp>
        <p:nvGrpSpPr>
          <p:cNvPr id="10" name="画面_ブラウザ枠"/>
          <p:cNvGrpSpPr/>
          <p:nvPr/>
        </p:nvGrpSpPr>
        <p:grpSpPr>
          <a:xfrm>
            <a:off x="571500" y="1333500"/>
            <a:ext cx="5905500" cy="3810000"/>
            <a:chOff x="571500" y="1333500"/>
            <a:chExt cx="5905500" cy="3810000"/>
          </a:xfrm>
        </p:grpSpPr>
        <p:sp>
          <p:nvSpPr>
            <p:cNvPr id="11" name="ブラウザ外枠"/>
            <p:cNvSpPr/>
            <p:nvPr/>
          </p:nvSpPr>
          <p:spPr>
            <a:xfrm>
              <a:off x="571500" y="1333500"/>
              <a:ext cx="5905500" cy="3810000"/>
            </a:xfrm>
            <a:prstGeom prst="roundRect">
              <a:avLst>
                <a:gd name="adj" fmla="val 2000"/>
              </a:avLst>
            </a:prstGeom>
            <a:solidFill>
              <a:schemeClr val="lt1"/>
            </a:solidFill>
            <a:ln w="11906">
              <a:solidFill>
                <a:schemeClr val="accent5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上バー"/>
            <p:cNvSpPr/>
            <p:nvPr/>
          </p:nvSpPr>
          <p:spPr>
            <a:xfrm>
              <a:off x="581025" y="1343025"/>
              <a:ext cx="5886450" cy="323850"/>
            </a:xfrm>
            <a:prstGeom prst="roundRect">
              <a:avLst>
                <a:gd name="adj" fmla="val 20588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上バー角消し"/>
            <p:cNvSpPr/>
            <p:nvPr/>
          </p:nvSpPr>
          <p:spPr>
            <a:xfrm>
              <a:off x="581025" y="1562100"/>
              <a:ext cx="5886450" cy="1047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バー区切り線"/>
            <p:cNvCxnSpPr/>
            <p:nvPr/>
          </p:nvCxnSpPr>
          <p:spPr>
            <a:xfrm>
              <a:off x="581025" y="1666875"/>
              <a:ext cx="588645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丸3点_1"/>
            <p:cNvSpPr/>
            <p:nvPr/>
          </p:nvSpPr>
          <p:spPr>
            <a:xfrm>
              <a:off x="676275" y="145732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丸3点_2"/>
            <p:cNvSpPr/>
            <p:nvPr/>
          </p:nvSpPr>
          <p:spPr>
            <a:xfrm>
              <a:off x="828675" y="145732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丸3点_3"/>
            <p:cNvSpPr/>
            <p:nvPr/>
          </p:nvSpPr>
          <p:spPr>
            <a:xfrm>
              <a:off x="981075" y="1457325"/>
              <a:ext cx="95250" cy="952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URL欄"/>
            <p:cNvSpPr/>
            <p:nvPr/>
          </p:nvSpPr>
          <p:spPr>
            <a:xfrm>
              <a:off x="1181100" y="1409700"/>
              <a:ext cx="5181600" cy="1905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URLテキスト"/>
            <p:cNvSpPr/>
            <p:nvPr/>
          </p:nvSpPr>
          <p:spPr>
            <a:xfrm>
              <a:off x="1295400" y="1409700"/>
              <a:ext cx="4953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https://example.com</a:t>
              </a:r>
            </a:p>
          </p:txBody>
        </p:sp>
        <p:sp>
          <p:nvSpPr>
            <p:cNvPr id="20" name="プレースホルダ"/>
            <p:cNvSpPr/>
            <p:nvPr/>
          </p:nvSpPr>
          <p:spPr>
            <a:xfrm>
              <a:off x="685800" y="1676400"/>
              <a:ext cx="5676900" cy="3352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画面スクリーンショットをここに配置</a:t>
              </a:r>
            </a:p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（差し替え後、右の丸数字①〜③を該当位置へ移動）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571500" y="5257800"/>
            <a:ext cx="5905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メイン画面（PC・ブラウザ）</a:t>
            </a:r>
          </a:p>
        </p:txBody>
      </p:sp>
      <p:grpSp>
        <p:nvGrpSpPr>
          <p:cNvPr id="22" name="機能01_テンプレートギャラリー"/>
          <p:cNvGrpSpPr/>
          <p:nvPr/>
        </p:nvGrpSpPr>
        <p:grpSpPr>
          <a:xfrm>
            <a:off x="7048500" y="1447800"/>
            <a:ext cx="4572000" cy="1009650"/>
            <a:chOff x="7048500" y="1447800"/>
            <a:chExt cx="4572000" cy="1009650"/>
          </a:xfrm>
        </p:grpSpPr>
        <p:sp>
          <p:nvSpPr>
            <p:cNvPr id="23" name="番号円"/>
            <p:cNvSpPr/>
            <p:nvPr/>
          </p:nvSpPr>
          <p:spPr>
            <a:xfrm>
              <a:off x="7048500" y="1447800"/>
              <a:ext cx="400050" cy="4000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番号"/>
            <p:cNvSpPr/>
            <p:nvPr/>
          </p:nvSpPr>
          <p:spPr>
            <a:xfrm>
              <a:off x="7048500" y="14573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25" name="機能名"/>
            <p:cNvSpPr/>
            <p:nvPr/>
          </p:nvSpPr>
          <p:spPr>
            <a:xfrm>
              <a:off x="7620000" y="1466850"/>
              <a:ext cx="3048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テンプレートギャラリー</a:t>
              </a:r>
            </a:p>
          </p:txBody>
        </p:sp>
        <p:sp>
          <p:nvSpPr>
            <p:cNvPr id="26" name="機能説明"/>
            <p:cNvSpPr/>
            <p:nvPr/>
          </p:nvSpPr>
          <p:spPr>
            <a:xfrm>
              <a:off x="7620000" y="1752600"/>
              <a:ext cx="40005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用途別100種から選ぶ。自社テンプレの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登録・全社共有もここから</a:t>
              </a:r>
            </a:p>
          </p:txBody>
        </p:sp>
        <p:cxnSp>
          <p:nvCxnSpPr>
            <p:cNvPr id="27" name="区切り線"/>
            <p:cNvCxnSpPr/>
            <p:nvPr/>
          </p:nvCxnSpPr>
          <p:spPr>
            <a:xfrm>
              <a:off x="7048500" y="2457450"/>
              <a:ext cx="4572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機能02_ワンクリック生成"/>
          <p:cNvGrpSpPr/>
          <p:nvPr/>
        </p:nvGrpSpPr>
        <p:grpSpPr>
          <a:xfrm>
            <a:off x="7048500" y="2724150"/>
            <a:ext cx="4572000" cy="1009650"/>
            <a:chOff x="7048500" y="2724150"/>
            <a:chExt cx="4572000" cy="1009650"/>
          </a:xfrm>
        </p:grpSpPr>
        <p:sp>
          <p:nvSpPr>
            <p:cNvPr id="29" name="番号円"/>
            <p:cNvSpPr/>
            <p:nvPr/>
          </p:nvSpPr>
          <p:spPr>
            <a:xfrm>
              <a:off x="7048500" y="2724150"/>
              <a:ext cx="400050" cy="4000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番号"/>
            <p:cNvSpPr/>
            <p:nvPr/>
          </p:nvSpPr>
          <p:spPr>
            <a:xfrm>
              <a:off x="7048500" y="273367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31" name="機能名"/>
            <p:cNvSpPr/>
            <p:nvPr/>
          </p:nvSpPr>
          <p:spPr>
            <a:xfrm>
              <a:off x="7620000" y="2743200"/>
              <a:ext cx="3048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ワンクリック生成</a:t>
              </a:r>
            </a:p>
          </p:txBody>
        </p:sp>
        <p:sp>
          <p:nvSpPr>
            <p:cNvPr id="32" name="機能説明"/>
            <p:cNvSpPr/>
            <p:nvPr/>
          </p:nvSpPr>
          <p:spPr>
            <a:xfrm>
              <a:off x="7620000" y="3028950"/>
              <a:ext cx="40005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データを選ぶと、レイアウト調整済みの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資料が自動で仕上がる</a:t>
              </a:r>
            </a:p>
          </p:txBody>
        </p:sp>
        <p:cxnSp>
          <p:nvCxnSpPr>
            <p:cNvPr id="33" name="区切り線"/>
            <p:cNvCxnSpPr/>
            <p:nvPr/>
          </p:nvCxnSpPr>
          <p:spPr>
            <a:xfrm>
              <a:off x="7048500" y="3733800"/>
              <a:ext cx="4572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機能03_共有リンク管理"/>
          <p:cNvGrpSpPr/>
          <p:nvPr/>
        </p:nvGrpSpPr>
        <p:grpSpPr>
          <a:xfrm>
            <a:off x="7048500" y="4000500"/>
            <a:ext cx="4572000" cy="685800"/>
            <a:chOff x="7048500" y="4000500"/>
            <a:chExt cx="4572000" cy="685800"/>
          </a:xfrm>
        </p:grpSpPr>
        <p:sp>
          <p:nvSpPr>
            <p:cNvPr id="35" name="番号円"/>
            <p:cNvSpPr/>
            <p:nvPr/>
          </p:nvSpPr>
          <p:spPr>
            <a:xfrm>
              <a:off x="7048500" y="4000500"/>
              <a:ext cx="400050" cy="4000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番号"/>
            <p:cNvSpPr/>
            <p:nvPr/>
          </p:nvSpPr>
          <p:spPr>
            <a:xfrm>
              <a:off x="7048500" y="4010025"/>
              <a:ext cx="4000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37" name="機能名"/>
            <p:cNvSpPr/>
            <p:nvPr/>
          </p:nvSpPr>
          <p:spPr>
            <a:xfrm>
              <a:off x="7620000" y="4019550"/>
              <a:ext cx="3048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共有リンク管理</a:t>
              </a:r>
            </a:p>
          </p:txBody>
        </p:sp>
        <p:sp>
          <p:nvSpPr>
            <p:cNvPr id="38" name="機能説明"/>
            <p:cNvSpPr/>
            <p:nvPr/>
          </p:nvSpPr>
          <p:spPr>
            <a:xfrm>
              <a:off x="7620000" y="4305300"/>
              <a:ext cx="40005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URLを送るだけ。相手が見るのは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つねに最新版だけになる</a:t>
              </a:r>
            </a:p>
          </p:txBody>
        </p:sp>
      </p:grpSp>
      <p:grpSp>
        <p:nvGrpSpPr>
          <p:cNvPr id="39" name="機能_利用タグ"/>
          <p:cNvGrpSpPr/>
          <p:nvPr/>
        </p:nvGrpSpPr>
        <p:grpSpPr>
          <a:xfrm>
            <a:off x="10725150" y="2724150"/>
            <a:ext cx="857250" cy="209550"/>
            <a:chOff x="10725150" y="2724150"/>
            <a:chExt cx="857250" cy="209550"/>
          </a:xfrm>
        </p:grpSpPr>
        <p:sp>
          <p:nvSpPr>
            <p:cNvPr id="40" name="利用No.1タグ（朱）"/>
            <p:cNvSpPr/>
            <p:nvPr/>
          </p:nvSpPr>
          <p:spPr>
            <a:xfrm>
              <a:off x="10725150" y="2724150"/>
              <a:ext cx="857250" cy="209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タグ文字"/>
            <p:cNvSpPr/>
            <p:nvPr/>
          </p:nvSpPr>
          <p:spPr>
            <a:xfrm>
              <a:off x="10725150" y="2733675"/>
              <a:ext cx="857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 b="1">
                  <a:solidFill>
                    <a:schemeClr val="lt1"/>
                  </a:solidFill>
                </a:rPr>
                <a:t>利用No.1</a:t>
              </a:r>
            </a:p>
          </p:txBody>
        </p:sp>
      </p:grpSp>
      <p:sp>
        <p:nvSpPr>
          <p:cNvPr id="42" name="Rectangle 41"/>
          <p:cNvSpPr/>
          <p:nvPr/>
        </p:nvSpPr>
        <p:spPr>
          <a:xfrm>
            <a:off x="7048500" y="5334000"/>
            <a:ext cx="4572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>
                <a:solidFill>
                  <a:schemeClr val="accent5"/>
                </a:solidFill>
              </a:rPr>
              <a:t>機能の説明は3つまで——4つ目からは16頁の機能マップに送る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事例｜CASE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導入3ヶ月で、資料作成の時間は半分になった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導入事例：株式会社サンプル運輸（物流業・従業員420名／架空）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注：数値は導入前後3ヶ月の実測比較。事例の内容はすべて架空のサンプルです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出所：導入企業インタビュー（2026年6月・架空サンプル）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2</a:t>
            </a:r>
          </a:p>
        </p:txBody>
      </p:sp>
      <p:grpSp>
        <p:nvGrpSpPr>
          <p:cNvPr id="10" name="事例_導入概要"/>
          <p:cNvGrpSpPr/>
          <p:nvPr/>
        </p:nvGrpSpPr>
        <p:grpSpPr>
          <a:xfrm>
            <a:off x="571500" y="1352550"/>
            <a:ext cx="4762500" cy="1905000"/>
            <a:chOff x="571500" y="1352550"/>
            <a:chExt cx="4762500" cy="1905000"/>
          </a:xfrm>
        </p:grpSpPr>
        <p:sp>
          <p:nvSpPr>
            <p:cNvPr id="11" name="概要_カード本体"/>
            <p:cNvSpPr/>
            <p:nvPr/>
          </p:nvSpPr>
          <p:spPr>
            <a:xfrm>
              <a:off x="571500" y="1352550"/>
              <a:ext cx="4762500" cy="1905000"/>
            </a:xfrm>
            <a:prstGeom prst="roundRect">
              <a:avLst>
                <a:gd name="adj" fmla="val 4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概要_見出し帯"/>
            <p:cNvSpPr/>
            <p:nvPr/>
          </p:nvSpPr>
          <p:spPr>
            <a:xfrm>
              <a:off x="571500" y="1352550"/>
              <a:ext cx="4762500" cy="361950"/>
            </a:xfrm>
            <a:prstGeom prst="roundRect">
              <a:avLst>
                <a:gd name="adj" fmla="val 21052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概要_見出し帯・角"/>
            <p:cNvSpPr/>
            <p:nvPr/>
          </p:nvSpPr>
          <p:spPr>
            <a:xfrm>
              <a:off x="571500" y="1533525"/>
              <a:ext cx="4762500" cy="1809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23900" y="1352550"/>
              <a:ext cx="445770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導入概要</a:t>
              </a:r>
            </a:p>
          </p:txBody>
        </p:sp>
        <p:sp>
          <p:nvSpPr>
            <p:cNvPr id="15" name="項目1"/>
            <p:cNvSpPr/>
            <p:nvPr/>
          </p:nvSpPr>
          <p:spPr>
            <a:xfrm>
              <a:off x="800100" y="1866900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対象部門</a:t>
              </a:r>
            </a:p>
          </p:txBody>
        </p:sp>
        <p:sp>
          <p:nvSpPr>
            <p:cNvPr id="16" name="値1"/>
            <p:cNvSpPr/>
            <p:nvPr/>
          </p:nvSpPr>
          <p:spPr>
            <a:xfrm>
              <a:off x="1905000" y="1847850"/>
              <a:ext cx="3238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配車管理・営業 60名</a:t>
              </a:r>
            </a:p>
          </p:txBody>
        </p:sp>
        <p:cxnSp>
          <p:nvCxnSpPr>
            <p:cNvPr id="17" name="罫線1"/>
            <p:cNvCxnSpPr/>
            <p:nvPr/>
          </p:nvCxnSpPr>
          <p:spPr>
            <a:xfrm>
              <a:off x="800100" y="2209800"/>
              <a:ext cx="43053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項目2"/>
            <p:cNvSpPr/>
            <p:nvPr/>
          </p:nvSpPr>
          <p:spPr>
            <a:xfrm>
              <a:off x="800100" y="2343150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導入時期</a:t>
              </a:r>
            </a:p>
          </p:txBody>
        </p:sp>
        <p:sp>
          <p:nvSpPr>
            <p:cNvPr id="19" name="値2"/>
            <p:cNvSpPr/>
            <p:nvPr/>
          </p:nvSpPr>
          <p:spPr>
            <a:xfrm>
              <a:off x="1905000" y="2324100"/>
              <a:ext cx="3238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2026年1月（3ヶ月経過時点）</a:t>
              </a:r>
            </a:p>
          </p:txBody>
        </p:sp>
        <p:cxnSp>
          <p:nvCxnSpPr>
            <p:cNvPr id="20" name="罫線2"/>
            <p:cNvCxnSpPr/>
            <p:nvPr/>
          </p:nvCxnSpPr>
          <p:spPr>
            <a:xfrm>
              <a:off x="800100" y="2686050"/>
              <a:ext cx="43053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項目3"/>
            <p:cNvSpPr/>
            <p:nvPr/>
          </p:nvSpPr>
          <p:spPr>
            <a:xfrm>
              <a:off x="800100" y="2819400"/>
              <a:ext cx="1047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利用範囲</a:t>
              </a:r>
            </a:p>
          </p:txBody>
        </p:sp>
        <p:sp>
          <p:nvSpPr>
            <p:cNvPr id="22" name="値3"/>
            <p:cNvSpPr/>
            <p:nvPr/>
          </p:nvSpPr>
          <p:spPr>
            <a:xfrm>
              <a:off x="1905000" y="2800350"/>
              <a:ext cx="3238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配車表・提案書・月次報告</a:t>
              </a:r>
            </a:p>
          </p:txBody>
        </p:sp>
      </p:grpSp>
      <p:grpSp>
        <p:nvGrpSpPr>
          <p:cNvPr id="23" name="事例_顧客の声"/>
          <p:cNvGrpSpPr/>
          <p:nvPr/>
        </p:nvGrpSpPr>
        <p:grpSpPr>
          <a:xfrm>
            <a:off x="571500" y="3543300"/>
            <a:ext cx="4762500" cy="1924050"/>
            <a:chOff x="571500" y="3543300"/>
            <a:chExt cx="4762500" cy="1924050"/>
          </a:xfrm>
        </p:grpSpPr>
        <p:sp>
          <p:nvSpPr>
            <p:cNvPr id="24" name="声の吹き出し"/>
            <p:cNvSpPr/>
            <p:nvPr/>
          </p:nvSpPr>
          <p:spPr>
            <a:xfrm>
              <a:off x="571500" y="3543300"/>
              <a:ext cx="4762500" cy="1504950"/>
            </a:xfrm>
            <a:custGeom>
              <a:avLst/>
              <a:gdLst/>
              <a:ahLst/>
              <a:cxnLst/>
              <a:rect l="0" t="0" r="4762500" b="1333500"/>
              <a:pathLst>
                <a:path w="4762500" h="1504950">
                  <a:moveTo>
                    <a:pt x="76200" y="0"/>
                  </a:moveTo>
                  <a:lnTo>
                    <a:pt x="4686300" y="0"/>
                  </a:lnTo>
                  <a:arcTo wR="76200" hR="76200" stAng="16200000" swAng="5400000"/>
                  <a:lnTo>
                    <a:pt x="4762500" y="1257300"/>
                  </a:lnTo>
                  <a:arcTo wR="76200" hR="76200" stAng="0" swAng="5400000"/>
                  <a:lnTo>
                    <a:pt x="866775" y="1333500"/>
                  </a:lnTo>
                  <a:lnTo>
                    <a:pt x="762000" y="1504950"/>
                  </a:lnTo>
                  <a:lnTo>
                    <a:pt x="657225" y="1333500"/>
                  </a:lnTo>
                  <a:lnTo>
                    <a:pt x="76200" y="1333500"/>
                  </a:lnTo>
                  <a:arcTo wR="76200" hR="76200" stAng="5400000" swAng="5400000"/>
                  <a:lnTo>
                    <a:pt x="0" y="76200"/>
                  </a:lnTo>
                  <a:arcTo wR="76200" hR="76200" stAng="10800000" swAng="5400000"/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04850" y="3543300"/>
              <a:ext cx="4495800" cy="1333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「配車表も提案書も、型に流し込む</a:t>
              </a:r>
            </a:p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だけになりました。夜9時までの</a:t>
              </a:r>
            </a:p>
            <a:p>
              <a:pPr algn="ctr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残業が、いまはほぼゼロです」</a:t>
              </a:r>
            </a:p>
          </p:txBody>
        </p:sp>
        <p:sp>
          <p:nvSpPr>
            <p:cNvPr id="26" name="話者頭文字丸"/>
            <p:cNvSpPr/>
            <p:nvPr/>
          </p:nvSpPr>
          <p:spPr>
            <a:xfrm>
              <a:off x="666750" y="5143500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頭文字"/>
            <p:cNvSpPr/>
            <p:nvPr/>
          </p:nvSpPr>
          <p:spPr>
            <a:xfrm>
              <a:off x="666750" y="5153025"/>
              <a:ext cx="32385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T</a:t>
              </a:r>
            </a:p>
          </p:txBody>
        </p:sp>
        <p:sp>
          <p:nvSpPr>
            <p:cNvPr id="28" name="話者ラベル"/>
            <p:cNvSpPr/>
            <p:nvPr/>
          </p:nvSpPr>
          <p:spPr>
            <a:xfrm>
              <a:off x="1104900" y="5172075"/>
              <a:ext cx="38100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高橋様（仮名）｜配車管理部 部長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5905500" y="13335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>
                <a:solidFill>
                  <a:schemeClr val="accent5"/>
                </a:solidFill>
              </a:rPr>
              <a:t>資料作成時間（対象60名・週平均）</a:t>
            </a:r>
          </a:p>
        </p:txBody>
      </p:sp>
      <p:grpSp>
        <p:nvGrpSpPr>
          <p:cNvPr id="30" name="事例_BeforeAfter"/>
          <p:cNvGrpSpPr/>
          <p:nvPr/>
        </p:nvGrpSpPr>
        <p:grpSpPr>
          <a:xfrm>
            <a:off x="5905500" y="1600200"/>
            <a:ext cx="5715000" cy="1257300"/>
            <a:chOff x="5905500" y="1600200"/>
            <a:chExt cx="5715000" cy="1257300"/>
          </a:xfrm>
        </p:grpSpPr>
        <p:sp>
          <p:nvSpPr>
            <p:cNvPr id="31" name="効果タグ（朱）"/>
            <p:cNvSpPr/>
            <p:nvPr/>
          </p:nvSpPr>
          <p:spPr>
            <a:xfrm>
              <a:off x="8267700" y="16002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効果タグ文字"/>
            <p:cNvSpPr/>
            <p:nvPr/>
          </p:nvSpPr>
          <p:spPr>
            <a:xfrm>
              <a:off x="8267700" y="1609725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−55%</a:t>
              </a:r>
            </a:p>
          </p:txBody>
        </p:sp>
        <p:sp>
          <p:nvSpPr>
            <p:cNvPr id="33" name="Before箱"/>
            <p:cNvSpPr/>
            <p:nvPr/>
          </p:nvSpPr>
          <p:spPr>
            <a:xfrm>
              <a:off x="5905500" y="1809750"/>
              <a:ext cx="1809750" cy="1047750"/>
            </a:xfrm>
            <a:prstGeom prst="roundRect">
              <a:avLst>
                <a:gd name="adj" fmla="val 7272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Beforeラベル"/>
            <p:cNvSpPr/>
            <p:nvPr/>
          </p:nvSpPr>
          <p:spPr>
            <a:xfrm>
              <a:off x="5905500" y="1943100"/>
              <a:ext cx="1809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Before</a:t>
              </a:r>
            </a:p>
          </p:txBody>
        </p:sp>
        <p:sp>
          <p:nvSpPr>
            <p:cNvPr id="35" name="Before値"/>
            <p:cNvSpPr/>
            <p:nvPr/>
          </p:nvSpPr>
          <p:spPr>
            <a:xfrm>
              <a:off x="5905500" y="2190750"/>
              <a:ext cx="18097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11.2時間/週</a:t>
              </a:r>
            </a:p>
          </p:txBody>
        </p:sp>
        <p:sp>
          <p:nvSpPr>
            <p:cNvPr id="36" name="効果太矢印"/>
            <p:cNvSpPr/>
            <p:nvPr/>
          </p:nvSpPr>
          <p:spPr>
            <a:xfrm>
              <a:off x="7905750" y="2047875"/>
              <a:ext cx="1714500" cy="571500"/>
            </a:xfrm>
            <a:prstGeom prst="rightArrow">
              <a:avLst>
                <a:gd name="adj1" fmla="val 50000"/>
                <a:gd name="adj2" fmla="val 35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After箱"/>
            <p:cNvSpPr/>
            <p:nvPr/>
          </p:nvSpPr>
          <p:spPr>
            <a:xfrm>
              <a:off x="9810750" y="1809750"/>
              <a:ext cx="1809750" cy="1047750"/>
            </a:xfrm>
            <a:prstGeom prst="roundRect">
              <a:avLst>
                <a:gd name="adj" fmla="val 7272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Afterラベル"/>
            <p:cNvSpPr/>
            <p:nvPr/>
          </p:nvSpPr>
          <p:spPr>
            <a:xfrm>
              <a:off x="9810750" y="1943100"/>
              <a:ext cx="1809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After</a:t>
              </a:r>
            </a:p>
          </p:txBody>
        </p:sp>
        <p:sp>
          <p:nvSpPr>
            <p:cNvPr id="39" name="After値"/>
            <p:cNvSpPr/>
            <p:nvPr/>
          </p:nvSpPr>
          <p:spPr>
            <a:xfrm>
              <a:off x="9810750" y="2190750"/>
              <a:ext cx="18097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700" b="1">
                  <a:solidFill>
                    <a:schemeClr val="lt1"/>
                  </a:solidFill>
                </a:rPr>
                <a:t>5.0時間/週</a:t>
              </a:r>
            </a:p>
          </p:txBody>
        </p:sp>
      </p:grpSp>
      <p:sp>
        <p:nvSpPr>
          <p:cNvPr id="40" name="Rectangle 39"/>
          <p:cNvSpPr/>
          <p:nvPr/>
        </p:nvSpPr>
        <p:spPr>
          <a:xfrm>
            <a:off x="5905500" y="3009900"/>
            <a:ext cx="5715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solidFill>
                  <a:schemeClr val="dk1"/>
                </a:solidFill>
              </a:rPr>
              <a:t>上司の手直しも 月12件 → 4件 に減少</a:t>
            </a:r>
          </a:p>
        </p:txBody>
      </p:sp>
      <p:grpSp>
        <p:nvGrpSpPr>
          <p:cNvPr id="41" name="事例_周辺効果"/>
          <p:cNvGrpSpPr/>
          <p:nvPr/>
        </p:nvGrpSpPr>
        <p:grpSpPr>
          <a:xfrm>
            <a:off x="5905500" y="3390900"/>
            <a:ext cx="5715000" cy="990600"/>
            <a:chOff x="5905500" y="3390900"/>
            <a:chExt cx="5715000" cy="990600"/>
          </a:xfrm>
        </p:grpSpPr>
        <p:sp>
          <p:nvSpPr>
            <p:cNvPr id="42" name="ミニKPI1"/>
            <p:cNvSpPr/>
            <p:nvPr/>
          </p:nvSpPr>
          <p:spPr>
            <a:xfrm>
              <a:off x="5905500" y="3390900"/>
              <a:ext cx="1809750" cy="990600"/>
            </a:xfrm>
            <a:prstGeom prst="roundRect">
              <a:avLst>
                <a:gd name="adj" fmla="val 769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ミニ指標1"/>
            <p:cNvSpPr/>
            <p:nvPr/>
          </p:nvSpPr>
          <p:spPr>
            <a:xfrm>
              <a:off x="5905500" y="3524250"/>
              <a:ext cx="1809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残業時間</a:t>
              </a:r>
            </a:p>
          </p:txBody>
        </p:sp>
        <p:sp>
          <p:nvSpPr>
            <p:cNvPr id="44" name="ミニ数値1"/>
            <p:cNvSpPr/>
            <p:nvPr/>
          </p:nvSpPr>
          <p:spPr>
            <a:xfrm>
              <a:off x="5905500" y="3752850"/>
              <a:ext cx="18097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1">
                  <a:solidFill>
                    <a:schemeClr val="accent1"/>
                  </a:solidFill>
                </a:rPr>
                <a:t>−38%</a:t>
              </a:r>
            </a:p>
          </p:txBody>
        </p:sp>
        <p:sp>
          <p:nvSpPr>
            <p:cNvPr id="45" name="ミニKPI2"/>
            <p:cNvSpPr/>
            <p:nvPr/>
          </p:nvSpPr>
          <p:spPr>
            <a:xfrm>
              <a:off x="7858125" y="3390900"/>
              <a:ext cx="1809750" cy="990600"/>
            </a:xfrm>
            <a:prstGeom prst="roundRect">
              <a:avLst>
                <a:gd name="adj" fmla="val 769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ミニ指標2"/>
            <p:cNvSpPr/>
            <p:nvPr/>
          </p:nvSpPr>
          <p:spPr>
            <a:xfrm>
              <a:off x="7858125" y="3524250"/>
              <a:ext cx="1809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提案件数</a:t>
              </a:r>
            </a:p>
          </p:txBody>
        </p:sp>
        <p:sp>
          <p:nvSpPr>
            <p:cNvPr id="47" name="ミニ数値2"/>
            <p:cNvSpPr/>
            <p:nvPr/>
          </p:nvSpPr>
          <p:spPr>
            <a:xfrm>
              <a:off x="7858125" y="3752850"/>
              <a:ext cx="18097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1">
                  <a:solidFill>
                    <a:schemeClr val="accent1"/>
                  </a:solidFill>
                </a:rPr>
                <a:t>+24%</a:t>
              </a:r>
            </a:p>
          </p:txBody>
        </p:sp>
        <p:sp>
          <p:nvSpPr>
            <p:cNvPr id="48" name="ミニKPI3"/>
            <p:cNvSpPr/>
            <p:nvPr/>
          </p:nvSpPr>
          <p:spPr>
            <a:xfrm>
              <a:off x="9810750" y="3390900"/>
              <a:ext cx="1809750" cy="990600"/>
            </a:xfrm>
            <a:prstGeom prst="roundRect">
              <a:avLst>
                <a:gd name="adj" fmla="val 769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ミニ指標3"/>
            <p:cNvSpPr/>
            <p:nvPr/>
          </p:nvSpPr>
          <p:spPr>
            <a:xfrm>
              <a:off x="9810750" y="3524250"/>
              <a:ext cx="1809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テンプレ利用率</a:t>
              </a:r>
            </a:p>
          </p:txBody>
        </p:sp>
        <p:sp>
          <p:nvSpPr>
            <p:cNvPr id="50" name="ミニ数値3"/>
            <p:cNvSpPr/>
            <p:nvPr/>
          </p:nvSpPr>
          <p:spPr>
            <a:xfrm>
              <a:off x="9810750" y="3752850"/>
              <a:ext cx="18097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1">
                  <a:solidFill>
                    <a:schemeClr val="accent1"/>
                  </a:solidFill>
                </a:rPr>
                <a:t>88%</a:t>
              </a:r>
            </a:p>
          </p:txBody>
        </p:sp>
      </p:grpSp>
      <p:grpSp>
        <p:nvGrpSpPr>
          <p:cNvPr id="51" name="事例_成功要因"/>
          <p:cNvGrpSpPr/>
          <p:nvPr/>
        </p:nvGrpSpPr>
        <p:grpSpPr>
          <a:xfrm>
            <a:off x="5905500" y="4572000"/>
            <a:ext cx="5715000" cy="1485900"/>
            <a:chOff x="5905500" y="4572000"/>
            <a:chExt cx="5715000" cy="1485900"/>
          </a:xfrm>
        </p:grpSpPr>
        <p:sp>
          <p:nvSpPr>
            <p:cNvPr id="52" name="要因カード"/>
            <p:cNvSpPr/>
            <p:nvPr/>
          </p:nvSpPr>
          <p:spPr>
            <a:xfrm>
              <a:off x="5905500" y="4572000"/>
              <a:ext cx="5715000" cy="1485900"/>
            </a:xfrm>
            <a:prstGeom prst="roundRect">
              <a:avLst>
                <a:gd name="adj" fmla="val 512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要因見出し"/>
            <p:cNvSpPr/>
            <p:nvPr/>
          </p:nvSpPr>
          <p:spPr>
            <a:xfrm>
              <a:off x="6134100" y="472440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効果が出た3つの理由</a:t>
              </a:r>
            </a:p>
          </p:txBody>
        </p:sp>
        <p:sp>
          <p:nvSpPr>
            <p:cNvPr id="54" name="チェック1_丸"/>
            <p:cNvSpPr/>
            <p:nvPr/>
          </p:nvSpPr>
          <p:spPr>
            <a:xfrm>
              <a:off x="6134100" y="50101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チェック1_チェック"/>
            <p:cNvSpPr/>
            <p:nvPr/>
          </p:nvSpPr>
          <p:spPr>
            <a:xfrm>
              <a:off x="6134100" y="5010150"/>
              <a:ext cx="190500" cy="190500"/>
            </a:xfrm>
            <a:custGeom>
              <a:avLst/>
              <a:gdLst/>
              <a:ahLst/>
              <a:cxnLst/>
              <a:rect l="0" t="0" r="190500" b="190500"/>
              <a:pathLst>
                <a:path w="190500" h="190500" fill="none">
                  <a:moveTo>
                    <a:pt x="53340" y="102870"/>
                  </a:moveTo>
                  <a:lnTo>
                    <a:pt x="83820" y="133350"/>
                  </a:lnTo>
                  <a:lnTo>
                    <a:pt x="140970" y="68580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理由1"/>
            <p:cNvSpPr/>
            <p:nvPr/>
          </p:nvSpPr>
          <p:spPr>
            <a:xfrm>
              <a:off x="6438900" y="4981575"/>
              <a:ext cx="49530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既存の配車表・提案書をテンプレート化してから移行した</a:t>
              </a:r>
            </a:p>
          </p:txBody>
        </p:sp>
        <p:sp>
          <p:nvSpPr>
            <p:cNvPr id="57" name="チェック2_丸"/>
            <p:cNvSpPr/>
            <p:nvPr/>
          </p:nvSpPr>
          <p:spPr>
            <a:xfrm>
              <a:off x="6134100" y="53340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チェック2_チェック"/>
            <p:cNvSpPr/>
            <p:nvPr/>
          </p:nvSpPr>
          <p:spPr>
            <a:xfrm>
              <a:off x="6134100" y="5334000"/>
              <a:ext cx="190500" cy="190500"/>
            </a:xfrm>
            <a:custGeom>
              <a:avLst/>
              <a:gdLst/>
              <a:ahLst/>
              <a:cxnLst/>
              <a:rect l="0" t="0" r="190500" b="190500"/>
              <a:pathLst>
                <a:path w="190500" h="190500" fill="none">
                  <a:moveTo>
                    <a:pt x="53340" y="102870"/>
                  </a:moveTo>
                  <a:lnTo>
                    <a:pt x="83820" y="133350"/>
                  </a:lnTo>
                  <a:lnTo>
                    <a:pt x="140970" y="68580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理由2"/>
            <p:cNvSpPr/>
            <p:nvPr/>
          </p:nvSpPr>
          <p:spPr>
            <a:xfrm>
              <a:off x="6438900" y="5305425"/>
              <a:ext cx="49530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初週に全員向けの30分研修を実施した</a:t>
              </a:r>
            </a:p>
          </p:txBody>
        </p:sp>
        <p:sp>
          <p:nvSpPr>
            <p:cNvPr id="60" name="チェック3_丸"/>
            <p:cNvSpPr/>
            <p:nvPr/>
          </p:nvSpPr>
          <p:spPr>
            <a:xfrm>
              <a:off x="6134100" y="56578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チェック3_チェック"/>
            <p:cNvSpPr/>
            <p:nvPr/>
          </p:nvSpPr>
          <p:spPr>
            <a:xfrm>
              <a:off x="6134100" y="5657850"/>
              <a:ext cx="190500" cy="190500"/>
            </a:xfrm>
            <a:custGeom>
              <a:avLst/>
              <a:gdLst/>
              <a:ahLst/>
              <a:cxnLst/>
              <a:rect l="0" t="0" r="190500" b="190500"/>
              <a:pathLst>
                <a:path w="190500" h="190500" fill="none">
                  <a:moveTo>
                    <a:pt x="53340" y="102870"/>
                  </a:moveTo>
                  <a:lnTo>
                    <a:pt x="83820" y="133350"/>
                  </a:lnTo>
                  <a:lnTo>
                    <a:pt x="140970" y="68580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理由3"/>
            <p:cNvSpPr/>
            <p:nvPr/>
          </p:nvSpPr>
          <p:spPr>
            <a:xfrm>
              <a:off x="6438900" y="5629275"/>
              <a:ext cx="49530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週次で利用ログを確認し、未利用者を個別に支援した</a:t>
              </a:r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事例｜CASE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導入32社の平均で、作成時間は半分以下になっている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導入企業32社の平均改善値（導入3ヶ月時点）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注：各社実測値の単純平均。効果は利用状況により異なります。数値は架空のサンプル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出所：導入企業32社の利用ログ集計（2026年6月・架空サンプル）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6</a:t>
            </a:r>
          </a:p>
        </p:txBody>
      </p:sp>
      <p:grpSp>
        <p:nvGrpSpPr>
          <p:cNvPr id="10" name="平均01_作成時間"/>
          <p:cNvGrpSpPr/>
          <p:nvPr/>
        </p:nvGrpSpPr>
        <p:grpSpPr>
          <a:xfrm>
            <a:off x="571500" y="1390650"/>
            <a:ext cx="4572000" cy="2857500"/>
            <a:chOff x="571500" y="1390650"/>
            <a:chExt cx="4572000" cy="2857500"/>
          </a:xfrm>
        </p:grpSpPr>
        <p:sp>
          <p:nvSpPr>
            <p:cNvPr id="11" name="ヒーローカード（濃色）"/>
            <p:cNvSpPr/>
            <p:nvPr/>
          </p:nvSpPr>
          <p:spPr>
            <a:xfrm>
              <a:off x="571500" y="1390650"/>
              <a:ext cx="4572000" cy="2857500"/>
            </a:xfrm>
            <a:prstGeom prst="roundRect">
              <a:avLst>
                <a:gd name="adj" fmla="val 3333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指標名"/>
            <p:cNvSpPr/>
            <p:nvPr/>
          </p:nvSpPr>
          <p:spPr>
            <a:xfrm>
              <a:off x="800100" y="1600200"/>
              <a:ext cx="3810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4"/>
                  </a:solidFill>
                </a:rPr>
                <a:t>資料作成時間（週平均）</a:t>
              </a:r>
            </a:p>
          </p:txBody>
        </p:sp>
        <p:sp>
          <p:nvSpPr>
            <p:cNvPr id="13" name="数値（朱）"/>
            <p:cNvSpPr/>
            <p:nvPr/>
          </p:nvSpPr>
          <p:spPr>
            <a:xfrm>
              <a:off x="800100" y="1905000"/>
              <a:ext cx="4114800" cy="1047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6200" b="1">
                  <a:solidFill>
                    <a:schemeClr val="accent2"/>
                  </a:solidFill>
                </a:rPr>
                <a:t>−52%</a:t>
              </a:r>
            </a:p>
          </p:txBody>
        </p:sp>
        <p:sp>
          <p:nvSpPr>
            <p:cNvPr id="14" name="内訳"/>
            <p:cNvSpPr/>
            <p:nvPr/>
          </p:nvSpPr>
          <p:spPr>
            <a:xfrm>
              <a:off x="800100" y="3200400"/>
              <a:ext cx="41148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12.4時間 → 6.0時間</a:t>
              </a:r>
            </a:p>
          </p:txBody>
        </p:sp>
        <p:sp>
          <p:nvSpPr>
            <p:cNvPr id="15" name="母数注記"/>
            <p:cNvSpPr/>
            <p:nvPr/>
          </p:nvSpPr>
          <p:spPr>
            <a:xfrm>
              <a:off x="800100" y="3829050"/>
              <a:ext cx="4114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全社平均・n=32</a:t>
              </a:r>
            </a:p>
          </p:txBody>
        </p:sp>
      </p:grpSp>
      <p:grpSp>
        <p:nvGrpSpPr>
          <p:cNvPr id="16" name="平均02_上司の手直し回数"/>
          <p:cNvGrpSpPr/>
          <p:nvPr/>
        </p:nvGrpSpPr>
        <p:grpSpPr>
          <a:xfrm>
            <a:off x="5524500" y="1390650"/>
            <a:ext cx="2952750" cy="1333500"/>
            <a:chOff x="5524500" y="1390650"/>
            <a:chExt cx="2952750" cy="1333500"/>
          </a:xfrm>
        </p:grpSpPr>
        <p:sp>
          <p:nvSpPr>
            <p:cNvPr id="17" name="KPIカード"/>
            <p:cNvSpPr/>
            <p:nvPr/>
          </p:nvSpPr>
          <p:spPr>
            <a:xfrm>
              <a:off x="5524500" y="1390650"/>
              <a:ext cx="2952750" cy="1333500"/>
            </a:xfrm>
            <a:prstGeom prst="roundRect">
              <a:avLst>
                <a:gd name="adj" fmla="val 571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指標名"/>
            <p:cNvSpPr/>
            <p:nvPr/>
          </p:nvSpPr>
          <p:spPr>
            <a:xfrm>
              <a:off x="5715000" y="1543050"/>
              <a:ext cx="2571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上司の手直し回数</a:t>
              </a:r>
            </a:p>
          </p:txBody>
        </p:sp>
        <p:sp>
          <p:nvSpPr>
            <p:cNvPr id="19" name="数値"/>
            <p:cNvSpPr/>
            <p:nvPr/>
          </p:nvSpPr>
          <p:spPr>
            <a:xfrm>
              <a:off x="5715000" y="1733550"/>
              <a:ext cx="257175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3000" b="1">
                  <a:solidFill>
                    <a:schemeClr val="accent1"/>
                  </a:solidFill>
                </a:rPr>
                <a:t>−64%</a:t>
              </a:r>
            </a:p>
          </p:txBody>
        </p:sp>
        <p:sp>
          <p:nvSpPr>
            <p:cNvPr id="20" name="集計条件"/>
            <p:cNvSpPr/>
            <p:nvPr/>
          </p:nvSpPr>
          <p:spPr>
            <a:xfrm>
              <a:off x="5715000" y="2400300"/>
              <a:ext cx="2571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月平均</a:t>
              </a:r>
            </a:p>
          </p:txBody>
        </p:sp>
      </p:grpSp>
      <p:grpSp>
        <p:nvGrpSpPr>
          <p:cNvPr id="21" name="平均03_会議準備時間"/>
          <p:cNvGrpSpPr/>
          <p:nvPr/>
        </p:nvGrpSpPr>
        <p:grpSpPr>
          <a:xfrm>
            <a:off x="8667750" y="1390650"/>
            <a:ext cx="2952750" cy="1333500"/>
            <a:chOff x="8667750" y="1390650"/>
            <a:chExt cx="2952750" cy="1333500"/>
          </a:xfrm>
        </p:grpSpPr>
        <p:sp>
          <p:nvSpPr>
            <p:cNvPr id="22" name="KPIカード"/>
            <p:cNvSpPr/>
            <p:nvPr/>
          </p:nvSpPr>
          <p:spPr>
            <a:xfrm>
              <a:off x="8667750" y="1390650"/>
              <a:ext cx="2952750" cy="1333500"/>
            </a:xfrm>
            <a:prstGeom prst="roundRect">
              <a:avLst>
                <a:gd name="adj" fmla="val 571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指標名"/>
            <p:cNvSpPr/>
            <p:nvPr/>
          </p:nvSpPr>
          <p:spPr>
            <a:xfrm>
              <a:off x="8858250" y="1543050"/>
              <a:ext cx="2571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会議準備時間</a:t>
              </a:r>
            </a:p>
          </p:txBody>
        </p:sp>
        <p:sp>
          <p:nvSpPr>
            <p:cNvPr id="24" name="数値"/>
            <p:cNvSpPr/>
            <p:nvPr/>
          </p:nvSpPr>
          <p:spPr>
            <a:xfrm>
              <a:off x="8858250" y="1733550"/>
              <a:ext cx="257175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3000" b="1">
                  <a:solidFill>
                    <a:schemeClr val="accent1"/>
                  </a:solidFill>
                </a:rPr>
                <a:t>−38%</a:t>
              </a:r>
            </a:p>
          </p:txBody>
        </p:sp>
        <p:sp>
          <p:nvSpPr>
            <p:cNvPr id="25" name="集計条件"/>
            <p:cNvSpPr/>
            <p:nvPr/>
          </p:nvSpPr>
          <p:spPr>
            <a:xfrm>
              <a:off x="8858250" y="2400300"/>
              <a:ext cx="2571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週平均</a:t>
              </a:r>
            </a:p>
          </p:txBody>
        </p:sp>
      </p:grpSp>
      <p:grpSp>
        <p:nvGrpSpPr>
          <p:cNvPr id="26" name="平均04_テンプレート利用率"/>
          <p:cNvGrpSpPr/>
          <p:nvPr/>
        </p:nvGrpSpPr>
        <p:grpSpPr>
          <a:xfrm>
            <a:off x="5524500" y="2914650"/>
            <a:ext cx="2952750" cy="1333500"/>
            <a:chOff x="5524500" y="2914650"/>
            <a:chExt cx="2952750" cy="1333500"/>
          </a:xfrm>
        </p:grpSpPr>
        <p:sp>
          <p:nvSpPr>
            <p:cNvPr id="27" name="KPIカード"/>
            <p:cNvSpPr/>
            <p:nvPr/>
          </p:nvSpPr>
          <p:spPr>
            <a:xfrm>
              <a:off x="5524500" y="2914650"/>
              <a:ext cx="2952750" cy="1333500"/>
            </a:xfrm>
            <a:prstGeom prst="roundRect">
              <a:avLst>
                <a:gd name="adj" fmla="val 571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指標名"/>
            <p:cNvSpPr/>
            <p:nvPr/>
          </p:nvSpPr>
          <p:spPr>
            <a:xfrm>
              <a:off x="5715000" y="3067050"/>
              <a:ext cx="2571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テンプレート利用率</a:t>
              </a:r>
            </a:p>
          </p:txBody>
        </p:sp>
        <p:sp>
          <p:nvSpPr>
            <p:cNvPr id="29" name="数値"/>
            <p:cNvSpPr/>
            <p:nvPr/>
          </p:nvSpPr>
          <p:spPr>
            <a:xfrm>
              <a:off x="5715000" y="3257550"/>
              <a:ext cx="257175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3000" b="1">
                  <a:solidFill>
                    <a:schemeClr val="accent1"/>
                  </a:solidFill>
                </a:rPr>
                <a:t>89%</a:t>
              </a:r>
            </a:p>
          </p:txBody>
        </p:sp>
        <p:sp>
          <p:nvSpPr>
            <p:cNvPr id="30" name="集計条件"/>
            <p:cNvSpPr/>
            <p:nvPr/>
          </p:nvSpPr>
          <p:spPr>
            <a:xfrm>
              <a:off x="5715000" y="3924300"/>
              <a:ext cx="2571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対象部門平均</a:t>
              </a:r>
            </a:p>
          </p:txBody>
        </p:sp>
      </p:grpSp>
      <p:grpSp>
        <p:nvGrpSpPr>
          <p:cNvPr id="31" name="平均05_継続利用率"/>
          <p:cNvGrpSpPr/>
          <p:nvPr/>
        </p:nvGrpSpPr>
        <p:grpSpPr>
          <a:xfrm>
            <a:off x="8667750" y="2914650"/>
            <a:ext cx="2952750" cy="1333500"/>
            <a:chOff x="8667750" y="2914650"/>
            <a:chExt cx="2952750" cy="1333500"/>
          </a:xfrm>
        </p:grpSpPr>
        <p:sp>
          <p:nvSpPr>
            <p:cNvPr id="32" name="KPIカード"/>
            <p:cNvSpPr/>
            <p:nvPr/>
          </p:nvSpPr>
          <p:spPr>
            <a:xfrm>
              <a:off x="8667750" y="2914650"/>
              <a:ext cx="2952750" cy="1333500"/>
            </a:xfrm>
            <a:prstGeom prst="roundRect">
              <a:avLst>
                <a:gd name="adj" fmla="val 571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指標名"/>
            <p:cNvSpPr/>
            <p:nvPr/>
          </p:nvSpPr>
          <p:spPr>
            <a:xfrm>
              <a:off x="8858250" y="3067050"/>
              <a:ext cx="2571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5"/>
                  </a:solidFill>
                </a:rPr>
                <a:t>継続利用率</a:t>
              </a:r>
            </a:p>
          </p:txBody>
        </p:sp>
        <p:sp>
          <p:nvSpPr>
            <p:cNvPr id="34" name="数値"/>
            <p:cNvSpPr/>
            <p:nvPr/>
          </p:nvSpPr>
          <p:spPr>
            <a:xfrm>
              <a:off x="8858250" y="3257550"/>
              <a:ext cx="257175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3000" b="1">
                  <a:solidFill>
                    <a:schemeClr val="accent1"/>
                  </a:solidFill>
                </a:rPr>
                <a:t>97%</a:t>
              </a:r>
            </a:p>
          </p:txBody>
        </p:sp>
        <p:sp>
          <p:nvSpPr>
            <p:cNvPr id="35" name="集計条件"/>
            <p:cNvSpPr/>
            <p:nvPr/>
          </p:nvSpPr>
          <p:spPr>
            <a:xfrm>
              <a:off x="8858250" y="3924300"/>
              <a:ext cx="25717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12ヶ月時点</a:t>
              </a:r>
            </a:p>
          </p:txBody>
        </p:sp>
      </p:grpSp>
      <p:grpSp>
        <p:nvGrpSpPr>
          <p:cNvPr id="36" name="SoWhatボックス"/>
          <p:cNvGrpSpPr/>
          <p:nvPr/>
        </p:nvGrpSpPr>
        <p:grpSpPr>
          <a:xfrm>
            <a:off x="571500" y="4591050"/>
            <a:ext cx="11049000" cy="514350"/>
            <a:chOff x="571500" y="4591050"/>
            <a:chExt cx="11049000" cy="514350"/>
          </a:xfrm>
        </p:grpSpPr>
        <p:sp>
          <p:nvSpPr>
            <p:cNvPr id="37" name="示唆地"/>
            <p:cNvSpPr/>
            <p:nvPr/>
          </p:nvSpPr>
          <p:spPr>
            <a:xfrm>
              <a:off x="571500" y="4591050"/>
              <a:ext cx="1104900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示唆ラベル"/>
            <p:cNvSpPr/>
            <p:nvPr/>
          </p:nvSpPr>
          <p:spPr>
            <a:xfrm>
              <a:off x="800100" y="4591050"/>
              <a:ext cx="8001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So What</a:t>
              </a:r>
            </a:p>
          </p:txBody>
        </p:sp>
        <p:cxnSp>
          <p:nvCxnSpPr>
            <p:cNvPr id="39" name="区切り縦線"/>
            <p:cNvCxnSpPr/>
            <p:nvPr/>
          </p:nvCxnSpPr>
          <p:spPr>
            <a:xfrm>
              <a:off x="1676400" y="4714875"/>
              <a:ext cx="0" cy="266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示唆本文"/>
            <p:cNvSpPr/>
            <p:nvPr/>
          </p:nvSpPr>
          <p:spPr>
            <a:xfrm>
              <a:off x="1866900" y="4591050"/>
              <a:ext cx="95250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平均を押し上げる外れ値はない——中央値でも−49%、効果は全社に薄く広く出る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571500" y="5334000"/>
            <a:ext cx="11049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950">
                <a:solidFill>
                  <a:schemeClr val="accent5"/>
                </a:solidFill>
              </a:rPr>
              <a:t>対象32社の内訳：製造12／流通9／情報通信7／その他4（従業員100〜800名）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料金｜PRICING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迷ったらStandard——プランは月単位で変更できる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料金プラン比較（月額・税別）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注：価格・提供機能は説明用の架空サンプルです。初期費用はいずれも0円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出所：料金表 2026年7月版（架空サンプル）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7</a:t>
            </a:r>
          </a:p>
        </p:txBody>
      </p:sp>
      <p:grpSp>
        <p:nvGrpSpPr>
          <p:cNvPr id="10" name="料金_推奨ハイライト"/>
          <p:cNvGrpSpPr/>
          <p:nvPr/>
        </p:nvGrpSpPr>
        <p:grpSpPr>
          <a:xfrm>
            <a:off x="5772150" y="1200150"/>
            <a:ext cx="2838450" cy="4343400"/>
            <a:chOff x="5772150" y="1200150"/>
            <a:chExt cx="2838450" cy="4343400"/>
          </a:xfrm>
        </p:grpSpPr>
        <p:sp>
          <p:nvSpPr>
            <p:cNvPr id="11" name="推奨列ハイライト"/>
            <p:cNvSpPr/>
            <p:nvPr/>
          </p:nvSpPr>
          <p:spPr>
            <a:xfrm>
              <a:off x="5772150" y="1200150"/>
              <a:ext cx="2838450" cy="4343400"/>
            </a:xfrm>
            <a:prstGeom prst="roundRect">
              <a:avLst>
                <a:gd name="adj" fmla="val 3355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" name="料金プラン_Light"/>
          <p:cNvGrpSpPr/>
          <p:nvPr/>
        </p:nvGrpSpPr>
        <p:grpSpPr>
          <a:xfrm>
            <a:off x="2952750" y="1333500"/>
            <a:ext cx="2571750" cy="1600200"/>
            <a:chOff x="2952750" y="1333500"/>
            <a:chExt cx="2571750" cy="1600200"/>
          </a:xfrm>
        </p:grpSpPr>
        <p:sp>
          <p:nvSpPr>
            <p:cNvPr id="13" name="Light_カード本体"/>
            <p:cNvSpPr/>
            <p:nvPr/>
          </p:nvSpPr>
          <p:spPr>
            <a:xfrm>
              <a:off x="2952750" y="1333500"/>
              <a:ext cx="2571750" cy="1600200"/>
            </a:xfrm>
            <a:prstGeom prst="roundRect">
              <a:avLst>
                <a:gd name="adj" fmla="val 476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Light_見出し帯"/>
            <p:cNvSpPr/>
            <p:nvPr/>
          </p:nvSpPr>
          <p:spPr>
            <a:xfrm>
              <a:off x="2952750" y="1333500"/>
              <a:ext cx="2571750" cy="381000"/>
            </a:xfrm>
            <a:prstGeom prst="roundRect">
              <a:avLst>
                <a:gd name="adj" fmla="val 2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Light_見出し帯・角"/>
            <p:cNvSpPr/>
            <p:nvPr/>
          </p:nvSpPr>
          <p:spPr>
            <a:xfrm>
              <a:off x="2952750" y="1524000"/>
              <a:ext cx="2571750" cy="19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105150" y="1333500"/>
              <a:ext cx="22669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Light</a:t>
              </a:r>
            </a:p>
          </p:txBody>
        </p:sp>
        <p:sp>
          <p:nvSpPr>
            <p:cNvPr id="17" name="価格"/>
            <p:cNvSpPr/>
            <p:nvPr/>
          </p:nvSpPr>
          <p:spPr>
            <a:xfrm>
              <a:off x="3143250" y="1866900"/>
              <a:ext cx="21907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200" b="1">
                  <a:solidFill>
                    <a:schemeClr val="dk2"/>
                  </a:solidFill>
                </a:rPr>
                <a:t>¥25,000</a:t>
              </a:r>
            </a:p>
          </p:txBody>
        </p:sp>
        <p:sp>
          <p:nvSpPr>
            <p:cNvPr id="18" name="想定規模"/>
            <p:cNvSpPr/>
            <p:nvPr/>
          </p:nvSpPr>
          <p:spPr>
            <a:xfrm>
              <a:off x="3143250" y="2400300"/>
              <a:ext cx="21907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〜10名のチームでの試行に</a:t>
              </a:r>
            </a:p>
          </p:txBody>
        </p:sp>
      </p:grpSp>
      <p:grpSp>
        <p:nvGrpSpPr>
          <p:cNvPr id="19" name="料金プラン_Standard"/>
          <p:cNvGrpSpPr/>
          <p:nvPr/>
        </p:nvGrpSpPr>
        <p:grpSpPr>
          <a:xfrm>
            <a:off x="5905500" y="1333500"/>
            <a:ext cx="2571750" cy="1600200"/>
            <a:chOff x="5905500" y="1333500"/>
            <a:chExt cx="2571750" cy="1600200"/>
          </a:xfrm>
        </p:grpSpPr>
        <p:sp>
          <p:nvSpPr>
            <p:cNvPr id="20" name="Standard_カード本体"/>
            <p:cNvSpPr/>
            <p:nvPr/>
          </p:nvSpPr>
          <p:spPr>
            <a:xfrm>
              <a:off x="5905500" y="1333500"/>
              <a:ext cx="2571750" cy="1600200"/>
            </a:xfrm>
            <a:prstGeom prst="roundRect">
              <a:avLst>
                <a:gd name="adj" fmla="val 476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Standard_見出し帯"/>
            <p:cNvSpPr/>
            <p:nvPr/>
          </p:nvSpPr>
          <p:spPr>
            <a:xfrm>
              <a:off x="5905500" y="1333500"/>
              <a:ext cx="2571750" cy="38100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Standard_見出し帯・角"/>
            <p:cNvSpPr/>
            <p:nvPr/>
          </p:nvSpPr>
          <p:spPr>
            <a:xfrm>
              <a:off x="5905500" y="1524000"/>
              <a:ext cx="2571750" cy="19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057900" y="1333500"/>
              <a:ext cx="22669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Standard</a:t>
              </a:r>
            </a:p>
          </p:txBody>
        </p:sp>
        <p:sp>
          <p:nvSpPr>
            <p:cNvPr id="24" name="価格"/>
            <p:cNvSpPr/>
            <p:nvPr/>
          </p:nvSpPr>
          <p:spPr>
            <a:xfrm>
              <a:off x="6096000" y="1866900"/>
              <a:ext cx="21907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600" b="1">
                  <a:solidFill>
                    <a:schemeClr val="accent1"/>
                  </a:solidFill>
                </a:rPr>
                <a:t>¥48,000</a:t>
              </a:r>
            </a:p>
          </p:txBody>
        </p:sp>
        <p:sp>
          <p:nvSpPr>
            <p:cNvPr id="25" name="想定規模"/>
            <p:cNvSpPr/>
            <p:nvPr/>
          </p:nvSpPr>
          <p:spPr>
            <a:xfrm>
              <a:off x="6096000" y="2400300"/>
              <a:ext cx="21907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部門導入の標準（〜50名）</a:t>
              </a:r>
            </a:p>
          </p:txBody>
        </p:sp>
      </p:grpSp>
      <p:grpSp>
        <p:nvGrpSpPr>
          <p:cNvPr id="26" name="料金プラン_Enterprise"/>
          <p:cNvGrpSpPr/>
          <p:nvPr/>
        </p:nvGrpSpPr>
        <p:grpSpPr>
          <a:xfrm>
            <a:off x="8858250" y="1333500"/>
            <a:ext cx="2571750" cy="1600200"/>
            <a:chOff x="8858250" y="1333500"/>
            <a:chExt cx="2571750" cy="1600200"/>
          </a:xfrm>
        </p:grpSpPr>
        <p:sp>
          <p:nvSpPr>
            <p:cNvPr id="27" name="Enterprise_カード本体"/>
            <p:cNvSpPr/>
            <p:nvPr/>
          </p:nvSpPr>
          <p:spPr>
            <a:xfrm>
              <a:off x="8858250" y="1333500"/>
              <a:ext cx="2571750" cy="1600200"/>
            </a:xfrm>
            <a:prstGeom prst="roundRect">
              <a:avLst>
                <a:gd name="adj" fmla="val 476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Enterprise_見出し帯"/>
            <p:cNvSpPr/>
            <p:nvPr/>
          </p:nvSpPr>
          <p:spPr>
            <a:xfrm>
              <a:off x="8858250" y="1333500"/>
              <a:ext cx="2571750" cy="381000"/>
            </a:xfrm>
            <a:prstGeom prst="roundRect">
              <a:avLst>
                <a:gd name="adj" fmla="val 2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Enterprise_見出し帯・角"/>
            <p:cNvSpPr/>
            <p:nvPr/>
          </p:nvSpPr>
          <p:spPr>
            <a:xfrm>
              <a:off x="8858250" y="1524000"/>
              <a:ext cx="2571750" cy="19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010650" y="1333500"/>
              <a:ext cx="22669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Enterprise</a:t>
              </a:r>
            </a:p>
          </p:txBody>
        </p:sp>
        <p:sp>
          <p:nvSpPr>
            <p:cNvPr id="31" name="価格"/>
            <p:cNvSpPr/>
            <p:nvPr/>
          </p:nvSpPr>
          <p:spPr>
            <a:xfrm>
              <a:off x="9048750" y="1866900"/>
              <a:ext cx="21907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個別お見積り</a:t>
              </a:r>
            </a:p>
          </p:txBody>
        </p:sp>
        <p:sp>
          <p:nvSpPr>
            <p:cNvPr id="32" name="想定規模"/>
            <p:cNvSpPr/>
            <p:nvPr/>
          </p:nvSpPr>
          <p:spPr>
            <a:xfrm>
              <a:off x="9048750" y="2400300"/>
              <a:ext cx="21907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全社導入・個別要件に対応</a:t>
              </a:r>
            </a:p>
          </p:txBody>
        </p:sp>
      </p:grpSp>
      <p:grpSp>
        <p:nvGrpSpPr>
          <p:cNvPr id="33" name="料金_推奨タグ"/>
          <p:cNvGrpSpPr/>
          <p:nvPr/>
        </p:nvGrpSpPr>
        <p:grpSpPr>
          <a:xfrm>
            <a:off x="6762750" y="1066800"/>
            <a:ext cx="857250" cy="247650"/>
            <a:chOff x="6762750" y="1066800"/>
            <a:chExt cx="857250" cy="247650"/>
          </a:xfrm>
        </p:grpSpPr>
        <p:sp>
          <p:nvSpPr>
            <p:cNvPr id="34" name="推奨タグ（朱）"/>
            <p:cNvSpPr/>
            <p:nvPr/>
          </p:nvSpPr>
          <p:spPr>
            <a:xfrm>
              <a:off x="6762750" y="1066800"/>
              <a:ext cx="85725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推奨タグ文字"/>
            <p:cNvSpPr/>
            <p:nvPr/>
          </p:nvSpPr>
          <p:spPr>
            <a:xfrm>
              <a:off x="6762750" y="1076325"/>
              <a:ext cx="8572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推奨</a:t>
              </a:r>
            </a:p>
          </p:txBody>
        </p:sp>
      </p:grpSp>
      <p:grpSp>
        <p:nvGrpSpPr>
          <p:cNvPr id="36" name="料金_機能比較表"/>
          <p:cNvGrpSpPr/>
          <p:nvPr/>
        </p:nvGrpSpPr>
        <p:grpSpPr>
          <a:xfrm>
            <a:off x="571500" y="3238500"/>
            <a:ext cx="11049000" cy="2057400"/>
            <a:chOff x="571500" y="3238500"/>
            <a:chExt cx="11049000" cy="2057400"/>
          </a:xfrm>
        </p:grpSpPr>
        <p:cxnSp>
          <p:nvCxnSpPr>
            <p:cNvPr id="37" name="罫線1"/>
            <p:cNvCxnSpPr/>
            <p:nvPr/>
          </p:nvCxnSpPr>
          <p:spPr>
            <a:xfrm>
              <a:off x="571500" y="323850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罫線2"/>
            <p:cNvCxnSpPr/>
            <p:nvPr/>
          </p:nvCxnSpPr>
          <p:spPr>
            <a:xfrm>
              <a:off x="571500" y="375285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罫線3"/>
            <p:cNvCxnSpPr/>
            <p:nvPr/>
          </p:nvCxnSpPr>
          <p:spPr>
            <a:xfrm>
              <a:off x="571500" y="426720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罫線4"/>
            <p:cNvCxnSpPr/>
            <p:nvPr/>
          </p:nvCxnSpPr>
          <p:spPr>
            <a:xfrm>
              <a:off x="571500" y="478155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罫線5"/>
            <p:cNvCxnSpPr/>
            <p:nvPr/>
          </p:nvCxnSpPr>
          <p:spPr>
            <a:xfrm>
              <a:off x="571500" y="5295900"/>
              <a:ext cx="1104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機能1"/>
            <p:cNvSpPr/>
            <p:nvPr/>
          </p:nvSpPr>
          <p:spPr>
            <a:xfrm>
              <a:off x="571500" y="3238500"/>
              <a:ext cx="22479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テンプレート全種・自動レイアウト</a:t>
              </a:r>
            </a:p>
          </p:txBody>
        </p:sp>
        <p:sp>
          <p:nvSpPr>
            <p:cNvPr id="43" name="対応1_1_丸"/>
            <p:cNvSpPr/>
            <p:nvPr/>
          </p:nvSpPr>
          <p:spPr>
            <a:xfrm>
              <a:off x="4114800" y="3371850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対応1_1_チェック"/>
            <p:cNvSpPr/>
            <p:nvPr/>
          </p:nvSpPr>
          <p:spPr>
            <a:xfrm>
              <a:off x="4114800" y="3371850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対応1_2_丸"/>
            <p:cNvSpPr/>
            <p:nvPr/>
          </p:nvSpPr>
          <p:spPr>
            <a:xfrm>
              <a:off x="7067550" y="3371850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対応1_2_チェック"/>
            <p:cNvSpPr/>
            <p:nvPr/>
          </p:nvSpPr>
          <p:spPr>
            <a:xfrm>
              <a:off x="7067550" y="3371850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対応1_3_丸"/>
            <p:cNvSpPr/>
            <p:nvPr/>
          </p:nvSpPr>
          <p:spPr>
            <a:xfrm>
              <a:off x="10020300" y="3371850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対応1_3_チェック"/>
            <p:cNvSpPr/>
            <p:nvPr/>
          </p:nvSpPr>
          <p:spPr>
            <a:xfrm>
              <a:off x="10020300" y="3371850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機能2"/>
            <p:cNvSpPr/>
            <p:nvPr/>
          </p:nvSpPr>
          <p:spPr>
            <a:xfrm>
              <a:off x="571500" y="3752850"/>
              <a:ext cx="22479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共有ワークスペース</a:t>
              </a:r>
            </a:p>
          </p:txBody>
        </p:sp>
        <p:sp>
          <p:nvSpPr>
            <p:cNvPr id="50" name="非対応2_1_丸"/>
            <p:cNvSpPr/>
            <p:nvPr/>
          </p:nvSpPr>
          <p:spPr>
            <a:xfrm>
              <a:off x="4114800" y="3886200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非対応2_1_バツ"/>
            <p:cNvSpPr/>
            <p:nvPr/>
          </p:nvSpPr>
          <p:spPr>
            <a:xfrm>
              <a:off x="4114800" y="3886200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81724" y="81724"/>
                  </a:moveTo>
                  <a:lnTo>
                    <a:pt x="165925" y="165925"/>
                  </a:lnTo>
                  <a:moveTo>
                    <a:pt x="165925" y="81724"/>
                  </a:moveTo>
                  <a:lnTo>
                    <a:pt x="81724" y="165925"/>
                  </a:lnTo>
                </a:path>
              </a:pathLst>
            </a:custGeom>
            <a:noFill/>
            <a:ln w="19050" cap="rnd">
              <a:solidFill>
                <a:schemeClr val="accent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対応2_2_丸"/>
            <p:cNvSpPr/>
            <p:nvPr/>
          </p:nvSpPr>
          <p:spPr>
            <a:xfrm>
              <a:off x="7067550" y="3886200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対応2_2_チェック"/>
            <p:cNvSpPr/>
            <p:nvPr/>
          </p:nvSpPr>
          <p:spPr>
            <a:xfrm>
              <a:off x="7067550" y="3886200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対応2_3_丸"/>
            <p:cNvSpPr/>
            <p:nvPr/>
          </p:nvSpPr>
          <p:spPr>
            <a:xfrm>
              <a:off x="10020300" y="3886200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対応2_3_チェック"/>
            <p:cNvSpPr/>
            <p:nvPr/>
          </p:nvSpPr>
          <p:spPr>
            <a:xfrm>
              <a:off x="10020300" y="3886200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機能3"/>
            <p:cNvSpPr/>
            <p:nvPr/>
          </p:nvSpPr>
          <p:spPr>
            <a:xfrm>
              <a:off x="571500" y="4267200"/>
              <a:ext cx="22479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データ連携・利用ログ</a:t>
              </a:r>
            </a:p>
          </p:txBody>
        </p:sp>
        <p:sp>
          <p:nvSpPr>
            <p:cNvPr id="57" name="非対応3_1_丸"/>
            <p:cNvSpPr/>
            <p:nvPr/>
          </p:nvSpPr>
          <p:spPr>
            <a:xfrm>
              <a:off x="4114800" y="4400550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非対応3_1_バツ"/>
            <p:cNvSpPr/>
            <p:nvPr/>
          </p:nvSpPr>
          <p:spPr>
            <a:xfrm>
              <a:off x="4114800" y="4400550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81724" y="81724"/>
                  </a:moveTo>
                  <a:lnTo>
                    <a:pt x="165925" y="165925"/>
                  </a:lnTo>
                  <a:moveTo>
                    <a:pt x="165925" y="81724"/>
                  </a:moveTo>
                  <a:lnTo>
                    <a:pt x="81724" y="165925"/>
                  </a:lnTo>
                </a:path>
              </a:pathLst>
            </a:custGeom>
            <a:noFill/>
            <a:ln w="19050" cap="rnd">
              <a:solidFill>
                <a:schemeClr val="accent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対応3_2_丸"/>
            <p:cNvSpPr/>
            <p:nvPr/>
          </p:nvSpPr>
          <p:spPr>
            <a:xfrm>
              <a:off x="7067550" y="4400550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対応3_2_チェック"/>
            <p:cNvSpPr/>
            <p:nvPr/>
          </p:nvSpPr>
          <p:spPr>
            <a:xfrm>
              <a:off x="7067550" y="4400550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対応3_3_丸"/>
            <p:cNvSpPr/>
            <p:nvPr/>
          </p:nvSpPr>
          <p:spPr>
            <a:xfrm>
              <a:off x="10020300" y="4400550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対応3_3_チェック"/>
            <p:cNvSpPr/>
            <p:nvPr/>
          </p:nvSpPr>
          <p:spPr>
            <a:xfrm>
              <a:off x="10020300" y="4400550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機能4"/>
            <p:cNvSpPr/>
            <p:nvPr/>
          </p:nvSpPr>
          <p:spPr>
            <a:xfrm>
              <a:off x="571500" y="4781550"/>
              <a:ext cx="22479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dk1"/>
                  </a:solidFill>
                </a:rPr>
                <a:t>SSO・専任サポート</a:t>
              </a:r>
            </a:p>
          </p:txBody>
        </p:sp>
        <p:sp>
          <p:nvSpPr>
            <p:cNvPr id="64" name="非対応4_1_丸"/>
            <p:cNvSpPr/>
            <p:nvPr/>
          </p:nvSpPr>
          <p:spPr>
            <a:xfrm>
              <a:off x="4114800" y="4914900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非対応4_1_バツ"/>
            <p:cNvSpPr/>
            <p:nvPr/>
          </p:nvSpPr>
          <p:spPr>
            <a:xfrm>
              <a:off x="4114800" y="4914900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81724" y="81724"/>
                  </a:moveTo>
                  <a:lnTo>
                    <a:pt x="165925" y="165925"/>
                  </a:lnTo>
                  <a:moveTo>
                    <a:pt x="165925" y="81724"/>
                  </a:moveTo>
                  <a:lnTo>
                    <a:pt x="81724" y="165925"/>
                  </a:lnTo>
                </a:path>
              </a:pathLst>
            </a:custGeom>
            <a:noFill/>
            <a:ln w="19050" cap="rnd">
              <a:solidFill>
                <a:schemeClr val="accent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非対応4_2_丸"/>
            <p:cNvSpPr/>
            <p:nvPr/>
          </p:nvSpPr>
          <p:spPr>
            <a:xfrm>
              <a:off x="7067550" y="4914900"/>
              <a:ext cx="247650" cy="247650"/>
            </a:xfrm>
            <a:prstGeom prst="ellipse">
              <a:avLst/>
            </a:prstGeom>
            <a:noFill/>
            <a:ln w="14287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非対応4_2_バツ"/>
            <p:cNvSpPr/>
            <p:nvPr/>
          </p:nvSpPr>
          <p:spPr>
            <a:xfrm>
              <a:off x="7067550" y="4914900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81724" y="81724"/>
                  </a:moveTo>
                  <a:lnTo>
                    <a:pt x="165925" y="165925"/>
                  </a:lnTo>
                  <a:moveTo>
                    <a:pt x="165925" y="81724"/>
                  </a:moveTo>
                  <a:lnTo>
                    <a:pt x="81724" y="165925"/>
                  </a:lnTo>
                </a:path>
              </a:pathLst>
            </a:custGeom>
            <a:noFill/>
            <a:ln w="19050" cap="rnd">
              <a:solidFill>
                <a:schemeClr val="accent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対応4_3_丸"/>
            <p:cNvSpPr/>
            <p:nvPr/>
          </p:nvSpPr>
          <p:spPr>
            <a:xfrm>
              <a:off x="10020300" y="4914900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対応4_3_チェック"/>
            <p:cNvSpPr/>
            <p:nvPr/>
          </p:nvSpPr>
          <p:spPr>
            <a:xfrm>
              <a:off x="10020300" y="4914900"/>
              <a:ext cx="247650" cy="247650"/>
            </a:xfrm>
            <a:custGeom>
              <a:avLst/>
              <a:gdLst/>
              <a:ahLst/>
              <a:cxnLst/>
              <a:rect l="0" t="0" r="247650" b="247650"/>
              <a:pathLst>
                <a:path w="247650" h="247650" fill="none">
                  <a:moveTo>
                    <a:pt x="69342" y="133731"/>
                  </a:moveTo>
                  <a:lnTo>
                    <a:pt x="108966" y="173355"/>
                  </a:lnTo>
                  <a:lnTo>
                    <a:pt x="183261" y="89154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0" name="Rectangle 69"/>
          <p:cNvSpPr/>
          <p:nvPr/>
        </p:nvSpPr>
        <p:spPr>
          <a:xfrm>
            <a:off x="571500" y="5562600"/>
            <a:ext cx="11049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b="1">
                <a:solidFill>
                  <a:schemeClr val="dk2"/>
                </a:solidFill>
              </a:rPr>
              <a:t>小さく始めて広げる前提の価格——上位プランへの変更は翌月から反映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導入フロー｜ONBOARDING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申込みから全社利用まで、標準2週間で立ち上がる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導入の標準4ステップ（所要期間つき）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注：期間は標準的な目安です。データ量・部門数により変動します（架空サンプル）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出所：導入プロジェクト標準計画（架空サンプル）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11</a:t>
            </a:r>
          </a:p>
        </p:txBody>
      </p:sp>
      <p:grpSp>
        <p:nvGrpSpPr>
          <p:cNvPr id="10" name="導入ステップ01_お申込み"/>
          <p:cNvGrpSpPr/>
          <p:nvPr/>
        </p:nvGrpSpPr>
        <p:grpSpPr>
          <a:xfrm>
            <a:off x="571500" y="1390650"/>
            <a:ext cx="2667000" cy="3962400"/>
            <a:chOff x="571500" y="1390650"/>
            <a:chExt cx="2667000" cy="3962400"/>
          </a:xfrm>
        </p:grpSpPr>
        <p:sp>
          <p:nvSpPr>
            <p:cNvPr id="11" name="シェブロン1"/>
            <p:cNvSpPr/>
            <p:nvPr/>
          </p:nvSpPr>
          <p:spPr>
            <a:xfrm>
              <a:off x="571500" y="1390650"/>
              <a:ext cx="2667000" cy="571500"/>
            </a:xfrm>
            <a:prstGeom prst="homePlate">
              <a:avLst>
                <a:gd name="adj" fmla="val 46666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番号円"/>
            <p:cNvSpPr/>
            <p:nvPr/>
          </p:nvSpPr>
          <p:spPr>
            <a:xfrm>
              <a:off x="971550" y="1533525"/>
              <a:ext cx="285750" cy="285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番号"/>
            <p:cNvSpPr/>
            <p:nvPr/>
          </p:nvSpPr>
          <p:spPr>
            <a:xfrm>
              <a:off x="971550" y="1543050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1</a:t>
              </a:r>
            </a:p>
          </p:txBody>
        </p:sp>
        <p:sp>
          <p:nvSpPr>
            <p:cNvPr id="14" name="ステップ名"/>
            <p:cNvSpPr/>
            <p:nvPr/>
          </p:nvSpPr>
          <p:spPr>
            <a:xfrm>
              <a:off x="1333500" y="1390650"/>
              <a:ext cx="15621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お申込み</a:t>
              </a:r>
            </a:p>
          </p:txBody>
        </p:sp>
        <p:sp>
          <p:nvSpPr>
            <p:cNvPr id="15" name="期間チップ"/>
            <p:cNvSpPr/>
            <p:nvPr/>
          </p:nvSpPr>
          <p:spPr>
            <a:xfrm>
              <a:off x="1333500" y="211455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期間チップ文字"/>
            <p:cNvSpPr/>
            <p:nvPr/>
          </p:nvSpPr>
          <p:spPr>
            <a:xfrm>
              <a:off x="1333500" y="2124075"/>
              <a:ext cx="1143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当日15分</a:t>
              </a:r>
            </a:p>
          </p:txBody>
        </p:sp>
        <p:sp>
          <p:nvSpPr>
            <p:cNvPr id="17" name="詳細カード"/>
            <p:cNvSpPr/>
            <p:nvPr/>
          </p:nvSpPr>
          <p:spPr>
            <a:xfrm>
              <a:off x="571500" y="2686050"/>
              <a:ext cx="2590800" cy="2667000"/>
            </a:xfrm>
            <a:prstGeom prst="roundRect">
              <a:avLst>
                <a:gd name="adj" fmla="val 294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詳細見出し"/>
            <p:cNvSpPr/>
            <p:nvPr/>
          </p:nvSpPr>
          <p:spPr>
            <a:xfrm>
              <a:off x="742950" y="2838450"/>
              <a:ext cx="2247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やること</a:t>
              </a:r>
            </a:p>
          </p:txBody>
        </p:sp>
        <p:sp>
          <p:nvSpPr>
            <p:cNvPr id="19" name="点1"/>
            <p:cNvSpPr/>
            <p:nvPr/>
          </p:nvSpPr>
          <p:spPr>
            <a:xfrm>
              <a:off x="742950" y="32004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詳細1"/>
            <p:cNvSpPr/>
            <p:nvPr/>
          </p:nvSpPr>
          <p:spPr>
            <a:xfrm>
              <a:off x="895350" y="3124200"/>
              <a:ext cx="21336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1000">
                  <a:solidFill>
                    <a:schemeClr val="dk1"/>
                  </a:solidFill>
                </a:rPr>
                <a:t>申込みフォーム入力（15分）</a:t>
              </a:r>
            </a:p>
          </p:txBody>
        </p:sp>
        <p:sp>
          <p:nvSpPr>
            <p:cNvPr id="21" name="点2"/>
            <p:cNvSpPr/>
            <p:nvPr/>
          </p:nvSpPr>
          <p:spPr>
            <a:xfrm>
              <a:off x="742950" y="38862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詳細2"/>
            <p:cNvSpPr/>
            <p:nvPr/>
          </p:nvSpPr>
          <p:spPr>
            <a:xfrm>
              <a:off x="895350" y="3810000"/>
              <a:ext cx="21336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1000">
                  <a:solidFill>
                    <a:schemeClr val="dk1"/>
                  </a:solidFill>
                </a:rPr>
                <a:t>利用メンバーの選定</a:t>
              </a:r>
            </a:p>
          </p:txBody>
        </p:sp>
        <p:sp>
          <p:nvSpPr>
            <p:cNvPr id="23" name="点3"/>
            <p:cNvSpPr/>
            <p:nvPr/>
          </p:nvSpPr>
          <p:spPr>
            <a:xfrm>
              <a:off x="742950" y="45720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詳細3"/>
            <p:cNvSpPr/>
            <p:nvPr/>
          </p:nvSpPr>
          <p:spPr>
            <a:xfrm>
              <a:off x="895350" y="4495800"/>
              <a:ext cx="21336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1000">
                  <a:solidFill>
                    <a:schemeClr val="dk1"/>
                  </a:solidFill>
                </a:rPr>
                <a:t>契約・請求情報の登録</a:t>
              </a:r>
            </a:p>
          </p:txBody>
        </p:sp>
      </p:grpSp>
      <p:grpSp>
        <p:nvGrpSpPr>
          <p:cNvPr id="25" name="導入ステップ02_初期設定"/>
          <p:cNvGrpSpPr/>
          <p:nvPr/>
        </p:nvGrpSpPr>
        <p:grpSpPr>
          <a:xfrm>
            <a:off x="3257550" y="1390650"/>
            <a:ext cx="2667000" cy="3962400"/>
            <a:chOff x="3257550" y="1390650"/>
            <a:chExt cx="2667000" cy="3962400"/>
          </a:xfrm>
        </p:grpSpPr>
        <p:sp>
          <p:nvSpPr>
            <p:cNvPr id="26" name="シェブロン2"/>
            <p:cNvSpPr/>
            <p:nvPr/>
          </p:nvSpPr>
          <p:spPr>
            <a:xfrm>
              <a:off x="3257550" y="1390650"/>
              <a:ext cx="2667000" cy="571500"/>
            </a:xfrm>
            <a:prstGeom prst="chevron">
              <a:avLst>
                <a:gd name="adj" fmla="val 46666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番号円"/>
            <p:cNvSpPr/>
            <p:nvPr/>
          </p:nvSpPr>
          <p:spPr>
            <a:xfrm>
              <a:off x="3657600" y="1533525"/>
              <a:ext cx="285750" cy="285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番号"/>
            <p:cNvSpPr/>
            <p:nvPr/>
          </p:nvSpPr>
          <p:spPr>
            <a:xfrm>
              <a:off x="3657600" y="1543050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3"/>
                  </a:solidFill>
                </a:rPr>
                <a:t>2</a:t>
              </a:r>
            </a:p>
          </p:txBody>
        </p:sp>
        <p:sp>
          <p:nvSpPr>
            <p:cNvPr id="29" name="ステップ名"/>
            <p:cNvSpPr/>
            <p:nvPr/>
          </p:nvSpPr>
          <p:spPr>
            <a:xfrm>
              <a:off x="4019550" y="1390650"/>
              <a:ext cx="15621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初期設定</a:t>
              </a:r>
            </a:p>
          </p:txBody>
        </p:sp>
        <p:sp>
          <p:nvSpPr>
            <p:cNvPr id="30" name="期間チップ"/>
            <p:cNvSpPr/>
            <p:nvPr/>
          </p:nvSpPr>
          <p:spPr>
            <a:xfrm>
              <a:off x="4019550" y="211455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期間チップ文字"/>
            <p:cNvSpPr/>
            <p:nvPr/>
          </p:nvSpPr>
          <p:spPr>
            <a:xfrm>
              <a:off x="4019550" y="2124075"/>
              <a:ext cx="1143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〜3営業日</a:t>
              </a:r>
            </a:p>
          </p:txBody>
        </p:sp>
        <p:sp>
          <p:nvSpPr>
            <p:cNvPr id="32" name="詳細カード"/>
            <p:cNvSpPr/>
            <p:nvPr/>
          </p:nvSpPr>
          <p:spPr>
            <a:xfrm>
              <a:off x="3257550" y="2686050"/>
              <a:ext cx="2590800" cy="2667000"/>
            </a:xfrm>
            <a:prstGeom prst="roundRect">
              <a:avLst>
                <a:gd name="adj" fmla="val 294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詳細見出し"/>
            <p:cNvSpPr/>
            <p:nvPr/>
          </p:nvSpPr>
          <p:spPr>
            <a:xfrm>
              <a:off x="3429000" y="2838450"/>
              <a:ext cx="2247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やること</a:t>
              </a:r>
            </a:p>
          </p:txBody>
        </p:sp>
        <p:sp>
          <p:nvSpPr>
            <p:cNvPr id="34" name="点1"/>
            <p:cNvSpPr/>
            <p:nvPr/>
          </p:nvSpPr>
          <p:spPr>
            <a:xfrm>
              <a:off x="3429000" y="32004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詳細1"/>
            <p:cNvSpPr/>
            <p:nvPr/>
          </p:nvSpPr>
          <p:spPr>
            <a:xfrm>
              <a:off x="3581400" y="3124200"/>
              <a:ext cx="21336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1000">
                  <a:solidFill>
                    <a:schemeClr val="dk1"/>
                  </a:solidFill>
                </a:rPr>
                <a:t>既存資料のテンプレ化（当社代行）</a:t>
              </a:r>
            </a:p>
          </p:txBody>
        </p:sp>
        <p:sp>
          <p:nvSpPr>
            <p:cNvPr id="36" name="点2"/>
            <p:cNvSpPr/>
            <p:nvPr/>
          </p:nvSpPr>
          <p:spPr>
            <a:xfrm>
              <a:off x="3429000" y="38862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詳細2"/>
            <p:cNvSpPr/>
            <p:nvPr/>
          </p:nvSpPr>
          <p:spPr>
            <a:xfrm>
              <a:off x="3581400" y="3810000"/>
              <a:ext cx="21336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1000">
                  <a:solidFill>
                    <a:schemeClr val="dk1"/>
                  </a:solidFill>
                </a:rPr>
                <a:t>アカウント・権限の発行</a:t>
              </a:r>
            </a:p>
          </p:txBody>
        </p:sp>
        <p:sp>
          <p:nvSpPr>
            <p:cNvPr id="38" name="点3"/>
            <p:cNvSpPr/>
            <p:nvPr/>
          </p:nvSpPr>
          <p:spPr>
            <a:xfrm>
              <a:off x="3429000" y="45720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詳細3"/>
            <p:cNvSpPr/>
            <p:nvPr/>
          </p:nvSpPr>
          <p:spPr>
            <a:xfrm>
              <a:off x="3581400" y="4495800"/>
              <a:ext cx="21336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1000">
                  <a:solidFill>
                    <a:schemeClr val="dk1"/>
                  </a:solidFill>
                </a:rPr>
                <a:t>ブランド設定の適用</a:t>
              </a:r>
            </a:p>
          </p:txBody>
        </p:sp>
      </p:grpSp>
      <p:grpSp>
        <p:nvGrpSpPr>
          <p:cNvPr id="40" name="導入ステップ03_試験運用"/>
          <p:cNvGrpSpPr/>
          <p:nvPr/>
        </p:nvGrpSpPr>
        <p:grpSpPr>
          <a:xfrm>
            <a:off x="5943600" y="1390650"/>
            <a:ext cx="2667000" cy="3962400"/>
            <a:chOff x="5943600" y="1390650"/>
            <a:chExt cx="2667000" cy="3962400"/>
          </a:xfrm>
        </p:grpSpPr>
        <p:sp>
          <p:nvSpPr>
            <p:cNvPr id="41" name="シェブロン3"/>
            <p:cNvSpPr/>
            <p:nvPr/>
          </p:nvSpPr>
          <p:spPr>
            <a:xfrm>
              <a:off x="5943600" y="1390650"/>
              <a:ext cx="2667000" cy="571500"/>
            </a:xfrm>
            <a:prstGeom prst="chevron">
              <a:avLst>
                <a:gd name="adj" fmla="val 4666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番号円"/>
            <p:cNvSpPr/>
            <p:nvPr/>
          </p:nvSpPr>
          <p:spPr>
            <a:xfrm>
              <a:off x="6343650" y="1533525"/>
              <a:ext cx="285750" cy="285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番号"/>
            <p:cNvSpPr/>
            <p:nvPr/>
          </p:nvSpPr>
          <p:spPr>
            <a:xfrm>
              <a:off x="6343650" y="1543050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3</a:t>
              </a:r>
            </a:p>
          </p:txBody>
        </p:sp>
        <p:sp>
          <p:nvSpPr>
            <p:cNvPr id="44" name="ステップ名"/>
            <p:cNvSpPr/>
            <p:nvPr/>
          </p:nvSpPr>
          <p:spPr>
            <a:xfrm>
              <a:off x="6705600" y="1390650"/>
              <a:ext cx="15621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試験運用</a:t>
              </a:r>
            </a:p>
          </p:txBody>
        </p:sp>
        <p:sp>
          <p:nvSpPr>
            <p:cNvPr id="45" name="期間チップ"/>
            <p:cNvSpPr/>
            <p:nvPr/>
          </p:nvSpPr>
          <p:spPr>
            <a:xfrm>
              <a:off x="6705600" y="211455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期間チップ文字"/>
            <p:cNvSpPr/>
            <p:nvPr/>
          </p:nvSpPr>
          <p:spPr>
            <a:xfrm>
              <a:off x="6705600" y="2124075"/>
              <a:ext cx="1143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〜1週間</a:t>
              </a:r>
            </a:p>
          </p:txBody>
        </p:sp>
        <p:sp>
          <p:nvSpPr>
            <p:cNvPr id="47" name="詳細カード"/>
            <p:cNvSpPr/>
            <p:nvPr/>
          </p:nvSpPr>
          <p:spPr>
            <a:xfrm>
              <a:off x="5943600" y="2686050"/>
              <a:ext cx="2590800" cy="2667000"/>
            </a:xfrm>
            <a:prstGeom prst="roundRect">
              <a:avLst>
                <a:gd name="adj" fmla="val 294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詳細見出し"/>
            <p:cNvSpPr/>
            <p:nvPr/>
          </p:nvSpPr>
          <p:spPr>
            <a:xfrm>
              <a:off x="6115050" y="2838450"/>
              <a:ext cx="2247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やること</a:t>
              </a:r>
            </a:p>
          </p:txBody>
        </p:sp>
        <p:sp>
          <p:nvSpPr>
            <p:cNvPr id="49" name="点1"/>
            <p:cNvSpPr/>
            <p:nvPr/>
          </p:nvSpPr>
          <p:spPr>
            <a:xfrm>
              <a:off x="6115050" y="32004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詳細1"/>
            <p:cNvSpPr/>
            <p:nvPr/>
          </p:nvSpPr>
          <p:spPr>
            <a:xfrm>
              <a:off x="6267450" y="3124200"/>
              <a:ext cx="21336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1000">
                  <a:solidFill>
                    <a:schemeClr val="dk1"/>
                  </a:solidFill>
                </a:rPr>
                <a:t>1部門で通常業務のまま利用</a:t>
              </a:r>
            </a:p>
          </p:txBody>
        </p:sp>
        <p:sp>
          <p:nvSpPr>
            <p:cNvPr id="51" name="点2"/>
            <p:cNvSpPr/>
            <p:nvPr/>
          </p:nvSpPr>
          <p:spPr>
            <a:xfrm>
              <a:off x="6115050" y="38862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詳細2"/>
            <p:cNvSpPr/>
            <p:nvPr/>
          </p:nvSpPr>
          <p:spPr>
            <a:xfrm>
              <a:off x="6267450" y="3810000"/>
              <a:ext cx="21336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1000">
                  <a:solidFill>
                    <a:schemeClr val="dk1"/>
                  </a:solidFill>
                </a:rPr>
                <a:t>週次で削減効果を実測</a:t>
              </a:r>
            </a:p>
          </p:txBody>
        </p:sp>
        <p:sp>
          <p:nvSpPr>
            <p:cNvPr id="53" name="点3"/>
            <p:cNvSpPr/>
            <p:nvPr/>
          </p:nvSpPr>
          <p:spPr>
            <a:xfrm>
              <a:off x="6115050" y="45720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詳細3"/>
            <p:cNvSpPr/>
            <p:nvPr/>
          </p:nvSpPr>
          <p:spPr>
            <a:xfrm>
              <a:off x="6267450" y="4495800"/>
              <a:ext cx="21336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1000">
                  <a:solidFill>
                    <a:schemeClr val="dk1"/>
                  </a:solidFill>
                </a:rPr>
                <a:t>テンプレートの微調整</a:t>
              </a:r>
            </a:p>
          </p:txBody>
        </p:sp>
      </p:grpSp>
      <p:grpSp>
        <p:nvGrpSpPr>
          <p:cNvPr id="55" name="導入ステップ04_全社展開"/>
          <p:cNvGrpSpPr/>
          <p:nvPr/>
        </p:nvGrpSpPr>
        <p:grpSpPr>
          <a:xfrm>
            <a:off x="8629650" y="1390650"/>
            <a:ext cx="2667000" cy="3962400"/>
            <a:chOff x="8629650" y="1390650"/>
            <a:chExt cx="2667000" cy="3962400"/>
          </a:xfrm>
        </p:grpSpPr>
        <p:sp>
          <p:nvSpPr>
            <p:cNvPr id="56" name="シェブロン4"/>
            <p:cNvSpPr/>
            <p:nvPr/>
          </p:nvSpPr>
          <p:spPr>
            <a:xfrm>
              <a:off x="8629650" y="1390650"/>
              <a:ext cx="2667000" cy="571500"/>
            </a:xfrm>
            <a:prstGeom prst="chevron">
              <a:avLst>
                <a:gd name="adj" fmla="val 4666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番号円"/>
            <p:cNvSpPr/>
            <p:nvPr/>
          </p:nvSpPr>
          <p:spPr>
            <a:xfrm>
              <a:off x="9029700" y="1533525"/>
              <a:ext cx="285750" cy="2857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番号"/>
            <p:cNvSpPr/>
            <p:nvPr/>
          </p:nvSpPr>
          <p:spPr>
            <a:xfrm>
              <a:off x="9029700" y="1543050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4</a:t>
              </a:r>
            </a:p>
          </p:txBody>
        </p:sp>
        <p:sp>
          <p:nvSpPr>
            <p:cNvPr id="59" name="ステップ名"/>
            <p:cNvSpPr/>
            <p:nvPr/>
          </p:nvSpPr>
          <p:spPr>
            <a:xfrm>
              <a:off x="9391650" y="1390650"/>
              <a:ext cx="15621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lt1"/>
                  </a:solidFill>
                </a:rPr>
                <a:t>全社展開</a:t>
              </a:r>
            </a:p>
          </p:txBody>
        </p:sp>
        <p:sp>
          <p:nvSpPr>
            <p:cNvPr id="60" name="期間チップ（朱）"/>
            <p:cNvSpPr/>
            <p:nvPr/>
          </p:nvSpPr>
          <p:spPr>
            <a:xfrm>
              <a:off x="9391650" y="211455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期間チップ文字"/>
            <p:cNvSpPr/>
            <p:nvPr/>
          </p:nvSpPr>
          <p:spPr>
            <a:xfrm>
              <a:off x="9391650" y="2124075"/>
              <a:ext cx="1143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2週間目〜</a:t>
              </a:r>
            </a:p>
          </p:txBody>
        </p:sp>
        <p:sp>
          <p:nvSpPr>
            <p:cNvPr id="62" name="詳細カード"/>
            <p:cNvSpPr/>
            <p:nvPr/>
          </p:nvSpPr>
          <p:spPr>
            <a:xfrm>
              <a:off x="8629650" y="2686050"/>
              <a:ext cx="2590800" cy="2667000"/>
            </a:xfrm>
            <a:prstGeom prst="roundRect">
              <a:avLst>
                <a:gd name="adj" fmla="val 294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詳細見出し"/>
            <p:cNvSpPr/>
            <p:nvPr/>
          </p:nvSpPr>
          <p:spPr>
            <a:xfrm>
              <a:off x="8801100" y="2838450"/>
              <a:ext cx="2247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やること</a:t>
              </a:r>
            </a:p>
          </p:txBody>
        </p:sp>
        <p:sp>
          <p:nvSpPr>
            <p:cNvPr id="64" name="点1"/>
            <p:cNvSpPr/>
            <p:nvPr/>
          </p:nvSpPr>
          <p:spPr>
            <a:xfrm>
              <a:off x="8801100" y="32004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詳細1"/>
            <p:cNvSpPr/>
            <p:nvPr/>
          </p:nvSpPr>
          <p:spPr>
            <a:xfrm>
              <a:off x="8953500" y="3124200"/>
              <a:ext cx="21336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1000">
                  <a:solidFill>
                    <a:schemeClr val="dk1"/>
                  </a:solidFill>
                </a:rPr>
                <a:t>全部門向け30分研修</a:t>
              </a:r>
            </a:p>
          </p:txBody>
        </p:sp>
        <p:sp>
          <p:nvSpPr>
            <p:cNvPr id="66" name="点2"/>
            <p:cNvSpPr/>
            <p:nvPr/>
          </p:nvSpPr>
          <p:spPr>
            <a:xfrm>
              <a:off x="8801100" y="38862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詳細2"/>
            <p:cNvSpPr/>
            <p:nvPr/>
          </p:nvSpPr>
          <p:spPr>
            <a:xfrm>
              <a:off x="8953500" y="3810000"/>
              <a:ext cx="21336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1000">
                  <a:solidFill>
                    <a:schemeClr val="dk1"/>
                  </a:solidFill>
                </a:rPr>
                <a:t>利用状況のモニタリング</a:t>
              </a:r>
            </a:p>
          </p:txBody>
        </p:sp>
        <p:sp>
          <p:nvSpPr>
            <p:cNvPr id="68" name="点3"/>
            <p:cNvSpPr/>
            <p:nvPr/>
          </p:nvSpPr>
          <p:spPr>
            <a:xfrm>
              <a:off x="8801100" y="45720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詳細3"/>
            <p:cNvSpPr/>
            <p:nvPr/>
          </p:nvSpPr>
          <p:spPr>
            <a:xfrm>
              <a:off x="8953500" y="4495800"/>
              <a:ext cx="2133600" cy="571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1000">
                  <a:solidFill>
                    <a:schemeClr val="dk1"/>
                  </a:solidFill>
                </a:rPr>
                <a:t>月次の定着レポート</a:t>
              </a:r>
            </a:p>
          </p:txBody>
        </p:sp>
      </p:grpSp>
      <p:sp>
        <p:nvSpPr>
          <p:cNvPr id="70" name="Rectangle 69"/>
          <p:cNvSpPr/>
          <p:nvPr/>
        </p:nvSpPr>
        <p:spPr>
          <a:xfrm>
            <a:off x="571500" y="5638800"/>
            <a:ext cx="110490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b="1">
                <a:solidFill>
                  <a:schemeClr val="dk2"/>
                </a:solidFill>
              </a:rPr>
              <a:t>各ステップの完了条件を事前に共有——「いま何合目か」が常に見える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FAQ｜Q&amp;A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導入前の疑問は、この4問でほぼ出尽くす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よくいただく質問（導入検討時）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注：回答は標準提供条件の要約です（架空サンプル）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出所：SampleWorksサポートFAQ（架空サンプル）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15</a:t>
            </a:r>
          </a:p>
        </p:txBody>
      </p:sp>
      <p:grpSp>
        <p:nvGrpSpPr>
          <p:cNvPr id="10" name="FAQ01"/>
          <p:cNvGrpSpPr/>
          <p:nvPr/>
        </p:nvGrpSpPr>
        <p:grpSpPr>
          <a:xfrm>
            <a:off x="571500" y="1333500"/>
            <a:ext cx="5334000" cy="1943100"/>
            <a:chOff x="571500" y="1333500"/>
            <a:chExt cx="5334000" cy="1943100"/>
          </a:xfrm>
        </p:grpSpPr>
        <p:sp>
          <p:nvSpPr>
            <p:cNvPr id="11" name="Qマーカー"/>
            <p:cNvSpPr/>
            <p:nvPr/>
          </p:nvSpPr>
          <p:spPr>
            <a:xfrm>
              <a:off x="571500" y="13335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Q文字"/>
            <p:cNvSpPr/>
            <p:nvPr/>
          </p:nvSpPr>
          <p:spPr>
            <a:xfrm>
              <a:off x="571500" y="13430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Q</a:t>
              </a:r>
            </a:p>
          </p:txBody>
        </p:sp>
        <p:sp>
          <p:nvSpPr>
            <p:cNvPr id="13" name="質問文"/>
            <p:cNvSpPr/>
            <p:nvPr/>
          </p:nvSpPr>
          <p:spPr>
            <a:xfrm>
              <a:off x="1066800" y="1333500"/>
              <a:ext cx="48387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料金のほかに、初期費用はかかりますか？</a:t>
              </a:r>
            </a:p>
          </p:txBody>
        </p:sp>
        <p:cxnSp>
          <p:nvCxnSpPr>
            <p:cNvPr id="14" name="区切り線"/>
            <p:cNvCxnSpPr/>
            <p:nvPr/>
          </p:nvCxnSpPr>
          <p:spPr>
            <a:xfrm>
              <a:off x="571500" y="186690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Aマーカー"/>
            <p:cNvSpPr/>
            <p:nvPr/>
          </p:nvSpPr>
          <p:spPr>
            <a:xfrm>
              <a:off x="571500" y="2057400"/>
              <a:ext cx="342900" cy="3429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A文字"/>
            <p:cNvSpPr/>
            <p:nvPr/>
          </p:nvSpPr>
          <p:spPr>
            <a:xfrm>
              <a:off x="571500" y="20669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17" name="回答文"/>
            <p:cNvSpPr/>
            <p:nvPr/>
          </p:nvSpPr>
          <p:spPr>
            <a:xfrm>
              <a:off x="1066800" y="2038350"/>
              <a:ext cx="48387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かかりません。初期設定・テンプレート化・研修まで月額料金に含まれます。追加費用が発生する場合は、必ず事前にお見積りを提示します。</a:t>
              </a:r>
            </a:p>
          </p:txBody>
        </p:sp>
      </p:grpSp>
      <p:grpSp>
        <p:nvGrpSpPr>
          <p:cNvPr id="18" name="FAQ02"/>
          <p:cNvGrpSpPr/>
          <p:nvPr/>
        </p:nvGrpSpPr>
        <p:grpSpPr>
          <a:xfrm>
            <a:off x="6286500" y="1333500"/>
            <a:ext cx="5334000" cy="1943100"/>
            <a:chOff x="6286500" y="1333500"/>
            <a:chExt cx="5334000" cy="1943100"/>
          </a:xfrm>
        </p:grpSpPr>
        <p:sp>
          <p:nvSpPr>
            <p:cNvPr id="19" name="Qマーカー"/>
            <p:cNvSpPr/>
            <p:nvPr/>
          </p:nvSpPr>
          <p:spPr>
            <a:xfrm>
              <a:off x="6286500" y="13335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Q文字"/>
            <p:cNvSpPr/>
            <p:nvPr/>
          </p:nvSpPr>
          <p:spPr>
            <a:xfrm>
              <a:off x="6286500" y="13430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Q</a:t>
              </a:r>
            </a:p>
          </p:txBody>
        </p:sp>
        <p:sp>
          <p:nvSpPr>
            <p:cNvPr id="21" name="質問文"/>
            <p:cNvSpPr/>
            <p:nvPr/>
          </p:nvSpPr>
          <p:spPr>
            <a:xfrm>
              <a:off x="6781800" y="1333500"/>
              <a:ext cx="48387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契約から利用開始まで、どれくらいかかりますか？</a:t>
              </a:r>
            </a:p>
          </p:txBody>
        </p:sp>
        <p:cxnSp>
          <p:nvCxnSpPr>
            <p:cNvPr id="22" name="区切り線"/>
            <p:cNvCxnSpPr/>
            <p:nvPr/>
          </p:nvCxnSpPr>
          <p:spPr>
            <a:xfrm>
              <a:off x="6286500" y="186690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Aマーカー"/>
            <p:cNvSpPr/>
            <p:nvPr/>
          </p:nvSpPr>
          <p:spPr>
            <a:xfrm>
              <a:off x="6286500" y="2057400"/>
              <a:ext cx="342900" cy="3429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A文字"/>
            <p:cNvSpPr/>
            <p:nvPr/>
          </p:nvSpPr>
          <p:spPr>
            <a:xfrm>
              <a:off x="6286500" y="206692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25" name="回答文"/>
            <p:cNvSpPr/>
            <p:nvPr/>
          </p:nvSpPr>
          <p:spPr>
            <a:xfrm>
              <a:off x="6781800" y="2038350"/>
              <a:ext cx="48387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標準で2週間、最短で7営業日です。初期設定は当社が代行するため、お客様の実作業は合計2時間ほどで済みます。</a:t>
              </a:r>
            </a:p>
          </p:txBody>
        </p:sp>
      </p:grpSp>
      <p:grpSp>
        <p:nvGrpSpPr>
          <p:cNvPr id="26" name="FAQ03"/>
          <p:cNvGrpSpPr/>
          <p:nvPr/>
        </p:nvGrpSpPr>
        <p:grpSpPr>
          <a:xfrm>
            <a:off x="571500" y="3714750"/>
            <a:ext cx="5334000" cy="1943100"/>
            <a:chOff x="571500" y="3714750"/>
            <a:chExt cx="5334000" cy="1943100"/>
          </a:xfrm>
        </p:grpSpPr>
        <p:sp>
          <p:nvSpPr>
            <p:cNvPr id="27" name="Qマーカー"/>
            <p:cNvSpPr/>
            <p:nvPr/>
          </p:nvSpPr>
          <p:spPr>
            <a:xfrm>
              <a:off x="571500" y="37147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Q文字"/>
            <p:cNvSpPr/>
            <p:nvPr/>
          </p:nvSpPr>
          <p:spPr>
            <a:xfrm>
              <a:off x="571500" y="372427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Q</a:t>
              </a:r>
            </a:p>
          </p:txBody>
        </p:sp>
        <p:sp>
          <p:nvSpPr>
            <p:cNvPr id="29" name="質問文"/>
            <p:cNvSpPr/>
            <p:nvPr/>
          </p:nvSpPr>
          <p:spPr>
            <a:xfrm>
              <a:off x="1066800" y="3714750"/>
              <a:ext cx="48387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人数やプランは、あとから変えられますか？</a:t>
              </a:r>
            </a:p>
          </p:txBody>
        </p:sp>
        <p:cxnSp>
          <p:nvCxnSpPr>
            <p:cNvPr id="30" name="区切り線"/>
            <p:cNvCxnSpPr/>
            <p:nvPr/>
          </p:nvCxnSpPr>
          <p:spPr>
            <a:xfrm>
              <a:off x="571500" y="424815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Aマーカー"/>
            <p:cNvSpPr/>
            <p:nvPr/>
          </p:nvSpPr>
          <p:spPr>
            <a:xfrm>
              <a:off x="571500" y="4438650"/>
              <a:ext cx="342900" cy="3429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A文字"/>
            <p:cNvSpPr/>
            <p:nvPr/>
          </p:nvSpPr>
          <p:spPr>
            <a:xfrm>
              <a:off x="571500" y="444817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33" name="回答文"/>
            <p:cNvSpPr/>
            <p:nvPr/>
          </p:nvSpPr>
          <p:spPr>
            <a:xfrm>
              <a:off x="1066800" y="4419600"/>
              <a:ext cx="48387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変えられます。月単位でいつでも変更でき、翌月から反映されます。繁忙期だけ人数を増やすといった使い方も可能です。</a:t>
              </a:r>
            </a:p>
          </p:txBody>
        </p:sp>
      </p:grpSp>
      <p:grpSp>
        <p:nvGrpSpPr>
          <p:cNvPr id="34" name="FAQ04"/>
          <p:cNvGrpSpPr/>
          <p:nvPr/>
        </p:nvGrpSpPr>
        <p:grpSpPr>
          <a:xfrm>
            <a:off x="6286500" y="3714750"/>
            <a:ext cx="5334000" cy="1943100"/>
            <a:chOff x="6286500" y="3714750"/>
            <a:chExt cx="5334000" cy="1943100"/>
          </a:xfrm>
        </p:grpSpPr>
        <p:sp>
          <p:nvSpPr>
            <p:cNvPr id="35" name="Qマーカー"/>
            <p:cNvSpPr/>
            <p:nvPr/>
          </p:nvSpPr>
          <p:spPr>
            <a:xfrm>
              <a:off x="6286500" y="37147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Q文字"/>
            <p:cNvSpPr/>
            <p:nvPr/>
          </p:nvSpPr>
          <p:spPr>
            <a:xfrm>
              <a:off x="6286500" y="372427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lt1"/>
                  </a:solidFill>
                </a:rPr>
                <a:t>Q</a:t>
              </a:r>
            </a:p>
          </p:txBody>
        </p:sp>
        <p:sp>
          <p:nvSpPr>
            <p:cNvPr id="37" name="質問文"/>
            <p:cNvSpPr/>
            <p:nvPr/>
          </p:nvSpPr>
          <p:spPr>
            <a:xfrm>
              <a:off x="6781800" y="3714750"/>
              <a:ext cx="48387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導入後のサポートは何をしてくれますか？</a:t>
              </a:r>
            </a:p>
          </p:txBody>
        </p:sp>
        <p:cxnSp>
          <p:nvCxnSpPr>
            <p:cNvPr id="38" name="区切り線"/>
            <p:cNvCxnSpPr/>
            <p:nvPr/>
          </p:nvCxnSpPr>
          <p:spPr>
            <a:xfrm>
              <a:off x="6286500" y="4248150"/>
              <a:ext cx="5334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Aマーカー"/>
            <p:cNvSpPr/>
            <p:nvPr/>
          </p:nvSpPr>
          <p:spPr>
            <a:xfrm>
              <a:off x="6286500" y="4438650"/>
              <a:ext cx="342900" cy="342900"/>
            </a:xfrm>
            <a:prstGeom prst="ellipse">
              <a:avLst/>
            </a:prstGeom>
            <a:noFill/>
            <a:ln w="14287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A文字"/>
            <p:cNvSpPr/>
            <p:nvPr/>
          </p:nvSpPr>
          <p:spPr>
            <a:xfrm>
              <a:off x="6286500" y="4448175"/>
              <a:ext cx="342900" cy="3238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41" name="回答文"/>
            <p:cNvSpPr/>
            <p:nvPr/>
          </p:nvSpPr>
          <p:spPr>
            <a:xfrm>
              <a:off x="6781800" y="4419600"/>
              <a:ext cx="4838700" cy="1238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100">
                  <a:solidFill>
                    <a:schemeClr val="dk1"/>
                  </a:solidFill>
                </a:rPr>
                <a:t>専任担当が週次で利用状況を確認し、定着まで伴走します。問い合わせはチャット・メール・電話に対応しています（詳細は18頁）。</a:t>
              </a:r>
            </a:p>
          </p:txBody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04800"/>
            <a:ext cx="57150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chemeClr val="accent5"/>
                </a:solidFill>
              </a:rPr>
              <a:t>保証・安心｜TRUST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14350"/>
            <a:ext cx="1104900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chemeClr val="dk2"/>
                </a:solidFill>
              </a:rPr>
              <a:t>専任担当が伴走する。平均応答は42分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914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71500" y="1047750"/>
            <a:ext cx="93345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chemeClr val="accent5"/>
                </a:solidFill>
              </a:rPr>
              <a:t>サポート体制の全体像（担当・時間・チャネル）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248400"/>
            <a:ext cx="11049000" cy="0"/>
          </a:xfrm>
          <a:prstGeom prst="bentConnector3">
            <a:avLst/>
          </a:prstGeom>
          <a:ln w="9525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" y="6343650"/>
            <a:ext cx="9715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注：応答時間は2026年上期の対応実績平均。数値は架空のサンプルです</a:t>
            </a:r>
          </a:p>
          <a:p>
            <a:pPr algn="l">
              <a:lnSpc>
                <a:spcPct val="155000"/>
              </a:lnSpc>
            </a:pPr>
            <a:r>
              <a:rPr sz="850">
                <a:solidFill>
                  <a:schemeClr val="accent5"/>
                </a:solidFill>
              </a:rPr>
              <a:t>出所：サポート窓口の対応ログ集計（架空サンプル）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49000" y="6400800"/>
            <a:ext cx="571500" cy="152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1000">
                <a:solidFill>
                  <a:schemeClr val="accent5"/>
                </a:solidFill>
              </a:rPr>
              <a:t>18</a:t>
            </a:r>
          </a:p>
        </p:txBody>
      </p:sp>
      <p:grpSp>
        <p:nvGrpSpPr>
          <p:cNvPr id="10" name="サポート_専任担当"/>
          <p:cNvGrpSpPr/>
          <p:nvPr/>
        </p:nvGrpSpPr>
        <p:grpSpPr>
          <a:xfrm>
            <a:off x="571500" y="1390650"/>
            <a:ext cx="3429000" cy="2762250"/>
            <a:chOff x="571500" y="1390650"/>
            <a:chExt cx="3429000" cy="2762250"/>
          </a:xfrm>
        </p:grpSpPr>
        <p:sp>
          <p:nvSpPr>
            <p:cNvPr id="11" name="担当_カード本体"/>
            <p:cNvSpPr/>
            <p:nvPr/>
          </p:nvSpPr>
          <p:spPr>
            <a:xfrm>
              <a:off x="571500" y="1390650"/>
              <a:ext cx="3429000" cy="2762250"/>
            </a:xfrm>
            <a:prstGeom prst="roundRect">
              <a:avLst>
                <a:gd name="adj" fmla="val 275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担当_見出し帯"/>
            <p:cNvSpPr/>
            <p:nvPr/>
          </p:nvSpPr>
          <p:spPr>
            <a:xfrm>
              <a:off x="571500" y="1390650"/>
              <a:ext cx="3429000" cy="38100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担当_見出し帯・角"/>
            <p:cNvSpPr/>
            <p:nvPr/>
          </p:nvSpPr>
          <p:spPr>
            <a:xfrm>
              <a:off x="571500" y="1581150"/>
              <a:ext cx="3429000" cy="19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23900" y="1390650"/>
              <a:ext cx="31242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専任担当</a:t>
              </a:r>
            </a:p>
          </p:txBody>
        </p:sp>
        <p:sp>
          <p:nvSpPr>
            <p:cNvPr id="15" name="担当アバター"/>
            <p:cNvSpPr/>
            <p:nvPr/>
          </p:nvSpPr>
          <p:spPr>
            <a:xfrm>
              <a:off x="800100" y="2038350"/>
              <a:ext cx="609600" cy="609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アバター文字"/>
            <p:cNvSpPr/>
            <p:nvPr/>
          </p:nvSpPr>
          <p:spPr>
            <a:xfrm>
              <a:off x="800100" y="2047875"/>
              <a:ext cx="609600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担当</a:t>
              </a:r>
            </a:p>
          </p:txBody>
        </p:sp>
        <p:sp>
          <p:nvSpPr>
            <p:cNvPr id="17" name="担当説明"/>
            <p:cNvSpPr/>
            <p:nvPr/>
          </p:nvSpPr>
          <p:spPr>
            <a:xfrm>
              <a:off x="1562100" y="2076450"/>
              <a:ext cx="2209800" cy="4572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導入コンサルタントを</a:t>
              </a:r>
            </a:p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1名専任で配置</a:t>
              </a:r>
            </a:p>
          </p:txBody>
        </p:sp>
        <p:cxnSp>
          <p:nvCxnSpPr>
            <p:cNvPr id="18" name="区切り線"/>
            <p:cNvCxnSpPr/>
            <p:nvPr/>
          </p:nvCxnSpPr>
          <p:spPr>
            <a:xfrm>
              <a:off x="800100" y="291465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担当補足"/>
            <p:cNvSpPr/>
            <p:nvPr/>
          </p:nvSpPr>
          <p:spPr>
            <a:xfrm>
              <a:off x="800100" y="3067050"/>
              <a:ext cx="2971800" cy="800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5000"/>
                </a:lnSpc>
              </a:pPr>
              <a:r>
                <a:rPr sz="1000">
                  <a:solidFill>
                    <a:schemeClr val="accent5"/>
                  </a:solidFill>
                </a:rPr>
                <a:t>導入から定着まで同じ担当が伴走。引き継ぎのたびに状況を説明し直す必要はありません</a:t>
              </a:r>
            </a:p>
          </p:txBody>
        </p:sp>
      </p:grpSp>
      <p:grpSp>
        <p:nvGrpSpPr>
          <p:cNvPr id="20" name="サポート_対応時間"/>
          <p:cNvGrpSpPr/>
          <p:nvPr/>
        </p:nvGrpSpPr>
        <p:grpSpPr>
          <a:xfrm>
            <a:off x="4381500" y="1390650"/>
            <a:ext cx="3429000" cy="2762250"/>
            <a:chOff x="4381500" y="1390650"/>
            <a:chExt cx="3429000" cy="2762250"/>
          </a:xfrm>
        </p:grpSpPr>
        <p:sp>
          <p:nvSpPr>
            <p:cNvPr id="21" name="時間_カード本体"/>
            <p:cNvSpPr/>
            <p:nvPr/>
          </p:nvSpPr>
          <p:spPr>
            <a:xfrm>
              <a:off x="4381500" y="1390650"/>
              <a:ext cx="3429000" cy="2762250"/>
            </a:xfrm>
            <a:prstGeom prst="roundRect">
              <a:avLst>
                <a:gd name="adj" fmla="val 275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時間_見出し帯"/>
            <p:cNvSpPr/>
            <p:nvPr/>
          </p:nvSpPr>
          <p:spPr>
            <a:xfrm>
              <a:off x="4381500" y="1390650"/>
              <a:ext cx="3429000" cy="38100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時間_見出し帯・角"/>
            <p:cNvSpPr/>
            <p:nvPr/>
          </p:nvSpPr>
          <p:spPr>
            <a:xfrm>
              <a:off x="4381500" y="1581150"/>
              <a:ext cx="3429000" cy="19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533900" y="1390650"/>
              <a:ext cx="31242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対応時間・速さ</a:t>
              </a:r>
            </a:p>
          </p:txBody>
        </p:sp>
        <p:sp>
          <p:nvSpPr>
            <p:cNvPr id="25" name="受付見出し"/>
            <p:cNvSpPr/>
            <p:nvPr/>
          </p:nvSpPr>
          <p:spPr>
            <a:xfrm>
              <a:off x="4610100" y="1962150"/>
              <a:ext cx="29718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受付時間</a:t>
              </a:r>
            </a:p>
          </p:txBody>
        </p:sp>
        <p:sp>
          <p:nvSpPr>
            <p:cNvPr id="26" name="受付時間"/>
            <p:cNvSpPr/>
            <p:nvPr/>
          </p:nvSpPr>
          <p:spPr>
            <a:xfrm>
              <a:off x="4610100" y="2152650"/>
              <a:ext cx="29718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平日 9:00–18:00</a:t>
              </a:r>
            </a:p>
          </p:txBody>
        </p:sp>
        <p:cxnSp>
          <p:nvCxnSpPr>
            <p:cNvPr id="27" name="区切り線"/>
            <p:cNvCxnSpPr/>
            <p:nvPr/>
          </p:nvCxnSpPr>
          <p:spPr>
            <a:xfrm>
              <a:off x="4610100" y="2590800"/>
              <a:ext cx="2971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応答見出し"/>
            <p:cNvSpPr/>
            <p:nvPr/>
          </p:nvSpPr>
          <p:spPr>
            <a:xfrm>
              <a:off x="4610100" y="2724150"/>
              <a:ext cx="29718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 b="1">
                  <a:solidFill>
                    <a:schemeClr val="accent5"/>
                  </a:solidFill>
                </a:rPr>
                <a:t>一次応答の目標</a:t>
              </a:r>
            </a:p>
          </p:txBody>
        </p:sp>
        <p:sp>
          <p:nvSpPr>
            <p:cNvPr id="29" name="応答目標"/>
            <p:cNvSpPr/>
            <p:nvPr/>
          </p:nvSpPr>
          <p:spPr>
            <a:xfrm>
              <a:off x="4610100" y="2933700"/>
              <a:ext cx="29718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200" b="1">
                  <a:solidFill>
                    <a:schemeClr val="accent1"/>
                  </a:solidFill>
                </a:rPr>
                <a:t>1時間以内</a:t>
              </a:r>
            </a:p>
          </p:txBody>
        </p:sp>
        <p:sp>
          <p:nvSpPr>
            <p:cNvPr id="30" name="実績タグ（朱）"/>
            <p:cNvSpPr/>
            <p:nvPr/>
          </p:nvSpPr>
          <p:spPr>
            <a:xfrm>
              <a:off x="4610100" y="3486150"/>
              <a:ext cx="14287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実績タグ文字"/>
            <p:cNvSpPr/>
            <p:nvPr/>
          </p:nvSpPr>
          <p:spPr>
            <a:xfrm>
              <a:off x="4610100" y="3495675"/>
              <a:ext cx="1428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実績平均 42分</a:t>
              </a:r>
            </a:p>
          </p:txBody>
        </p:sp>
      </p:grpSp>
      <p:grpSp>
        <p:nvGrpSpPr>
          <p:cNvPr id="32" name="サポート_チャネル"/>
          <p:cNvGrpSpPr/>
          <p:nvPr/>
        </p:nvGrpSpPr>
        <p:grpSpPr>
          <a:xfrm>
            <a:off x="8191500" y="1390650"/>
            <a:ext cx="3429000" cy="2762250"/>
            <a:chOff x="8191500" y="1390650"/>
            <a:chExt cx="3429000" cy="2762250"/>
          </a:xfrm>
        </p:grpSpPr>
        <p:sp>
          <p:nvSpPr>
            <p:cNvPr id="33" name="チャネル_カード本体"/>
            <p:cNvSpPr/>
            <p:nvPr/>
          </p:nvSpPr>
          <p:spPr>
            <a:xfrm>
              <a:off x="8191500" y="1390650"/>
              <a:ext cx="3429000" cy="2762250"/>
            </a:xfrm>
            <a:prstGeom prst="roundRect">
              <a:avLst>
                <a:gd name="adj" fmla="val 275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チャネル_見出し帯"/>
            <p:cNvSpPr/>
            <p:nvPr/>
          </p:nvSpPr>
          <p:spPr>
            <a:xfrm>
              <a:off x="8191500" y="1390650"/>
              <a:ext cx="3429000" cy="38100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チャネル_見出し帯・角"/>
            <p:cNvSpPr/>
            <p:nvPr/>
          </p:nvSpPr>
          <p:spPr>
            <a:xfrm>
              <a:off x="8191500" y="1581150"/>
              <a:ext cx="3429000" cy="19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343900" y="1390650"/>
              <a:ext cx="31242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問い合わせチャネル</a:t>
              </a:r>
            </a:p>
          </p:txBody>
        </p:sp>
        <p:sp>
          <p:nvSpPr>
            <p:cNvPr id="37" name="チェック1_丸"/>
            <p:cNvSpPr/>
            <p:nvPr/>
          </p:nvSpPr>
          <p:spPr>
            <a:xfrm>
              <a:off x="8420100" y="19621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チェック1_チェック"/>
            <p:cNvSpPr/>
            <p:nvPr/>
          </p:nvSpPr>
          <p:spPr>
            <a:xfrm>
              <a:off x="8420100" y="1962150"/>
              <a:ext cx="190500" cy="190500"/>
            </a:xfrm>
            <a:custGeom>
              <a:avLst/>
              <a:gdLst/>
              <a:ahLst/>
              <a:cxnLst/>
              <a:rect l="0" t="0" r="190500" b="190500"/>
              <a:pathLst>
                <a:path w="190500" h="190500" fill="none">
                  <a:moveTo>
                    <a:pt x="53340" y="102870"/>
                  </a:moveTo>
                  <a:lnTo>
                    <a:pt x="83820" y="133350"/>
                  </a:lnTo>
                  <a:lnTo>
                    <a:pt x="140970" y="68580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チャネル1"/>
            <p:cNvSpPr/>
            <p:nvPr/>
          </p:nvSpPr>
          <p:spPr>
            <a:xfrm>
              <a:off x="8724900" y="1924050"/>
              <a:ext cx="1047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チャット</a:t>
              </a:r>
            </a:p>
          </p:txBody>
        </p:sp>
        <p:sp>
          <p:nvSpPr>
            <p:cNvPr id="40" name="チャネル説明1"/>
            <p:cNvSpPr/>
            <p:nvPr/>
          </p:nvSpPr>
          <p:spPr>
            <a:xfrm>
              <a:off x="9791700" y="1962150"/>
              <a:ext cx="1714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営業時間内は常時対応</a:t>
              </a:r>
            </a:p>
          </p:txBody>
        </p:sp>
        <p:sp>
          <p:nvSpPr>
            <p:cNvPr id="41" name="チェック2_丸"/>
            <p:cNvSpPr/>
            <p:nvPr/>
          </p:nvSpPr>
          <p:spPr>
            <a:xfrm>
              <a:off x="8420100" y="24955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チェック2_チェック"/>
            <p:cNvSpPr/>
            <p:nvPr/>
          </p:nvSpPr>
          <p:spPr>
            <a:xfrm>
              <a:off x="8420100" y="2495550"/>
              <a:ext cx="190500" cy="190500"/>
            </a:xfrm>
            <a:custGeom>
              <a:avLst/>
              <a:gdLst/>
              <a:ahLst/>
              <a:cxnLst/>
              <a:rect l="0" t="0" r="190500" b="190500"/>
              <a:pathLst>
                <a:path w="190500" h="190500" fill="none">
                  <a:moveTo>
                    <a:pt x="53340" y="102870"/>
                  </a:moveTo>
                  <a:lnTo>
                    <a:pt x="83820" y="133350"/>
                  </a:lnTo>
                  <a:lnTo>
                    <a:pt x="140970" y="68580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チャネル2"/>
            <p:cNvSpPr/>
            <p:nvPr/>
          </p:nvSpPr>
          <p:spPr>
            <a:xfrm>
              <a:off x="8724900" y="2457450"/>
              <a:ext cx="1047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メール</a:t>
              </a:r>
            </a:p>
          </p:txBody>
        </p:sp>
        <p:sp>
          <p:nvSpPr>
            <p:cNvPr id="44" name="チャネル説明2"/>
            <p:cNvSpPr/>
            <p:nvPr/>
          </p:nvSpPr>
          <p:spPr>
            <a:xfrm>
              <a:off x="9791700" y="2495550"/>
              <a:ext cx="1714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24時間受付</a:t>
              </a:r>
            </a:p>
          </p:txBody>
        </p:sp>
        <p:sp>
          <p:nvSpPr>
            <p:cNvPr id="45" name="チェック3_丸"/>
            <p:cNvSpPr/>
            <p:nvPr/>
          </p:nvSpPr>
          <p:spPr>
            <a:xfrm>
              <a:off x="8420100" y="30289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チェック3_チェック"/>
            <p:cNvSpPr/>
            <p:nvPr/>
          </p:nvSpPr>
          <p:spPr>
            <a:xfrm>
              <a:off x="8420100" y="3028950"/>
              <a:ext cx="190500" cy="190500"/>
            </a:xfrm>
            <a:custGeom>
              <a:avLst/>
              <a:gdLst/>
              <a:ahLst/>
              <a:cxnLst/>
              <a:rect l="0" t="0" r="190500" b="190500"/>
              <a:pathLst>
                <a:path w="190500" h="190500" fill="none">
                  <a:moveTo>
                    <a:pt x="53340" y="102870"/>
                  </a:moveTo>
                  <a:lnTo>
                    <a:pt x="83820" y="133350"/>
                  </a:lnTo>
                  <a:lnTo>
                    <a:pt x="140970" y="68580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チャネル3"/>
            <p:cNvSpPr/>
            <p:nvPr/>
          </p:nvSpPr>
          <p:spPr>
            <a:xfrm>
              <a:off x="8724900" y="2990850"/>
              <a:ext cx="1047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電話</a:t>
              </a:r>
            </a:p>
          </p:txBody>
        </p:sp>
        <p:sp>
          <p:nvSpPr>
            <p:cNvPr id="48" name="チャネル説明3"/>
            <p:cNvSpPr/>
            <p:nvPr/>
          </p:nvSpPr>
          <p:spPr>
            <a:xfrm>
              <a:off x="9791700" y="3028950"/>
              <a:ext cx="1714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急ぎの障害対応むけ</a:t>
              </a:r>
            </a:p>
          </p:txBody>
        </p:sp>
        <p:sp>
          <p:nvSpPr>
            <p:cNvPr id="49" name="チェック4_丸"/>
            <p:cNvSpPr/>
            <p:nvPr/>
          </p:nvSpPr>
          <p:spPr>
            <a:xfrm>
              <a:off x="8420100" y="35623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チェック4_チェック"/>
            <p:cNvSpPr/>
            <p:nvPr/>
          </p:nvSpPr>
          <p:spPr>
            <a:xfrm>
              <a:off x="8420100" y="3562350"/>
              <a:ext cx="190500" cy="190500"/>
            </a:xfrm>
            <a:custGeom>
              <a:avLst/>
              <a:gdLst/>
              <a:ahLst/>
              <a:cxnLst/>
              <a:rect l="0" t="0" r="190500" b="190500"/>
              <a:pathLst>
                <a:path w="190500" h="190500" fill="none">
                  <a:moveTo>
                    <a:pt x="53340" y="102870"/>
                  </a:moveTo>
                  <a:lnTo>
                    <a:pt x="83820" y="133350"/>
                  </a:lnTo>
                  <a:lnTo>
                    <a:pt x="140970" y="68580"/>
                  </a:lnTo>
                </a:path>
              </a:pathLst>
            </a:custGeom>
            <a:noFill/>
            <a:ln w="19050" cap="rnd">
              <a:solidFill>
                <a:schemeClr val="l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チャネル4"/>
            <p:cNvSpPr/>
            <p:nvPr/>
          </p:nvSpPr>
          <p:spPr>
            <a:xfrm>
              <a:off x="8724900" y="3524250"/>
              <a:ext cx="1047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月次定例会</a:t>
              </a:r>
            </a:p>
          </p:txBody>
        </p:sp>
        <p:sp>
          <p:nvSpPr>
            <p:cNvPr id="52" name="チャネル説明4"/>
            <p:cNvSpPr/>
            <p:nvPr/>
          </p:nvSpPr>
          <p:spPr>
            <a:xfrm>
              <a:off x="9791700" y="3562350"/>
              <a:ext cx="1714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改善提案つき</a:t>
              </a:r>
            </a:p>
          </p:txBody>
        </p:sp>
      </p:grpSp>
      <p:grpSp>
        <p:nvGrpSpPr>
          <p:cNvPr id="53" name="サポート_フェーズ"/>
          <p:cNvGrpSpPr/>
          <p:nvPr/>
        </p:nvGrpSpPr>
        <p:grpSpPr>
          <a:xfrm>
            <a:off x="571500" y="4552950"/>
            <a:ext cx="11049000" cy="285750"/>
            <a:chOff x="571500" y="4552950"/>
            <a:chExt cx="11049000" cy="285750"/>
          </a:xfrm>
        </p:grpSpPr>
        <p:sp>
          <p:nvSpPr>
            <p:cNvPr id="54" name="フェーズ番号円1"/>
            <p:cNvSpPr/>
            <p:nvPr/>
          </p:nvSpPr>
          <p:spPr>
            <a:xfrm>
              <a:off x="571500" y="4552950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フェーズ番号1"/>
            <p:cNvSpPr/>
            <p:nvPr/>
          </p:nvSpPr>
          <p:spPr>
            <a:xfrm>
              <a:off x="571500" y="4562475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56" name="フェーズ内容1"/>
            <p:cNvSpPr/>
            <p:nvPr/>
          </p:nvSpPr>
          <p:spPr>
            <a:xfrm>
              <a:off x="971550" y="4581525"/>
              <a:ext cx="30289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導入時：研修と初期設定を代行</a:t>
              </a:r>
            </a:p>
          </p:txBody>
        </p:sp>
        <p:sp>
          <p:nvSpPr>
            <p:cNvPr id="57" name="フェーズ番号円2"/>
            <p:cNvSpPr/>
            <p:nvPr/>
          </p:nvSpPr>
          <p:spPr>
            <a:xfrm>
              <a:off x="4381500" y="4552950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フェーズ番号2"/>
            <p:cNvSpPr/>
            <p:nvPr/>
          </p:nvSpPr>
          <p:spPr>
            <a:xfrm>
              <a:off x="4381500" y="4562475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59" name="フェーズ内容2"/>
            <p:cNvSpPr/>
            <p:nvPr/>
          </p:nvSpPr>
          <p:spPr>
            <a:xfrm>
              <a:off x="4781550" y="4581525"/>
              <a:ext cx="30289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運用1〜3ヶ月：週次で利用レポート</a:t>
              </a:r>
            </a:p>
          </p:txBody>
        </p:sp>
        <p:sp>
          <p:nvSpPr>
            <p:cNvPr id="60" name="フェーズ番号円3"/>
            <p:cNvSpPr/>
            <p:nvPr/>
          </p:nvSpPr>
          <p:spPr>
            <a:xfrm>
              <a:off x="8191500" y="4552950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フェーズ番号3"/>
            <p:cNvSpPr/>
            <p:nvPr/>
          </p:nvSpPr>
          <p:spPr>
            <a:xfrm>
              <a:off x="8191500" y="4562475"/>
              <a:ext cx="28575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62" name="フェーズ内容3"/>
            <p:cNvSpPr/>
            <p:nvPr/>
          </p:nvSpPr>
          <p:spPr>
            <a:xfrm>
              <a:off x="8591550" y="4581525"/>
              <a:ext cx="30289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定着後：月次定例で改善提案</a:t>
              </a:r>
            </a:p>
          </p:txBody>
        </p:sp>
      </p:grpSp>
      <p:grpSp>
        <p:nvGrpSpPr>
          <p:cNvPr id="63" name="SoWhatボックス"/>
          <p:cNvGrpSpPr/>
          <p:nvPr/>
        </p:nvGrpSpPr>
        <p:grpSpPr>
          <a:xfrm>
            <a:off x="571500" y="5219700"/>
            <a:ext cx="11049000" cy="514350"/>
            <a:chOff x="571500" y="5219700"/>
            <a:chExt cx="11049000" cy="514350"/>
          </a:xfrm>
        </p:grpSpPr>
        <p:sp>
          <p:nvSpPr>
            <p:cNvPr id="64" name="示唆地"/>
            <p:cNvSpPr/>
            <p:nvPr/>
          </p:nvSpPr>
          <p:spPr>
            <a:xfrm>
              <a:off x="571500" y="5219700"/>
              <a:ext cx="11049000" cy="514350"/>
            </a:xfrm>
            <a:prstGeom prst="roundRect">
              <a:avLst>
                <a:gd name="adj" fmla="val 14814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示唆ラベル"/>
            <p:cNvSpPr/>
            <p:nvPr/>
          </p:nvSpPr>
          <p:spPr>
            <a:xfrm>
              <a:off x="800100" y="5219700"/>
              <a:ext cx="8001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1"/>
                  </a:solidFill>
                </a:rPr>
                <a:t>So What</a:t>
              </a:r>
            </a:p>
          </p:txBody>
        </p:sp>
        <p:cxnSp>
          <p:nvCxnSpPr>
            <p:cNvPr id="66" name="区切り縦線"/>
            <p:cNvCxnSpPr/>
            <p:nvPr/>
          </p:nvCxnSpPr>
          <p:spPr>
            <a:xfrm>
              <a:off x="1676400" y="5343525"/>
              <a:ext cx="0" cy="2667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示唆本文"/>
            <p:cNvSpPr/>
            <p:nvPr/>
          </p:nvSpPr>
          <p:spPr>
            <a:xfrm>
              <a:off x="1866900" y="5219700"/>
              <a:ext cx="9525000" cy="514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問い合わせを待たない——利用ログを見て、困る前に当社から連絡する</a:t>
              </a:r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数字①｜KPI6グリッド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取引420社・継続率98%・社員280名。数字が当社を語る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主要指標（2026年6月時点）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出所：株式会社サンプル 会社紹介資料（数値はサンプル）　　注：本資料の数値はすべてサンプルです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02</a:t>
              </a:r>
            </a:p>
          </p:txBody>
        </p:sp>
      </p:grpSp>
      <p:grpSp>
        <p:nvGrpSpPr>
          <p:cNvPr id="11" name="KPI_取引社数"/>
          <p:cNvGrpSpPr/>
          <p:nvPr/>
        </p:nvGrpSpPr>
        <p:grpSpPr>
          <a:xfrm>
            <a:off x="609600" y="1638300"/>
            <a:ext cx="3476625" cy="1809750"/>
            <a:chOff x="609600" y="1638300"/>
            <a:chExt cx="3476625" cy="1809750"/>
          </a:xfrm>
        </p:grpSpPr>
        <p:sp>
          <p:nvSpPr>
            <p:cNvPr id="12" name="取引社数"/>
            <p:cNvSpPr/>
            <p:nvPr/>
          </p:nvSpPr>
          <p:spPr>
            <a:xfrm>
              <a:off x="609600" y="1638300"/>
              <a:ext cx="3476625" cy="1809750"/>
            </a:xfrm>
            <a:prstGeom prst="roundRect">
              <a:avLst>
                <a:gd name="adj" fmla="val 421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指標名"/>
            <p:cNvSpPr/>
            <p:nvPr/>
          </p:nvSpPr>
          <p:spPr>
            <a:xfrm>
              <a:off x="819150" y="1790700"/>
              <a:ext cx="305752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取引社数</a:t>
              </a:r>
            </a:p>
          </p:txBody>
        </p:sp>
        <p:sp>
          <p:nvSpPr>
            <p:cNvPr id="14" name="数値"/>
            <p:cNvSpPr/>
            <p:nvPr/>
          </p:nvSpPr>
          <p:spPr>
            <a:xfrm>
              <a:off x="819150" y="2076450"/>
              <a:ext cx="2714625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4200" b="1">
                  <a:solidFill>
                    <a:schemeClr val="dk2"/>
                  </a:solidFill>
                </a:rPr>
                <a:t>420</a:t>
              </a:r>
            </a:p>
          </p:txBody>
        </p:sp>
        <p:sp>
          <p:nvSpPr>
            <p:cNvPr id="15" name="単位"/>
            <p:cNvSpPr/>
            <p:nvPr/>
          </p:nvSpPr>
          <p:spPr>
            <a:xfrm>
              <a:off x="3552825" y="2381250"/>
              <a:ext cx="381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社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819150" y="2838450"/>
              <a:ext cx="3057525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補足"/>
            <p:cNvSpPr/>
            <p:nvPr/>
          </p:nvSpPr>
          <p:spPr>
            <a:xfrm>
              <a:off x="819150" y="2952750"/>
              <a:ext cx="3057525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900">
                  <a:solidFill>
                    <a:schemeClr val="accent5"/>
                  </a:solidFill>
                </a:rPr>
                <a:t>2014年比 8.4倍</a:t>
              </a:r>
            </a:p>
          </p:txBody>
        </p:sp>
      </p:grpSp>
      <p:grpSp>
        <p:nvGrpSpPr>
          <p:cNvPr id="18" name="KPI_サービス継続率"/>
          <p:cNvGrpSpPr/>
          <p:nvPr/>
        </p:nvGrpSpPr>
        <p:grpSpPr>
          <a:xfrm>
            <a:off x="4352925" y="1638300"/>
            <a:ext cx="3476625" cy="1809750"/>
            <a:chOff x="4352925" y="1638300"/>
            <a:chExt cx="3476625" cy="1809750"/>
          </a:xfrm>
        </p:grpSpPr>
        <p:sp>
          <p:nvSpPr>
            <p:cNvPr id="19" name="サービス継続率"/>
            <p:cNvSpPr/>
            <p:nvPr/>
          </p:nvSpPr>
          <p:spPr>
            <a:xfrm>
              <a:off x="4352925" y="1638300"/>
              <a:ext cx="3476625" cy="1809750"/>
            </a:xfrm>
            <a:prstGeom prst="roundRect">
              <a:avLst>
                <a:gd name="adj" fmla="val 4210"/>
              </a:avLst>
            </a:prstGeom>
            <a:solidFill>
              <a:schemeClr val="dk2"/>
            </a:solidFill>
            <a:ln w="11906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指標名"/>
            <p:cNvSpPr/>
            <p:nvPr/>
          </p:nvSpPr>
          <p:spPr>
            <a:xfrm>
              <a:off x="4562475" y="1790700"/>
              <a:ext cx="305752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4"/>
                  </a:solidFill>
                </a:rPr>
                <a:t>サービス継続率</a:t>
              </a:r>
            </a:p>
          </p:txBody>
        </p:sp>
        <p:sp>
          <p:nvSpPr>
            <p:cNvPr id="21" name="数値"/>
            <p:cNvSpPr/>
            <p:nvPr/>
          </p:nvSpPr>
          <p:spPr>
            <a:xfrm>
              <a:off x="4562475" y="2076450"/>
              <a:ext cx="2714625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4200" b="1">
                  <a:solidFill>
                    <a:schemeClr val="lt1"/>
                  </a:solidFill>
                </a:rPr>
                <a:t>98.2</a:t>
              </a:r>
            </a:p>
          </p:txBody>
        </p:sp>
        <p:sp>
          <p:nvSpPr>
            <p:cNvPr id="22" name="単位"/>
            <p:cNvSpPr/>
            <p:nvPr/>
          </p:nvSpPr>
          <p:spPr>
            <a:xfrm>
              <a:off x="7296150" y="2381250"/>
              <a:ext cx="381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4"/>
                  </a:solidFill>
                </a:rPr>
                <a:t>%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4562475" y="2838450"/>
              <a:ext cx="3057525" cy="0"/>
            </a:xfrm>
            <a:prstGeom prst="bentConnector3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補足"/>
            <p:cNvSpPr/>
            <p:nvPr/>
          </p:nvSpPr>
          <p:spPr>
            <a:xfrm>
              <a:off x="4562475" y="2952750"/>
              <a:ext cx="3057525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900">
                  <a:solidFill>
                    <a:schemeClr val="accent4"/>
                  </a:solidFill>
                </a:rPr>
                <a:t>直近3期平均</a:t>
              </a:r>
            </a:p>
          </p:txBody>
        </p:sp>
      </p:grpSp>
      <p:grpSp>
        <p:nvGrpSpPr>
          <p:cNvPr id="25" name="KPI_社員数"/>
          <p:cNvGrpSpPr/>
          <p:nvPr/>
        </p:nvGrpSpPr>
        <p:grpSpPr>
          <a:xfrm>
            <a:off x="8096250" y="1638300"/>
            <a:ext cx="3476625" cy="1809750"/>
            <a:chOff x="8096250" y="1638300"/>
            <a:chExt cx="3476625" cy="1809750"/>
          </a:xfrm>
        </p:grpSpPr>
        <p:sp>
          <p:nvSpPr>
            <p:cNvPr id="26" name="社員数"/>
            <p:cNvSpPr/>
            <p:nvPr/>
          </p:nvSpPr>
          <p:spPr>
            <a:xfrm>
              <a:off x="8096250" y="1638300"/>
              <a:ext cx="3476625" cy="1809750"/>
            </a:xfrm>
            <a:prstGeom prst="roundRect">
              <a:avLst>
                <a:gd name="adj" fmla="val 421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指標名"/>
            <p:cNvSpPr/>
            <p:nvPr/>
          </p:nvSpPr>
          <p:spPr>
            <a:xfrm>
              <a:off x="8305800" y="1790700"/>
              <a:ext cx="305752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社員数</a:t>
              </a:r>
            </a:p>
          </p:txBody>
        </p:sp>
        <p:sp>
          <p:nvSpPr>
            <p:cNvPr id="28" name="数値"/>
            <p:cNvSpPr/>
            <p:nvPr/>
          </p:nvSpPr>
          <p:spPr>
            <a:xfrm>
              <a:off x="8305800" y="2076450"/>
              <a:ext cx="2714625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4200" b="1">
                  <a:solidFill>
                    <a:schemeClr val="dk2"/>
                  </a:solidFill>
                </a:rPr>
                <a:t>280</a:t>
              </a:r>
            </a:p>
          </p:txBody>
        </p:sp>
        <p:sp>
          <p:nvSpPr>
            <p:cNvPr id="29" name="単位"/>
            <p:cNvSpPr/>
            <p:nvPr/>
          </p:nvSpPr>
          <p:spPr>
            <a:xfrm>
              <a:off x="11039475" y="2381250"/>
              <a:ext cx="381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名</a:t>
              </a:r>
            </a:p>
          </p:txBody>
        </p:sp>
        <p:cxnSp>
          <p:nvCxnSpPr>
            <p:cNvPr id="30" name="Connector 29"/>
            <p:cNvCxnSpPr/>
            <p:nvPr/>
          </p:nvCxnSpPr>
          <p:spPr>
            <a:xfrm>
              <a:off x="8305800" y="2838450"/>
              <a:ext cx="3057525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補足"/>
            <p:cNvSpPr/>
            <p:nvPr/>
          </p:nvSpPr>
          <p:spPr>
            <a:xfrm>
              <a:off x="8305800" y="2952750"/>
              <a:ext cx="3057525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900">
                  <a:solidFill>
                    <a:schemeClr val="accent5"/>
                  </a:solidFill>
                </a:rPr>
                <a:t>エンジニア比率 64%</a:t>
              </a:r>
            </a:p>
          </p:txBody>
        </p:sp>
      </p:grpSp>
      <p:grpSp>
        <p:nvGrpSpPr>
          <p:cNvPr id="32" name="KPI_拠点"/>
          <p:cNvGrpSpPr/>
          <p:nvPr/>
        </p:nvGrpSpPr>
        <p:grpSpPr>
          <a:xfrm>
            <a:off x="609600" y="3657600"/>
            <a:ext cx="3476625" cy="1809750"/>
            <a:chOff x="609600" y="3657600"/>
            <a:chExt cx="3476625" cy="1809750"/>
          </a:xfrm>
        </p:grpSpPr>
        <p:sp>
          <p:nvSpPr>
            <p:cNvPr id="33" name="拠点"/>
            <p:cNvSpPr/>
            <p:nvPr/>
          </p:nvSpPr>
          <p:spPr>
            <a:xfrm>
              <a:off x="609600" y="3657600"/>
              <a:ext cx="3476625" cy="1809750"/>
            </a:xfrm>
            <a:prstGeom prst="roundRect">
              <a:avLst>
                <a:gd name="adj" fmla="val 421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指標名"/>
            <p:cNvSpPr/>
            <p:nvPr/>
          </p:nvSpPr>
          <p:spPr>
            <a:xfrm>
              <a:off x="819150" y="3810000"/>
              <a:ext cx="305752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拠点</a:t>
              </a:r>
            </a:p>
          </p:txBody>
        </p:sp>
        <p:sp>
          <p:nvSpPr>
            <p:cNvPr id="35" name="数値"/>
            <p:cNvSpPr/>
            <p:nvPr/>
          </p:nvSpPr>
          <p:spPr>
            <a:xfrm>
              <a:off x="819150" y="4095750"/>
              <a:ext cx="2714625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4200" b="1">
                  <a:solidFill>
                    <a:schemeClr val="dk2"/>
                  </a:solidFill>
                </a:rPr>
                <a:t>5</a:t>
              </a:r>
            </a:p>
          </p:txBody>
        </p:sp>
        <p:sp>
          <p:nvSpPr>
            <p:cNvPr id="36" name="単位"/>
            <p:cNvSpPr/>
            <p:nvPr/>
          </p:nvSpPr>
          <p:spPr>
            <a:xfrm>
              <a:off x="3552825" y="4400550"/>
              <a:ext cx="381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拠点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819150" y="4857750"/>
              <a:ext cx="3057525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補足"/>
            <p:cNvSpPr/>
            <p:nvPr/>
          </p:nvSpPr>
          <p:spPr>
            <a:xfrm>
              <a:off x="819150" y="4972050"/>
              <a:ext cx="3057525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900">
                  <a:solidFill>
                    <a:schemeClr val="accent5"/>
                  </a:solidFill>
                </a:rPr>
                <a:t>東京・大阪・名古屋・福岡・仙台</a:t>
              </a:r>
            </a:p>
          </p:txBody>
        </p:sp>
      </p:grpSp>
      <p:grpSp>
        <p:nvGrpSpPr>
          <p:cNvPr id="39" name="KPI_平均勤続"/>
          <p:cNvGrpSpPr/>
          <p:nvPr/>
        </p:nvGrpSpPr>
        <p:grpSpPr>
          <a:xfrm>
            <a:off x="4352925" y="3657600"/>
            <a:ext cx="3476625" cy="1809750"/>
            <a:chOff x="4352925" y="3657600"/>
            <a:chExt cx="3476625" cy="1809750"/>
          </a:xfrm>
        </p:grpSpPr>
        <p:sp>
          <p:nvSpPr>
            <p:cNvPr id="40" name="平均勤続"/>
            <p:cNvSpPr/>
            <p:nvPr/>
          </p:nvSpPr>
          <p:spPr>
            <a:xfrm>
              <a:off x="4352925" y="3657600"/>
              <a:ext cx="3476625" cy="1809750"/>
            </a:xfrm>
            <a:prstGeom prst="roundRect">
              <a:avLst>
                <a:gd name="adj" fmla="val 421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指標名"/>
            <p:cNvSpPr/>
            <p:nvPr/>
          </p:nvSpPr>
          <p:spPr>
            <a:xfrm>
              <a:off x="4562475" y="3810000"/>
              <a:ext cx="305752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平均勤続</a:t>
              </a:r>
            </a:p>
          </p:txBody>
        </p:sp>
        <p:sp>
          <p:nvSpPr>
            <p:cNvPr id="42" name="数値"/>
            <p:cNvSpPr/>
            <p:nvPr/>
          </p:nvSpPr>
          <p:spPr>
            <a:xfrm>
              <a:off x="4562475" y="4095750"/>
              <a:ext cx="2714625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4200" b="1">
                  <a:solidFill>
                    <a:schemeClr val="dk2"/>
                  </a:solidFill>
                </a:rPr>
                <a:t>7.2</a:t>
              </a:r>
            </a:p>
          </p:txBody>
        </p:sp>
        <p:sp>
          <p:nvSpPr>
            <p:cNvPr id="43" name="単位"/>
            <p:cNvSpPr/>
            <p:nvPr/>
          </p:nvSpPr>
          <p:spPr>
            <a:xfrm>
              <a:off x="7296150" y="4400550"/>
              <a:ext cx="381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年</a:t>
              </a:r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4562475" y="4857750"/>
              <a:ext cx="3057525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補足"/>
            <p:cNvSpPr/>
            <p:nvPr/>
          </p:nvSpPr>
          <p:spPr>
            <a:xfrm>
              <a:off x="4562475" y="4972050"/>
              <a:ext cx="3057525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900">
                  <a:solidFill>
                    <a:schemeClr val="accent5"/>
                  </a:solidFill>
                </a:rPr>
                <a:t>業界平均 4.8年</a:t>
              </a:r>
            </a:p>
          </p:txBody>
        </p:sp>
      </p:grpSp>
      <p:grpSp>
        <p:nvGrpSpPr>
          <p:cNvPr id="46" name="KPI_年間プロジェクト"/>
          <p:cNvGrpSpPr/>
          <p:nvPr/>
        </p:nvGrpSpPr>
        <p:grpSpPr>
          <a:xfrm>
            <a:off x="8096250" y="3657600"/>
            <a:ext cx="3476625" cy="1809750"/>
            <a:chOff x="8096250" y="3657600"/>
            <a:chExt cx="3476625" cy="1809750"/>
          </a:xfrm>
        </p:grpSpPr>
        <p:sp>
          <p:nvSpPr>
            <p:cNvPr id="47" name="年間プロジェクト"/>
            <p:cNvSpPr/>
            <p:nvPr/>
          </p:nvSpPr>
          <p:spPr>
            <a:xfrm>
              <a:off x="8096250" y="3657600"/>
              <a:ext cx="3476625" cy="1809750"/>
            </a:xfrm>
            <a:prstGeom prst="roundRect">
              <a:avLst>
                <a:gd name="adj" fmla="val 421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指標名"/>
            <p:cNvSpPr/>
            <p:nvPr/>
          </p:nvSpPr>
          <p:spPr>
            <a:xfrm>
              <a:off x="8305800" y="3810000"/>
              <a:ext cx="3057525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年間プロジェクト</a:t>
              </a:r>
            </a:p>
          </p:txBody>
        </p:sp>
        <p:sp>
          <p:nvSpPr>
            <p:cNvPr id="49" name="数値"/>
            <p:cNvSpPr/>
            <p:nvPr/>
          </p:nvSpPr>
          <p:spPr>
            <a:xfrm>
              <a:off x="8305800" y="4095750"/>
              <a:ext cx="2714625" cy="590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4200" b="1">
                  <a:solidFill>
                    <a:schemeClr val="dk2"/>
                  </a:solidFill>
                </a:rPr>
                <a:t>150</a:t>
              </a:r>
            </a:p>
          </p:txBody>
        </p:sp>
        <p:sp>
          <p:nvSpPr>
            <p:cNvPr id="50" name="単位"/>
            <p:cNvSpPr/>
            <p:nvPr/>
          </p:nvSpPr>
          <p:spPr>
            <a:xfrm>
              <a:off x="11039475" y="4400550"/>
              <a:ext cx="381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件</a:t>
              </a:r>
            </a:p>
          </p:txBody>
        </p:sp>
        <p:cxnSp>
          <p:nvCxnSpPr>
            <p:cNvPr id="51" name="Connector 50"/>
            <p:cNvCxnSpPr/>
            <p:nvPr/>
          </p:nvCxnSpPr>
          <p:spPr>
            <a:xfrm>
              <a:off x="8305800" y="4857750"/>
              <a:ext cx="3057525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補足"/>
            <p:cNvSpPr/>
            <p:nvPr/>
          </p:nvSpPr>
          <p:spPr>
            <a:xfrm>
              <a:off x="8305800" y="4972050"/>
              <a:ext cx="3057525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900">
                  <a:solidFill>
                    <a:schemeClr val="accent5"/>
                  </a:solidFill>
                </a:rPr>
                <a:t>リピート率 82%</a:t>
              </a:r>
            </a:p>
          </p:txBody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沿革①｜タイムライン標準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創業から12年。転機はいつも、顧客の一言から生まれた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沿革（2014年〜）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出所：株式会社サンプル 会社紹介資料（数値はサンプル）　　注：本資料の数値はすべてサンプルです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05</a:t>
              </a:r>
            </a:p>
          </p:txBody>
        </p:sp>
      </p:grpSp>
      <p:grpSp>
        <p:nvGrpSpPr>
          <p:cNvPr id="11" name="軸"/>
          <p:cNvGrpSpPr/>
          <p:nvPr/>
        </p:nvGrpSpPr>
        <p:grpSpPr>
          <a:xfrm>
            <a:off x="800100" y="3133725"/>
            <a:ext cx="10591800" cy="19050"/>
            <a:chOff x="800100" y="3133725"/>
            <a:chExt cx="10591800" cy="19050"/>
          </a:xfrm>
        </p:grpSpPr>
        <p:cxnSp>
          <p:nvCxnSpPr>
            <p:cNvPr id="12" name="時間軸"/>
            <p:cNvCxnSpPr/>
            <p:nvPr/>
          </p:nvCxnSpPr>
          <p:spPr>
            <a:xfrm>
              <a:off x="800100" y="3143250"/>
              <a:ext cx="10591800" cy="0"/>
            </a:xfrm>
            <a:prstGeom prst="bentConnector3">
              <a:avLst/>
            </a:prstGeom>
            <a:ln w="19050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伸長ダミー"/>
            <p:cNvSpPr/>
            <p:nvPr/>
          </p:nvSpPr>
          <p:spPr>
            <a:xfrm>
              <a:off x="800100" y="3133725"/>
              <a:ext cx="10591800" cy="19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節目2014"/>
          <p:cNvGrpSpPr/>
          <p:nvPr/>
        </p:nvGrpSpPr>
        <p:grpSpPr>
          <a:xfrm>
            <a:off x="180975" y="2019300"/>
            <a:ext cx="2000250" cy="1209675"/>
            <a:chOff x="180975" y="2019300"/>
            <a:chExt cx="2000250" cy="1209675"/>
          </a:xfrm>
        </p:grpSpPr>
        <p:sp>
          <p:nvSpPr>
            <p:cNvPr id="15" name="点2014"/>
            <p:cNvSpPr/>
            <p:nvPr/>
          </p:nvSpPr>
          <p:spPr>
            <a:xfrm>
              <a:off x="1095375" y="305752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接続2014"/>
            <p:cNvCxnSpPr/>
            <p:nvPr/>
          </p:nvCxnSpPr>
          <p:spPr>
            <a:xfrm flipV="1">
              <a:off x="1181100" y="2647950"/>
              <a:ext cx="0" cy="3429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2014"/>
            <p:cNvSpPr/>
            <p:nvPr/>
          </p:nvSpPr>
          <p:spPr>
            <a:xfrm>
              <a:off x="180975" y="2019300"/>
              <a:ext cx="2000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3"/>
                  </a:solidFill>
                </a:rPr>
                <a:t>2014</a:t>
              </a:r>
            </a:p>
          </p:txBody>
        </p:sp>
        <p:sp>
          <p:nvSpPr>
            <p:cNvPr id="18" name="創業"/>
            <p:cNvSpPr/>
            <p:nvPr/>
          </p:nvSpPr>
          <p:spPr>
            <a:xfrm>
              <a:off x="180975" y="2209800"/>
              <a:ext cx="2000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創業</a:t>
              </a:r>
            </a:p>
          </p:txBody>
        </p:sp>
        <p:sp>
          <p:nvSpPr>
            <p:cNvPr id="19" name="説明"/>
            <p:cNvSpPr/>
            <p:nvPr/>
          </p:nvSpPr>
          <p:spPr>
            <a:xfrm>
              <a:off x="180975" y="2438400"/>
              <a:ext cx="2000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850">
                  <a:solidFill>
                    <a:schemeClr val="accent5"/>
                  </a:solidFill>
                </a:rPr>
                <a:t>受託開発からスタート</a:t>
              </a:r>
            </a:p>
          </p:txBody>
        </p:sp>
      </p:grpSp>
      <p:grpSp>
        <p:nvGrpSpPr>
          <p:cNvPr id="20" name="節目2017"/>
          <p:cNvGrpSpPr/>
          <p:nvPr/>
        </p:nvGrpSpPr>
        <p:grpSpPr>
          <a:xfrm>
            <a:off x="2638425" y="3057525"/>
            <a:ext cx="2000250" cy="1114425"/>
            <a:chOff x="2638425" y="3057525"/>
            <a:chExt cx="2000250" cy="1114425"/>
          </a:xfrm>
        </p:grpSpPr>
        <p:sp>
          <p:nvSpPr>
            <p:cNvPr id="21" name="点2017"/>
            <p:cNvSpPr/>
            <p:nvPr/>
          </p:nvSpPr>
          <p:spPr>
            <a:xfrm>
              <a:off x="3552825" y="305752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接続2017"/>
            <p:cNvCxnSpPr/>
            <p:nvPr/>
          </p:nvCxnSpPr>
          <p:spPr>
            <a:xfrm>
              <a:off x="3638550" y="3295650"/>
              <a:ext cx="0" cy="1714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2017"/>
            <p:cNvSpPr/>
            <p:nvPr/>
          </p:nvSpPr>
          <p:spPr>
            <a:xfrm>
              <a:off x="2638425" y="3467100"/>
              <a:ext cx="2000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3"/>
                  </a:solidFill>
                </a:rPr>
                <a:t>2017</a:t>
              </a:r>
            </a:p>
          </p:txBody>
        </p:sp>
        <p:sp>
          <p:nvSpPr>
            <p:cNvPr id="24" name="自社サービス開始"/>
            <p:cNvSpPr/>
            <p:nvPr/>
          </p:nvSpPr>
          <p:spPr>
            <a:xfrm>
              <a:off x="2638425" y="3657600"/>
              <a:ext cx="2000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自社サービス開始</a:t>
              </a:r>
            </a:p>
          </p:txBody>
        </p:sp>
        <p:sp>
          <p:nvSpPr>
            <p:cNvPr id="25" name="説明"/>
            <p:cNvSpPr/>
            <p:nvPr/>
          </p:nvSpPr>
          <p:spPr>
            <a:xfrm>
              <a:off x="2638425" y="3886200"/>
              <a:ext cx="2000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850">
                  <a:solidFill>
                    <a:schemeClr val="accent5"/>
                  </a:solidFill>
                </a:rPr>
                <a:t>顧客の「毎回同じ依頼」が着想に</a:t>
              </a:r>
            </a:p>
          </p:txBody>
        </p:sp>
      </p:grpSp>
      <p:grpSp>
        <p:nvGrpSpPr>
          <p:cNvPr id="26" name="節目2020"/>
          <p:cNvGrpSpPr/>
          <p:nvPr/>
        </p:nvGrpSpPr>
        <p:grpSpPr>
          <a:xfrm>
            <a:off x="5095875" y="2019300"/>
            <a:ext cx="2000250" cy="1209675"/>
            <a:chOff x="5095875" y="2019300"/>
            <a:chExt cx="2000250" cy="1209675"/>
          </a:xfrm>
        </p:grpSpPr>
        <p:sp>
          <p:nvSpPr>
            <p:cNvPr id="27" name="点2020"/>
            <p:cNvSpPr/>
            <p:nvPr/>
          </p:nvSpPr>
          <p:spPr>
            <a:xfrm>
              <a:off x="6010275" y="305752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接続2020"/>
            <p:cNvCxnSpPr/>
            <p:nvPr/>
          </p:nvCxnSpPr>
          <p:spPr>
            <a:xfrm flipV="1">
              <a:off x="6096000" y="2647950"/>
              <a:ext cx="0" cy="3429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2020"/>
            <p:cNvSpPr/>
            <p:nvPr/>
          </p:nvSpPr>
          <p:spPr>
            <a:xfrm>
              <a:off x="5095875" y="2019300"/>
              <a:ext cx="2000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3"/>
                  </a:solidFill>
                </a:rPr>
                <a:t>2020</a:t>
              </a:r>
            </a:p>
          </p:txBody>
        </p:sp>
        <p:sp>
          <p:nvSpPr>
            <p:cNvPr id="30" name="全国展開"/>
            <p:cNvSpPr/>
            <p:nvPr/>
          </p:nvSpPr>
          <p:spPr>
            <a:xfrm>
              <a:off x="5095875" y="2209800"/>
              <a:ext cx="2000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全国展開</a:t>
              </a:r>
            </a:p>
          </p:txBody>
        </p:sp>
        <p:sp>
          <p:nvSpPr>
            <p:cNvPr id="31" name="説明"/>
            <p:cNvSpPr/>
            <p:nvPr/>
          </p:nvSpPr>
          <p:spPr>
            <a:xfrm>
              <a:off x="5095875" y="2438400"/>
              <a:ext cx="2000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850">
                  <a:solidFill>
                    <a:schemeClr val="accent5"/>
                  </a:solidFill>
                </a:rPr>
                <a:t>大阪・名古屋に拠点</a:t>
              </a:r>
            </a:p>
          </p:txBody>
        </p:sp>
      </p:grpSp>
      <p:grpSp>
        <p:nvGrpSpPr>
          <p:cNvPr id="32" name="節目2023"/>
          <p:cNvGrpSpPr/>
          <p:nvPr/>
        </p:nvGrpSpPr>
        <p:grpSpPr>
          <a:xfrm>
            <a:off x="7553325" y="3057525"/>
            <a:ext cx="2000250" cy="1114425"/>
            <a:chOff x="7553325" y="3057525"/>
            <a:chExt cx="2000250" cy="1114425"/>
          </a:xfrm>
        </p:grpSpPr>
        <p:sp>
          <p:nvSpPr>
            <p:cNvPr id="33" name="点2023"/>
            <p:cNvSpPr/>
            <p:nvPr/>
          </p:nvSpPr>
          <p:spPr>
            <a:xfrm>
              <a:off x="8467725" y="305752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4" name="接続2023"/>
            <p:cNvCxnSpPr/>
            <p:nvPr/>
          </p:nvCxnSpPr>
          <p:spPr>
            <a:xfrm>
              <a:off x="8553450" y="3295650"/>
              <a:ext cx="0" cy="1714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2023"/>
            <p:cNvSpPr/>
            <p:nvPr/>
          </p:nvSpPr>
          <p:spPr>
            <a:xfrm>
              <a:off x="7553325" y="3467100"/>
              <a:ext cx="2000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3"/>
                  </a:solidFill>
                </a:rPr>
                <a:t>2023</a:t>
              </a:r>
            </a:p>
          </p:txBody>
        </p:sp>
        <p:sp>
          <p:nvSpPr>
            <p:cNvPr id="36" name="運用支援事業"/>
            <p:cNvSpPr/>
            <p:nvPr/>
          </p:nvSpPr>
          <p:spPr>
            <a:xfrm>
              <a:off x="7553325" y="3657600"/>
              <a:ext cx="2000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運用支援事業</a:t>
              </a:r>
            </a:p>
          </p:txBody>
        </p:sp>
        <p:sp>
          <p:nvSpPr>
            <p:cNvPr id="37" name="説明"/>
            <p:cNvSpPr/>
            <p:nvPr/>
          </p:nvSpPr>
          <p:spPr>
            <a:xfrm>
              <a:off x="7553325" y="3886200"/>
              <a:ext cx="2000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850">
                  <a:solidFill>
                    <a:schemeClr val="accent5"/>
                  </a:solidFill>
                </a:rPr>
                <a:t>「作った後も見てほしい」に応える</a:t>
              </a:r>
            </a:p>
          </p:txBody>
        </p:sp>
      </p:grpSp>
      <p:grpSp>
        <p:nvGrpSpPr>
          <p:cNvPr id="38" name="節目2026"/>
          <p:cNvGrpSpPr/>
          <p:nvPr/>
        </p:nvGrpSpPr>
        <p:grpSpPr>
          <a:xfrm>
            <a:off x="10010775" y="2019300"/>
            <a:ext cx="2000250" cy="1209675"/>
            <a:chOff x="10010775" y="2019300"/>
            <a:chExt cx="2000250" cy="1209675"/>
          </a:xfrm>
        </p:grpSpPr>
        <p:sp>
          <p:nvSpPr>
            <p:cNvPr id="39" name="点2026"/>
            <p:cNvSpPr/>
            <p:nvPr/>
          </p:nvSpPr>
          <p:spPr>
            <a:xfrm>
              <a:off x="10925175" y="305752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接続2026"/>
            <p:cNvCxnSpPr/>
            <p:nvPr/>
          </p:nvCxnSpPr>
          <p:spPr>
            <a:xfrm flipV="1">
              <a:off x="11010900" y="2647950"/>
              <a:ext cx="0" cy="3429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2026"/>
            <p:cNvSpPr/>
            <p:nvPr/>
          </p:nvSpPr>
          <p:spPr>
            <a:xfrm>
              <a:off x="10010775" y="2019300"/>
              <a:ext cx="2000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accent3"/>
                  </a:solidFill>
                </a:rPr>
                <a:t>2026</a:t>
              </a:r>
            </a:p>
          </p:txBody>
        </p:sp>
        <p:sp>
          <p:nvSpPr>
            <p:cNvPr id="42" name="社員280名"/>
            <p:cNvSpPr/>
            <p:nvPr/>
          </p:nvSpPr>
          <p:spPr>
            <a:xfrm>
              <a:off x="10010775" y="2209800"/>
              <a:ext cx="2000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社員280名</a:t>
              </a:r>
            </a:p>
          </p:txBody>
        </p:sp>
        <p:sp>
          <p:nvSpPr>
            <p:cNvPr id="43" name="説明"/>
            <p:cNvSpPr/>
            <p:nvPr/>
          </p:nvSpPr>
          <p:spPr>
            <a:xfrm>
              <a:off x="10010775" y="2438400"/>
              <a:ext cx="2000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850">
                  <a:solidFill>
                    <a:schemeClr val="accent5"/>
                  </a:solidFill>
                </a:rPr>
                <a:t>取引420社に</a:t>
              </a:r>
            </a:p>
          </p:txBody>
        </p:sp>
      </p:grpSp>
      <p:grpSp>
        <p:nvGrpSpPr>
          <p:cNvPr id="44" name="示唆"/>
          <p:cNvGrpSpPr/>
          <p:nvPr/>
        </p:nvGrpSpPr>
        <p:grpSpPr>
          <a:xfrm>
            <a:off x="609600" y="5334000"/>
            <a:ext cx="10972800" cy="323850"/>
            <a:chOff x="609600" y="5334000"/>
            <a:chExt cx="10972800" cy="323850"/>
          </a:xfrm>
        </p:grpSpPr>
        <p:sp>
          <p:nvSpPr>
            <p:cNvPr id="45" name="引用バー"/>
            <p:cNvSpPr/>
            <p:nvPr/>
          </p:nvSpPr>
          <p:spPr>
            <a:xfrm>
              <a:off x="609600" y="5334000"/>
              <a:ext cx="381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示唆"/>
            <p:cNvSpPr/>
            <p:nvPr/>
          </p:nvSpPr>
          <p:spPr>
            <a:xfrm>
              <a:off x="781050" y="5353050"/>
              <a:ext cx="108013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事業の広がりはすべて顧客起点。次の転機も、いま現場で聞いている声の中にある</a:t>
              </a:r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事業①｜ポートフォリオ2×2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2つの主力と2つの種。事業の世代交代を設計している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事業ポートフォリオ（縦＝成長性・横＝当社シェア）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出所：株式会社サンプル 会社紹介資料（数値はサンプル）　　注：本資料の数値はすべてサンプルです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08</a:t>
              </a:r>
            </a:p>
          </p:txBody>
        </p:sp>
      </p:grpSp>
      <p:grpSp>
        <p:nvGrpSpPr>
          <p:cNvPr id="11" name="地"/>
          <p:cNvGrpSpPr/>
          <p:nvPr/>
        </p:nvGrpSpPr>
        <p:grpSpPr>
          <a:xfrm>
            <a:off x="1752600" y="1714500"/>
            <a:ext cx="7239000" cy="3429000"/>
            <a:chOff x="1752600" y="1714500"/>
            <a:chExt cx="7239000" cy="3429000"/>
          </a:xfrm>
        </p:grpSpPr>
        <p:sp>
          <p:nvSpPr>
            <p:cNvPr id="12" name="マトリクス地"/>
            <p:cNvSpPr/>
            <p:nvPr/>
          </p:nvSpPr>
          <p:spPr>
            <a:xfrm>
              <a:off x="1752600" y="1714500"/>
              <a:ext cx="7239000" cy="3429000"/>
            </a:xfrm>
            <a:prstGeom prst="rect">
              <a:avLst/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縦分割"/>
            <p:cNvCxnSpPr/>
            <p:nvPr/>
          </p:nvCxnSpPr>
          <p:spPr>
            <a:xfrm>
              <a:off x="5372100" y="1714500"/>
              <a:ext cx="0" cy="34290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横分割"/>
            <p:cNvCxnSpPr/>
            <p:nvPr/>
          </p:nvCxnSpPr>
          <p:spPr>
            <a:xfrm>
              <a:off x="1752600" y="3429000"/>
              <a:ext cx="723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軸"/>
          <p:cNvGrpSpPr/>
          <p:nvPr/>
        </p:nvGrpSpPr>
        <p:grpSpPr>
          <a:xfrm>
            <a:off x="762000" y="2286000"/>
            <a:ext cx="8229600" cy="3124200"/>
            <a:chOff x="762000" y="2286000"/>
            <a:chExt cx="8229600" cy="3124200"/>
          </a:xfrm>
        </p:grpSpPr>
        <p:sp>
          <p:nvSpPr>
            <p:cNvPr id="16" name="縦高"/>
            <p:cNvSpPr/>
            <p:nvPr/>
          </p:nvSpPr>
          <p:spPr>
            <a:xfrm>
              <a:off x="762000" y="2286000"/>
              <a:ext cx="9144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成長性 高</a:t>
              </a:r>
            </a:p>
          </p:txBody>
        </p:sp>
        <p:sp>
          <p:nvSpPr>
            <p:cNvPr id="17" name="縦低"/>
            <p:cNvSpPr/>
            <p:nvPr/>
          </p:nvSpPr>
          <p:spPr>
            <a:xfrm>
              <a:off x="762000" y="4419600"/>
              <a:ext cx="9144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成長性 低</a:t>
              </a:r>
            </a:p>
          </p:txBody>
        </p:sp>
        <p:sp>
          <p:nvSpPr>
            <p:cNvPr id="18" name="横低"/>
            <p:cNvSpPr/>
            <p:nvPr/>
          </p:nvSpPr>
          <p:spPr>
            <a:xfrm>
              <a:off x="1752600" y="525780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シェア 低</a:t>
              </a:r>
            </a:p>
          </p:txBody>
        </p:sp>
        <p:sp>
          <p:nvSpPr>
            <p:cNvPr id="19" name="横高"/>
            <p:cNvSpPr/>
            <p:nvPr/>
          </p:nvSpPr>
          <p:spPr>
            <a:xfrm>
              <a:off x="7086600" y="5257800"/>
              <a:ext cx="190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シェア 高</a:t>
              </a:r>
            </a:p>
          </p:txBody>
        </p:sp>
      </p:grpSp>
      <p:grpSp>
        <p:nvGrpSpPr>
          <p:cNvPr id="20" name="事業_運用支援"/>
          <p:cNvGrpSpPr/>
          <p:nvPr/>
        </p:nvGrpSpPr>
        <p:grpSpPr>
          <a:xfrm>
            <a:off x="6324600" y="2381250"/>
            <a:ext cx="1714500" cy="723900"/>
            <a:chOff x="6324600" y="2381250"/>
            <a:chExt cx="1714500" cy="723900"/>
          </a:xfrm>
        </p:grpSpPr>
        <p:sp>
          <p:nvSpPr>
            <p:cNvPr id="21" name="運用支援"/>
            <p:cNvSpPr/>
            <p:nvPr/>
          </p:nvSpPr>
          <p:spPr>
            <a:xfrm>
              <a:off x="6324600" y="2381250"/>
              <a:ext cx="1714500" cy="723900"/>
            </a:xfrm>
            <a:prstGeom prst="roundRect">
              <a:avLst>
                <a:gd name="adj" fmla="val 13157"/>
              </a:avLst>
            </a:prstGeom>
            <a:solidFill>
              <a:schemeClr val="accent1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運用支援名"/>
            <p:cNvSpPr/>
            <p:nvPr/>
          </p:nvSpPr>
          <p:spPr>
            <a:xfrm>
              <a:off x="6324600" y="2533650"/>
              <a:ext cx="1714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運用支援</a:t>
              </a:r>
            </a:p>
          </p:txBody>
        </p:sp>
        <p:sp>
          <p:nvSpPr>
            <p:cNvPr id="23" name="運用支援役割"/>
            <p:cNvSpPr/>
            <p:nvPr/>
          </p:nvSpPr>
          <p:spPr>
            <a:xfrm>
              <a:off x="6324600" y="2762250"/>
              <a:ext cx="1714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4"/>
                  </a:solidFill>
                </a:rPr>
                <a:t>主力・成長</a:t>
              </a:r>
            </a:p>
          </p:txBody>
        </p:sp>
      </p:grpSp>
      <p:grpSp>
        <p:nvGrpSpPr>
          <p:cNvPr id="24" name="事業_受託開発"/>
          <p:cNvGrpSpPr/>
          <p:nvPr/>
        </p:nvGrpSpPr>
        <p:grpSpPr>
          <a:xfrm>
            <a:off x="6324600" y="3924300"/>
            <a:ext cx="1714500" cy="723900"/>
            <a:chOff x="6324600" y="3924300"/>
            <a:chExt cx="1714500" cy="723900"/>
          </a:xfrm>
        </p:grpSpPr>
        <p:sp>
          <p:nvSpPr>
            <p:cNvPr id="25" name="受託開発"/>
            <p:cNvSpPr/>
            <p:nvPr/>
          </p:nvSpPr>
          <p:spPr>
            <a:xfrm>
              <a:off x="6324600" y="3924300"/>
              <a:ext cx="1714500" cy="723900"/>
            </a:xfrm>
            <a:prstGeom prst="roundRect">
              <a:avLst>
                <a:gd name="adj" fmla="val 13157"/>
              </a:avLst>
            </a:prstGeom>
            <a:solidFill>
              <a:schemeClr val="accent3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受託開発名"/>
            <p:cNvSpPr/>
            <p:nvPr/>
          </p:nvSpPr>
          <p:spPr>
            <a:xfrm>
              <a:off x="6324600" y="4076700"/>
              <a:ext cx="1714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受託開発</a:t>
              </a:r>
            </a:p>
          </p:txBody>
        </p:sp>
        <p:sp>
          <p:nvSpPr>
            <p:cNvPr id="27" name="受託開発役割"/>
            <p:cNvSpPr/>
            <p:nvPr/>
          </p:nvSpPr>
          <p:spPr>
            <a:xfrm>
              <a:off x="6324600" y="4305300"/>
              <a:ext cx="1714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4"/>
                  </a:solidFill>
                </a:rPr>
                <a:t>主力・安定</a:t>
              </a:r>
            </a:p>
          </p:txBody>
        </p:sp>
      </p:grpSp>
      <p:grpSp>
        <p:nvGrpSpPr>
          <p:cNvPr id="28" name="事業_現場デー"/>
          <p:cNvGrpSpPr/>
          <p:nvPr/>
        </p:nvGrpSpPr>
        <p:grpSpPr>
          <a:xfrm>
            <a:off x="2705100" y="2247900"/>
            <a:ext cx="1714500" cy="857250"/>
            <a:chOff x="2705100" y="2247900"/>
            <a:chExt cx="1714500" cy="857250"/>
          </a:xfrm>
        </p:grpSpPr>
        <p:sp>
          <p:nvSpPr>
            <p:cNvPr id="29" name="現場データ基盤"/>
            <p:cNvSpPr/>
            <p:nvPr/>
          </p:nvSpPr>
          <p:spPr>
            <a:xfrm>
              <a:off x="2705100" y="2247900"/>
              <a:ext cx="1714500" cy="857250"/>
            </a:xfrm>
            <a:prstGeom prst="roundRect">
              <a:avLst>
                <a:gd name="adj" fmla="val 11111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現場データ基盤名"/>
            <p:cNvSpPr/>
            <p:nvPr/>
          </p:nvSpPr>
          <p:spPr>
            <a:xfrm>
              <a:off x="2705100" y="2466975"/>
              <a:ext cx="1714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lt1"/>
                  </a:solidFill>
                </a:rPr>
                <a:t>現場データ基盤</a:t>
              </a:r>
            </a:p>
          </p:txBody>
        </p:sp>
        <p:sp>
          <p:nvSpPr>
            <p:cNvPr id="31" name="現場データ基盤役割"/>
            <p:cNvSpPr/>
            <p:nvPr/>
          </p:nvSpPr>
          <p:spPr>
            <a:xfrm>
              <a:off x="2705100" y="2695575"/>
              <a:ext cx="1714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4"/>
                  </a:solidFill>
                </a:rPr>
                <a:t>次の主力候補</a:t>
              </a:r>
            </a:p>
          </p:txBody>
        </p:sp>
      </p:grpSp>
      <p:grpSp>
        <p:nvGrpSpPr>
          <p:cNvPr id="32" name="事業_教育・研"/>
          <p:cNvGrpSpPr/>
          <p:nvPr/>
        </p:nvGrpSpPr>
        <p:grpSpPr>
          <a:xfrm>
            <a:off x="2800350" y="4000500"/>
            <a:ext cx="1524000" cy="571500"/>
            <a:chOff x="2800350" y="4000500"/>
            <a:chExt cx="1524000" cy="571500"/>
          </a:xfrm>
        </p:grpSpPr>
        <p:sp>
          <p:nvSpPr>
            <p:cNvPr id="33" name="教育・研修"/>
            <p:cNvSpPr/>
            <p:nvPr/>
          </p:nvSpPr>
          <p:spPr>
            <a:xfrm>
              <a:off x="2800350" y="4000500"/>
              <a:ext cx="1524000" cy="571500"/>
            </a:xfrm>
            <a:prstGeom prst="roundRect">
              <a:avLst>
                <a:gd name="adj" fmla="val 16666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教育・研修名"/>
            <p:cNvSpPr/>
            <p:nvPr/>
          </p:nvSpPr>
          <p:spPr>
            <a:xfrm>
              <a:off x="2800350" y="4076700"/>
              <a:ext cx="1524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教育・研修</a:t>
              </a:r>
            </a:p>
          </p:txBody>
        </p:sp>
        <p:sp>
          <p:nvSpPr>
            <p:cNvPr id="35" name="教育・研修役割"/>
            <p:cNvSpPr/>
            <p:nvPr/>
          </p:nvSpPr>
          <p:spPr>
            <a:xfrm>
              <a:off x="2800350" y="430530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実験中</a:t>
              </a:r>
            </a:p>
          </p:txBody>
        </p:sp>
      </p:grpSp>
      <p:grpSp>
        <p:nvGrpSpPr>
          <p:cNvPr id="36" name="移動"/>
          <p:cNvGrpSpPr/>
          <p:nvPr/>
        </p:nvGrpSpPr>
        <p:grpSpPr>
          <a:xfrm>
            <a:off x="3943350" y="2743200"/>
            <a:ext cx="2095500" cy="552450"/>
            <a:chOff x="3943350" y="2743200"/>
            <a:chExt cx="2095500" cy="552450"/>
          </a:xfrm>
        </p:grpSpPr>
        <p:cxnSp>
          <p:nvCxnSpPr>
            <p:cNvPr id="37" name="育成方向"/>
            <p:cNvCxnSpPr/>
            <p:nvPr/>
          </p:nvCxnSpPr>
          <p:spPr>
            <a:xfrm flipV="1">
              <a:off x="4171950" y="2743200"/>
              <a:ext cx="1771650" cy="190500"/>
            </a:xfrm>
            <a:prstGeom prst="bentConnector3">
              <a:avLst/>
            </a:prstGeom>
            <a:ln w="14287">
              <a:solidFill>
                <a:schemeClr val="accent5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育成注記"/>
            <p:cNvSpPr/>
            <p:nvPr/>
          </p:nvSpPr>
          <p:spPr>
            <a:xfrm>
              <a:off x="3943350" y="3143250"/>
              <a:ext cx="209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3年で主力へ育成</a:t>
              </a:r>
            </a:p>
          </p:txBody>
        </p:sp>
      </p:grp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組織①｜組織図標準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3事業部を2つの横断機能が支える。小さな本社で現場を大きく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組織体制（2026年6月）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出所：株式会社サンプル 会社紹介資料（数値はサンプル）　　注：本資料の数値はすべてサンプルです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12</a:t>
              </a:r>
            </a:p>
          </p:txBody>
        </p:sp>
      </p:grpSp>
      <p:grpSp>
        <p:nvGrpSpPr>
          <p:cNvPr id="11" name="トップ"/>
          <p:cNvGrpSpPr/>
          <p:nvPr/>
        </p:nvGrpSpPr>
        <p:grpSpPr>
          <a:xfrm>
            <a:off x="4762500" y="1638300"/>
            <a:ext cx="2667000" cy="495300"/>
            <a:chOff x="4762500" y="1638300"/>
            <a:chExt cx="2667000" cy="495300"/>
          </a:xfrm>
        </p:grpSpPr>
        <p:sp>
          <p:nvSpPr>
            <p:cNvPr id="12" name="代表"/>
            <p:cNvSpPr/>
            <p:nvPr/>
          </p:nvSpPr>
          <p:spPr>
            <a:xfrm>
              <a:off x="4762500" y="1638300"/>
              <a:ext cx="2667000" cy="495300"/>
            </a:xfrm>
            <a:prstGeom prst="roundRect">
              <a:avLst>
                <a:gd name="adj" fmla="val 15384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代表名"/>
            <p:cNvSpPr/>
            <p:nvPr/>
          </p:nvSpPr>
          <p:spPr>
            <a:xfrm>
              <a:off x="4762500" y="1771650"/>
              <a:ext cx="2667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代表取締役</a:t>
              </a:r>
            </a:p>
          </p:txBody>
        </p:sp>
      </p:grpSp>
      <p:grpSp>
        <p:nvGrpSpPr>
          <p:cNvPr id="14" name="事業部_受託開発"/>
          <p:cNvGrpSpPr/>
          <p:nvPr/>
        </p:nvGrpSpPr>
        <p:grpSpPr>
          <a:xfrm>
            <a:off x="990600" y="2476500"/>
            <a:ext cx="2857500" cy="876300"/>
            <a:chOff x="990600" y="2476500"/>
            <a:chExt cx="2857500" cy="876300"/>
          </a:xfrm>
        </p:grpSpPr>
        <p:cxnSp>
          <p:nvCxnSpPr>
            <p:cNvPr id="15" name="接続縦"/>
            <p:cNvCxnSpPr/>
            <p:nvPr/>
          </p:nvCxnSpPr>
          <p:spPr>
            <a:xfrm>
              <a:off x="2419350" y="2476500"/>
              <a:ext cx="0" cy="266700"/>
            </a:xfrm>
            <a:prstGeom prst="bentConnector3">
              <a:avLst/>
            </a:prstGeom>
            <a:ln w="11906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受託開発事業部"/>
            <p:cNvSpPr/>
            <p:nvPr/>
          </p:nvSpPr>
          <p:spPr>
            <a:xfrm>
              <a:off x="990600" y="2743200"/>
              <a:ext cx="2857500" cy="609600"/>
            </a:xfrm>
            <a:prstGeom prst="roundRect">
              <a:avLst>
                <a:gd name="adj" fmla="val 1250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受託開発事業部名"/>
            <p:cNvSpPr/>
            <p:nvPr/>
          </p:nvSpPr>
          <p:spPr>
            <a:xfrm>
              <a:off x="990600" y="28575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受託開発事業部</a:t>
              </a:r>
            </a:p>
          </p:txBody>
        </p:sp>
        <p:sp>
          <p:nvSpPr>
            <p:cNvPr id="18" name="受託開発事業部人数"/>
            <p:cNvSpPr/>
            <p:nvPr/>
          </p:nvSpPr>
          <p:spPr>
            <a:xfrm>
              <a:off x="990600" y="308610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120名</a:t>
              </a:r>
            </a:p>
          </p:txBody>
        </p:sp>
      </p:grpSp>
      <p:grpSp>
        <p:nvGrpSpPr>
          <p:cNvPr id="19" name="事業部_運用支援"/>
          <p:cNvGrpSpPr/>
          <p:nvPr/>
        </p:nvGrpSpPr>
        <p:grpSpPr>
          <a:xfrm>
            <a:off x="4667250" y="2476500"/>
            <a:ext cx="2857500" cy="876300"/>
            <a:chOff x="4667250" y="2476500"/>
            <a:chExt cx="2857500" cy="876300"/>
          </a:xfrm>
        </p:grpSpPr>
        <p:cxnSp>
          <p:nvCxnSpPr>
            <p:cNvPr id="20" name="接続縦"/>
            <p:cNvCxnSpPr/>
            <p:nvPr/>
          </p:nvCxnSpPr>
          <p:spPr>
            <a:xfrm>
              <a:off x="6096000" y="2476500"/>
              <a:ext cx="0" cy="266700"/>
            </a:xfrm>
            <a:prstGeom prst="bentConnector3">
              <a:avLst/>
            </a:prstGeom>
            <a:ln w="11906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運用支援事業部"/>
            <p:cNvSpPr/>
            <p:nvPr/>
          </p:nvSpPr>
          <p:spPr>
            <a:xfrm>
              <a:off x="4667250" y="2743200"/>
              <a:ext cx="2857500" cy="609600"/>
            </a:xfrm>
            <a:prstGeom prst="roundRect">
              <a:avLst>
                <a:gd name="adj" fmla="val 1250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運用支援事業部名"/>
            <p:cNvSpPr/>
            <p:nvPr/>
          </p:nvSpPr>
          <p:spPr>
            <a:xfrm>
              <a:off x="4667250" y="28575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運用支援事業部</a:t>
              </a:r>
            </a:p>
          </p:txBody>
        </p:sp>
        <p:sp>
          <p:nvSpPr>
            <p:cNvPr id="23" name="運用支援事業部人数"/>
            <p:cNvSpPr/>
            <p:nvPr/>
          </p:nvSpPr>
          <p:spPr>
            <a:xfrm>
              <a:off x="4667250" y="308610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90名</a:t>
              </a:r>
            </a:p>
          </p:txBody>
        </p:sp>
      </p:grpSp>
      <p:grpSp>
        <p:nvGrpSpPr>
          <p:cNvPr id="24" name="事業部_データ基"/>
          <p:cNvGrpSpPr/>
          <p:nvPr/>
        </p:nvGrpSpPr>
        <p:grpSpPr>
          <a:xfrm>
            <a:off x="8343900" y="2476500"/>
            <a:ext cx="2857500" cy="876300"/>
            <a:chOff x="8343900" y="2476500"/>
            <a:chExt cx="2857500" cy="876300"/>
          </a:xfrm>
        </p:grpSpPr>
        <p:cxnSp>
          <p:nvCxnSpPr>
            <p:cNvPr id="25" name="接続縦"/>
            <p:cNvCxnSpPr/>
            <p:nvPr/>
          </p:nvCxnSpPr>
          <p:spPr>
            <a:xfrm>
              <a:off x="9772650" y="2476500"/>
              <a:ext cx="0" cy="266700"/>
            </a:xfrm>
            <a:prstGeom prst="bentConnector3">
              <a:avLst/>
            </a:prstGeom>
            <a:ln w="11906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データ基盤事業部"/>
            <p:cNvSpPr/>
            <p:nvPr/>
          </p:nvSpPr>
          <p:spPr>
            <a:xfrm>
              <a:off x="8343900" y="2743200"/>
              <a:ext cx="2857500" cy="609600"/>
            </a:xfrm>
            <a:prstGeom prst="roundRect">
              <a:avLst>
                <a:gd name="adj" fmla="val 1250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データ基盤事業部名"/>
            <p:cNvSpPr/>
            <p:nvPr/>
          </p:nvSpPr>
          <p:spPr>
            <a:xfrm>
              <a:off x="8343900" y="2857500"/>
              <a:ext cx="2857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データ基盤事業部</a:t>
              </a:r>
            </a:p>
          </p:txBody>
        </p:sp>
        <p:sp>
          <p:nvSpPr>
            <p:cNvPr id="28" name="データ基盤事業部人数"/>
            <p:cNvSpPr/>
            <p:nvPr/>
          </p:nvSpPr>
          <p:spPr>
            <a:xfrm>
              <a:off x="8343900" y="3086100"/>
              <a:ext cx="2857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40名</a:t>
              </a:r>
            </a:p>
          </p:txBody>
        </p:sp>
      </p:grpSp>
      <p:grpSp>
        <p:nvGrpSpPr>
          <p:cNvPr id="29" name="幹線"/>
          <p:cNvGrpSpPr/>
          <p:nvPr/>
        </p:nvGrpSpPr>
        <p:grpSpPr>
          <a:xfrm>
            <a:off x="2419350" y="2133600"/>
            <a:ext cx="7353300" cy="200025"/>
            <a:chOff x="2419350" y="2133600"/>
            <a:chExt cx="7353300" cy="200025"/>
          </a:xfrm>
        </p:grpSpPr>
        <p:cxnSp>
          <p:nvCxnSpPr>
            <p:cNvPr id="30" name="幹"/>
            <p:cNvCxnSpPr/>
            <p:nvPr/>
          </p:nvCxnSpPr>
          <p:spPr>
            <a:xfrm>
              <a:off x="6096000" y="2133600"/>
              <a:ext cx="0" cy="190500"/>
            </a:xfrm>
            <a:prstGeom prst="bentConnector3">
              <a:avLst/>
            </a:prstGeom>
            <a:ln w="11906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横幹"/>
            <p:cNvCxnSpPr/>
            <p:nvPr/>
          </p:nvCxnSpPr>
          <p:spPr>
            <a:xfrm>
              <a:off x="2419350" y="2324100"/>
              <a:ext cx="7353300" cy="0"/>
            </a:xfrm>
            <a:prstGeom prst="bentConnector3">
              <a:avLst/>
            </a:prstGeom>
            <a:ln w="11906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伸長ダミー"/>
            <p:cNvSpPr/>
            <p:nvPr/>
          </p:nvSpPr>
          <p:spPr>
            <a:xfrm>
              <a:off x="2419350" y="2314575"/>
              <a:ext cx="7353300" cy="19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" name="横断_品質管理"/>
          <p:cNvGrpSpPr/>
          <p:nvPr/>
        </p:nvGrpSpPr>
        <p:grpSpPr>
          <a:xfrm>
            <a:off x="1943100" y="3771900"/>
            <a:ext cx="8305800" cy="533400"/>
            <a:chOff x="1943100" y="3771900"/>
            <a:chExt cx="8305800" cy="533400"/>
          </a:xfrm>
        </p:grpSpPr>
        <p:sp>
          <p:nvSpPr>
            <p:cNvPr id="34" name="品質管理室"/>
            <p:cNvSpPr/>
            <p:nvPr/>
          </p:nvSpPr>
          <p:spPr>
            <a:xfrm>
              <a:off x="1943100" y="3771900"/>
              <a:ext cx="8305800" cy="533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品質管理室名"/>
            <p:cNvSpPr/>
            <p:nvPr/>
          </p:nvSpPr>
          <p:spPr>
            <a:xfrm>
              <a:off x="2324100" y="3857625"/>
              <a:ext cx="2286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品質管理室</a:t>
              </a:r>
            </a:p>
          </p:txBody>
        </p:sp>
        <p:sp>
          <p:nvSpPr>
            <p:cNvPr id="36" name="品質管理室説明"/>
            <p:cNvSpPr/>
            <p:nvPr/>
          </p:nvSpPr>
          <p:spPr>
            <a:xfrm>
              <a:off x="4705350" y="3876675"/>
              <a:ext cx="5257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全案件のレビューを横断で</a:t>
              </a:r>
            </a:p>
          </p:txBody>
        </p:sp>
      </p:grpSp>
      <p:grpSp>
        <p:nvGrpSpPr>
          <p:cNvPr id="37" name="横断_技術研究"/>
          <p:cNvGrpSpPr/>
          <p:nvPr/>
        </p:nvGrpSpPr>
        <p:grpSpPr>
          <a:xfrm>
            <a:off x="1943100" y="4476750"/>
            <a:ext cx="8305800" cy="533400"/>
            <a:chOff x="1943100" y="4476750"/>
            <a:chExt cx="8305800" cy="533400"/>
          </a:xfrm>
        </p:grpSpPr>
        <p:sp>
          <p:nvSpPr>
            <p:cNvPr id="38" name="技術研究室"/>
            <p:cNvSpPr/>
            <p:nvPr/>
          </p:nvSpPr>
          <p:spPr>
            <a:xfrm>
              <a:off x="1943100" y="4476750"/>
              <a:ext cx="8305800" cy="533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技術研究室名"/>
            <p:cNvSpPr/>
            <p:nvPr/>
          </p:nvSpPr>
          <p:spPr>
            <a:xfrm>
              <a:off x="2324100" y="4562475"/>
              <a:ext cx="2286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技術研究室</a:t>
              </a:r>
            </a:p>
          </p:txBody>
        </p:sp>
        <p:sp>
          <p:nvSpPr>
            <p:cNvPr id="40" name="技術研究室説明"/>
            <p:cNvSpPr/>
            <p:nvPr/>
          </p:nvSpPr>
          <p:spPr>
            <a:xfrm>
              <a:off x="4705350" y="4581525"/>
              <a:ext cx="52578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新技術の検証と社内展開</a:t>
              </a:r>
            </a:p>
          </p:txBody>
        </p:sp>
      </p:grpSp>
      <p:grpSp>
        <p:nvGrpSpPr>
          <p:cNvPr id="41" name="注記"/>
          <p:cNvGrpSpPr/>
          <p:nvPr/>
        </p:nvGrpSpPr>
        <p:grpSpPr>
          <a:xfrm>
            <a:off x="609600" y="5295900"/>
            <a:ext cx="10972800" cy="152400"/>
            <a:chOff x="609600" y="5295900"/>
            <a:chExt cx="10972800" cy="152400"/>
          </a:xfrm>
        </p:grpSpPr>
        <p:sp>
          <p:nvSpPr>
            <p:cNvPr id="42" name="本社注記"/>
            <p:cNvSpPr/>
            <p:nvPr/>
          </p:nvSpPr>
          <p:spPr>
            <a:xfrm>
              <a:off x="609600" y="5295900"/>
              <a:ext cx="109728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本社機能（経営企画・人事・経理）は28名＝全社の10%。管理でなく現場に人を置く</a:t>
              </a:r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人①｜経営陣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経営陣は全員実務出身。現場の言葉で経営する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経営チーム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出所：株式会社サンプル 会社紹介資料（数値はサンプル）　　注：本資料の数値はすべてサンプルです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14</a:t>
              </a:r>
            </a:p>
          </p:txBody>
        </p:sp>
      </p:grpSp>
      <p:grpSp>
        <p:nvGrpSpPr>
          <p:cNvPr id="11" name="役員_山田"/>
          <p:cNvGrpSpPr/>
          <p:nvPr/>
        </p:nvGrpSpPr>
        <p:grpSpPr>
          <a:xfrm>
            <a:off x="609600" y="1676400"/>
            <a:ext cx="3476625" cy="2914650"/>
            <a:chOff x="609600" y="1676400"/>
            <a:chExt cx="3476625" cy="2914650"/>
          </a:xfrm>
        </p:grpSpPr>
        <p:sp>
          <p:nvSpPr>
            <p:cNvPr id="12" name="山田 太郎写真"/>
            <p:cNvSpPr/>
            <p:nvPr/>
          </p:nvSpPr>
          <p:spPr>
            <a:xfrm>
              <a:off x="1676400" y="1676400"/>
              <a:ext cx="1333500" cy="1333500"/>
            </a:xfrm>
            <a:prstGeom prst="roundRect">
              <a:avLst>
                <a:gd name="adj" fmla="val 5714"/>
              </a:avLst>
            </a:prstGeom>
            <a:noFill/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山田 太郎写真ラベル"/>
            <p:cNvSpPr/>
            <p:nvPr/>
          </p:nvSpPr>
          <p:spPr>
            <a:xfrm>
              <a:off x="1676400" y="2247900"/>
              <a:ext cx="1333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写真をここに</a:t>
              </a:r>
            </a:p>
          </p:txBody>
        </p:sp>
        <p:sp>
          <p:nvSpPr>
            <p:cNvPr id="14" name="役職"/>
            <p:cNvSpPr/>
            <p:nvPr/>
          </p:nvSpPr>
          <p:spPr>
            <a:xfrm>
              <a:off x="609600" y="3143250"/>
              <a:ext cx="34766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代表取締役</a:t>
              </a:r>
            </a:p>
          </p:txBody>
        </p:sp>
        <p:sp>
          <p:nvSpPr>
            <p:cNvPr id="15" name="氏名"/>
            <p:cNvSpPr/>
            <p:nvPr/>
          </p:nvSpPr>
          <p:spPr>
            <a:xfrm>
              <a:off x="609600" y="3352800"/>
              <a:ext cx="3476625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山田 太郎</a:t>
              </a:r>
            </a:p>
          </p:txBody>
        </p:sp>
        <p:cxnSp>
          <p:nvCxnSpPr>
            <p:cNvPr id="16" name="罫"/>
            <p:cNvCxnSpPr/>
            <p:nvPr/>
          </p:nvCxnSpPr>
          <p:spPr>
            <a:xfrm>
              <a:off x="990600" y="3695700"/>
              <a:ext cx="2714625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略歴"/>
            <p:cNvSpPr/>
            <p:nvPr/>
          </p:nvSpPr>
          <p:spPr>
            <a:xfrm>
              <a:off x="800100" y="3829050"/>
              <a:ext cx="3095625" cy="762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dk1"/>
                  </a:solidFill>
                </a:rPr>
                <a:t>SIer出身。現場PM歴12年。「動かないシステム」への怒りが創業の原点</a:t>
              </a:r>
            </a:p>
          </p:txBody>
        </p:sp>
      </p:grpSp>
      <p:grpSp>
        <p:nvGrpSpPr>
          <p:cNvPr id="18" name="役員_佐藤"/>
          <p:cNvGrpSpPr/>
          <p:nvPr/>
        </p:nvGrpSpPr>
        <p:grpSpPr>
          <a:xfrm>
            <a:off x="4352925" y="1676400"/>
            <a:ext cx="3476625" cy="2914650"/>
            <a:chOff x="4352925" y="1676400"/>
            <a:chExt cx="3476625" cy="2914650"/>
          </a:xfrm>
        </p:grpSpPr>
        <p:sp>
          <p:nvSpPr>
            <p:cNvPr id="19" name="佐藤 花子写真"/>
            <p:cNvSpPr/>
            <p:nvPr/>
          </p:nvSpPr>
          <p:spPr>
            <a:xfrm>
              <a:off x="5419725" y="1676400"/>
              <a:ext cx="1333500" cy="1333500"/>
            </a:xfrm>
            <a:prstGeom prst="roundRect">
              <a:avLst>
                <a:gd name="adj" fmla="val 5714"/>
              </a:avLst>
            </a:prstGeom>
            <a:noFill/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佐藤 花子写真ラベル"/>
            <p:cNvSpPr/>
            <p:nvPr/>
          </p:nvSpPr>
          <p:spPr>
            <a:xfrm>
              <a:off x="5419725" y="2247900"/>
              <a:ext cx="1333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写真をここに</a:t>
              </a:r>
            </a:p>
          </p:txBody>
        </p:sp>
        <p:sp>
          <p:nvSpPr>
            <p:cNvPr id="21" name="役職"/>
            <p:cNvSpPr/>
            <p:nvPr/>
          </p:nvSpPr>
          <p:spPr>
            <a:xfrm>
              <a:off x="4352925" y="3143250"/>
              <a:ext cx="34766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取締役CTO</a:t>
              </a:r>
            </a:p>
          </p:txBody>
        </p:sp>
        <p:sp>
          <p:nvSpPr>
            <p:cNvPr id="22" name="氏名"/>
            <p:cNvSpPr/>
            <p:nvPr/>
          </p:nvSpPr>
          <p:spPr>
            <a:xfrm>
              <a:off x="4352925" y="3352800"/>
              <a:ext cx="3476625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佐藤 花子</a:t>
              </a:r>
            </a:p>
          </p:txBody>
        </p:sp>
        <p:cxnSp>
          <p:nvCxnSpPr>
            <p:cNvPr id="23" name="罫"/>
            <p:cNvCxnSpPr/>
            <p:nvPr/>
          </p:nvCxnSpPr>
          <p:spPr>
            <a:xfrm>
              <a:off x="4733925" y="3695700"/>
              <a:ext cx="2714625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略歴"/>
            <p:cNvSpPr/>
            <p:nvPr/>
          </p:nvSpPr>
          <p:spPr>
            <a:xfrm>
              <a:off x="4543425" y="3829050"/>
              <a:ext cx="3095625" cy="762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dk1"/>
                  </a:solidFill>
                </a:rPr>
                <a:t>メーカー研究職出身。技術選定の軸は「現場が保守できるか」</a:t>
              </a:r>
            </a:p>
          </p:txBody>
        </p:sp>
      </p:grpSp>
      <p:grpSp>
        <p:nvGrpSpPr>
          <p:cNvPr id="25" name="役員_鈴木"/>
          <p:cNvGrpSpPr/>
          <p:nvPr/>
        </p:nvGrpSpPr>
        <p:grpSpPr>
          <a:xfrm>
            <a:off x="8096250" y="1676400"/>
            <a:ext cx="3476625" cy="2914650"/>
            <a:chOff x="8096250" y="1676400"/>
            <a:chExt cx="3476625" cy="2914650"/>
          </a:xfrm>
        </p:grpSpPr>
        <p:sp>
          <p:nvSpPr>
            <p:cNvPr id="26" name="鈴木 一郎写真"/>
            <p:cNvSpPr/>
            <p:nvPr/>
          </p:nvSpPr>
          <p:spPr>
            <a:xfrm>
              <a:off x="9163050" y="1676400"/>
              <a:ext cx="1333500" cy="1333500"/>
            </a:xfrm>
            <a:prstGeom prst="roundRect">
              <a:avLst>
                <a:gd name="adj" fmla="val 5714"/>
              </a:avLst>
            </a:prstGeom>
            <a:noFill/>
            <a:ln w="11906">
              <a:solidFill>
                <a:schemeClr val="accent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鈴木 一郎写真ラベル"/>
            <p:cNvSpPr/>
            <p:nvPr/>
          </p:nvSpPr>
          <p:spPr>
            <a:xfrm>
              <a:off x="9163050" y="2247900"/>
              <a:ext cx="1333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写真をここに</a:t>
              </a:r>
            </a:p>
          </p:txBody>
        </p:sp>
        <p:sp>
          <p:nvSpPr>
            <p:cNvPr id="28" name="役職"/>
            <p:cNvSpPr/>
            <p:nvPr/>
          </p:nvSpPr>
          <p:spPr>
            <a:xfrm>
              <a:off x="8096250" y="3143250"/>
              <a:ext cx="34766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取締役COO</a:t>
              </a:r>
            </a:p>
          </p:txBody>
        </p:sp>
        <p:sp>
          <p:nvSpPr>
            <p:cNvPr id="29" name="氏名"/>
            <p:cNvSpPr/>
            <p:nvPr/>
          </p:nvSpPr>
          <p:spPr>
            <a:xfrm>
              <a:off x="8096250" y="3352800"/>
              <a:ext cx="3476625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鈴木 一郎</a:t>
              </a:r>
            </a:p>
          </p:txBody>
        </p:sp>
        <p:cxnSp>
          <p:nvCxnSpPr>
            <p:cNvPr id="30" name="罫"/>
            <p:cNvCxnSpPr/>
            <p:nvPr/>
          </p:nvCxnSpPr>
          <p:spPr>
            <a:xfrm>
              <a:off x="8477250" y="3695700"/>
              <a:ext cx="2714625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略歴"/>
            <p:cNvSpPr/>
            <p:nvPr/>
          </p:nvSpPr>
          <p:spPr>
            <a:xfrm>
              <a:off x="8286750" y="3829050"/>
              <a:ext cx="3095625" cy="762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dk1"/>
                  </a:solidFill>
                </a:rPr>
                <a:t>物流現場の管理職出身。「使う側」の視点で全サービスを監修</a:t>
              </a:r>
            </a:p>
          </p:txBody>
        </p:sp>
      </p:grpSp>
      <p:grpSp>
        <p:nvGrpSpPr>
          <p:cNvPr id="32" name="示唆"/>
          <p:cNvGrpSpPr/>
          <p:nvPr/>
        </p:nvGrpSpPr>
        <p:grpSpPr>
          <a:xfrm>
            <a:off x="609600" y="5334000"/>
            <a:ext cx="10972800" cy="323850"/>
            <a:chOff x="609600" y="5334000"/>
            <a:chExt cx="10972800" cy="323850"/>
          </a:xfrm>
        </p:grpSpPr>
        <p:sp>
          <p:nvSpPr>
            <p:cNvPr id="33" name="引用バー"/>
            <p:cNvSpPr/>
            <p:nvPr/>
          </p:nvSpPr>
          <p:spPr>
            <a:xfrm>
              <a:off x="609600" y="5334000"/>
              <a:ext cx="381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示唆"/>
            <p:cNvSpPr/>
            <p:nvPr/>
          </p:nvSpPr>
          <p:spPr>
            <a:xfrm>
              <a:off x="781050" y="5353050"/>
              <a:ext cx="108013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3人とも「発注する側・使う側」を経験している。だから顧客の稟議の通し方まで想像できる</a:t>
              </a:r>
            </a:p>
          </p:txBody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"/>
          <p:cNvGrpSpPr/>
          <p:nvPr/>
        </p:nvGrpSpPr>
        <p:grpSpPr>
          <a:xfrm>
            <a:off x="609600" y="285750"/>
            <a:ext cx="10972800" cy="1181100"/>
            <a:chOff x="609600" y="285750"/>
            <a:chExt cx="10972800" cy="1181100"/>
          </a:xfrm>
        </p:grpSpPr>
        <p:sp>
          <p:nvSpPr>
            <p:cNvPr id="4" name="スライドタイトル"/>
            <p:cNvSpPr/>
            <p:nvPr/>
          </p:nvSpPr>
          <p:spPr>
            <a:xfrm>
              <a:off x="609600" y="28575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文化①｜行動指針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09600" y="495300"/>
              <a:ext cx="10972800" cy="552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900" b="1">
                  <a:solidFill>
                    <a:schemeClr val="dk2"/>
                  </a:solidFill>
                </a:rPr>
                <a:t>行動指針は3つだけ。迷ったら「顧客の現場」に戻る</a:t>
              </a:r>
            </a:p>
          </p:txBody>
        </p:sp>
        <p:cxnSp>
          <p:nvCxnSpPr>
            <p:cNvPr id="6" name="罫線"/>
            <p:cNvCxnSpPr/>
            <p:nvPr/>
          </p:nvCxnSpPr>
          <p:spPr>
            <a:xfrm>
              <a:off x="609600" y="1123950"/>
              <a:ext cx="109728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図タイトル"/>
            <p:cNvSpPr/>
            <p:nvPr/>
          </p:nvSpPr>
          <p:spPr>
            <a:xfrm>
              <a:off x="609600" y="1295400"/>
              <a:ext cx="9334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5"/>
                  </a:solidFill>
                </a:rPr>
                <a:t>バリューと行動例</a:t>
              </a:r>
            </a:p>
          </p:txBody>
        </p:sp>
      </p:grpSp>
      <p:grpSp>
        <p:nvGrpSpPr>
          <p:cNvPr id="8" name="フッタ"/>
          <p:cNvGrpSpPr/>
          <p:nvPr/>
        </p:nvGrpSpPr>
        <p:grpSpPr>
          <a:xfrm>
            <a:off x="609600" y="6534150"/>
            <a:ext cx="10972800" cy="171450"/>
            <a:chOff x="609600" y="6534150"/>
            <a:chExt cx="10972800" cy="171450"/>
          </a:xfrm>
        </p:grpSpPr>
        <p:sp>
          <p:nvSpPr>
            <p:cNvPr id="9" name="出典・脚注"/>
            <p:cNvSpPr/>
            <p:nvPr/>
          </p:nvSpPr>
          <p:spPr>
            <a:xfrm>
              <a:off x="609600" y="6553200"/>
              <a:ext cx="971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出所：株式会社サンプル 会社紹介資料（数値はサンプル）　　注：本資料の数値はすべてサンプルです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0820400" y="65341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18</a:t>
              </a:r>
            </a:p>
          </p:txBody>
        </p:sp>
      </p:grpSp>
      <p:grpSp>
        <p:nvGrpSpPr>
          <p:cNvPr id="11" name="バリュー1"/>
          <p:cNvGrpSpPr/>
          <p:nvPr/>
        </p:nvGrpSpPr>
        <p:grpSpPr>
          <a:xfrm>
            <a:off x="609600" y="1714500"/>
            <a:ext cx="3476625" cy="2324100"/>
            <a:chOff x="609600" y="1714500"/>
            <a:chExt cx="3476625" cy="2324100"/>
          </a:xfrm>
        </p:grpSpPr>
        <p:sp>
          <p:nvSpPr>
            <p:cNvPr id="12" name="現場に立つ"/>
            <p:cNvSpPr/>
            <p:nvPr/>
          </p:nvSpPr>
          <p:spPr>
            <a:xfrm>
              <a:off x="609600" y="1714500"/>
              <a:ext cx="3476625" cy="952500"/>
            </a:xfrm>
            <a:prstGeom prst="roundRect">
              <a:avLst>
                <a:gd name="adj" fmla="val 8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現場に立つ"/>
            <p:cNvSpPr/>
            <p:nvPr/>
          </p:nvSpPr>
          <p:spPr>
            <a:xfrm>
              <a:off x="800100" y="1885950"/>
              <a:ext cx="3095625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現場に立つ</a:t>
              </a:r>
            </a:p>
          </p:txBody>
        </p:sp>
        <p:sp>
          <p:nvSpPr>
            <p:cNvPr id="14" name="含意"/>
            <p:cNvSpPr/>
            <p:nvPr/>
          </p:nvSpPr>
          <p:spPr>
            <a:xfrm>
              <a:off x="800100" y="2209800"/>
              <a:ext cx="3095625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4"/>
                  </a:solidFill>
                </a:rPr>
                <a:t>答えは会議室にない</a:t>
              </a:r>
            </a:p>
          </p:txBody>
        </p:sp>
        <p:sp>
          <p:nvSpPr>
            <p:cNvPr id="15" name="現場に立つ行動"/>
            <p:cNvSpPr/>
            <p:nvPr/>
          </p:nvSpPr>
          <p:spPr>
            <a:xfrm>
              <a:off x="609600" y="2819400"/>
              <a:ext cx="3476625" cy="1219200"/>
            </a:xfrm>
            <a:prstGeom prst="roundRect">
              <a:avLst>
                <a:gd name="adj" fmla="val 625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行動見出し"/>
            <p:cNvSpPr/>
            <p:nvPr/>
          </p:nvSpPr>
          <p:spPr>
            <a:xfrm>
              <a:off x="800100" y="2952750"/>
              <a:ext cx="30956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accent1"/>
                  </a:solidFill>
                </a:rPr>
                <a:t>行動例</a:t>
              </a:r>
            </a:p>
          </p:txBody>
        </p:sp>
        <p:sp>
          <p:nvSpPr>
            <p:cNvPr id="17" name="行動例文"/>
            <p:cNvSpPr/>
            <p:nvPr/>
          </p:nvSpPr>
          <p:spPr>
            <a:xfrm>
              <a:off x="800100" y="3181350"/>
              <a:ext cx="3095625" cy="762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提案前に必ず現場見学。移動費は会社が無条件で持つ</a:t>
              </a:r>
            </a:p>
          </p:txBody>
        </p:sp>
      </p:grpSp>
      <p:grpSp>
        <p:nvGrpSpPr>
          <p:cNvPr id="18" name="バリュー2"/>
          <p:cNvGrpSpPr/>
          <p:nvPr/>
        </p:nvGrpSpPr>
        <p:grpSpPr>
          <a:xfrm>
            <a:off x="4352925" y="1714500"/>
            <a:ext cx="3476625" cy="2324100"/>
            <a:chOff x="4352925" y="1714500"/>
            <a:chExt cx="3476625" cy="2324100"/>
          </a:xfrm>
        </p:grpSpPr>
        <p:sp>
          <p:nvSpPr>
            <p:cNvPr id="19" name="小さく速く"/>
            <p:cNvSpPr/>
            <p:nvPr/>
          </p:nvSpPr>
          <p:spPr>
            <a:xfrm>
              <a:off x="4352925" y="1714500"/>
              <a:ext cx="3476625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小さく速く"/>
            <p:cNvSpPr/>
            <p:nvPr/>
          </p:nvSpPr>
          <p:spPr>
            <a:xfrm>
              <a:off x="4543425" y="1885950"/>
              <a:ext cx="3095625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小さく速く</a:t>
              </a:r>
            </a:p>
          </p:txBody>
        </p:sp>
        <p:sp>
          <p:nvSpPr>
            <p:cNvPr id="21" name="含意"/>
            <p:cNvSpPr/>
            <p:nvPr/>
          </p:nvSpPr>
          <p:spPr>
            <a:xfrm>
              <a:off x="4543425" y="2209800"/>
              <a:ext cx="3095625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完璧な計画より今週の一歩</a:t>
              </a:r>
            </a:p>
          </p:txBody>
        </p:sp>
        <p:sp>
          <p:nvSpPr>
            <p:cNvPr id="22" name="小さく速く行動"/>
            <p:cNvSpPr/>
            <p:nvPr/>
          </p:nvSpPr>
          <p:spPr>
            <a:xfrm>
              <a:off x="4352925" y="2819400"/>
              <a:ext cx="3476625" cy="1219200"/>
            </a:xfrm>
            <a:prstGeom prst="roundRect">
              <a:avLst>
                <a:gd name="adj" fmla="val 625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行動見出し"/>
            <p:cNvSpPr/>
            <p:nvPr/>
          </p:nvSpPr>
          <p:spPr>
            <a:xfrm>
              <a:off x="4543425" y="2952750"/>
              <a:ext cx="30956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accent1"/>
                  </a:solidFill>
                </a:rPr>
                <a:t>行動例</a:t>
              </a:r>
            </a:p>
          </p:txBody>
        </p:sp>
        <p:sp>
          <p:nvSpPr>
            <p:cNvPr id="24" name="行動例文"/>
            <p:cNvSpPr/>
            <p:nvPr/>
          </p:nvSpPr>
          <p:spPr>
            <a:xfrm>
              <a:off x="4543425" y="3181350"/>
              <a:ext cx="3095625" cy="762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改善は週次リリース。「大きな一発」を狙わない</a:t>
              </a:r>
            </a:p>
          </p:txBody>
        </p:sp>
      </p:grpSp>
      <p:grpSp>
        <p:nvGrpSpPr>
          <p:cNvPr id="25" name="バリュー3"/>
          <p:cNvGrpSpPr/>
          <p:nvPr/>
        </p:nvGrpSpPr>
        <p:grpSpPr>
          <a:xfrm>
            <a:off x="8096250" y="1714500"/>
            <a:ext cx="3476625" cy="2324100"/>
            <a:chOff x="8096250" y="1714500"/>
            <a:chExt cx="3476625" cy="2324100"/>
          </a:xfrm>
        </p:grpSpPr>
        <p:sp>
          <p:nvSpPr>
            <p:cNvPr id="26" name="正直に売る"/>
            <p:cNvSpPr/>
            <p:nvPr/>
          </p:nvSpPr>
          <p:spPr>
            <a:xfrm>
              <a:off x="8096250" y="1714500"/>
              <a:ext cx="3476625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正直に売る"/>
            <p:cNvSpPr/>
            <p:nvPr/>
          </p:nvSpPr>
          <p:spPr>
            <a:xfrm>
              <a:off x="8286750" y="1885950"/>
              <a:ext cx="3095625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 b="1">
                  <a:solidFill>
                    <a:schemeClr val="dk2"/>
                  </a:solidFill>
                </a:rPr>
                <a:t>正直に売る</a:t>
              </a:r>
            </a:p>
          </p:txBody>
        </p:sp>
        <p:sp>
          <p:nvSpPr>
            <p:cNvPr id="28" name="含意"/>
            <p:cNvSpPr/>
            <p:nvPr/>
          </p:nvSpPr>
          <p:spPr>
            <a:xfrm>
              <a:off x="8286750" y="2209800"/>
              <a:ext cx="3095625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できないことを言える営業</a:t>
              </a:r>
            </a:p>
          </p:txBody>
        </p:sp>
        <p:sp>
          <p:nvSpPr>
            <p:cNvPr id="29" name="正直に売る行動"/>
            <p:cNvSpPr/>
            <p:nvPr/>
          </p:nvSpPr>
          <p:spPr>
            <a:xfrm>
              <a:off x="8096250" y="2819400"/>
              <a:ext cx="3476625" cy="1219200"/>
            </a:xfrm>
            <a:prstGeom prst="roundRect">
              <a:avLst>
                <a:gd name="adj" fmla="val 6250"/>
              </a:avLst>
            </a:prstGeom>
            <a:noFill/>
            <a:ln w="11906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行動見出し"/>
            <p:cNvSpPr/>
            <p:nvPr/>
          </p:nvSpPr>
          <p:spPr>
            <a:xfrm>
              <a:off x="8286750" y="2952750"/>
              <a:ext cx="30956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 b="1">
                  <a:solidFill>
                    <a:schemeClr val="accent1"/>
                  </a:solidFill>
                </a:rPr>
                <a:t>行動例</a:t>
              </a:r>
            </a:p>
          </p:txBody>
        </p:sp>
        <p:sp>
          <p:nvSpPr>
            <p:cNvPr id="31" name="行動例文"/>
            <p:cNvSpPr/>
            <p:nvPr/>
          </p:nvSpPr>
          <p:spPr>
            <a:xfrm>
              <a:off x="8286750" y="3181350"/>
              <a:ext cx="3095625" cy="762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dk1"/>
                  </a:solidFill>
                </a:rPr>
                <a:t>他社が向く案件は他社を紹介する。紹介実績 年12件</a:t>
              </a:r>
            </a:p>
          </p:txBody>
        </p:sp>
      </p:grpSp>
      <p:grpSp>
        <p:nvGrpSpPr>
          <p:cNvPr id="32" name="示唆"/>
          <p:cNvGrpSpPr/>
          <p:nvPr/>
        </p:nvGrpSpPr>
        <p:grpSpPr>
          <a:xfrm>
            <a:off x="609600" y="5334000"/>
            <a:ext cx="10972800" cy="323850"/>
            <a:chOff x="609600" y="5334000"/>
            <a:chExt cx="10972800" cy="323850"/>
          </a:xfrm>
        </p:grpSpPr>
        <p:sp>
          <p:nvSpPr>
            <p:cNvPr id="33" name="引用バー"/>
            <p:cNvSpPr/>
            <p:nvPr/>
          </p:nvSpPr>
          <p:spPr>
            <a:xfrm>
              <a:off x="609600" y="5334000"/>
              <a:ext cx="381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示唆"/>
            <p:cNvSpPr/>
            <p:nvPr/>
          </p:nvSpPr>
          <p:spPr>
            <a:xfrm>
              <a:off x="781050" y="5353050"/>
              <a:ext cx="1080135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バリューは壁の飾りではなく、制度と予算が付いている。だから行動になる</a:t>
              </a:r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952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報告書レイアウトライブラリ｜KPIサマリー　K-1 カード3枚（標準）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増収増益を確保。要対処は粗利率の低下のみ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注：▲はマイナス。前年比は前年同月実績との比較。数値は架空サンプル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出所：架空のサンプルデータ（社内管理会計を想定した創作値）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02</a:t>
              </a:r>
            </a:p>
          </p:txBody>
        </p:sp>
      </p:grpSp>
      <p:grpSp>
        <p:nvGrpSpPr>
          <p:cNvPr id="11" name="図表タイトル"/>
          <p:cNvGrpSpPr/>
          <p:nvPr/>
        </p:nvGrpSpPr>
        <p:grpSpPr>
          <a:xfrm>
            <a:off x="666750" y="1219200"/>
            <a:ext cx="8324850" cy="171450"/>
            <a:chOff x="666750" y="1219200"/>
            <a:chExt cx="8324850" cy="171450"/>
          </a:xfrm>
        </p:grpSpPr>
        <p:sp>
          <p:nvSpPr>
            <p:cNvPr id="12" name="マーカー"/>
            <p:cNvSpPr/>
            <p:nvPr/>
          </p:nvSpPr>
          <p:spPr>
            <a:xfrm>
              <a:off x="666750" y="1238250"/>
              <a:ext cx="47625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図表タイトル"/>
            <p:cNvSpPr/>
            <p:nvPr/>
          </p:nvSpPr>
          <p:spPr>
            <a:xfrm>
              <a:off x="800100" y="1219200"/>
              <a:ext cx="819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主要KPIの当月着地（2026年6月度）</a:t>
              </a:r>
            </a:p>
          </p:txBody>
        </p:sp>
      </p:grpSp>
      <p:grpSp>
        <p:nvGrpSpPr>
          <p:cNvPr id="14" name="KPIカード_売上高"/>
          <p:cNvGrpSpPr/>
          <p:nvPr/>
        </p:nvGrpSpPr>
        <p:grpSpPr>
          <a:xfrm>
            <a:off x="666750" y="1543050"/>
            <a:ext cx="3467100" cy="1866900"/>
            <a:chOff x="666750" y="1543050"/>
            <a:chExt cx="3467100" cy="1866900"/>
          </a:xfrm>
        </p:grpSpPr>
        <p:sp>
          <p:nvSpPr>
            <p:cNvPr id="15" name="カード"/>
            <p:cNvSpPr/>
            <p:nvPr/>
          </p:nvSpPr>
          <p:spPr>
            <a:xfrm>
              <a:off x="666750" y="1543050"/>
              <a:ext cx="3467100" cy="1866900"/>
            </a:xfrm>
            <a:prstGeom prst="roundRect">
              <a:avLst>
                <a:gd name="adj" fmla="val 408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指標名"/>
            <p:cNvSpPr/>
            <p:nvPr/>
          </p:nvSpPr>
          <p:spPr>
            <a:xfrm>
              <a:off x="857250" y="1714500"/>
              <a:ext cx="3086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売上高（億円）</a:t>
              </a:r>
            </a:p>
          </p:txBody>
        </p:sp>
        <p:sp>
          <p:nvSpPr>
            <p:cNvPr id="17" name="数値"/>
            <p:cNvSpPr/>
            <p:nvPr/>
          </p:nvSpPr>
          <p:spPr>
            <a:xfrm>
              <a:off x="857250" y="1981200"/>
              <a:ext cx="308610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400" b="1">
                  <a:solidFill>
                    <a:schemeClr val="dk2"/>
                  </a:solidFill>
                </a:rPr>
                <a:t>12.8</a:t>
              </a:r>
            </a:p>
          </p:txBody>
        </p:sp>
        <p:sp>
          <p:nvSpPr>
            <p:cNvPr id="18" name="比較基準"/>
            <p:cNvSpPr/>
            <p:nvPr/>
          </p:nvSpPr>
          <p:spPr>
            <a:xfrm>
              <a:off x="857250" y="30289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前年比</a:t>
              </a:r>
            </a:p>
          </p:txBody>
        </p:sp>
        <p:sp>
          <p:nvSpPr>
            <p:cNvPr id="19" name="増減記号"/>
            <p:cNvSpPr/>
            <p:nvPr/>
          </p:nvSpPr>
          <p:spPr>
            <a:xfrm>
              <a:off x="3105150" y="3067050"/>
              <a:ext cx="114300" cy="9525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増減値"/>
            <p:cNvSpPr/>
            <p:nvPr/>
          </p:nvSpPr>
          <p:spPr>
            <a:xfrm>
              <a:off x="3257550" y="3028950"/>
              <a:ext cx="685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50" b="1">
                  <a:solidFill>
                    <a:schemeClr val="accent1"/>
                  </a:solidFill>
                </a:rPr>
                <a:t>+9.4%</a:t>
              </a:r>
            </a:p>
          </p:txBody>
        </p:sp>
      </p:grpSp>
      <p:grpSp>
        <p:nvGrpSpPr>
          <p:cNvPr id="21" name="KPIカード_営業利益"/>
          <p:cNvGrpSpPr/>
          <p:nvPr/>
        </p:nvGrpSpPr>
        <p:grpSpPr>
          <a:xfrm>
            <a:off x="4362450" y="1543050"/>
            <a:ext cx="3467100" cy="1866900"/>
            <a:chOff x="4362450" y="1543050"/>
            <a:chExt cx="3467100" cy="1866900"/>
          </a:xfrm>
        </p:grpSpPr>
        <p:sp>
          <p:nvSpPr>
            <p:cNvPr id="22" name="カード"/>
            <p:cNvSpPr/>
            <p:nvPr/>
          </p:nvSpPr>
          <p:spPr>
            <a:xfrm>
              <a:off x="4362450" y="1543050"/>
              <a:ext cx="3467100" cy="1866900"/>
            </a:xfrm>
            <a:prstGeom prst="roundRect">
              <a:avLst>
                <a:gd name="adj" fmla="val 408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指標名"/>
            <p:cNvSpPr/>
            <p:nvPr/>
          </p:nvSpPr>
          <p:spPr>
            <a:xfrm>
              <a:off x="4552950" y="1714500"/>
              <a:ext cx="3086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営業利益（億円）</a:t>
              </a:r>
            </a:p>
          </p:txBody>
        </p:sp>
        <p:sp>
          <p:nvSpPr>
            <p:cNvPr id="24" name="数値"/>
            <p:cNvSpPr/>
            <p:nvPr/>
          </p:nvSpPr>
          <p:spPr>
            <a:xfrm>
              <a:off x="4552950" y="1981200"/>
              <a:ext cx="308610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400" b="1">
                  <a:solidFill>
                    <a:schemeClr val="dk2"/>
                  </a:solidFill>
                </a:rPr>
                <a:t>1.9</a:t>
              </a:r>
            </a:p>
          </p:txBody>
        </p:sp>
        <p:sp>
          <p:nvSpPr>
            <p:cNvPr id="25" name="比較基準"/>
            <p:cNvSpPr/>
            <p:nvPr/>
          </p:nvSpPr>
          <p:spPr>
            <a:xfrm>
              <a:off x="4552950" y="30289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前年比</a:t>
              </a:r>
            </a:p>
          </p:txBody>
        </p:sp>
        <p:sp>
          <p:nvSpPr>
            <p:cNvPr id="26" name="増減記号"/>
            <p:cNvSpPr/>
            <p:nvPr/>
          </p:nvSpPr>
          <p:spPr>
            <a:xfrm>
              <a:off x="6800850" y="3067050"/>
              <a:ext cx="114300" cy="9525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増減値"/>
            <p:cNvSpPr/>
            <p:nvPr/>
          </p:nvSpPr>
          <p:spPr>
            <a:xfrm>
              <a:off x="6953250" y="3028950"/>
              <a:ext cx="685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50" b="1">
                  <a:solidFill>
                    <a:schemeClr val="accent1"/>
                  </a:solidFill>
                </a:rPr>
                <a:t>+3.8%</a:t>
              </a:r>
            </a:p>
          </p:txBody>
        </p:sp>
      </p:grpSp>
      <p:grpSp>
        <p:nvGrpSpPr>
          <p:cNvPr id="28" name="KPIカード_粗利率"/>
          <p:cNvGrpSpPr/>
          <p:nvPr/>
        </p:nvGrpSpPr>
        <p:grpSpPr>
          <a:xfrm>
            <a:off x="8058150" y="1543050"/>
            <a:ext cx="3467100" cy="1866900"/>
            <a:chOff x="8058150" y="1543050"/>
            <a:chExt cx="3467100" cy="1866900"/>
          </a:xfrm>
        </p:grpSpPr>
        <p:sp>
          <p:nvSpPr>
            <p:cNvPr id="29" name="カード"/>
            <p:cNvSpPr/>
            <p:nvPr/>
          </p:nvSpPr>
          <p:spPr>
            <a:xfrm>
              <a:off x="8058150" y="1543050"/>
              <a:ext cx="3467100" cy="1866900"/>
            </a:xfrm>
            <a:prstGeom prst="roundRect">
              <a:avLst>
                <a:gd name="adj" fmla="val 408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指標名"/>
            <p:cNvSpPr/>
            <p:nvPr/>
          </p:nvSpPr>
          <p:spPr>
            <a:xfrm>
              <a:off x="8248650" y="1714500"/>
              <a:ext cx="3086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粗利率（%）</a:t>
              </a:r>
            </a:p>
          </p:txBody>
        </p:sp>
        <p:sp>
          <p:nvSpPr>
            <p:cNvPr id="31" name="数値"/>
            <p:cNvSpPr/>
            <p:nvPr/>
          </p:nvSpPr>
          <p:spPr>
            <a:xfrm>
              <a:off x="8248650" y="1981200"/>
              <a:ext cx="308610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400" b="1">
                  <a:solidFill>
                    <a:schemeClr val="dk2"/>
                  </a:solidFill>
                </a:rPr>
                <a:t>31.4</a:t>
              </a:r>
            </a:p>
          </p:txBody>
        </p:sp>
        <p:sp>
          <p:nvSpPr>
            <p:cNvPr id="32" name="比較基準"/>
            <p:cNvSpPr/>
            <p:nvPr/>
          </p:nvSpPr>
          <p:spPr>
            <a:xfrm>
              <a:off x="8248650" y="302895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前年比</a:t>
              </a:r>
            </a:p>
          </p:txBody>
        </p:sp>
        <p:sp>
          <p:nvSpPr>
            <p:cNvPr id="33" name="増減記号"/>
            <p:cNvSpPr/>
            <p:nvPr/>
          </p:nvSpPr>
          <p:spPr>
            <a:xfrm rot="10800000">
              <a:off x="10496550" y="3067050"/>
              <a:ext cx="114300" cy="952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増減値"/>
            <p:cNvSpPr/>
            <p:nvPr/>
          </p:nvSpPr>
          <p:spPr>
            <a:xfrm>
              <a:off x="10648950" y="3028950"/>
              <a:ext cx="6858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50" b="1">
                  <a:solidFill>
                    <a:schemeClr val="accent2"/>
                  </a:solidFill>
                </a:rPr>
                <a:t>▲1.6pt</a:t>
              </a:r>
            </a:p>
          </p:txBody>
        </p:sp>
      </p:grpSp>
      <p:grpSp>
        <p:nvGrpSpPr>
          <p:cNvPr id="35" name="今月の総括"/>
          <p:cNvGrpSpPr/>
          <p:nvPr/>
        </p:nvGrpSpPr>
        <p:grpSpPr>
          <a:xfrm>
            <a:off x="666750" y="3867150"/>
            <a:ext cx="10858500" cy="1562100"/>
            <a:chOff x="666750" y="3867150"/>
            <a:chExt cx="10858500" cy="1562100"/>
          </a:xfrm>
        </p:grpSpPr>
        <p:sp>
          <p:nvSpPr>
            <p:cNvPr id="36" name="総括パネル"/>
            <p:cNvSpPr/>
            <p:nvPr/>
          </p:nvSpPr>
          <p:spPr>
            <a:xfrm>
              <a:off x="666750" y="4000500"/>
              <a:ext cx="10858500" cy="142875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ラベル帯"/>
            <p:cNvSpPr/>
            <p:nvPr/>
          </p:nvSpPr>
          <p:spPr>
            <a:xfrm>
              <a:off x="895350" y="3867150"/>
              <a:ext cx="1047750" cy="266700"/>
            </a:xfrm>
            <a:prstGeom prst="roundRect">
              <a:avLst>
                <a:gd name="adj" fmla="val 14285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ラベル帯文字"/>
            <p:cNvSpPr/>
            <p:nvPr/>
          </p:nvSpPr>
          <p:spPr>
            <a:xfrm>
              <a:off x="895350" y="3876675"/>
              <a:ext cx="1047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今月の総括</a:t>
              </a:r>
            </a:p>
          </p:txBody>
        </p:sp>
        <p:sp>
          <p:nvSpPr>
            <p:cNvPr id="39" name="総括本文"/>
            <p:cNvSpPr/>
            <p:nvPr/>
          </p:nvSpPr>
          <p:spPr>
            <a:xfrm>
              <a:off x="933450" y="4305300"/>
              <a:ext cx="10325100" cy="952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70000"/>
                </a:lnSpc>
              </a:pPr>
              <a:r>
                <a:rPr sz="1250">
                  <a:solidFill>
                    <a:schemeClr val="dk1"/>
                  </a:solidFill>
                </a:rPr>
                <a:t>増収増益を確保した一方、粗利率の低下（前年比▲1.6pt）が利益の伸びを抑えた。</a:t>
              </a:r>
            </a:p>
            <a:p>
              <a:pPr algn="l">
                <a:lnSpc>
                  <a:spcPct val="170000"/>
                </a:lnSpc>
              </a:pPr>
              <a:r>
                <a:rPr sz="1250">
                  <a:solidFill>
                    <a:schemeClr val="dk1"/>
                  </a:solidFill>
                </a:rPr>
                <a:t>低下は4ヶ月連続で拡大傾向にあり、価格改定の前倒しで7月中に対処する（詳細はP.11〜12の差異分析）</a:t>
              </a:r>
            </a:p>
          </p:txBody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952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報告書レイアウトライブラリ｜グラフレポート　G-1 単月推移＋当月強調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6月売上は12.8億円。直近12ヶ月の最高値を更新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注：6月は速報値。強調（濃色）は当月のみ、他月は淡色で沈める。数値は架空サンプル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出所：架空のサンプルデータ（社内管理会計を想定した創作値）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05</a:t>
              </a:r>
            </a:p>
          </p:txBody>
        </p:sp>
      </p:grpSp>
      <p:grpSp>
        <p:nvGrpSpPr>
          <p:cNvPr id="11" name="図表タイトル"/>
          <p:cNvGrpSpPr/>
          <p:nvPr/>
        </p:nvGrpSpPr>
        <p:grpSpPr>
          <a:xfrm>
            <a:off x="666750" y="1219200"/>
            <a:ext cx="8324850" cy="171450"/>
            <a:chOff x="666750" y="1219200"/>
            <a:chExt cx="8324850" cy="171450"/>
          </a:xfrm>
        </p:grpSpPr>
        <p:sp>
          <p:nvSpPr>
            <p:cNvPr id="12" name="マーカー"/>
            <p:cNvSpPr/>
            <p:nvPr/>
          </p:nvSpPr>
          <p:spPr>
            <a:xfrm>
              <a:off x="666750" y="1238250"/>
              <a:ext cx="47625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図表タイトル"/>
            <p:cNvSpPr/>
            <p:nvPr/>
          </p:nvSpPr>
          <p:spPr>
            <a:xfrm>
              <a:off x="800100" y="1219200"/>
              <a:ext cx="819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売上高の月次推移（億円・直近12ヶ月）</a:t>
              </a:r>
            </a:p>
          </p:txBody>
        </p:sp>
      </p:grpSp>
      <p:grpSp>
        <p:nvGrpSpPr>
          <p:cNvPr id="14" name="売上推移グラフ"/>
          <p:cNvGrpSpPr/>
          <p:nvPr/>
        </p:nvGrpSpPr>
        <p:grpSpPr>
          <a:xfrm>
            <a:off x="666750" y="1971675"/>
            <a:ext cx="10858500" cy="3552825"/>
            <a:chOff x="666750" y="1971675"/>
            <a:chExt cx="10858500" cy="3552825"/>
          </a:xfrm>
        </p:grpSpPr>
        <p:cxnSp>
          <p:nvCxnSpPr>
            <p:cNvPr id="15" name="基準線"/>
            <p:cNvCxnSpPr/>
            <p:nvPr/>
          </p:nvCxnSpPr>
          <p:spPr>
            <a:xfrm>
              <a:off x="666750" y="53340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棒1"/>
            <p:cNvSpPr/>
            <p:nvPr/>
          </p:nvSpPr>
          <p:spPr>
            <a:xfrm>
              <a:off x="1123950" y="2809875"/>
              <a:ext cx="609600" cy="25241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値1"/>
            <p:cNvSpPr/>
            <p:nvPr/>
          </p:nvSpPr>
          <p:spPr>
            <a:xfrm>
              <a:off x="1009650" y="26193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10.2</a:t>
              </a:r>
            </a:p>
          </p:txBody>
        </p:sp>
        <p:sp>
          <p:nvSpPr>
            <p:cNvPr id="18" name="項目1"/>
            <p:cNvSpPr/>
            <p:nvPr/>
          </p:nvSpPr>
          <p:spPr>
            <a:xfrm>
              <a:off x="100965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'25/7</a:t>
              </a:r>
            </a:p>
          </p:txBody>
        </p:sp>
        <p:sp>
          <p:nvSpPr>
            <p:cNvPr id="19" name="棒2"/>
            <p:cNvSpPr/>
            <p:nvPr/>
          </p:nvSpPr>
          <p:spPr>
            <a:xfrm>
              <a:off x="1971675" y="2733675"/>
              <a:ext cx="609600" cy="26003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値2"/>
            <p:cNvSpPr/>
            <p:nvPr/>
          </p:nvSpPr>
          <p:spPr>
            <a:xfrm>
              <a:off x="1857375" y="25431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10.5</a:t>
              </a:r>
            </a:p>
          </p:txBody>
        </p:sp>
        <p:sp>
          <p:nvSpPr>
            <p:cNvPr id="21" name="項目2"/>
            <p:cNvSpPr/>
            <p:nvPr/>
          </p:nvSpPr>
          <p:spPr>
            <a:xfrm>
              <a:off x="185737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8</a:t>
              </a:r>
            </a:p>
          </p:txBody>
        </p:sp>
        <p:sp>
          <p:nvSpPr>
            <p:cNvPr id="22" name="棒3"/>
            <p:cNvSpPr/>
            <p:nvPr/>
          </p:nvSpPr>
          <p:spPr>
            <a:xfrm>
              <a:off x="2819400" y="2828925"/>
              <a:ext cx="609600" cy="25050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値3"/>
            <p:cNvSpPr/>
            <p:nvPr/>
          </p:nvSpPr>
          <p:spPr>
            <a:xfrm>
              <a:off x="2705100" y="263842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10.1</a:t>
              </a:r>
            </a:p>
          </p:txBody>
        </p:sp>
        <p:sp>
          <p:nvSpPr>
            <p:cNvPr id="24" name="項目3"/>
            <p:cNvSpPr/>
            <p:nvPr/>
          </p:nvSpPr>
          <p:spPr>
            <a:xfrm>
              <a:off x="270510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9</a:t>
              </a:r>
            </a:p>
          </p:txBody>
        </p:sp>
        <p:sp>
          <p:nvSpPr>
            <p:cNvPr id="25" name="棒4"/>
            <p:cNvSpPr/>
            <p:nvPr/>
          </p:nvSpPr>
          <p:spPr>
            <a:xfrm>
              <a:off x="3667125" y="2657475"/>
              <a:ext cx="609600" cy="2676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値4"/>
            <p:cNvSpPr/>
            <p:nvPr/>
          </p:nvSpPr>
          <p:spPr>
            <a:xfrm>
              <a:off x="3552825" y="24669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10.8</a:t>
              </a:r>
            </a:p>
          </p:txBody>
        </p:sp>
        <p:sp>
          <p:nvSpPr>
            <p:cNvPr id="27" name="項目4"/>
            <p:cNvSpPr/>
            <p:nvPr/>
          </p:nvSpPr>
          <p:spPr>
            <a:xfrm>
              <a:off x="355282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10</a:t>
              </a:r>
            </a:p>
          </p:txBody>
        </p:sp>
        <p:sp>
          <p:nvSpPr>
            <p:cNvPr id="28" name="棒5"/>
            <p:cNvSpPr/>
            <p:nvPr/>
          </p:nvSpPr>
          <p:spPr>
            <a:xfrm>
              <a:off x="4514850" y="2562225"/>
              <a:ext cx="609600" cy="27717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値5"/>
            <p:cNvSpPr/>
            <p:nvPr/>
          </p:nvSpPr>
          <p:spPr>
            <a:xfrm>
              <a:off x="4400550" y="237172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11.2</a:t>
              </a:r>
            </a:p>
          </p:txBody>
        </p:sp>
        <p:sp>
          <p:nvSpPr>
            <p:cNvPr id="30" name="項目5"/>
            <p:cNvSpPr/>
            <p:nvPr/>
          </p:nvSpPr>
          <p:spPr>
            <a:xfrm>
              <a:off x="440055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11</a:t>
              </a:r>
            </a:p>
          </p:txBody>
        </p:sp>
        <p:sp>
          <p:nvSpPr>
            <p:cNvPr id="31" name="棒6"/>
            <p:cNvSpPr/>
            <p:nvPr/>
          </p:nvSpPr>
          <p:spPr>
            <a:xfrm>
              <a:off x="5362575" y="2609850"/>
              <a:ext cx="609600" cy="27241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値6"/>
            <p:cNvSpPr/>
            <p:nvPr/>
          </p:nvSpPr>
          <p:spPr>
            <a:xfrm>
              <a:off x="5248275" y="2419350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11.0</a:t>
              </a:r>
            </a:p>
          </p:txBody>
        </p:sp>
        <p:sp>
          <p:nvSpPr>
            <p:cNvPr id="33" name="項目6"/>
            <p:cNvSpPr/>
            <p:nvPr/>
          </p:nvSpPr>
          <p:spPr>
            <a:xfrm>
              <a:off x="524827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12</a:t>
              </a:r>
            </a:p>
          </p:txBody>
        </p:sp>
        <p:sp>
          <p:nvSpPr>
            <p:cNvPr id="34" name="棒7"/>
            <p:cNvSpPr/>
            <p:nvPr/>
          </p:nvSpPr>
          <p:spPr>
            <a:xfrm>
              <a:off x="6210300" y="2514600"/>
              <a:ext cx="609600" cy="2819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値7"/>
            <p:cNvSpPr/>
            <p:nvPr/>
          </p:nvSpPr>
          <p:spPr>
            <a:xfrm>
              <a:off x="6096000" y="2324100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11.4</a:t>
              </a:r>
            </a:p>
          </p:txBody>
        </p:sp>
        <p:sp>
          <p:nvSpPr>
            <p:cNvPr id="36" name="項目7"/>
            <p:cNvSpPr/>
            <p:nvPr/>
          </p:nvSpPr>
          <p:spPr>
            <a:xfrm>
              <a:off x="609600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'26/1</a:t>
              </a:r>
            </a:p>
          </p:txBody>
        </p:sp>
        <p:sp>
          <p:nvSpPr>
            <p:cNvPr id="37" name="棒8"/>
            <p:cNvSpPr/>
            <p:nvPr/>
          </p:nvSpPr>
          <p:spPr>
            <a:xfrm>
              <a:off x="7058025" y="2457450"/>
              <a:ext cx="609600" cy="2876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値8"/>
            <p:cNvSpPr/>
            <p:nvPr/>
          </p:nvSpPr>
          <p:spPr>
            <a:xfrm>
              <a:off x="6943725" y="2266950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11.6</a:t>
              </a:r>
            </a:p>
          </p:txBody>
        </p:sp>
        <p:sp>
          <p:nvSpPr>
            <p:cNvPr id="39" name="項目8"/>
            <p:cNvSpPr/>
            <p:nvPr/>
          </p:nvSpPr>
          <p:spPr>
            <a:xfrm>
              <a:off x="694372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40" name="棒9"/>
            <p:cNvSpPr/>
            <p:nvPr/>
          </p:nvSpPr>
          <p:spPr>
            <a:xfrm>
              <a:off x="7905750" y="2362200"/>
              <a:ext cx="609600" cy="2971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値9"/>
            <p:cNvSpPr/>
            <p:nvPr/>
          </p:nvSpPr>
          <p:spPr>
            <a:xfrm>
              <a:off x="7791450" y="2171700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12.0</a:t>
              </a:r>
            </a:p>
          </p:txBody>
        </p:sp>
        <p:sp>
          <p:nvSpPr>
            <p:cNvPr id="42" name="項目9"/>
            <p:cNvSpPr/>
            <p:nvPr/>
          </p:nvSpPr>
          <p:spPr>
            <a:xfrm>
              <a:off x="779145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3</a:t>
              </a:r>
            </a:p>
          </p:txBody>
        </p:sp>
        <p:sp>
          <p:nvSpPr>
            <p:cNvPr id="43" name="棒10"/>
            <p:cNvSpPr/>
            <p:nvPr/>
          </p:nvSpPr>
          <p:spPr>
            <a:xfrm>
              <a:off x="8753475" y="2314575"/>
              <a:ext cx="609600" cy="30194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値10"/>
            <p:cNvSpPr/>
            <p:nvPr/>
          </p:nvSpPr>
          <p:spPr>
            <a:xfrm>
              <a:off x="8639175" y="21240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12.2</a:t>
              </a:r>
            </a:p>
          </p:txBody>
        </p:sp>
        <p:sp>
          <p:nvSpPr>
            <p:cNvPr id="45" name="項目10"/>
            <p:cNvSpPr/>
            <p:nvPr/>
          </p:nvSpPr>
          <p:spPr>
            <a:xfrm>
              <a:off x="863917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4</a:t>
              </a:r>
            </a:p>
          </p:txBody>
        </p:sp>
        <p:sp>
          <p:nvSpPr>
            <p:cNvPr id="46" name="棒11"/>
            <p:cNvSpPr/>
            <p:nvPr/>
          </p:nvSpPr>
          <p:spPr>
            <a:xfrm>
              <a:off x="9601200" y="2238375"/>
              <a:ext cx="609600" cy="30956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値11"/>
            <p:cNvSpPr/>
            <p:nvPr/>
          </p:nvSpPr>
          <p:spPr>
            <a:xfrm>
              <a:off x="9486900" y="20478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12.5</a:t>
              </a:r>
            </a:p>
          </p:txBody>
        </p:sp>
        <p:sp>
          <p:nvSpPr>
            <p:cNvPr id="48" name="項目11"/>
            <p:cNvSpPr/>
            <p:nvPr/>
          </p:nvSpPr>
          <p:spPr>
            <a:xfrm>
              <a:off x="948690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49" name="棒12"/>
            <p:cNvSpPr/>
            <p:nvPr/>
          </p:nvSpPr>
          <p:spPr>
            <a:xfrm>
              <a:off x="10448925" y="2162175"/>
              <a:ext cx="609600" cy="31718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値12"/>
            <p:cNvSpPr/>
            <p:nvPr/>
          </p:nvSpPr>
          <p:spPr>
            <a:xfrm>
              <a:off x="10334625" y="19716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12.8</a:t>
              </a:r>
            </a:p>
          </p:txBody>
        </p:sp>
        <p:sp>
          <p:nvSpPr>
            <p:cNvPr id="51" name="項目12"/>
            <p:cNvSpPr/>
            <p:nvPr/>
          </p:nvSpPr>
          <p:spPr>
            <a:xfrm>
              <a:off x="1033462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6</a:t>
              </a:r>
            </a:p>
          </p:txBody>
        </p:sp>
      </p:grpSp>
      <p:grpSp>
        <p:nvGrpSpPr>
          <p:cNvPr id="52" name="当月注記"/>
          <p:cNvGrpSpPr/>
          <p:nvPr/>
        </p:nvGrpSpPr>
        <p:grpSpPr>
          <a:xfrm>
            <a:off x="10134600" y="1428750"/>
            <a:ext cx="1238250" cy="457200"/>
            <a:chOff x="10134600" y="1428750"/>
            <a:chExt cx="1238250" cy="457200"/>
          </a:xfrm>
        </p:grpSpPr>
        <p:sp>
          <p:nvSpPr>
            <p:cNvPr id="53" name="吹き出し_当月注記"/>
            <p:cNvSpPr/>
            <p:nvPr/>
          </p:nvSpPr>
          <p:spPr>
            <a:xfrm>
              <a:off x="10134600" y="1428750"/>
              <a:ext cx="1238250" cy="457200"/>
            </a:xfrm>
            <a:custGeom>
              <a:avLst/>
              <a:gdLst/>
              <a:ahLst/>
              <a:cxnLst/>
              <a:rect l="0" t="0" r="1238250" b="361950"/>
              <a:pathLst>
                <a:path w="1238250" h="457200">
                  <a:moveTo>
                    <a:pt x="57150" y="0"/>
                  </a:moveTo>
                  <a:lnTo>
                    <a:pt x="1181100" y="0"/>
                  </a:lnTo>
                  <a:arcTo wR="57150" hR="57150" stAng="16200000" swAng="5400000"/>
                  <a:lnTo>
                    <a:pt x="1238250" y="304800"/>
                  </a:lnTo>
                  <a:arcTo wR="57150" hR="57150" stAng="0" swAng="5400000"/>
                  <a:lnTo>
                    <a:pt x="685800" y="361950"/>
                  </a:lnTo>
                  <a:lnTo>
                    <a:pt x="619125" y="457200"/>
                  </a:lnTo>
                  <a:lnTo>
                    <a:pt x="552450" y="361950"/>
                  </a:lnTo>
                  <a:lnTo>
                    <a:pt x="57150" y="361950"/>
                  </a:lnTo>
                  <a:arcTo wR="57150" hR="57150" stAng="5400000" swAng="5400000"/>
                  <a:lnTo>
                    <a:pt x="0" y="57150"/>
                  </a:lnTo>
                  <a:arcTo wR="57150" hR="57150" stAng="10800000" swAng="5400000"/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0267950" y="1428750"/>
              <a:ext cx="97155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lt1"/>
                  </a:solidFill>
                </a:rPr>
                <a:t>12ヶ月で最高</a:t>
              </a:r>
            </a:p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952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報告書レイアウトライブラリ｜グラフレポート　G-3 構成比の変化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サービス比率が30%→38%へ上昇。収益構造の転換が進む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注：構成比は売上高ベース。並び順は2本で固定し、境界を点線で接続。数値は架空サンプル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出所：架空のサンプルデータ（社内管理会計を想定した創作値）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07</a:t>
              </a:r>
            </a:p>
          </p:txBody>
        </p:sp>
      </p:grpSp>
      <p:grpSp>
        <p:nvGrpSpPr>
          <p:cNvPr id="11" name="図表タイトル"/>
          <p:cNvGrpSpPr/>
          <p:nvPr/>
        </p:nvGrpSpPr>
        <p:grpSpPr>
          <a:xfrm>
            <a:off x="666750" y="1219200"/>
            <a:ext cx="8324850" cy="171450"/>
            <a:chOff x="666750" y="1219200"/>
            <a:chExt cx="8324850" cy="171450"/>
          </a:xfrm>
        </p:grpSpPr>
        <p:sp>
          <p:nvSpPr>
            <p:cNvPr id="12" name="マーカー"/>
            <p:cNvSpPr/>
            <p:nvPr/>
          </p:nvSpPr>
          <p:spPr>
            <a:xfrm>
              <a:off x="666750" y="1238250"/>
              <a:ext cx="47625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図表タイトル"/>
            <p:cNvSpPr/>
            <p:nvPr/>
          </p:nvSpPr>
          <p:spPr>
            <a:xfrm>
              <a:off x="800100" y="1219200"/>
              <a:ext cx="819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売上構成比の前年比較（6月度・%）</a:t>
              </a:r>
            </a:p>
          </p:txBody>
        </p:sp>
      </p:grpSp>
      <p:grpSp>
        <p:nvGrpSpPr>
          <p:cNvPr id="14" name="構成比グラフ"/>
          <p:cNvGrpSpPr/>
          <p:nvPr/>
        </p:nvGrpSpPr>
        <p:grpSpPr>
          <a:xfrm>
            <a:off x="666750" y="2038350"/>
            <a:ext cx="10858500" cy="2628900"/>
            <a:chOff x="666750" y="2038350"/>
            <a:chExt cx="10858500" cy="2628900"/>
          </a:xfrm>
        </p:grpSpPr>
        <p:sp>
          <p:nvSpPr>
            <p:cNvPr id="15" name="系列名_製品"/>
            <p:cNvSpPr/>
            <p:nvPr/>
          </p:nvSpPr>
          <p:spPr>
            <a:xfrm>
              <a:off x="2381250" y="2038350"/>
              <a:ext cx="50768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製品</a:t>
              </a:r>
            </a:p>
          </p:txBody>
        </p:sp>
        <p:sp>
          <p:nvSpPr>
            <p:cNvPr id="16" name="系列名_サービス"/>
            <p:cNvSpPr/>
            <p:nvPr/>
          </p:nvSpPr>
          <p:spPr>
            <a:xfrm>
              <a:off x="7458075" y="2038350"/>
              <a:ext cx="24574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サービス</a:t>
              </a:r>
            </a:p>
          </p:txBody>
        </p:sp>
        <p:sp>
          <p:nvSpPr>
            <p:cNvPr id="17" name="系列名_その他"/>
            <p:cNvSpPr/>
            <p:nvPr/>
          </p:nvSpPr>
          <p:spPr>
            <a:xfrm>
              <a:off x="9915525" y="2038350"/>
              <a:ext cx="657225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その他</a:t>
              </a:r>
            </a:p>
          </p:txBody>
        </p:sp>
        <p:sp>
          <p:nvSpPr>
            <p:cNvPr id="18" name="行ラベル_前年6月"/>
            <p:cNvSpPr/>
            <p:nvPr/>
          </p:nvSpPr>
          <p:spPr>
            <a:xfrm>
              <a:off x="666750" y="2514600"/>
              <a:ext cx="1524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前年6月</a:t>
              </a:r>
            </a:p>
          </p:txBody>
        </p:sp>
        <p:sp>
          <p:nvSpPr>
            <p:cNvPr id="19" name="前年6月_製品"/>
            <p:cNvSpPr/>
            <p:nvPr/>
          </p:nvSpPr>
          <p:spPr>
            <a:xfrm>
              <a:off x="2381250" y="2324100"/>
              <a:ext cx="5076825" cy="609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前年6月_製品値"/>
            <p:cNvSpPr/>
            <p:nvPr/>
          </p:nvSpPr>
          <p:spPr>
            <a:xfrm>
              <a:off x="2381250" y="2324100"/>
              <a:ext cx="5076825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62%</a:t>
              </a:r>
            </a:p>
          </p:txBody>
        </p:sp>
        <p:sp>
          <p:nvSpPr>
            <p:cNvPr id="21" name="前年6月_サービス"/>
            <p:cNvSpPr/>
            <p:nvPr/>
          </p:nvSpPr>
          <p:spPr>
            <a:xfrm>
              <a:off x="7458075" y="2324100"/>
              <a:ext cx="245745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前年6月_サービス値"/>
            <p:cNvSpPr/>
            <p:nvPr/>
          </p:nvSpPr>
          <p:spPr>
            <a:xfrm>
              <a:off x="7458075" y="2324100"/>
              <a:ext cx="245745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30%</a:t>
              </a:r>
            </a:p>
          </p:txBody>
        </p:sp>
        <p:sp>
          <p:nvSpPr>
            <p:cNvPr id="23" name="前年6月_その他"/>
            <p:cNvSpPr/>
            <p:nvPr/>
          </p:nvSpPr>
          <p:spPr>
            <a:xfrm>
              <a:off x="9915525" y="2324100"/>
              <a:ext cx="657225" cy="609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前年6月_その他値"/>
            <p:cNvSpPr/>
            <p:nvPr/>
          </p:nvSpPr>
          <p:spPr>
            <a:xfrm>
              <a:off x="9915525" y="2324100"/>
              <a:ext cx="657225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8%</a:t>
              </a:r>
            </a:p>
          </p:txBody>
        </p:sp>
        <p:sp>
          <p:nvSpPr>
            <p:cNvPr id="25" name="総額_前年6月"/>
            <p:cNvSpPr/>
            <p:nvPr/>
          </p:nvSpPr>
          <p:spPr>
            <a:xfrm>
              <a:off x="10687050" y="2533650"/>
              <a:ext cx="838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(11.7億円)</a:t>
              </a:r>
            </a:p>
          </p:txBody>
        </p:sp>
        <p:sp>
          <p:nvSpPr>
            <p:cNvPr id="26" name="行ラベル_当年6月"/>
            <p:cNvSpPr/>
            <p:nvPr/>
          </p:nvSpPr>
          <p:spPr>
            <a:xfrm>
              <a:off x="666750" y="4038600"/>
              <a:ext cx="1524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当年6月</a:t>
              </a:r>
            </a:p>
          </p:txBody>
        </p:sp>
        <p:sp>
          <p:nvSpPr>
            <p:cNvPr id="27" name="当年6月_製品"/>
            <p:cNvSpPr/>
            <p:nvPr/>
          </p:nvSpPr>
          <p:spPr>
            <a:xfrm>
              <a:off x="2381250" y="3848100"/>
              <a:ext cx="4095750" cy="609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当年6月_製品値"/>
            <p:cNvSpPr/>
            <p:nvPr/>
          </p:nvSpPr>
          <p:spPr>
            <a:xfrm>
              <a:off x="2381250" y="3848100"/>
              <a:ext cx="409575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50%</a:t>
              </a:r>
            </a:p>
          </p:txBody>
        </p:sp>
        <p:sp>
          <p:nvSpPr>
            <p:cNvPr id="29" name="当年6月_サービス"/>
            <p:cNvSpPr/>
            <p:nvPr/>
          </p:nvSpPr>
          <p:spPr>
            <a:xfrm>
              <a:off x="6477000" y="3848100"/>
              <a:ext cx="3114675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当年6月_サービス値"/>
            <p:cNvSpPr/>
            <p:nvPr/>
          </p:nvSpPr>
          <p:spPr>
            <a:xfrm>
              <a:off x="6477000" y="3848100"/>
              <a:ext cx="3114675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38%</a:t>
              </a:r>
            </a:p>
          </p:txBody>
        </p:sp>
        <p:sp>
          <p:nvSpPr>
            <p:cNvPr id="31" name="当年6月_その他"/>
            <p:cNvSpPr/>
            <p:nvPr/>
          </p:nvSpPr>
          <p:spPr>
            <a:xfrm>
              <a:off x="9591675" y="3848100"/>
              <a:ext cx="981075" cy="609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当年6月_その他値"/>
            <p:cNvSpPr/>
            <p:nvPr/>
          </p:nvSpPr>
          <p:spPr>
            <a:xfrm>
              <a:off x="9591675" y="3848100"/>
              <a:ext cx="981075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12%</a:t>
              </a:r>
            </a:p>
          </p:txBody>
        </p:sp>
        <p:sp>
          <p:nvSpPr>
            <p:cNvPr id="33" name="総額_当年6月"/>
            <p:cNvSpPr/>
            <p:nvPr/>
          </p:nvSpPr>
          <p:spPr>
            <a:xfrm>
              <a:off x="10687050" y="4057650"/>
              <a:ext cx="8382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(12.8億円)</a:t>
              </a:r>
            </a:p>
          </p:txBody>
        </p:sp>
        <p:cxnSp>
          <p:nvCxnSpPr>
            <p:cNvPr id="34" name="境界接続線"/>
            <p:cNvCxnSpPr/>
            <p:nvPr/>
          </p:nvCxnSpPr>
          <p:spPr>
            <a:xfrm flipH="1">
              <a:off x="6477000" y="2933700"/>
              <a:ext cx="981075" cy="91440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境界接続線"/>
            <p:cNvCxnSpPr/>
            <p:nvPr/>
          </p:nvCxnSpPr>
          <p:spPr>
            <a:xfrm flipH="1">
              <a:off x="9591675" y="2933700"/>
              <a:ext cx="323850" cy="91440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目盛0"/>
            <p:cNvSpPr/>
            <p:nvPr/>
          </p:nvSpPr>
          <p:spPr>
            <a:xfrm>
              <a:off x="2381250" y="453390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0%</a:t>
              </a:r>
            </a:p>
          </p:txBody>
        </p:sp>
        <p:sp>
          <p:nvSpPr>
            <p:cNvPr id="37" name="目盛100"/>
            <p:cNvSpPr/>
            <p:nvPr/>
          </p:nvSpPr>
          <p:spPr>
            <a:xfrm>
              <a:off x="10001250" y="453390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100%</a:t>
              </a:r>
            </a:p>
          </p:txBody>
        </p:sp>
      </p:grpSp>
      <p:grpSp>
        <p:nvGrpSpPr>
          <p:cNvPr id="38" name="変化注記"/>
          <p:cNvGrpSpPr/>
          <p:nvPr/>
        </p:nvGrpSpPr>
        <p:grpSpPr>
          <a:xfrm>
            <a:off x="6981825" y="4629150"/>
            <a:ext cx="2095500" cy="190500"/>
            <a:chOff x="6981825" y="4629150"/>
            <a:chExt cx="2095500" cy="190500"/>
          </a:xfrm>
        </p:grpSpPr>
        <p:sp>
          <p:nvSpPr>
            <p:cNvPr id="39" name="変化値"/>
            <p:cNvSpPr/>
            <p:nvPr/>
          </p:nvSpPr>
          <p:spPr>
            <a:xfrm>
              <a:off x="6981825" y="4629150"/>
              <a:ext cx="2095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300" b="1">
                  <a:solidFill>
                    <a:schemeClr val="accent1"/>
                  </a:solidFill>
                </a:rPr>
                <a:t>サービス +8pt</a:t>
              </a:r>
            </a:p>
          </p:txBody>
        </p:sp>
      </p:grpSp>
      <p:grpSp>
        <p:nvGrpSpPr>
          <p:cNvPr id="40" name="示唆"/>
          <p:cNvGrpSpPr/>
          <p:nvPr/>
        </p:nvGrpSpPr>
        <p:grpSpPr>
          <a:xfrm>
            <a:off x="666750" y="5067300"/>
            <a:ext cx="10858500" cy="742950"/>
            <a:chOff x="666750" y="5067300"/>
            <a:chExt cx="10858500" cy="742950"/>
          </a:xfrm>
        </p:grpSpPr>
        <p:sp>
          <p:nvSpPr>
            <p:cNvPr id="41" name="示唆パネル"/>
            <p:cNvSpPr/>
            <p:nvPr/>
          </p:nvSpPr>
          <p:spPr>
            <a:xfrm>
              <a:off x="666750" y="5200650"/>
              <a:ext cx="10858500" cy="6096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ラベル帯"/>
            <p:cNvSpPr/>
            <p:nvPr/>
          </p:nvSpPr>
          <p:spPr>
            <a:xfrm>
              <a:off x="895350" y="5067300"/>
              <a:ext cx="609600" cy="266700"/>
            </a:xfrm>
            <a:prstGeom prst="roundRect">
              <a:avLst>
                <a:gd name="adj" fmla="val 14285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ラベル帯文字"/>
            <p:cNvSpPr/>
            <p:nvPr/>
          </p:nvSpPr>
          <p:spPr>
            <a:xfrm>
              <a:off x="895350" y="5076825"/>
              <a:ext cx="6096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示唆</a:t>
              </a:r>
            </a:p>
          </p:txBody>
        </p:sp>
        <p:sp>
          <p:nvSpPr>
            <p:cNvPr id="44" name="示唆本文"/>
            <p:cNvSpPr/>
            <p:nvPr/>
          </p:nvSpPr>
          <p:spPr>
            <a:xfrm>
              <a:off x="933450" y="5429250"/>
              <a:ext cx="10325100" cy="304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>
                  <a:solidFill>
                    <a:schemeClr val="dk1"/>
                  </a:solidFill>
                </a:rPr>
                <a:t>サービスへの構成シフトは粗利率改善の追い風。一方で製品の実額も微増しており、縮小ではなく構成の転換といえる</a:t>
              </a:r>
            </a:p>
          </p:txBody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952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報告書レイアウトライブラリ｜差異・要因　D-1 滝グラフ（標準）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利益は計画比▲0.1億円。要対処は外部起点の原価上昇のみ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注：「内部」＝自社でコントロール可能な要因。販促前倒しは受注反転に向けた計画内の投資。数値は架空サンプル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出所：架空のサンプルデータ（社内管理会計を想定した創作値）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11</a:t>
              </a:r>
            </a:p>
          </p:txBody>
        </p:sp>
      </p:grpSp>
      <p:grpSp>
        <p:nvGrpSpPr>
          <p:cNvPr id="11" name="図表タイトル"/>
          <p:cNvGrpSpPr/>
          <p:nvPr/>
        </p:nvGrpSpPr>
        <p:grpSpPr>
          <a:xfrm>
            <a:off x="666750" y="1219200"/>
            <a:ext cx="8324850" cy="171450"/>
            <a:chOff x="666750" y="1219200"/>
            <a:chExt cx="8324850" cy="171450"/>
          </a:xfrm>
        </p:grpSpPr>
        <p:sp>
          <p:nvSpPr>
            <p:cNvPr id="12" name="マーカー"/>
            <p:cNvSpPr/>
            <p:nvPr/>
          </p:nvSpPr>
          <p:spPr>
            <a:xfrm>
              <a:off x="666750" y="1238250"/>
              <a:ext cx="47625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図表タイトル"/>
            <p:cNvSpPr/>
            <p:nvPr/>
          </p:nvSpPr>
          <p:spPr>
            <a:xfrm>
              <a:off x="800100" y="1219200"/>
              <a:ext cx="81915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営業利益の予実差異（2026年6月度・億円）</a:t>
              </a:r>
            </a:p>
          </p:txBody>
        </p:sp>
      </p:grpSp>
      <p:grpSp>
        <p:nvGrpSpPr>
          <p:cNvPr id="14" name="滝グラフ"/>
          <p:cNvGrpSpPr/>
          <p:nvPr/>
        </p:nvGrpSpPr>
        <p:grpSpPr>
          <a:xfrm>
            <a:off x="476250" y="1790700"/>
            <a:ext cx="11239500" cy="4152900"/>
            <a:chOff x="476250" y="1790700"/>
            <a:chExt cx="11239500" cy="4152900"/>
          </a:xfrm>
        </p:grpSpPr>
        <p:cxnSp>
          <p:nvCxnSpPr>
            <p:cNvPr id="15" name="基準線"/>
            <p:cNvCxnSpPr/>
            <p:nvPr/>
          </p:nvCxnSpPr>
          <p:spPr>
            <a:xfrm>
              <a:off x="666750" y="54483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コネクタ1"/>
            <p:cNvCxnSpPr/>
            <p:nvPr/>
          </p:nvCxnSpPr>
          <p:spPr>
            <a:xfrm>
              <a:off x="1809750" y="2590800"/>
              <a:ext cx="1285875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コネクタ2"/>
            <p:cNvCxnSpPr/>
            <p:nvPr/>
          </p:nvCxnSpPr>
          <p:spPr>
            <a:xfrm>
              <a:off x="4238625" y="2019300"/>
              <a:ext cx="1285875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コネクタ3"/>
            <p:cNvCxnSpPr/>
            <p:nvPr/>
          </p:nvCxnSpPr>
          <p:spPr>
            <a:xfrm>
              <a:off x="6667500" y="2590800"/>
              <a:ext cx="1285875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コネクタ4"/>
            <p:cNvCxnSpPr/>
            <p:nvPr/>
          </p:nvCxnSpPr>
          <p:spPr>
            <a:xfrm>
              <a:off x="9096375" y="2733675"/>
              <a:ext cx="1285875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バー_計画"/>
            <p:cNvSpPr/>
            <p:nvPr/>
          </p:nvSpPr>
          <p:spPr>
            <a:xfrm>
              <a:off x="666750" y="2590800"/>
              <a:ext cx="1143000" cy="2857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値_計画"/>
            <p:cNvSpPr/>
            <p:nvPr/>
          </p:nvSpPr>
          <p:spPr>
            <a:xfrm>
              <a:off x="476250" y="236220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2.0</a:t>
              </a:r>
            </a:p>
          </p:txBody>
        </p:sp>
        <p:sp>
          <p:nvSpPr>
            <p:cNvPr id="22" name="項目_計画"/>
            <p:cNvSpPr/>
            <p:nvPr/>
          </p:nvSpPr>
          <p:spPr>
            <a:xfrm>
              <a:off x="476250" y="55435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計画</a:t>
              </a:r>
            </a:p>
          </p:txBody>
        </p:sp>
        <p:sp>
          <p:nvSpPr>
            <p:cNvPr id="23" name="バー_増収効果"/>
            <p:cNvSpPr/>
            <p:nvPr/>
          </p:nvSpPr>
          <p:spPr>
            <a:xfrm>
              <a:off x="3095625" y="2019300"/>
              <a:ext cx="1143000" cy="57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値_増収効果"/>
            <p:cNvSpPr/>
            <p:nvPr/>
          </p:nvSpPr>
          <p:spPr>
            <a:xfrm>
              <a:off x="2905125" y="179070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+0.4</a:t>
              </a:r>
            </a:p>
          </p:txBody>
        </p:sp>
        <p:sp>
          <p:nvSpPr>
            <p:cNvPr id="25" name="項目_増収効果"/>
            <p:cNvSpPr/>
            <p:nvPr/>
          </p:nvSpPr>
          <p:spPr>
            <a:xfrm>
              <a:off x="2905125" y="55435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増収効果</a:t>
              </a:r>
            </a:p>
          </p:txBody>
        </p:sp>
        <p:sp>
          <p:nvSpPr>
            <p:cNvPr id="26" name="区分_増収効果"/>
            <p:cNvSpPr/>
            <p:nvPr/>
          </p:nvSpPr>
          <p:spPr>
            <a:xfrm>
              <a:off x="3400425" y="5753100"/>
              <a:ext cx="533400" cy="1905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区分_増収効果文字"/>
            <p:cNvSpPr/>
            <p:nvPr/>
          </p:nvSpPr>
          <p:spPr>
            <a:xfrm>
              <a:off x="3400425" y="5762625"/>
              <a:ext cx="533400" cy="1809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内部</a:t>
              </a:r>
            </a:p>
          </p:txBody>
        </p:sp>
        <p:sp>
          <p:nvSpPr>
            <p:cNvPr id="28" name="バー_原価上昇"/>
            <p:cNvSpPr/>
            <p:nvPr/>
          </p:nvSpPr>
          <p:spPr>
            <a:xfrm>
              <a:off x="5524500" y="2019300"/>
              <a:ext cx="1143000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値_原価上昇"/>
            <p:cNvSpPr/>
            <p:nvPr/>
          </p:nvSpPr>
          <p:spPr>
            <a:xfrm>
              <a:off x="5334000" y="179070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accent2"/>
                  </a:solidFill>
                </a:rPr>
                <a:t>▲0.4</a:t>
              </a:r>
            </a:p>
          </p:txBody>
        </p:sp>
        <p:sp>
          <p:nvSpPr>
            <p:cNvPr id="30" name="項目_原価上昇"/>
            <p:cNvSpPr/>
            <p:nvPr/>
          </p:nvSpPr>
          <p:spPr>
            <a:xfrm>
              <a:off x="5334000" y="55435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原価上昇</a:t>
              </a:r>
            </a:p>
          </p:txBody>
        </p:sp>
        <p:sp>
          <p:nvSpPr>
            <p:cNvPr id="31" name="区分_原価上昇"/>
            <p:cNvSpPr/>
            <p:nvPr/>
          </p:nvSpPr>
          <p:spPr>
            <a:xfrm>
              <a:off x="5829300" y="5753100"/>
              <a:ext cx="533400" cy="190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区分_原価上昇文字"/>
            <p:cNvSpPr/>
            <p:nvPr/>
          </p:nvSpPr>
          <p:spPr>
            <a:xfrm>
              <a:off x="5829300" y="5762625"/>
              <a:ext cx="533400" cy="1809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外部</a:t>
              </a:r>
            </a:p>
          </p:txBody>
        </p:sp>
        <p:sp>
          <p:nvSpPr>
            <p:cNvPr id="33" name="バー_販促前倒し"/>
            <p:cNvSpPr/>
            <p:nvPr/>
          </p:nvSpPr>
          <p:spPr>
            <a:xfrm>
              <a:off x="7953375" y="2590800"/>
              <a:ext cx="1143000" cy="1428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値_販促前倒し"/>
            <p:cNvSpPr/>
            <p:nvPr/>
          </p:nvSpPr>
          <p:spPr>
            <a:xfrm>
              <a:off x="7762875" y="236220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accent3"/>
                  </a:solidFill>
                </a:rPr>
                <a:t>▲0.1</a:t>
              </a:r>
            </a:p>
          </p:txBody>
        </p:sp>
        <p:sp>
          <p:nvSpPr>
            <p:cNvPr id="35" name="項目_販促前倒し"/>
            <p:cNvSpPr/>
            <p:nvPr/>
          </p:nvSpPr>
          <p:spPr>
            <a:xfrm>
              <a:off x="7762875" y="55435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販促前倒し</a:t>
              </a:r>
            </a:p>
          </p:txBody>
        </p:sp>
        <p:sp>
          <p:nvSpPr>
            <p:cNvPr id="36" name="区分_販促前倒し"/>
            <p:cNvSpPr/>
            <p:nvPr/>
          </p:nvSpPr>
          <p:spPr>
            <a:xfrm>
              <a:off x="8258175" y="5753100"/>
              <a:ext cx="533400" cy="1905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区分_販促前倒し文字"/>
            <p:cNvSpPr/>
            <p:nvPr/>
          </p:nvSpPr>
          <p:spPr>
            <a:xfrm>
              <a:off x="8258175" y="5762625"/>
              <a:ext cx="533400" cy="1809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内部</a:t>
              </a:r>
            </a:p>
          </p:txBody>
        </p:sp>
        <p:sp>
          <p:nvSpPr>
            <p:cNvPr id="38" name="バー_実績"/>
            <p:cNvSpPr/>
            <p:nvPr/>
          </p:nvSpPr>
          <p:spPr>
            <a:xfrm>
              <a:off x="10382250" y="2733675"/>
              <a:ext cx="1143000" cy="271462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値_実績"/>
            <p:cNvSpPr/>
            <p:nvPr/>
          </p:nvSpPr>
          <p:spPr>
            <a:xfrm>
              <a:off x="10191750" y="2505075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1.9</a:t>
              </a:r>
            </a:p>
          </p:txBody>
        </p:sp>
        <p:sp>
          <p:nvSpPr>
            <p:cNvPr id="40" name="項目_実績"/>
            <p:cNvSpPr/>
            <p:nvPr/>
          </p:nvSpPr>
          <p:spPr>
            <a:xfrm>
              <a:off x="10191750" y="55435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実績</a:t>
              </a:r>
            </a:p>
          </p:txBody>
        </p:sp>
      </p:grp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952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報告書レイアウトライブラリ｜課題対応　C-1 課題→原因→打ち手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受注減の真因は紹介依存の営業構造。7月に獲得経路を3本化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注：件数は月次。真因＝これを解かない限り再発する原因。数値は架空サンプル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出所：架空のサンプルデータ（営業管理システムを想定した創作値）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14</a:t>
              </a:r>
            </a:p>
          </p:txBody>
        </p:sp>
      </p:grpSp>
      <p:grpSp>
        <p:nvGrpSpPr>
          <p:cNvPr id="11" name="見出し_課題"/>
          <p:cNvGrpSpPr/>
          <p:nvPr/>
        </p:nvGrpSpPr>
        <p:grpSpPr>
          <a:xfrm>
            <a:off x="666750" y="1276350"/>
            <a:ext cx="3238500" cy="4324350"/>
            <a:chOff x="666750" y="1276350"/>
            <a:chExt cx="3238500" cy="4324350"/>
          </a:xfrm>
        </p:grpSpPr>
        <p:sp>
          <p:nvSpPr>
            <p:cNvPr id="12" name="見出し帯"/>
            <p:cNvSpPr/>
            <p:nvPr/>
          </p:nvSpPr>
          <p:spPr>
            <a:xfrm>
              <a:off x="666750" y="1276350"/>
              <a:ext cx="3238500" cy="361950"/>
            </a:xfrm>
            <a:prstGeom prst="roundRect">
              <a:avLst>
                <a:gd name="adj" fmla="val 1052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見出し文字"/>
            <p:cNvSpPr/>
            <p:nvPr/>
          </p:nvSpPr>
          <p:spPr>
            <a:xfrm>
              <a:off x="666750" y="1285875"/>
              <a:ext cx="3238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課題｜何が起きているか</a:t>
              </a:r>
            </a:p>
          </p:txBody>
        </p:sp>
        <p:sp>
          <p:nvSpPr>
            <p:cNvPr id="14" name="カード"/>
            <p:cNvSpPr/>
            <p:nvPr/>
          </p:nvSpPr>
          <p:spPr>
            <a:xfrm>
              <a:off x="666750" y="1771650"/>
              <a:ext cx="3238500" cy="3829050"/>
            </a:xfrm>
            <a:prstGeom prst="roundRect">
              <a:avLst>
                <a:gd name="adj" fmla="val 235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見出し_原因"/>
          <p:cNvGrpSpPr/>
          <p:nvPr/>
        </p:nvGrpSpPr>
        <p:grpSpPr>
          <a:xfrm>
            <a:off x="4476750" y="1276350"/>
            <a:ext cx="3238500" cy="4324350"/>
            <a:chOff x="4476750" y="1276350"/>
            <a:chExt cx="3238500" cy="4324350"/>
          </a:xfrm>
        </p:grpSpPr>
        <p:sp>
          <p:nvSpPr>
            <p:cNvPr id="16" name="見出し帯"/>
            <p:cNvSpPr/>
            <p:nvPr/>
          </p:nvSpPr>
          <p:spPr>
            <a:xfrm>
              <a:off x="4476750" y="1276350"/>
              <a:ext cx="3238500" cy="361950"/>
            </a:xfrm>
            <a:prstGeom prst="roundRect">
              <a:avLst>
                <a:gd name="adj" fmla="val 1052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見出し文字"/>
            <p:cNvSpPr/>
            <p:nvPr/>
          </p:nvSpPr>
          <p:spPr>
            <a:xfrm>
              <a:off x="4476750" y="1285875"/>
              <a:ext cx="3238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原因｜なぜ起きたか</a:t>
              </a:r>
            </a:p>
          </p:txBody>
        </p:sp>
        <p:sp>
          <p:nvSpPr>
            <p:cNvPr id="18" name="カード"/>
            <p:cNvSpPr/>
            <p:nvPr/>
          </p:nvSpPr>
          <p:spPr>
            <a:xfrm>
              <a:off x="4476750" y="1771650"/>
              <a:ext cx="3238500" cy="3829050"/>
            </a:xfrm>
            <a:prstGeom prst="roundRect">
              <a:avLst>
                <a:gd name="adj" fmla="val 235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見出し_打ち"/>
          <p:cNvGrpSpPr/>
          <p:nvPr/>
        </p:nvGrpSpPr>
        <p:grpSpPr>
          <a:xfrm>
            <a:off x="8286750" y="1276350"/>
            <a:ext cx="3238500" cy="4324350"/>
            <a:chOff x="8286750" y="1276350"/>
            <a:chExt cx="3238500" cy="4324350"/>
          </a:xfrm>
        </p:grpSpPr>
        <p:sp>
          <p:nvSpPr>
            <p:cNvPr id="20" name="見出し帯"/>
            <p:cNvSpPr/>
            <p:nvPr/>
          </p:nvSpPr>
          <p:spPr>
            <a:xfrm>
              <a:off x="8286750" y="1276350"/>
              <a:ext cx="3238500" cy="361950"/>
            </a:xfrm>
            <a:prstGeom prst="roundRect">
              <a:avLst>
                <a:gd name="adj" fmla="val 1052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見出し文字"/>
            <p:cNvSpPr/>
            <p:nvPr/>
          </p:nvSpPr>
          <p:spPr>
            <a:xfrm>
              <a:off x="8286750" y="1285875"/>
              <a:ext cx="3238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打ち手｜どう対処するか</a:t>
              </a:r>
            </a:p>
          </p:txBody>
        </p:sp>
        <p:sp>
          <p:nvSpPr>
            <p:cNvPr id="22" name="カード"/>
            <p:cNvSpPr/>
            <p:nvPr/>
          </p:nvSpPr>
          <p:spPr>
            <a:xfrm>
              <a:off x="8286750" y="1771650"/>
              <a:ext cx="3238500" cy="3829050"/>
            </a:xfrm>
            <a:prstGeom prst="roundRect">
              <a:avLst>
                <a:gd name="adj" fmla="val 235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接続矢印"/>
          <p:cNvGrpSpPr/>
          <p:nvPr/>
        </p:nvGrpSpPr>
        <p:grpSpPr>
          <a:xfrm>
            <a:off x="4038600" y="3505200"/>
            <a:ext cx="4019550" cy="247650"/>
            <a:chOff x="4038600" y="3505200"/>
            <a:chExt cx="4019550" cy="247650"/>
          </a:xfrm>
        </p:grpSpPr>
        <p:sp>
          <p:nvSpPr>
            <p:cNvPr id="24" name="矢印1"/>
            <p:cNvSpPr/>
            <p:nvPr/>
          </p:nvSpPr>
          <p:spPr>
            <a:xfrm rot="5400000">
              <a:off x="4038600" y="3505200"/>
              <a:ext cx="209550" cy="24765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矢印2"/>
            <p:cNvSpPr/>
            <p:nvPr/>
          </p:nvSpPr>
          <p:spPr>
            <a:xfrm rot="5400000">
              <a:off x="7848600" y="3505200"/>
              <a:ext cx="209550" cy="24765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" name="課題"/>
          <p:cNvGrpSpPr/>
          <p:nvPr/>
        </p:nvGrpSpPr>
        <p:grpSpPr>
          <a:xfrm>
            <a:off x="857250" y="2038350"/>
            <a:ext cx="2857500" cy="3162300"/>
            <a:chOff x="857250" y="2038350"/>
            <a:chExt cx="2857500" cy="3162300"/>
          </a:xfrm>
        </p:grpSpPr>
        <p:sp>
          <p:nvSpPr>
            <p:cNvPr id="27" name="ラベル"/>
            <p:cNvSpPr/>
            <p:nvPr/>
          </p:nvSpPr>
          <p:spPr>
            <a:xfrm>
              <a:off x="857250" y="20383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新規受注件数（6月実績）</a:t>
              </a:r>
            </a:p>
          </p:txBody>
        </p:sp>
        <p:sp>
          <p:nvSpPr>
            <p:cNvPr id="28" name="大数字"/>
            <p:cNvSpPr/>
            <p:nvPr/>
          </p:nvSpPr>
          <p:spPr>
            <a:xfrm>
              <a:off x="857250" y="2286000"/>
              <a:ext cx="285750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400" b="1">
                  <a:solidFill>
                    <a:schemeClr val="dk2"/>
                  </a:solidFill>
                </a:rPr>
                <a:t>198件</a:t>
              </a:r>
            </a:p>
          </p:txBody>
        </p:sp>
        <p:sp>
          <p:nvSpPr>
            <p:cNvPr id="29" name="下降記号"/>
            <p:cNvSpPr/>
            <p:nvPr/>
          </p:nvSpPr>
          <p:spPr>
            <a:xfrm rot="10800000">
              <a:off x="1543050" y="3143250"/>
              <a:ext cx="123825" cy="104775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下落幅"/>
            <p:cNvSpPr/>
            <p:nvPr/>
          </p:nvSpPr>
          <p:spPr>
            <a:xfrm>
              <a:off x="1733550" y="3086100"/>
              <a:ext cx="1905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2"/>
                  </a:solidFill>
                </a:rPr>
                <a:t>目標比 ▲14%</a:t>
              </a:r>
            </a:p>
          </p:txBody>
        </p:sp>
        <p:cxnSp>
          <p:nvCxnSpPr>
            <p:cNvPr id="31" name="区切り線"/>
            <p:cNvCxnSpPr/>
            <p:nvPr/>
          </p:nvCxnSpPr>
          <p:spPr>
            <a:xfrm>
              <a:off x="952500" y="3486150"/>
              <a:ext cx="2667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補足"/>
            <p:cNvSpPr/>
            <p:nvPr/>
          </p:nvSpPr>
          <p:spPr>
            <a:xfrm>
              <a:off x="952500" y="3676650"/>
              <a:ext cx="2705100" cy="1524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200000"/>
                </a:lnSpc>
              </a:pPr>
              <a:r>
                <a:rPr sz="1100">
                  <a:solidFill>
                    <a:schemeClr val="dk1"/>
                  </a:solidFill>
                </a:rPr>
                <a:t>・2ヶ月連続の減少（220→206→198）</a:t>
              </a:r>
            </a:p>
            <a:p>
              <a:pPr algn="l">
                <a:lnSpc>
                  <a:spcPct val="200000"/>
                </a:lnSpc>
              </a:pPr>
              <a:r>
                <a:rPr sz="1100">
                  <a:solidFill>
                    <a:schemeClr val="dk1"/>
                  </a:solidFill>
                </a:rPr>
                <a:t>・約3ヶ月後の売上に直結する先行指標</a:t>
              </a:r>
            </a:p>
            <a:p>
              <a:pPr algn="l">
                <a:lnSpc>
                  <a:spcPct val="200000"/>
                </a:lnSpc>
              </a:pPr>
              <a:r>
                <a:rPr sz="1100">
                  <a:solidFill>
                    <a:schemeClr val="dk1"/>
                  </a:solidFill>
                </a:rPr>
                <a:t>・C事業の前年割れの主因</a:t>
              </a:r>
            </a:p>
          </p:txBody>
        </p:sp>
      </p:grpSp>
      <p:grpSp>
        <p:nvGrpSpPr>
          <p:cNvPr id="33" name="原因"/>
          <p:cNvGrpSpPr/>
          <p:nvPr/>
        </p:nvGrpSpPr>
        <p:grpSpPr>
          <a:xfrm>
            <a:off x="4705350" y="2019300"/>
            <a:ext cx="2800350" cy="3028950"/>
            <a:chOff x="4705350" y="2019300"/>
            <a:chExt cx="2800350" cy="3028950"/>
          </a:xfrm>
        </p:grpSpPr>
        <p:sp>
          <p:nvSpPr>
            <p:cNvPr id="34" name="番号1"/>
            <p:cNvSpPr/>
            <p:nvPr/>
          </p:nvSpPr>
          <p:spPr>
            <a:xfrm>
              <a:off x="4705350" y="20383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番号文字1"/>
            <p:cNvSpPr/>
            <p:nvPr/>
          </p:nvSpPr>
          <p:spPr>
            <a:xfrm>
              <a:off x="4705350" y="20478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36" name="原因名1"/>
            <p:cNvSpPr/>
            <p:nvPr/>
          </p:nvSpPr>
          <p:spPr>
            <a:xfrm>
              <a:off x="5086350" y="2019300"/>
              <a:ext cx="2381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200" b="1">
                  <a:solidFill>
                    <a:schemeClr val="dk2"/>
                  </a:solidFill>
                </a:rPr>
                <a:t>展示会リードの枯渇</a:t>
              </a:r>
            </a:p>
          </p:txBody>
        </p:sp>
        <p:sp>
          <p:nvSpPr>
            <p:cNvPr id="37" name="影響1"/>
            <p:cNvSpPr/>
            <p:nvPr/>
          </p:nvSpPr>
          <p:spPr>
            <a:xfrm>
              <a:off x="5086350" y="2286000"/>
              <a:ext cx="24193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前Q比▲40%（出展2回→0回）</a:t>
              </a:r>
            </a:p>
          </p:txBody>
        </p:sp>
        <p:sp>
          <p:nvSpPr>
            <p:cNvPr id="38" name="番号2"/>
            <p:cNvSpPr/>
            <p:nvPr/>
          </p:nvSpPr>
          <p:spPr>
            <a:xfrm>
              <a:off x="4705350" y="31051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番号文字2"/>
            <p:cNvSpPr/>
            <p:nvPr/>
          </p:nvSpPr>
          <p:spPr>
            <a:xfrm>
              <a:off x="4705350" y="31146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40" name="原因名2"/>
            <p:cNvSpPr/>
            <p:nvPr/>
          </p:nvSpPr>
          <p:spPr>
            <a:xfrm>
              <a:off x="5086350" y="3086100"/>
              <a:ext cx="2381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200" b="1">
                  <a:solidFill>
                    <a:schemeClr val="dk2"/>
                  </a:solidFill>
                </a:rPr>
                <a:t>Web問い合わせの伸び悩み</a:t>
              </a:r>
            </a:p>
          </p:txBody>
        </p:sp>
        <p:sp>
          <p:nvSpPr>
            <p:cNvPr id="41" name="影響2"/>
            <p:cNvSpPr/>
            <p:nvPr/>
          </p:nvSpPr>
          <p:spPr>
            <a:xfrm>
              <a:off x="5086350" y="3352800"/>
              <a:ext cx="24193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月35件で横ばい（目標60件）</a:t>
              </a:r>
            </a:p>
          </p:txBody>
        </p:sp>
        <p:sp>
          <p:nvSpPr>
            <p:cNvPr id="42" name="番号3"/>
            <p:cNvSpPr/>
            <p:nvPr/>
          </p:nvSpPr>
          <p:spPr>
            <a:xfrm>
              <a:off x="4705350" y="4171950"/>
              <a:ext cx="266700" cy="266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番号文字3"/>
            <p:cNvSpPr/>
            <p:nvPr/>
          </p:nvSpPr>
          <p:spPr>
            <a:xfrm>
              <a:off x="4705350" y="41814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44" name="原因名3"/>
            <p:cNvSpPr/>
            <p:nvPr/>
          </p:nvSpPr>
          <p:spPr>
            <a:xfrm>
              <a:off x="5086350" y="4152900"/>
              <a:ext cx="238125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200" b="1">
                  <a:solidFill>
                    <a:schemeClr val="dk2"/>
                  </a:solidFill>
                </a:rPr>
                <a:t>紹介依存の営業構造</a:t>
              </a:r>
            </a:p>
          </p:txBody>
        </p:sp>
        <p:sp>
          <p:nvSpPr>
            <p:cNvPr id="45" name="影響3"/>
            <p:cNvSpPr/>
            <p:nvPr/>
          </p:nvSpPr>
          <p:spPr>
            <a:xfrm>
              <a:off x="5086350" y="4419600"/>
              <a:ext cx="24193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受注の6割が既存顧客の紹介</a:t>
              </a:r>
            </a:p>
          </p:txBody>
        </p:sp>
        <p:sp>
          <p:nvSpPr>
            <p:cNvPr id="46" name="真因ピル"/>
            <p:cNvSpPr/>
            <p:nvPr/>
          </p:nvSpPr>
          <p:spPr>
            <a:xfrm>
              <a:off x="6934200" y="4152900"/>
              <a:ext cx="552450" cy="2095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真因ピル文字"/>
            <p:cNvSpPr/>
            <p:nvPr/>
          </p:nvSpPr>
          <p:spPr>
            <a:xfrm>
              <a:off x="6934200" y="4162425"/>
              <a:ext cx="552450" cy="2000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真因</a:t>
              </a:r>
            </a:p>
          </p:txBody>
        </p:sp>
        <p:sp>
          <p:nvSpPr>
            <p:cNvPr id="48" name="真因説明"/>
            <p:cNvSpPr/>
            <p:nvPr/>
          </p:nvSpPr>
          <p:spPr>
            <a:xfrm>
              <a:off x="5086350" y="4629150"/>
              <a:ext cx="24193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dk1"/>
                  </a:solidFill>
                </a:rPr>
                <a:t>紹介は景気と既存顧客の状況に左右され、自社でコントロールできない</a:t>
              </a:r>
            </a:p>
          </p:txBody>
        </p:sp>
      </p:grpSp>
      <p:grpSp>
        <p:nvGrpSpPr>
          <p:cNvPr id="49" name="打ち手"/>
          <p:cNvGrpSpPr/>
          <p:nvPr/>
        </p:nvGrpSpPr>
        <p:grpSpPr>
          <a:xfrm>
            <a:off x="8477250" y="2009775"/>
            <a:ext cx="2895600" cy="3362325"/>
            <a:chOff x="8477250" y="2009775"/>
            <a:chExt cx="2895600" cy="3362325"/>
          </a:xfrm>
        </p:grpSpPr>
        <p:sp>
          <p:nvSpPr>
            <p:cNvPr id="50" name="番号1"/>
            <p:cNvSpPr/>
            <p:nvPr/>
          </p:nvSpPr>
          <p:spPr>
            <a:xfrm>
              <a:off x="8515350" y="20383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番号文字1"/>
            <p:cNvSpPr/>
            <p:nvPr/>
          </p:nvSpPr>
          <p:spPr>
            <a:xfrm>
              <a:off x="8515350" y="20478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52" name="打ち手名1"/>
            <p:cNvSpPr/>
            <p:nvPr/>
          </p:nvSpPr>
          <p:spPr>
            <a:xfrm>
              <a:off x="8896350" y="2009775"/>
              <a:ext cx="2476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200" b="1">
                  <a:solidFill>
                    <a:schemeClr val="dk2"/>
                  </a:solidFill>
                </a:rPr>
                <a:t>展示会×デジタル連動施策を再開</a:t>
              </a:r>
            </a:p>
          </p:txBody>
        </p:sp>
        <p:sp>
          <p:nvSpPr>
            <p:cNvPr id="53" name="効果1"/>
            <p:cNvSpPr/>
            <p:nvPr/>
          </p:nvSpPr>
          <p:spPr>
            <a:xfrm>
              <a:off x="8896350" y="236220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7月出展・リード300件を獲得</a:t>
              </a:r>
            </a:p>
          </p:txBody>
        </p:sp>
        <p:sp>
          <p:nvSpPr>
            <p:cNvPr id="54" name="番号2"/>
            <p:cNvSpPr/>
            <p:nvPr/>
          </p:nvSpPr>
          <p:spPr>
            <a:xfrm>
              <a:off x="8515350" y="29527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番号文字2"/>
            <p:cNvSpPr/>
            <p:nvPr/>
          </p:nvSpPr>
          <p:spPr>
            <a:xfrm>
              <a:off x="8515350" y="29622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56" name="打ち手名2"/>
            <p:cNvSpPr/>
            <p:nvPr/>
          </p:nvSpPr>
          <p:spPr>
            <a:xfrm>
              <a:off x="8896350" y="2924175"/>
              <a:ext cx="2476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200" b="1">
                  <a:solidFill>
                    <a:schemeClr val="dk2"/>
                  </a:solidFill>
                </a:rPr>
                <a:t>紹介プログラムの制度化</a:t>
              </a:r>
            </a:p>
          </p:txBody>
        </p:sp>
        <p:sp>
          <p:nvSpPr>
            <p:cNvPr id="57" name="効果2"/>
            <p:cNvSpPr/>
            <p:nvPr/>
          </p:nvSpPr>
          <p:spPr>
            <a:xfrm>
              <a:off x="8896350" y="327660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属人の紹介を仕組みに転換</a:t>
              </a:r>
            </a:p>
          </p:txBody>
        </p:sp>
        <p:sp>
          <p:nvSpPr>
            <p:cNvPr id="58" name="番号3"/>
            <p:cNvSpPr/>
            <p:nvPr/>
          </p:nvSpPr>
          <p:spPr>
            <a:xfrm>
              <a:off x="8515350" y="38671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番号文字3"/>
            <p:cNvSpPr/>
            <p:nvPr/>
          </p:nvSpPr>
          <p:spPr>
            <a:xfrm>
              <a:off x="8515350" y="38766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60" name="打ち手名3"/>
            <p:cNvSpPr/>
            <p:nvPr/>
          </p:nvSpPr>
          <p:spPr>
            <a:xfrm>
              <a:off x="8896350" y="3838575"/>
              <a:ext cx="2476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200" b="1">
                  <a:solidFill>
                    <a:schemeClr val="dk2"/>
                  </a:solidFill>
                </a:rPr>
                <a:t>インサイドセールスを新設</a:t>
              </a:r>
            </a:p>
          </p:txBody>
        </p:sp>
        <p:sp>
          <p:nvSpPr>
            <p:cNvPr id="61" name="効果3"/>
            <p:cNvSpPr/>
            <p:nvPr/>
          </p:nvSpPr>
          <p:spPr>
            <a:xfrm>
              <a:off x="8896350" y="419100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商談化率を30%→35%へ</a:t>
              </a:r>
            </a:p>
          </p:txBody>
        </p:sp>
        <p:sp>
          <p:nvSpPr>
            <p:cNvPr id="62" name="結論帯"/>
            <p:cNvSpPr/>
            <p:nvPr/>
          </p:nvSpPr>
          <p:spPr>
            <a:xfrm>
              <a:off x="8477250" y="4914900"/>
              <a:ext cx="2857500" cy="4572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結論文字"/>
            <p:cNvSpPr/>
            <p:nvPr/>
          </p:nvSpPr>
          <p:spPr>
            <a:xfrm>
              <a:off x="8477250" y="4924425"/>
              <a:ext cx="28575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8月に受注230件へ回復させる</a:t>
              </a:r>
            </a:p>
          </p:txBody>
        </p:sp>
      </p:grp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9525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報告書レイアウトライブラリ｜計画・依頼　P-1 来月の重点3つ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7月の重点は3つに絞る。担当と期日はすべて確定済み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注：期待効果は月次換算の見込み。優先度順に記載。内容は架空サンプル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出所：架空のサンプルデータ（経営企画部とりまとめを想定した創作値）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17</a:t>
              </a:r>
            </a:p>
          </p:txBody>
        </p:sp>
      </p:grpSp>
      <p:grpSp>
        <p:nvGrpSpPr>
          <p:cNvPr id="11" name="重点1"/>
          <p:cNvGrpSpPr/>
          <p:nvPr/>
        </p:nvGrpSpPr>
        <p:grpSpPr>
          <a:xfrm>
            <a:off x="666750" y="1352550"/>
            <a:ext cx="10858500" cy="1333500"/>
            <a:chOff x="666750" y="1352550"/>
            <a:chExt cx="10858500" cy="1333500"/>
          </a:xfrm>
        </p:grpSpPr>
        <p:sp>
          <p:nvSpPr>
            <p:cNvPr id="12" name="カード"/>
            <p:cNvSpPr/>
            <p:nvPr/>
          </p:nvSpPr>
          <p:spPr>
            <a:xfrm>
              <a:off x="666750" y="1352550"/>
              <a:ext cx="10858500" cy="1333500"/>
            </a:xfrm>
            <a:prstGeom prst="roundRect">
              <a:avLst>
                <a:gd name="adj" fmla="val 714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優先番号丸"/>
            <p:cNvSpPr/>
            <p:nvPr/>
          </p:nvSpPr>
          <p:spPr>
            <a:xfrm>
              <a:off x="933450" y="1771650"/>
              <a:ext cx="495300" cy="495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優先番号"/>
            <p:cNvSpPr/>
            <p:nvPr/>
          </p:nvSpPr>
          <p:spPr>
            <a:xfrm>
              <a:off x="933450" y="1781175"/>
              <a:ext cx="4953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15" name="アクション名"/>
            <p:cNvSpPr/>
            <p:nvPr/>
          </p:nvSpPr>
          <p:spPr>
            <a:xfrm>
              <a:off x="1695450" y="1619250"/>
              <a:ext cx="5334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50" b="1">
                  <a:solidFill>
                    <a:schemeClr val="dk2"/>
                  </a:solidFill>
                </a:rPr>
                <a:t>価格改定の顧客交渉を開始</a:t>
              </a:r>
            </a:p>
          </p:txBody>
        </p:sp>
        <p:sp>
          <p:nvSpPr>
            <p:cNvPr id="16" name="内容"/>
            <p:cNvSpPr/>
            <p:nvPr/>
          </p:nvSpPr>
          <p:spPr>
            <a:xfrm>
              <a:off x="1695450" y="1943100"/>
              <a:ext cx="53340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上位30社から順次。改定率は平均+3%、説明資料は準備済み</a:t>
              </a:r>
            </a:p>
          </p:txBody>
        </p:sp>
        <p:cxnSp>
          <p:nvCxnSpPr>
            <p:cNvPr id="17" name="仕切り線"/>
            <p:cNvCxnSpPr/>
            <p:nvPr/>
          </p:nvCxnSpPr>
          <p:spPr>
            <a:xfrm>
              <a:off x="7239000" y="1562100"/>
              <a:ext cx="0" cy="9144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担当ラベル"/>
            <p:cNvSpPr/>
            <p:nvPr/>
          </p:nvSpPr>
          <p:spPr>
            <a:xfrm>
              <a:off x="7505700" y="1581150"/>
              <a:ext cx="12382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担当</a:t>
              </a:r>
            </a:p>
          </p:txBody>
        </p:sp>
        <p:sp>
          <p:nvSpPr>
            <p:cNvPr id="19" name="担当"/>
            <p:cNvSpPr/>
            <p:nvPr/>
          </p:nvSpPr>
          <p:spPr>
            <a:xfrm>
              <a:off x="7505700" y="1771650"/>
              <a:ext cx="1809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営業本部長</a:t>
              </a:r>
            </a:p>
          </p:txBody>
        </p:sp>
        <p:sp>
          <p:nvSpPr>
            <p:cNvPr id="20" name="期日チップ"/>
            <p:cNvSpPr/>
            <p:nvPr/>
          </p:nvSpPr>
          <p:spPr>
            <a:xfrm>
              <a:off x="7505700" y="2095500"/>
              <a:ext cx="800100" cy="3048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期日"/>
            <p:cNvSpPr/>
            <p:nvPr/>
          </p:nvSpPr>
          <p:spPr>
            <a:xfrm>
              <a:off x="7505700" y="2105025"/>
              <a:ext cx="8001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7/15</a:t>
              </a:r>
            </a:p>
          </p:txBody>
        </p:sp>
        <p:sp>
          <p:nvSpPr>
            <p:cNvPr id="22" name="効果ラベル"/>
            <p:cNvSpPr/>
            <p:nvPr/>
          </p:nvSpPr>
          <p:spPr>
            <a:xfrm>
              <a:off x="9525000" y="1581150"/>
              <a:ext cx="1809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期待効果</a:t>
              </a:r>
            </a:p>
          </p:txBody>
        </p:sp>
        <p:sp>
          <p:nvSpPr>
            <p:cNvPr id="23" name="効果"/>
            <p:cNvSpPr/>
            <p:nvPr/>
          </p:nvSpPr>
          <p:spPr>
            <a:xfrm>
              <a:off x="9525000" y="1771650"/>
              <a:ext cx="18097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300" b="1">
                  <a:solidFill>
                    <a:schemeClr val="accent1"/>
                  </a:solidFill>
                </a:rPr>
                <a:t>粗利率 +0.9pt</a:t>
              </a:r>
            </a:p>
          </p:txBody>
        </p:sp>
      </p:grpSp>
      <p:grpSp>
        <p:nvGrpSpPr>
          <p:cNvPr id="24" name="重点2"/>
          <p:cNvGrpSpPr/>
          <p:nvPr/>
        </p:nvGrpSpPr>
        <p:grpSpPr>
          <a:xfrm>
            <a:off x="666750" y="2895600"/>
            <a:ext cx="10858500" cy="1333500"/>
            <a:chOff x="666750" y="2895600"/>
            <a:chExt cx="10858500" cy="1333500"/>
          </a:xfrm>
        </p:grpSpPr>
        <p:sp>
          <p:nvSpPr>
            <p:cNvPr id="25" name="カード"/>
            <p:cNvSpPr/>
            <p:nvPr/>
          </p:nvSpPr>
          <p:spPr>
            <a:xfrm>
              <a:off x="666750" y="2895600"/>
              <a:ext cx="10858500" cy="1333500"/>
            </a:xfrm>
            <a:prstGeom prst="roundRect">
              <a:avLst>
                <a:gd name="adj" fmla="val 714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優先番号丸"/>
            <p:cNvSpPr/>
            <p:nvPr/>
          </p:nvSpPr>
          <p:spPr>
            <a:xfrm>
              <a:off x="933450" y="331470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優先番号"/>
            <p:cNvSpPr/>
            <p:nvPr/>
          </p:nvSpPr>
          <p:spPr>
            <a:xfrm>
              <a:off x="933450" y="3324225"/>
              <a:ext cx="4953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28" name="アクション名"/>
            <p:cNvSpPr/>
            <p:nvPr/>
          </p:nvSpPr>
          <p:spPr>
            <a:xfrm>
              <a:off x="1695450" y="3162300"/>
              <a:ext cx="5334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50" b="1">
                  <a:solidFill>
                    <a:schemeClr val="dk2"/>
                  </a:solidFill>
                </a:rPr>
                <a:t>新規リード獲得施策を投下</a:t>
              </a:r>
            </a:p>
          </p:txBody>
        </p:sp>
        <p:sp>
          <p:nvSpPr>
            <p:cNvPr id="29" name="内容"/>
            <p:cNvSpPr/>
            <p:nvPr/>
          </p:nvSpPr>
          <p:spPr>
            <a:xfrm>
              <a:off x="1695450" y="3486150"/>
              <a:ext cx="53340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展示会×デジタル連動。リード300件・商談90件を獲得する</a:t>
              </a:r>
            </a:p>
          </p:txBody>
        </p:sp>
        <p:cxnSp>
          <p:nvCxnSpPr>
            <p:cNvPr id="30" name="仕切り線"/>
            <p:cNvCxnSpPr/>
            <p:nvPr/>
          </p:nvCxnSpPr>
          <p:spPr>
            <a:xfrm>
              <a:off x="7239000" y="3105150"/>
              <a:ext cx="0" cy="9144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担当ラベル"/>
            <p:cNvSpPr/>
            <p:nvPr/>
          </p:nvSpPr>
          <p:spPr>
            <a:xfrm>
              <a:off x="7505700" y="3124200"/>
              <a:ext cx="12382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担当</a:t>
              </a:r>
            </a:p>
          </p:txBody>
        </p:sp>
        <p:sp>
          <p:nvSpPr>
            <p:cNvPr id="32" name="担当"/>
            <p:cNvSpPr/>
            <p:nvPr/>
          </p:nvSpPr>
          <p:spPr>
            <a:xfrm>
              <a:off x="7505700" y="3314700"/>
              <a:ext cx="1809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マーケティング部長</a:t>
              </a:r>
            </a:p>
          </p:txBody>
        </p:sp>
        <p:sp>
          <p:nvSpPr>
            <p:cNvPr id="33" name="期日チップ"/>
            <p:cNvSpPr/>
            <p:nvPr/>
          </p:nvSpPr>
          <p:spPr>
            <a:xfrm>
              <a:off x="7505700" y="3638550"/>
              <a:ext cx="800100" cy="3048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期日"/>
            <p:cNvSpPr/>
            <p:nvPr/>
          </p:nvSpPr>
          <p:spPr>
            <a:xfrm>
              <a:off x="7505700" y="3648075"/>
              <a:ext cx="8001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7/10</a:t>
              </a:r>
            </a:p>
          </p:txBody>
        </p:sp>
        <p:sp>
          <p:nvSpPr>
            <p:cNvPr id="35" name="効果ラベル"/>
            <p:cNvSpPr/>
            <p:nvPr/>
          </p:nvSpPr>
          <p:spPr>
            <a:xfrm>
              <a:off x="9525000" y="3124200"/>
              <a:ext cx="1809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期待効果</a:t>
              </a:r>
            </a:p>
          </p:txBody>
        </p:sp>
        <p:sp>
          <p:nvSpPr>
            <p:cNvPr id="36" name="効果"/>
            <p:cNvSpPr/>
            <p:nvPr/>
          </p:nvSpPr>
          <p:spPr>
            <a:xfrm>
              <a:off x="9525000" y="3314700"/>
              <a:ext cx="18097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300" b="1">
                  <a:solidFill>
                    <a:schemeClr val="accent1"/>
                  </a:solidFill>
                </a:rPr>
                <a:t>受注 230件へ回復</a:t>
              </a:r>
            </a:p>
          </p:txBody>
        </p:sp>
      </p:grpSp>
      <p:grpSp>
        <p:nvGrpSpPr>
          <p:cNvPr id="37" name="重点3"/>
          <p:cNvGrpSpPr/>
          <p:nvPr/>
        </p:nvGrpSpPr>
        <p:grpSpPr>
          <a:xfrm>
            <a:off x="666750" y="4438650"/>
            <a:ext cx="10858500" cy="1333500"/>
            <a:chOff x="666750" y="4438650"/>
            <a:chExt cx="10858500" cy="1333500"/>
          </a:xfrm>
        </p:grpSpPr>
        <p:sp>
          <p:nvSpPr>
            <p:cNvPr id="38" name="カード"/>
            <p:cNvSpPr/>
            <p:nvPr/>
          </p:nvSpPr>
          <p:spPr>
            <a:xfrm>
              <a:off x="666750" y="4438650"/>
              <a:ext cx="10858500" cy="1333500"/>
            </a:xfrm>
            <a:prstGeom prst="roundRect">
              <a:avLst>
                <a:gd name="adj" fmla="val 714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優先番号丸"/>
            <p:cNvSpPr/>
            <p:nvPr/>
          </p:nvSpPr>
          <p:spPr>
            <a:xfrm>
              <a:off x="933450" y="48577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優先番号"/>
            <p:cNvSpPr/>
            <p:nvPr/>
          </p:nvSpPr>
          <p:spPr>
            <a:xfrm>
              <a:off x="933450" y="4867275"/>
              <a:ext cx="495300" cy="4762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41" name="アクション名"/>
            <p:cNvSpPr/>
            <p:nvPr/>
          </p:nvSpPr>
          <p:spPr>
            <a:xfrm>
              <a:off x="1695450" y="4705350"/>
              <a:ext cx="53340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50" b="1">
                  <a:solidFill>
                    <a:schemeClr val="dk2"/>
                  </a:solidFill>
                </a:rPr>
                <a:t>調達複線化の契約を締結</a:t>
              </a:r>
            </a:p>
          </p:txBody>
        </p:sp>
        <p:sp>
          <p:nvSpPr>
            <p:cNvPr id="42" name="内容"/>
            <p:cNvSpPr/>
            <p:nvPr/>
          </p:nvSpPr>
          <p:spPr>
            <a:xfrm>
              <a:off x="1695450" y="5029200"/>
              <a:ext cx="53340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accent5"/>
                  </a:solidFill>
                </a:rPr>
                <a:t>主要2品目で二社目調達。単価▲4%の見積を取得済み</a:t>
              </a:r>
            </a:p>
          </p:txBody>
        </p:sp>
        <p:cxnSp>
          <p:nvCxnSpPr>
            <p:cNvPr id="43" name="仕切り線"/>
            <p:cNvCxnSpPr/>
            <p:nvPr/>
          </p:nvCxnSpPr>
          <p:spPr>
            <a:xfrm>
              <a:off x="7239000" y="4648200"/>
              <a:ext cx="0" cy="9144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担当ラベル"/>
            <p:cNvSpPr/>
            <p:nvPr/>
          </p:nvSpPr>
          <p:spPr>
            <a:xfrm>
              <a:off x="7505700" y="4667250"/>
              <a:ext cx="12382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担当</a:t>
              </a:r>
            </a:p>
          </p:txBody>
        </p:sp>
        <p:sp>
          <p:nvSpPr>
            <p:cNvPr id="45" name="担当"/>
            <p:cNvSpPr/>
            <p:nvPr/>
          </p:nvSpPr>
          <p:spPr>
            <a:xfrm>
              <a:off x="7505700" y="4857750"/>
              <a:ext cx="18097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購買部長</a:t>
              </a:r>
            </a:p>
          </p:txBody>
        </p:sp>
        <p:sp>
          <p:nvSpPr>
            <p:cNvPr id="46" name="期日チップ"/>
            <p:cNvSpPr/>
            <p:nvPr/>
          </p:nvSpPr>
          <p:spPr>
            <a:xfrm>
              <a:off x="7505700" y="5181600"/>
              <a:ext cx="800100" cy="3048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期日"/>
            <p:cNvSpPr/>
            <p:nvPr/>
          </p:nvSpPr>
          <p:spPr>
            <a:xfrm>
              <a:off x="7505700" y="5191125"/>
              <a:ext cx="8001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7/31</a:t>
              </a:r>
            </a:p>
          </p:txBody>
        </p:sp>
        <p:sp>
          <p:nvSpPr>
            <p:cNvPr id="48" name="効果ラベル"/>
            <p:cNvSpPr/>
            <p:nvPr/>
          </p:nvSpPr>
          <p:spPr>
            <a:xfrm>
              <a:off x="9525000" y="4667250"/>
              <a:ext cx="1809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期待効果</a:t>
              </a:r>
            </a:p>
          </p:txBody>
        </p:sp>
        <p:sp>
          <p:nvSpPr>
            <p:cNvPr id="49" name="効果"/>
            <p:cNvSpPr/>
            <p:nvPr/>
          </p:nvSpPr>
          <p:spPr>
            <a:xfrm>
              <a:off x="9525000" y="4857750"/>
              <a:ext cx="18097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5000"/>
                </a:lnSpc>
              </a:pPr>
              <a:r>
                <a:rPr sz="1300" b="1">
                  <a:solidFill>
                    <a:schemeClr val="accent1"/>
                  </a:solidFill>
                </a:rPr>
                <a:t>原価率 ▲0.4pt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22222"/>
      </a:dk1>
      <a:lt1>
        <a:srgbClr val="FFFFFF"/>
      </a:lt1>
      <a:dk2>
        <a:srgbClr val="063048"/>
      </a:dk2>
      <a:lt2>
        <a:srgbClr val="E7F1F6"/>
      </a:lt2>
      <a:accent1>
        <a:srgbClr val="065A82"/>
      </a:accent1>
      <a:accent2>
        <a:srgbClr val="D97706"/>
      </a:accent2>
      <a:accent3>
        <a:srgbClr val="3E8DAE"/>
      </a:accent3>
      <a:accent4>
        <a:srgbClr val="B9D7E4"/>
      </a:accent4>
      <a:accent5>
        <a:srgbClr val="6B7C85"/>
      </a:accent5>
      <a:accent6>
        <a:srgbClr val="DBE6E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