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表紙_扉面"/>
          <p:cNvGrpSpPr/>
          <p:nvPr/>
        </p:nvGrpSpPr>
        <p:grpSpPr>
          <a:xfrm>
            <a:off x="0" y="0"/>
            <a:ext cx="4381500" cy="6858000"/>
            <a:chOff x="0" y="0"/>
            <a:chExt cx="4381500" cy="6858000"/>
          </a:xfrm>
        </p:grpSpPr>
        <p:sp>
          <p:nvSpPr>
            <p:cNvPr id="4" name="扉面"/>
            <p:cNvSpPr/>
            <p:nvPr/>
          </p:nvSpPr>
          <p:spPr>
            <a:xfrm>
              <a:off x="0" y="0"/>
              <a:ext cx="43815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種別タグ（朱）"/>
            <p:cNvSpPr/>
            <p:nvPr/>
          </p:nvSpPr>
          <p:spPr>
            <a:xfrm>
              <a:off x="571500" y="1562100"/>
              <a:ext cx="11620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種別タグ文字"/>
            <p:cNvSpPr/>
            <p:nvPr/>
          </p:nvSpPr>
          <p:spPr>
            <a:xfrm>
              <a:off x="571500" y="1571625"/>
              <a:ext cx="11620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業務支援SaaS</a:t>
              </a:r>
            </a:p>
          </p:txBody>
        </p:sp>
        <p:sp>
          <p:nvSpPr>
            <p:cNvPr id="7" name="英字ラベル"/>
            <p:cNvSpPr/>
            <p:nvPr/>
          </p:nvSpPr>
          <p:spPr>
            <a:xfrm>
              <a:off x="571500" y="20193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SERVICE GUIDE</a:t>
              </a:r>
            </a:p>
          </p:txBody>
        </p:sp>
        <p:sp>
          <p:nvSpPr>
            <p:cNvPr id="8" name="サービス名"/>
            <p:cNvSpPr/>
            <p:nvPr/>
          </p:nvSpPr>
          <p:spPr>
            <a:xfrm>
              <a:off x="542925" y="2266950"/>
              <a:ext cx="36195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800" b="1">
                  <a:solidFill>
                    <a:schemeClr val="lt1"/>
                  </a:solidFill>
                </a:rPr>
                <a:t>SampleWorks</a:t>
              </a:r>
            </a:p>
          </p:txBody>
        </p:sp>
        <p:cxnSp>
          <p:nvCxnSpPr>
            <p:cNvPr id="9" name="小罫線"/>
            <p:cNvCxnSpPr/>
            <p:nvPr/>
          </p:nvCxnSpPr>
          <p:spPr>
            <a:xfrm>
              <a:off x="571500" y="2990850"/>
              <a:ext cx="457200" cy="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タグライン"/>
            <p:cNvSpPr/>
            <p:nvPr/>
          </p:nvSpPr>
          <p:spPr>
            <a:xfrm>
              <a:off x="571500" y="3162300"/>
              <a:ext cx="35433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lt1"/>
                  </a:solidFill>
                </a:rPr>
                <a:t>つくる時間を、考える時間へ。</a:t>
              </a:r>
            </a:p>
          </p:txBody>
        </p:sp>
        <p:sp>
          <p:nvSpPr>
            <p:cNvPr id="11" name="サブコピー"/>
            <p:cNvSpPr/>
            <p:nvPr/>
          </p:nvSpPr>
          <p:spPr>
            <a:xfrm>
              <a:off x="571500" y="3562350"/>
              <a:ext cx="35433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accent4"/>
                  </a:solidFill>
                </a:rPr>
                <a:t>日々の提案書・報告書づくりを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accent4"/>
                  </a:solidFill>
                </a:rPr>
                <a:t>“仕組み”で解決するクラウドサービス</a:t>
              </a:r>
            </a:p>
          </p:txBody>
        </p:sp>
        <p:sp>
          <p:nvSpPr>
            <p:cNvPr id="12" name="社名"/>
            <p:cNvSpPr/>
            <p:nvPr/>
          </p:nvSpPr>
          <p:spPr>
            <a:xfrm>
              <a:off x="571500" y="5905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株式会社サンプルワークス</a:t>
              </a:r>
            </a:p>
          </p:txBody>
        </p:sp>
        <p:sp>
          <p:nvSpPr>
            <p:cNvPr id="13" name="日付"/>
            <p:cNvSpPr/>
            <p:nvPr/>
          </p:nvSpPr>
          <p:spPr>
            <a:xfrm>
              <a:off x="571500" y="615315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2026.07</a:t>
              </a:r>
            </a:p>
          </p:txBody>
        </p:sp>
      </p:grpSp>
      <p:grpSp>
        <p:nvGrpSpPr>
          <p:cNvPr id="14" name="表紙_背景ドット"/>
          <p:cNvGrpSpPr/>
          <p:nvPr/>
        </p:nvGrpSpPr>
        <p:grpSpPr>
          <a:xfrm>
            <a:off x="5715000" y="1238250"/>
            <a:ext cx="5334000" cy="4000500"/>
            <a:chOff x="5715000" y="1238250"/>
            <a:chExt cx="5334000" cy="4000500"/>
          </a:xfrm>
        </p:grpSpPr>
        <p:sp>
          <p:nvSpPr>
            <p:cNvPr id="15" name="ドット範囲"/>
            <p:cNvSpPr/>
            <p:nvPr/>
          </p:nvSpPr>
          <p:spPr>
            <a:xfrm>
              <a:off x="5715000" y="1238250"/>
              <a:ext cx="5334000" cy="400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886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6267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648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029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7410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791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8172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8553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8934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9315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696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10077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10458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10839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886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6267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648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7029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410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7791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8172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553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934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9315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9696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0077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0458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10839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886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6267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6648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029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7410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7791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8172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8553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8934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9315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696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0077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0458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0839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886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267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648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029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410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791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8172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553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934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9315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9696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0077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0458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0839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5886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6267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6648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7029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410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791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8172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553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8934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9315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696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077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458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39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5886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6267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6648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7029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7410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7791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8172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8553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8934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9315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9696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0077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458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39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5886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6267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6648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7029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7410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7791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8172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8553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8934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9315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9696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077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458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839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5886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6267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6648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7029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7410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7791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8172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8553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8934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9315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9696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10077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10458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10839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5886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6267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6648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7029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7410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7791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8172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8553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8934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9315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9696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10077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10458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10839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5886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6267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6648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7029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7410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7791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8172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8553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8934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9315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9696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10077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10458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10839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6" name="表紙_ブラウザ枠"/>
          <p:cNvGrpSpPr/>
          <p:nvPr/>
        </p:nvGrpSpPr>
        <p:grpSpPr>
          <a:xfrm>
            <a:off x="5334000" y="1676400"/>
            <a:ext cx="6096000" cy="3429000"/>
            <a:chOff x="5334000" y="1676400"/>
            <a:chExt cx="6096000" cy="3429000"/>
          </a:xfrm>
        </p:grpSpPr>
        <p:sp>
          <p:nvSpPr>
            <p:cNvPr id="157" name="ブラウザ外枠"/>
            <p:cNvSpPr/>
            <p:nvPr/>
          </p:nvSpPr>
          <p:spPr>
            <a:xfrm>
              <a:off x="5334000" y="1676400"/>
              <a:ext cx="6096000" cy="34290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上バー"/>
            <p:cNvSpPr/>
            <p:nvPr/>
          </p:nvSpPr>
          <p:spPr>
            <a:xfrm>
              <a:off x="5343525" y="1685925"/>
              <a:ext cx="60769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上バー角消し"/>
            <p:cNvSpPr/>
            <p:nvPr/>
          </p:nvSpPr>
          <p:spPr>
            <a:xfrm>
              <a:off x="5343525" y="1905000"/>
              <a:ext cx="60769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0" name="バー区切り線"/>
            <p:cNvCxnSpPr/>
            <p:nvPr/>
          </p:nvCxnSpPr>
          <p:spPr>
            <a:xfrm>
              <a:off x="5343525" y="2009775"/>
              <a:ext cx="60769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丸3点_1"/>
            <p:cNvSpPr/>
            <p:nvPr/>
          </p:nvSpPr>
          <p:spPr>
            <a:xfrm>
              <a:off x="5438775" y="18002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丸3点_2"/>
            <p:cNvSpPr/>
            <p:nvPr/>
          </p:nvSpPr>
          <p:spPr>
            <a:xfrm>
              <a:off x="5591175" y="18002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丸3点_3"/>
            <p:cNvSpPr/>
            <p:nvPr/>
          </p:nvSpPr>
          <p:spPr>
            <a:xfrm>
              <a:off x="5743575" y="18002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URL欄"/>
            <p:cNvSpPr/>
            <p:nvPr/>
          </p:nvSpPr>
          <p:spPr>
            <a:xfrm>
              <a:off x="5943600" y="1752600"/>
              <a:ext cx="53721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URLテキスト"/>
            <p:cNvSpPr/>
            <p:nvPr/>
          </p:nvSpPr>
          <p:spPr>
            <a:xfrm>
              <a:off x="6057900" y="1752600"/>
              <a:ext cx="514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166" name="プレースホルダ"/>
            <p:cNvSpPr/>
            <p:nvPr/>
          </p:nvSpPr>
          <p:spPr>
            <a:xfrm>
              <a:off x="5448300" y="2019300"/>
              <a:ext cx="5867400" cy="297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サービス画面イメージをここに配置</a:t>
              </a:r>
            </a:p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（スクリーンショットに差し替え）</a:t>
              </a:r>
            </a:p>
          </p:txBody>
        </p:sp>
      </p:grpSp>
      <p:sp>
        <p:nvSpPr>
          <p:cNvPr id="167" name="Rectangle 166"/>
          <p:cNvSpPr/>
          <p:nvPr/>
        </p:nvSpPr>
        <p:spPr>
          <a:xfrm>
            <a:off x="5334000" y="5219700"/>
            <a:ext cx="6096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管理画面イメージ（プレースホルダ）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953000" y="6362700"/>
            <a:ext cx="6096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注：本資料に記載の名称・数値・事例はすべて架空のサンプルです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049000" y="6572250"/>
            <a:ext cx="571500" cy="133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課題｜PROBLEM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資料づくりの悩みは、どの部門でも同じ3つに行き着く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現場で聞かれる典型的な3つの声（例）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注：発言は複数企業へのヒアリングを要約した架空の例です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出所：導入検討企業ヒアリング（2026年・架空サンプル）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2</a:t>
            </a:r>
          </a:p>
        </p:txBody>
      </p:sp>
      <p:grpSp>
        <p:nvGrpSpPr>
          <p:cNvPr id="10" name="悩み01_時間の声"/>
          <p:cNvGrpSpPr/>
          <p:nvPr/>
        </p:nvGrpSpPr>
        <p:grpSpPr>
          <a:xfrm>
            <a:off x="571500" y="1352550"/>
            <a:ext cx="3429000" cy="2724150"/>
            <a:chOff x="571500" y="1352550"/>
            <a:chExt cx="3429000" cy="2724150"/>
          </a:xfrm>
        </p:grpSpPr>
        <p:sp>
          <p:nvSpPr>
            <p:cNvPr id="11" name="分類タグ"/>
            <p:cNvSpPr/>
            <p:nvPr/>
          </p:nvSpPr>
          <p:spPr>
            <a:xfrm>
              <a:off x="571500" y="13525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分類タグ文字"/>
            <p:cNvSpPr/>
            <p:nvPr/>
          </p:nvSpPr>
          <p:spPr>
            <a:xfrm>
              <a:off x="571500" y="13620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時間</a:t>
              </a:r>
            </a:p>
          </p:txBody>
        </p:sp>
        <p:sp>
          <p:nvSpPr>
            <p:cNvPr id="13" name="声の吹き出し"/>
            <p:cNvSpPr/>
            <p:nvPr/>
          </p:nvSpPr>
          <p:spPr>
            <a:xfrm>
              <a:off x="57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790575" y="1600200"/>
                  </a:lnTo>
                  <a:lnTo>
                    <a:pt x="685800" y="1771650"/>
                  </a:lnTo>
                  <a:lnTo>
                    <a:pt x="5810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1本の提案書に3時間。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本来やるべき顧客対応が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いつも後回しになる</a:t>
              </a:r>
            </a:p>
          </p:txBody>
        </p:sp>
        <p:sp>
          <p:nvSpPr>
            <p:cNvPr id="15" name="話者頭文字"/>
            <p:cNvSpPr/>
            <p:nvPr/>
          </p:nvSpPr>
          <p:spPr>
            <a:xfrm>
              <a:off x="666750" y="37528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頭文字"/>
            <p:cNvSpPr/>
            <p:nvPr/>
          </p:nvSpPr>
          <p:spPr>
            <a:xfrm>
              <a:off x="66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17" name="話者ラベル"/>
            <p:cNvSpPr/>
            <p:nvPr/>
          </p:nvSpPr>
          <p:spPr>
            <a:xfrm>
              <a:off x="110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営業部門｜課長</a:t>
              </a:r>
            </a:p>
          </p:txBody>
        </p:sp>
      </p:grpSp>
      <p:grpSp>
        <p:nvGrpSpPr>
          <p:cNvPr id="18" name="悩み02_品質の声"/>
          <p:cNvGrpSpPr/>
          <p:nvPr/>
        </p:nvGrpSpPr>
        <p:grpSpPr>
          <a:xfrm>
            <a:off x="4381500" y="1352550"/>
            <a:ext cx="3429000" cy="2724150"/>
            <a:chOff x="4381500" y="1352550"/>
            <a:chExt cx="3429000" cy="2724150"/>
          </a:xfrm>
        </p:grpSpPr>
        <p:sp>
          <p:nvSpPr>
            <p:cNvPr id="19" name="分類タグ"/>
            <p:cNvSpPr/>
            <p:nvPr/>
          </p:nvSpPr>
          <p:spPr>
            <a:xfrm>
              <a:off x="4381500" y="13525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分類タグ文字"/>
            <p:cNvSpPr/>
            <p:nvPr/>
          </p:nvSpPr>
          <p:spPr>
            <a:xfrm>
              <a:off x="4381500" y="13620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品質</a:t>
              </a:r>
            </a:p>
          </p:txBody>
        </p:sp>
        <p:sp>
          <p:nvSpPr>
            <p:cNvPr id="21" name="声の吹き出し"/>
            <p:cNvSpPr/>
            <p:nvPr/>
          </p:nvSpPr>
          <p:spPr>
            <a:xfrm>
              <a:off x="438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1819275" y="1600200"/>
                  </a:lnTo>
                  <a:lnTo>
                    <a:pt x="1714500" y="1771650"/>
                  </a:lnTo>
                  <a:lnTo>
                    <a:pt x="16097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1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作る人によって出来が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バラバラで、上司の手直しが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いつまでも減らない</a:t>
              </a:r>
            </a:p>
          </p:txBody>
        </p:sp>
        <p:sp>
          <p:nvSpPr>
            <p:cNvPr id="23" name="話者頭文字"/>
            <p:cNvSpPr/>
            <p:nvPr/>
          </p:nvSpPr>
          <p:spPr>
            <a:xfrm>
              <a:off x="4476750" y="3752850"/>
              <a:ext cx="323850" cy="3238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頭文字"/>
            <p:cNvSpPr/>
            <p:nvPr/>
          </p:nvSpPr>
          <p:spPr>
            <a:xfrm>
              <a:off x="447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B</a:t>
              </a:r>
            </a:p>
          </p:txBody>
        </p:sp>
        <p:sp>
          <p:nvSpPr>
            <p:cNvPr id="25" name="話者ラベル"/>
            <p:cNvSpPr/>
            <p:nvPr/>
          </p:nvSpPr>
          <p:spPr>
            <a:xfrm>
              <a:off x="491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企画部門｜部長</a:t>
              </a:r>
            </a:p>
          </p:txBody>
        </p:sp>
      </p:grpSp>
      <p:grpSp>
        <p:nvGrpSpPr>
          <p:cNvPr id="26" name="悩み03_共有の声"/>
          <p:cNvGrpSpPr/>
          <p:nvPr/>
        </p:nvGrpSpPr>
        <p:grpSpPr>
          <a:xfrm>
            <a:off x="8191500" y="1352550"/>
            <a:ext cx="3429000" cy="2724150"/>
            <a:chOff x="8191500" y="1352550"/>
            <a:chExt cx="3429000" cy="2724150"/>
          </a:xfrm>
        </p:grpSpPr>
        <p:sp>
          <p:nvSpPr>
            <p:cNvPr id="27" name="分類タグ"/>
            <p:cNvSpPr/>
            <p:nvPr/>
          </p:nvSpPr>
          <p:spPr>
            <a:xfrm>
              <a:off x="8191500" y="13525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分類タグ文字"/>
            <p:cNvSpPr/>
            <p:nvPr/>
          </p:nvSpPr>
          <p:spPr>
            <a:xfrm>
              <a:off x="8191500" y="13620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共有</a:t>
              </a:r>
            </a:p>
          </p:txBody>
        </p:sp>
        <p:sp>
          <p:nvSpPr>
            <p:cNvPr id="29" name="声の吹き出し"/>
            <p:cNvSpPr/>
            <p:nvPr/>
          </p:nvSpPr>
          <p:spPr>
            <a:xfrm>
              <a:off x="819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2847975" y="1600200"/>
                  </a:lnTo>
                  <a:lnTo>
                    <a:pt x="2743200" y="1771650"/>
                  </a:lnTo>
                  <a:lnTo>
                    <a:pt x="26384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32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最新版がどこにあるか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分からず、古い数字のまま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会議に出てしまう</a:t>
              </a:r>
            </a:p>
          </p:txBody>
        </p:sp>
        <p:sp>
          <p:nvSpPr>
            <p:cNvPr id="31" name="話者頭文字"/>
            <p:cNvSpPr/>
            <p:nvPr/>
          </p:nvSpPr>
          <p:spPr>
            <a:xfrm>
              <a:off x="8286750" y="3752850"/>
              <a:ext cx="323850" cy="3238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頭文字"/>
            <p:cNvSpPr/>
            <p:nvPr/>
          </p:nvSpPr>
          <p:spPr>
            <a:xfrm>
              <a:off x="828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C</a:t>
              </a:r>
            </a:p>
          </p:txBody>
        </p:sp>
        <p:sp>
          <p:nvSpPr>
            <p:cNvPr id="33" name="話者ラベル"/>
            <p:cNvSpPr/>
            <p:nvPr/>
          </p:nvSpPr>
          <p:spPr>
            <a:xfrm>
              <a:off x="872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管理部門｜リーダー</a:t>
              </a:r>
            </a:p>
          </p:txBody>
        </p:sp>
      </p:grpSp>
      <p:grpSp>
        <p:nvGrpSpPr>
          <p:cNvPr id="34" name="SoWhatボックス"/>
          <p:cNvGrpSpPr/>
          <p:nvPr/>
        </p:nvGrpSpPr>
        <p:grpSpPr>
          <a:xfrm>
            <a:off x="571500" y="4629150"/>
            <a:ext cx="11049000" cy="514350"/>
            <a:chOff x="571500" y="4629150"/>
            <a:chExt cx="11049000" cy="514350"/>
          </a:xfrm>
        </p:grpSpPr>
        <p:sp>
          <p:nvSpPr>
            <p:cNvPr id="35" name="示唆地"/>
            <p:cNvSpPr/>
            <p:nvPr/>
          </p:nvSpPr>
          <p:spPr>
            <a:xfrm>
              <a:off x="571500" y="46291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示唆ラベル"/>
            <p:cNvSpPr/>
            <p:nvPr/>
          </p:nvSpPr>
          <p:spPr>
            <a:xfrm>
              <a:off x="800100" y="46291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37" name="区切り縦線"/>
            <p:cNvCxnSpPr/>
            <p:nvPr/>
          </p:nvCxnSpPr>
          <p:spPr>
            <a:xfrm>
              <a:off x="1676400" y="47529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示唆本文"/>
            <p:cNvSpPr/>
            <p:nvPr/>
          </p:nvSpPr>
          <p:spPr>
            <a:xfrm>
              <a:off x="1866900" y="46291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3つの悩みは別々の問題ではない——原因がひとつだから、同時に起きる（次頁）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課題｜PROBLEM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悩みの正体は、個人のスキルではなく仕組みの不在にある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表面の悩みと根本原因の構造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注：構造化は当社ヒアリングフレームによる整理（架空サンプル）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出所：導入検討企業ヒアリング（2026年・架空サンプル）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76350"/>
            <a:ext cx="3238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表面の悩み（現場で起きること）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9000" y="1276350"/>
            <a:ext cx="438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根本原因（なぜ起きるか）</a:t>
            </a:r>
          </a:p>
        </p:txBody>
      </p:sp>
      <p:grpSp>
        <p:nvGrpSpPr>
          <p:cNvPr id="12" name="表面の悩み01_時間"/>
          <p:cNvGrpSpPr/>
          <p:nvPr/>
        </p:nvGrpSpPr>
        <p:grpSpPr>
          <a:xfrm>
            <a:off x="571500" y="1581150"/>
            <a:ext cx="3238500" cy="952500"/>
            <a:chOff x="571500" y="1581150"/>
            <a:chExt cx="3238500" cy="952500"/>
          </a:xfrm>
        </p:grpSpPr>
        <p:sp>
          <p:nvSpPr>
            <p:cNvPr id="13" name="悩みカード"/>
            <p:cNvSpPr/>
            <p:nvPr/>
          </p:nvSpPr>
          <p:spPr>
            <a:xfrm>
              <a:off x="571500" y="1581150"/>
              <a:ext cx="32385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分類タグ"/>
            <p:cNvSpPr/>
            <p:nvPr/>
          </p:nvSpPr>
          <p:spPr>
            <a:xfrm>
              <a:off x="723900" y="1714500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分類タグ文字"/>
            <p:cNvSpPr/>
            <p:nvPr/>
          </p:nvSpPr>
          <p:spPr>
            <a:xfrm>
              <a:off x="723900" y="1724025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時間</a:t>
              </a:r>
            </a:p>
          </p:txBody>
        </p:sp>
        <p:sp>
          <p:nvSpPr>
            <p:cNvPr id="16" name="悩み本文"/>
            <p:cNvSpPr/>
            <p:nvPr/>
          </p:nvSpPr>
          <p:spPr>
            <a:xfrm>
              <a:off x="723900" y="2038350"/>
              <a:ext cx="2933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作成のたびに数時間かかる</a:t>
              </a:r>
            </a:p>
          </p:txBody>
        </p:sp>
      </p:grpSp>
      <p:grpSp>
        <p:nvGrpSpPr>
          <p:cNvPr id="17" name="表面の悩み02_品質"/>
          <p:cNvGrpSpPr/>
          <p:nvPr/>
        </p:nvGrpSpPr>
        <p:grpSpPr>
          <a:xfrm>
            <a:off x="571500" y="2819400"/>
            <a:ext cx="3238500" cy="952500"/>
            <a:chOff x="571500" y="2819400"/>
            <a:chExt cx="3238500" cy="952500"/>
          </a:xfrm>
        </p:grpSpPr>
        <p:sp>
          <p:nvSpPr>
            <p:cNvPr id="18" name="悩みカード"/>
            <p:cNvSpPr/>
            <p:nvPr/>
          </p:nvSpPr>
          <p:spPr>
            <a:xfrm>
              <a:off x="571500" y="2819400"/>
              <a:ext cx="32385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分類タグ"/>
            <p:cNvSpPr/>
            <p:nvPr/>
          </p:nvSpPr>
          <p:spPr>
            <a:xfrm>
              <a:off x="723900" y="2952750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分類タグ文字"/>
            <p:cNvSpPr/>
            <p:nvPr/>
          </p:nvSpPr>
          <p:spPr>
            <a:xfrm>
              <a:off x="723900" y="2962275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品質</a:t>
              </a:r>
            </a:p>
          </p:txBody>
        </p:sp>
        <p:sp>
          <p:nvSpPr>
            <p:cNvPr id="21" name="悩み本文"/>
            <p:cNvSpPr/>
            <p:nvPr/>
          </p:nvSpPr>
          <p:spPr>
            <a:xfrm>
              <a:off x="723900" y="3276600"/>
              <a:ext cx="2933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人によって出来がばらつく</a:t>
              </a:r>
            </a:p>
          </p:txBody>
        </p:sp>
      </p:grpSp>
      <p:grpSp>
        <p:nvGrpSpPr>
          <p:cNvPr id="22" name="表面の悩み03_共有"/>
          <p:cNvGrpSpPr/>
          <p:nvPr/>
        </p:nvGrpSpPr>
        <p:grpSpPr>
          <a:xfrm>
            <a:off x="571500" y="4057650"/>
            <a:ext cx="3238500" cy="952500"/>
            <a:chOff x="571500" y="4057650"/>
            <a:chExt cx="3238500" cy="952500"/>
          </a:xfrm>
        </p:grpSpPr>
        <p:sp>
          <p:nvSpPr>
            <p:cNvPr id="23" name="悩みカード"/>
            <p:cNvSpPr/>
            <p:nvPr/>
          </p:nvSpPr>
          <p:spPr>
            <a:xfrm>
              <a:off x="571500" y="4057650"/>
              <a:ext cx="32385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分類タグ"/>
            <p:cNvSpPr/>
            <p:nvPr/>
          </p:nvSpPr>
          <p:spPr>
            <a:xfrm>
              <a:off x="723900" y="4191000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分類タグ文字"/>
            <p:cNvSpPr/>
            <p:nvPr/>
          </p:nvSpPr>
          <p:spPr>
            <a:xfrm>
              <a:off x="723900" y="4200525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共有</a:t>
              </a:r>
            </a:p>
          </p:txBody>
        </p:sp>
        <p:sp>
          <p:nvSpPr>
            <p:cNvPr id="26" name="悩み本文"/>
            <p:cNvSpPr/>
            <p:nvPr/>
          </p:nvSpPr>
          <p:spPr>
            <a:xfrm>
              <a:off x="723900" y="4514850"/>
              <a:ext cx="2933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最新版がどれか分からない</a:t>
              </a:r>
            </a:p>
          </p:txBody>
        </p:sp>
      </p:grpSp>
      <p:grpSp>
        <p:nvGrpSpPr>
          <p:cNvPr id="27" name="収束矢印"/>
          <p:cNvGrpSpPr/>
          <p:nvPr/>
        </p:nvGrpSpPr>
        <p:grpSpPr>
          <a:xfrm>
            <a:off x="3848100" y="2057400"/>
            <a:ext cx="3276600" cy="2476500"/>
            <a:chOff x="3848100" y="2057400"/>
            <a:chExt cx="3276600" cy="2476500"/>
          </a:xfrm>
        </p:grpSpPr>
        <p:cxnSp>
          <p:nvCxnSpPr>
            <p:cNvPr id="28" name="収束線・上"/>
            <p:cNvCxnSpPr/>
            <p:nvPr/>
          </p:nvCxnSpPr>
          <p:spPr>
            <a:xfrm>
              <a:off x="3848100" y="2057400"/>
              <a:ext cx="3276600" cy="11430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収束線・中"/>
            <p:cNvCxnSpPr/>
            <p:nvPr/>
          </p:nvCxnSpPr>
          <p:spPr>
            <a:xfrm>
              <a:off x="3848100" y="3295650"/>
              <a:ext cx="327660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収束線・下"/>
            <p:cNvCxnSpPr/>
            <p:nvPr/>
          </p:nvCxnSpPr>
          <p:spPr>
            <a:xfrm flipV="1">
              <a:off x="3848100" y="3390900"/>
              <a:ext cx="3276600" cy="11430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根本原因カード"/>
          <p:cNvGrpSpPr/>
          <p:nvPr/>
        </p:nvGrpSpPr>
        <p:grpSpPr>
          <a:xfrm>
            <a:off x="7239000" y="2381250"/>
            <a:ext cx="4381500" cy="1752600"/>
            <a:chOff x="7239000" y="2381250"/>
            <a:chExt cx="4381500" cy="1752600"/>
          </a:xfrm>
        </p:grpSpPr>
        <p:sp>
          <p:nvSpPr>
            <p:cNvPr id="32" name="根本原因ボックス"/>
            <p:cNvSpPr/>
            <p:nvPr/>
          </p:nvSpPr>
          <p:spPr>
            <a:xfrm>
              <a:off x="7239000" y="2495550"/>
              <a:ext cx="4381500" cy="1638300"/>
            </a:xfrm>
            <a:prstGeom prst="roundRect">
              <a:avLst>
                <a:gd name="adj" fmla="val 5813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根本原因本文"/>
            <p:cNvSpPr/>
            <p:nvPr/>
          </p:nvSpPr>
          <p:spPr>
            <a:xfrm>
              <a:off x="7486650" y="2819400"/>
              <a:ext cx="39243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550" b="1">
                  <a:solidFill>
                    <a:schemeClr val="lt1"/>
                  </a:solidFill>
                </a:rPr>
                <a:t>資料づくりが“個人任せ”のまま</a:t>
              </a:r>
            </a:p>
            <a:p>
              <a:pPr algn="l">
                <a:lnSpc>
                  <a:spcPct val="150000"/>
                </a:lnSpc>
              </a:pPr>
              <a:r>
                <a:rPr sz="1550" b="1">
                  <a:solidFill>
                    <a:schemeClr val="lt1"/>
                  </a:solidFill>
                </a:rPr>
                <a:t>仕組み化されていない</a:t>
              </a:r>
            </a:p>
          </p:txBody>
        </p:sp>
        <p:sp>
          <p:nvSpPr>
            <p:cNvPr id="34" name="根本原因補足"/>
            <p:cNvSpPr/>
            <p:nvPr/>
          </p:nvSpPr>
          <p:spPr>
            <a:xfrm>
              <a:off x="7486650" y="3619500"/>
              <a:ext cx="39243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4"/>
                  </a:solidFill>
                </a:rPr>
                <a:t>型・データ・置き場が、個人のPCと頭の中に閉じている</a:t>
              </a:r>
            </a:p>
          </p:txBody>
        </p:sp>
        <p:sp>
          <p:nvSpPr>
            <p:cNvPr id="35" name="本質タグ（朱）"/>
            <p:cNvSpPr/>
            <p:nvPr/>
          </p:nvSpPr>
          <p:spPr>
            <a:xfrm>
              <a:off x="10553700" y="2381250"/>
              <a:ext cx="9144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本質タグ文字"/>
            <p:cNvSpPr/>
            <p:nvPr/>
          </p:nvSpPr>
          <p:spPr>
            <a:xfrm>
              <a:off x="10553700" y="2390775"/>
              <a:ext cx="914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ここが本質</a:t>
              </a:r>
            </a:p>
          </p:txBody>
        </p:sp>
      </p:grpSp>
      <p:grpSp>
        <p:nvGrpSpPr>
          <p:cNvPr id="37" name="SoWhatボックス"/>
          <p:cNvGrpSpPr/>
          <p:nvPr/>
        </p:nvGrpSpPr>
        <p:grpSpPr>
          <a:xfrm>
            <a:off x="571500" y="5391150"/>
            <a:ext cx="11049000" cy="514350"/>
            <a:chOff x="571500" y="5391150"/>
            <a:chExt cx="11049000" cy="514350"/>
          </a:xfrm>
        </p:grpSpPr>
        <p:sp>
          <p:nvSpPr>
            <p:cNvPr id="38" name="示唆地"/>
            <p:cNvSpPr/>
            <p:nvPr/>
          </p:nvSpPr>
          <p:spPr>
            <a:xfrm>
              <a:off x="571500" y="53911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示唆ラベル"/>
            <p:cNvSpPr/>
            <p:nvPr/>
          </p:nvSpPr>
          <p:spPr>
            <a:xfrm>
              <a:off x="800100" y="53911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40" name="区切り縦線"/>
            <p:cNvCxnSpPr/>
            <p:nvPr/>
          </p:nvCxnSpPr>
          <p:spPr>
            <a:xfrm>
              <a:off x="1676400" y="55149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示唆本文"/>
            <p:cNvSpPr/>
            <p:nvPr/>
          </p:nvSpPr>
          <p:spPr>
            <a:xfrm>
              <a:off x="1866900" y="53911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解くべきは個人のスキルではなく仕組み——次頁で解決の全体像を示す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解決策｜SOLUTION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SampleWorksは、資料づくりの仕組みを丸ごと提供する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サービス全体像（データ → 資料 → 共有）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注：機能・構成は説明用に簡略化しています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出所：SampleWorksサービス仕様（架空サンプル）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4</a:t>
            </a:r>
          </a:p>
        </p:txBody>
      </p:sp>
      <p:grpSp>
        <p:nvGrpSpPr>
          <p:cNvPr id="10" name="全体像_入力"/>
          <p:cNvGrpSpPr/>
          <p:nvPr/>
        </p:nvGrpSpPr>
        <p:grpSpPr>
          <a:xfrm>
            <a:off x="571500" y="1809750"/>
            <a:ext cx="2286000" cy="2667000"/>
            <a:chOff x="571500" y="1809750"/>
            <a:chExt cx="2286000" cy="2667000"/>
          </a:xfrm>
        </p:grpSpPr>
        <p:sp>
          <p:nvSpPr>
            <p:cNvPr id="11" name="入力カード"/>
            <p:cNvSpPr/>
            <p:nvPr/>
          </p:nvSpPr>
          <p:spPr>
            <a:xfrm>
              <a:off x="571500" y="1809750"/>
              <a:ext cx="2286000" cy="26670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入力見出し"/>
            <p:cNvSpPr/>
            <p:nvPr/>
          </p:nvSpPr>
          <p:spPr>
            <a:xfrm>
              <a:off x="800100" y="2000250"/>
              <a:ext cx="1828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手元にあるもの</a:t>
              </a:r>
            </a:p>
          </p:txBody>
        </p:sp>
        <p:sp>
          <p:nvSpPr>
            <p:cNvPr id="13" name="点1"/>
            <p:cNvSpPr/>
            <p:nvPr/>
          </p:nvSpPr>
          <p:spPr>
            <a:xfrm>
              <a:off x="800100" y="2495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入力項目1"/>
            <p:cNvSpPr/>
            <p:nvPr/>
          </p:nvSpPr>
          <p:spPr>
            <a:xfrm>
              <a:off x="990600" y="2419350"/>
              <a:ext cx="1676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売上・実績データ</a:t>
              </a:r>
            </a:p>
          </p:txBody>
        </p:sp>
        <p:sp>
          <p:nvSpPr>
            <p:cNvPr id="15" name="点2"/>
            <p:cNvSpPr/>
            <p:nvPr/>
          </p:nvSpPr>
          <p:spPr>
            <a:xfrm>
              <a:off x="800100" y="30861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入力項目2"/>
            <p:cNvSpPr/>
            <p:nvPr/>
          </p:nvSpPr>
          <p:spPr>
            <a:xfrm>
              <a:off x="990600" y="3009900"/>
              <a:ext cx="1676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過去の提案書・報告書</a:t>
              </a:r>
            </a:p>
          </p:txBody>
        </p:sp>
        <p:sp>
          <p:nvSpPr>
            <p:cNvPr id="17" name="点3"/>
            <p:cNvSpPr/>
            <p:nvPr/>
          </p:nvSpPr>
          <p:spPr>
            <a:xfrm>
              <a:off x="800100" y="36766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入力項目3"/>
            <p:cNvSpPr/>
            <p:nvPr/>
          </p:nvSpPr>
          <p:spPr>
            <a:xfrm>
              <a:off x="990600" y="3600450"/>
              <a:ext cx="1676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会議メモ・議事録</a:t>
              </a:r>
            </a:p>
          </p:txBody>
        </p:sp>
      </p:grpSp>
      <p:grpSp>
        <p:nvGrpSpPr>
          <p:cNvPr id="19" name="全体像_矢印1"/>
          <p:cNvGrpSpPr/>
          <p:nvPr/>
        </p:nvGrpSpPr>
        <p:grpSpPr>
          <a:xfrm>
            <a:off x="2971800" y="2933700"/>
            <a:ext cx="685800" cy="419100"/>
            <a:chOff x="2971800" y="2933700"/>
            <a:chExt cx="685800" cy="419100"/>
          </a:xfrm>
        </p:grpSpPr>
        <p:sp>
          <p:nvSpPr>
            <p:cNvPr id="20" name="入力→本体"/>
            <p:cNvSpPr/>
            <p:nvPr/>
          </p:nvSpPr>
          <p:spPr>
            <a:xfrm>
              <a:off x="2971800" y="2933700"/>
              <a:ext cx="685800" cy="4191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全体像_本体"/>
          <p:cNvGrpSpPr/>
          <p:nvPr/>
        </p:nvGrpSpPr>
        <p:grpSpPr>
          <a:xfrm>
            <a:off x="3771900" y="1619250"/>
            <a:ext cx="4476750" cy="3048000"/>
            <a:chOff x="3771900" y="1619250"/>
            <a:chExt cx="4476750" cy="3048000"/>
          </a:xfrm>
        </p:grpSpPr>
        <p:sp>
          <p:nvSpPr>
            <p:cNvPr id="22" name="本体パネル"/>
            <p:cNvSpPr/>
            <p:nvPr/>
          </p:nvSpPr>
          <p:spPr>
            <a:xfrm>
              <a:off x="3771900" y="1619250"/>
              <a:ext cx="4476750" cy="3048000"/>
            </a:xfrm>
            <a:prstGeom prst="roundRect">
              <a:avLst>
                <a:gd name="adj" fmla="val 3750"/>
              </a:avLst>
            </a:prstGeom>
            <a:solidFill>
              <a:schemeClr val="accent1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本体ロゴ"/>
            <p:cNvSpPr/>
            <p:nvPr/>
          </p:nvSpPr>
          <p:spPr>
            <a:xfrm>
              <a:off x="3771900" y="1790700"/>
              <a:ext cx="447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lt1"/>
                  </a:solidFill>
                </a:rPr>
                <a:t>SampleWorks</a:t>
              </a:r>
            </a:p>
          </p:txBody>
        </p:sp>
        <p:sp>
          <p:nvSpPr>
            <p:cNvPr id="24" name="本体サブ"/>
            <p:cNvSpPr/>
            <p:nvPr/>
          </p:nvSpPr>
          <p:spPr>
            <a:xfrm>
              <a:off x="3771900" y="2114550"/>
              <a:ext cx="4476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資料作成クラウド</a:t>
              </a:r>
            </a:p>
          </p:txBody>
        </p:sp>
        <p:sp>
          <p:nvSpPr>
            <p:cNvPr id="25" name="機能01"/>
            <p:cNvSpPr/>
            <p:nvPr/>
          </p:nvSpPr>
          <p:spPr>
            <a:xfrm>
              <a:off x="4057650" y="2381250"/>
              <a:ext cx="39052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機能番号01"/>
            <p:cNvSpPr/>
            <p:nvPr/>
          </p:nvSpPr>
          <p:spPr>
            <a:xfrm>
              <a:off x="4229100" y="2457450"/>
              <a:ext cx="323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27" name="機能名01"/>
            <p:cNvSpPr/>
            <p:nvPr/>
          </p:nvSpPr>
          <p:spPr>
            <a:xfrm>
              <a:off x="4629150" y="24574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テンプレート100種</a:t>
              </a:r>
            </a:p>
          </p:txBody>
        </p:sp>
        <p:sp>
          <p:nvSpPr>
            <p:cNvPr id="28" name="機能説明01"/>
            <p:cNvSpPr/>
            <p:nvPr/>
          </p:nvSpPr>
          <p:spPr>
            <a:xfrm>
              <a:off x="4629150" y="2695575"/>
              <a:ext cx="3200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使う型を選ぶだけで始められる</a:t>
              </a:r>
            </a:p>
          </p:txBody>
        </p:sp>
        <p:sp>
          <p:nvSpPr>
            <p:cNvPr id="29" name="機能02"/>
            <p:cNvSpPr/>
            <p:nvPr/>
          </p:nvSpPr>
          <p:spPr>
            <a:xfrm>
              <a:off x="4057650" y="3105150"/>
              <a:ext cx="39052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機能番号02"/>
            <p:cNvSpPr/>
            <p:nvPr/>
          </p:nvSpPr>
          <p:spPr>
            <a:xfrm>
              <a:off x="4229100" y="3181350"/>
              <a:ext cx="323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31" name="機能名02"/>
            <p:cNvSpPr/>
            <p:nvPr/>
          </p:nvSpPr>
          <p:spPr>
            <a:xfrm>
              <a:off x="4629150" y="31813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自動レイアウト生成</a:t>
              </a:r>
            </a:p>
          </p:txBody>
        </p:sp>
        <p:sp>
          <p:nvSpPr>
            <p:cNvPr id="32" name="機能説明02"/>
            <p:cNvSpPr/>
            <p:nvPr/>
          </p:nvSpPr>
          <p:spPr>
            <a:xfrm>
              <a:off x="4629150" y="3419475"/>
              <a:ext cx="3200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データを流し込むと自動で整う</a:t>
              </a:r>
            </a:p>
          </p:txBody>
        </p:sp>
        <p:sp>
          <p:nvSpPr>
            <p:cNvPr id="33" name="機能03"/>
            <p:cNvSpPr/>
            <p:nvPr/>
          </p:nvSpPr>
          <p:spPr>
            <a:xfrm>
              <a:off x="4057650" y="3829050"/>
              <a:ext cx="39052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機能番号03"/>
            <p:cNvSpPr/>
            <p:nvPr/>
          </p:nvSpPr>
          <p:spPr>
            <a:xfrm>
              <a:off x="4229100" y="3905250"/>
              <a:ext cx="323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35" name="機能名03"/>
            <p:cNvSpPr/>
            <p:nvPr/>
          </p:nvSpPr>
          <p:spPr>
            <a:xfrm>
              <a:off x="4629150" y="39052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共有ワークスペース</a:t>
              </a:r>
            </a:p>
          </p:txBody>
        </p:sp>
        <p:sp>
          <p:nvSpPr>
            <p:cNvPr id="36" name="機能説明03"/>
            <p:cNvSpPr/>
            <p:nvPr/>
          </p:nvSpPr>
          <p:spPr>
            <a:xfrm>
              <a:off x="4629150" y="4143375"/>
              <a:ext cx="3200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いつでも最新版だけが共有される</a:t>
              </a:r>
            </a:p>
          </p:txBody>
        </p:sp>
      </p:grpSp>
      <p:grpSp>
        <p:nvGrpSpPr>
          <p:cNvPr id="37" name="全体像_矢印2"/>
          <p:cNvGrpSpPr/>
          <p:nvPr/>
        </p:nvGrpSpPr>
        <p:grpSpPr>
          <a:xfrm>
            <a:off x="8362950" y="2933700"/>
            <a:ext cx="685800" cy="419100"/>
            <a:chOff x="8362950" y="2933700"/>
            <a:chExt cx="685800" cy="419100"/>
          </a:xfrm>
        </p:grpSpPr>
        <p:sp>
          <p:nvSpPr>
            <p:cNvPr id="38" name="本体→出力"/>
            <p:cNvSpPr/>
            <p:nvPr/>
          </p:nvSpPr>
          <p:spPr>
            <a:xfrm>
              <a:off x="8362950" y="2933700"/>
              <a:ext cx="685800" cy="4191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全体像_出力"/>
          <p:cNvGrpSpPr/>
          <p:nvPr/>
        </p:nvGrpSpPr>
        <p:grpSpPr>
          <a:xfrm>
            <a:off x="9163050" y="1809750"/>
            <a:ext cx="2457450" cy="2667000"/>
            <a:chOff x="9163050" y="1809750"/>
            <a:chExt cx="2457450" cy="2667000"/>
          </a:xfrm>
        </p:grpSpPr>
        <p:sp>
          <p:nvSpPr>
            <p:cNvPr id="40" name="出力カード"/>
            <p:cNvSpPr/>
            <p:nvPr/>
          </p:nvSpPr>
          <p:spPr>
            <a:xfrm>
              <a:off x="9163050" y="1809750"/>
              <a:ext cx="2457450" cy="2667000"/>
            </a:xfrm>
            <a:prstGeom prst="roundRect">
              <a:avLst>
                <a:gd name="adj" fmla="val 31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出力見出し"/>
            <p:cNvSpPr/>
            <p:nvPr/>
          </p:nvSpPr>
          <p:spPr>
            <a:xfrm>
              <a:off x="9391650" y="200025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できあがるもの</a:t>
              </a:r>
            </a:p>
          </p:txBody>
        </p:sp>
        <p:sp>
          <p:nvSpPr>
            <p:cNvPr id="42" name="成果物1"/>
            <p:cNvSpPr/>
            <p:nvPr/>
          </p:nvSpPr>
          <p:spPr>
            <a:xfrm>
              <a:off x="9391650" y="2381250"/>
              <a:ext cx="200025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成果物名1"/>
            <p:cNvSpPr/>
            <p:nvPr/>
          </p:nvSpPr>
          <p:spPr>
            <a:xfrm>
              <a:off x="9391650" y="2390775"/>
              <a:ext cx="2000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提案書</a:t>
              </a:r>
            </a:p>
          </p:txBody>
        </p:sp>
        <p:sp>
          <p:nvSpPr>
            <p:cNvPr id="44" name="成果物2"/>
            <p:cNvSpPr/>
            <p:nvPr/>
          </p:nvSpPr>
          <p:spPr>
            <a:xfrm>
              <a:off x="9391650" y="3067050"/>
              <a:ext cx="200025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成果物名2"/>
            <p:cNvSpPr/>
            <p:nvPr/>
          </p:nvSpPr>
          <p:spPr>
            <a:xfrm>
              <a:off x="9391650" y="3076575"/>
              <a:ext cx="2000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月次報告</a:t>
              </a:r>
            </a:p>
          </p:txBody>
        </p:sp>
        <p:sp>
          <p:nvSpPr>
            <p:cNvPr id="46" name="成果物3"/>
            <p:cNvSpPr/>
            <p:nvPr/>
          </p:nvSpPr>
          <p:spPr>
            <a:xfrm>
              <a:off x="9391650" y="3752850"/>
              <a:ext cx="200025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成果物名3"/>
            <p:cNvSpPr/>
            <p:nvPr/>
          </p:nvSpPr>
          <p:spPr>
            <a:xfrm>
              <a:off x="9391650" y="3762375"/>
              <a:ext cx="2000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会議資料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571500" y="5048250"/>
            <a:ext cx="11049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350" b="1">
                <a:solidFill>
                  <a:schemeClr val="dk2"/>
                </a:solidFill>
              </a:rPr>
              <a:t>データを選ぶだけ——型・レイアウト・共有までを、この1つの仕組みが引き受ける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解決策｜SOLUTION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提供価値は「速い・揃う・見える」の3つに集約される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3つの提供価値と、それを支える機能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注：機能の提供範囲はプランにより異なります（9頁）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出所：SampleWorksサービス仕様（架空サンプル）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5</a:t>
            </a:r>
          </a:p>
        </p:txBody>
      </p:sp>
      <p:grpSp>
        <p:nvGrpSpPr>
          <p:cNvPr id="10" name="価値01_速い"/>
          <p:cNvGrpSpPr/>
          <p:nvPr/>
        </p:nvGrpSpPr>
        <p:grpSpPr>
          <a:xfrm>
            <a:off x="571500" y="1428750"/>
            <a:ext cx="3429000" cy="3238500"/>
            <a:chOff x="571500" y="1428750"/>
            <a:chExt cx="3429000" cy="3238500"/>
          </a:xfrm>
        </p:grpSpPr>
        <p:sp>
          <p:nvSpPr>
            <p:cNvPr id="11" name="速い_カード本体"/>
            <p:cNvSpPr/>
            <p:nvPr/>
          </p:nvSpPr>
          <p:spPr>
            <a:xfrm>
              <a:off x="571500" y="1428750"/>
              <a:ext cx="3429000" cy="323850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速い_見出し帯"/>
            <p:cNvSpPr/>
            <p:nvPr/>
          </p:nvSpPr>
          <p:spPr>
            <a:xfrm>
              <a:off x="571500" y="1428750"/>
              <a:ext cx="34290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速い_見出し帯・角"/>
            <p:cNvSpPr/>
            <p:nvPr/>
          </p:nvSpPr>
          <p:spPr>
            <a:xfrm>
              <a:off x="571500" y="1714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" y="1428750"/>
              <a:ext cx="3124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01　速い</a:t>
              </a:r>
            </a:p>
          </p:txBody>
        </p:sp>
        <p:sp>
          <p:nvSpPr>
            <p:cNvPr id="15" name="一行説明"/>
            <p:cNvSpPr/>
            <p:nvPr/>
          </p:nvSpPr>
          <p:spPr>
            <a:xfrm>
              <a:off x="800100" y="2209800"/>
              <a:ext cx="29718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資料1本あたりの作成時間を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半分以下にする</a:t>
              </a:r>
            </a:p>
          </p:txBody>
        </p:sp>
        <p:cxnSp>
          <p:nvCxnSpPr>
            <p:cNvPr id="16" name="区切り線"/>
            <p:cNvCxnSpPr/>
            <p:nvPr/>
          </p:nvCxnSpPr>
          <p:spPr>
            <a:xfrm>
              <a:off x="800100" y="2838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機能見出し"/>
            <p:cNvSpPr/>
            <p:nvPr/>
          </p:nvSpPr>
          <p:spPr>
            <a:xfrm>
              <a:off x="800100" y="29718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支える機能</a:t>
              </a:r>
            </a:p>
          </p:txBody>
        </p:sp>
        <p:sp>
          <p:nvSpPr>
            <p:cNvPr id="18" name="チェック1_丸"/>
            <p:cNvSpPr/>
            <p:nvPr/>
          </p:nvSpPr>
          <p:spPr>
            <a:xfrm>
              <a:off x="800100" y="3238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チェック1_チェック"/>
            <p:cNvSpPr/>
            <p:nvPr/>
          </p:nvSpPr>
          <p:spPr>
            <a:xfrm>
              <a:off x="800100" y="32385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機能1"/>
            <p:cNvSpPr/>
            <p:nvPr/>
          </p:nvSpPr>
          <p:spPr>
            <a:xfrm>
              <a:off x="1104900" y="321945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テンプレート100種</a:t>
              </a:r>
            </a:p>
          </p:txBody>
        </p:sp>
        <p:sp>
          <p:nvSpPr>
            <p:cNvPr id="21" name="チェック2_丸"/>
            <p:cNvSpPr/>
            <p:nvPr/>
          </p:nvSpPr>
          <p:spPr>
            <a:xfrm>
              <a:off x="800100" y="3676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チェック2_チェック"/>
            <p:cNvSpPr/>
            <p:nvPr/>
          </p:nvSpPr>
          <p:spPr>
            <a:xfrm>
              <a:off x="800100" y="36766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機能2"/>
            <p:cNvSpPr/>
            <p:nvPr/>
          </p:nvSpPr>
          <p:spPr>
            <a:xfrm>
              <a:off x="1104900" y="365760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自動レイアウト生成</a:t>
              </a:r>
            </a:p>
          </p:txBody>
        </p:sp>
      </p:grpSp>
      <p:grpSp>
        <p:nvGrpSpPr>
          <p:cNvPr id="24" name="価値02_揃う"/>
          <p:cNvGrpSpPr/>
          <p:nvPr/>
        </p:nvGrpSpPr>
        <p:grpSpPr>
          <a:xfrm>
            <a:off x="4381500" y="1428750"/>
            <a:ext cx="3429000" cy="3238500"/>
            <a:chOff x="4381500" y="1428750"/>
            <a:chExt cx="3429000" cy="3238500"/>
          </a:xfrm>
        </p:grpSpPr>
        <p:sp>
          <p:nvSpPr>
            <p:cNvPr id="25" name="揃う_カード本体"/>
            <p:cNvSpPr/>
            <p:nvPr/>
          </p:nvSpPr>
          <p:spPr>
            <a:xfrm>
              <a:off x="4381500" y="1428750"/>
              <a:ext cx="3429000" cy="323850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揃う_見出し帯"/>
            <p:cNvSpPr/>
            <p:nvPr/>
          </p:nvSpPr>
          <p:spPr>
            <a:xfrm>
              <a:off x="4381500" y="1428750"/>
              <a:ext cx="34290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揃う_見出し帯・角"/>
            <p:cNvSpPr/>
            <p:nvPr/>
          </p:nvSpPr>
          <p:spPr>
            <a:xfrm>
              <a:off x="4381500" y="1714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533900" y="1428750"/>
              <a:ext cx="3124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02　揃う</a:t>
              </a:r>
            </a:p>
          </p:txBody>
        </p:sp>
        <p:sp>
          <p:nvSpPr>
            <p:cNvPr id="29" name="一行説明"/>
            <p:cNvSpPr/>
            <p:nvPr/>
          </p:nvSpPr>
          <p:spPr>
            <a:xfrm>
              <a:off x="4610100" y="2209800"/>
              <a:ext cx="29718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部門を越えて資料の型と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表現を統一する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4610100" y="2838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機能見出し"/>
            <p:cNvSpPr/>
            <p:nvPr/>
          </p:nvSpPr>
          <p:spPr>
            <a:xfrm>
              <a:off x="4610100" y="29718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支える機能</a:t>
              </a:r>
            </a:p>
          </p:txBody>
        </p:sp>
        <p:sp>
          <p:nvSpPr>
            <p:cNvPr id="32" name="チェック1_丸"/>
            <p:cNvSpPr/>
            <p:nvPr/>
          </p:nvSpPr>
          <p:spPr>
            <a:xfrm>
              <a:off x="4610100" y="3238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チェック1_チェック"/>
            <p:cNvSpPr/>
            <p:nvPr/>
          </p:nvSpPr>
          <p:spPr>
            <a:xfrm>
              <a:off x="4610100" y="32385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機能1"/>
            <p:cNvSpPr/>
            <p:nvPr/>
          </p:nvSpPr>
          <p:spPr>
            <a:xfrm>
              <a:off x="4914900" y="321945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全社共通の型と表現ルール</a:t>
              </a:r>
            </a:p>
          </p:txBody>
        </p:sp>
        <p:sp>
          <p:nvSpPr>
            <p:cNvPr id="35" name="チェック2_丸"/>
            <p:cNvSpPr/>
            <p:nvPr/>
          </p:nvSpPr>
          <p:spPr>
            <a:xfrm>
              <a:off x="4610100" y="3676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チェック2_チェック"/>
            <p:cNvSpPr/>
            <p:nvPr/>
          </p:nvSpPr>
          <p:spPr>
            <a:xfrm>
              <a:off x="4610100" y="36766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機能2"/>
            <p:cNvSpPr/>
            <p:nvPr/>
          </p:nvSpPr>
          <p:spPr>
            <a:xfrm>
              <a:off x="4914900" y="365760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ブランド設定の一括適用</a:t>
              </a:r>
            </a:p>
          </p:txBody>
        </p:sp>
      </p:grpSp>
      <p:grpSp>
        <p:nvGrpSpPr>
          <p:cNvPr id="38" name="価値03_見える"/>
          <p:cNvGrpSpPr/>
          <p:nvPr/>
        </p:nvGrpSpPr>
        <p:grpSpPr>
          <a:xfrm>
            <a:off x="8191500" y="1428750"/>
            <a:ext cx="3429000" cy="3238500"/>
            <a:chOff x="8191500" y="1428750"/>
            <a:chExt cx="3429000" cy="3238500"/>
          </a:xfrm>
        </p:grpSpPr>
        <p:sp>
          <p:nvSpPr>
            <p:cNvPr id="39" name="見える_カード本体"/>
            <p:cNvSpPr/>
            <p:nvPr/>
          </p:nvSpPr>
          <p:spPr>
            <a:xfrm>
              <a:off x="8191500" y="1428750"/>
              <a:ext cx="3429000" cy="323850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見える_見出し帯"/>
            <p:cNvSpPr/>
            <p:nvPr/>
          </p:nvSpPr>
          <p:spPr>
            <a:xfrm>
              <a:off x="8191500" y="1428750"/>
              <a:ext cx="34290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見える_見出し帯・角"/>
            <p:cNvSpPr/>
            <p:nvPr/>
          </p:nvSpPr>
          <p:spPr>
            <a:xfrm>
              <a:off x="8191500" y="1714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343900" y="1428750"/>
              <a:ext cx="3124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03　見える</a:t>
              </a:r>
            </a:p>
          </p:txBody>
        </p:sp>
        <p:sp>
          <p:nvSpPr>
            <p:cNvPr id="43" name="一行説明"/>
            <p:cNvSpPr/>
            <p:nvPr/>
          </p:nvSpPr>
          <p:spPr>
            <a:xfrm>
              <a:off x="8420100" y="2209800"/>
              <a:ext cx="29718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最新版と利用状況が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ひと目で分かる</a:t>
              </a:r>
            </a:p>
          </p:txBody>
        </p:sp>
        <p:cxnSp>
          <p:nvCxnSpPr>
            <p:cNvPr id="44" name="区切り線"/>
            <p:cNvCxnSpPr/>
            <p:nvPr/>
          </p:nvCxnSpPr>
          <p:spPr>
            <a:xfrm>
              <a:off x="8420100" y="2838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機能見出し"/>
            <p:cNvSpPr/>
            <p:nvPr/>
          </p:nvSpPr>
          <p:spPr>
            <a:xfrm>
              <a:off x="8420100" y="29718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支える機能</a:t>
              </a:r>
            </a:p>
          </p:txBody>
        </p:sp>
        <p:sp>
          <p:nvSpPr>
            <p:cNvPr id="46" name="チェック1_丸"/>
            <p:cNvSpPr/>
            <p:nvPr/>
          </p:nvSpPr>
          <p:spPr>
            <a:xfrm>
              <a:off x="8420100" y="3238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チェック1_チェック"/>
            <p:cNvSpPr/>
            <p:nvPr/>
          </p:nvSpPr>
          <p:spPr>
            <a:xfrm>
              <a:off x="8420100" y="32385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機能1"/>
            <p:cNvSpPr/>
            <p:nvPr/>
          </p:nvSpPr>
          <p:spPr>
            <a:xfrm>
              <a:off x="8724900" y="321945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共有ワークスペース</a:t>
              </a:r>
            </a:p>
          </p:txBody>
        </p:sp>
        <p:sp>
          <p:nvSpPr>
            <p:cNvPr id="49" name="チェック2_丸"/>
            <p:cNvSpPr/>
            <p:nvPr/>
          </p:nvSpPr>
          <p:spPr>
            <a:xfrm>
              <a:off x="8420100" y="3676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チェック2_チェック"/>
            <p:cNvSpPr/>
            <p:nvPr/>
          </p:nvSpPr>
          <p:spPr>
            <a:xfrm>
              <a:off x="8420100" y="36766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機能2"/>
            <p:cNvSpPr/>
            <p:nvPr/>
          </p:nvSpPr>
          <p:spPr>
            <a:xfrm>
              <a:off x="8724900" y="365760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閲覧・利用ログ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571500" y="497205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01〜03は、2頁の悩み「時間・品質・共有」にそれぞれ対応している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解決策｜SOLUTION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操作は3ステップ。データを選べば資料は自動で仕上がる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利用イメージと操作の流れ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注：画面はイメージです。実際のUIとは異なる場合があります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出所：SampleWorksデモ環境（架空サンプル）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6</a:t>
            </a:r>
          </a:p>
        </p:txBody>
      </p:sp>
      <p:grpSp>
        <p:nvGrpSpPr>
          <p:cNvPr id="10" name="画面_ブラウザ枠"/>
          <p:cNvGrpSpPr/>
          <p:nvPr/>
        </p:nvGrpSpPr>
        <p:grpSpPr>
          <a:xfrm>
            <a:off x="571500" y="1428750"/>
            <a:ext cx="5905500" cy="3714750"/>
            <a:chOff x="571500" y="1428750"/>
            <a:chExt cx="5905500" cy="3714750"/>
          </a:xfrm>
        </p:grpSpPr>
        <p:sp>
          <p:nvSpPr>
            <p:cNvPr id="11" name="ブラウザ外枠"/>
            <p:cNvSpPr/>
            <p:nvPr/>
          </p:nvSpPr>
          <p:spPr>
            <a:xfrm>
              <a:off x="571500" y="1428750"/>
              <a:ext cx="5905500" cy="3714750"/>
            </a:xfrm>
            <a:prstGeom prst="roundRect">
              <a:avLst>
                <a:gd name="adj" fmla="val 2051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上バー"/>
            <p:cNvSpPr/>
            <p:nvPr/>
          </p:nvSpPr>
          <p:spPr>
            <a:xfrm>
              <a:off x="581025" y="1438275"/>
              <a:ext cx="58864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上バー角消し"/>
            <p:cNvSpPr/>
            <p:nvPr/>
          </p:nvSpPr>
          <p:spPr>
            <a:xfrm>
              <a:off x="581025" y="1657350"/>
              <a:ext cx="58864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バー区切り線"/>
            <p:cNvCxnSpPr/>
            <p:nvPr/>
          </p:nvCxnSpPr>
          <p:spPr>
            <a:xfrm>
              <a:off x="581025" y="1762125"/>
              <a:ext cx="588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丸3点_1"/>
            <p:cNvSpPr/>
            <p:nvPr/>
          </p:nvSpPr>
          <p:spPr>
            <a:xfrm>
              <a:off x="67627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丸3点_2"/>
            <p:cNvSpPr/>
            <p:nvPr/>
          </p:nvSpPr>
          <p:spPr>
            <a:xfrm>
              <a:off x="82867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丸3点_3"/>
            <p:cNvSpPr/>
            <p:nvPr/>
          </p:nvSpPr>
          <p:spPr>
            <a:xfrm>
              <a:off x="98107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URL欄"/>
            <p:cNvSpPr/>
            <p:nvPr/>
          </p:nvSpPr>
          <p:spPr>
            <a:xfrm>
              <a:off x="1181100" y="1504950"/>
              <a:ext cx="51816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URLテキスト"/>
            <p:cNvSpPr/>
            <p:nvPr/>
          </p:nvSpPr>
          <p:spPr>
            <a:xfrm>
              <a:off x="1295400" y="1504950"/>
              <a:ext cx="495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20" name="プレースホルダ"/>
            <p:cNvSpPr/>
            <p:nvPr/>
          </p:nvSpPr>
          <p:spPr>
            <a:xfrm>
              <a:off x="685800" y="1771650"/>
              <a:ext cx="5676900" cy="3257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画面イメージをここに配置</a:t>
              </a:r>
            </a:p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（スクリーンショットに差し替え）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571500" y="5257800"/>
            <a:ext cx="5905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管理画面（PC・ブラウザ）</a:t>
            </a:r>
          </a:p>
        </p:txBody>
      </p:sp>
      <p:grpSp>
        <p:nvGrpSpPr>
          <p:cNvPr id="22" name="操作ステップ01_データを選ぶ"/>
          <p:cNvGrpSpPr/>
          <p:nvPr/>
        </p:nvGrpSpPr>
        <p:grpSpPr>
          <a:xfrm>
            <a:off x="7048500" y="1543050"/>
            <a:ext cx="4419600" cy="666750"/>
            <a:chOff x="7048500" y="1543050"/>
            <a:chExt cx="4419600" cy="666750"/>
          </a:xfrm>
        </p:grpSpPr>
        <p:sp>
          <p:nvSpPr>
            <p:cNvPr id="23" name="番号円"/>
            <p:cNvSpPr/>
            <p:nvPr/>
          </p:nvSpPr>
          <p:spPr>
            <a:xfrm>
              <a:off x="7048500" y="15430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"/>
            <p:cNvSpPr/>
            <p:nvPr/>
          </p:nvSpPr>
          <p:spPr>
            <a:xfrm>
              <a:off x="7048500" y="155257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5" name="ステップ名"/>
            <p:cNvSpPr/>
            <p:nvPr/>
          </p:nvSpPr>
          <p:spPr>
            <a:xfrm>
              <a:off x="7658100" y="1562100"/>
              <a:ext cx="3619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データを選ぶ</a:t>
              </a:r>
            </a:p>
          </p:txBody>
        </p:sp>
        <p:sp>
          <p:nvSpPr>
            <p:cNvPr id="26" name="ステップ説明"/>
            <p:cNvSpPr/>
            <p:nvPr/>
          </p:nvSpPr>
          <p:spPr>
            <a:xfrm>
              <a:off x="7658100" y="1828800"/>
              <a:ext cx="3810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売上や実績のファイルをドラッグ、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または連携済みのデータから選択</a:t>
              </a:r>
            </a:p>
          </p:txBody>
        </p:sp>
      </p:grpSp>
      <p:grpSp>
        <p:nvGrpSpPr>
          <p:cNvPr id="27" name="操作ステップ02_テンプレートを選ぶ"/>
          <p:cNvGrpSpPr/>
          <p:nvPr/>
        </p:nvGrpSpPr>
        <p:grpSpPr>
          <a:xfrm>
            <a:off x="7048500" y="2800350"/>
            <a:ext cx="4419600" cy="666750"/>
            <a:chOff x="7048500" y="2800350"/>
            <a:chExt cx="4419600" cy="666750"/>
          </a:xfrm>
        </p:grpSpPr>
        <p:sp>
          <p:nvSpPr>
            <p:cNvPr id="28" name="番号円"/>
            <p:cNvSpPr/>
            <p:nvPr/>
          </p:nvSpPr>
          <p:spPr>
            <a:xfrm>
              <a:off x="7048500" y="28003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番号"/>
            <p:cNvSpPr/>
            <p:nvPr/>
          </p:nvSpPr>
          <p:spPr>
            <a:xfrm>
              <a:off x="7048500" y="280987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0" name="ステップ名"/>
            <p:cNvSpPr/>
            <p:nvPr/>
          </p:nvSpPr>
          <p:spPr>
            <a:xfrm>
              <a:off x="7658100" y="2819400"/>
              <a:ext cx="3619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テンプレートを選ぶ</a:t>
              </a:r>
            </a:p>
          </p:txBody>
        </p:sp>
        <p:sp>
          <p:nvSpPr>
            <p:cNvPr id="31" name="ステップ説明"/>
            <p:cNvSpPr/>
            <p:nvPr/>
          </p:nvSpPr>
          <p:spPr>
            <a:xfrm>
              <a:off x="7658100" y="3086100"/>
              <a:ext cx="3810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用途別100種から選ぶだけ。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自社の型の登録もできる</a:t>
              </a:r>
            </a:p>
          </p:txBody>
        </p:sp>
      </p:grpSp>
      <p:grpSp>
        <p:nvGrpSpPr>
          <p:cNvPr id="32" name="操作ステップ03_生成して共有する"/>
          <p:cNvGrpSpPr/>
          <p:nvPr/>
        </p:nvGrpSpPr>
        <p:grpSpPr>
          <a:xfrm>
            <a:off x="7048500" y="4057650"/>
            <a:ext cx="4419600" cy="666750"/>
            <a:chOff x="7048500" y="4057650"/>
            <a:chExt cx="4419600" cy="666750"/>
          </a:xfrm>
        </p:grpSpPr>
        <p:sp>
          <p:nvSpPr>
            <p:cNvPr id="33" name="番号円"/>
            <p:cNvSpPr/>
            <p:nvPr/>
          </p:nvSpPr>
          <p:spPr>
            <a:xfrm>
              <a:off x="7048500" y="40576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番号"/>
            <p:cNvSpPr/>
            <p:nvPr/>
          </p:nvSpPr>
          <p:spPr>
            <a:xfrm>
              <a:off x="7048500" y="406717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5" name="ステップ名"/>
            <p:cNvSpPr/>
            <p:nvPr/>
          </p:nvSpPr>
          <p:spPr>
            <a:xfrm>
              <a:off x="7658100" y="4076700"/>
              <a:ext cx="3619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生成して共有する</a:t>
              </a:r>
            </a:p>
          </p:txBody>
        </p:sp>
        <p:sp>
          <p:nvSpPr>
            <p:cNvPr id="36" name="ステップ説明"/>
            <p:cNvSpPr/>
            <p:nvPr/>
          </p:nvSpPr>
          <p:spPr>
            <a:xfrm>
              <a:off x="7658100" y="4343400"/>
              <a:ext cx="3810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レイアウトは自動で調整。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リンク共有で常に最新版が届く</a:t>
              </a:r>
            </a:p>
          </p:txBody>
        </p:sp>
      </p:grpSp>
      <p:grpSp>
        <p:nvGrpSpPr>
          <p:cNvPr id="37" name="操作ステップ矢印"/>
          <p:cNvGrpSpPr/>
          <p:nvPr/>
        </p:nvGrpSpPr>
        <p:grpSpPr>
          <a:xfrm>
            <a:off x="7258050" y="2038350"/>
            <a:ext cx="19050" cy="1943100"/>
            <a:chOff x="7258050" y="2038350"/>
            <a:chExt cx="19050" cy="1943100"/>
          </a:xfrm>
        </p:grpSpPr>
        <p:cxnSp>
          <p:nvCxnSpPr>
            <p:cNvPr id="38" name="1→2"/>
            <p:cNvCxnSpPr/>
            <p:nvPr/>
          </p:nvCxnSpPr>
          <p:spPr>
            <a:xfrm>
              <a:off x="7258050" y="2038350"/>
              <a:ext cx="0" cy="6858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2→3"/>
            <p:cNvCxnSpPr/>
            <p:nvPr/>
          </p:nvCxnSpPr>
          <p:spPr>
            <a:xfrm>
              <a:off x="7258050" y="3295650"/>
              <a:ext cx="0" cy="6858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所要時間タグ"/>
          <p:cNvGrpSpPr/>
          <p:nvPr/>
        </p:nvGrpSpPr>
        <p:grpSpPr>
          <a:xfrm>
            <a:off x="7658100" y="4762500"/>
            <a:ext cx="1409700" cy="285750"/>
            <a:chOff x="7658100" y="4762500"/>
            <a:chExt cx="1409700" cy="285750"/>
          </a:xfrm>
        </p:grpSpPr>
        <p:sp>
          <p:nvSpPr>
            <p:cNvPr id="41" name="タグ地（朱）"/>
            <p:cNvSpPr/>
            <p:nvPr/>
          </p:nvSpPr>
          <p:spPr>
            <a:xfrm>
              <a:off x="7658100" y="4762500"/>
              <a:ext cx="1409700" cy="285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タグ文字"/>
            <p:cNvSpPr/>
            <p:nvPr/>
          </p:nvSpPr>
          <p:spPr>
            <a:xfrm>
              <a:off x="7658100" y="4772025"/>
              <a:ext cx="1409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ここまで約3分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導入効果｜PROOF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導入3ヶ月で、資料作成の時間は半分以下になった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導入事例：株式会社サンプル製作所（製造業・従業員300名／架空）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注：数値は導入前後の実測比較に基づく架空のサンプル値です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出所：導入企業インタビュー（2026年6月・架空サンプル）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7</a:t>
            </a:r>
          </a:p>
        </p:txBody>
      </p:sp>
      <p:grpSp>
        <p:nvGrpSpPr>
          <p:cNvPr id="10" name="事例_顧客の声"/>
          <p:cNvGrpSpPr/>
          <p:nvPr/>
        </p:nvGrpSpPr>
        <p:grpSpPr>
          <a:xfrm>
            <a:off x="571500" y="1428750"/>
            <a:ext cx="4953000" cy="2190750"/>
            <a:chOff x="571500" y="1428750"/>
            <a:chExt cx="4953000" cy="2190750"/>
          </a:xfrm>
        </p:grpSpPr>
        <p:sp>
          <p:nvSpPr>
            <p:cNvPr id="11" name="声の吹き出し"/>
            <p:cNvSpPr/>
            <p:nvPr/>
          </p:nvSpPr>
          <p:spPr>
            <a:xfrm>
              <a:off x="571500" y="1428750"/>
              <a:ext cx="4953000" cy="1771650"/>
            </a:xfrm>
            <a:custGeom>
              <a:avLst/>
              <a:gdLst/>
              <a:ahLst/>
              <a:cxnLst/>
              <a:rect l="0" t="0" r="4953000" b="1600200"/>
              <a:pathLst>
                <a:path w="4953000" h="1771650">
                  <a:moveTo>
                    <a:pt x="76200" y="0"/>
                  </a:moveTo>
                  <a:lnTo>
                    <a:pt x="4876800" y="0"/>
                  </a:lnTo>
                  <a:arcTo wR="76200" hR="76200" stAng="16200000" swAng="5400000"/>
                  <a:lnTo>
                    <a:pt x="4953000" y="1524000"/>
                  </a:lnTo>
                  <a:arcTo wR="76200" hR="76200" stAng="0" swAng="5400000"/>
                  <a:lnTo>
                    <a:pt x="897255" y="1600200"/>
                  </a:lnTo>
                  <a:lnTo>
                    <a:pt x="792480" y="1771650"/>
                  </a:lnTo>
                  <a:lnTo>
                    <a:pt x="68770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04850" y="1428750"/>
              <a:ext cx="4686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「月曜の午前が丸ごと資料づくりで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消えていました。いまは定例前の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30分で終わり、浮いた時間で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顧客訪問を2件増やせています」</a:t>
              </a:r>
            </a:p>
          </p:txBody>
        </p:sp>
        <p:sp>
          <p:nvSpPr>
            <p:cNvPr id="13" name="話者頭文字"/>
            <p:cNvSpPr/>
            <p:nvPr/>
          </p:nvSpPr>
          <p:spPr>
            <a:xfrm>
              <a:off x="666750" y="32956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頭文字"/>
            <p:cNvSpPr/>
            <p:nvPr/>
          </p:nvSpPr>
          <p:spPr>
            <a:xfrm>
              <a:off x="666750" y="33051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S</a:t>
              </a:r>
            </a:p>
          </p:txBody>
        </p:sp>
        <p:sp>
          <p:nvSpPr>
            <p:cNvPr id="15" name="話者ラベル"/>
            <p:cNvSpPr/>
            <p:nvPr/>
          </p:nvSpPr>
          <p:spPr>
            <a:xfrm>
              <a:off x="1104900" y="3324225"/>
              <a:ext cx="36195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佐藤様（仮名）｜営業企画 部長</a:t>
              </a:r>
            </a:p>
          </p:txBody>
        </p:sp>
      </p:grpSp>
      <p:grpSp>
        <p:nvGrpSpPr>
          <p:cNvPr id="16" name="事例_導入概要"/>
          <p:cNvGrpSpPr/>
          <p:nvPr/>
        </p:nvGrpSpPr>
        <p:grpSpPr>
          <a:xfrm>
            <a:off x="571500" y="3886200"/>
            <a:ext cx="4953000" cy="2152650"/>
            <a:chOff x="571500" y="3886200"/>
            <a:chExt cx="4953000" cy="2152650"/>
          </a:xfrm>
        </p:grpSpPr>
        <p:sp>
          <p:nvSpPr>
            <p:cNvPr id="17" name="概要カード"/>
            <p:cNvSpPr/>
            <p:nvPr/>
          </p:nvSpPr>
          <p:spPr>
            <a:xfrm>
              <a:off x="571500" y="3886200"/>
              <a:ext cx="4953000" cy="2152650"/>
            </a:xfrm>
            <a:prstGeom prst="roundRect">
              <a:avLst>
                <a:gd name="adj" fmla="val 353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概要見出し"/>
            <p:cNvSpPr/>
            <p:nvPr/>
          </p:nvSpPr>
          <p:spPr>
            <a:xfrm>
              <a:off x="800100" y="4057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導入概要</a:t>
              </a:r>
            </a:p>
          </p:txBody>
        </p:sp>
        <p:sp>
          <p:nvSpPr>
            <p:cNvPr id="19" name="項目1"/>
            <p:cNvSpPr/>
            <p:nvPr/>
          </p:nvSpPr>
          <p:spPr>
            <a:xfrm>
              <a:off x="800100" y="44005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対象部門</a:t>
              </a:r>
            </a:p>
          </p:txBody>
        </p:sp>
        <p:sp>
          <p:nvSpPr>
            <p:cNvPr id="20" name="値1"/>
            <p:cNvSpPr/>
            <p:nvPr/>
          </p:nvSpPr>
          <p:spPr>
            <a:xfrm>
              <a:off x="1905000" y="4381500"/>
              <a:ext cx="3390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営業・営業企画 45名</a:t>
              </a:r>
            </a:p>
          </p:txBody>
        </p:sp>
        <p:cxnSp>
          <p:nvCxnSpPr>
            <p:cNvPr id="21" name="罫線1"/>
            <p:cNvCxnSpPr/>
            <p:nvPr/>
          </p:nvCxnSpPr>
          <p:spPr>
            <a:xfrm>
              <a:off x="800100" y="4781550"/>
              <a:ext cx="4495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項目2"/>
            <p:cNvSpPr/>
            <p:nvPr/>
          </p:nvSpPr>
          <p:spPr>
            <a:xfrm>
              <a:off x="800100" y="49339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導入期間</a:t>
              </a:r>
            </a:p>
          </p:txBody>
        </p:sp>
        <p:sp>
          <p:nvSpPr>
            <p:cNvPr id="23" name="値2"/>
            <p:cNvSpPr/>
            <p:nvPr/>
          </p:nvSpPr>
          <p:spPr>
            <a:xfrm>
              <a:off x="1905000" y="4914900"/>
              <a:ext cx="3390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申込みから2週間</a:t>
              </a:r>
            </a:p>
          </p:txBody>
        </p:sp>
        <p:cxnSp>
          <p:nvCxnSpPr>
            <p:cNvPr id="24" name="罫線2"/>
            <p:cNvCxnSpPr/>
            <p:nvPr/>
          </p:nvCxnSpPr>
          <p:spPr>
            <a:xfrm>
              <a:off x="800100" y="5314950"/>
              <a:ext cx="4495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項目3"/>
            <p:cNvSpPr/>
            <p:nvPr/>
          </p:nvSpPr>
          <p:spPr>
            <a:xfrm>
              <a:off x="800100" y="54673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利用範囲</a:t>
              </a:r>
            </a:p>
          </p:txBody>
        </p:sp>
        <p:sp>
          <p:nvSpPr>
            <p:cNvPr id="26" name="値3"/>
            <p:cNvSpPr/>
            <p:nvPr/>
          </p:nvSpPr>
          <p:spPr>
            <a:xfrm>
              <a:off x="1905000" y="5448300"/>
              <a:ext cx="3390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提案書・月次報告テンプレート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6096000" y="1314450"/>
            <a:ext cx="5524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資料作成時間（営業部門45名の週平均）</a:t>
            </a:r>
          </a:p>
        </p:txBody>
      </p:sp>
      <p:grpSp>
        <p:nvGrpSpPr>
          <p:cNvPr id="28" name="事例_BeforeAfter"/>
          <p:cNvGrpSpPr/>
          <p:nvPr/>
        </p:nvGrpSpPr>
        <p:grpSpPr>
          <a:xfrm>
            <a:off x="6096000" y="1409700"/>
            <a:ext cx="5524500" cy="1447800"/>
            <a:chOff x="6096000" y="1409700"/>
            <a:chExt cx="5524500" cy="1447800"/>
          </a:xfrm>
        </p:grpSpPr>
        <p:sp>
          <p:nvSpPr>
            <p:cNvPr id="29" name="Before箱"/>
            <p:cNvSpPr/>
            <p:nvPr/>
          </p:nvSpPr>
          <p:spPr>
            <a:xfrm>
              <a:off x="6096000" y="1714500"/>
              <a:ext cx="1905000" cy="1143000"/>
            </a:xfrm>
            <a:prstGeom prst="roundRect">
              <a:avLst>
                <a:gd name="adj" fmla="val 66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eforeラベル"/>
            <p:cNvSpPr/>
            <p:nvPr/>
          </p:nvSpPr>
          <p:spPr>
            <a:xfrm>
              <a:off x="6096000" y="1866900"/>
              <a:ext cx="190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31" name="Before値"/>
            <p:cNvSpPr/>
            <p:nvPr/>
          </p:nvSpPr>
          <p:spPr>
            <a:xfrm>
              <a:off x="6096000" y="2133600"/>
              <a:ext cx="1905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12時間/週</a:t>
              </a:r>
            </a:p>
          </p:txBody>
        </p:sp>
        <p:sp>
          <p:nvSpPr>
            <p:cNvPr id="32" name="効果太矢印"/>
            <p:cNvSpPr/>
            <p:nvPr/>
          </p:nvSpPr>
          <p:spPr>
            <a:xfrm>
              <a:off x="8115300" y="2000250"/>
              <a:ext cx="1485900" cy="5715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効果タグ（朱）"/>
            <p:cNvSpPr/>
            <p:nvPr/>
          </p:nvSpPr>
          <p:spPr>
            <a:xfrm>
              <a:off x="8362950" y="140970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効果タグ文字"/>
            <p:cNvSpPr/>
            <p:nvPr/>
          </p:nvSpPr>
          <p:spPr>
            <a:xfrm>
              <a:off x="8362950" y="1419225"/>
              <a:ext cx="9906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−58%</a:t>
              </a:r>
            </a:p>
          </p:txBody>
        </p:sp>
        <p:sp>
          <p:nvSpPr>
            <p:cNvPr id="35" name="After箱"/>
            <p:cNvSpPr/>
            <p:nvPr/>
          </p:nvSpPr>
          <p:spPr>
            <a:xfrm>
              <a:off x="9715500" y="1714500"/>
              <a:ext cx="1905000" cy="1143000"/>
            </a:xfrm>
            <a:prstGeom prst="roundRect">
              <a:avLst>
                <a:gd name="adj" fmla="val 66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Afterラベル"/>
            <p:cNvSpPr/>
            <p:nvPr/>
          </p:nvSpPr>
          <p:spPr>
            <a:xfrm>
              <a:off x="9715500" y="1866900"/>
              <a:ext cx="190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After</a:t>
              </a:r>
            </a:p>
          </p:txBody>
        </p:sp>
        <p:sp>
          <p:nvSpPr>
            <p:cNvPr id="37" name="After値"/>
            <p:cNvSpPr/>
            <p:nvPr/>
          </p:nvSpPr>
          <p:spPr>
            <a:xfrm>
              <a:off x="9715500" y="2133600"/>
              <a:ext cx="1905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lt1"/>
                  </a:solidFill>
                </a:rPr>
                <a:t>5時間/週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096000" y="3143250"/>
            <a:ext cx="552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solidFill>
                  <a:schemeClr val="dk1"/>
                </a:solidFill>
              </a:rPr>
              <a:t>上司の手直しも 月10件 → 3件 に減少</a:t>
            </a:r>
          </a:p>
        </p:txBody>
      </p:sp>
      <p:grpSp>
        <p:nvGrpSpPr>
          <p:cNvPr id="39" name="事例_成功要因"/>
          <p:cNvGrpSpPr/>
          <p:nvPr/>
        </p:nvGrpSpPr>
        <p:grpSpPr>
          <a:xfrm>
            <a:off x="6096000" y="3886200"/>
            <a:ext cx="5524500" cy="2152650"/>
            <a:chOff x="6096000" y="3886200"/>
            <a:chExt cx="5524500" cy="2152650"/>
          </a:xfrm>
        </p:grpSpPr>
        <p:sp>
          <p:nvSpPr>
            <p:cNvPr id="40" name="要因カード"/>
            <p:cNvSpPr/>
            <p:nvPr/>
          </p:nvSpPr>
          <p:spPr>
            <a:xfrm>
              <a:off x="6096000" y="3886200"/>
              <a:ext cx="5524500" cy="2152650"/>
            </a:xfrm>
            <a:prstGeom prst="roundRect">
              <a:avLst>
                <a:gd name="adj" fmla="val 353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要因見出し"/>
            <p:cNvSpPr/>
            <p:nvPr/>
          </p:nvSpPr>
          <p:spPr>
            <a:xfrm>
              <a:off x="6324600" y="405765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効果が出た3つの理由</a:t>
              </a:r>
            </a:p>
          </p:txBody>
        </p:sp>
        <p:sp>
          <p:nvSpPr>
            <p:cNvPr id="42" name="チェック1_丸"/>
            <p:cNvSpPr/>
            <p:nvPr/>
          </p:nvSpPr>
          <p:spPr>
            <a:xfrm>
              <a:off x="6324600" y="44196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チェック1_チェック"/>
            <p:cNvSpPr/>
            <p:nvPr/>
          </p:nvSpPr>
          <p:spPr>
            <a:xfrm>
              <a:off x="6324600" y="44196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理由1"/>
            <p:cNvSpPr/>
            <p:nvPr/>
          </p:nvSpPr>
          <p:spPr>
            <a:xfrm>
              <a:off x="6667500" y="4400550"/>
              <a:ext cx="476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既存の資料をテンプレート化してから移行した</a:t>
              </a:r>
            </a:p>
          </p:txBody>
        </p:sp>
        <p:sp>
          <p:nvSpPr>
            <p:cNvPr id="45" name="チェック2_丸"/>
            <p:cNvSpPr/>
            <p:nvPr/>
          </p:nvSpPr>
          <p:spPr>
            <a:xfrm>
              <a:off x="6324600" y="49339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チェック2_チェック"/>
            <p:cNvSpPr/>
            <p:nvPr/>
          </p:nvSpPr>
          <p:spPr>
            <a:xfrm>
              <a:off x="6324600" y="49339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理由2"/>
            <p:cNvSpPr/>
            <p:nvPr/>
          </p:nvSpPr>
          <p:spPr>
            <a:xfrm>
              <a:off x="6667500" y="4914900"/>
              <a:ext cx="476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初週に全員向けの30分研修を実施した</a:t>
              </a:r>
            </a:p>
          </p:txBody>
        </p:sp>
        <p:sp>
          <p:nvSpPr>
            <p:cNvPr id="48" name="チェック3_丸"/>
            <p:cNvSpPr/>
            <p:nvPr/>
          </p:nvSpPr>
          <p:spPr>
            <a:xfrm>
              <a:off x="6324600" y="54483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チェック3_チェック"/>
            <p:cNvSpPr/>
            <p:nvPr/>
          </p:nvSpPr>
          <p:spPr>
            <a:xfrm>
              <a:off x="6324600" y="54483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理由3"/>
            <p:cNvSpPr/>
            <p:nvPr/>
          </p:nvSpPr>
          <p:spPr>
            <a:xfrm>
              <a:off x="6667500" y="5429250"/>
              <a:ext cx="476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週次で利用ログを確認し、未利用者を支援した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導入効果｜PROOF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効果は時間の削減にとどまらず、品質と定着にも及ぶ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導入企業3社の平均効果（導入3ヶ月時点）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注：効果は利用状況・部門構成により異なります。数値は架空のサンプル値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出所：導入企業3社の利用ログ集計（2026年・架空サンプル）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8</a:t>
            </a:r>
          </a:p>
        </p:txBody>
      </p:sp>
      <p:grpSp>
        <p:nvGrpSpPr>
          <p:cNvPr id="10" name="効果KPI01_資料作成時間"/>
          <p:cNvGrpSpPr/>
          <p:nvPr/>
        </p:nvGrpSpPr>
        <p:grpSpPr>
          <a:xfrm>
            <a:off x="571500" y="1428750"/>
            <a:ext cx="3429000" cy="2190750"/>
            <a:chOff x="571500" y="1428750"/>
            <a:chExt cx="3429000" cy="2190750"/>
          </a:xfrm>
        </p:grpSpPr>
        <p:sp>
          <p:nvSpPr>
            <p:cNvPr id="11" name="KPIカード（濃色）"/>
            <p:cNvSpPr/>
            <p:nvPr/>
          </p:nvSpPr>
          <p:spPr>
            <a:xfrm>
              <a:off x="571500" y="1428750"/>
              <a:ext cx="3429000" cy="2190750"/>
            </a:xfrm>
            <a:prstGeom prst="roundRect">
              <a:avLst>
                <a:gd name="adj" fmla="val 3478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指標名"/>
            <p:cNvSpPr/>
            <p:nvPr/>
          </p:nvSpPr>
          <p:spPr>
            <a:xfrm>
              <a:off x="800100" y="1619250"/>
              <a:ext cx="2971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資料作成時間</a:t>
              </a:r>
            </a:p>
          </p:txBody>
        </p:sp>
        <p:sp>
          <p:nvSpPr>
            <p:cNvPr id="13" name="数値"/>
            <p:cNvSpPr/>
            <p:nvPr/>
          </p:nvSpPr>
          <p:spPr>
            <a:xfrm>
              <a:off x="800100" y="190500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600" b="1">
                  <a:solidFill>
                    <a:schemeClr val="accent2"/>
                  </a:solidFill>
                </a:rPr>
                <a:t>−58%</a:t>
              </a:r>
            </a:p>
          </p:txBody>
        </p:sp>
        <p:sp>
          <p:nvSpPr>
            <p:cNvPr id="14" name="内訳"/>
            <p:cNvSpPr/>
            <p:nvPr/>
          </p:nvSpPr>
          <p:spPr>
            <a:xfrm>
              <a:off x="800100" y="3143250"/>
              <a:ext cx="2971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週12時間 → 週5時間</a:t>
              </a:r>
            </a:p>
          </p:txBody>
        </p:sp>
      </p:grpSp>
      <p:grpSp>
        <p:nvGrpSpPr>
          <p:cNvPr id="15" name="効果KPI02_上司の手直し回数"/>
          <p:cNvGrpSpPr/>
          <p:nvPr/>
        </p:nvGrpSpPr>
        <p:grpSpPr>
          <a:xfrm>
            <a:off x="4381500" y="1428750"/>
            <a:ext cx="3429000" cy="2190750"/>
            <a:chOff x="4381500" y="1428750"/>
            <a:chExt cx="3429000" cy="2190750"/>
          </a:xfrm>
        </p:grpSpPr>
        <p:sp>
          <p:nvSpPr>
            <p:cNvPr id="16" name="KPIカード"/>
            <p:cNvSpPr/>
            <p:nvPr/>
          </p:nvSpPr>
          <p:spPr>
            <a:xfrm>
              <a:off x="4381500" y="1428750"/>
              <a:ext cx="3429000" cy="219075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指標名"/>
            <p:cNvSpPr/>
            <p:nvPr/>
          </p:nvSpPr>
          <p:spPr>
            <a:xfrm>
              <a:off x="4610100" y="1619250"/>
              <a:ext cx="2971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上司の手直し回数</a:t>
              </a:r>
            </a:p>
          </p:txBody>
        </p:sp>
        <p:sp>
          <p:nvSpPr>
            <p:cNvPr id="18" name="数値"/>
            <p:cNvSpPr/>
            <p:nvPr/>
          </p:nvSpPr>
          <p:spPr>
            <a:xfrm>
              <a:off x="4610100" y="190500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600" b="1">
                  <a:solidFill>
                    <a:schemeClr val="accent1"/>
                  </a:solidFill>
                </a:rPr>
                <a:t>−70%</a:t>
              </a:r>
            </a:p>
          </p:txBody>
        </p:sp>
        <p:sp>
          <p:nvSpPr>
            <p:cNvPr id="19" name="内訳"/>
            <p:cNvSpPr/>
            <p:nvPr/>
          </p:nvSpPr>
          <p:spPr>
            <a:xfrm>
              <a:off x="4610100" y="3143250"/>
              <a:ext cx="2971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月10件 → 月3件</a:t>
              </a:r>
            </a:p>
          </p:txBody>
        </p:sp>
      </p:grpSp>
      <p:grpSp>
        <p:nvGrpSpPr>
          <p:cNvPr id="20" name="効果KPI03_テンプレート利用率"/>
          <p:cNvGrpSpPr/>
          <p:nvPr/>
        </p:nvGrpSpPr>
        <p:grpSpPr>
          <a:xfrm>
            <a:off x="8191500" y="1428750"/>
            <a:ext cx="3429000" cy="2190750"/>
            <a:chOff x="8191500" y="1428750"/>
            <a:chExt cx="3429000" cy="2190750"/>
          </a:xfrm>
        </p:grpSpPr>
        <p:sp>
          <p:nvSpPr>
            <p:cNvPr id="21" name="KPIカード"/>
            <p:cNvSpPr/>
            <p:nvPr/>
          </p:nvSpPr>
          <p:spPr>
            <a:xfrm>
              <a:off x="8191500" y="1428750"/>
              <a:ext cx="3429000" cy="219075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指標名"/>
            <p:cNvSpPr/>
            <p:nvPr/>
          </p:nvSpPr>
          <p:spPr>
            <a:xfrm>
              <a:off x="8420100" y="1619250"/>
              <a:ext cx="2971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テンプレート利用率</a:t>
              </a:r>
            </a:p>
          </p:txBody>
        </p:sp>
        <p:sp>
          <p:nvSpPr>
            <p:cNvPr id="23" name="数値"/>
            <p:cNvSpPr/>
            <p:nvPr/>
          </p:nvSpPr>
          <p:spPr>
            <a:xfrm>
              <a:off x="8420100" y="190500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600" b="1">
                  <a:solidFill>
                    <a:schemeClr val="dk2"/>
                  </a:solidFill>
                </a:rPr>
                <a:t>92%</a:t>
              </a:r>
            </a:p>
          </p:txBody>
        </p:sp>
        <p:sp>
          <p:nvSpPr>
            <p:cNvPr id="24" name="内訳"/>
            <p:cNvSpPr/>
            <p:nvPr/>
          </p:nvSpPr>
          <p:spPr>
            <a:xfrm>
              <a:off x="8420100" y="3143250"/>
              <a:ext cx="2971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全部門平均（対象318名）</a:t>
              </a:r>
            </a:p>
          </p:txBody>
        </p:sp>
      </p:grpSp>
      <p:grpSp>
        <p:nvGrpSpPr>
          <p:cNvPr id="25" name="SoWhatボックス"/>
          <p:cNvGrpSpPr/>
          <p:nvPr/>
        </p:nvGrpSpPr>
        <p:grpSpPr>
          <a:xfrm>
            <a:off x="571500" y="3962400"/>
            <a:ext cx="11049000" cy="514350"/>
            <a:chOff x="571500" y="3962400"/>
            <a:chExt cx="11049000" cy="514350"/>
          </a:xfrm>
        </p:grpSpPr>
        <p:sp>
          <p:nvSpPr>
            <p:cNvPr id="26" name="示唆地"/>
            <p:cNvSpPr/>
            <p:nvPr/>
          </p:nvSpPr>
          <p:spPr>
            <a:xfrm>
              <a:off x="571500" y="396240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示唆ラベル"/>
            <p:cNvSpPr/>
            <p:nvPr/>
          </p:nvSpPr>
          <p:spPr>
            <a:xfrm>
              <a:off x="800100" y="396240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28" name="区切り縦線"/>
            <p:cNvCxnSpPr/>
            <p:nvPr/>
          </p:nvCxnSpPr>
          <p:spPr>
            <a:xfrm>
              <a:off x="1676400" y="408622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示唆本文"/>
            <p:cNvSpPr/>
            <p:nvPr/>
          </p:nvSpPr>
          <p:spPr>
            <a:xfrm>
              <a:off x="1866900" y="396240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効果は単発ではなく循環する——使うほど型が揃い、さらに時間が生まれる</a:t>
              </a:r>
            </a:p>
          </p:txBody>
        </p:sp>
      </p:grpSp>
      <p:grpSp>
        <p:nvGrpSpPr>
          <p:cNvPr id="30" name="効果_循環フロー"/>
          <p:cNvGrpSpPr/>
          <p:nvPr/>
        </p:nvGrpSpPr>
        <p:grpSpPr>
          <a:xfrm>
            <a:off x="1619250" y="4857750"/>
            <a:ext cx="9239250" cy="781050"/>
            <a:chOff x="1619250" y="4857750"/>
            <a:chExt cx="9239250" cy="781050"/>
          </a:xfrm>
        </p:grpSpPr>
        <p:sp>
          <p:nvSpPr>
            <p:cNvPr id="31" name="循環1"/>
            <p:cNvSpPr/>
            <p:nvPr/>
          </p:nvSpPr>
          <p:spPr>
            <a:xfrm>
              <a:off x="1619250" y="4857750"/>
              <a:ext cx="2381250" cy="41910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循環文字1"/>
            <p:cNvSpPr/>
            <p:nvPr/>
          </p:nvSpPr>
          <p:spPr>
            <a:xfrm>
              <a:off x="1619250" y="4867275"/>
              <a:ext cx="238125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時間が空く</a:t>
              </a:r>
            </a:p>
          </p:txBody>
        </p:sp>
        <p:sp>
          <p:nvSpPr>
            <p:cNvPr id="33" name="循環2"/>
            <p:cNvSpPr/>
            <p:nvPr/>
          </p:nvSpPr>
          <p:spPr>
            <a:xfrm>
              <a:off x="4476750" y="4857750"/>
              <a:ext cx="2381250" cy="41910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循環文字2"/>
            <p:cNvSpPr/>
            <p:nvPr/>
          </p:nvSpPr>
          <p:spPr>
            <a:xfrm>
              <a:off x="4476750" y="4867275"/>
              <a:ext cx="238125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型どおりに作る</a:t>
              </a:r>
            </a:p>
          </p:txBody>
        </p:sp>
        <p:sp>
          <p:nvSpPr>
            <p:cNvPr id="35" name="循環3"/>
            <p:cNvSpPr/>
            <p:nvPr/>
          </p:nvSpPr>
          <p:spPr>
            <a:xfrm>
              <a:off x="7334250" y="4857750"/>
              <a:ext cx="2381250" cy="41910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循環文字3"/>
            <p:cNvSpPr/>
            <p:nvPr/>
          </p:nvSpPr>
          <p:spPr>
            <a:xfrm>
              <a:off x="7334250" y="4867275"/>
              <a:ext cx="238125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手直しが減る</a:t>
              </a:r>
            </a:p>
          </p:txBody>
        </p:sp>
        <p:cxnSp>
          <p:nvCxnSpPr>
            <p:cNvPr id="37" name="循環矢印1"/>
            <p:cNvCxnSpPr/>
            <p:nvPr/>
          </p:nvCxnSpPr>
          <p:spPr>
            <a:xfrm>
              <a:off x="4057650" y="5067300"/>
              <a:ext cx="3619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循環矢印2"/>
            <p:cNvCxnSpPr/>
            <p:nvPr/>
          </p:nvCxnSpPr>
          <p:spPr>
            <a:xfrm>
              <a:off x="6915150" y="5067300"/>
              <a:ext cx="3619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戻り線1"/>
            <p:cNvCxnSpPr/>
            <p:nvPr/>
          </p:nvCxnSpPr>
          <p:spPr>
            <a:xfrm>
              <a:off x="8524875" y="5334000"/>
              <a:ext cx="0" cy="26670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戻り線2"/>
            <p:cNvCxnSpPr/>
            <p:nvPr/>
          </p:nvCxnSpPr>
          <p:spPr>
            <a:xfrm flipH="1">
              <a:off x="2809875" y="5600700"/>
              <a:ext cx="5715000" cy="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戻り線3"/>
            <p:cNvCxnSpPr/>
            <p:nvPr/>
          </p:nvCxnSpPr>
          <p:spPr>
            <a:xfrm flipV="1">
              <a:off x="2809875" y="5353050"/>
              <a:ext cx="0" cy="24765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循環注記"/>
            <p:cNvSpPr/>
            <p:nvPr/>
          </p:nvSpPr>
          <p:spPr>
            <a:xfrm>
              <a:off x="8953500" y="54864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効果が循環し続ける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導入にあたって｜PLAN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迷ったらStandard。プランは月単位でいつでも変更できる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料金プラン比較（月額・税別）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注：価格・提供機能は説明用の架空サンプルです。初期費用はいずれも0円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出所：料金表 2026年7月版（架空サンプル）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9</a:t>
            </a:r>
          </a:p>
        </p:txBody>
      </p:sp>
      <p:grpSp>
        <p:nvGrpSpPr>
          <p:cNvPr id="10" name="料金_推奨ハイライト"/>
          <p:cNvGrpSpPr/>
          <p:nvPr/>
        </p:nvGrpSpPr>
        <p:grpSpPr>
          <a:xfrm>
            <a:off x="5772150" y="1219200"/>
            <a:ext cx="2838450" cy="4305300"/>
            <a:chOff x="5772150" y="1219200"/>
            <a:chExt cx="2838450" cy="4305300"/>
          </a:xfrm>
        </p:grpSpPr>
        <p:sp>
          <p:nvSpPr>
            <p:cNvPr id="11" name="推奨列ハイライト"/>
            <p:cNvSpPr/>
            <p:nvPr/>
          </p:nvSpPr>
          <p:spPr>
            <a:xfrm>
              <a:off x="5772150" y="1219200"/>
              <a:ext cx="2838450" cy="4305300"/>
            </a:xfrm>
            <a:prstGeom prst="roundRect">
              <a:avLst>
                <a:gd name="adj" fmla="val 335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料金プラン_Light"/>
          <p:cNvGrpSpPr/>
          <p:nvPr/>
        </p:nvGrpSpPr>
        <p:grpSpPr>
          <a:xfrm>
            <a:off x="2952750" y="1333500"/>
            <a:ext cx="2571750" cy="1600200"/>
            <a:chOff x="2952750" y="1333500"/>
            <a:chExt cx="2571750" cy="1600200"/>
          </a:xfrm>
        </p:grpSpPr>
        <p:sp>
          <p:nvSpPr>
            <p:cNvPr id="13" name="Light_カード本体"/>
            <p:cNvSpPr/>
            <p:nvPr/>
          </p:nvSpPr>
          <p:spPr>
            <a:xfrm>
              <a:off x="295275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ight_見出し帯"/>
            <p:cNvSpPr/>
            <p:nvPr/>
          </p:nvSpPr>
          <p:spPr>
            <a:xfrm>
              <a:off x="295275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ight_見出し帯・角"/>
            <p:cNvSpPr/>
            <p:nvPr/>
          </p:nvSpPr>
          <p:spPr>
            <a:xfrm>
              <a:off x="2952750" y="1524000"/>
              <a:ext cx="2571750" cy="19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10515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Light</a:t>
              </a:r>
            </a:p>
          </p:txBody>
        </p:sp>
        <p:sp>
          <p:nvSpPr>
            <p:cNvPr id="17" name="価格"/>
            <p:cNvSpPr/>
            <p:nvPr/>
          </p:nvSpPr>
          <p:spPr>
            <a:xfrm>
              <a:off x="314325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400" b="1">
                  <a:solidFill>
                    <a:schemeClr val="dk2"/>
                  </a:solidFill>
                </a:rPr>
                <a:t>¥30,000</a:t>
              </a:r>
            </a:p>
          </p:txBody>
        </p:sp>
        <p:sp>
          <p:nvSpPr>
            <p:cNvPr id="18" name="想定規模"/>
            <p:cNvSpPr/>
            <p:nvPr/>
          </p:nvSpPr>
          <p:spPr>
            <a:xfrm>
              <a:off x="314325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〜10名のチームでの試行に</a:t>
              </a:r>
            </a:p>
          </p:txBody>
        </p:sp>
      </p:grpSp>
      <p:grpSp>
        <p:nvGrpSpPr>
          <p:cNvPr id="19" name="料金プラン_Standard"/>
          <p:cNvGrpSpPr/>
          <p:nvPr/>
        </p:nvGrpSpPr>
        <p:grpSpPr>
          <a:xfrm>
            <a:off x="5905500" y="1333500"/>
            <a:ext cx="2571750" cy="1600200"/>
            <a:chOff x="5905500" y="1333500"/>
            <a:chExt cx="2571750" cy="1600200"/>
          </a:xfrm>
        </p:grpSpPr>
        <p:sp>
          <p:nvSpPr>
            <p:cNvPr id="20" name="Standard_カード本体"/>
            <p:cNvSpPr/>
            <p:nvPr/>
          </p:nvSpPr>
          <p:spPr>
            <a:xfrm>
              <a:off x="590550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tandard_見出し帯"/>
            <p:cNvSpPr/>
            <p:nvPr/>
          </p:nvSpPr>
          <p:spPr>
            <a:xfrm>
              <a:off x="590550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Standard_見出し帯・角"/>
            <p:cNvSpPr/>
            <p:nvPr/>
          </p:nvSpPr>
          <p:spPr>
            <a:xfrm>
              <a:off x="5905500" y="1524000"/>
              <a:ext cx="257175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5790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Standard</a:t>
              </a:r>
            </a:p>
          </p:txBody>
        </p:sp>
        <p:sp>
          <p:nvSpPr>
            <p:cNvPr id="24" name="価格"/>
            <p:cNvSpPr/>
            <p:nvPr/>
          </p:nvSpPr>
          <p:spPr>
            <a:xfrm>
              <a:off x="609600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600" b="1">
                  <a:solidFill>
                    <a:schemeClr val="accent1"/>
                  </a:solidFill>
                </a:rPr>
                <a:t>¥50,000</a:t>
              </a:r>
            </a:p>
          </p:txBody>
        </p:sp>
        <p:sp>
          <p:nvSpPr>
            <p:cNvPr id="25" name="想定規模"/>
            <p:cNvSpPr/>
            <p:nvPr/>
          </p:nvSpPr>
          <p:spPr>
            <a:xfrm>
              <a:off x="609600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部門導入の標準（〜50名）</a:t>
              </a:r>
            </a:p>
          </p:txBody>
        </p:sp>
      </p:grpSp>
      <p:grpSp>
        <p:nvGrpSpPr>
          <p:cNvPr id="26" name="料金プラン_Enterprise"/>
          <p:cNvGrpSpPr/>
          <p:nvPr/>
        </p:nvGrpSpPr>
        <p:grpSpPr>
          <a:xfrm>
            <a:off x="8858250" y="1333500"/>
            <a:ext cx="2571750" cy="1600200"/>
            <a:chOff x="8858250" y="1333500"/>
            <a:chExt cx="2571750" cy="1600200"/>
          </a:xfrm>
        </p:grpSpPr>
        <p:sp>
          <p:nvSpPr>
            <p:cNvPr id="27" name="Enterprise_カード本体"/>
            <p:cNvSpPr/>
            <p:nvPr/>
          </p:nvSpPr>
          <p:spPr>
            <a:xfrm>
              <a:off x="885825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Enterprise_見出し帯"/>
            <p:cNvSpPr/>
            <p:nvPr/>
          </p:nvSpPr>
          <p:spPr>
            <a:xfrm>
              <a:off x="885825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Enterprise_見出し帯・角"/>
            <p:cNvSpPr/>
            <p:nvPr/>
          </p:nvSpPr>
          <p:spPr>
            <a:xfrm>
              <a:off x="8858250" y="1524000"/>
              <a:ext cx="2571750" cy="19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01065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Enterprise</a:t>
              </a:r>
            </a:p>
          </p:txBody>
        </p:sp>
        <p:sp>
          <p:nvSpPr>
            <p:cNvPr id="31" name="価格"/>
            <p:cNvSpPr/>
            <p:nvPr/>
          </p:nvSpPr>
          <p:spPr>
            <a:xfrm>
              <a:off x="904875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個別お見積り</a:t>
              </a:r>
            </a:p>
          </p:txBody>
        </p:sp>
        <p:sp>
          <p:nvSpPr>
            <p:cNvPr id="32" name="想定規模"/>
            <p:cNvSpPr/>
            <p:nvPr/>
          </p:nvSpPr>
          <p:spPr>
            <a:xfrm>
              <a:off x="904875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全社導入・個別要件に対応</a:t>
              </a:r>
            </a:p>
          </p:txBody>
        </p:sp>
      </p:grpSp>
      <p:grpSp>
        <p:nvGrpSpPr>
          <p:cNvPr id="33" name="料金_推奨タグ"/>
          <p:cNvGrpSpPr/>
          <p:nvPr/>
        </p:nvGrpSpPr>
        <p:grpSpPr>
          <a:xfrm>
            <a:off x="6762750" y="1085850"/>
            <a:ext cx="857250" cy="247650"/>
            <a:chOff x="6762750" y="1085850"/>
            <a:chExt cx="857250" cy="247650"/>
          </a:xfrm>
        </p:grpSpPr>
        <p:sp>
          <p:nvSpPr>
            <p:cNvPr id="34" name="推奨タグ（朱）"/>
            <p:cNvSpPr/>
            <p:nvPr/>
          </p:nvSpPr>
          <p:spPr>
            <a:xfrm>
              <a:off x="6762750" y="108585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推奨タグ文字"/>
            <p:cNvSpPr/>
            <p:nvPr/>
          </p:nvSpPr>
          <p:spPr>
            <a:xfrm>
              <a:off x="6762750" y="1095375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推奨</a:t>
              </a:r>
            </a:p>
          </p:txBody>
        </p:sp>
      </p:grpSp>
      <p:grpSp>
        <p:nvGrpSpPr>
          <p:cNvPr id="36" name="料金_機能比較表"/>
          <p:cNvGrpSpPr/>
          <p:nvPr/>
        </p:nvGrpSpPr>
        <p:grpSpPr>
          <a:xfrm>
            <a:off x="571500" y="3200400"/>
            <a:ext cx="11049000" cy="2133600"/>
            <a:chOff x="571500" y="3200400"/>
            <a:chExt cx="11049000" cy="2133600"/>
          </a:xfrm>
        </p:grpSpPr>
        <p:cxnSp>
          <p:nvCxnSpPr>
            <p:cNvPr id="37" name="罫線1"/>
            <p:cNvCxnSpPr/>
            <p:nvPr/>
          </p:nvCxnSpPr>
          <p:spPr>
            <a:xfrm>
              <a:off x="571500" y="32004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罫線2"/>
            <p:cNvCxnSpPr/>
            <p:nvPr/>
          </p:nvCxnSpPr>
          <p:spPr>
            <a:xfrm>
              <a:off x="571500" y="37338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罫線3"/>
            <p:cNvCxnSpPr/>
            <p:nvPr/>
          </p:nvCxnSpPr>
          <p:spPr>
            <a:xfrm>
              <a:off x="571500" y="42672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罫線4"/>
            <p:cNvCxnSpPr/>
            <p:nvPr/>
          </p:nvCxnSpPr>
          <p:spPr>
            <a:xfrm>
              <a:off x="571500" y="48006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罫線5"/>
            <p:cNvCxnSpPr/>
            <p:nvPr/>
          </p:nvCxnSpPr>
          <p:spPr>
            <a:xfrm>
              <a:off x="571500" y="53340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機能1"/>
            <p:cNvSpPr/>
            <p:nvPr/>
          </p:nvSpPr>
          <p:spPr>
            <a:xfrm>
              <a:off x="571500" y="32004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テンプレート100種</a:t>
              </a:r>
            </a:p>
          </p:txBody>
        </p:sp>
        <p:sp>
          <p:nvSpPr>
            <p:cNvPr id="43" name="対応1_1_丸"/>
            <p:cNvSpPr/>
            <p:nvPr/>
          </p:nvSpPr>
          <p:spPr>
            <a:xfrm>
              <a:off x="4114800" y="33432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対応1_1_チェック"/>
            <p:cNvSpPr/>
            <p:nvPr/>
          </p:nvSpPr>
          <p:spPr>
            <a:xfrm>
              <a:off x="4114800" y="33432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対応1_2_丸"/>
            <p:cNvSpPr/>
            <p:nvPr/>
          </p:nvSpPr>
          <p:spPr>
            <a:xfrm>
              <a:off x="7067550" y="33432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対応1_2_チェック"/>
            <p:cNvSpPr/>
            <p:nvPr/>
          </p:nvSpPr>
          <p:spPr>
            <a:xfrm>
              <a:off x="7067550" y="33432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対応1_3_丸"/>
            <p:cNvSpPr/>
            <p:nvPr/>
          </p:nvSpPr>
          <p:spPr>
            <a:xfrm>
              <a:off x="10020300" y="33432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対応1_3_チェック"/>
            <p:cNvSpPr/>
            <p:nvPr/>
          </p:nvSpPr>
          <p:spPr>
            <a:xfrm>
              <a:off x="10020300" y="33432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機能2"/>
            <p:cNvSpPr/>
            <p:nvPr/>
          </p:nvSpPr>
          <p:spPr>
            <a:xfrm>
              <a:off x="571500" y="37338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自動レイアウト生成</a:t>
              </a:r>
            </a:p>
          </p:txBody>
        </p:sp>
        <p:sp>
          <p:nvSpPr>
            <p:cNvPr id="50" name="対応2_1_丸"/>
            <p:cNvSpPr/>
            <p:nvPr/>
          </p:nvSpPr>
          <p:spPr>
            <a:xfrm>
              <a:off x="4114800" y="38766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対応2_1_チェック"/>
            <p:cNvSpPr/>
            <p:nvPr/>
          </p:nvSpPr>
          <p:spPr>
            <a:xfrm>
              <a:off x="4114800" y="38766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対応2_2_丸"/>
            <p:cNvSpPr/>
            <p:nvPr/>
          </p:nvSpPr>
          <p:spPr>
            <a:xfrm>
              <a:off x="7067550" y="38766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対応2_2_チェック"/>
            <p:cNvSpPr/>
            <p:nvPr/>
          </p:nvSpPr>
          <p:spPr>
            <a:xfrm>
              <a:off x="7067550" y="38766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対応2_3_丸"/>
            <p:cNvSpPr/>
            <p:nvPr/>
          </p:nvSpPr>
          <p:spPr>
            <a:xfrm>
              <a:off x="10020300" y="38766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対応2_3_チェック"/>
            <p:cNvSpPr/>
            <p:nvPr/>
          </p:nvSpPr>
          <p:spPr>
            <a:xfrm>
              <a:off x="10020300" y="38766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機能3"/>
            <p:cNvSpPr/>
            <p:nvPr/>
          </p:nvSpPr>
          <p:spPr>
            <a:xfrm>
              <a:off x="571500" y="42672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データ連携・共有ワークスペース</a:t>
              </a:r>
            </a:p>
          </p:txBody>
        </p:sp>
        <p:sp>
          <p:nvSpPr>
            <p:cNvPr id="57" name="非対応3_1_丸"/>
            <p:cNvSpPr/>
            <p:nvPr/>
          </p:nvSpPr>
          <p:spPr>
            <a:xfrm>
              <a:off x="4114800" y="441007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非対応3_1_バツ"/>
            <p:cNvSpPr/>
            <p:nvPr/>
          </p:nvSpPr>
          <p:spPr>
            <a:xfrm>
              <a:off x="4114800" y="44100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対応3_2_丸"/>
            <p:cNvSpPr/>
            <p:nvPr/>
          </p:nvSpPr>
          <p:spPr>
            <a:xfrm>
              <a:off x="7067550" y="4410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対応3_2_チェック"/>
            <p:cNvSpPr/>
            <p:nvPr/>
          </p:nvSpPr>
          <p:spPr>
            <a:xfrm>
              <a:off x="7067550" y="44100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対応3_3_丸"/>
            <p:cNvSpPr/>
            <p:nvPr/>
          </p:nvSpPr>
          <p:spPr>
            <a:xfrm>
              <a:off x="10020300" y="44100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対応3_3_チェック"/>
            <p:cNvSpPr/>
            <p:nvPr/>
          </p:nvSpPr>
          <p:spPr>
            <a:xfrm>
              <a:off x="10020300" y="44100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機能4"/>
            <p:cNvSpPr/>
            <p:nvPr/>
          </p:nvSpPr>
          <p:spPr>
            <a:xfrm>
              <a:off x="571500" y="48006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専任サポート・SSO</a:t>
              </a:r>
            </a:p>
          </p:txBody>
        </p:sp>
        <p:sp>
          <p:nvSpPr>
            <p:cNvPr id="64" name="非対応4_1_丸"/>
            <p:cNvSpPr/>
            <p:nvPr/>
          </p:nvSpPr>
          <p:spPr>
            <a:xfrm>
              <a:off x="4114800" y="494347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非対応4_1_バツ"/>
            <p:cNvSpPr/>
            <p:nvPr/>
          </p:nvSpPr>
          <p:spPr>
            <a:xfrm>
              <a:off x="4114800" y="49434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非対応4_2_丸"/>
            <p:cNvSpPr/>
            <p:nvPr/>
          </p:nvSpPr>
          <p:spPr>
            <a:xfrm>
              <a:off x="7067550" y="494347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非対応4_2_バツ"/>
            <p:cNvSpPr/>
            <p:nvPr/>
          </p:nvSpPr>
          <p:spPr>
            <a:xfrm>
              <a:off x="7067550" y="49434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対応4_3_丸"/>
            <p:cNvSpPr/>
            <p:nvPr/>
          </p:nvSpPr>
          <p:spPr>
            <a:xfrm>
              <a:off x="10020300" y="49434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対応4_3_チェック"/>
            <p:cNvSpPr/>
            <p:nvPr/>
          </p:nvSpPr>
          <p:spPr>
            <a:xfrm>
              <a:off x="10020300" y="49434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Rectangle 69"/>
          <p:cNvSpPr/>
          <p:nvPr/>
        </p:nvSpPr>
        <p:spPr>
          <a:xfrm>
            <a:off x="571500" y="563880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dk2"/>
                </a:solidFill>
              </a:rPr>
              <a:t>機能は後から追加できる——まず小さく始めて、効果を見て広げられる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導入にあたって｜PLAN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申込みから全社運用まで、最短2週間で立ち上がる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導入4ステップと標準スケジュール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注：日数は標準的な目安です。データ量・部門数により変動します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出所：導入プロジェクト標準計画（架空サンプル）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10</a:t>
            </a:r>
          </a:p>
        </p:txBody>
      </p:sp>
      <p:grpSp>
        <p:nvGrpSpPr>
          <p:cNvPr id="10" name="導入ステップ01_お申込み"/>
          <p:cNvGrpSpPr/>
          <p:nvPr/>
        </p:nvGrpSpPr>
        <p:grpSpPr>
          <a:xfrm>
            <a:off x="571500" y="1428750"/>
            <a:ext cx="2667000" cy="914400"/>
            <a:chOff x="571500" y="1428750"/>
            <a:chExt cx="2667000" cy="914400"/>
          </a:xfrm>
        </p:grpSpPr>
        <p:sp>
          <p:nvSpPr>
            <p:cNvPr id="11" name="シェブロン1"/>
            <p:cNvSpPr/>
            <p:nvPr/>
          </p:nvSpPr>
          <p:spPr>
            <a:xfrm>
              <a:off x="571500" y="1428750"/>
              <a:ext cx="2667000" cy="571500"/>
            </a:xfrm>
            <a:prstGeom prst="homePlate">
              <a:avLst>
                <a:gd name="adj" fmla="val 4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番号円"/>
            <p:cNvSpPr/>
            <p:nvPr/>
          </p:nvSpPr>
          <p:spPr>
            <a:xfrm>
              <a:off x="97155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番号"/>
            <p:cNvSpPr/>
            <p:nvPr/>
          </p:nvSpPr>
          <p:spPr>
            <a:xfrm>
              <a:off x="97155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</a:t>
              </a:r>
            </a:p>
          </p:txBody>
        </p:sp>
        <p:sp>
          <p:nvSpPr>
            <p:cNvPr id="14" name="ステップ名"/>
            <p:cNvSpPr/>
            <p:nvPr/>
          </p:nvSpPr>
          <p:spPr>
            <a:xfrm>
              <a:off x="133350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お申込み</a:t>
              </a:r>
            </a:p>
          </p:txBody>
        </p:sp>
        <p:sp>
          <p:nvSpPr>
            <p:cNvPr id="15" name="ステップ説明"/>
            <p:cNvSpPr/>
            <p:nvPr/>
          </p:nvSpPr>
          <p:spPr>
            <a:xfrm>
              <a:off x="57150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お客様はフォームに入力するだけ</a:t>
              </a:r>
            </a:p>
          </p:txBody>
        </p:sp>
      </p:grpSp>
      <p:grpSp>
        <p:nvGrpSpPr>
          <p:cNvPr id="16" name="導入ステップ02_初期設定"/>
          <p:cNvGrpSpPr/>
          <p:nvPr/>
        </p:nvGrpSpPr>
        <p:grpSpPr>
          <a:xfrm>
            <a:off x="3257550" y="1428750"/>
            <a:ext cx="2667000" cy="914400"/>
            <a:chOff x="3257550" y="1428750"/>
            <a:chExt cx="2667000" cy="914400"/>
          </a:xfrm>
        </p:grpSpPr>
        <p:sp>
          <p:nvSpPr>
            <p:cNvPr id="17" name="シェブロン2"/>
            <p:cNvSpPr/>
            <p:nvPr/>
          </p:nvSpPr>
          <p:spPr>
            <a:xfrm>
              <a:off x="3257550" y="14287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番号円"/>
            <p:cNvSpPr/>
            <p:nvPr/>
          </p:nvSpPr>
          <p:spPr>
            <a:xfrm>
              <a:off x="365760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番号"/>
            <p:cNvSpPr/>
            <p:nvPr/>
          </p:nvSpPr>
          <p:spPr>
            <a:xfrm>
              <a:off x="365760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3"/>
                  </a:solidFill>
                </a:rPr>
                <a:t>2</a:t>
              </a:r>
            </a:p>
          </p:txBody>
        </p:sp>
        <p:sp>
          <p:nvSpPr>
            <p:cNvPr id="20" name="ステップ名"/>
            <p:cNvSpPr/>
            <p:nvPr/>
          </p:nvSpPr>
          <p:spPr>
            <a:xfrm>
              <a:off x="401955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初期設定</a:t>
              </a:r>
            </a:p>
          </p:txBody>
        </p:sp>
        <p:sp>
          <p:nvSpPr>
            <p:cNvPr id="21" name="ステップ説明"/>
            <p:cNvSpPr/>
            <p:nvPr/>
          </p:nvSpPr>
          <p:spPr>
            <a:xfrm>
              <a:off x="325755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テンプレ・権限設定は当社が代行</a:t>
              </a:r>
            </a:p>
          </p:txBody>
        </p:sp>
      </p:grpSp>
      <p:grpSp>
        <p:nvGrpSpPr>
          <p:cNvPr id="22" name="導入ステップ03_試験運用"/>
          <p:cNvGrpSpPr/>
          <p:nvPr/>
        </p:nvGrpSpPr>
        <p:grpSpPr>
          <a:xfrm>
            <a:off x="5943600" y="1428750"/>
            <a:ext cx="2667000" cy="914400"/>
            <a:chOff x="5943600" y="1428750"/>
            <a:chExt cx="2667000" cy="914400"/>
          </a:xfrm>
        </p:grpSpPr>
        <p:sp>
          <p:nvSpPr>
            <p:cNvPr id="23" name="シェブロン3"/>
            <p:cNvSpPr/>
            <p:nvPr/>
          </p:nvSpPr>
          <p:spPr>
            <a:xfrm>
              <a:off x="5943600" y="14287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円"/>
            <p:cNvSpPr/>
            <p:nvPr/>
          </p:nvSpPr>
          <p:spPr>
            <a:xfrm>
              <a:off x="634365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番号"/>
            <p:cNvSpPr/>
            <p:nvPr/>
          </p:nvSpPr>
          <p:spPr>
            <a:xfrm>
              <a:off x="634365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26" name="ステップ名"/>
            <p:cNvSpPr/>
            <p:nvPr/>
          </p:nvSpPr>
          <p:spPr>
            <a:xfrm>
              <a:off x="670560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試験運用</a:t>
              </a:r>
            </a:p>
          </p:txBody>
        </p:sp>
        <p:sp>
          <p:nvSpPr>
            <p:cNvPr id="27" name="ステップ説明"/>
            <p:cNvSpPr/>
            <p:nvPr/>
          </p:nvSpPr>
          <p:spPr>
            <a:xfrm>
              <a:off x="594360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まず1部門で効果を実測</a:t>
              </a:r>
            </a:p>
          </p:txBody>
        </p:sp>
      </p:grpSp>
      <p:grpSp>
        <p:nvGrpSpPr>
          <p:cNvPr id="28" name="導入ステップ04_全社展開"/>
          <p:cNvGrpSpPr/>
          <p:nvPr/>
        </p:nvGrpSpPr>
        <p:grpSpPr>
          <a:xfrm>
            <a:off x="8629650" y="1428750"/>
            <a:ext cx="2667000" cy="914400"/>
            <a:chOff x="8629650" y="1428750"/>
            <a:chExt cx="2667000" cy="914400"/>
          </a:xfrm>
        </p:grpSpPr>
        <p:sp>
          <p:nvSpPr>
            <p:cNvPr id="29" name="シェブロン4"/>
            <p:cNvSpPr/>
            <p:nvPr/>
          </p:nvSpPr>
          <p:spPr>
            <a:xfrm>
              <a:off x="8629650" y="14287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番号円"/>
            <p:cNvSpPr/>
            <p:nvPr/>
          </p:nvSpPr>
          <p:spPr>
            <a:xfrm>
              <a:off x="902970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番号"/>
            <p:cNvSpPr/>
            <p:nvPr/>
          </p:nvSpPr>
          <p:spPr>
            <a:xfrm>
              <a:off x="902970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4</a:t>
              </a:r>
            </a:p>
          </p:txBody>
        </p:sp>
        <p:sp>
          <p:nvSpPr>
            <p:cNvPr id="32" name="ステップ名"/>
            <p:cNvSpPr/>
            <p:nvPr/>
          </p:nvSpPr>
          <p:spPr>
            <a:xfrm>
              <a:off x="939165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全社展開</a:t>
              </a:r>
            </a:p>
          </p:txBody>
        </p:sp>
        <p:sp>
          <p:nvSpPr>
            <p:cNvPr id="33" name="ステップ説明"/>
            <p:cNvSpPr/>
            <p:nvPr/>
          </p:nvSpPr>
          <p:spPr>
            <a:xfrm>
              <a:off x="862965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2週目から全部門で利用開始</a:t>
              </a:r>
            </a:p>
          </p:txBody>
        </p:sp>
      </p:grpSp>
      <p:grpSp>
        <p:nvGrpSpPr>
          <p:cNvPr id="34" name="導入_期間軸"/>
          <p:cNvGrpSpPr/>
          <p:nvPr/>
        </p:nvGrpSpPr>
        <p:grpSpPr>
          <a:xfrm>
            <a:off x="571500" y="2752725"/>
            <a:ext cx="11049000" cy="504825"/>
            <a:chOff x="571500" y="2752725"/>
            <a:chExt cx="11049000" cy="504825"/>
          </a:xfrm>
        </p:grpSpPr>
        <p:cxnSp>
          <p:nvCxnSpPr>
            <p:cNvPr id="35" name="時間軸"/>
            <p:cNvCxnSpPr/>
            <p:nvPr/>
          </p:nvCxnSpPr>
          <p:spPr>
            <a:xfrm>
              <a:off x="571500" y="2819400"/>
              <a:ext cx="1104900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目盛1"/>
            <p:cNvCxnSpPr/>
            <p:nvPr/>
          </p:nvCxnSpPr>
          <p:spPr>
            <a:xfrm>
              <a:off x="57150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目盛2"/>
            <p:cNvCxnSpPr/>
            <p:nvPr/>
          </p:nvCxnSpPr>
          <p:spPr>
            <a:xfrm>
              <a:off x="325755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目盛3"/>
            <p:cNvCxnSpPr/>
            <p:nvPr/>
          </p:nvCxnSpPr>
          <p:spPr>
            <a:xfrm>
              <a:off x="594360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目盛4"/>
            <p:cNvCxnSpPr/>
            <p:nvPr/>
          </p:nvCxnSpPr>
          <p:spPr>
            <a:xfrm>
              <a:off x="862965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目盛5"/>
            <p:cNvCxnSpPr/>
            <p:nvPr/>
          </p:nvCxnSpPr>
          <p:spPr>
            <a:xfrm>
              <a:off x="1131570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期間チップ1"/>
            <p:cNvSpPr/>
            <p:nvPr/>
          </p:nvSpPr>
          <p:spPr>
            <a:xfrm>
              <a:off x="136207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期間1"/>
            <p:cNvSpPr/>
            <p:nvPr/>
          </p:nvSpPr>
          <p:spPr>
            <a:xfrm>
              <a:off x="136207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当日</a:t>
              </a:r>
            </a:p>
          </p:txBody>
        </p:sp>
        <p:sp>
          <p:nvSpPr>
            <p:cNvPr id="43" name="期間チップ2"/>
            <p:cNvSpPr/>
            <p:nvPr/>
          </p:nvSpPr>
          <p:spPr>
            <a:xfrm>
              <a:off x="404812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期間2"/>
            <p:cNvSpPr/>
            <p:nvPr/>
          </p:nvSpPr>
          <p:spPr>
            <a:xfrm>
              <a:off x="404812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〜3営業日</a:t>
              </a:r>
            </a:p>
          </p:txBody>
        </p:sp>
        <p:sp>
          <p:nvSpPr>
            <p:cNvPr id="45" name="期間チップ3"/>
            <p:cNvSpPr/>
            <p:nvPr/>
          </p:nvSpPr>
          <p:spPr>
            <a:xfrm>
              <a:off x="673417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期間3"/>
            <p:cNvSpPr/>
            <p:nvPr/>
          </p:nvSpPr>
          <p:spPr>
            <a:xfrm>
              <a:off x="673417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〜1週間</a:t>
              </a:r>
            </a:p>
          </p:txBody>
        </p:sp>
        <p:sp>
          <p:nvSpPr>
            <p:cNvPr id="47" name="期間チップ4（朱）"/>
            <p:cNvSpPr/>
            <p:nvPr/>
          </p:nvSpPr>
          <p:spPr>
            <a:xfrm>
              <a:off x="942022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期間4"/>
            <p:cNvSpPr/>
            <p:nvPr/>
          </p:nvSpPr>
          <p:spPr>
            <a:xfrm>
              <a:off x="942022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2週間目〜</a:t>
              </a:r>
            </a:p>
          </p:txBody>
        </p:sp>
      </p:grpSp>
      <p:grpSp>
        <p:nvGrpSpPr>
          <p:cNvPr id="49" name="役割分担_当社"/>
          <p:cNvGrpSpPr/>
          <p:nvPr/>
        </p:nvGrpSpPr>
        <p:grpSpPr>
          <a:xfrm>
            <a:off x="571500" y="3810000"/>
            <a:ext cx="5429250" cy="2228850"/>
            <a:chOff x="571500" y="3810000"/>
            <a:chExt cx="5429250" cy="2228850"/>
          </a:xfrm>
        </p:grpSpPr>
        <p:sp>
          <p:nvSpPr>
            <p:cNvPr id="50" name="役割カード"/>
            <p:cNvSpPr/>
            <p:nvPr/>
          </p:nvSpPr>
          <p:spPr>
            <a:xfrm>
              <a:off x="571500" y="3810000"/>
              <a:ext cx="5429250" cy="2228850"/>
            </a:xfrm>
            <a:prstGeom prst="roundRect">
              <a:avLst>
                <a:gd name="adj" fmla="val 34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役割見出し"/>
            <p:cNvSpPr/>
            <p:nvPr/>
          </p:nvSpPr>
          <p:spPr>
            <a:xfrm>
              <a:off x="800100" y="40005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当社が行うこと</a:t>
              </a:r>
            </a:p>
          </p:txBody>
        </p:sp>
        <p:sp>
          <p:nvSpPr>
            <p:cNvPr id="52" name="チェック1_丸"/>
            <p:cNvSpPr/>
            <p:nvPr/>
          </p:nvSpPr>
          <p:spPr>
            <a:xfrm>
              <a:off x="800100" y="43624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チェック1_チェック"/>
            <p:cNvSpPr/>
            <p:nvPr/>
          </p:nvSpPr>
          <p:spPr>
            <a:xfrm>
              <a:off x="800100" y="43624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項目1"/>
            <p:cNvSpPr/>
            <p:nvPr/>
          </p:nvSpPr>
          <p:spPr>
            <a:xfrm>
              <a:off x="1143000" y="43434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初期設定・既存資料のテンプレート化</a:t>
              </a:r>
            </a:p>
          </p:txBody>
        </p:sp>
        <p:sp>
          <p:nvSpPr>
            <p:cNvPr id="55" name="チェック2_丸"/>
            <p:cNvSpPr/>
            <p:nvPr/>
          </p:nvSpPr>
          <p:spPr>
            <a:xfrm>
              <a:off x="800100" y="48768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チェック2_チェック"/>
            <p:cNvSpPr/>
            <p:nvPr/>
          </p:nvSpPr>
          <p:spPr>
            <a:xfrm>
              <a:off x="800100" y="48768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項目2"/>
            <p:cNvSpPr/>
            <p:nvPr/>
          </p:nvSpPr>
          <p:spPr>
            <a:xfrm>
              <a:off x="1143000" y="485775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利用者向け30分研修の実施</a:t>
              </a:r>
            </a:p>
          </p:txBody>
        </p:sp>
        <p:sp>
          <p:nvSpPr>
            <p:cNvPr id="58" name="チェック3_丸"/>
            <p:cNvSpPr/>
            <p:nvPr/>
          </p:nvSpPr>
          <p:spPr>
            <a:xfrm>
              <a:off x="800100" y="53911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チェック3_チェック"/>
            <p:cNvSpPr/>
            <p:nvPr/>
          </p:nvSpPr>
          <p:spPr>
            <a:xfrm>
              <a:off x="800100" y="53911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項目3"/>
            <p:cNvSpPr/>
            <p:nvPr/>
          </p:nvSpPr>
          <p:spPr>
            <a:xfrm>
              <a:off x="1143000" y="53721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週次の利用状況レポート</a:t>
              </a:r>
            </a:p>
          </p:txBody>
        </p:sp>
      </p:grpSp>
      <p:grpSp>
        <p:nvGrpSpPr>
          <p:cNvPr id="61" name="役割分担_お客様"/>
          <p:cNvGrpSpPr/>
          <p:nvPr/>
        </p:nvGrpSpPr>
        <p:grpSpPr>
          <a:xfrm>
            <a:off x="6191250" y="3810000"/>
            <a:ext cx="5429250" cy="2228850"/>
            <a:chOff x="6191250" y="3810000"/>
            <a:chExt cx="5429250" cy="2228850"/>
          </a:xfrm>
        </p:grpSpPr>
        <p:sp>
          <p:nvSpPr>
            <p:cNvPr id="62" name="役割カード"/>
            <p:cNvSpPr/>
            <p:nvPr/>
          </p:nvSpPr>
          <p:spPr>
            <a:xfrm>
              <a:off x="6191250" y="3810000"/>
              <a:ext cx="5429250" cy="2228850"/>
            </a:xfrm>
            <a:prstGeom prst="roundRect">
              <a:avLst>
                <a:gd name="adj" fmla="val 34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役割見出し"/>
            <p:cNvSpPr/>
            <p:nvPr/>
          </p:nvSpPr>
          <p:spPr>
            <a:xfrm>
              <a:off x="6419850" y="40005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お客様にお願いすること</a:t>
              </a:r>
            </a:p>
          </p:txBody>
        </p:sp>
        <p:sp>
          <p:nvSpPr>
            <p:cNvPr id="64" name="チェック1_丸"/>
            <p:cNvSpPr/>
            <p:nvPr/>
          </p:nvSpPr>
          <p:spPr>
            <a:xfrm>
              <a:off x="6419850" y="4362450"/>
              <a:ext cx="209550" cy="2095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チェック1_チェック"/>
            <p:cNvSpPr/>
            <p:nvPr/>
          </p:nvSpPr>
          <p:spPr>
            <a:xfrm>
              <a:off x="6419850" y="43624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項目1"/>
            <p:cNvSpPr/>
            <p:nvPr/>
          </p:nvSpPr>
          <p:spPr>
            <a:xfrm>
              <a:off x="6762750" y="43434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お申込みと利用メンバーの選定</a:t>
              </a:r>
            </a:p>
          </p:txBody>
        </p:sp>
        <p:sp>
          <p:nvSpPr>
            <p:cNvPr id="67" name="チェック2_丸"/>
            <p:cNvSpPr/>
            <p:nvPr/>
          </p:nvSpPr>
          <p:spPr>
            <a:xfrm>
              <a:off x="6419850" y="4876800"/>
              <a:ext cx="209550" cy="2095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チェック2_チェック"/>
            <p:cNvSpPr/>
            <p:nvPr/>
          </p:nvSpPr>
          <p:spPr>
            <a:xfrm>
              <a:off x="6419850" y="48768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項目2"/>
            <p:cNvSpPr/>
            <p:nvPr/>
          </p:nvSpPr>
          <p:spPr>
            <a:xfrm>
              <a:off x="6762750" y="485775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既存資料・データのご提供</a:t>
              </a:r>
            </a:p>
          </p:txBody>
        </p:sp>
        <p:sp>
          <p:nvSpPr>
            <p:cNvPr id="70" name="チェック3_丸"/>
            <p:cNvSpPr/>
            <p:nvPr/>
          </p:nvSpPr>
          <p:spPr>
            <a:xfrm>
              <a:off x="6419850" y="5391150"/>
              <a:ext cx="209550" cy="2095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チェック3_チェック"/>
            <p:cNvSpPr/>
            <p:nvPr/>
          </p:nvSpPr>
          <p:spPr>
            <a:xfrm>
              <a:off x="6419850" y="53911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項目3"/>
            <p:cNvSpPr/>
            <p:nvPr/>
          </p:nvSpPr>
          <p:spPr>
            <a:xfrm>
              <a:off x="6762750" y="53721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試験運用する1部門の決定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導入にあたって｜SUPPORT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導入前の不安は、この4つの回答でほぼ解消できる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よくいただく質問（導入検討時）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注：回答は標準提供条件の要約です（架空サンプル）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出所：SampleWorksサポートFAQ（架空サンプル）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11</a:t>
            </a:r>
          </a:p>
        </p:txBody>
      </p:sp>
      <p:grpSp>
        <p:nvGrpSpPr>
          <p:cNvPr id="10" name="FAQ01"/>
          <p:cNvGrpSpPr/>
          <p:nvPr/>
        </p:nvGrpSpPr>
        <p:grpSpPr>
          <a:xfrm>
            <a:off x="571500" y="1333500"/>
            <a:ext cx="5334000" cy="1943100"/>
            <a:chOff x="571500" y="1333500"/>
            <a:chExt cx="5334000" cy="1943100"/>
          </a:xfrm>
        </p:grpSpPr>
        <p:sp>
          <p:nvSpPr>
            <p:cNvPr id="11" name="Qマーカー"/>
            <p:cNvSpPr/>
            <p:nvPr/>
          </p:nvSpPr>
          <p:spPr>
            <a:xfrm>
              <a:off x="571500" y="1333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Q文字"/>
            <p:cNvSpPr/>
            <p:nvPr/>
          </p:nvSpPr>
          <p:spPr>
            <a:xfrm>
              <a:off x="571500" y="1343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13" name="質問文"/>
            <p:cNvSpPr/>
            <p:nvPr/>
          </p:nvSpPr>
          <p:spPr>
            <a:xfrm>
              <a:off x="1066800" y="133350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ITに不慣れなメンバーでも使えますか？</a:t>
              </a:r>
            </a:p>
          </p:txBody>
        </p:sp>
        <p:cxnSp>
          <p:nvCxnSpPr>
            <p:cNvPr id="14" name="区切り線"/>
            <p:cNvCxnSpPr/>
            <p:nvPr/>
          </p:nvCxnSpPr>
          <p:spPr>
            <a:xfrm>
              <a:off x="571500" y="18669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マーカー"/>
            <p:cNvSpPr/>
            <p:nvPr/>
          </p:nvSpPr>
          <p:spPr>
            <a:xfrm>
              <a:off x="571500" y="20574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文字"/>
            <p:cNvSpPr/>
            <p:nvPr/>
          </p:nvSpPr>
          <p:spPr>
            <a:xfrm>
              <a:off x="571500" y="20669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7" name="回答文"/>
            <p:cNvSpPr/>
            <p:nvPr/>
          </p:nvSpPr>
          <p:spPr>
            <a:xfrm>
              <a:off x="1066800" y="203835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操作は「選ぶ→生成→共有」の3ステップだけです。初期設定は当社が代行し、導入時に30分の研修を行うため、初日から全員が使い始められます。</a:t>
              </a:r>
            </a:p>
          </p:txBody>
        </p:sp>
      </p:grpSp>
      <p:grpSp>
        <p:nvGrpSpPr>
          <p:cNvPr id="18" name="FAQ02"/>
          <p:cNvGrpSpPr/>
          <p:nvPr/>
        </p:nvGrpSpPr>
        <p:grpSpPr>
          <a:xfrm>
            <a:off x="6286500" y="1333500"/>
            <a:ext cx="5334000" cy="1943100"/>
            <a:chOff x="6286500" y="1333500"/>
            <a:chExt cx="5334000" cy="1943100"/>
          </a:xfrm>
        </p:grpSpPr>
        <p:sp>
          <p:nvSpPr>
            <p:cNvPr id="19" name="Qマーカー"/>
            <p:cNvSpPr/>
            <p:nvPr/>
          </p:nvSpPr>
          <p:spPr>
            <a:xfrm>
              <a:off x="6286500" y="1333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Q文字"/>
            <p:cNvSpPr/>
            <p:nvPr/>
          </p:nvSpPr>
          <p:spPr>
            <a:xfrm>
              <a:off x="6286500" y="1343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21" name="質問文"/>
            <p:cNvSpPr/>
            <p:nvPr/>
          </p:nvSpPr>
          <p:spPr>
            <a:xfrm>
              <a:off x="6781800" y="133350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これまでのExcel・PowerPoint資産は無駄になりませんか？</a:t>
              </a:r>
            </a:p>
          </p:txBody>
        </p:sp>
        <p:cxnSp>
          <p:nvCxnSpPr>
            <p:cNvPr id="22" name="区切り線"/>
            <p:cNvCxnSpPr/>
            <p:nvPr/>
          </p:nvCxnSpPr>
          <p:spPr>
            <a:xfrm>
              <a:off x="6286500" y="18669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マーカー"/>
            <p:cNvSpPr/>
            <p:nvPr/>
          </p:nvSpPr>
          <p:spPr>
            <a:xfrm>
              <a:off x="6286500" y="20574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文字"/>
            <p:cNvSpPr/>
            <p:nvPr/>
          </p:nvSpPr>
          <p:spPr>
            <a:xfrm>
              <a:off x="6286500" y="20669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25" name="回答文"/>
            <p:cNvSpPr/>
            <p:nvPr/>
          </p:nvSpPr>
          <p:spPr>
            <a:xfrm>
              <a:off x="6781800" y="203835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なりません。既存のファイルを取り込んでテンプレート化できるため、いままで育ててきた資料の型を活かしたまま移行できます。</a:t>
              </a:r>
            </a:p>
          </p:txBody>
        </p:sp>
      </p:grpSp>
      <p:grpSp>
        <p:nvGrpSpPr>
          <p:cNvPr id="26" name="FAQ03"/>
          <p:cNvGrpSpPr/>
          <p:nvPr/>
        </p:nvGrpSpPr>
        <p:grpSpPr>
          <a:xfrm>
            <a:off x="571500" y="3714750"/>
            <a:ext cx="5334000" cy="1943100"/>
            <a:chOff x="571500" y="3714750"/>
            <a:chExt cx="5334000" cy="1943100"/>
          </a:xfrm>
        </p:grpSpPr>
        <p:sp>
          <p:nvSpPr>
            <p:cNvPr id="27" name="Qマーカー"/>
            <p:cNvSpPr/>
            <p:nvPr/>
          </p:nvSpPr>
          <p:spPr>
            <a:xfrm>
              <a:off x="571500" y="37147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Q文字"/>
            <p:cNvSpPr/>
            <p:nvPr/>
          </p:nvSpPr>
          <p:spPr>
            <a:xfrm>
              <a:off x="571500" y="37242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29" name="質問文"/>
            <p:cNvSpPr/>
            <p:nvPr/>
          </p:nvSpPr>
          <p:spPr>
            <a:xfrm>
              <a:off x="1066800" y="371475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セキュリティ対策はどうなっていますか？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571500" y="42481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Aマーカー"/>
            <p:cNvSpPr/>
            <p:nvPr/>
          </p:nvSpPr>
          <p:spPr>
            <a:xfrm>
              <a:off x="571500" y="443865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A文字"/>
            <p:cNvSpPr/>
            <p:nvPr/>
          </p:nvSpPr>
          <p:spPr>
            <a:xfrm>
              <a:off x="571500" y="44481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33" name="回答文"/>
            <p:cNvSpPr/>
            <p:nvPr/>
          </p:nvSpPr>
          <p:spPr>
            <a:xfrm>
              <a:off x="1066800" y="441960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データは国内データセンターで暗号化して保管します。SSO・IP制限・操作ログの取得にも対応しています（Enterpriseプラン）。</a:t>
              </a:r>
            </a:p>
          </p:txBody>
        </p:sp>
      </p:grpSp>
      <p:grpSp>
        <p:nvGrpSpPr>
          <p:cNvPr id="34" name="FAQ04"/>
          <p:cNvGrpSpPr/>
          <p:nvPr/>
        </p:nvGrpSpPr>
        <p:grpSpPr>
          <a:xfrm>
            <a:off x="6286500" y="3714750"/>
            <a:ext cx="5334000" cy="1943100"/>
            <a:chOff x="6286500" y="3714750"/>
            <a:chExt cx="5334000" cy="1943100"/>
          </a:xfrm>
        </p:grpSpPr>
        <p:sp>
          <p:nvSpPr>
            <p:cNvPr id="35" name="Qマーカー"/>
            <p:cNvSpPr/>
            <p:nvPr/>
          </p:nvSpPr>
          <p:spPr>
            <a:xfrm>
              <a:off x="6286500" y="37147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Q文字"/>
            <p:cNvSpPr/>
            <p:nvPr/>
          </p:nvSpPr>
          <p:spPr>
            <a:xfrm>
              <a:off x="6286500" y="37242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37" name="質問文"/>
            <p:cNvSpPr/>
            <p:nvPr/>
          </p:nvSpPr>
          <p:spPr>
            <a:xfrm>
              <a:off x="6781800" y="371475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契約期間の縛りや解約金はありますか？</a:t>
              </a:r>
            </a:p>
          </p:txBody>
        </p:sp>
        <p:cxnSp>
          <p:nvCxnSpPr>
            <p:cNvPr id="38" name="区切り線"/>
            <p:cNvCxnSpPr/>
            <p:nvPr/>
          </p:nvCxnSpPr>
          <p:spPr>
            <a:xfrm>
              <a:off x="6286500" y="42481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マーカー"/>
            <p:cNvSpPr/>
            <p:nvPr/>
          </p:nvSpPr>
          <p:spPr>
            <a:xfrm>
              <a:off x="6286500" y="443865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文字"/>
            <p:cNvSpPr/>
            <p:nvPr/>
          </p:nvSpPr>
          <p:spPr>
            <a:xfrm>
              <a:off x="6286500" y="44481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41" name="回答文"/>
            <p:cNvSpPr/>
            <p:nvPr/>
          </p:nvSpPr>
          <p:spPr>
            <a:xfrm>
              <a:off x="6781800" y="441960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ありません。月単位の契約で、解約時にはご利用データを一括エクスポートできます。安心してお試しください。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次のステップ｜NEXT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次の一歩は、30分の無料オンライン相談から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ご相談から試験導入までの進み方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注：連絡先はダミー表記です。本資料の内容はすべて架空のサンプル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出所：株式会社サンプルワークス（架空サンプル）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12</a:t>
            </a:r>
          </a:p>
        </p:txBody>
      </p:sp>
      <p:grpSp>
        <p:nvGrpSpPr>
          <p:cNvPr id="10" name="結び_結論ボックス"/>
          <p:cNvGrpSpPr/>
          <p:nvPr/>
        </p:nvGrpSpPr>
        <p:grpSpPr>
          <a:xfrm>
            <a:off x="571500" y="1333500"/>
            <a:ext cx="11049000" cy="1104900"/>
            <a:chOff x="571500" y="1333500"/>
            <a:chExt cx="11049000" cy="1104900"/>
          </a:xfrm>
        </p:grpSpPr>
        <p:sp>
          <p:nvSpPr>
            <p:cNvPr id="11" name="結論ボックス"/>
            <p:cNvSpPr/>
            <p:nvPr/>
          </p:nvSpPr>
          <p:spPr>
            <a:xfrm>
              <a:off x="571500" y="1333500"/>
              <a:ext cx="11049000" cy="1104900"/>
            </a:xfrm>
            <a:prstGeom prst="roundRect">
              <a:avLst>
                <a:gd name="adj" fmla="val 689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結論ラベル"/>
            <p:cNvSpPr/>
            <p:nvPr/>
          </p:nvSpPr>
          <p:spPr>
            <a:xfrm>
              <a:off x="857250" y="14859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本日の結論</a:t>
              </a:r>
            </a:p>
          </p:txBody>
        </p:sp>
        <p:sp>
          <p:nvSpPr>
            <p:cNvPr id="13" name="結論本文"/>
            <p:cNvSpPr/>
            <p:nvPr/>
          </p:nvSpPr>
          <p:spPr>
            <a:xfrm>
              <a:off x="857250" y="1714500"/>
              <a:ext cx="104775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500" b="1">
                  <a:solidFill>
                    <a:schemeClr val="lt1"/>
                  </a:solidFill>
                </a:rPr>
                <a:t>資料づくりの悩みは、個人の努力ではなく“仕組み”で解決できる。</a:t>
              </a:r>
            </a:p>
            <a:p>
              <a:pPr algn="l">
                <a:lnSpc>
                  <a:spcPct val="155000"/>
                </a:lnSpc>
              </a:pPr>
              <a:r>
                <a:rPr sz="1500" b="1">
                  <a:solidFill>
                    <a:schemeClr val="lt1"/>
                  </a:solidFill>
                </a:rPr>
                <a:t>SampleWorksが、その仕組みを最短2週間で立ち上げます。</a:t>
              </a:r>
            </a:p>
          </p:txBody>
        </p:sp>
      </p:grpSp>
      <p:grpSp>
        <p:nvGrpSpPr>
          <p:cNvPr id="14" name="次のステップ01_無料オンライン相談"/>
          <p:cNvGrpSpPr/>
          <p:nvPr/>
        </p:nvGrpSpPr>
        <p:grpSpPr>
          <a:xfrm>
            <a:off x="571500" y="2819400"/>
            <a:ext cx="3162300" cy="1219200"/>
            <a:chOff x="571500" y="2819400"/>
            <a:chExt cx="3162300" cy="1219200"/>
          </a:xfrm>
        </p:grpSpPr>
        <p:sp>
          <p:nvSpPr>
            <p:cNvPr id="15" name="ステップカード"/>
            <p:cNvSpPr/>
            <p:nvPr/>
          </p:nvSpPr>
          <p:spPr>
            <a:xfrm>
              <a:off x="571500" y="2819400"/>
              <a:ext cx="3162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番号円"/>
            <p:cNvSpPr/>
            <p:nvPr/>
          </p:nvSpPr>
          <p:spPr>
            <a:xfrm>
              <a:off x="781050" y="30289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番号"/>
            <p:cNvSpPr/>
            <p:nvPr/>
          </p:nvSpPr>
          <p:spPr>
            <a:xfrm>
              <a:off x="781050" y="30384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18" name="ステップ名"/>
            <p:cNvSpPr/>
            <p:nvPr/>
          </p:nvSpPr>
          <p:spPr>
            <a:xfrm>
              <a:off x="1219200" y="3067050"/>
              <a:ext cx="2381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無料オンライン相談</a:t>
              </a:r>
            </a:p>
          </p:txBody>
        </p:sp>
        <p:sp>
          <p:nvSpPr>
            <p:cNvPr id="19" name="ステップ説明"/>
            <p:cNvSpPr/>
            <p:nvPr/>
          </p:nvSpPr>
          <p:spPr>
            <a:xfrm>
              <a:off x="781050" y="3486150"/>
              <a:ext cx="2743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いまの資料づくりの悩みを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30分でヒアリング</a:t>
              </a:r>
            </a:p>
          </p:txBody>
        </p:sp>
      </p:grpSp>
      <p:grpSp>
        <p:nvGrpSpPr>
          <p:cNvPr id="20" name="次のステップ02_貴社資料でデモ"/>
          <p:cNvGrpSpPr/>
          <p:nvPr/>
        </p:nvGrpSpPr>
        <p:grpSpPr>
          <a:xfrm>
            <a:off x="4514850" y="2819400"/>
            <a:ext cx="3162300" cy="1219200"/>
            <a:chOff x="4514850" y="2819400"/>
            <a:chExt cx="3162300" cy="1219200"/>
          </a:xfrm>
        </p:grpSpPr>
        <p:sp>
          <p:nvSpPr>
            <p:cNvPr id="21" name="ステップカード"/>
            <p:cNvSpPr/>
            <p:nvPr/>
          </p:nvSpPr>
          <p:spPr>
            <a:xfrm>
              <a:off x="4514850" y="2819400"/>
              <a:ext cx="3162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番号円"/>
            <p:cNvSpPr/>
            <p:nvPr/>
          </p:nvSpPr>
          <p:spPr>
            <a:xfrm>
              <a:off x="4724400" y="30289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"/>
            <p:cNvSpPr/>
            <p:nvPr/>
          </p:nvSpPr>
          <p:spPr>
            <a:xfrm>
              <a:off x="4724400" y="30384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4" name="ステップ名"/>
            <p:cNvSpPr/>
            <p:nvPr/>
          </p:nvSpPr>
          <p:spPr>
            <a:xfrm>
              <a:off x="5162550" y="3067050"/>
              <a:ext cx="2381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貴社資料でデモ</a:t>
              </a:r>
            </a:p>
          </p:txBody>
        </p:sp>
        <p:sp>
          <p:nvSpPr>
            <p:cNvPr id="25" name="ステップ説明"/>
            <p:cNvSpPr/>
            <p:nvPr/>
          </p:nvSpPr>
          <p:spPr>
            <a:xfrm>
              <a:off x="4724400" y="3486150"/>
              <a:ext cx="2743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お手元の資料をそのまま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再現してご確認</a:t>
              </a:r>
            </a:p>
          </p:txBody>
        </p:sp>
      </p:grpSp>
      <p:grpSp>
        <p:nvGrpSpPr>
          <p:cNvPr id="26" name="次のステップ03_1部門で試験導入"/>
          <p:cNvGrpSpPr/>
          <p:nvPr/>
        </p:nvGrpSpPr>
        <p:grpSpPr>
          <a:xfrm>
            <a:off x="8458200" y="2819400"/>
            <a:ext cx="3162300" cy="1219200"/>
            <a:chOff x="8458200" y="2819400"/>
            <a:chExt cx="3162300" cy="1219200"/>
          </a:xfrm>
        </p:grpSpPr>
        <p:sp>
          <p:nvSpPr>
            <p:cNvPr id="27" name="ステップカード"/>
            <p:cNvSpPr/>
            <p:nvPr/>
          </p:nvSpPr>
          <p:spPr>
            <a:xfrm>
              <a:off x="8458200" y="2819400"/>
              <a:ext cx="3162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番号円"/>
            <p:cNvSpPr/>
            <p:nvPr/>
          </p:nvSpPr>
          <p:spPr>
            <a:xfrm>
              <a:off x="8667750" y="30289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番号"/>
            <p:cNvSpPr/>
            <p:nvPr/>
          </p:nvSpPr>
          <p:spPr>
            <a:xfrm>
              <a:off x="8667750" y="30384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0" name="ステップ名"/>
            <p:cNvSpPr/>
            <p:nvPr/>
          </p:nvSpPr>
          <p:spPr>
            <a:xfrm>
              <a:off x="9105900" y="3067050"/>
              <a:ext cx="2381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1部門で試験導入</a:t>
              </a:r>
            </a:p>
          </p:txBody>
        </p:sp>
        <p:sp>
          <p:nvSpPr>
            <p:cNvPr id="31" name="ステップ説明"/>
            <p:cNvSpPr/>
            <p:nvPr/>
          </p:nvSpPr>
          <p:spPr>
            <a:xfrm>
              <a:off x="8667750" y="3486150"/>
              <a:ext cx="2743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効果を実測してから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全社展開をご判断</a:t>
              </a:r>
            </a:p>
          </p:txBody>
        </p:sp>
      </p:grpSp>
      <p:grpSp>
        <p:nvGrpSpPr>
          <p:cNvPr id="32" name="次ステップ矢印"/>
          <p:cNvGrpSpPr/>
          <p:nvPr/>
        </p:nvGrpSpPr>
        <p:grpSpPr>
          <a:xfrm>
            <a:off x="3810000" y="3429000"/>
            <a:ext cx="4572000" cy="19050"/>
            <a:chOff x="3810000" y="3429000"/>
            <a:chExt cx="4572000" cy="19050"/>
          </a:xfrm>
        </p:grpSpPr>
        <p:cxnSp>
          <p:nvCxnSpPr>
            <p:cNvPr id="33" name="1→2"/>
            <p:cNvCxnSpPr/>
            <p:nvPr/>
          </p:nvCxnSpPr>
          <p:spPr>
            <a:xfrm>
              <a:off x="3810000" y="3429000"/>
              <a:ext cx="6286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2→3"/>
            <p:cNvCxnSpPr/>
            <p:nvPr/>
          </p:nvCxnSpPr>
          <p:spPr>
            <a:xfrm>
              <a:off x="7753350" y="3429000"/>
              <a:ext cx="6286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結び_CTAボタン"/>
          <p:cNvGrpSpPr/>
          <p:nvPr/>
        </p:nvGrpSpPr>
        <p:grpSpPr>
          <a:xfrm>
            <a:off x="4191000" y="4533900"/>
            <a:ext cx="3810000" cy="552450"/>
            <a:chOff x="4191000" y="4533900"/>
            <a:chExt cx="3810000" cy="552450"/>
          </a:xfrm>
        </p:grpSpPr>
        <p:sp>
          <p:nvSpPr>
            <p:cNvPr id="36" name="CTAボタン（朱）"/>
            <p:cNvSpPr/>
            <p:nvPr/>
          </p:nvSpPr>
          <p:spPr>
            <a:xfrm>
              <a:off x="4191000" y="4533900"/>
              <a:ext cx="381000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TA文字"/>
            <p:cNvSpPr/>
            <p:nvPr/>
          </p:nvSpPr>
          <p:spPr>
            <a:xfrm>
              <a:off x="4191000" y="4543425"/>
              <a:ext cx="3810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50" b="1">
                  <a:solidFill>
                    <a:schemeClr val="lt1"/>
                  </a:solidFill>
                </a:rPr>
                <a:t>無料オンライン相談を予約する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571500" y="5334000"/>
            <a:ext cx="11049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contact@sampleworks.example　／　00-0000-0000（平日 9:00–18:00）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