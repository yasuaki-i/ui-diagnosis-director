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【主役の系列】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14</c:v>
                </c:pt>
                <c:pt idx="2">
                  <c:v>19</c:v>
                </c:pt>
                <c:pt idx="3">
                  <c:v>25</c:v>
                </c:pt>
                <c:pt idx="4">
                  <c:v>32</c:v>
                </c:pt>
                <c:pt idx="5">
                  <c:v>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【比較の系列】</c:v>
                </c:pt>
              </c:strCache>
            </c:strRef>
          </c:tx>
          <c:spPr>
            <a:solidFill>
              <a:schemeClr val="accent6"/>
            </a:solidFill>
          </c:spP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40</c:v>
                </c:pt>
                <c:pt idx="1">
                  <c:v>41</c:v>
                </c:pt>
                <c:pt idx="2">
                  <c:v>39</c:v>
                </c:pt>
                <c:pt idx="3">
                  <c:v>40</c:v>
                </c:pt>
                <c:pt idx="4">
                  <c:v>38</c:v>
                </c:pt>
                <c:pt idx="5">
                  <c:v>37</c:v>
                </c:pt>
              </c:numCache>
            </c:numRef>
          </c:val>
        </c:ser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SNS経由（件）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</c:v>
                </c:pt>
                <c:pt idx="1">
                  <c:v>52</c:v>
                </c:pt>
                <c:pt idx="2">
                  <c:v>74</c:v>
                </c:pt>
                <c:pt idx="3">
                  <c:v>89</c:v>
                </c:pt>
                <c:pt idx="4">
                  <c:v>102</c:v>
                </c:pt>
                <c:pt idx="5">
                  <c:v>118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電話・メール（件）</c:v>
                </c:pt>
              </c:strCache>
            </c:strRef>
          </c:tx>
          <c:spPr>
            <a:solidFill>
              <a:schemeClr val="accent6"/>
            </a:solidFill>
          </c:spP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120</c:v>
                </c:pt>
                <c:pt idx="1">
                  <c:v>115</c:v>
                </c:pt>
                <c:pt idx="2">
                  <c:v>109</c:v>
                </c:pt>
                <c:pt idx="3">
                  <c:v>104</c:v>
                </c:pt>
                <c:pt idx="4">
                  <c:v>99</c:v>
                </c:pt>
                <c:pt idx="5">
                  <c:v>96</c:v>
                </c:pt>
              </c:numCache>
            </c:numRef>
          </c:val>
        </c:ser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本テンプレートはnote記事『デロイト351枚実測——スライド7つの型』の有料特典です。各型は『テンプレ』と『記入例』の2枚セット。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配色変更：デザイン→バリエーション→配色。フォント変更：同じくバリエーション→フォント。全図形がテーマ連動のため一括で切り替わります。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型①は全351枚中157枚（45%）を占めた主力の型。note本編のプロンプト①の出力を、そのままこの表に流し込めます。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左から右へ、行ごとに『問題→事実→対策』の論理が完結しているかを最後に確認してください。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グラフは主張の証拠品。デロイトの実測ではグラフは全体の11%しかなく、必ずSo What注釈とセットで使われていました。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数字があるからグラフを貼るのではなく、主張を通したいからグラフを貼る。この順番が型②の本質です。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読み手が反論するなら『評価軸の妥当性』か『個別の○×』に絞られる——議論が前に進む構造を作る型です。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○×の記号だけにせず、セルに根拠を1語添えるのがデロイト流。記号の裏に事実があることを示します。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型④は話の冒頭で全体像を掴ませる型。この1枚の後は、表とグラフで論証する前提で設計します。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役員への初回説明を想定した記入例。強調は1箇所（加工工程）だけに絞っています。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2軸マップの座標は、円をドラッグするだけで動かせます。軸ラベル・象限の意味から先に埋めてください。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フレームワークで考え、表で伝える。この後の詳細説明は型①③に引き継ぐ設計です。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マイルストーンは『達成したかを誰でも判定できるイベント』に。『浸透する』は不可、『全部門で月1回利用』は可。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完了の定義を別紙で持っておくと施策一覧（noteプロンプト⑥の出力5）とセットで運用できます。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型⑦は351枚中36枚（10%）。ほぼ白紙に見えて、長い資料の迷子防止に一番効く型です。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章の問いは、その章のヘッドメッセージ群で必ず回答されるものにします。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利用範囲の設計：購入者の業務利用は最大限自由に、テンプレ自体の再流通だけを制限しています。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417320"/>
            <a:ext cx="2011680" cy="0"/>
          </a:xfrm>
          <a:prstGeom prst="line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691640"/>
            <a:ext cx="10698480" cy="17373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chemeClr val="lt1"/>
                </a:solidFill>
              </a:rPr>
              <a:t>コンサル『7つの型』</a:t>
            </a:r>
          </a:p>
          <a:p>
            <a:pPr algn="l">
              <a:spcAft>
                <a:spcPts val="1000"/>
              </a:spcAft>
            </a:pPr>
            <a:r>
              <a:rPr sz="4000" b="1">
                <a:solidFill>
                  <a:schemeClr val="lt1"/>
                </a:solidFill>
              </a:rPr>
              <a:t>スライドテンプレート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chemeClr val="accent3"/>
                </a:solidFill>
              </a:rPr>
              <a:t>デロイトが国に納品したスライド351枚の実測から抽出——開いて、埋めるだけ。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60520"/>
            <a:ext cx="2697480" cy="475488"/>
          </a:xfrm>
          <a:prstGeom prst="roundRect">
            <a:avLst/>
          </a:prstGeom>
          <a:noFill/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18288" bIns="18288"/>
          <a:lstStyle/>
          <a:p>
            <a:pPr algn="l"/>
            <a:r>
              <a:rPr sz="1200" b="1">
                <a:solidFill>
                  <a:schemeClr val="lt1"/>
                </a:solidFill>
              </a:rPr>
              <a:t>① 論証テーブル　</a:t>
            </a:r>
            <a:r>
              <a:rPr sz="1100" b="0">
                <a:solidFill>
                  <a:schemeClr val="accent2"/>
                </a:solidFill>
              </a:rPr>
              <a:t>45%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93592" y="4160520"/>
            <a:ext cx="2697480" cy="475488"/>
          </a:xfrm>
          <a:prstGeom prst="roundRect">
            <a:avLst/>
          </a:prstGeom>
          <a:noFill/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18288" bIns="18288"/>
          <a:lstStyle/>
          <a:p>
            <a:pPr algn="l"/>
            <a:r>
              <a:rPr sz="1200" b="1">
                <a:solidFill>
                  <a:schemeClr val="lt1"/>
                </a:solidFill>
              </a:rPr>
              <a:t>② データチャート　</a:t>
            </a:r>
            <a:r>
              <a:rPr sz="1100" b="0">
                <a:solidFill>
                  <a:schemeClr val="accent2"/>
                </a:solidFill>
              </a:rPr>
              <a:t>11%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55664" y="4160520"/>
            <a:ext cx="2697480" cy="475488"/>
          </a:xfrm>
          <a:prstGeom prst="roundRect">
            <a:avLst/>
          </a:prstGeom>
          <a:noFill/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18288" bIns="18288"/>
          <a:lstStyle/>
          <a:p>
            <a:pPr algn="l"/>
            <a:r>
              <a:rPr sz="1200" b="1">
                <a:solidFill>
                  <a:schemeClr val="lt1"/>
                </a:solidFill>
              </a:rPr>
              <a:t>③ ○×比較　</a:t>
            </a:r>
            <a:r>
              <a:rPr sz="1100" b="0">
                <a:solidFill>
                  <a:schemeClr val="accent2"/>
                </a:solidFill>
              </a:rPr>
              <a:t>9%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17736" y="4160520"/>
            <a:ext cx="2697480" cy="475488"/>
          </a:xfrm>
          <a:prstGeom prst="roundRect">
            <a:avLst/>
          </a:prstGeom>
          <a:noFill/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18288" bIns="18288"/>
          <a:lstStyle/>
          <a:p>
            <a:pPr algn="l"/>
            <a:r>
              <a:rPr sz="1200" b="1">
                <a:solidFill>
                  <a:schemeClr val="lt1"/>
                </a:solidFill>
              </a:rPr>
              <a:t>④ 絵解き　</a:t>
            </a:r>
            <a:r>
              <a:rPr sz="1100" b="0">
                <a:solidFill>
                  <a:schemeClr val="accent2"/>
                </a:solidFill>
              </a:rPr>
              <a:t>8%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00600"/>
            <a:ext cx="2697480" cy="475488"/>
          </a:xfrm>
          <a:prstGeom prst="roundRect">
            <a:avLst/>
          </a:prstGeom>
          <a:noFill/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18288" bIns="18288"/>
          <a:lstStyle/>
          <a:p>
            <a:pPr algn="l"/>
            <a:r>
              <a:rPr sz="1200" b="1">
                <a:solidFill>
                  <a:schemeClr val="lt1"/>
                </a:solidFill>
              </a:rPr>
              <a:t>⑤ フレームワーク　</a:t>
            </a:r>
            <a:r>
              <a:rPr sz="1100" b="0">
                <a:solidFill>
                  <a:schemeClr val="accent2"/>
                </a:solidFill>
              </a:rPr>
              <a:t>7%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93592" y="4800600"/>
            <a:ext cx="2697480" cy="475488"/>
          </a:xfrm>
          <a:prstGeom prst="roundRect">
            <a:avLst/>
          </a:prstGeom>
          <a:noFill/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18288" bIns="18288"/>
          <a:lstStyle/>
          <a:p>
            <a:pPr algn="l"/>
            <a:r>
              <a:rPr sz="1200" b="1">
                <a:solidFill>
                  <a:schemeClr val="lt1"/>
                </a:solidFill>
              </a:rPr>
              <a:t>⑥ ロードマップ　</a:t>
            </a:r>
            <a:r>
              <a:rPr sz="1100" b="0">
                <a:solidFill>
                  <a:schemeClr val="accent2"/>
                </a:solidFill>
              </a:rPr>
              <a:t>7%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55664" y="4800600"/>
            <a:ext cx="2697480" cy="475488"/>
          </a:xfrm>
          <a:prstGeom prst="roundRect">
            <a:avLst/>
          </a:prstGeom>
          <a:noFill/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18288" bIns="18288"/>
          <a:lstStyle/>
          <a:p>
            <a:pPr algn="l"/>
            <a:r>
              <a:rPr sz="1200" b="1">
                <a:solidFill>
                  <a:schemeClr val="lt1"/>
                </a:solidFill>
              </a:rPr>
              <a:t>⑦ 中扉　</a:t>
            </a:r>
            <a:r>
              <a:rPr sz="1100" b="0">
                <a:solidFill>
                  <a:schemeClr val="accent2"/>
                </a:solidFill>
              </a:rPr>
              <a:t>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chemeClr val="accent5"/>
                </a:solidFill>
              </a:rPr>
              <a:t>うちたの保管庫 会員特典｜ver 1.0（2026年7月）｜制作：うちた（@uchita_success）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8229600" cy="4572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chemeClr val="tx2"/>
                </a:solidFill>
              </a:rPr>
              <a:t>使い方——3ステップで、今日の資料から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676656"/>
            <a:ext cx="11365992" cy="0"/>
          </a:xfrm>
          <a:prstGeom prst="line">
            <a:avLst/>
          </a:prstGeom>
          <a:ln w="1778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411480" y="960120"/>
            <a:ext cx="475488" cy="47548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800" b="1">
                <a:solidFill>
                  <a:schemeClr val="lt1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960120"/>
            <a:ext cx="6035040" cy="10972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chemeClr val="tx2"/>
                </a:solidFill>
              </a:rPr>
              <a:t>型を選んでコピー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chemeClr val="tx1"/>
                </a:solidFill>
              </a:rPr>
              <a:t>使いたい型のスライドを、自分の資料へコピー＆ペースト。各型は『テンプレ』と『記入例』の2枚セット。まず記入例を見てからテンプレを埋めるのが最速です。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2130552"/>
            <a:ext cx="475488" cy="47548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800" b="1">
                <a:solidFill>
                  <a:schemeClr val="lt1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0552"/>
            <a:ext cx="6035040" cy="10972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chemeClr val="tx2"/>
                </a:solidFill>
              </a:rPr>
              <a:t>【　】を書き換える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chemeClr val="tx1"/>
                </a:solidFill>
              </a:rPr>
              <a:t>【　】の指示に従って中身を差し替え。note本編のプロンプト（全7本）の出力は、この【　】にそのまま流し込める形になっています。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3300984"/>
            <a:ext cx="475488" cy="47548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800" b="1">
                <a:solidFill>
                  <a:schemeClr val="lt1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300984"/>
            <a:ext cx="6035040" cy="10972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chemeClr val="tx2"/>
                </a:solidFill>
              </a:rPr>
              <a:t>配色を自社トンマナに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chemeClr val="tx1"/>
                </a:solidFill>
              </a:rPr>
              <a:t>全パーツがテーマカラー連動。PowerPointの『デザイン』タブ→『バリエーション』→『配色』を変えるだけで、資料全体が自社カラーに揃います（フォントも『フォント』から一括変更可）。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932688"/>
            <a:ext cx="4114800" cy="3200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chemeClr val="tx2"/>
                </a:solidFill>
              </a:rPr>
              <a:t>全型共通の『5点骨格』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1325880"/>
            <a:ext cx="4114800" cy="402336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18288" bIns="18288"/>
          <a:lstStyle/>
          <a:p>
            <a:pPr algn="l"/>
            <a:r>
              <a:rPr sz="1100" b="1">
                <a:solidFill>
                  <a:schemeClr val="tx2"/>
                </a:solidFill>
              </a:rPr>
              <a:t>① タイトル　</a:t>
            </a:r>
            <a:r>
              <a:rPr sz="950" b="0">
                <a:solidFill>
                  <a:schemeClr val="tx2"/>
                </a:solidFill>
              </a:rPr>
              <a:t>何の話か（名詞句14〜20字）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1783080"/>
            <a:ext cx="4114800" cy="402336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18288" bIns="18288"/>
          <a:lstStyle/>
          <a:p>
            <a:pPr algn="l"/>
            <a:r>
              <a:rPr sz="1100" b="1">
                <a:solidFill>
                  <a:schemeClr val="lt1"/>
                </a:solidFill>
              </a:rPr>
              <a:t>② リード帯　</a:t>
            </a:r>
            <a:r>
              <a:rPr sz="950" b="0">
                <a:solidFill>
                  <a:schemeClr val="lt1"/>
                </a:solidFill>
              </a:rPr>
              <a:t>主張を1行で言い切る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240280"/>
            <a:ext cx="4114800" cy="402336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18288" bIns="18288"/>
          <a:lstStyle/>
          <a:p>
            <a:pPr algn="l"/>
            <a:r>
              <a:rPr sz="1100" b="1">
                <a:solidFill>
                  <a:schemeClr val="tx2"/>
                </a:solidFill>
              </a:rPr>
              <a:t>③ ヘッドメッセージ　</a:t>
            </a:r>
            <a:r>
              <a:rPr sz="950" b="0">
                <a:solidFill>
                  <a:schemeClr val="tx2"/>
                </a:solidFill>
              </a:rPr>
              <a:t>■付きで、文で断定する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2697480"/>
            <a:ext cx="4114800" cy="118872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18288" bIns="18288"/>
          <a:lstStyle/>
          <a:p>
            <a:pPr algn="l"/>
            <a:r>
              <a:rPr sz="1100" b="1">
                <a:solidFill>
                  <a:schemeClr val="tx2"/>
                </a:solidFill>
              </a:rPr>
              <a:t>④ ボディ　</a:t>
            </a:r>
            <a:r>
              <a:rPr sz="950" b="0">
                <a:solidFill>
                  <a:schemeClr val="tx2"/>
                </a:solidFill>
              </a:rPr>
              <a:t>表・図はここだけ（各型で中身が変わる）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3941064"/>
            <a:ext cx="4114800" cy="402336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18288" bIns="18288"/>
          <a:lstStyle/>
          <a:p>
            <a:pPr algn="l"/>
            <a:r>
              <a:rPr sz="1100" b="1">
                <a:solidFill>
                  <a:schemeClr val="tx2"/>
                </a:solidFill>
              </a:rPr>
              <a:t>⑤ 出典　</a:t>
            </a:r>
            <a:r>
              <a:rPr sz="950" b="0">
                <a:solidFill>
                  <a:schemeClr val="tx2"/>
                </a:solidFill>
              </a:rPr>
              <a:t>全ページ、例外なし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617720"/>
            <a:ext cx="6949440" cy="17373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chemeClr val="tx2"/>
                </a:solidFill>
              </a:rPr>
              <a:t>品質を守る3つの約束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chemeClr val="tx1"/>
                </a:solidFill>
              </a:rPr>
              <a:t>・1枚1メッセージ。入り切らないときはページを割る（デロイトは平気で3枚に分割する）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chemeClr val="tx1"/>
                </a:solidFill>
              </a:rPr>
              <a:t>・数字を捏造しない。無い箇所は『※要確認』と書いて出す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chemeClr val="tx1"/>
                </a:solidFill>
              </a:rPr>
              <a:t>・提出前に、リード帯とヘッドメッセージだけ読んで結論が伝わるか確認する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55664"/>
            <a:ext cx="11365992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chemeClr val="accent5"/>
                </a:solidFill>
              </a:rPr>
              <a:t>本テンプレートの型の出どころ：経済産業省公開のデロイト納品報告書351枚の実測分析（note本編参照）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0" y="6510528"/>
            <a:ext cx="45720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chemeClr val="accent5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87968" y="237744"/>
            <a:ext cx="1975104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accent1"/>
                </a:solidFill>
              </a:rPr>
              <a:t>型①｜論証テーブル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36224" y="237744"/>
            <a:ext cx="84124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lt1"/>
                </a:solidFill>
              </a:rPr>
              <a:t>テンプレ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595360" cy="4572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chemeClr val="tx2"/>
                </a:solidFill>
              </a:rPr>
              <a:t>【ページタイトル（名詞句14〜20字）】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676656"/>
            <a:ext cx="11365992" cy="0"/>
          </a:xfrm>
          <a:prstGeom prst="line">
            <a:avLst/>
          </a:prstGeom>
          <a:ln w="1778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11480" y="822960"/>
            <a:ext cx="11365992" cy="3474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18288" bIns="18288"/>
          <a:lstStyle/>
          <a:p>
            <a:pPr algn="l"/>
            <a:r>
              <a:rPr sz="1300" b="1">
                <a:solidFill>
                  <a:schemeClr val="lt1"/>
                </a:solidFill>
              </a:rPr>
              <a:t>【このページの主張を1文・30字前後で言い切る】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65992" cy="768096"/>
          </a:xfrm>
          <a:prstGeom prst="rect">
            <a:avLst/>
          </a:pr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18288" bIns="18288"/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>
                <a:solidFill>
                  <a:schemeClr val="tx1"/>
                </a:solidFill>
              </a:rPr>
              <a:t>■ 【データや事実から言えることを『〜と考えられる』と文で断定する】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>
                <a:solidFill>
                  <a:schemeClr val="tx1"/>
                </a:solidFill>
              </a:rPr>
              <a:t>■ 【続けて『だから〜が必要』まで言い切る（2〜3行以内）】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1005840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chemeClr val="accent5"/>
                </a:solidFill>
              </a:rPr>
              <a:t>出典：【データの出所・時点を必ず書く】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0528"/>
            <a:ext cx="45720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chemeClr val="accent5"/>
                </a:solidFill>
              </a:rPr>
              <a:t>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2212848"/>
          <a:ext cx="11365992" cy="3246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04872"/>
                <a:gridCol w="4480560"/>
                <a:gridCol w="4480560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chemeClr val="lt1"/>
                          </a:solidFill>
                        </a:rPr>
                        <a:t>課題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chemeClr val="lt1"/>
                          </a:solidFill>
                        </a:rPr>
                        <a:t>現状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chemeClr val="lt1"/>
                          </a:solidFill>
                        </a:rPr>
                        <a:t>打ち手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chemeClr val="tx2"/>
                          </a:solidFill>
                        </a:rPr>
                        <a:t>【課題①（名詞句15字以内）】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【事実と数字だけを書く。意見を書かない。数字が無い箇所は ※要確認 と明記】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chemeClr val="tx2"/>
                          </a:solidFill>
                        </a:rPr>
                        <a:t>【打ち手の見出し（太字1行）】</a:t>
                      </a:r>
                    </a:p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chemeClr val="tx1"/>
                          </a:solidFill>
                        </a:rPr>
                        <a:t>・【具体アクション（誰がやるか・いつ）】</a:t>
                      </a:r>
                    </a:p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chemeClr val="tx1"/>
                          </a:solidFill>
                        </a:rPr>
                        <a:t>・【具体アクション】</a:t>
                      </a:r>
                    </a:p>
                  </a:txBody>
                  <a:tcPr marL="64008" marR="64008" marT="36576" marB="36576" anchor="t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chemeClr val="tx2"/>
                          </a:solidFill>
                        </a:rPr>
                        <a:t>【課題②】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【現状②（事実と数字）】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chemeClr val="tx2"/>
                          </a:solidFill>
                        </a:rPr>
                        <a:t>【打ち手の見出し】</a:t>
                      </a:r>
                    </a:p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chemeClr val="tx1"/>
                          </a:solidFill>
                        </a:rPr>
                        <a:t>・【具体アクション（主体つき）】</a:t>
                      </a:r>
                    </a:p>
                  </a:txBody>
                  <a:tcPr marL="64008" marR="64008" marT="36576" marB="36576" anchor="t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chemeClr val="tx2"/>
                          </a:solidFill>
                        </a:rPr>
                        <a:t>【課題③】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【現状③（事実と数字）】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chemeClr val="tx2"/>
                          </a:solidFill>
                        </a:rPr>
                        <a:t>【打ち手の見出し】</a:t>
                      </a:r>
                    </a:p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chemeClr val="tx1"/>
                          </a:solidFill>
                        </a:rPr>
                        <a:t>・【具体アクション（主体つき）】</a:t>
                      </a:r>
                    </a:p>
                  </a:txBody>
                  <a:tcPr marL="64008" marR="64008" marT="36576" marB="36576" anchor="t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5760720"/>
            <a:ext cx="11365992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chemeClr val="accent5"/>
                </a:solidFill>
              </a:rPr>
              <a:t>※ 行は3〜5行まで。入り切らないときは詰め込まず、テーマを分割して2枚にする（1枚1メッセージ）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87968" y="237744"/>
            <a:ext cx="1975104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tx2"/>
                </a:solidFill>
              </a:rPr>
              <a:t>型①｜論証テーブル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36224" y="237744"/>
            <a:ext cx="841248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lt1"/>
                </a:solidFill>
              </a:rPr>
              <a:t>記入例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595360" cy="4572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chemeClr val="tx2"/>
                </a:solidFill>
              </a:rPr>
              <a:t>営業部門AI活用の課題と対応策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676656"/>
            <a:ext cx="11365992" cy="0"/>
          </a:xfrm>
          <a:prstGeom prst="line">
            <a:avLst/>
          </a:prstGeom>
          <a:ln w="1778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11480" y="822960"/>
            <a:ext cx="11365992" cy="3474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18288" bIns="18288"/>
          <a:lstStyle/>
          <a:p>
            <a:pPr algn="l"/>
            <a:r>
              <a:rPr sz="1300" b="1">
                <a:solidFill>
                  <a:schemeClr val="lt1"/>
                </a:solidFill>
              </a:rPr>
              <a:t>定着を阻む3課題は、研修ではなく『業務フローへの組込み』で解消する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65992" cy="768096"/>
          </a:xfrm>
          <a:prstGeom prst="rect">
            <a:avLst/>
          </a:pr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18288" bIns="18288"/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>
                <a:solidFill>
                  <a:schemeClr val="tx1"/>
                </a:solidFill>
              </a:rPr>
              <a:t>■ AI利用率は導入3ヶ月で12%まで低下しており、放置すればライセンス費が沈没コスト化すると考えられる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>
                <a:solidFill>
                  <a:schemeClr val="tx1"/>
                </a:solidFill>
              </a:rPr>
              <a:t>■ 3課題はいずれも個人の習熟ではなく仕組みで解決可能であり、Q3中の組込み完了が必要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1005840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chemeClr val="accent5"/>
                </a:solidFill>
              </a:rPr>
              <a:t>出典：営業部門ヒアリング（2026年6月・n=50）／SFA利用ログ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0528"/>
            <a:ext cx="45720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chemeClr val="accent5"/>
                </a:solidFill>
              </a:rPr>
              <a:t>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2212848"/>
          <a:ext cx="11365992" cy="3246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04872"/>
                <a:gridCol w="4480560"/>
                <a:gridCol w="4480560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chemeClr val="lt1"/>
                          </a:solidFill>
                        </a:rPr>
                        <a:t>課題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chemeClr val="lt1"/>
                          </a:solidFill>
                        </a:rPr>
                        <a:t>現状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chemeClr val="lt1"/>
                          </a:solidFill>
                        </a:rPr>
                        <a:t>打ち手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chemeClr val="tx2"/>
                          </a:solidFill>
                        </a:rPr>
                        <a:t>利用率の低迷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週1回以上の利用者は50名中6名（12%）。導入直後の41%から3ヶ月で急落（6月ログ実測）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chemeClr val="tx2"/>
                          </a:solidFill>
                        </a:rPr>
                        <a:t>商談準備フローへの組込み</a:t>
                      </a:r>
                    </a:p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chemeClr val="tx1"/>
                          </a:solidFill>
                        </a:rPr>
                        <a:t>・SFA入力後にAI要約を自動起動（情シス・7月）</a:t>
                      </a:r>
                    </a:p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chemeClr val="tx1"/>
                          </a:solidFill>
                        </a:rPr>
                        <a:t>・利用ログの週次モニタリング（営業企画）</a:t>
                      </a:r>
                    </a:p>
                  </a:txBody>
                  <a:tcPr marL="64008" marR="64008" marT="36576" marB="36576" anchor="t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chemeClr val="tx2"/>
                          </a:solidFill>
                        </a:rPr>
                        <a:t>プロンプトの属人化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成果上位5名のプロンプトが個人メモに散在し、共有の仕組みがない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chemeClr val="tx2"/>
                          </a:solidFill>
                        </a:rPr>
                        <a:t>プロンプト集の標準化</a:t>
                      </a:r>
                    </a:p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chemeClr val="tx1"/>
                          </a:solidFill>
                        </a:rPr>
                        <a:t>・商談フェーズ別テンプレ20本を整備（営業企画・8月）</a:t>
                      </a:r>
                    </a:p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chemeClr val="tx1"/>
                          </a:solidFill>
                        </a:rPr>
                        <a:t>・優秀例を月次で追加更新（現場リーダー）</a:t>
                      </a:r>
                    </a:p>
                  </a:txBody>
                  <a:tcPr marL="64008" marR="64008" marT="36576" marB="36576" anchor="t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chemeClr val="tx2"/>
                          </a:solidFill>
                        </a:rPr>
                        <a:t>評価との未連動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AI活用は人事評価・表彰の対象外。削減工数の効果測定も未実施（※定量効果は要確認）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chemeClr val="tx2"/>
                          </a:solidFill>
                        </a:rPr>
                        <a:t>活用を評価項目へ追加</a:t>
                      </a:r>
                    </a:p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chemeClr val="tx1"/>
                          </a:solidFill>
                        </a:rPr>
                        <a:t>・下期の目標設定にAI活用項目を追加（人事・9月）</a:t>
                      </a:r>
                    </a:p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chemeClr val="tx1"/>
                          </a:solidFill>
                        </a:rPr>
                        <a:t>・削減工数の測定ルールを策定（営業企画）</a:t>
                      </a:r>
                    </a:p>
                  </a:txBody>
                  <a:tcPr marL="64008" marR="64008" marT="36576" marB="36576" anchor="t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5760720"/>
            <a:ext cx="11365992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chemeClr val="accent5"/>
                </a:solidFill>
              </a:rPr>
              <a:t>ポイント：課題列は名詞句だけ／現状列は事実と数字だけ／打ち手には必ず『誰が・いつ』が入っている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87968" y="237744"/>
            <a:ext cx="1975104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accent1"/>
                </a:solidFill>
              </a:rPr>
              <a:t>型②｜データチャート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36224" y="237744"/>
            <a:ext cx="84124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lt1"/>
                </a:solidFill>
              </a:rPr>
              <a:t>テンプレ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595360" cy="4572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chemeClr val="tx2"/>
                </a:solidFill>
              </a:rPr>
              <a:t>【ページタイトル（名詞句14〜20字）】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676656"/>
            <a:ext cx="11365992" cy="0"/>
          </a:xfrm>
          <a:prstGeom prst="line">
            <a:avLst/>
          </a:prstGeom>
          <a:ln w="1778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11480" y="822960"/>
            <a:ext cx="11365992" cy="3474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18288" bIns="18288"/>
          <a:lstStyle/>
          <a:p>
            <a:pPr algn="l"/>
            <a:r>
              <a:rPr sz="1300" b="1">
                <a:solidFill>
                  <a:schemeClr val="lt1"/>
                </a:solidFill>
              </a:rPr>
              <a:t>【データから言いたい主張を1文で。グラフより先にここを書く】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65992" cy="768096"/>
          </a:xfrm>
          <a:prstGeom prst="rect">
            <a:avLst/>
          </a:pr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18288" bIns="18288"/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>
                <a:solidFill>
                  <a:schemeClr val="tx1"/>
                </a:solidFill>
              </a:rPr>
              <a:t>■ 【データから言えることを文で断定する】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>
                <a:solidFill>
                  <a:schemeClr val="tx1"/>
                </a:solidFill>
              </a:rPr>
              <a:t>■ 【だから何をすべきか、まで言い切る】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1005840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chemeClr val="accent5"/>
                </a:solidFill>
              </a:rPr>
              <a:t>出典：【データの出所と時点（例：問い合わせ管理システム・2026年1〜6月）】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0528"/>
            <a:ext cx="45720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chemeClr val="accent5"/>
                </a:solidFill>
              </a:rPr>
              <a:t>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11480" y="2212848"/>
          <a:ext cx="68580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543800" y="2212848"/>
            <a:ext cx="4233672" cy="32918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chemeClr val="lt1"/>
                </a:solidFill>
              </a:rPr>
              <a:t>So What（だから何）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2542032"/>
            <a:ext cx="4233672" cy="2377440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54864" tIns="73152" bIns="18288"/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chemeClr val="tx1"/>
                </a:solidFill>
              </a:rPr>
              <a:t>【事実：数字を1文（単位・期間つき）】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chemeClr val="tx2"/>
                </a:solidFill>
              </a:rPr>
              <a:t>→【だから何をすべきかを1文】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chemeClr val="tx1"/>
                </a:solidFill>
              </a:rPr>
              <a:t/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chemeClr val="tx1"/>
                </a:solidFill>
              </a:rPr>
              <a:t>【事実：数字を1文】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chemeClr val="tx2"/>
                </a:solidFill>
              </a:rPr>
              <a:t>→【だから何をすべきかを1文】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5074920"/>
            <a:ext cx="4233672" cy="7772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chemeClr val="tx2"/>
                </a:solidFill>
              </a:rPr>
              <a:t>グラフの選び方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chemeClr val="tx1"/>
                </a:solidFill>
              </a:rPr>
              <a:t>推移=折れ線／比較=棒／構成比=円。データの編集はグラフを右クリック→『データの編集』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989320"/>
            <a:ext cx="11365992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chemeClr val="accent5"/>
                </a:solidFill>
              </a:rPr>
              <a:t>※ 強調は1箇所だけ（主役の系列以外はグレー）。注釈のないグラフを置かない。1グラフ1主張、2つ言いたければ2枚に割る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87968" y="237744"/>
            <a:ext cx="1975104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tx2"/>
                </a:solidFill>
              </a:rPr>
              <a:t>型②｜データチャート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36224" y="237744"/>
            <a:ext cx="841248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lt1"/>
                </a:solidFill>
              </a:rPr>
              <a:t>記入例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595360" cy="4572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chemeClr val="tx2"/>
                </a:solidFill>
              </a:rPr>
              <a:t>問い合わせチャネルの構造変化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676656"/>
            <a:ext cx="11365992" cy="0"/>
          </a:xfrm>
          <a:prstGeom prst="line">
            <a:avLst/>
          </a:prstGeom>
          <a:ln w="1778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11480" y="822960"/>
            <a:ext cx="11365992" cy="3474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18288" bIns="18288"/>
          <a:lstStyle/>
          <a:p>
            <a:pPr algn="l"/>
            <a:r>
              <a:rPr sz="1300" b="1">
                <a:solidFill>
                  <a:schemeClr val="lt1"/>
                </a:solidFill>
              </a:rPr>
              <a:t>問い合わせの主戦場はSNSへ移行した。来期予算はSNS広告に寄せる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65992" cy="768096"/>
          </a:xfrm>
          <a:prstGeom prst="rect">
            <a:avLst/>
          </a:pr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18288" bIns="18288"/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>
                <a:solidFill>
                  <a:schemeClr val="tx1"/>
                </a:solidFill>
              </a:rPr>
              <a:t>■ SNS経由の問い合わせは6ヶ月で3.1倍に伸び、6月に電話・メールを逆転したことが確認できる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>
                <a:solidFill>
                  <a:schemeClr val="tx1"/>
                </a:solidFill>
              </a:rPr>
              <a:t>■ 獲得単価も従来チャネルの約6割にとどまるため、来期広告予算の5割をSNSへ再配分することが必要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1005840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chemeClr val="accent5"/>
                </a:solidFill>
              </a:rPr>
              <a:t>出典：問い合わせ管理システム（2026年1〜6月）／広告費実績データ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0528"/>
            <a:ext cx="45720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chemeClr val="accent5"/>
                </a:solidFill>
              </a:rPr>
              <a:t>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11480" y="2212848"/>
          <a:ext cx="68580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543800" y="2212848"/>
            <a:ext cx="4233672" cy="32918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chemeClr val="lt1"/>
                </a:solidFill>
              </a:rPr>
              <a:t>So What（だから何）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2542032"/>
            <a:ext cx="4233672" cy="2377440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54864" tIns="73152" bIns="18288"/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chemeClr val="tx1"/>
                </a:solidFill>
              </a:rPr>
              <a:t>SNS経由は1月38件→6月118件と3.1倍。6月に電話・メールを逆転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chemeClr val="tx2"/>
                </a:solidFill>
              </a:rPr>
              <a:t>→ 来期広告予算の50%をSNSへ再配分する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chemeClr val="tx1"/>
                </a:solidFill>
              </a:rPr>
              <a:t/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chemeClr val="tx1"/>
                </a:solidFill>
              </a:rPr>
              <a:t>電話・メールは月平均4%ずつ減少が継続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chemeClr val="tx2"/>
                </a:solidFill>
              </a:rPr>
              <a:t>→ 7月から電話窓口を時短し、要員2名をSNS運用へ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5074920"/>
            <a:ext cx="4233672" cy="7772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chemeClr val="tx2"/>
                </a:solidFill>
              </a:rPr>
              <a:t>この1枚の作り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chemeClr val="tx1"/>
                </a:solidFill>
              </a:rPr>
              <a:t>主役のSNS系列だけ青、比較系列はグレー。注釈は『事実→だから何』の2文セット×2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989320"/>
            <a:ext cx="11365992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chemeClr val="accent5"/>
                </a:solidFill>
              </a:rPr>
              <a:t>ポイント：主張（リード帯）を先に書いてから、それを証明するグラフを選んでいる——順番が逆にならないこと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87968" y="237744"/>
            <a:ext cx="1975104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accent1"/>
                </a:solidFill>
              </a:rPr>
              <a:t>型③｜○×比較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36224" y="237744"/>
            <a:ext cx="84124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lt1"/>
                </a:solidFill>
              </a:rPr>
              <a:t>テンプレ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595360" cy="4572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chemeClr val="tx2"/>
                </a:solidFill>
              </a:rPr>
              <a:t>【ページタイトル（例：◯◯ツール3案の比較評価）】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676656"/>
            <a:ext cx="11365992" cy="0"/>
          </a:xfrm>
          <a:prstGeom prst="line">
            <a:avLst/>
          </a:prstGeom>
          <a:ln w="1778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11480" y="822960"/>
            <a:ext cx="11365992" cy="3474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18288" bIns="18288"/>
          <a:lstStyle/>
          <a:p>
            <a:pPr algn="l"/>
            <a:r>
              <a:rPr sz="1300" b="1">
                <a:solidFill>
                  <a:schemeClr val="lt1"/>
                </a:solidFill>
              </a:rPr>
              <a:t>【推奨案を1文で言い切る（例：総合評価はB案）】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65992" cy="768096"/>
          </a:xfrm>
          <a:prstGeom prst="rect">
            <a:avLst/>
          </a:pr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18288" bIns="18288"/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>
                <a:solidFill>
                  <a:schemeClr val="tx1"/>
                </a:solidFill>
              </a:rPr>
              <a:t>■ 【推奨案と決め手を文で断定する】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>
                <a:solidFill>
                  <a:schemeClr val="tx1"/>
                </a:solidFill>
              </a:rPr>
              <a:t>■ 【推奨案の弱点への手当てまで言及する】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1005840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chemeClr val="accent5"/>
                </a:solidFill>
              </a:rPr>
              <a:t>出典：【評価の根拠にした情報源（例：各社提案書・デモ検証）】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0528"/>
            <a:ext cx="45720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chemeClr val="accent5"/>
                </a:solidFill>
              </a:rPr>
              <a:t>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2212848"/>
          <a:ext cx="11365992" cy="3163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10712"/>
                <a:gridCol w="2651760"/>
                <a:gridCol w="2651760"/>
                <a:gridCol w="265176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>評価軸（なぜこの軸か）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>【候補A】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>【候補B】※推奨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>【候補C】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chemeClr val="tx2"/>
                          </a:solidFill>
                        </a:rPr>
                        <a:t>【評価軸①（一言で理由）】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chemeClr val="accent5"/>
                          </a:solidFill>
                        </a:rPr>
                        <a:t>△</a:t>
                      </a: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850" b="0">
                          <a:solidFill>
                            <a:schemeClr val="tx1"/>
                          </a:solidFill>
                        </a:rPr>
                        <a:t>【根拠1行】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chemeClr val="accent1"/>
                          </a:solidFill>
                        </a:rPr>
                        <a:t>○</a:t>
                      </a: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850" b="0">
                          <a:solidFill>
                            <a:schemeClr val="tx1"/>
                          </a:solidFill>
                        </a:rPr>
                        <a:t>【根拠1行】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chemeClr val="tx1"/>
                          </a:solidFill>
                        </a:rPr>
                        <a:t>×</a:t>
                      </a: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850" b="0">
                          <a:solidFill>
                            <a:schemeClr val="tx1"/>
                          </a:solidFill>
                        </a:rPr>
                        <a:t>【根拠1行】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chemeClr val="tx2"/>
                          </a:solidFill>
                        </a:rPr>
                        <a:t>【評価軸②】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chemeClr val="accent1"/>
                          </a:solidFill>
                        </a:rPr>
                        <a:t>○</a:t>
                      </a: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850" b="0">
                          <a:solidFill>
                            <a:schemeClr val="tx1"/>
                          </a:solidFill>
                        </a:rPr>
                        <a:t>【根拠1行】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chemeClr val="accent1"/>
                          </a:solidFill>
                        </a:rPr>
                        <a:t>○</a:t>
                      </a: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850" b="0">
                          <a:solidFill>
                            <a:schemeClr val="tx1"/>
                          </a:solidFill>
                        </a:rPr>
                        <a:t>【根拠1行】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chemeClr val="accent5"/>
                          </a:solidFill>
                        </a:rPr>
                        <a:t>△</a:t>
                      </a: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850" b="0">
                          <a:solidFill>
                            <a:schemeClr val="tx1"/>
                          </a:solidFill>
                        </a:rPr>
                        <a:t>【根拠1行】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chemeClr val="tx2"/>
                          </a:solidFill>
                        </a:rPr>
                        <a:t>【評価軸③】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chemeClr val="accent1"/>
                          </a:solidFill>
                        </a:rPr>
                        <a:t>○</a:t>
                      </a: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850" b="0">
                          <a:solidFill>
                            <a:schemeClr val="tx1"/>
                          </a:solidFill>
                        </a:rPr>
                        <a:t>【根拠1行】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chemeClr val="accent5"/>
                          </a:solidFill>
                        </a:rPr>
                        <a:t>△</a:t>
                      </a: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850" b="0">
                          <a:solidFill>
                            <a:schemeClr val="tx1"/>
                          </a:solidFill>
                        </a:rPr>
                        <a:t>【根拠1行】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chemeClr val="accent1"/>
                          </a:solidFill>
                        </a:rPr>
                        <a:t>○</a:t>
                      </a: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850" b="0">
                          <a:solidFill>
                            <a:schemeClr val="tx1"/>
                          </a:solidFill>
                        </a:rPr>
                        <a:t>【根拠1行】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chemeClr val="tx2"/>
                          </a:solidFill>
                        </a:rPr>
                        <a:t>【評価軸④（4〜5軸まで）】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chemeClr val="tx1"/>
                          </a:solidFill>
                        </a:rPr>
                        <a:t>×</a:t>
                      </a: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850" b="0">
                          <a:solidFill>
                            <a:schemeClr val="tx1"/>
                          </a:solidFill>
                        </a:rPr>
                        <a:t>【根拠1行】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chemeClr val="accent1"/>
                          </a:solidFill>
                        </a:rPr>
                        <a:t>○</a:t>
                      </a: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850" b="0">
                          <a:solidFill>
                            <a:schemeClr val="tx1"/>
                          </a:solidFill>
                        </a:rPr>
                        <a:t>【根拠1行】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chemeClr val="accent1"/>
                          </a:solidFill>
                        </a:rPr>
                        <a:t>○</a:t>
                      </a: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850" b="0">
                          <a:solidFill>
                            <a:schemeClr val="tx1"/>
                          </a:solidFill>
                        </a:rPr>
                        <a:t>【根拠1行】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11480" y="5504688"/>
            <a:ext cx="11365992" cy="4389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18288" bIns="18288"/>
          <a:lstStyle/>
          <a:p>
            <a:pPr algn="l"/>
            <a:r>
              <a:rPr sz="1050" b="0">
                <a:solidFill>
                  <a:schemeClr val="tx2"/>
                </a:solidFill>
              </a:rPr>
              <a:t>【推奨案の×や△をどうカバーするか、を1行で（弱点を隠さない）】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053328"/>
            <a:ext cx="11365992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chemeClr val="accent5"/>
                </a:solidFill>
              </a:rPr>
              <a:t>※ 全候補に同じ軸を同じ基準で。全軸○の候補を作らない。根拠のないセルは『※要確認』。推奨列はヘッダー色を変える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87968" y="237744"/>
            <a:ext cx="1975104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tx2"/>
                </a:solidFill>
              </a:rPr>
              <a:t>型③｜○×比較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36224" y="237744"/>
            <a:ext cx="841248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lt1"/>
                </a:solidFill>
              </a:rPr>
              <a:t>記入例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595360" cy="4572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chemeClr val="tx2"/>
                </a:solidFill>
              </a:rPr>
              <a:t>営業管理ツール3案の比較評価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676656"/>
            <a:ext cx="11365992" cy="0"/>
          </a:xfrm>
          <a:prstGeom prst="line">
            <a:avLst/>
          </a:prstGeom>
          <a:ln w="1778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11480" y="822960"/>
            <a:ext cx="11365992" cy="3474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18288" bIns="18288"/>
          <a:lstStyle/>
          <a:p>
            <a:pPr algn="l"/>
            <a:r>
              <a:rPr sz="1300" b="1">
                <a:solidFill>
                  <a:schemeClr val="lt1"/>
                </a:solidFill>
              </a:rPr>
              <a:t>総合評価はB案。コストと定着しやすさの両立が決め手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65992" cy="768096"/>
          </a:xfrm>
          <a:prstGeom prst="rect">
            <a:avLst/>
          </a:pr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18288" bIns="18288"/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>
                <a:solidFill>
                  <a:schemeClr val="tx1"/>
                </a:solidFill>
              </a:rPr>
              <a:t>■ 5軸評価の結果、B案が4軸で○となり最有力と考えられる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>
                <a:solidFill>
                  <a:schemeClr val="tx1"/>
                </a:solidFill>
              </a:rPr>
              <a:t>■ 唯一の△（外部連携）は来年Q1のAPI公開で解消見込みであり、導入リスクは限定的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1005840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chemeClr val="accent5"/>
                </a:solidFill>
              </a:rPr>
              <a:t>出典：各社提案書・トライアル検証結果(2026年6月)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0528"/>
            <a:ext cx="45720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chemeClr val="accent5"/>
                </a:solidFill>
              </a:rPr>
              <a:t>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2212848"/>
          <a:ext cx="11365992" cy="31729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10712"/>
                <a:gridCol w="2651760"/>
                <a:gridCol w="2651760"/>
                <a:gridCol w="265176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>評価軸（なぜこの軸か）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>A案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>B案 ★推奨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>C案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chemeClr val="tx2"/>
                          </a:solidFill>
                        </a:rPr>
                        <a:t>コスト（3年総額で比較）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chemeClr val="accent5"/>
                          </a:solidFill>
                        </a:rPr>
                        <a:t>△　1,200万円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chemeClr val="accent1"/>
                          </a:solidFill>
                        </a:rPr>
                        <a:t>○　780万円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×　1,650万円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chemeClr val="tx2"/>
                          </a:solidFill>
                        </a:rPr>
                        <a:t>定着しやすさ（学習コスト）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chemeClr val="accent1"/>
                          </a:solidFill>
                        </a:rPr>
                        <a:t>○　現UIと類似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chemeClr val="accent1"/>
                          </a:solidFill>
                        </a:rPr>
                        <a:t>○　モバイル対応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chemeClr val="accent5"/>
                          </a:solidFill>
                        </a:rPr>
                        <a:t>△　要研修2日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chemeClr val="tx2"/>
                          </a:solidFill>
                        </a:rPr>
                        <a:t>機能カバー率（必須20項目）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chemeClr val="accent1"/>
                          </a:solidFill>
                        </a:rPr>
                        <a:t>○　19/20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chemeClr val="accent1"/>
                          </a:solidFill>
                        </a:rPr>
                        <a:t>○　18/20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chemeClr val="accent1"/>
                          </a:solidFill>
                        </a:rPr>
                        <a:t>○　20/20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chemeClr val="tx2"/>
                          </a:solidFill>
                        </a:rPr>
                        <a:t>外部連携（既存SFA・会計）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×　会計連携なし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chemeClr val="accent5"/>
                          </a:solidFill>
                        </a:rPr>
                        <a:t>△　API公開Q1予定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chemeClr val="accent1"/>
                          </a:solidFill>
                        </a:rPr>
                        <a:t>○　全て対応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chemeClr val="tx2"/>
                          </a:solidFill>
                        </a:rPr>
                        <a:t>サポート（日本語・伴走）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chemeClr val="accent1"/>
                          </a:solidFill>
                        </a:rPr>
                        <a:t>○　専任担当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chemeClr val="accent1"/>
                          </a:solidFill>
                        </a:rPr>
                        <a:t>○　専任担当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chemeClr val="accent5"/>
                          </a:solidFill>
                        </a:rPr>
                        <a:t>△　英語のみ</a:t>
                      </a:r>
                    </a:p>
                  </a:txBody>
                  <a:tcPr marL="64008" marR="64008" marT="36576" marB="36576" anchor="ctr">
                    <a:lnL w="6350" cap="flat">
                      <a:solidFill>
                        <a:schemeClr val="accent6"/>
                      </a:solidFill>
                    </a:lnL>
                    <a:lnR w="6350" cap="flat">
                      <a:solidFill>
                        <a:schemeClr val="accent6"/>
                      </a:solidFill>
                    </a:lnR>
                    <a:lnT w="6350" cap="flat">
                      <a:solidFill>
                        <a:schemeClr val="accent6"/>
                      </a:solidFill>
                    </a:lnT>
                    <a:lnB w="6350" cap="flat">
                      <a:solidFill>
                        <a:schemeClr val="accent6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11480" y="5504688"/>
            <a:ext cx="11365992" cy="4389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18288" bIns="18288"/>
          <a:lstStyle/>
          <a:p>
            <a:pPr algn="l"/>
            <a:r>
              <a:rPr sz="1050" b="0">
                <a:solidFill>
                  <a:schemeClr val="tx2"/>
                </a:solidFill>
              </a:rPr>
              <a:t>△の外部連携は、API公開までの間、現行の月次CSV連携で運用して影響を回避する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053328"/>
            <a:ext cx="11365992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chemeClr val="accent5"/>
                </a:solidFill>
              </a:rPr>
              <a:t>ポイント：推奨のB案にも△を残して見せている——弱点を隠さないことが表全体の信用をつくる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87968" y="237744"/>
            <a:ext cx="1975104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accent1"/>
                </a:solidFill>
              </a:rPr>
              <a:t>型④｜絵解き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36224" y="237744"/>
            <a:ext cx="84124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lt1"/>
                </a:solidFill>
              </a:rPr>
              <a:t>テンプレ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595360" cy="4572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chemeClr val="tx2"/>
                </a:solidFill>
              </a:rPr>
              <a:t>【ページタイトル（例：◯◯事業の全体像）】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676656"/>
            <a:ext cx="11365992" cy="0"/>
          </a:xfrm>
          <a:prstGeom prst="line">
            <a:avLst/>
          </a:prstGeom>
          <a:ln w="1778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11480" y="822960"/>
            <a:ext cx="11365992" cy="3474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18288" bIns="18288"/>
          <a:lstStyle/>
          <a:p>
            <a:pPr algn="l"/>
            <a:r>
              <a:rPr sz="1300" b="1">
                <a:solidFill>
                  <a:schemeClr val="lt1"/>
                </a:solidFill>
              </a:rPr>
              <a:t>【この絵で伝えたい一言（例：価値の源泉は◯◯工程）】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65992" cy="768096"/>
          </a:xfrm>
          <a:prstGeom prst="rect">
            <a:avLst/>
          </a:pr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18288" bIns="18288"/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>
                <a:solidFill>
                  <a:schemeClr val="tx1"/>
                </a:solidFill>
              </a:rPr>
              <a:t>■ 【全体がどう繋がっているかを1文で断定する】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>
                <a:solidFill>
                  <a:schemeClr val="tx1"/>
                </a:solidFill>
              </a:rPr>
              <a:t>■ 【この後どのページで詳細を論証するかを予告する】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1005840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chemeClr val="accent5"/>
                </a:solidFill>
              </a:rPr>
              <a:t>出典：【出所（例：事業計画書・ヒアリング）】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0528"/>
            <a:ext cx="45720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chemeClr val="accent5"/>
                </a:solidFill>
              </a:rPr>
              <a:t>9</a:t>
            </a:r>
          </a:p>
        </p:txBody>
      </p:sp>
      <p:sp>
        <p:nvSpPr>
          <p:cNvPr id="10" name="Pentagon 9"/>
          <p:cNvSpPr/>
          <p:nvPr/>
        </p:nvSpPr>
        <p:spPr>
          <a:xfrm>
            <a:off x="411480" y="2606040"/>
            <a:ext cx="2788920" cy="868680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chemeClr val="lt1"/>
                </a:solidFill>
              </a:rPr>
              <a:t>【工程①】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703320"/>
            <a:ext cx="2514600" cy="1051560"/>
          </a:xfrm>
          <a:prstGeom prst="rect">
            <a:avLst/>
          </a:pr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54864" bIns="18288"/>
          <a:lstStyle/>
          <a:p>
            <a:pPr algn="ctr"/>
            <a:r>
              <a:rPr sz="950">
                <a:solidFill>
                  <a:schemeClr val="tx1"/>
                </a:solidFill>
              </a:rPr>
              <a:t>・【キーワード（名詞句のみ）】</a:t>
            </a:r>
          </a:p>
          <a:p>
            <a:r>
              <a:rPr sz="950">
                <a:solidFill>
                  <a:schemeClr val="tx1"/>
                </a:solidFill>
              </a:rPr>
              <a:t>・【キーワード】</a:t>
            </a:r>
          </a:p>
        </p:txBody>
      </p:sp>
      <p:sp>
        <p:nvSpPr>
          <p:cNvPr id="12" name="Chevron 11"/>
          <p:cNvSpPr/>
          <p:nvPr/>
        </p:nvSpPr>
        <p:spPr>
          <a:xfrm>
            <a:off x="3200400" y="2606040"/>
            <a:ext cx="2788920" cy="868680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chemeClr val="lt1"/>
                </a:solidFill>
              </a:rPr>
              <a:t>【工程②】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3703320"/>
            <a:ext cx="2514600" cy="1051560"/>
          </a:xfrm>
          <a:prstGeom prst="rect">
            <a:avLst/>
          </a:pr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54864" bIns="18288"/>
          <a:lstStyle/>
          <a:p>
            <a:pPr algn="ctr"/>
            <a:r>
              <a:rPr sz="950">
                <a:solidFill>
                  <a:schemeClr val="tx1"/>
                </a:solidFill>
              </a:rPr>
              <a:t>・【キーワード（名詞句のみ）】</a:t>
            </a:r>
          </a:p>
          <a:p>
            <a:r>
              <a:rPr sz="950">
                <a:solidFill>
                  <a:schemeClr val="tx1"/>
                </a:solidFill>
              </a:rPr>
              <a:t>・【キーワード】</a:t>
            </a:r>
          </a:p>
        </p:txBody>
      </p:sp>
      <p:sp>
        <p:nvSpPr>
          <p:cNvPr id="14" name="Chevron 13"/>
          <p:cNvSpPr/>
          <p:nvPr/>
        </p:nvSpPr>
        <p:spPr>
          <a:xfrm>
            <a:off x="5989320" y="2606040"/>
            <a:ext cx="2788920" cy="868680"/>
          </a:xfrm>
          <a:prstGeom prst="chevron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chemeClr val="lt1"/>
                </a:solidFill>
              </a:rPr>
              <a:t>【工程③（主役）】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3703320"/>
            <a:ext cx="2514600" cy="1051560"/>
          </a:xfrm>
          <a:prstGeom prst="rect">
            <a:avLst/>
          </a:pr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54864" bIns="18288"/>
          <a:lstStyle/>
          <a:p>
            <a:pPr algn="ctr"/>
            <a:r>
              <a:rPr sz="950">
                <a:solidFill>
                  <a:schemeClr val="tx1"/>
                </a:solidFill>
              </a:rPr>
              <a:t>・【キーワード（名詞句のみ）】</a:t>
            </a:r>
          </a:p>
          <a:p>
            <a:r>
              <a:rPr sz="950">
                <a:solidFill>
                  <a:schemeClr val="tx1"/>
                </a:solidFill>
              </a:rPr>
              <a:t>・【キーワード】</a:t>
            </a:r>
          </a:p>
        </p:txBody>
      </p:sp>
      <p:sp>
        <p:nvSpPr>
          <p:cNvPr id="16" name="Chevron 15"/>
          <p:cNvSpPr/>
          <p:nvPr/>
        </p:nvSpPr>
        <p:spPr>
          <a:xfrm>
            <a:off x="8778240" y="2606040"/>
            <a:ext cx="2514600" cy="868680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chemeClr val="lt1"/>
                </a:solidFill>
              </a:rPr>
              <a:t>【工程④】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3703320"/>
            <a:ext cx="2514600" cy="1051560"/>
          </a:xfrm>
          <a:prstGeom prst="rect">
            <a:avLst/>
          </a:pr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54864" bIns="18288"/>
          <a:lstStyle/>
          <a:p>
            <a:pPr algn="ctr"/>
            <a:r>
              <a:rPr sz="950">
                <a:solidFill>
                  <a:schemeClr val="tx1"/>
                </a:solidFill>
              </a:rPr>
              <a:t>・【キーワード（名詞句のみ）】</a:t>
            </a:r>
          </a:p>
          <a:p>
            <a:r>
              <a:rPr sz="950">
                <a:solidFill>
                  <a:schemeClr val="tx1"/>
                </a:solidFill>
              </a:rPr>
              <a:t>・【キーワード】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267712"/>
            <a:ext cx="1554480" cy="29260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tx2"/>
                </a:solidFill>
              </a:rPr>
              <a:t>【強調バッジ】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983480"/>
            <a:ext cx="11365992" cy="8686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chemeClr val="tx2"/>
                </a:solidFill>
              </a:rPr>
              <a:t>構図は2択：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chemeClr val="tx1"/>
                </a:solidFill>
              </a:rPr>
              <a:t>A フロー型（左→右に並べる。時間・工程・変換の流れ）／B ビフォーアフター型（左=現在✕・右=将来✓の2ブロック対比）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989320"/>
            <a:ext cx="11365992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chemeClr val="accent5"/>
                </a:solidFill>
              </a:rPr>
              <a:t>※ ボックスは4〜7個まで／矢印の意味は1種類に統一（時間・因果・変換を混ぜない）／絵の中に文章を書き込まない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87968" y="237744"/>
            <a:ext cx="1975104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tx2"/>
                </a:solidFill>
              </a:rPr>
              <a:t>型④｜絵解き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36224" y="237744"/>
            <a:ext cx="841248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lt1"/>
                </a:solidFill>
              </a:rPr>
              <a:t>記入例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595360" cy="4572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chemeClr val="tx2"/>
                </a:solidFill>
              </a:rPr>
              <a:t>新規事業の商流全体像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676656"/>
            <a:ext cx="11365992" cy="0"/>
          </a:xfrm>
          <a:prstGeom prst="line">
            <a:avLst/>
          </a:prstGeom>
          <a:ln w="1778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11480" y="822960"/>
            <a:ext cx="11365992" cy="3474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18288" bIns="18288"/>
          <a:lstStyle/>
          <a:p>
            <a:pPr algn="l"/>
            <a:r>
              <a:rPr sz="1300" b="1">
                <a:solidFill>
                  <a:schemeClr val="lt1"/>
                </a:solidFill>
              </a:rPr>
              <a:t>価値の源泉は加工工程。ここに投資を集中する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65992" cy="768096"/>
          </a:xfrm>
          <a:prstGeom prst="rect">
            <a:avLst/>
          </a:pr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18288" bIns="18288"/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>
                <a:solidFill>
                  <a:schemeClr val="tx1"/>
                </a:solidFill>
              </a:rPr>
              <a:t>■ 商流は仕入れ→加工→販売→サポートの4工程で構成され、粗利の約7割は加工工程で生まれる構造と考えられる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>
                <a:solidFill>
                  <a:schemeClr val="tx1"/>
                </a:solidFill>
              </a:rPr>
              <a:t>■ 次ページ以降で、加工工程への設備投資判断を論証テーブルとデータで確認いただきたい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1005840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chemeClr val="accent5"/>
                </a:solidFill>
              </a:rPr>
              <a:t>出典：事業計画書v2（2026年6月）／原価計算資料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0528"/>
            <a:ext cx="45720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chemeClr val="accent5"/>
                </a:solidFill>
              </a:rPr>
              <a:t>10</a:t>
            </a:r>
          </a:p>
        </p:txBody>
      </p:sp>
      <p:sp>
        <p:nvSpPr>
          <p:cNvPr id="10" name="Pentagon 9"/>
          <p:cNvSpPr/>
          <p:nvPr/>
        </p:nvSpPr>
        <p:spPr>
          <a:xfrm>
            <a:off x="411480" y="2606040"/>
            <a:ext cx="2788920" cy="868680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chemeClr val="lt1"/>
                </a:solidFill>
              </a:rPr>
              <a:t>仕入れ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703320"/>
            <a:ext cx="2514600" cy="1051560"/>
          </a:xfrm>
          <a:prstGeom prst="rect">
            <a:avLst/>
          </a:pr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54864" bIns="18288"/>
          <a:lstStyle/>
          <a:p>
            <a:pPr algn="ctr"/>
            <a:r>
              <a:rPr sz="950">
                <a:solidFill>
                  <a:schemeClr val="tx1"/>
                </a:solidFill>
              </a:rPr>
              <a:t>・提携農家20社</a:t>
            </a:r>
          </a:p>
          <a:p>
            <a:r>
              <a:rPr sz="950">
                <a:solidFill>
                  <a:schemeClr val="tx1"/>
                </a:solidFill>
              </a:rPr>
              <a:t>・週2回の定期調達</a:t>
            </a:r>
          </a:p>
        </p:txBody>
      </p:sp>
      <p:sp>
        <p:nvSpPr>
          <p:cNvPr id="12" name="Chevron 11"/>
          <p:cNvSpPr/>
          <p:nvPr/>
        </p:nvSpPr>
        <p:spPr>
          <a:xfrm>
            <a:off x="3200400" y="2606040"/>
            <a:ext cx="2788920" cy="868680"/>
          </a:xfrm>
          <a:prstGeom prst="chevron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chemeClr val="lt1"/>
                </a:solidFill>
              </a:rPr>
              <a:t>加工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3703320"/>
            <a:ext cx="2514600" cy="1051560"/>
          </a:xfrm>
          <a:prstGeom prst="rect">
            <a:avLst/>
          </a:pr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54864" bIns="18288"/>
          <a:lstStyle/>
          <a:p>
            <a:pPr algn="ctr"/>
            <a:r>
              <a:rPr sz="950">
                <a:solidFill>
                  <a:schemeClr val="tx1"/>
                </a:solidFill>
              </a:rPr>
              <a:t>・自社工場（特許製法）</a:t>
            </a:r>
          </a:p>
          <a:p>
            <a:r>
              <a:rPr sz="950">
                <a:solidFill>
                  <a:schemeClr val="tx1"/>
                </a:solidFill>
              </a:rPr>
              <a:t>・歩留まり92%</a:t>
            </a:r>
          </a:p>
        </p:txBody>
      </p:sp>
      <p:sp>
        <p:nvSpPr>
          <p:cNvPr id="14" name="Chevron 13"/>
          <p:cNvSpPr/>
          <p:nvPr/>
        </p:nvSpPr>
        <p:spPr>
          <a:xfrm>
            <a:off x="5989320" y="2606040"/>
            <a:ext cx="2788920" cy="868680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chemeClr val="lt1"/>
                </a:solidFill>
              </a:rPr>
              <a:t>販売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3703320"/>
            <a:ext cx="2514600" cy="1051560"/>
          </a:xfrm>
          <a:prstGeom prst="rect">
            <a:avLst/>
          </a:pr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54864" bIns="18288"/>
          <a:lstStyle/>
          <a:p>
            <a:pPr algn="ctr"/>
            <a:r>
              <a:rPr sz="950">
                <a:solidFill>
                  <a:schemeClr val="tx1"/>
                </a:solidFill>
              </a:rPr>
              <a:t>・EC直販6割・卸2社</a:t>
            </a:r>
          </a:p>
          <a:p>
            <a:r>
              <a:rPr sz="950">
                <a:solidFill>
                  <a:schemeClr val="tx1"/>
                </a:solidFill>
              </a:rPr>
              <a:t>・定価維持率98%</a:t>
            </a:r>
          </a:p>
        </p:txBody>
      </p:sp>
      <p:sp>
        <p:nvSpPr>
          <p:cNvPr id="16" name="Chevron 15"/>
          <p:cNvSpPr/>
          <p:nvPr/>
        </p:nvSpPr>
        <p:spPr>
          <a:xfrm>
            <a:off x="8778240" y="2606040"/>
            <a:ext cx="2514600" cy="868680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chemeClr val="lt1"/>
                </a:solidFill>
              </a:rPr>
              <a:t>サポート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3703320"/>
            <a:ext cx="2514600" cy="1051560"/>
          </a:xfrm>
          <a:prstGeom prst="rect">
            <a:avLst/>
          </a:pr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54864" bIns="18288"/>
          <a:lstStyle/>
          <a:p>
            <a:pPr algn="ctr"/>
            <a:r>
              <a:rPr sz="950">
                <a:solidFill>
                  <a:schemeClr val="tx1"/>
                </a:solidFill>
              </a:rPr>
              <a:t>・定期便・LINE窓口</a:t>
            </a:r>
          </a:p>
          <a:p>
            <a:r>
              <a:rPr sz="950">
                <a:solidFill>
                  <a:schemeClr val="tx1"/>
                </a:solidFill>
              </a:rPr>
              <a:t>・解約率 月1.2%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267712"/>
            <a:ext cx="1554480" cy="29260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chemeClr val="tx2"/>
                </a:solidFill>
              </a:rPr>
              <a:t>粗利の7割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983480"/>
            <a:ext cx="11365992" cy="8686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chemeClr val="tx2"/>
                </a:solidFill>
              </a:rPr>
              <a:t>この1枚の作り：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chemeClr val="tx1"/>
                </a:solidFill>
              </a:rPr>
              <a:t>矢印の意味は『工程の流れ』1種類だけ。主役の加工だけ濃紺＋バッジで強調し、他は同じ青で静かに並べる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989320"/>
            <a:ext cx="11365992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chemeClr val="accent5"/>
                </a:solidFill>
              </a:rPr>
              <a:t>ポイント：ボックス内は名詞句＋数字のみ。説明したくなったら、次のページ（論証テーブル）に回す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87968" y="237744"/>
            <a:ext cx="1975104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accent1"/>
                </a:solidFill>
              </a:rPr>
              <a:t>型⑤｜フレームワーク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36224" y="237744"/>
            <a:ext cx="84124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lt1"/>
                </a:solidFill>
              </a:rPr>
              <a:t>テンプレ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595360" cy="4572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chemeClr val="tx2"/>
                </a:solidFill>
              </a:rPr>
              <a:t>【ページタイトル（例：◯◯候補の優先順位づけ）】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676656"/>
            <a:ext cx="11365992" cy="0"/>
          </a:xfrm>
          <a:prstGeom prst="line">
            <a:avLst/>
          </a:prstGeom>
          <a:ln w="1778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11480" y="822960"/>
            <a:ext cx="11365992" cy="3474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18288" bIns="18288"/>
          <a:lstStyle/>
          <a:p>
            <a:pPr algn="l"/>
            <a:r>
              <a:rPr sz="1300" b="1">
                <a:solidFill>
                  <a:schemeClr val="lt1"/>
                </a:solidFill>
              </a:rPr>
              <a:t>【絞り込みの結論を1文で（例：12案から2案に絞る）】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65992" cy="768096"/>
          </a:xfrm>
          <a:prstGeom prst="rect">
            <a:avLst/>
          </a:pr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18288" bIns="18288"/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>
                <a:solidFill>
                  <a:schemeClr val="tx1"/>
                </a:solidFill>
              </a:rPr>
              <a:t>■ 【どの候補が選ばれたかを文で断定する】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>
                <a:solidFill>
                  <a:schemeClr val="tx1"/>
                </a:solidFill>
              </a:rPr>
              <a:t>■ 【選ばれなかった候補の扱いも言い切る（凍結・再検討時期）】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1005840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chemeClr val="accent5"/>
                </a:solidFill>
              </a:rPr>
              <a:t>出典：【評価データの出所】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0528"/>
            <a:ext cx="45720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chemeClr val="accent5"/>
                </a:solidFill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331720"/>
            <a:ext cx="2926080" cy="178308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1417320" y="2331720"/>
            <a:ext cx="0" cy="3566160"/>
          </a:xfrm>
          <a:prstGeom prst="line">
            <a:avLst/>
          </a:prstGeom>
          <a:ln w="19050">
            <a:solidFill>
              <a:schemeClr val="tx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417320" y="5897880"/>
            <a:ext cx="5852160" cy="0"/>
          </a:xfrm>
          <a:prstGeom prst="line">
            <a:avLst/>
          </a:prstGeom>
          <a:ln w="19050">
            <a:solidFill>
              <a:schemeClr val="tx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2011680"/>
            <a:ext cx="310896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chemeClr val="tx2"/>
                </a:solidFill>
              </a:rPr>
              <a:t>【縦軸：◯◯（上=高い）】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5971032"/>
            <a:ext cx="292608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>
                <a:solidFill>
                  <a:schemeClr val="tx2"/>
                </a:solidFill>
              </a:rPr>
              <a:t>【横軸：◯◯（右=高い）】</a:t>
            </a:r>
          </a:p>
        </p:txBody>
      </p:sp>
      <p:sp>
        <p:nvSpPr>
          <p:cNvPr id="15" name="Oval 14"/>
          <p:cNvSpPr/>
          <p:nvPr/>
        </p:nvSpPr>
        <p:spPr>
          <a:xfrm>
            <a:off x="2232964" y="4590288"/>
            <a:ext cx="475488" cy="475488"/>
          </a:xfrm>
          <a:prstGeom prst="ellipse">
            <a:avLst/>
          </a:prstGeom>
          <a:solidFill>
            <a:schemeClr val="lt1"/>
          </a:solidFill>
          <a:ln w="127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16" name="Oval 15"/>
          <p:cNvSpPr/>
          <p:nvPr/>
        </p:nvSpPr>
        <p:spPr>
          <a:xfrm>
            <a:off x="3227831" y="3449116"/>
            <a:ext cx="475488" cy="475488"/>
          </a:xfrm>
          <a:prstGeom prst="ellipse">
            <a:avLst/>
          </a:prstGeom>
          <a:solidFill>
            <a:schemeClr val="lt1"/>
          </a:solidFill>
          <a:ln w="127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398264" y="4768596"/>
            <a:ext cx="475488" cy="475488"/>
          </a:xfrm>
          <a:prstGeom prst="ellipse">
            <a:avLst/>
          </a:prstGeom>
          <a:solidFill>
            <a:schemeClr val="lt1"/>
          </a:solidFill>
          <a:ln w="127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chemeClr val="tx2"/>
                </a:solidFill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5393131" y="2878531"/>
            <a:ext cx="475488" cy="47548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chemeClr val="lt1"/>
                </a:solidFill>
              </a:rPr>
              <a:t>D</a:t>
            </a:r>
          </a:p>
        </p:txBody>
      </p:sp>
      <p:sp>
        <p:nvSpPr>
          <p:cNvPr id="19" name="Oval 18"/>
          <p:cNvSpPr/>
          <p:nvPr/>
        </p:nvSpPr>
        <p:spPr>
          <a:xfrm>
            <a:off x="6153912" y="3449116"/>
            <a:ext cx="475488" cy="47548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chemeClr val="lt1"/>
                </a:solidFill>
              </a:rPr>
              <a:t>E</a:t>
            </a:r>
          </a:p>
        </p:txBody>
      </p:sp>
      <p:sp>
        <p:nvSpPr>
          <p:cNvPr id="20" name="Oval 19"/>
          <p:cNvSpPr/>
          <p:nvPr/>
        </p:nvSpPr>
        <p:spPr>
          <a:xfrm>
            <a:off x="2935224" y="2807207"/>
            <a:ext cx="475488" cy="475488"/>
          </a:xfrm>
          <a:prstGeom prst="ellipse">
            <a:avLst/>
          </a:prstGeom>
          <a:solidFill>
            <a:schemeClr val="lt1"/>
          </a:solidFill>
          <a:ln w="127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chemeClr val="tx2"/>
                </a:solidFill>
              </a:rPr>
              <a:t>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423160"/>
            <a:ext cx="201168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chemeClr val="tx2"/>
                </a:solidFill>
              </a:rPr>
              <a:t>【選ばれるゾーン】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2440" y="2331720"/>
            <a:ext cx="3685032" cy="3566160"/>
          </a:xfrm>
          <a:prstGeom prst="rect">
            <a:avLst/>
          </a:pr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54864" tIns="91440" bIns="18288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chemeClr val="tx2"/>
                </a:solidFill>
              </a:rPr>
              <a:t>この型のルール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chemeClr val="tx1"/>
                </a:solidFill>
              </a:rPr>
              <a:t>・軸の定義を先に示してから候補を置く（結論が先に見えると恣意的に見える）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chemeClr val="tx1"/>
                </a:solidFill>
              </a:rPr>
              <a:t>・落ちた候補も図に残す（消すと『最初から決まっていた』と思われる）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chemeClr val="tx1"/>
                </a:solidFill>
              </a:rPr>
              <a:t>・2軸は互いに独立した軸にする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chemeClr val="tx1"/>
                </a:solidFill>
              </a:rPr>
              <a:t>・絞り込みがふるい型ならファネル、分解ならツリーに差し替え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053328"/>
            <a:ext cx="11365992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chemeClr val="accent5"/>
                </a:solidFill>
              </a:rPr>
              <a:t>※ フレームワークの仕事は『なぜこれを選んだか』の説明だけ。披露が目的のページは作らない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87968" y="237744"/>
            <a:ext cx="1975104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tx2"/>
                </a:solidFill>
              </a:rPr>
              <a:t>型⑤｜フレームワーク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36224" y="237744"/>
            <a:ext cx="841248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lt1"/>
                </a:solidFill>
              </a:rPr>
              <a:t>記入例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595360" cy="4572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chemeClr val="tx2"/>
                </a:solidFill>
              </a:rPr>
              <a:t>新規事業アイデアの優先順位づけ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676656"/>
            <a:ext cx="11365992" cy="0"/>
          </a:xfrm>
          <a:prstGeom prst="line">
            <a:avLst/>
          </a:prstGeom>
          <a:ln w="1778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11480" y="822960"/>
            <a:ext cx="11365992" cy="3474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18288" bIns="18288"/>
          <a:lstStyle/>
          <a:p>
            <a:pPr algn="l"/>
            <a:r>
              <a:rPr sz="1300" b="1">
                <a:solidFill>
                  <a:schemeClr val="lt1"/>
                </a:solidFill>
              </a:rPr>
              <a:t>12案から『市場性×強み適合』でA・Dの2案に絞り込む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65992" cy="768096"/>
          </a:xfrm>
          <a:prstGeom prst="rect">
            <a:avLst/>
          </a:pr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18288" bIns="18288"/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>
                <a:solidFill>
                  <a:schemeClr val="tx1"/>
                </a:solidFill>
              </a:rPr>
              <a:t>■ 市場性・強み適合がともに高い右上に位置するのはA案・D案のみと考えられる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>
                <a:solidFill>
                  <a:schemeClr val="tx1"/>
                </a:solidFill>
              </a:rPr>
              <a:t>■ 両案は来期Q1に事業性検証へ進め、残り10案は市場条件が変わるまで凍結する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1005840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chemeClr val="accent5"/>
                </a:solidFill>
              </a:rPr>
              <a:t>出典：市場調査レポート（2026年5月）／社内ケイパビリティ棚卸し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0528"/>
            <a:ext cx="45720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chemeClr val="accent5"/>
                </a:solidFill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331720"/>
            <a:ext cx="2926080" cy="178308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1417320" y="2331720"/>
            <a:ext cx="0" cy="3566160"/>
          </a:xfrm>
          <a:prstGeom prst="line">
            <a:avLst/>
          </a:prstGeom>
          <a:ln w="19050">
            <a:solidFill>
              <a:schemeClr val="tx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417320" y="5897880"/>
            <a:ext cx="5852160" cy="0"/>
          </a:xfrm>
          <a:prstGeom prst="line">
            <a:avLst/>
          </a:prstGeom>
          <a:ln w="19050">
            <a:solidFill>
              <a:schemeClr val="tx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2011680"/>
            <a:ext cx="384048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chemeClr val="tx2"/>
                </a:solidFill>
              </a:rPr>
              <a:t>市場性（市場規模×成長率）　上=高い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5971032"/>
            <a:ext cx="365760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>
                <a:solidFill>
                  <a:schemeClr val="tx2"/>
                </a:solidFill>
              </a:rPr>
              <a:t>自社の強み適合　右=高い</a:t>
            </a:r>
          </a:p>
        </p:txBody>
      </p:sp>
      <p:sp>
        <p:nvSpPr>
          <p:cNvPr id="15" name="Oval 14"/>
          <p:cNvSpPr/>
          <p:nvPr/>
        </p:nvSpPr>
        <p:spPr>
          <a:xfrm>
            <a:off x="6024067" y="267462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chemeClr val="lt1"/>
                </a:solidFill>
              </a:rPr>
              <a:t>A</a:t>
            </a:r>
          </a:p>
        </p:txBody>
      </p:sp>
      <p:sp>
        <p:nvSpPr>
          <p:cNvPr id="16" name="Oval 15"/>
          <p:cNvSpPr/>
          <p:nvPr/>
        </p:nvSpPr>
        <p:spPr>
          <a:xfrm>
            <a:off x="2103120" y="3138220"/>
            <a:ext cx="384048" cy="384048"/>
          </a:xfrm>
          <a:prstGeom prst="ellipse">
            <a:avLst/>
          </a:prstGeom>
          <a:solidFill>
            <a:schemeClr val="lt1"/>
          </a:solidFill>
          <a:ln w="127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3566160" y="3744467"/>
            <a:ext cx="384048" cy="384048"/>
          </a:xfrm>
          <a:prstGeom prst="ellipse">
            <a:avLst/>
          </a:prstGeom>
          <a:solidFill>
            <a:schemeClr val="lt1"/>
          </a:solidFill>
          <a:ln w="127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chemeClr val="tx2"/>
                </a:solidFill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5321807" y="3280867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chemeClr val="lt1"/>
                </a:solidFill>
              </a:rPr>
              <a:t>D</a:t>
            </a:r>
          </a:p>
        </p:txBody>
      </p:sp>
      <p:sp>
        <p:nvSpPr>
          <p:cNvPr id="19" name="Oval 18"/>
          <p:cNvSpPr/>
          <p:nvPr/>
        </p:nvSpPr>
        <p:spPr>
          <a:xfrm>
            <a:off x="2688336" y="4636008"/>
            <a:ext cx="384048" cy="384048"/>
          </a:xfrm>
          <a:prstGeom prst="ellipse">
            <a:avLst/>
          </a:prstGeom>
          <a:solidFill>
            <a:schemeClr val="lt1"/>
          </a:solidFill>
          <a:ln w="127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chemeClr val="tx2"/>
                </a:solidFill>
              </a:rPr>
              <a:t>E</a:t>
            </a:r>
          </a:p>
        </p:txBody>
      </p:sp>
      <p:sp>
        <p:nvSpPr>
          <p:cNvPr id="20" name="Oval 19"/>
          <p:cNvSpPr/>
          <p:nvPr/>
        </p:nvSpPr>
        <p:spPr>
          <a:xfrm>
            <a:off x="4443984" y="5170932"/>
            <a:ext cx="384048" cy="384048"/>
          </a:xfrm>
          <a:prstGeom prst="ellipse">
            <a:avLst/>
          </a:prstGeom>
          <a:solidFill>
            <a:schemeClr val="lt1"/>
          </a:solidFill>
          <a:ln w="127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chemeClr val="tx2"/>
                </a:solidFill>
              </a:rPr>
              <a:t>F</a:t>
            </a:r>
          </a:p>
        </p:txBody>
      </p:sp>
      <p:sp>
        <p:nvSpPr>
          <p:cNvPr id="21" name="Oval 20"/>
          <p:cNvSpPr/>
          <p:nvPr/>
        </p:nvSpPr>
        <p:spPr>
          <a:xfrm>
            <a:off x="1810512" y="4101084"/>
            <a:ext cx="384048" cy="384048"/>
          </a:xfrm>
          <a:prstGeom prst="ellipse">
            <a:avLst/>
          </a:prstGeom>
          <a:solidFill>
            <a:schemeClr val="lt1"/>
          </a:solidFill>
          <a:ln w="127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chemeClr val="tx2"/>
                </a:solidFill>
              </a:rPr>
              <a:t>G</a:t>
            </a:r>
          </a:p>
        </p:txBody>
      </p:sp>
      <p:sp>
        <p:nvSpPr>
          <p:cNvPr id="22" name="Oval 21"/>
          <p:cNvSpPr/>
          <p:nvPr/>
        </p:nvSpPr>
        <p:spPr>
          <a:xfrm>
            <a:off x="3273551" y="5277916"/>
            <a:ext cx="384048" cy="384048"/>
          </a:xfrm>
          <a:prstGeom prst="ellipse">
            <a:avLst/>
          </a:prstGeom>
          <a:solidFill>
            <a:schemeClr val="lt1"/>
          </a:solidFill>
          <a:ln w="127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chemeClr val="tx2"/>
                </a:solidFill>
              </a:rPr>
              <a:t>H</a:t>
            </a:r>
          </a:p>
        </p:txBody>
      </p:sp>
      <p:sp>
        <p:nvSpPr>
          <p:cNvPr id="23" name="Oval 22"/>
          <p:cNvSpPr/>
          <p:nvPr/>
        </p:nvSpPr>
        <p:spPr>
          <a:xfrm>
            <a:off x="4853635" y="4208068"/>
            <a:ext cx="384048" cy="384048"/>
          </a:xfrm>
          <a:prstGeom prst="ellipse">
            <a:avLst/>
          </a:prstGeom>
          <a:solidFill>
            <a:schemeClr val="lt1"/>
          </a:solidFill>
          <a:ln w="127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chemeClr val="tx2"/>
                </a:solidFill>
              </a:rPr>
              <a:t>I</a:t>
            </a:r>
          </a:p>
        </p:txBody>
      </p:sp>
      <p:sp>
        <p:nvSpPr>
          <p:cNvPr id="24" name="Oval 23"/>
          <p:cNvSpPr/>
          <p:nvPr/>
        </p:nvSpPr>
        <p:spPr>
          <a:xfrm>
            <a:off x="2395728" y="3637483"/>
            <a:ext cx="384048" cy="384048"/>
          </a:xfrm>
          <a:prstGeom prst="ellipse">
            <a:avLst/>
          </a:prstGeom>
          <a:solidFill>
            <a:schemeClr val="lt1"/>
          </a:solidFill>
          <a:ln w="127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chemeClr val="tx2"/>
                </a:solidFill>
              </a:rPr>
              <a:t>J</a:t>
            </a:r>
          </a:p>
        </p:txBody>
      </p:sp>
      <p:sp>
        <p:nvSpPr>
          <p:cNvPr id="25" name="Oval 24"/>
          <p:cNvSpPr/>
          <p:nvPr/>
        </p:nvSpPr>
        <p:spPr>
          <a:xfrm>
            <a:off x="4034332" y="4457700"/>
            <a:ext cx="384048" cy="384048"/>
          </a:xfrm>
          <a:prstGeom prst="ellipse">
            <a:avLst/>
          </a:prstGeom>
          <a:solidFill>
            <a:schemeClr val="lt1"/>
          </a:solidFill>
          <a:ln w="127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chemeClr val="tx2"/>
                </a:solidFill>
              </a:rPr>
              <a:t>K</a:t>
            </a:r>
          </a:p>
        </p:txBody>
      </p:sp>
      <p:sp>
        <p:nvSpPr>
          <p:cNvPr id="26" name="Oval 25"/>
          <p:cNvSpPr/>
          <p:nvPr/>
        </p:nvSpPr>
        <p:spPr>
          <a:xfrm>
            <a:off x="1693468" y="5170932"/>
            <a:ext cx="384048" cy="384048"/>
          </a:xfrm>
          <a:prstGeom prst="ellipse">
            <a:avLst/>
          </a:prstGeom>
          <a:solidFill>
            <a:schemeClr val="lt1"/>
          </a:solidFill>
          <a:ln w="127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chemeClr val="tx2"/>
                </a:solidFill>
              </a:rPr>
              <a:t>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2404872"/>
            <a:ext cx="192024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chemeClr val="tx2"/>
                </a:solidFill>
              </a:rPr>
              <a:t>優先着手ゾーン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2331720"/>
            <a:ext cx="3685032" cy="3566160"/>
          </a:xfrm>
          <a:prstGeom prst="rect">
            <a:avLst/>
          </a:pr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54864" tIns="91440" bIns="18288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chemeClr val="tx2"/>
                </a:solidFill>
              </a:rPr>
              <a:t>読み方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chemeClr val="tx1"/>
                </a:solidFill>
              </a:rPr>
              <a:t>・●（青塗り）＝優先着手：A・D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chemeClr val="tx1"/>
                </a:solidFill>
              </a:rPr>
              <a:t>・○（白）＝凍結：10案は図に残したまま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chemeClr val="tx1"/>
                </a:solidFill>
              </a:rPr>
              <a:t>・軸の定義は評価前に経営会議で合意済み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chemeClr val="tx1"/>
                </a:solidFill>
              </a:rPr>
              <a:t>・B案は市場性のみ高：協業パートナーが見つかれば再浮上（来期Q3見直し）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053328"/>
            <a:ext cx="11365992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chemeClr val="accent5"/>
                </a:solidFill>
              </a:rPr>
              <a:t>ポイント：落ちた10案も消さずに図に残す——『同じ基準で全部評価した』ことが図から読み取れる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87968" y="237744"/>
            <a:ext cx="1975104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accent1"/>
                </a:solidFill>
              </a:rPr>
              <a:t>型⑥｜ロードマップ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36224" y="237744"/>
            <a:ext cx="84124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lt1"/>
                </a:solidFill>
              </a:rPr>
              <a:t>テンプレ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595360" cy="4572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chemeClr val="tx2"/>
                </a:solidFill>
              </a:rPr>
              <a:t>【ページタイトル（例：◯◯定着ロードマップ）】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676656"/>
            <a:ext cx="11365992" cy="0"/>
          </a:xfrm>
          <a:prstGeom prst="line">
            <a:avLst/>
          </a:prstGeom>
          <a:ln w="1778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11480" y="822960"/>
            <a:ext cx="11365992" cy="3474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18288" bIns="18288"/>
          <a:lstStyle/>
          <a:p>
            <a:pPr algn="l"/>
            <a:r>
              <a:rPr sz="1300" b="1">
                <a:solidFill>
                  <a:schemeClr val="lt1"/>
                </a:solidFill>
              </a:rPr>
              <a:t>【計画の要点を1文で（到達状態を言い切る）】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65992" cy="768096"/>
          </a:xfrm>
          <a:prstGeom prst="rect">
            <a:avLst/>
          </a:pr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18288" bIns="18288"/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>
                <a:solidFill>
                  <a:schemeClr val="tx1"/>
                </a:solidFill>
              </a:rPr>
              <a:t>■ 【段階の設計思想を文で断定する（例：基盤→展開→定着の3段階）】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>
                <a:solidFill>
                  <a:schemeClr val="tx1"/>
                </a:solidFill>
              </a:rPr>
              <a:t>■ 【判断点・報告サイクルまで言及する】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1005840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chemeClr val="accent5"/>
                </a:solidFill>
              </a:rPr>
              <a:t>出典：【計画の前提資料（例：◯◯計画・経営会議承認日）】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0528"/>
            <a:ext cx="45720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chemeClr val="accent5"/>
                </a:solidFill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2212848"/>
            <a:ext cx="2464308" cy="329184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chemeClr val="tx2"/>
                </a:solidFill>
              </a:rPr>
              <a:t>【Q1】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4548" y="2212848"/>
            <a:ext cx="2464308" cy="329184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chemeClr val="tx2"/>
                </a:solidFill>
              </a:rPr>
              <a:t>【Q2】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48856" y="2212848"/>
            <a:ext cx="2464308" cy="329184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chemeClr val="tx2"/>
                </a:solidFill>
              </a:rPr>
              <a:t>【Q3】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13164" y="2212848"/>
            <a:ext cx="2464308" cy="329184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chemeClr val="tx2"/>
                </a:solidFill>
              </a:rPr>
              <a:t>【Q4】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578608"/>
            <a:ext cx="1508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/>
            <a:r>
              <a:rPr sz="1000" b="1">
                <a:solidFill>
                  <a:schemeClr val="tx2"/>
                </a:solidFill>
              </a:rPr>
              <a:t>マイルストーン</a:t>
            </a:r>
          </a:p>
        </p:txBody>
      </p:sp>
      <p:sp>
        <p:nvSpPr>
          <p:cNvPr id="15" name="Diamond 14"/>
          <p:cNvSpPr/>
          <p:nvPr/>
        </p:nvSpPr>
        <p:spPr>
          <a:xfrm>
            <a:off x="3051810" y="2606040"/>
            <a:ext cx="201168" cy="201168"/>
          </a:xfrm>
          <a:prstGeom prst="diamond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75104" y="2816352"/>
            <a:ext cx="235458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chemeClr val="tx1"/>
                </a:solidFill>
              </a:rPr>
              <a:t>【達成を判定できるイベント】</a:t>
            </a:r>
          </a:p>
        </p:txBody>
      </p:sp>
      <p:sp>
        <p:nvSpPr>
          <p:cNvPr id="17" name="Diamond 16"/>
          <p:cNvSpPr/>
          <p:nvPr/>
        </p:nvSpPr>
        <p:spPr>
          <a:xfrm>
            <a:off x="5516118" y="2606040"/>
            <a:ext cx="201168" cy="201168"/>
          </a:xfrm>
          <a:prstGeom prst="diamond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9412" y="2816352"/>
            <a:ext cx="235458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chemeClr val="tx1"/>
                </a:solidFill>
              </a:rPr>
              <a:t>【達成を判定できるイベント】</a:t>
            </a:r>
          </a:p>
        </p:txBody>
      </p:sp>
      <p:sp>
        <p:nvSpPr>
          <p:cNvPr id="19" name="Diamond 18"/>
          <p:cNvSpPr/>
          <p:nvPr/>
        </p:nvSpPr>
        <p:spPr>
          <a:xfrm>
            <a:off x="7980426" y="2606040"/>
            <a:ext cx="201168" cy="201168"/>
          </a:xfrm>
          <a:prstGeom prst="diamond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2816352"/>
            <a:ext cx="235458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chemeClr val="tx1"/>
                </a:solidFill>
              </a:rPr>
              <a:t>【達成を判定できるイベント】</a:t>
            </a:r>
          </a:p>
        </p:txBody>
      </p:sp>
      <p:sp>
        <p:nvSpPr>
          <p:cNvPr id="21" name="Diamond 20"/>
          <p:cNvSpPr/>
          <p:nvPr/>
        </p:nvSpPr>
        <p:spPr>
          <a:xfrm>
            <a:off x="10444734" y="2606040"/>
            <a:ext cx="201168" cy="201168"/>
          </a:xfrm>
          <a:prstGeom prst="diamond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68028" y="2816352"/>
            <a:ext cx="235458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chemeClr val="tx1"/>
                </a:solidFill>
              </a:rPr>
              <a:t>【達成を判定できるイベント】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154680"/>
            <a:ext cx="1508760" cy="86868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chemeClr val="lt1"/>
                </a:solidFill>
              </a:rPr>
              <a:t>【レーンA（主体）】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3154680"/>
            <a:ext cx="9857232" cy="868680"/>
          </a:xfrm>
          <a:prstGeom prst="rect">
            <a:avLst/>
          </a:prstGeom>
          <a:noFill/>
          <a:ln w="635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25" name="Pentagon 24"/>
          <p:cNvSpPr/>
          <p:nvPr/>
        </p:nvSpPr>
        <p:spPr>
          <a:xfrm>
            <a:off x="1965960" y="3355848"/>
            <a:ext cx="3851452" cy="457200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lt1"/>
                </a:solidFill>
              </a:rPr>
              <a:t>【施策①（開始〜終了）】</a:t>
            </a:r>
          </a:p>
        </p:txBody>
      </p:sp>
      <p:sp>
        <p:nvSpPr>
          <p:cNvPr id="26" name="Pentagon 25"/>
          <p:cNvSpPr/>
          <p:nvPr/>
        </p:nvSpPr>
        <p:spPr>
          <a:xfrm>
            <a:off x="5908852" y="3355848"/>
            <a:ext cx="5822899" cy="457200"/>
          </a:xfrm>
          <a:prstGeom prst="homePlat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tx2"/>
                </a:solidFill>
              </a:rPr>
              <a:t>【施策②】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133088"/>
            <a:ext cx="1508760" cy="86868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chemeClr val="lt1"/>
                </a:solidFill>
              </a:rPr>
              <a:t>【レーンB】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20240" y="4133088"/>
            <a:ext cx="9857232" cy="868680"/>
          </a:xfrm>
          <a:prstGeom prst="rect">
            <a:avLst/>
          </a:prstGeom>
          <a:noFill/>
          <a:ln w="635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29" name="Pentagon 28"/>
          <p:cNvSpPr/>
          <p:nvPr/>
        </p:nvSpPr>
        <p:spPr>
          <a:xfrm>
            <a:off x="3198114" y="4334256"/>
            <a:ext cx="4837176" cy="457200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lt1"/>
                </a:solidFill>
              </a:rPr>
              <a:t>【施策③】</a:t>
            </a:r>
          </a:p>
        </p:txBody>
      </p:sp>
      <p:sp>
        <p:nvSpPr>
          <p:cNvPr id="30" name="Pentagon 29"/>
          <p:cNvSpPr/>
          <p:nvPr/>
        </p:nvSpPr>
        <p:spPr>
          <a:xfrm>
            <a:off x="8126730" y="4334256"/>
            <a:ext cx="3605022" cy="457200"/>
          </a:xfrm>
          <a:prstGeom prst="homePlat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tx2"/>
                </a:solidFill>
              </a:rPr>
              <a:t>【施策④】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111496"/>
            <a:ext cx="1508760" cy="86868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chemeClr val="lt1"/>
                </a:solidFill>
              </a:rPr>
              <a:t>【レーンC】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20240" y="5111496"/>
            <a:ext cx="9857232" cy="868680"/>
          </a:xfrm>
          <a:prstGeom prst="rect">
            <a:avLst/>
          </a:prstGeom>
          <a:noFill/>
          <a:ln w="635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33" name="Pentagon 32"/>
          <p:cNvSpPr/>
          <p:nvPr/>
        </p:nvSpPr>
        <p:spPr>
          <a:xfrm>
            <a:off x="1965960" y="5312664"/>
            <a:ext cx="2372868" cy="457200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lt1"/>
                </a:solidFill>
              </a:rPr>
              <a:t>【施策⑤】</a:t>
            </a:r>
          </a:p>
        </p:txBody>
      </p:sp>
      <p:sp>
        <p:nvSpPr>
          <p:cNvPr id="34" name="Pentagon 33"/>
          <p:cNvSpPr/>
          <p:nvPr/>
        </p:nvSpPr>
        <p:spPr>
          <a:xfrm>
            <a:off x="4430268" y="5312664"/>
            <a:ext cx="7301484" cy="457200"/>
          </a:xfrm>
          <a:prstGeom prst="homePlat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tx2"/>
                </a:solidFill>
              </a:rPr>
              <a:t>【施策⑥】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384548" y="2542032"/>
            <a:ext cx="0" cy="3438144"/>
          </a:xfrm>
          <a:prstGeom prst="line">
            <a:avLst/>
          </a:prstGeom>
          <a:ln w="635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848856" y="2542032"/>
            <a:ext cx="0" cy="3438144"/>
          </a:xfrm>
          <a:prstGeom prst="line">
            <a:avLst/>
          </a:prstGeom>
          <a:ln w="635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313164" y="2542032"/>
            <a:ext cx="0" cy="3438144"/>
          </a:xfrm>
          <a:prstGeom prst="line">
            <a:avLst/>
          </a:prstGeom>
          <a:ln w="635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11480" y="6053328"/>
            <a:ext cx="11365992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chemeClr val="accent5"/>
                </a:solidFill>
              </a:rPr>
              <a:t>※ 矢羽根＝施策名＋期間。『検討する』だけの矢羽根は書かない／レーンあたり4本まで／主語の違うものを同じレーンに入れない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87968" y="237744"/>
            <a:ext cx="1975104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tx2"/>
                </a:solidFill>
              </a:rPr>
              <a:t>型⑥｜ロードマップ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36224" y="237744"/>
            <a:ext cx="841248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lt1"/>
                </a:solidFill>
              </a:rPr>
              <a:t>記入例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595360" cy="4572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chemeClr val="tx2"/>
                </a:solidFill>
              </a:rPr>
              <a:t>全社AI活用 定着ロードマップ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676656"/>
            <a:ext cx="11365992" cy="0"/>
          </a:xfrm>
          <a:prstGeom prst="line">
            <a:avLst/>
          </a:prstGeom>
          <a:ln w="1778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11480" y="822960"/>
            <a:ext cx="11365992" cy="3474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18288" bIns="18288"/>
          <a:lstStyle/>
          <a:p>
            <a:pPr algn="l"/>
            <a:r>
              <a:rPr sz="1300" b="1">
                <a:solidFill>
                  <a:schemeClr val="lt1"/>
                </a:solidFill>
              </a:rPr>
              <a:t>1年で『全部門が月次でAIを業務利用する』状態にする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65992" cy="768096"/>
          </a:xfrm>
          <a:prstGeom prst="rect">
            <a:avLst/>
          </a:prstGeom>
          <a:noFill/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18288" bIns="18288"/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>
                <a:solidFill>
                  <a:schemeClr val="tx1"/>
                </a:solidFill>
              </a:rPr>
              <a:t>■ 定着は基盤整備→部門展開→評価連動の3段階で進め、Q2末の先行部門KPIを全社展開の判断点とする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>
                <a:solidFill>
                  <a:schemeClr val="tx1"/>
                </a:solidFill>
              </a:rPr>
              <a:t>■ 全施策に主体と完了定義を設定済みであり、進捗は月次で経営会議に報告する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1005840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chemeClr val="accent5"/>
                </a:solidFill>
              </a:rPr>
              <a:t>出典：AI活用推進計画（2026年6月・経営会議承認）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0528"/>
            <a:ext cx="45720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chemeClr val="accent5"/>
                </a:solidFill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2212848"/>
            <a:ext cx="2464308" cy="329184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chemeClr val="tx2"/>
                </a:solidFill>
              </a:rPr>
              <a:t>Q1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4548" y="2212848"/>
            <a:ext cx="2464308" cy="329184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chemeClr val="tx2"/>
                </a:solidFill>
              </a:rPr>
              <a:t>Q2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48856" y="2212848"/>
            <a:ext cx="2464308" cy="329184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chemeClr val="tx2"/>
                </a:solidFill>
              </a:rPr>
              <a:t>Q3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13164" y="2212848"/>
            <a:ext cx="2464308" cy="329184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chemeClr val="tx2"/>
                </a:solidFill>
              </a:rPr>
              <a:t>Q4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578608"/>
            <a:ext cx="1508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/>
            <a:r>
              <a:rPr sz="1000" b="1">
                <a:solidFill>
                  <a:schemeClr val="tx2"/>
                </a:solidFill>
              </a:rPr>
              <a:t>マイルストーン</a:t>
            </a:r>
          </a:p>
        </p:txBody>
      </p:sp>
      <p:sp>
        <p:nvSpPr>
          <p:cNvPr id="15" name="Diamond 14"/>
          <p:cNvSpPr/>
          <p:nvPr/>
        </p:nvSpPr>
        <p:spPr>
          <a:xfrm>
            <a:off x="3051810" y="2606040"/>
            <a:ext cx="201168" cy="201168"/>
          </a:xfrm>
          <a:prstGeom prst="diamond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75104" y="2816352"/>
            <a:ext cx="235458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chemeClr val="tx1"/>
                </a:solidFill>
              </a:rPr>
              <a:t>ガイドライン施行（Q1末）</a:t>
            </a:r>
          </a:p>
        </p:txBody>
      </p:sp>
      <p:sp>
        <p:nvSpPr>
          <p:cNvPr id="17" name="Diamond 16"/>
          <p:cNvSpPr/>
          <p:nvPr/>
        </p:nvSpPr>
        <p:spPr>
          <a:xfrm>
            <a:off x="5516118" y="2606040"/>
            <a:ext cx="201168" cy="201168"/>
          </a:xfrm>
          <a:prstGeom prst="diamond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9412" y="2816352"/>
            <a:ext cx="235458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chemeClr val="tx1"/>
                </a:solidFill>
              </a:rPr>
              <a:t>先行3部門 利用率50%（Q2末）</a:t>
            </a:r>
          </a:p>
        </p:txBody>
      </p:sp>
      <p:sp>
        <p:nvSpPr>
          <p:cNvPr id="19" name="Diamond 18"/>
          <p:cNvSpPr/>
          <p:nvPr/>
        </p:nvSpPr>
        <p:spPr>
          <a:xfrm>
            <a:off x="7980426" y="2606040"/>
            <a:ext cx="201168" cy="201168"/>
          </a:xfrm>
          <a:prstGeom prst="diamond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2816352"/>
            <a:ext cx="235458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chemeClr val="tx1"/>
                </a:solidFill>
              </a:rPr>
              <a:t>全部門展開 完了（Q3末）</a:t>
            </a:r>
          </a:p>
        </p:txBody>
      </p:sp>
      <p:sp>
        <p:nvSpPr>
          <p:cNvPr id="21" name="Diamond 20"/>
          <p:cNvSpPr/>
          <p:nvPr/>
        </p:nvSpPr>
        <p:spPr>
          <a:xfrm>
            <a:off x="10444734" y="2606040"/>
            <a:ext cx="201168" cy="201168"/>
          </a:xfrm>
          <a:prstGeom prst="diamond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68028" y="2816352"/>
            <a:ext cx="235458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chemeClr val="tx1"/>
                </a:solidFill>
              </a:rPr>
              <a:t>評価制度へ反映（Q4末）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154680"/>
            <a:ext cx="1508760" cy="86868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chemeClr val="lt1"/>
                </a:solidFill>
              </a:rPr>
              <a:t>経営企画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3154680"/>
            <a:ext cx="9857232" cy="868680"/>
          </a:xfrm>
          <a:prstGeom prst="rect">
            <a:avLst/>
          </a:prstGeom>
          <a:noFill/>
          <a:ln w="635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25" name="Pentagon 24"/>
          <p:cNvSpPr/>
          <p:nvPr/>
        </p:nvSpPr>
        <p:spPr>
          <a:xfrm>
            <a:off x="1965960" y="3355848"/>
            <a:ext cx="2372868" cy="457200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lt1"/>
                </a:solidFill>
              </a:rPr>
              <a:t>ガイドライン策定</a:t>
            </a:r>
          </a:p>
        </p:txBody>
      </p:sp>
      <p:sp>
        <p:nvSpPr>
          <p:cNvPr id="26" name="Pentagon 25"/>
          <p:cNvSpPr/>
          <p:nvPr/>
        </p:nvSpPr>
        <p:spPr>
          <a:xfrm>
            <a:off x="4430268" y="3355848"/>
            <a:ext cx="7301484" cy="457200"/>
          </a:xfrm>
          <a:prstGeom prst="homePlat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tx2"/>
                </a:solidFill>
              </a:rPr>
              <a:t>効果測定・月次報告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133088"/>
            <a:ext cx="1508760" cy="86868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chemeClr val="lt1"/>
                </a:solidFill>
              </a:rPr>
              <a:t>現場部門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20240" y="4133088"/>
            <a:ext cx="9857232" cy="868680"/>
          </a:xfrm>
          <a:prstGeom prst="rect">
            <a:avLst/>
          </a:prstGeom>
          <a:noFill/>
          <a:ln w="635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29" name="Pentagon 28"/>
          <p:cNvSpPr/>
          <p:nvPr/>
        </p:nvSpPr>
        <p:spPr>
          <a:xfrm>
            <a:off x="1965960" y="4334256"/>
            <a:ext cx="4837176" cy="457200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lt1"/>
                </a:solidFill>
              </a:rPr>
              <a:t>先行3部門トライアル</a:t>
            </a:r>
          </a:p>
        </p:txBody>
      </p:sp>
      <p:sp>
        <p:nvSpPr>
          <p:cNvPr id="30" name="Pentagon 29"/>
          <p:cNvSpPr/>
          <p:nvPr/>
        </p:nvSpPr>
        <p:spPr>
          <a:xfrm>
            <a:off x="6894576" y="4334256"/>
            <a:ext cx="2372868" cy="457200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lt1"/>
                </a:solidFill>
              </a:rPr>
              <a:t>全部門展開</a:t>
            </a:r>
          </a:p>
        </p:txBody>
      </p:sp>
      <p:sp>
        <p:nvSpPr>
          <p:cNvPr id="31" name="Pentagon 30"/>
          <p:cNvSpPr/>
          <p:nvPr/>
        </p:nvSpPr>
        <p:spPr>
          <a:xfrm>
            <a:off x="9358884" y="4334256"/>
            <a:ext cx="2372868" cy="457200"/>
          </a:xfrm>
          <a:prstGeom prst="homePlat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tx2"/>
                </a:solidFill>
              </a:rPr>
              <a:t>事例共有会（月次）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111496"/>
            <a:ext cx="1508760" cy="86868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chemeClr val="lt1"/>
                </a:solidFill>
              </a:rPr>
              <a:t>情報システム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20240" y="5111496"/>
            <a:ext cx="9857232" cy="868680"/>
          </a:xfrm>
          <a:prstGeom prst="rect">
            <a:avLst/>
          </a:prstGeom>
          <a:noFill/>
          <a:ln w="635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</a:p>
        </p:txBody>
      </p:sp>
      <p:sp>
        <p:nvSpPr>
          <p:cNvPr id="34" name="Pentagon 33"/>
          <p:cNvSpPr/>
          <p:nvPr/>
        </p:nvSpPr>
        <p:spPr>
          <a:xfrm>
            <a:off x="1965960" y="5312664"/>
            <a:ext cx="2372868" cy="457200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lt1"/>
                </a:solidFill>
              </a:rPr>
              <a:t>環境構築・SSO</a:t>
            </a:r>
          </a:p>
        </p:txBody>
      </p:sp>
      <p:sp>
        <p:nvSpPr>
          <p:cNvPr id="35" name="Pentagon 34"/>
          <p:cNvSpPr/>
          <p:nvPr/>
        </p:nvSpPr>
        <p:spPr>
          <a:xfrm>
            <a:off x="4430268" y="5312664"/>
            <a:ext cx="2372868" cy="457200"/>
          </a:xfrm>
          <a:prstGeom prst="homePlat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tx2"/>
                </a:solidFill>
              </a:rPr>
              <a:t>プロンプト集ポータル</a:t>
            </a:r>
          </a:p>
        </p:txBody>
      </p:sp>
      <p:sp>
        <p:nvSpPr>
          <p:cNvPr id="36" name="Pentagon 35"/>
          <p:cNvSpPr/>
          <p:nvPr/>
        </p:nvSpPr>
        <p:spPr>
          <a:xfrm>
            <a:off x="6894576" y="5312664"/>
            <a:ext cx="4837176" cy="457200"/>
          </a:xfrm>
          <a:prstGeom prst="homePlat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tx2"/>
                </a:solidFill>
              </a:rPr>
              <a:t>利用ログ分析基盤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384548" y="2542032"/>
            <a:ext cx="0" cy="3438144"/>
          </a:xfrm>
          <a:prstGeom prst="line">
            <a:avLst/>
          </a:prstGeom>
          <a:ln w="635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848856" y="2542032"/>
            <a:ext cx="0" cy="3438144"/>
          </a:xfrm>
          <a:prstGeom prst="line">
            <a:avLst/>
          </a:prstGeom>
          <a:ln w="635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313164" y="2542032"/>
            <a:ext cx="0" cy="3438144"/>
          </a:xfrm>
          <a:prstGeom prst="line">
            <a:avLst/>
          </a:prstGeom>
          <a:ln w="635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11480" y="6053328"/>
            <a:ext cx="11365992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chemeClr val="accent5"/>
                </a:solidFill>
              </a:rPr>
              <a:t>ポイント：すべての矢羽根に主体（レーン）と期間がある。青＝実行系、水色＝運用系で段階を色分け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87968" y="237744"/>
            <a:ext cx="1975104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accent1"/>
                </a:solidFill>
              </a:rPr>
              <a:t>型⑦｜中扉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36224" y="237744"/>
            <a:ext cx="84124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lt1"/>
                </a:solidFill>
              </a:rPr>
              <a:t>テンプレ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2194560" cy="14630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6600" b="1">
                <a:solidFill>
                  <a:schemeClr val="accent3"/>
                </a:solidFill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51560" y="3611880"/>
            <a:ext cx="1463040" cy="0"/>
          </a:xfrm>
          <a:prstGeom prst="line">
            <a:avLst/>
          </a:prstGeom>
          <a:ln w="2540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91840" y="2240280"/>
            <a:ext cx="7863840" cy="14630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chemeClr val="tx2"/>
                </a:solidFill>
              </a:rPr>
              <a:t>【章タイトル（14字以内の名詞句）】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chemeClr val="accent5"/>
                </a:solidFill>
              </a:rPr>
              <a:t>【この章が答える問い（例：なぜ今、変わる必要があるのか）】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5120640"/>
            <a:ext cx="2057400" cy="402336"/>
          </a:xfrm>
          <a:prstGeom prst="round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chemeClr val="accent5"/>
                </a:solidFill>
              </a:rPr>
              <a:t>【1章】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9544" y="5120640"/>
            <a:ext cx="2057400" cy="402336"/>
          </a:xfrm>
          <a:prstGeom prst="round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chemeClr val="accent5"/>
                </a:solidFill>
              </a:rPr>
              <a:t>【2章】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13248" y="5120640"/>
            <a:ext cx="2057400" cy="402336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chemeClr val="lt1"/>
                </a:solidFill>
              </a:rPr>
              <a:t>【3章】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16952" y="5120640"/>
            <a:ext cx="2057400" cy="402336"/>
          </a:xfrm>
          <a:prstGeom prst="round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chemeClr val="accent5"/>
                </a:solidFill>
              </a:rPr>
              <a:t>【4章】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20656" y="5120640"/>
            <a:ext cx="2057400" cy="402336"/>
          </a:xfrm>
          <a:prstGeom prst="round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chemeClr val="accent5"/>
                </a:solidFill>
              </a:rPr>
              <a:t>【5章】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989320"/>
            <a:ext cx="11365992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chemeClr val="accent5"/>
                </a:solidFill>
              </a:rPr>
              <a:t>※ 中扉に載せる情報は4つまで：章番号・章タイトル・問い・現在地。要約や結論を書き込まない（脳のリセットにならない）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309360"/>
            <a:ext cx="11365992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chemeClr val="accent5"/>
                </a:solidFill>
              </a:rPr>
              <a:t>※ 3〜7章構成・1章あたりスライド5枚以上の資料で使う。章タイトルは目次と一字一句揃える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0" y="6510528"/>
            <a:ext cx="45720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chemeClr val="accent5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87968" y="237744"/>
            <a:ext cx="1975104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tx2"/>
                </a:solidFill>
              </a:rPr>
              <a:t>型⑦｜中扉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36224" y="237744"/>
            <a:ext cx="841248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chemeClr val="lt1"/>
                </a:solidFill>
              </a:rPr>
              <a:t>記入例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2194560" cy="14630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6600" b="1">
                <a:solidFill>
                  <a:schemeClr val="accent3"/>
                </a:solidFill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51560" y="3611880"/>
            <a:ext cx="1463040" cy="0"/>
          </a:xfrm>
          <a:prstGeom prst="line">
            <a:avLst/>
          </a:prstGeom>
          <a:ln w="2540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91840" y="2240280"/>
            <a:ext cx="7863840" cy="14630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chemeClr val="tx2"/>
                </a:solidFill>
              </a:rPr>
              <a:t>打ち手の提案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chemeClr val="accent5"/>
                </a:solidFill>
              </a:rPr>
              <a:t>——何をすれば、利用率は上がるのか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5120640"/>
            <a:ext cx="2057400" cy="402336"/>
          </a:xfrm>
          <a:prstGeom prst="round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chemeClr val="accent5"/>
                </a:solidFill>
              </a:rPr>
              <a:t>1. 現状分析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9544" y="5120640"/>
            <a:ext cx="2057400" cy="402336"/>
          </a:xfrm>
          <a:prstGeom prst="round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chemeClr val="accent5"/>
                </a:solidFill>
              </a:rPr>
              <a:t>2. 課題の特定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13248" y="5120640"/>
            <a:ext cx="2057400" cy="402336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chemeClr val="lt1"/>
                </a:solidFill>
              </a:rPr>
              <a:t>3. 打ち手の提案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16952" y="5120640"/>
            <a:ext cx="2057400" cy="402336"/>
          </a:xfrm>
          <a:prstGeom prst="round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chemeClr val="accent5"/>
                </a:solidFill>
              </a:rPr>
              <a:t>4. 実行計画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20656" y="5120640"/>
            <a:ext cx="2057400" cy="402336"/>
          </a:xfrm>
          <a:prstGeom prst="round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chemeClr val="accent5"/>
                </a:solidFill>
              </a:rPr>
              <a:t>5. 投資対効果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309360"/>
            <a:ext cx="11365992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chemeClr val="accent5"/>
                </a:solidFill>
              </a:rPr>
              <a:t>ポイント：情報は4つだけ（章番号・タイトル・問い・現在地）。この静けさが、読み手の頭を切り替える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0" y="6510528"/>
            <a:ext cx="45720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chemeClr val="accent5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8229600" cy="4572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chemeClr val="tx2"/>
                </a:solidFill>
              </a:rPr>
              <a:t>ご利用にあたって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676656"/>
            <a:ext cx="11365992" cy="0"/>
          </a:xfrm>
          <a:prstGeom prst="line">
            <a:avLst/>
          </a:prstGeom>
          <a:ln w="1778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11480" y="1097280"/>
            <a:ext cx="5486400" cy="2468880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54864" tIns="109728" bIns="18288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chemeClr val="accent1"/>
                </a:solidFill>
              </a:rPr>
              <a:t>できること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chemeClr val="tx1"/>
                </a:solidFill>
              </a:rPr>
              <a:t>・ご自身の業務資料・提案書・社内資料への利用（商用案件含む）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chemeClr val="tx1"/>
                </a:solidFill>
              </a:rPr>
              <a:t>・社内・チーム内での資料としての共有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chemeClr val="tx1"/>
                </a:solidFill>
              </a:rPr>
              <a:t>・レイアウト・配色・文言の改変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3640" y="1097280"/>
            <a:ext cx="5513832" cy="2468880"/>
          </a:xfrm>
          <a:prstGeom prst="rect">
            <a:avLst/>
          </a:prstGeom>
          <a:noFill/>
          <a:ln w="127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54864" tIns="109728" bIns="18288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chemeClr val="tx2"/>
                </a:solidFill>
              </a:rPr>
              <a:t>できないこと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chemeClr val="tx1"/>
                </a:solidFill>
              </a:rPr>
              <a:t>・本テンプレート自体の再配布・転売（有償・無償を問わず）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chemeClr val="tx1"/>
                </a:solidFill>
              </a:rPr>
              <a:t>・テンプレート素材としての再公開・二次配布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chemeClr val="tx1"/>
                </a:solidFill>
              </a:rPr>
              <a:t>・自作テンプレートと偽っての販売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977639"/>
            <a:ext cx="11365992" cy="17373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chemeClr val="tx2"/>
                </a:solidFill>
              </a:rPr>
              <a:t>本テンプレートについて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>
                <a:solidFill>
                  <a:schemeClr val="tx1"/>
                </a:solidFill>
              </a:rPr>
              <a:t>・型の出どころ：経済産業省が公開するデロイト作成の委託調査報告書（351枚）を1枚ずつ実測分類し、抽出した7つの型を自作テンプレート化したものです（実物スライドの複製は含みません）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>
                <a:solidFill>
                  <a:schemeClr val="tx1"/>
                </a:solidFill>
              </a:rPr>
              <a:t>・詳しい解説と、各型をAIで一発生成するプロンプト7本は、note本編をご覧ください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chemeClr val="tx1"/>
                </a:solidFill>
              </a:rPr>
              <a:t>・更新履歴：v1.0（2026年7月）初版。改善要望は保管庫のコメント欄へ——次版に反映します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126480"/>
            <a:ext cx="11365992" cy="4572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chemeClr val="tx2"/>
                </a:solidFill>
              </a:rPr>
              <a:t>制作：うちた（@uchita_success）｜うちたの保管庫 会員特典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510528"/>
            <a:ext cx="45720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chemeClr val="accent5"/>
                </a:solidFill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chita Blue">
      <a:dk1>
        <a:sysClr val="windowText" lastClr="000000"/>
      </a:dk1>
      <a:lt1>
        <a:sysClr val="window" lastClr="FFFFFF"/>
      </a:lt1>
      <a:dk2>
        <a:srgbClr val="0F2A43"/>
      </a:dk2>
      <a:lt2>
        <a:srgbClr val="EEF3F8"/>
      </a:lt2>
      <a:accent1>
        <a:srgbClr val="1976D2"/>
      </a:accent1>
      <a:accent2>
        <a:srgbClr val="64B5F6"/>
      </a:accent2>
      <a:accent3>
        <a:srgbClr val="BBDEFB"/>
      </a:accent3>
      <a:accent4>
        <a:srgbClr val="0F2A43"/>
      </a:accent4>
      <a:accent5>
        <a:srgbClr val="90A4AE"/>
      </a:accent5>
      <a:accent6>
        <a:srgbClr val="CFD8DC"/>
      </a:accent6>
      <a:hlink>
        <a:srgbClr val="1976D2"/>
      </a:hlink>
      <a:folHlink>
        <a:srgbClr val="546E7A"/>
      </a:folHlink>
    </a:clrScheme>
    <a:fontScheme name="Uchita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Uchita Blue">
      <a:dk1>
        <a:sysClr val="windowText" lastClr="000000"/>
      </a:dk1>
      <a:lt1>
        <a:sysClr val="window" lastClr="FFFFFF"/>
      </a:lt1>
      <a:dk2>
        <a:srgbClr val="0F2A43"/>
      </a:dk2>
      <a:lt2>
        <a:srgbClr val="EEF3F8"/>
      </a:lt2>
      <a:accent1>
        <a:srgbClr val="1976D2"/>
      </a:accent1>
      <a:accent2>
        <a:srgbClr val="64B5F6"/>
      </a:accent2>
      <a:accent3>
        <a:srgbClr val="BBDEFB"/>
      </a:accent3>
      <a:accent4>
        <a:srgbClr val="0F2A43"/>
      </a:accent4>
      <a:accent5>
        <a:srgbClr val="90A4AE"/>
      </a:accent5>
      <a:accent6>
        <a:srgbClr val="CFD8DC"/>
      </a:accent6>
      <a:hlink>
        <a:srgbClr val="1976D2"/>
      </a:hlink>
      <a:folHlink>
        <a:srgbClr val="546E7A"/>
      </a:folHlink>
    </a:clrScheme>
    <a:fontScheme name="Uchita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コンサル7つの型 スライドテンプレート v1.0</dc:title>
  <dc:subject/>
  <dc:creator>うちた（うちたの保管庫）</dc:creator>
  <cp:keywords/>
  <dc:description>デロイト351枚実測分析より抽出した7つの型のテンプレート。テーマカラー・テーマフォント連動。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