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368300"/>
            <a:ext cx="7620000" cy="292100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/>
            <a:r>
              <a:rPr lang="ja-JP" sz="1400" b="1">
                <a:solidFill>
                  <a:srgbClr val="1976D2"/>
                </a:solidFill>
                <a:latin typeface="Noto Sans JP"/>
                <a:ea typeface="Noto Sans JP"/>
              </a:rPr>
              <a:t>課題と打ち手</a:t>
            </a:r>
            <a:r>
              <a:rPr lang="ja-JP" sz="1200" b="0">
                <a:solidFill>
                  <a:srgbClr val="6B7C85"/>
                </a:solidFill>
                <a:latin typeface="Noto Sans JP"/>
                <a:ea typeface="Noto Sans JP"/>
              </a:rPr>
              <a:t>    </a:t>
            </a:r>
            <a:r>
              <a:rPr lang="ja-JP" sz="1200" b="0" spc="264">
                <a:solidFill>
                  <a:srgbClr val="6B7C85"/>
                </a:solidFill>
                <a:latin typeface="Noto Sans JP"/>
                <a:ea typeface="Noto Sans JP"/>
              </a:rPr>
              <a:t>ISSUES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711200"/>
            <a:ext cx="11176000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lang="ja-JP" sz="2900" b="1">
                <a:solidFill>
                  <a:srgbClr val="222222"/>
                </a:solidFill>
                <a:latin typeface="Noto Sans JP"/>
                <a:ea typeface="Noto Sans JP"/>
              </a:rPr>
              <a:t>顧客接点の92%が未接触——商談化は人手でなく仕組みで解く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" y="1593850"/>
            <a:ext cx="1397000" cy="3556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1593850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9300" y="1593850"/>
            <a:ext cx="4826000" cy="3556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9300" y="159385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現状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1500" y="1593850"/>
            <a:ext cx="4724400" cy="3556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21500" y="1593850"/>
            <a:ext cx="47244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うちたのAIの打ち手（AI商談化支援）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2038350"/>
            <a:ext cx="1397000" cy="29591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100" y="2038350"/>
            <a:ext cx="1397000" cy="295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休眠リードが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可視化されていない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5086350"/>
            <a:ext cx="1397000" cy="1270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100" y="5086350"/>
            <a:ext cx="1397000" cy="1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追客の工数が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足りない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9300" y="2038350"/>
            <a:ext cx="4826000" cy="295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400" y="2165350"/>
            <a:ext cx="4508500" cy="270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接点データが分散し、掘り起こしが属人化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名刺・展示会・問い合わせ・セミナーで得た30万件の接点が、SFA・MA・表計算の3系統に分散して蓄積されている</a:t>
            </a:r>
          </a:p>
          <a:p>
            <a:pPr marL="342900" indent="-158750" algn="l">
              <a:lnSpc>
                <a:spcPct val="100000"/>
              </a:lnSpc>
              <a:spcBef>
                <a:spcPts val="300"/>
              </a:spcBef>
            </a:pPr>
            <a:r>
              <a:rPr lang="ja-JP" sz="8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重複や部署異動、退職が未整理のまま残り、有効リードの実数を誰も把握できていない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掘り起こしは営業個人の記憶と手元リストに依存している</a:t>
            </a:r>
          </a:p>
          <a:p>
            <a:pPr marL="342900" indent="-158750" algn="l">
              <a:lnSpc>
                <a:spcPct val="100000"/>
              </a:lnSpc>
              <a:spcBef>
                <a:spcPts val="300"/>
              </a:spcBef>
            </a:pPr>
            <a:r>
              <a:rPr lang="ja-JP" sz="8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昨年度に再接触できたのは約2.4万件で、全接点の8%にとどまる</a:t>
            </a:r>
          </a:p>
          <a:p>
            <a:pPr marL="342900" indent="-158750" algn="l">
              <a:lnSpc>
                <a:spcPct val="100000"/>
              </a:lnSpc>
              <a:spcBef>
                <a:spcPts val="300"/>
              </a:spcBef>
            </a:pPr>
            <a:r>
              <a:rPr lang="ja-JP" sz="8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担当交代のたびにリストがリセットされ、同じ相手への重複アプローチも発生している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1500" y="2038350"/>
            <a:ext cx="4724400" cy="14414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2165350"/>
            <a:ext cx="4406900" cy="1187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接点データの統合と名寄せ（第1フェーズ）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3系統のデータをAIで名寄せ・クレンジングし、単一の顧客接点基盤に統合する</a:t>
            </a:r>
          </a:p>
          <a:p>
            <a:pPr marL="342900" indent="-158750" algn="l">
              <a:lnSpc>
                <a:spcPct val="100000"/>
              </a:lnSpc>
              <a:spcBef>
                <a:spcPts val="300"/>
              </a:spcBef>
            </a:pPr>
            <a:r>
              <a:rPr lang="ja-JP" sz="8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重複排除と在籍確認を自動化し、有効リード数を常時可視化する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1500" y="3556000"/>
            <a:ext cx="4724400" cy="14414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3683000"/>
            <a:ext cx="4406900" cy="1187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AIスコアリングによる優先リストの自動生成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行動履歴と属性から商談化確度を算出し、毎朝「今日あたるべき50件」を各営業に自動配信する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9300" y="5086350"/>
            <a:ext cx="4826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84400" y="5213350"/>
            <a:ext cx="45085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追客は新規対応の合間作業になっている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営業1人あたりの担当接点は平均6,000件で、新規対応だけで稼働の7割が埋まる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1500" y="5086350"/>
            <a:ext cx="47244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5213350"/>
            <a:ext cx="44069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初回接触はAIが担う</a:t>
            </a:r>
          </a:p>
          <a:p>
            <a:pPr marL="171450" indent="-158750" algn="l">
              <a:lnSpc>
                <a:spcPct val="100000"/>
              </a:lnSpc>
              <a:spcBef>
                <a:spcPts val="450"/>
              </a:spcBef>
            </a:pPr>
            <a:r>
              <a:rPr lang="ja-JP" sz="800" b="0">
                <a:solidFill>
                  <a:srgbClr val="1976D2"/>
                </a:solidFill>
                <a:latin typeface="Noto Sans JP"/>
                <a:ea typeface="Noto Sans JP"/>
              </a:rPr>
              <a:t>■ </a:t>
            </a: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メール・フォーム経由の一次コンタクトと日程調整を自動化し、営業は温まった相手との商談だけに集中する体制へ移行する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" y="6489700"/>
            <a:ext cx="10541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※ 社名・数値はすべて架空（デモ用）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0900" y="64897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うちたのAI 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368300"/>
            <a:ext cx="7620000" cy="292100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/>
            <a:r>
              <a:rPr lang="ja-JP" sz="1400" b="1">
                <a:solidFill>
                  <a:srgbClr val="1976D2"/>
                </a:solidFill>
                <a:latin typeface="Noto Sans JP"/>
                <a:ea typeface="Noto Sans JP"/>
              </a:rPr>
              <a:t>アプローチ比較</a:t>
            </a:r>
            <a:r>
              <a:rPr lang="ja-JP" sz="1200" b="0">
                <a:solidFill>
                  <a:srgbClr val="6B7C85"/>
                </a:solidFill>
                <a:latin typeface="Noto Sans JP"/>
                <a:ea typeface="Noto Sans JP"/>
              </a:rPr>
              <a:t>    </a:t>
            </a:r>
            <a:r>
              <a:rPr lang="ja-JP" sz="1200" b="0" spc="264">
                <a:solidFill>
                  <a:srgbClr val="6B7C85"/>
                </a:solidFill>
                <a:latin typeface="Noto Sans JP"/>
                <a:ea typeface="Noto Sans JP"/>
              </a:rPr>
              <a:t>APPROACH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711200"/>
            <a:ext cx="11176000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lang="ja-JP" sz="2900" b="1">
                <a:solidFill>
                  <a:srgbClr val="222222"/>
                </a:solidFill>
                <a:latin typeface="Noto Sans JP"/>
                <a:ea typeface="Noto Sans JP"/>
              </a:rPr>
              <a:t>商談化率は最大6%——分かれ目は1件ごとのパーソナライズ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3300" y="1593850"/>
            <a:ext cx="2286000" cy="4064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73300" y="15938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</a:rPr>
              <a:t>手動テレアポ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5500" y="1593850"/>
            <a:ext cx="2286000" cy="4064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5500" y="15938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</a:rPr>
              <a:t>一斉メール配信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7700" y="1593850"/>
            <a:ext cx="2286000" cy="4064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7700" y="15938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</a:rPr>
              <a:t>MAスコアリング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9900" y="1593850"/>
            <a:ext cx="2286000" cy="4064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59900" y="15938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</a:rPr>
              <a:t>AI商談化支援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2076450"/>
            <a:ext cx="1651000" cy="10033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100" y="2076450"/>
            <a:ext cx="1651000" cy="1003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商談化率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100" y="3155950"/>
            <a:ext cx="1651000" cy="10033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6100" y="3155950"/>
            <a:ext cx="1651000" cy="1003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現場工数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" y="4235450"/>
            <a:ext cx="1651000" cy="10033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100" y="4235450"/>
            <a:ext cx="1651000" cy="1003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パーソナライズ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100" y="5314950"/>
            <a:ext cx="1651000" cy="10033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6100" y="5314950"/>
            <a:ext cx="1651000" cy="1003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立ち上げ速度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73300" y="2076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3346450" y="2235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346450" y="2235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13000" y="2470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接続率が低く、商談化は0.3%にとどまる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35500" y="2076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708650" y="2235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708650" y="2235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75200" y="2470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一律文面で0.5%が上限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7700" y="2076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/>
          <p:cNvSpPr/>
          <p:nvPr/>
        </p:nvSpPr>
        <p:spPr>
          <a:xfrm>
            <a:off x="8058150" y="2228850"/>
            <a:ext cx="165100" cy="152400"/>
          </a:xfrm>
          <a:prstGeom prst="triangl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7400" y="2470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高スコア層に限れば2%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59900" y="2076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17175" y="22193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99600" y="2470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優先度×個別文面で6%を実現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73300" y="3155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3346450" y="33147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46450" y="33147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13000" y="3549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1件3分、リスト消化に月200時間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35500" y="3155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92775" y="32988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5200" y="3549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配信自体は自動で完結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7700" y="3155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sosceles Triangle 41"/>
          <p:cNvSpPr/>
          <p:nvPr/>
        </p:nvSpPr>
        <p:spPr>
          <a:xfrm>
            <a:off x="8058150" y="3308350"/>
            <a:ext cx="165100" cy="152400"/>
          </a:xfrm>
          <a:prstGeom prst="triangl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7400" y="3549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スコア設計と運用に専任1名が必要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59900" y="3155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417175" y="32988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99600" y="3549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リスト生成から初回接触まで自動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73300" y="4235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330575" y="43783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13000" y="4629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会話で個別対応できる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5500" y="4235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708650" y="4394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708650" y="4394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775200" y="4629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全員に同一文面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7700" y="4235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8070850" y="4394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070850" y="43942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37400" y="4629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セグメント単位が限界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59900" y="42354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417175" y="43783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499600" y="46291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接点履歴から1件ごとに文面生成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73300" y="5314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330575" y="54578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13000" y="5708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明日から開始できる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35500" y="5314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692775" y="5457825"/>
            <a:ext cx="171450" cy="171450"/>
          </a:xfrm>
          <a:prstGeom prst="ellips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75200" y="5708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当日配信も可能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97700" y="5314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8070850" y="54737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070850" y="5473700"/>
            <a:ext cx="139700" cy="139700"/>
          </a:xfrm>
          <a:prstGeom prst="line">
            <a:avLst/>
          </a:prstGeom>
          <a:ln w="22225">
            <a:solidFill>
              <a:srgbClr val="6B7C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37400" y="5708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設計と定着に6か月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59900" y="5314950"/>
            <a:ext cx="2286000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Isosceles Triangle 71"/>
          <p:cNvSpPr/>
          <p:nvPr/>
        </p:nvSpPr>
        <p:spPr>
          <a:xfrm>
            <a:off x="10420350" y="5467350"/>
            <a:ext cx="165100" cy="152400"/>
          </a:xfrm>
          <a:prstGeom prst="triangle">
            <a:avLst/>
          </a:prstGeom>
          <a:noFill/>
          <a:ln w="22225">
            <a:solidFill>
              <a:srgbClr val="6B7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99600" y="5708650"/>
            <a:ext cx="2006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ja-JP" sz="1000" b="0">
                <a:solidFill>
                  <a:srgbClr val="222222"/>
                </a:solidFill>
                <a:latin typeface="Noto Sans JP"/>
                <a:ea typeface="Noto Sans JP"/>
              </a:rPr>
              <a:t>初期のデータ統合に2週間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59900" y="1593850"/>
            <a:ext cx="2286000" cy="4724400"/>
          </a:xfrm>
          <a:prstGeom prst="rect">
            <a:avLst/>
          </a:prstGeom>
          <a:noFill/>
          <a:ln w="317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100" y="6489700"/>
            <a:ext cx="10541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※ 社名・数値はすべて架空（デモ用）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70900" y="64897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うちたのAI 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368300"/>
            <a:ext cx="7620000" cy="292100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/>
            <a:r>
              <a:rPr lang="ja-JP" sz="1400" b="1">
                <a:solidFill>
                  <a:srgbClr val="1976D2"/>
                </a:solidFill>
                <a:latin typeface="Noto Sans JP"/>
                <a:ea typeface="Noto Sans JP"/>
              </a:rPr>
              <a:t>施策の優先順位</a:t>
            </a:r>
            <a:r>
              <a:rPr lang="ja-JP" sz="1200" b="0">
                <a:solidFill>
                  <a:srgbClr val="6B7C85"/>
                </a:solidFill>
                <a:latin typeface="Noto Sans JP"/>
                <a:ea typeface="Noto Sans JP"/>
              </a:rPr>
              <a:t>    </a:t>
            </a:r>
            <a:r>
              <a:rPr lang="ja-JP" sz="1200" b="0" spc="264">
                <a:solidFill>
                  <a:srgbClr val="6B7C85"/>
                </a:solidFill>
                <a:latin typeface="Noto Sans JP"/>
                <a:ea typeface="Noto Sans JP"/>
              </a:rPr>
              <a:t>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711200"/>
            <a:ext cx="11176000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lang="ja-JP" sz="2900" b="1">
                <a:solidFill>
                  <a:srgbClr val="222222"/>
                </a:solidFill>
                <a:latin typeface="Noto Sans JP"/>
                <a:ea typeface="Noto Sans JP"/>
              </a:rPr>
              <a:t>約90日で立ち上がる休眠掘り起こしが最初の一手となる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62100" y="1809750"/>
            <a:ext cx="0" cy="4064000"/>
          </a:xfrm>
          <a:prstGeom prst="line">
            <a:avLst/>
          </a:prstGeom>
          <a:ln w="19050">
            <a:solidFill>
              <a:srgbClr val="197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1511300" y="1631950"/>
            <a:ext cx="101600" cy="114300"/>
          </a:xfrm>
          <a:prstGeom prst="triangl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562100" y="5873750"/>
            <a:ext cx="8915400" cy="0"/>
          </a:xfrm>
          <a:prstGeom prst="line">
            <a:avLst/>
          </a:prstGeom>
          <a:ln w="19050">
            <a:solidFill>
              <a:srgbClr val="197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10458450" y="5816600"/>
            <a:ext cx="101600" cy="114300"/>
          </a:xfrm>
          <a:prstGeom prst="triangl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6100" y="1746250"/>
            <a:ext cx="9398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実装の容易さ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262255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551815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低い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0700" y="596265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低い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8100" y="596265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高い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500" y="6064250"/>
            <a:ext cx="2413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100" b="1">
                <a:solidFill>
                  <a:srgbClr val="222222"/>
                </a:solidFill>
                <a:latin typeface="Noto Sans JP"/>
                <a:ea typeface="Noto Sans JP"/>
              </a:rPr>
              <a:t>商談創出インパクト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1657350"/>
            <a:ext cx="2844800" cy="1308100"/>
          </a:xfrm>
          <a:prstGeom prst="rect">
            <a:avLst/>
          </a:prstGeom>
          <a:solidFill>
            <a:srgbClr val="529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66900" y="17462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名刺・展示会データの一括取込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OCRと重複排除</a:t>
            </a:r>
          </a:p>
          <a:p>
            <a:pPr marL="146050" indent="-139700" algn="l">
              <a:lnSpc>
                <a:spcPct val="95000"/>
              </a:lnSpc>
              <a:spcBef>
                <a:spcPts val="200"/>
              </a:spcBef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配信リストの衛生管理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在籍確認の自動化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9950" y="1657350"/>
            <a:ext cx="2844800" cy="1308100"/>
          </a:xfrm>
          <a:prstGeom prst="rect">
            <a:avLst/>
          </a:prstGeom>
          <a:solidFill>
            <a:srgbClr val="529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4250" y="17462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問い合わせの一次応答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フォーム受信5分以内の返信</a:t>
            </a:r>
          </a:p>
          <a:p>
            <a:pPr marL="146050" indent="-139700" algn="l">
              <a:lnSpc>
                <a:spcPct val="95000"/>
              </a:lnSpc>
              <a:spcBef>
                <a:spcPts val="200"/>
              </a:spcBef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日程調整の自動化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候補提示から確定まで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300" y="1657350"/>
            <a:ext cx="2844800" cy="13081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1600" y="17462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休眠リードの掘り起こし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AI名寄せと優先リスト配信</a:t>
            </a:r>
          </a:p>
          <a:p>
            <a:pPr marL="146050" indent="-139700" algn="l">
              <a:lnSpc>
                <a:spcPct val="95000"/>
              </a:lnSpc>
              <a:spcBef>
                <a:spcPts val="200"/>
              </a:spcBef>
            </a:pPr>
            <a:r>
              <a:rPr lang="ja-JP" sz="800" b="0">
                <a:solidFill>
                  <a:srgbClr val="FFFFFF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初回接触の自動化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文面の1件ごと個別生成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FFFFFF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FFFFFF"/>
                </a:solidFill>
                <a:latin typeface="Noto Sans JP"/>
                <a:ea typeface="Noto Sans JP"/>
              </a:rPr>
              <a:t>立ち上げ約90日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2600" y="3048000"/>
            <a:ext cx="2844800" cy="1308100"/>
          </a:xfrm>
          <a:prstGeom prst="rect">
            <a:avLst/>
          </a:prstGeom>
          <a:solidFill>
            <a:srgbClr val="8CB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66900" y="313690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社内FAQボット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製品・料金の即答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9950" y="3048000"/>
            <a:ext cx="2844800" cy="1308100"/>
          </a:xfrm>
          <a:prstGeom prst="rect">
            <a:avLst/>
          </a:prstGeom>
          <a:solidFill>
            <a:srgbClr val="8CB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4250" y="313690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商談メモの自動要約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SFA入力の自動化</a:t>
            </a:r>
          </a:p>
          <a:p>
            <a:pPr marL="146050" indent="-139700" algn="l">
              <a:lnSpc>
                <a:spcPct val="95000"/>
              </a:lnSpc>
              <a:spcBef>
                <a:spcPts val="200"/>
              </a:spcBef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失注理由の構造化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次回提案への反映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07300" y="3048000"/>
            <a:ext cx="2844800" cy="1308100"/>
          </a:xfrm>
          <a:prstGeom prst="rect">
            <a:avLst/>
          </a:prstGeom>
          <a:solidFill>
            <a:srgbClr val="8CB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1600" y="313690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提案書ドラフトの自動生成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勝ちパターンの型化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52600" y="4438650"/>
            <a:ext cx="2844800" cy="1308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66900" y="45275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自社LLMのフルスクラッチ開発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基盤モデルの独自学習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9950" y="4438650"/>
            <a:ext cx="2844800" cy="1308100"/>
          </a:xfrm>
          <a:prstGeom prst="rect">
            <a:avLst/>
          </a:prstGeom>
          <a:solidFill>
            <a:srgbClr val="C5D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94250" y="45275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全社データ基盤の刷新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DWHの再構築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300" y="4438650"/>
            <a:ext cx="2844800" cy="1308100"/>
          </a:xfrm>
          <a:prstGeom prst="rect">
            <a:avLst/>
          </a:prstGeom>
          <a:solidFill>
            <a:srgbClr val="C5D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1600" y="4527550"/>
            <a:ext cx="26289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050" indent="-139700" algn="l">
              <a:lnSpc>
                <a:spcPct val="95000"/>
              </a:lnSpc>
            </a:pPr>
            <a:r>
              <a:rPr lang="ja-JP" sz="800" b="0">
                <a:solidFill>
                  <a:srgbClr val="222222"/>
                </a:solidFill>
                <a:latin typeface="Noto Sans JP"/>
                <a:ea typeface="Noto Sans JP"/>
              </a:rPr>
              <a:t>■ </a:t>
            </a:r>
            <a:r>
              <a:rPr lang="ja-JP" sz="1000" b="1">
                <a:solidFill>
                  <a:srgbClr val="222222"/>
                </a:solidFill>
                <a:latin typeface="Noto Sans JP"/>
                <a:ea typeface="Noto Sans JP"/>
              </a:rPr>
              <a:t>営業プロセスの全面再設計</a:t>
            </a:r>
          </a:p>
          <a:p>
            <a:pPr marL="292100" indent="-133350" algn="l">
              <a:lnSpc>
                <a:spcPct val="92000"/>
              </a:lnSpc>
              <a:spcBef>
                <a:spcPts val="100"/>
              </a:spcBef>
            </a:pPr>
            <a:r>
              <a:rPr lang="ja-JP" sz="700" b="0">
                <a:solidFill>
                  <a:srgbClr val="6B7C85"/>
                </a:solidFill>
                <a:latin typeface="Noto Sans JP"/>
                <a:ea typeface="Noto Sans JP"/>
              </a:rPr>
              <a:t>−  </a:t>
            </a: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評価制度の変更を伴う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5300" y="163195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凡例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55300" y="1860550"/>
            <a:ext cx="990600" cy="2413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55300" y="1860550"/>
            <a:ext cx="9906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900" b="1">
                <a:solidFill>
                  <a:srgbClr val="FFFFFF"/>
                </a:solidFill>
                <a:latin typeface="Noto Sans JP"/>
                <a:ea typeface="Noto Sans JP"/>
              </a:rPr>
              <a:t>Tier1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5300" y="2152650"/>
            <a:ext cx="990600" cy="241300"/>
          </a:xfrm>
          <a:prstGeom prst="rect">
            <a:avLst/>
          </a:prstGeom>
          <a:solidFill>
            <a:srgbClr val="529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5300" y="2152650"/>
            <a:ext cx="9906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900" b="1">
                <a:solidFill>
                  <a:srgbClr val="FFFFFF"/>
                </a:solidFill>
                <a:latin typeface="Noto Sans JP"/>
                <a:ea typeface="Noto Sans JP"/>
              </a:rPr>
              <a:t>Tier2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55300" y="2444750"/>
            <a:ext cx="990600" cy="241300"/>
          </a:xfrm>
          <a:prstGeom prst="rect">
            <a:avLst/>
          </a:prstGeom>
          <a:solidFill>
            <a:srgbClr val="8CB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55300" y="2444750"/>
            <a:ext cx="9906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Tier3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5300" y="2736850"/>
            <a:ext cx="990600" cy="241300"/>
          </a:xfrm>
          <a:prstGeom prst="rect">
            <a:avLst/>
          </a:prstGeom>
          <a:solidFill>
            <a:srgbClr val="C5D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5300" y="2736850"/>
            <a:ext cx="9906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Tier4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5300" y="3028950"/>
            <a:ext cx="990600" cy="241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55300" y="3028950"/>
            <a:ext cx="9906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Tier5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100" y="6489700"/>
            <a:ext cx="10541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※ 社名・数値はすべて架空（デモ用）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0900" y="64897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うちたのAI 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368300"/>
            <a:ext cx="7620000" cy="292100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/>
            <a:r>
              <a:rPr lang="ja-JP" sz="1400" b="1">
                <a:solidFill>
                  <a:srgbClr val="1976D2"/>
                </a:solidFill>
                <a:latin typeface="Noto Sans JP"/>
                <a:ea typeface="Noto Sans JP"/>
              </a:rPr>
              <a:t>導入ロードマップ</a:t>
            </a:r>
            <a:r>
              <a:rPr lang="ja-JP" sz="1200" b="0">
                <a:solidFill>
                  <a:srgbClr val="6B7C85"/>
                </a:solidFill>
                <a:latin typeface="Noto Sans JP"/>
                <a:ea typeface="Noto Sans JP"/>
              </a:rPr>
              <a:t>    </a:t>
            </a:r>
            <a:r>
              <a:rPr lang="ja-JP" sz="1200" b="0" spc="264">
                <a:solidFill>
                  <a:srgbClr val="6B7C85"/>
                </a:solidFill>
                <a:latin typeface="Noto Sans JP"/>
                <a:ea typeface="Noto Sans JP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711200"/>
            <a:ext cx="11176000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lang="ja-JP" sz="2900" b="1">
                <a:solidFill>
                  <a:srgbClr val="222222"/>
                </a:solidFill>
                <a:latin typeface="Noto Sans JP"/>
                <a:ea typeface="Noto Sans JP"/>
              </a:rPr>
              <a:t>導入半年で、商談創出は月100件の定常運転に入る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474386"/>
            <a:ext cx="5080000" cy="2159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100" b="0">
                <a:solidFill>
                  <a:srgbClr val="222222"/>
                </a:solidFill>
                <a:latin typeface="Noto Sans JP"/>
                <a:ea typeface="Noto Sans JP"/>
              </a:rPr>
              <a:t>30万件の顧客接点を対象とした標準導入プラン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71100" y="1563286"/>
            <a:ext cx="139700" cy="139700"/>
          </a:xfrm>
          <a:prstGeom prst="rect">
            <a:avLst/>
          </a:prstGeom>
          <a:solidFill>
            <a:srgbClr val="EEF3F6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74300" y="1537886"/>
            <a:ext cx="137160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要経営判断の打ち手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785536"/>
            <a:ext cx="952500" cy="12065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6100" y="1785536"/>
            <a:ext cx="952500" cy="1206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sz="950" b="1">
                <a:solidFill>
                  <a:srgbClr val="FFFFFF"/>
                </a:solidFill>
                <a:latin typeface="Noto Sans JP"/>
                <a:ea typeface="Noto Sans JP"/>
              </a:rPr>
              <a:t>主要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ja-JP" sz="950" b="1">
                <a:solidFill>
                  <a:srgbClr val="FFFFFF"/>
                </a:solidFill>
                <a:latin typeface="Noto Sans JP"/>
                <a:ea typeface="Noto Sans JP"/>
              </a:rPr>
              <a:t>マイルストーン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3042836"/>
            <a:ext cx="952500" cy="5842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100" y="3042836"/>
            <a:ext cx="9525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導入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プロセス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" y="3677836"/>
            <a:ext cx="952500" cy="889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100" y="3677836"/>
            <a:ext cx="952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sz="950" b="1">
                <a:solidFill>
                  <a:srgbClr val="FFFFFF"/>
                </a:solidFill>
                <a:latin typeface="Noto Sans JP"/>
                <a:ea typeface="Noto Sans JP"/>
              </a:rPr>
              <a:t>うちたのAI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ja-JP" sz="950" b="1">
                <a:solidFill>
                  <a:srgbClr val="FFFFFF"/>
                </a:solidFill>
                <a:latin typeface="Noto Sans JP"/>
                <a:ea typeface="Noto Sans JP"/>
              </a:rPr>
              <a:t>の打ち手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" y="4617636"/>
            <a:ext cx="952500" cy="889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6100" y="4617636"/>
            <a:ext cx="952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貴社側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の打ち手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417361"/>
            <a:ext cx="10045700" cy="0"/>
          </a:xfrm>
          <a:prstGeom prst="line">
            <a:avLst/>
          </a:prstGeom>
          <a:ln w="19050">
            <a:solidFill>
              <a:srgbClr val="197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18542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iamond 16"/>
          <p:cNvSpPr/>
          <p:nvPr/>
        </p:nvSpPr>
        <p:spPr>
          <a:xfrm>
            <a:off x="24257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iamond 17"/>
          <p:cNvSpPr/>
          <p:nvPr/>
        </p:nvSpPr>
        <p:spPr>
          <a:xfrm>
            <a:off x="40132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iamond 18"/>
          <p:cNvSpPr/>
          <p:nvPr/>
        </p:nvSpPr>
        <p:spPr>
          <a:xfrm>
            <a:off x="49022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66167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/>
          <p:cNvSpPr/>
          <p:nvPr/>
        </p:nvSpPr>
        <p:spPr>
          <a:xfrm>
            <a:off x="82677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iamond 21"/>
          <p:cNvSpPr/>
          <p:nvPr/>
        </p:nvSpPr>
        <p:spPr>
          <a:xfrm>
            <a:off x="98552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iamond 22"/>
          <p:cNvSpPr/>
          <p:nvPr/>
        </p:nvSpPr>
        <p:spPr>
          <a:xfrm>
            <a:off x="10998200" y="2376086"/>
            <a:ext cx="88900" cy="88900"/>
          </a:xfrm>
          <a:prstGeom prst="diamond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09700" y="1849036"/>
            <a:ext cx="977900" cy="508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キックオフ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初週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9450" y="2496736"/>
            <a:ext cx="1041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接点データ受領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2週目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1700" y="1849036"/>
            <a:ext cx="1206500" cy="508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優先リスト初回配信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6週目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4200" y="2496736"/>
            <a:ext cx="1079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初商談の創出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2か月目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5200" y="1849036"/>
            <a:ext cx="1206500" cy="508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PoC判定会議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3か月目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2700" y="2496736"/>
            <a:ext cx="1333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対象を全営業部に拡大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4か月目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3700" y="1849036"/>
            <a:ext cx="1206500" cy="508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商談月50件到達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5か月目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90200" y="2496736"/>
            <a:ext cx="1079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フル稼働へ移行</a:t>
            </a:r>
          </a:p>
          <a:p>
            <a:pPr algn="ctr">
              <a:lnSpc>
                <a:spcPct val="95000"/>
              </a:lnSpc>
            </a:pPr>
            <a:r>
              <a:rPr lang="ja-JP" sz="900" b="1">
                <a:solidFill>
                  <a:srgbClr val="222222"/>
                </a:solidFill>
                <a:latin typeface="Noto Sans JP"/>
                <a:ea typeface="Noto Sans JP"/>
              </a:rPr>
              <a:t>6か月目</a:t>
            </a:r>
          </a:p>
        </p:txBody>
      </p:sp>
      <p:sp>
        <p:nvSpPr>
          <p:cNvPr id="32" name="Pentagon 31"/>
          <p:cNvSpPr/>
          <p:nvPr/>
        </p:nvSpPr>
        <p:spPr>
          <a:xfrm>
            <a:off x="1600200" y="3042836"/>
            <a:ext cx="1612900" cy="419100"/>
          </a:xfrm>
          <a:prstGeom prst="homePlate">
            <a:avLst>
              <a:gd name="adj" fmla="val 3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51000" y="3042836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現状診断・データ統合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512736"/>
            <a:ext cx="16129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約1か月</a:t>
            </a:r>
          </a:p>
        </p:txBody>
      </p:sp>
      <p:sp>
        <p:nvSpPr>
          <p:cNvPr id="35" name="Chevron 34"/>
          <p:cNvSpPr/>
          <p:nvPr/>
        </p:nvSpPr>
        <p:spPr>
          <a:xfrm>
            <a:off x="3238500" y="3042836"/>
            <a:ext cx="3302000" cy="419100"/>
          </a:xfrm>
          <a:prstGeom prst="chevron">
            <a:avLst>
              <a:gd name="adj" fmla="val 3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03600" y="3042836"/>
            <a:ext cx="29718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PoC（優先リスト×初回接触）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8500" y="3512736"/>
            <a:ext cx="33020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約2か月</a:t>
            </a:r>
          </a:p>
        </p:txBody>
      </p:sp>
      <p:sp>
        <p:nvSpPr>
          <p:cNvPr id="38" name="Chevron 37"/>
          <p:cNvSpPr/>
          <p:nvPr/>
        </p:nvSpPr>
        <p:spPr>
          <a:xfrm>
            <a:off x="6565900" y="3042836"/>
            <a:ext cx="1612900" cy="419100"/>
          </a:xfrm>
          <a:prstGeom prst="chevron">
            <a:avLst>
              <a:gd name="adj" fmla="val 3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31000" y="3042836"/>
            <a:ext cx="12827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パイロット部門展開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900" y="3512736"/>
            <a:ext cx="16129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約1か月</a:t>
            </a:r>
          </a:p>
        </p:txBody>
      </p:sp>
      <p:sp>
        <p:nvSpPr>
          <p:cNvPr id="41" name="Chevron 40"/>
          <p:cNvSpPr/>
          <p:nvPr/>
        </p:nvSpPr>
        <p:spPr>
          <a:xfrm>
            <a:off x="8204200" y="3042836"/>
            <a:ext cx="1612900" cy="419100"/>
          </a:xfrm>
          <a:prstGeom prst="chevron">
            <a:avLst>
              <a:gd name="adj" fmla="val 3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9300" y="3042836"/>
            <a:ext cx="12827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全部門展開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4200" y="3512736"/>
            <a:ext cx="16129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約1か月</a:t>
            </a:r>
          </a:p>
        </p:txBody>
      </p:sp>
      <p:sp>
        <p:nvSpPr>
          <p:cNvPr id="44" name="Chevron 43"/>
          <p:cNvSpPr/>
          <p:nvPr/>
        </p:nvSpPr>
        <p:spPr>
          <a:xfrm>
            <a:off x="9842500" y="3042836"/>
            <a:ext cx="1803400" cy="419100"/>
          </a:xfrm>
          <a:prstGeom prst="chevron">
            <a:avLst>
              <a:gd name="adj" fmla="val 3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07600" y="3042836"/>
            <a:ext cx="1473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1000" b="1">
                <a:solidFill>
                  <a:srgbClr val="FFFFFF"/>
                </a:solidFill>
                <a:latin typeface="Noto Sans JP"/>
                <a:ea typeface="Noto Sans JP"/>
              </a:rPr>
              <a:t>定着化・改善運転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2500" y="3512736"/>
            <a:ext cx="18034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ja-JP" sz="900" b="0">
                <a:solidFill>
                  <a:srgbClr val="6B7C85"/>
                </a:solidFill>
                <a:latin typeface="Noto Sans JP"/>
                <a:ea typeface="Noto Sans JP"/>
              </a:rPr>
              <a:t>約1か月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0200" y="3677836"/>
            <a:ext cx="16129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51000" y="36778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接点データの名寄せ・統合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38500" y="3677836"/>
            <a:ext cx="3302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89300" y="3677836"/>
            <a:ext cx="320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優先リストと個別文面の自動配信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900" y="3677836"/>
            <a:ext cx="16129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16700" y="36778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展開部門のオンボーディング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04200" y="3677836"/>
            <a:ext cx="16129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55000" y="36778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運用ルールの全社適用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42500" y="3677836"/>
            <a:ext cx="18034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93300" y="3677836"/>
            <a:ext cx="17018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精度の月次チューニング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00200" y="4160436"/>
            <a:ext cx="16129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651000" y="41604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セキュリティ・権限設計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38500" y="4160436"/>
            <a:ext cx="84074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89300" y="4160436"/>
            <a:ext cx="83058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商談化率の週次レポーティング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" y="4617636"/>
            <a:ext cx="1612900" cy="406400"/>
          </a:xfrm>
          <a:prstGeom prst="rect">
            <a:avLst/>
          </a:prstGeom>
          <a:solidFill>
            <a:srgbClr val="EEF3F6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651000" y="46176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接点データの提供と利用許諾の確認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38500" y="4617636"/>
            <a:ext cx="3302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89300" y="4617636"/>
            <a:ext cx="320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パイロット部門の選定と現場ヒアリング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65900" y="4617636"/>
            <a:ext cx="16129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16700" y="46176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営業フローへの組み込み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4200" y="4617636"/>
            <a:ext cx="1612900" cy="406400"/>
          </a:xfrm>
          <a:prstGeom prst="rect">
            <a:avLst/>
          </a:prstGeom>
          <a:solidFill>
            <a:srgbClr val="EEF3F6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55000" y="46176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評価指標への反映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42500" y="4617636"/>
            <a:ext cx="18034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93300" y="4617636"/>
            <a:ext cx="17018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成功事例の社内共有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5100236"/>
            <a:ext cx="1612900" cy="406400"/>
          </a:xfrm>
          <a:prstGeom prst="rect">
            <a:avLst/>
          </a:prstGeom>
          <a:solidFill>
            <a:srgbClr val="EEF3F6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51000" y="5100236"/>
            <a:ext cx="15113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専任窓口2名のアサイン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38500" y="5100236"/>
            <a:ext cx="84074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289300" y="5100236"/>
            <a:ext cx="83058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ja-JP" sz="900" b="0">
                <a:solidFill>
                  <a:srgbClr val="222222"/>
                </a:solidFill>
                <a:latin typeface="Noto Sans JP"/>
                <a:ea typeface="Noto Sans JP"/>
              </a:rPr>
              <a:t>商談フィードバックの週次返却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6100" y="6489700"/>
            <a:ext cx="10541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※ 社名・数値はすべて架空（デモ用）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70900" y="64897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ja-JP" sz="1000" b="0">
                <a:solidFill>
                  <a:srgbClr val="6B7C85"/>
                </a:solidFill>
                <a:latin typeface="Noto Sans JP"/>
                <a:ea typeface="Noto Sans JP"/>
              </a:rPr>
              <a:t>うちたのAI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867</Words>
  <Application>Microsoft Macintosh PowerPoint</Application>
  <PresentationFormat>ワイド画面</PresentationFormat>
  <Paragraphs>151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友輔 内田</cp:lastModifiedBy>
  <cp:revision>2</cp:revision>
  <dcterms:created xsi:type="dcterms:W3CDTF">2013-01-27T09:14:16Z</dcterms:created>
  <dcterms:modified xsi:type="dcterms:W3CDTF">2026-07-23T12:44:31Z</dcterms:modified>
  <cp:category/>
</cp:coreProperties>
</file>