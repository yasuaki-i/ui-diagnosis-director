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構造マップ・総評・最重要課題・ユーザー行動フロー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無料体験申込獲得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PC版LP/FV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2026年7月20日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26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3619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2095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LP構造マップ</a:t>
            </a:r>
          </a:p>
        </p:txBody>
      </p:sp>
      <p:sp>
        <p:nvSpPr>
          <p:cNvPr id="23" name="Oval 22"/>
          <p:cNvSpPr/>
          <p:nvPr/>
        </p:nvSpPr>
        <p:spPr>
          <a:xfrm>
            <a:off x="2590800" y="1590675"/>
            <a:ext cx="95250" cy="95250"/>
          </a:xfrm>
          <a:prstGeom prst="ellipse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743200" y="15621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良好</a:t>
            </a:r>
          </a:p>
        </p:txBody>
      </p:sp>
      <p:sp>
        <p:nvSpPr>
          <p:cNvPr id="25" name="Oval 24"/>
          <p:cNvSpPr/>
          <p:nvPr/>
        </p:nvSpPr>
        <p:spPr>
          <a:xfrm>
            <a:off x="3257550" y="1590675"/>
            <a:ext cx="95250" cy="952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409950" y="156210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要改善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" y="1771650"/>
            <a:ext cx="36195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57200" y="1809750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18097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1809750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ヘッダー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申込CTAなし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210502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7200" y="21050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2105025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PC版FV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CTA不在</a:t>
            </a:r>
          </a:p>
        </p:txBody>
      </p:sp>
      <p:sp>
        <p:nvSpPr>
          <p:cNvPr id="34" name="Oval 33"/>
          <p:cNvSpPr/>
          <p:nvPr/>
        </p:nvSpPr>
        <p:spPr>
          <a:xfrm>
            <a:off x="457200" y="24003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24003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2400300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実績帯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数値で安心</a:t>
            </a:r>
          </a:p>
        </p:txBody>
      </p:sp>
      <p:sp>
        <p:nvSpPr>
          <p:cNvPr id="37" name="Oval 36"/>
          <p:cNvSpPr/>
          <p:nvPr/>
        </p:nvSpPr>
        <p:spPr>
          <a:xfrm>
            <a:off x="457200" y="2695575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7200" y="269557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2695575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検討材料あり</a:t>
            </a:r>
          </a:p>
        </p:txBody>
      </p:sp>
      <p:sp>
        <p:nvSpPr>
          <p:cNvPr id="40" name="Oval 39"/>
          <p:cNvSpPr/>
          <p:nvPr/>
        </p:nvSpPr>
        <p:spPr>
          <a:xfrm>
            <a:off x="457200" y="2990850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29908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950" y="2990850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講師紹介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根拠不足</a:t>
            </a:r>
          </a:p>
        </p:txBody>
      </p:sp>
      <p:sp>
        <p:nvSpPr>
          <p:cNvPr id="43" name="Oval 42"/>
          <p:cNvSpPr/>
          <p:nvPr/>
        </p:nvSpPr>
        <p:spPr>
          <a:xfrm>
            <a:off x="457200" y="328612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57200" y="32861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950" y="3286125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申込接続弱い</a:t>
            </a:r>
          </a:p>
        </p:txBody>
      </p:sp>
      <p:sp>
        <p:nvSpPr>
          <p:cNvPr id="46" name="Oval 45"/>
          <p:cNvSpPr/>
          <p:nvPr/>
        </p:nvSpPr>
        <p:spPr>
          <a:xfrm>
            <a:off x="457200" y="3581400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57200" y="35814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950" y="3581400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受講生の声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抽象的</a:t>
            </a:r>
          </a:p>
        </p:txBody>
      </p:sp>
      <p:sp>
        <p:nvSpPr>
          <p:cNvPr id="49" name="Oval 48"/>
          <p:cNvSpPr/>
          <p:nvPr/>
        </p:nvSpPr>
        <p:spPr>
          <a:xfrm>
            <a:off x="457200" y="387667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387667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2950" y="3876675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下部CTA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問い合わせ優先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0" y="1504950"/>
            <a:ext cx="438150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267200" y="1504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総評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0" y="1771650"/>
            <a:ext cx="4381500" cy="381000"/>
          </a:xfrm>
          <a:prstGeom prst="rect">
            <a:avLst/>
          </a:prstGeom>
          <a:solidFill>
            <a:srgbClr val="FEF1E3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4248150" y="1771650"/>
            <a:ext cx="41148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FVで無料体験へ導線集約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0" y="2266950"/>
            <a:ext cx="43815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4267200" y="2266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最重要課題（Top4）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0" y="2533650"/>
            <a:ext cx="4381500" cy="16383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4248150" y="2590800"/>
            <a:ext cx="4114800" cy="1504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FVに無料体験CTAがない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申込フォームが見えない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成果の信頼材料が弱い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4. CTAの文言優先度が曖昧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10600" y="1504950"/>
            <a:ext cx="32004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8763000" y="1504950"/>
            <a:ext cx="2895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10600" y="1771650"/>
            <a:ext cx="32004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8763000" y="1847850"/>
            <a:ext cx="2895600" cy="220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清潔な配色で学習サービスらしさを伝える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料金と特徴を分けて検討材料を示す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講師サポート画像で安心感を補強する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1000" y="4229100"/>
            <a:ext cx="11430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33400" y="42291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ユーザー行動フローと課題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34000" y="4229100"/>
            <a:ext cx="5943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1" i="0">
                <a:solidFill>
                  <a:srgbClr val="FFD54F"/>
                </a:solidFill>
                <a:latin typeface="メイリオ"/>
                <a:ea typeface="メイリオ"/>
                <a:cs typeface="メイリオ"/>
              </a:rPr>
              <a:t>→ FVで申込理由とCTAを先出しする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1123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112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？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流入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検索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6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3" name="Oval 72"/>
          <p:cNvSpPr/>
          <p:nvPr/>
        </p:nvSpPr>
        <p:spPr>
          <a:xfrm>
            <a:off x="302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302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？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8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FV閲覧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CTA不在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7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7" name="Oval 76"/>
          <p:cNvSpPr/>
          <p:nvPr/>
        </p:nvSpPr>
        <p:spPr>
          <a:xfrm>
            <a:off x="4933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493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？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8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特徴確認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理解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7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1" name="Oval 80"/>
          <p:cNvSpPr/>
          <p:nvPr/>
        </p:nvSpPr>
        <p:spPr>
          <a:xfrm>
            <a:off x="683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683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？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9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料金比較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検討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8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5" name="Oval 84"/>
          <p:cNvSpPr/>
          <p:nvPr/>
        </p:nvSpPr>
        <p:spPr>
          <a:xfrm>
            <a:off x="8743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874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？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9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不安残る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根拠不足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88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9" name="Oval 88"/>
          <p:cNvSpPr/>
          <p:nvPr/>
        </p:nvSpPr>
        <p:spPr>
          <a:xfrm>
            <a:off x="1064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1064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？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00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離脱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申込なし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PC版FVは「無料体験で始める理由」「申込CTA」「不安解消3点」を1画面に集約し、最短で申込行動へ進ませる。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スコア視覚化：10項目評価と強み・最優先課題の俯瞰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無料体験申込獲得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PC版LP/FV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2026年7月20日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26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5524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5219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10項目スコア（満点5・ギャップ可視化）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1771650"/>
            <a:ext cx="5524500" cy="381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3400" y="1905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1943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590800" y="1943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8956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2004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35052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886200" y="1905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2286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キャッチ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324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2590800" y="2324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28956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32004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35052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86200" y="2286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2/5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400" y="2667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2705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5908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28956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2004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5052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886200" y="2667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1/5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400" y="3048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信頼性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3086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2590800" y="3086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2895600" y="3086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2004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5052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886200" y="3048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400" y="3429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0" y="3467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25908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28956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2004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35052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886200" y="3429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1/5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400" y="3810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レスポンシブ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25908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28956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32004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35052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86200" y="3810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3400" y="4191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読みやすさ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25908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28956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2004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3505200" y="4229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3886200" y="4191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3400" y="4572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情報設計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25908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28956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32004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35052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3886200" y="4572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3400" y="4953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ブランド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25908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28956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32004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3505200" y="4991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3886200" y="4953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3400" y="5334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表示速度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25908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28956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32004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35052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3886200" y="5334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96000" y="1504950"/>
            <a:ext cx="5715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6248400" y="150495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96000" y="1771650"/>
            <a:ext cx="5715000" cy="180975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6248400" y="1847850"/>
            <a:ext cx="5410200" cy="165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清潔な配色で学習サービスらしさを伝える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料金と特徴を分けて検討材料を示す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講師サポート画像で安心感を補強する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096000" y="3695700"/>
            <a:ext cx="57150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6248400" y="369570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096000" y="3962400"/>
            <a:ext cx="5715000" cy="161925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6248400" y="4038600"/>
            <a:ext cx="5410200" cy="146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FVに無料体験CTAがない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申込フォームが見えない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成果の信頼材料が弱い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PC版FVは「無料体験で始める理由」「申込CTA」「不安解消3点」を1画面に集約し、最短で申込行動へ進ませる。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Before/After ハイライト：優先度の高い改善Top3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763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71500" y="9715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71500" y="10096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10096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PC版FVワイヤー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9500" y="9906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29500" y="10191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10191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0191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3335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28750" y="14478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5049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見出しと説明が中心でCTAがない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1350" y="14478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75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左に価値訴求、右に申込カードを配置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24765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4765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71500" y="25717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1500" y="26098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550" y="26098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申込導線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9500" y="25908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29500" y="26193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1500" y="26193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6193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29337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28750" y="30480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5049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下部の問い合わせまで探す必要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1350" y="30480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675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ヘッダーとFVに無料体験CTAを固定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1000" y="40767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81000" y="40767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571500" y="41719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71500" y="42100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550" y="42100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不安解消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29500" y="41910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429500" y="42195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1500" y="42195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2195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1500" y="45339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28750" y="46482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5049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料金や講師情報が後続に分散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91350" y="46482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0675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FV直下に料金・時間・講師を集約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PC版FVは「無料体験で始める理由」「申込CTA」「不安解消3点」を1画面に集約し、最短で申込行動へ進ませる。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