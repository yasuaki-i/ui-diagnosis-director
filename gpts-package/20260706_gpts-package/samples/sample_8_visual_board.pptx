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無料体験予約・問い合わせ誘導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スクール紹介LP（英会話）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609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2026年6月4日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30/50 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504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LP構造マップ（読み進み順）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18097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ロゴ・ナビゲーション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20669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20669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06692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メインコピー・説明文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241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23241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232410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実績バー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数値で信頼を訴求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25812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5812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258127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特徴セクション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7つの特徴を訴求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28384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8384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28384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安心感を伝える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30956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095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309562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5つのプラン比較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33528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33528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335280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口コミ・レビュー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36099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36099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3609975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問い合わせボタン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38671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7200" y="38671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" y="3867150"/>
            <a:ext cx="31623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会社情報・規約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1504950"/>
            <a:ext cx="3619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67200" y="1504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771650"/>
            <a:ext cx="3619500" cy="78105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48150" y="18478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見やすく整っているが、行動動機と信頼根拠の訴求が弱い。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647950"/>
            <a:ext cx="3619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67200" y="2647950"/>
            <a:ext cx="3314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914650"/>
            <a:ext cx="3619500" cy="1219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48150" y="2990850"/>
            <a:ext cx="3352800" cy="1066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ファーストビューに主要CTAがなく行動できない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受講後の成果・ベネフィットが弱く決め手に欠ける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受講生の声が短く信頼材料として説得力不足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8600" y="1504950"/>
            <a:ext cx="3962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01000" y="1504950"/>
            <a:ext cx="3657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8600" y="1771650"/>
            <a:ext cx="3962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001000" y="1847850"/>
            <a:ext cx="3657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33400" y="4229100"/>
            <a:ext cx="11125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495800"/>
            <a:ext cx="11430000" cy="121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1162050" y="4591050"/>
            <a:ext cx="342900" cy="3429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16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6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6" name="Oval 65"/>
          <p:cNvSpPr/>
          <p:nvPr/>
        </p:nvSpPr>
        <p:spPr>
          <a:xfrm>
            <a:off x="3067050" y="4591050"/>
            <a:ext cx="342900" cy="3429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06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8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1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4972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97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8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実績根拠が不足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7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6877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87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CTAが見つからない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81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8782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782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6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迷う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次のアクション不明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86950" y="4629150"/>
            <a:ext cx="1143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10687050" y="4591050"/>
            <a:ext cx="342900" cy="3429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687050" y="4638675"/>
            <a:ext cx="3429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01250" y="49911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最終CTA文言が弱い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3400" y="5429250"/>
            <a:ext cx="111252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→ 行動の壁が多く、興味を持ったユーザーを逃している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無料体験予約・問い合わせ誘導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スクール紹介LP（英会話）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609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2026年6月4日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57250"/>
            <a:ext cx="254317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30/50 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1771650"/>
            <a:ext cx="5524500" cy="40576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23050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5908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895600" y="23431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200400" y="23431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505200" y="23431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886200" y="23050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27051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432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5908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8956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2004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505200" y="27432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86200" y="27051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3105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5908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895600" y="31432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200400" y="31432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505200" y="31432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200" y="31051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35052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5433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5908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8956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004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505200" y="35433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886200" y="35052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400" y="39052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25908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895600" y="39433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200400" y="39433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505200" y="39433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86200" y="39052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400" y="43053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5908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8956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32004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505200" y="43434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886200" y="43053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3400" y="47053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5908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895600" y="47434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200400" y="47434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505200" y="47434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886200" y="47053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3400" y="51054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25908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28956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2004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505200" y="51435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3886200" y="51054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3400" y="55054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25908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2895600" y="554355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200400" y="55435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505200" y="554355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86200" y="550545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3962400"/>
            <a:ext cx="5715000" cy="18288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4038600"/>
            <a:ext cx="5410200" cy="167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ファーストビューに主要CTAがなく、次の行動が分かりにくい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受講後の成果・具体的なベネフィットが弱く、比較検討時の決め手に欠ける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受講生の声が短く、信頼材料としての説得力が不足している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57162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ファーストビューに無料体験CTAを追加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0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0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101917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0" y="1019175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見出しと説明文はあるが、主要ボタンが見当たらない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無料体験・料金確認の2ボタンをFV内に配置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562225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562225"/>
            <a:ext cx="57150" cy="157162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65747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95575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95575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キャッチコピーを成果訴求型に変更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0500" y="267652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10500" y="27051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0" y="2705100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6000" y="27051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箇所：メインコピー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301942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133725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133725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133725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133725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「英語、始めませんか？」で汎用的な印象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133725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133725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133725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133725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忙しい人でも続く、成果が見えるオンライン英会話として訴求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248150"/>
            <a:ext cx="114300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248150"/>
            <a:ext cx="57150" cy="157162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34340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38150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381500"/>
            <a:ext cx="6667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実績数値に根拠と補足を追加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0500" y="43624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10500" y="43910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439102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6000" y="4391025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箇所：実績帯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7053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81965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8196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81965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81965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開校年・採用率・段階数・時間帯のみ表示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81965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8196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81965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81965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累計受講者数、継続率、満足度など検討材料を追加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905500"/>
            <a:ext cx="1143000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1000" y="5905500"/>
            <a:ext cx="10477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" y="5905500"/>
            <a:ext cx="10191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成果訴求と信頼根拠を足し、無料体験への離脱率を改善する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