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サマリ：診断対象・スコア・強み・最優先課題・結論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781050"/>
            <a:ext cx="38100" cy="74295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3400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7075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67075" y="781050"/>
            <a:ext cx="38100" cy="74295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19475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スクリーンショット画像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150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53150" y="781050"/>
            <a:ext cx="38100" cy="7429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5550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9225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39225" y="781050"/>
            <a:ext cx="38100" cy="7429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91625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 標準的（改善余地あり）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81000" y="1714500"/>
            <a:ext cx="5638800" cy="3048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533400" y="17145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◎ 強み（活かすべき点）</a:t>
            </a:r>
          </a:p>
        </p:txBody>
      </p:sp>
      <p:sp>
        <p:nvSpPr>
          <p:cNvPr id="19" name="Rectangle 18"/>
          <p:cNvSpPr/>
          <p:nvPr/>
        </p:nvSpPr>
        <p:spPr>
          <a:xfrm>
            <a:off x="381000" y="2019300"/>
            <a:ext cx="5638800" cy="36957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571500" y="2171700"/>
            <a:ext cx="5257800" cy="3390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余白が広く、読みやすいレイアウトで安心感がある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料金・特徴・講師情報が整理され、サービス概要を把握しやすい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● 青基調の配色で教育サービスらしい信頼感が出ている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172200" y="1714500"/>
            <a:ext cx="5638800" cy="3048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6324600" y="1714500"/>
            <a:ext cx="5334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l"/>
            <a:r>
              <a:rPr sz="16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⚠ 最優先で直すべき点</a:t>
            </a:r>
          </a:p>
        </p:txBody>
      </p:sp>
      <p:sp>
        <p:nvSpPr>
          <p:cNvPr id="23" name="Rectangle 22"/>
          <p:cNvSpPr/>
          <p:nvPr/>
        </p:nvSpPr>
        <p:spPr>
          <a:xfrm>
            <a:off x="6172200" y="2019300"/>
            <a:ext cx="5638800" cy="3695700"/>
          </a:xfrm>
          <a:prstGeom prst="rect">
            <a:avLst/>
          </a:prstGeom>
          <a:solidFill>
            <a:srgbClr val="F4F5F8"/>
          </a:solidFill>
          <a:ln w="635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6362700" y="2171700"/>
            <a:ext cx="5257800" cy="33909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1. ファーストビューに主要CTAがなく、次の行動が分かりにくい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2. 受講後の成果・具体的なベネフィットが弱く、比較検討時の決め手に欠ける</a:t>
            </a:r>
          </a:p>
          <a:p>
            <a:pPr algn="l">
              <a:lnSpc>
                <a:spcPct val="16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3. 受講生の声が短く、信頼材料としての説得力が不足している</a:t>
            </a:r>
          </a:p>
        </p:txBody>
      </p:sp>
      <p:sp>
        <p:nvSpPr>
          <p:cNvPr id="25" name="Rectangle 24"/>
          <p:cNvSpPr/>
          <p:nvPr/>
        </p:nvSpPr>
        <p:spPr>
          <a:xfrm>
            <a:off x="381000" y="5848350"/>
            <a:ext cx="11430000" cy="30480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Rectangle 25"/>
          <p:cNvSpPr/>
          <p:nvPr/>
        </p:nvSpPr>
        <p:spPr>
          <a:xfrm>
            <a:off x="381000" y="5848350"/>
            <a:ext cx="762000" cy="3048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381000" y="5848350"/>
            <a:ext cx="762000" cy="30480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/>
            <a:r>
              <a:rPr sz="1400" b="1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結論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52500" y="5848350"/>
            <a:ext cx="10763250" cy="304800"/>
          </a:xfrm>
          <a:prstGeom prst="rect">
            <a:avLst/>
          </a:prstGeom>
          <a:noFill/>
        </p:spPr>
        <p:txBody>
          <a:bodyPr wrap="none" lIns="0" rIns="0" tIns="0" bIns="0" anchor="ctr">
            <a:noAutofit/>
          </a:bodyPr>
          <a:lstStyle/>
          <a:p>
            <a:pPr algn="l"/>
            <a:r>
              <a:rPr sz="1400" b="0" i="0">
                <a:solidFill>
                  <a:srgbClr val="FFFFFF"/>
                </a:solidFill>
                <a:latin typeface="メイリオ"/>
                <a:ea typeface="メイリオ"/>
                <a:cs typeface="メイリオ"/>
              </a:rPr>
              <a:t>FV内CTA・成果訴求・信頼材料の3点を最優先で改善し、無料体験への離脱を防ぐ。</a:t>
            </a:r>
          </a:p>
        </p:txBody>
      </p:sp>
      <p:sp>
        <p:nvSpPr>
          <p:cNvPr id="29" name="Rectangle 28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0" name="TextBox 29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1 / 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381000" y="152400"/>
            <a:ext cx="57150" cy="53340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533400" y="190500"/>
            <a:ext cx="10858500" cy="3238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2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【1】UI診断スコアカード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3400" y="495300"/>
            <a:ext cx="10858500" cy="20955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10項目評価：各項目のスコアと一言所見（全文表示）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381000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Rectangle 5"/>
          <p:cNvSpPr/>
          <p:nvPr/>
        </p:nvSpPr>
        <p:spPr>
          <a:xfrm>
            <a:off x="381000" y="781050"/>
            <a:ext cx="38100" cy="74295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533400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診断対象</a:t>
            </a:r>
          </a:p>
          <a:p>
            <a:pPr algn="l">
              <a:lnSpc>
                <a:spcPct val="110000"/>
              </a:lnSpc>
            </a:pPr>
            <a:r>
              <a:rPr sz="1800" b="1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スピークアップ英会話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67075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Rectangle 8"/>
          <p:cNvSpPr/>
          <p:nvPr/>
        </p:nvSpPr>
        <p:spPr>
          <a:xfrm>
            <a:off x="3267075" y="781050"/>
            <a:ext cx="38100" cy="742950"/>
          </a:xfrm>
          <a:prstGeom prst="rect">
            <a:avLst/>
          </a:prstGeom>
          <a:solidFill>
            <a:srgbClr val="1C36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3419475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入力種別</a:t>
            </a:r>
          </a:p>
          <a:p>
            <a:pPr algn="l">
              <a:lnSpc>
                <a:spcPct val="110000"/>
              </a:lnSpc>
            </a:pPr>
            <a:r>
              <a:rPr sz="1600" b="0" i="0">
                <a:solidFill>
                  <a:srgbClr val="404040"/>
                </a:solidFill>
                <a:latin typeface="メイリオ"/>
                <a:ea typeface="メイリオ"/>
                <a:cs typeface="メイリオ"/>
              </a:rPr>
              <a:t>スクリーンショット画像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53150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Rectangle 11"/>
          <p:cNvSpPr/>
          <p:nvPr/>
        </p:nvSpPr>
        <p:spPr>
          <a:xfrm>
            <a:off x="6153150" y="781050"/>
            <a:ext cx="38100" cy="7429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305550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総合スコア</a:t>
            </a:r>
          </a:p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30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 / 50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039225" y="781050"/>
            <a:ext cx="2771775" cy="74295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D0D4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9039225" y="781050"/>
            <a:ext cx="38100" cy="742950"/>
          </a:xfrm>
          <a:prstGeom prst="rect">
            <a:avLst/>
          </a:prstGeom>
          <a:solidFill>
            <a:srgbClr val="D0021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9191625" y="876300"/>
            <a:ext cx="2543175" cy="609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0000"/>
              </a:lnSpc>
            </a:pPr>
            <a:r>
              <a:rPr sz="1400" b="1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ランク</a:t>
            </a:r>
          </a:p>
          <a:p>
            <a:pPr algn="l">
              <a:lnSpc>
                <a:spcPct val="110000"/>
              </a:lnSpc>
            </a:pPr>
            <a:r>
              <a:rPr sz="26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B</a:t>
            </a:r>
            <a:r>
              <a:rPr sz="1400" b="0" i="0">
                <a:solidFill>
                  <a:srgbClr val="606060"/>
                </a:solidFill>
                <a:latin typeface="メイリオ"/>
                <a:ea typeface="メイリオ"/>
                <a:cs typeface="メイリオ"/>
              </a:rPr>
              <a:t>   標準的（改善余地あり）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81000" y="1714500"/>
          <a:ext cx="11430000" cy="3124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1500"/>
                <a:gridCol w="1943100"/>
                <a:gridCol w="800100"/>
                <a:gridCol w="8115300"/>
              </a:tblGrid>
              <a:tr h="26670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No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項目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スコア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FFFFFF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一言所見</a:t>
                      </a:r>
                    </a:p>
                  </a:txBody>
                  <a:tcPr marL="101600" marR="101600" marT="25400" marB="25400">
                    <a:solidFill>
                      <a:srgbClr val="1C366C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ファーストビュー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清潔感はあるが、体験価値と成果が一瞬で伝わりにくい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2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キャッチコピー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開始喚起は明快だが、選ばれる理由が弱い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CTA設計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FV・中盤に主要CTAがなく行動導線が弱い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4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信頼性・権威性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実績数値はあるが、根拠や証拠の厚みが不足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フォーム設計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D0021B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問い合わせ導線はあるが入力前の不安解消が少ない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6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レスポンシブ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PC表示は整っているが、SPでCTA固定が必要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7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読みやすさ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余白・行間・色数が整理され読みやすい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8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情報設計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特徴と料金は見やすいが、比較・成果・不安解消が不足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9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ブランド一貫性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1C366C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5/5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青基調で教育サービスらしい安心感がある</a:t>
                      </a:r>
                    </a:p>
                  </a:txBody>
                  <a:tcPr marL="101600" marR="101600" marT="25400" marB="25400">
                    <a:solidFill>
                      <a:srgbClr val="FFFFFF"/>
                    </a:solidFill>
                  </a:tcPr>
                </a:tc>
              </a:tr>
              <a:tr h="285750"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10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1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表示速度・技術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wrap="none" anchor="ctr">
                      <a:noAutofit/>
                    </a:bodyPr>
                    <a:lstStyle/>
                    <a:p>
                      <a:pPr algn="ctr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3/5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  <a:tc>
                  <a:txBody>
                    <a:bodyPr anchor="ctr">
                      <a:noAutofit/>
                    </a:bodyPr>
                    <a:lstStyle/>
                    <a:p>
                      <a:pPr algn="l">
                        <a:lnSpc>
                          <a:spcPts val="16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sz="1400" b="0" i="0">
                          <a:solidFill>
                            <a:srgbClr val="404040"/>
                          </a:solidFill>
                          <a:latin typeface="メイリオ"/>
                          <a:ea typeface="メイリオ"/>
                          <a:cs typeface="メイリオ"/>
                        </a:rPr>
                        <a:t>画像中心のため最適化余地がある</a:t>
                      </a:r>
                    </a:p>
                  </a:txBody>
                  <a:tcPr marL="101600" marR="101600" marT="25400" marB="25400">
                    <a:solidFill>
                      <a:srgbClr val="F8F9FB"/>
                    </a:solidFill>
                  </a:tcPr>
                </a:tc>
              </a:tr>
            </a:tbl>
          </a:graphicData>
        </a:graphic>
      </p:graphicFrame>
      <p:sp>
        <p:nvSpPr>
          <p:cNvPr id="18" name="Rectangle 17"/>
          <p:cNvSpPr/>
          <p:nvPr/>
        </p:nvSpPr>
        <p:spPr>
          <a:xfrm>
            <a:off x="0" y="6286500"/>
            <a:ext cx="12192000" cy="9525"/>
          </a:xfrm>
          <a:prstGeom prst="rect">
            <a:avLst/>
          </a:prstGeom>
          <a:solidFill>
            <a:srgbClr val="CCCC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381000" y="6496050"/>
            <a:ext cx="3810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/>
            <a:r>
              <a:rPr sz="1400" b="1" i="0">
                <a:solidFill>
                  <a:srgbClr val="1C366C"/>
                </a:solidFill>
                <a:latin typeface="メイリオ"/>
                <a:ea typeface="メイリオ"/>
                <a:cs typeface="メイリオ"/>
              </a:rPr>
              <a:t>UI/UX診断 by GPTs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58500" y="6524625"/>
            <a:ext cx="1143000" cy="2286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/>
            <a:r>
              <a:rPr sz="1400" b="0" i="0">
                <a:solidFill>
                  <a:srgbClr val="262626"/>
                </a:solidFill>
                <a:latin typeface="メイリオ"/>
                <a:ea typeface="メイリオ"/>
                <a:cs typeface="メイリオ"/>
              </a:rPr>
              <a:t>2 / 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