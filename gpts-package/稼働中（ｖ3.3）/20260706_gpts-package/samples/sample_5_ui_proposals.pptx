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</a:rPr>
              <a:t>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</a:rPr>
              <a:t>Improvement Proposals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</a:rPr>
              <a:t>サンプルECサイト に対する改善提案の一覧です。詳細は次スライド以降に記載しています。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1524000"/>
          <a:ext cx="114300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286500"/>
                <a:gridCol w="2514600"/>
                <a:gridCol w="171450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No</a:t>
                      </a:r>
                    </a:p>
                  </a:txBody>
                  <a:tcPr marL="101600" marR="101600" marT="101600" marB="1016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改善タイトル</a:t>
                      </a:r>
                    </a:p>
                  </a:txBody>
                  <a:tcPr marL="101600" marR="101600" marT="101600" marB="1016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対象カテゴリ</a:t>
                      </a:r>
                    </a:p>
                  </a:txBody>
                  <a:tcPr marL="101600" marR="101600" marT="101600" marB="1016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優先度</a:t>
                      </a:r>
                    </a:p>
                  </a:txBody>
                  <a:tcPr marL="101600" marR="101600" marT="101600" marB="101600">
                    <a:solidFill>
                      <a:srgbClr val="1C366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</a:rPr>
                        <a:t>1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絞り込み条件の保存機能と複数条件の組み合わせ対応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606060"/>
                          </a:solidFill>
                          <a:latin typeface="メイリオ"/>
                          <a:ea typeface="メイリオ"/>
                        </a:rPr>
                        <a:t>検索・絞り込み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S</a:t>
                      </a:r>
                    </a:p>
                  </a:txBody>
                  <a:tcPr marL="101600" marR="101600" marT="101600" marB="101600">
                    <a:solidFill>
                      <a:srgbClr val="D0021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</a:rPr>
                        <a:t>2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フォーム入力エラーのリアルタイム表示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606060"/>
                          </a:solidFill>
                          <a:latin typeface="メイリオ"/>
                          <a:ea typeface="メイリオ"/>
                        </a:rPr>
                        <a:t>フォーム使いやすさ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S</a:t>
                      </a:r>
                    </a:p>
                  </a:txBody>
                  <a:tcPr marL="101600" marR="101600" marT="101600" marB="101600">
                    <a:solidFill>
                      <a:srgbClr val="D0021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</a:rPr>
                        <a:t>3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アクセシビリティ最低基準（WCAG AA）への準拠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606060"/>
                          </a:solidFill>
                          <a:latin typeface="メイリオ"/>
                          <a:ea typeface="メイリオ"/>
                        </a:rPr>
                        <a:t>アクセシビリティ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A</a:t>
                      </a:r>
                    </a:p>
                  </a:txBody>
                  <a:tcPr marL="101600" marR="101600" marT="101600" marB="101600">
                    <a:solidFill>
                      <a:srgbClr val="D0021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</a:rPr>
                        <a:t>4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商品詳細ページの情報量強化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606060"/>
                          </a:solidFill>
                          <a:latin typeface="メイリオ"/>
                          <a:ea typeface="メイリオ"/>
                        </a:rPr>
                        <a:t>商品詳細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A</a:t>
                      </a:r>
                    </a:p>
                  </a:txBody>
                  <a:tcPr marL="101600" marR="101600" marT="101600" marB="101600">
                    <a:solidFill>
                      <a:srgbClr val="D0021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UI/UX診断 by GPTs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</a:rPr>
              <a:t>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</a:rPr>
              <a:t>Proposal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606060"/>
                </a:solidFill>
                <a:latin typeface="メイリオ"/>
                <a:ea typeface="メイリオ"/>
              </a:rPr>
              <a:t>提案 #1 ── 現状 → アクション → 期待効果 の3段で整理。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238250"/>
            <a:ext cx="11430000" cy="4857750"/>
          </a:xfrm>
          <a:prstGeom prst="round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1238250"/>
            <a:ext cx="57150" cy="485775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0550" y="13716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D0021B"/>
                </a:solidFill>
                <a:latin typeface="メイリオ"/>
                <a:ea typeface="メイリオ"/>
              </a:rPr>
              <a:t>#1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10850" y="1390650"/>
            <a:ext cx="1047750" cy="3238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610850" y="1466850"/>
            <a:ext cx="10477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</a:rPr>
              <a:t>優先度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1790700"/>
            <a:ext cx="1101090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C366C"/>
                </a:solidFill>
                <a:latin typeface="メイリオ"/>
                <a:ea typeface="メイリオ"/>
              </a:rPr>
              <a:t>絞り込み条件の保存機能と複数条件の組み合わせ対応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2495550"/>
            <a:ext cx="110109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検索・絞り込み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0550" y="2781300"/>
            <a:ext cx="1101090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0550" y="289560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</a:rPr>
              <a:t>現状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3143250"/>
            <a:ext cx="11010900" cy="676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条件選択後に他ページへ移動すると条件がリセットされ、再度入力が必要。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複数カテゴリの同時選択にも対応していない。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3952875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アクション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" y="4200525"/>
            <a:ext cx="11010900" cy="676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URLパラメータ／LocalStorageで条件を保持し、戻る操作でも復元する。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チェックボックスUIに変更し、複数条件のAND選択を可能にする。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501015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</a:rPr>
              <a:t>期待効果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" y="5257800"/>
            <a:ext cx="11010900" cy="676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再操作率を約40%削減、検索ページ滞在時間を-25%。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結果として商品詳細到達率の向上が見込める。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UI/UX診断 by GPTs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</a:rPr>
              <a:t>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</a:rPr>
              <a:t>Proposal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606060"/>
                </a:solidFill>
                <a:latin typeface="メイリオ"/>
                <a:ea typeface="メイリオ"/>
              </a:rPr>
              <a:t>提案 #2 ── 現状 → アクション → 期待効果 の3段で整理。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238250"/>
            <a:ext cx="11430000" cy="4857750"/>
          </a:xfrm>
          <a:prstGeom prst="round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1238250"/>
            <a:ext cx="57150" cy="485775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0550" y="13716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D0021B"/>
                </a:solidFill>
                <a:latin typeface="メイリオ"/>
                <a:ea typeface="メイリオ"/>
              </a:rPr>
              <a:t>#2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10850" y="1390650"/>
            <a:ext cx="1047750" cy="3238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610850" y="1466850"/>
            <a:ext cx="10477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</a:rPr>
              <a:t>優先度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1790700"/>
            <a:ext cx="1101090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C366C"/>
                </a:solidFill>
                <a:latin typeface="メイリオ"/>
                <a:ea typeface="メイリオ"/>
              </a:rPr>
              <a:t>フォーム入力エラーのリアルタイム表示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2495550"/>
            <a:ext cx="110109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フォーム使いやすさ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0550" y="2781300"/>
            <a:ext cx="1101090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0550" y="289560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</a:rPr>
              <a:t>現状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3143250"/>
            <a:ext cx="11010900" cy="676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送信ボタン押下後にまとめてエラーが表示され、修正箇所が分かりにくい。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エラー文言も「入力が誤っています」と汎用的で具体性が低い。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3952875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アクション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" y="4200525"/>
            <a:ext cx="11010900" cy="676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各フィールドのblur時にバリデーションを実行し、エラー文言を「具体的に何がおかしいか」「どう直すか」の2点を含めて表示。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501015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</a:rPr>
              <a:t>期待効果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" y="5257800"/>
            <a:ext cx="11010900" cy="676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フォーム離脱率を-15pt、購入完了率を+5pt見込み。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UI/UX診断 by GPTs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</a:rPr>
              <a:t>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</a:rPr>
              <a:t>Proposal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606060"/>
                </a:solidFill>
                <a:latin typeface="メイリオ"/>
                <a:ea typeface="メイリオ"/>
              </a:rPr>
              <a:t>提案 #3 ── 現状 → アクション → 期待効果 の3段で整理。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238250"/>
            <a:ext cx="11430000" cy="4857750"/>
          </a:xfrm>
          <a:prstGeom prst="round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1238250"/>
            <a:ext cx="57150" cy="485775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0550" y="13716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D0021B"/>
                </a:solidFill>
                <a:latin typeface="メイリオ"/>
                <a:ea typeface="メイリオ"/>
              </a:rPr>
              <a:t>#3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10850" y="1390650"/>
            <a:ext cx="1047750" cy="3238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610850" y="1466850"/>
            <a:ext cx="10477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</a:rPr>
              <a:t>優先度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1790700"/>
            <a:ext cx="1101090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C366C"/>
                </a:solidFill>
                <a:latin typeface="メイリオ"/>
                <a:ea typeface="メイリオ"/>
              </a:rPr>
              <a:t>アクセシビリティ最低基準（WCAG AA）への準拠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2495550"/>
            <a:ext cx="110109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アクセシビリティ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0550" y="2781300"/>
            <a:ext cx="1101090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0550" y="289560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</a:rPr>
              <a:t>現状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3143250"/>
            <a:ext cx="11010900" cy="676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主要テキストのコントラスト比が4.5未満の箇所が多数。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商品画像のalt属性が空欄またはファイル名のままで、SR利用者が情報を取得できない。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3952875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アクション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" y="4200525"/>
            <a:ext cx="11010900" cy="676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デザインシステムのカラートークンを見直し、AA基準を満たすよう調整。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alt属性は「商品名＋色／柄」を必須項目化し、CMS入力時にバリデーションする。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501015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</a:rPr>
              <a:t>期待効果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" y="5257800"/>
            <a:ext cx="11010900" cy="676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潜在顧客層（視覚障碍ユーザ・高齢者）への到達拡大。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SEO面でも画像検索流入の改善が見込める。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UI/UX診断 by GPTs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</a:rPr>
              <a:t>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</a:rPr>
              <a:t>Proposal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606060"/>
                </a:solidFill>
                <a:latin typeface="メイリオ"/>
                <a:ea typeface="メイリオ"/>
              </a:rPr>
              <a:t>提案 #4 ── 現状 → アクション → 期待効果 の3段で整理。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238250"/>
            <a:ext cx="11430000" cy="4019550"/>
          </a:xfrm>
          <a:prstGeom prst="round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1238250"/>
            <a:ext cx="57150" cy="401955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0550" y="13716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D0021B"/>
                </a:solidFill>
                <a:latin typeface="メイリオ"/>
                <a:ea typeface="メイリオ"/>
              </a:rPr>
              <a:t>#4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10850" y="1390650"/>
            <a:ext cx="1047750" cy="3238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610850" y="1466850"/>
            <a:ext cx="10477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</a:rPr>
              <a:t>優先度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1790700"/>
            <a:ext cx="1101090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C366C"/>
                </a:solidFill>
                <a:latin typeface="メイリオ"/>
                <a:ea typeface="メイリオ"/>
              </a:rPr>
              <a:t>商品詳細ページの情報量強化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2495550"/>
            <a:ext cx="110109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商品詳細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0550" y="2781300"/>
            <a:ext cx="1101090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0550" y="289560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</a:rPr>
              <a:t>現状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3143250"/>
            <a:ext cx="110109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サイズ表記が「M」「L」のみで実寸が不明。使用シーン写真も少なく、購入後イメージが湧きにくい。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367665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アクション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" y="3924300"/>
            <a:ext cx="110109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サイズ実寸表（cm）と着用モデル身長を必須化。シーン別の使用写真を最低3枚追加する。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445770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</a:rPr>
              <a:t>期待効果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" y="4705350"/>
            <a:ext cx="110109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</a:rPr>
              <a:t>商品詳細→カート遷移率を+8pt。返品率の低下も期待される。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1000" y="5410200"/>
            <a:ext cx="11430000" cy="7810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71500" y="550545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</a:rPr>
              <a:t>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57340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</a:rPr>
              <a:t>優先度SとAの計4件を3か月以内に着手することで、ランクBからAへの引き上げが現実的。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UI/UX診断 by GPTs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