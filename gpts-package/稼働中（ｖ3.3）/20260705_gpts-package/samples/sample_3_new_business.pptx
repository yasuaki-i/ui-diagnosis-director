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86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10668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新規事業提案：法人向けAIアシスタント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762250"/>
            <a:ext cx="4572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2000" y="295275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2000" b="0" i="0">
                <a:solidFill>
                  <a:srgbClr val="E6EAF3"/>
                </a:solidFill>
                <a:latin typeface="メイリオ"/>
                <a:ea typeface="メイリオ"/>
                <a:cs typeface="メイリオ"/>
              </a:rPr>
              <a:t>3年で売上10億円規模を目指す新事業の立ち上げ計画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334000"/>
            <a:ext cx="6858000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40000"/>
              </a:lnSpc>
            </a:pPr>
            <a:r>
              <a:rPr sz="2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2026年6月1日　□□株式会社 新規事業開発部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96025"/>
            <a:ext cx="121920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本資料の構成は以下のとおりです。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1619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1657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市場機会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714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法人向けAI市場の規模と成長率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2190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2228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解決する課題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2286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ターゲット顧客の3つの困りごと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762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2800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プロダクト概要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0" y="2857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提供価値とコア機能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3333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3371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事業計画KPI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3429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3年間の売上・顧客数目標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3905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3943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優先度マトリクス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4000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機能開発の優先順位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4476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8250" y="4514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競合との差別化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0" y="4572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主要競合4社との比較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50482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50863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実行スケジュール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0" y="51435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12か月のロードマップ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5619750"/>
            <a:ext cx="762000" cy="342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565785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次のアクション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0" y="5715000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承認後の動き方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ターゲット顧客の3つの課題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ターゲット企業100社のヒアリング結果から課題を抽出。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0525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0550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28750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62100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情報検索の非効率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社内文書が分散し、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必要な情報を見つけるのに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1日平均1.5時間を費やしている。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8625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48150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48175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6375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19725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定型業務の負担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8175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議事録作成・報告書作成・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メール対応に管理職時間の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4割が消費されている。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6250" y="1524000"/>
            <a:ext cx="371475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05775" y="1533525"/>
            <a:ext cx="3695700" cy="8382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05800" y="1657350"/>
            <a:ext cx="857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33550"/>
            <a:ext cx="9525" cy="419100"/>
          </a:xfrm>
          <a:prstGeom prst="rect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77350" y="171450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専門知識の属人化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2533650"/>
            <a:ext cx="3333750" cy="2533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ベテラン社員のノウハウが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言語化されておらず、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後継者への移転が困難。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533400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542925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65785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3課題はいずれも「社内ナレッジへのアクセス」が原因。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事業計画KPI（3年目標）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事業立ち上げから3年間で達成すべき指標。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09600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年間売上（3年目）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10億円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導入企業100社×平均1,000万円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86125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14725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導入企業数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4725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100社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4725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3年で累計100社の獲得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0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9850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営業利益率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SaaS事業として安定収益化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6375" y="1524000"/>
            <a:ext cx="2714625" cy="2667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4975" y="1771650"/>
            <a:ext cx="2257425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初期投資回収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4975" y="2286000"/>
            <a:ext cx="2257425" cy="666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24か月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4975" y="3143250"/>
            <a:ext cx="225742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2年目末で投資回収完了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44767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1500" y="45720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8006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SaaS型課金で安定収益基盤を構築し、4年目以降の海外展開に繋げる。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機能開発の優先度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Priority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実装難易度×顧客インパクトで開発優先度を整理。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0" y="1809750"/>
            <a:ext cx="4191000" cy="2000250"/>
          </a:xfrm>
          <a:prstGeom prst="rect">
            <a:avLst/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2095500" y="1809750"/>
            <a:ext cx="4191000" cy="200025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095500" y="3810000"/>
            <a:ext cx="4191000" cy="200025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286500" y="3810000"/>
            <a:ext cx="4191000" cy="2000250"/>
          </a:xfrm>
          <a:prstGeom prst="rect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095500" y="1809750"/>
            <a:ext cx="8382000" cy="4000500"/>
          </a:xfrm>
          <a:prstGeom prst="rect">
            <a:avLst/>
          </a:prstGeom>
          <a:noFill/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86500" y="1809750"/>
            <a:ext cx="9525" cy="40005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095500" y="3810000"/>
            <a:ext cx="838200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524000" y="17335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6197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9300" y="58864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0" y="5886450"/>
            <a:ext cx="571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500" y="6153150"/>
            <a:ext cx="838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実装難易度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" y="3695700"/>
            <a:ext cx="1809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↑ 顧客インパクト</a:t>
            </a:r>
          </a:p>
        </p:txBody>
      </p:sp>
      <p:sp>
        <p:nvSpPr>
          <p:cNvPr id="19" name="Oval 18"/>
          <p:cNvSpPr/>
          <p:nvPr/>
        </p:nvSpPr>
        <p:spPr>
          <a:xfrm>
            <a:off x="4619625" y="1971675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19625" y="199072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1575" y="200977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社内文書検索</a:t>
            </a:r>
          </a:p>
        </p:txBody>
      </p:sp>
      <p:sp>
        <p:nvSpPr>
          <p:cNvPr id="22" name="Oval 21"/>
          <p:cNvSpPr/>
          <p:nvPr/>
        </p:nvSpPr>
        <p:spPr>
          <a:xfrm>
            <a:off x="6553200" y="2447925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53200" y="246697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24860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議事録自動生成</a:t>
            </a:r>
          </a:p>
        </p:txBody>
      </p:sp>
      <p:sp>
        <p:nvSpPr>
          <p:cNvPr id="25" name="Oval 24"/>
          <p:cNvSpPr/>
          <p:nvPr/>
        </p:nvSpPr>
        <p:spPr>
          <a:xfrm>
            <a:off x="5295900" y="3057525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295900" y="307657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7850" y="30956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FAQ自動応答</a:t>
            </a:r>
          </a:p>
        </p:txBody>
      </p:sp>
      <p:sp>
        <p:nvSpPr>
          <p:cNvPr id="28" name="Oval 27"/>
          <p:cNvSpPr/>
          <p:nvPr/>
        </p:nvSpPr>
        <p:spPr>
          <a:xfrm>
            <a:off x="7134225" y="3857625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4225" y="3876675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6175" y="3895725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メール下書き</a:t>
            </a:r>
          </a:p>
        </p:txBody>
      </p:sp>
      <p:sp>
        <p:nvSpPr>
          <p:cNvPr id="31" name="Oval 30"/>
          <p:cNvSpPr/>
          <p:nvPr/>
        </p:nvSpPr>
        <p:spPr>
          <a:xfrm>
            <a:off x="8648700" y="344805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48700" y="346710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6550" y="34861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専門知識Q&amp;A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0" y="4857750"/>
            <a:ext cx="304800" cy="3048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9600" y="4876800"/>
            <a:ext cx="3048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7450" y="489585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多言語対応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主要競合との比較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Action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主要競合3社と当社案を5項目で比較しました。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1524000"/>
          <a:ext cx="11430000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057400"/>
                <a:gridCol w="2171700"/>
                <a:gridCol w="217170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当社案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A社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B社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C社</a:t>
                      </a:r>
                    </a:p>
                  </a:txBody>
                  <a:tcPr marL="101600" marR="101600" marT="76200" marB="76200">
                    <a:solidFill>
                      <a:srgbClr val="1C366C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機能数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日本語精度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◎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○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△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◎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価格（月額/人）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1,200円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2,000円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800円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1,800円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導入支援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○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△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○</a:t>
                      </a:r>
                    </a:p>
                  </a:txBody>
                  <a:tcPr marL="101600" marR="101600" marT="76200" marB="76200">
                    <a:solidFill>
                      <a:srgbClr val="F8F9FB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オンプレ対応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○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○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1000" y="3981450"/>
            <a:ext cx="1143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【出所】各社公式サイト・営業ヒアリング（2026年5月時点）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12か月の実行ロードマップ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1月の正式リリースをマイルストーンに、12か月で立ち上げ。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7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667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1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91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15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39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39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3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63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87000" y="1619250"/>
            <a:ext cx="15240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87000" y="16954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20764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要件定義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67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191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15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239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763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0287000" y="20002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705100" y="2057400"/>
            <a:ext cx="1447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1000" y="25336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MVP開発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7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191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715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239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763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0287000" y="24574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705100" y="25146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29908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パイロット顧客10社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67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191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715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239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763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0287000" y="29146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4229100" y="29718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81000" y="34480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正式版開発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67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191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715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239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763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287000" y="33718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753100" y="34290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1000" y="39052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正式リリース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67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4191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715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239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763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287000" y="3829050"/>
            <a:ext cx="152400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Diamond 56"/>
          <p:cNvSpPr/>
          <p:nvPr/>
        </p:nvSpPr>
        <p:spPr>
          <a:xfrm>
            <a:off x="7886700" y="3924300"/>
            <a:ext cx="228600" cy="228600"/>
          </a:xfrm>
          <a:prstGeom prst="diamond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1000" y="4362450"/>
            <a:ext cx="21907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6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営業活動拡大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67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4191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715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239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763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0287000" y="4286250"/>
            <a:ext cx="1524000" cy="4191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7277100" y="4343400"/>
            <a:ext cx="4495800" cy="28575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営業プロセスの設計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Flow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受託型の長期商談から、SaaS型の短期受注へ。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809750"/>
            <a:ext cx="952500" cy="3429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1000" y="1866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400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61925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資料請求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7125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62375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商談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925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0550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個別開発提案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9050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3375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8625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長期検討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2175" y="188595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96500" y="1619250"/>
            <a:ext cx="1714500" cy="723900"/>
          </a:xfrm>
          <a:prstGeom prst="roundRect">
            <a:avLst/>
          </a:prstGeom>
          <a:solidFill>
            <a:srgbClr val="F4F5F8"/>
          </a:solidFill>
          <a:ln w="254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191750" y="18288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3238500"/>
            <a:ext cx="952500" cy="3429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329565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6192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Web申込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47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15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767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デモ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390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342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PoC開始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9750" y="3314700"/>
            <a:ext cx="1905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96500" y="3048000"/>
            <a:ext cx="1714500" cy="7239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3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191750" y="325755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40000"/>
              </a:lnSpc>
            </a:pPr>
            <a:r>
              <a:rPr sz="15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本契約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" y="44767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71500" y="45720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IMPROVEMENT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48006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プロセス短縮で営業生産性を2倍に。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1000" y="171450"/>
            <a:ext cx="7620000" cy="3333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事業承認のレビュー観点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2095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OK / 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57250"/>
            <a:ext cx="114300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8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新規事業の承認を得るための数字の作り方。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1524000"/>
            <a:ext cx="5524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90525" y="1533525"/>
            <a:ext cx="5505450" cy="533400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81000" y="1524000"/>
            <a:ext cx="57150" cy="542925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71500" y="1638300"/>
            <a:ext cx="914400" cy="304800"/>
          </a:xfrm>
          <a:prstGeom prst="round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1500" y="1676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NG 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16764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NG: バラ色の数字並べ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209800"/>
            <a:ext cx="5067300" cy="2419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3年で売上100億・利益50%など、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根拠の薄い数字を並べると、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経営層から信頼を得られない。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525" y="4724400"/>
            <a:ext cx="5505450" cy="409575"/>
          </a:xfrm>
          <a:prstGeom prst="rect">
            <a:avLst/>
          </a:prstGeom>
          <a:solidFill>
            <a:srgbClr val="FDECEC"/>
          </a:solidFill>
          <a:ln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90525" y="4724400"/>
            <a:ext cx="38100" cy="409575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1500" y="4829175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楽観的すぎる数字は逆効果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0" y="1524000"/>
            <a:ext cx="5524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96025" y="1533525"/>
            <a:ext cx="5505450" cy="53340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86500" y="1524000"/>
            <a:ext cx="57150" cy="542925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477000" y="1638300"/>
            <a:ext cx="914400" cy="304800"/>
          </a:xfrm>
          <a:prstGeom prst="round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77000" y="1676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OK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0" y="167640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0884A"/>
                </a:solidFill>
                <a:latin typeface="メイリオ"/>
                <a:ea typeface="メイリオ"/>
                <a:cs typeface="メイリオ"/>
              </a:rPr>
              <a:t>OK: 保守的試算＋根拠明示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2209800"/>
            <a:ext cx="5067300" cy="2419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同業他社実績・ヒアリング結果に基づき、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3年目10億円という現実的な数字を提示。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計算根拠も併記する。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6025" y="4724400"/>
            <a:ext cx="5505450" cy="409575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96025" y="4724400"/>
            <a:ext cx="38100" cy="409575"/>
          </a:xfrm>
          <a:prstGeom prst="rect">
            <a:avLst/>
          </a:prstGeom>
          <a:solidFill>
            <a:srgbClr val="108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77000" y="4829175"/>
            <a:ext cx="5143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0884A"/>
                </a:solidFill>
                <a:latin typeface="メイリオ"/>
                <a:ea typeface="メイリオ"/>
                <a:cs typeface="メイリオ"/>
              </a:rPr>
              <a:t>保守試算で承認後に超過達成を狙う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5314950"/>
            <a:ext cx="11430000" cy="876300"/>
          </a:xfrm>
          <a:prstGeom prst="round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1500" y="5410200"/>
            <a:ext cx="11049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9DB0D6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638800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承認後の運営で信頼を積むことが、次の投資承認に繋がる。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865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ご承認のお願い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857500"/>
            <a:ext cx="4572000" cy="285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2000" y="3238500"/>
            <a:ext cx="106680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2200" b="0" i="0">
                <a:solidFill>
                  <a:srgbClr val="E6EAF3"/>
                </a:solidFill>
                <a:latin typeface="メイリオ"/>
                <a:ea typeface="メイリオ"/>
                <a:cs typeface="メイリオ"/>
              </a:rPr>
              <a:t>本提案について、6月中の取締役会で承認をお願いします。
承認後、7月から要件定義フェーズに着手します。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0" y="53340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60000"/>
              </a:lnSpc>
            </a:pPr>
            <a:r>
              <a:rPr sz="16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問い合わせ：新規事業開発部 鈴木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6025"/>
            <a:ext cx="12192000" cy="561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紺＆クリーン スライド作成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