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86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10668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Q2 販売戦略レビュー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762250"/>
            <a:ext cx="4572000" cy="285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2000" y="295275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2000" b="0" i="0">
                <a:solidFill>
                  <a:srgbClr val="E6EAF3"/>
                </a:solidFill>
                <a:latin typeface="メイリオ"/>
                <a:ea typeface="メイリオ"/>
                <a:cs typeface="メイリオ"/>
              </a:rPr>
              <a:t>上期実績の振り返りと下期に向けた重点施策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334000"/>
            <a:ext cx="685800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2026年7月15日　○○株式会社 営業企画部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96025"/>
            <a:ext cx="121920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本資料の構成は以下のとおりです。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619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1657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市場環境の整理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714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マクロ・競合・顧客動向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2238375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2276475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現状の課題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2333625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上期で見えた3つの論点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85750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289560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優先度マトリクス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0" y="29527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4象限で施策を整理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3476625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3514725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主要KPIの現状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3571875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達成率と前年比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4095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4133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施策一覧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4191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下期に実行する10施策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4714875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50" y="4752975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実行スケジュール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0" y="4810125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6か月のロードマップ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533400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537210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まとめ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0" y="542925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結論と次のアクション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現状の3つの課題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上期実績の分析から、下期に向けた3つの課題を整理しました。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90525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0550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750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562100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リード獲得の伸び悩み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主要チャネルで前年比横ばい。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新規流入経路の追加検討が必要。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Webマーケの投資配分も要見直し。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8625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48150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48175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86375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19725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商談化率の低下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175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リードから商談への転換が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前年比10pt低下。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スコアリングロジック再設計が必要。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6250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05775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05800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77350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受注後の解約率増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導入後3か月の解約が増加。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オンボーディングが手薄。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CS体制の強化が急務。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533400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542925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565785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3課題は独立ではなく「リード→商談→受注→定着」の流れで連動している。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施策の優先度マトリクス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Priority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重要度×緊急度ではなく「インパクト×実行難易度」で施策を整理します。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0" y="1809750"/>
            <a:ext cx="4191000" cy="2000250"/>
          </a:xfrm>
          <a:prstGeom prst="rect">
            <a:avLst/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095500" y="1809750"/>
            <a:ext cx="4191000" cy="200025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095500" y="3810000"/>
            <a:ext cx="4191000" cy="200025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86500" y="3810000"/>
            <a:ext cx="4191000" cy="200025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095500" y="1809750"/>
            <a:ext cx="8382000" cy="4000500"/>
          </a:xfrm>
          <a:prstGeom prst="rect">
            <a:avLst/>
          </a:prstGeom>
          <a:noFill/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86500" y="1809750"/>
            <a:ext cx="9525" cy="40005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095500" y="3810000"/>
            <a:ext cx="838200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524000" y="17335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6197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300" y="58864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0" y="58864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500" y="6153150"/>
            <a:ext cx="838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実行難易度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" y="369570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↑ インパクト</a:t>
            </a:r>
          </a:p>
        </p:txBody>
      </p:sp>
      <p:sp>
        <p:nvSpPr>
          <p:cNvPr id="19" name="Oval 18"/>
          <p:cNvSpPr/>
          <p:nvPr/>
        </p:nvSpPr>
        <p:spPr>
          <a:xfrm>
            <a:off x="8477250" y="2257425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77250" y="227647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229552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オンボーディング刷新</a:t>
            </a:r>
          </a:p>
        </p:txBody>
      </p:sp>
      <p:sp>
        <p:nvSpPr>
          <p:cNvPr id="22" name="Oval 21"/>
          <p:cNvSpPr/>
          <p:nvPr/>
        </p:nvSpPr>
        <p:spPr>
          <a:xfrm>
            <a:off x="7391400" y="2771775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91400" y="279082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3350" y="280987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スコアリング再設計</a:t>
            </a:r>
          </a:p>
        </p:txBody>
      </p:sp>
      <p:sp>
        <p:nvSpPr>
          <p:cNvPr id="25" name="Oval 24"/>
          <p:cNvSpPr/>
          <p:nvPr/>
        </p:nvSpPr>
        <p:spPr>
          <a:xfrm>
            <a:off x="9067800" y="34480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67800" y="346710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5650" y="34861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新規チャネル開拓</a:t>
            </a:r>
          </a:p>
        </p:txBody>
      </p:sp>
      <p:sp>
        <p:nvSpPr>
          <p:cNvPr id="28" name="Oval 27"/>
          <p:cNvSpPr/>
          <p:nvPr/>
        </p:nvSpPr>
        <p:spPr>
          <a:xfrm>
            <a:off x="4457700" y="325755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57700" y="327660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9650" y="32956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営業ツール統合</a:t>
            </a:r>
          </a:p>
        </p:txBody>
      </p:sp>
      <p:sp>
        <p:nvSpPr>
          <p:cNvPr id="31" name="Oval 30"/>
          <p:cNvSpPr/>
          <p:nvPr/>
        </p:nvSpPr>
        <p:spPr>
          <a:xfrm>
            <a:off x="4038600" y="445770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038600" y="447675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0550" y="44958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ナレッジ整備</a:t>
            </a:r>
          </a:p>
        </p:txBody>
      </p:sp>
      <p:sp>
        <p:nvSpPr>
          <p:cNvPr id="34" name="Oval 33"/>
          <p:cNvSpPr/>
          <p:nvPr/>
        </p:nvSpPr>
        <p:spPr>
          <a:xfrm>
            <a:off x="6972300" y="485775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972300" y="487680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4250" y="48958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名刺管理刷新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主要KPI（上期実績）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上期の主要KPIを4指標で整理します。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売上前年比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108%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計画比103%。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新規開拓が貢献。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6125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14725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商談化率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4725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4725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前年34%から10pt低下。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要対策。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0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9850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受注後解約率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前年5.1%から悪化。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6375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4975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新規ロゴ獲得数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4975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42社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4975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目標40社を超過達成。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44767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1500" y="45720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8006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売上は計画達成も、中間KPI（商談化・解約）に赤信号。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下期の重点施策一覧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Action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優先度マトリクスから抽出した6施策を担当別に整理。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524000"/>
          <a:ext cx="11430000" cy="253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800600"/>
                <a:gridCol w="2057400"/>
                <a:gridCol w="2514600"/>
                <a:gridCol w="1143000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施策名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担当部署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効果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工数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オンボーディング体制の再設計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CS部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解約率 </a:t>
                      </a:r>
                      <a:r>
                        <a:rPr sz="18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-3pt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リードスコアリング刷新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営業企画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商談化率 </a:t>
                      </a:r>
                      <a:r>
                        <a:rPr sz="18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+8pt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中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03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パートナーチャネル拡張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事業開発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リード +500件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中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04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営業ツールの統合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営業企画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工数 -20%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05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ナレッジ整備とFAQ拡充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CS部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問合せ -15%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低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06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顧客成功事例の取材公開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マーケ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CV +12%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低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434340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【出所】営業企画部 試算（2026年6月時点）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下期スケジュール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6か月のロードマップ。中間レビューを9月末に設定。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7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667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91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39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39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63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87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12月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20764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オンボーディング刷新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191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15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239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763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0287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705100" y="20574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1000" y="25336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スコアリング再設計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191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715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239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763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0287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705100" y="2514600"/>
            <a:ext cx="2971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29908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パートナー開拓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67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191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715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239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763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0287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4229100" y="2971800"/>
            <a:ext cx="6019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81000" y="34480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ツール統合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67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191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715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239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763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287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753100" y="3429000"/>
            <a:ext cx="6019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1000" y="39052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中間レビュー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67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191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715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239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763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287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Diamond 56"/>
          <p:cNvSpPr/>
          <p:nvPr/>
        </p:nvSpPr>
        <p:spPr>
          <a:xfrm>
            <a:off x="6362700" y="3924300"/>
            <a:ext cx="228600" cy="228600"/>
          </a:xfrm>
          <a:prstGeom prst="diamond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1000" y="43624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通期レビュー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67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4191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715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7239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8763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0287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Diamond 64"/>
          <p:cNvSpPr/>
          <p:nvPr/>
        </p:nvSpPr>
        <p:spPr>
          <a:xfrm>
            <a:off x="10934700" y="4381500"/>
            <a:ext cx="228600" cy="228600"/>
          </a:xfrm>
          <a:prstGeom prst="diamond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オンボーディングフローの刷新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Flow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現状フローと刷新後フローを対比します。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809750"/>
            <a:ext cx="952500" cy="3429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1000" y="18669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400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1925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契約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7125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62375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初回連絡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925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0550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操作説明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9050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3375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8625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放置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2175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9650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9175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解約打診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3238500"/>
            <a:ext cx="952500" cy="3429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329565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40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6192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契約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280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67125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762375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キックオフ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5925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1025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0550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週次伴走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90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3375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48625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導入完了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2175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965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1917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定着支援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1000" y="44767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71500" y="45720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IMPROVEMENT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8006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受動的な対応から、伴走型のオンボーディングへ転換。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提案資料のレビュー基準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OK / 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訴求数値は能動的に強調する（必達条項13）。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55245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90525" y="1533525"/>
            <a:ext cx="5505450" cy="533400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81000" y="1524000"/>
            <a:ext cx="57150" cy="542925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638300"/>
            <a:ext cx="914400" cy="304800"/>
          </a:xfrm>
          <a:prstGeom prst="round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1500" y="16764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NG 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167640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NG例: 数字の羅列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209800"/>
            <a:ext cx="5067300" cy="2419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本文と同じサイズで数字を並べてしまい、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どの数値を覚えて帰ればよいか伝わらない。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読み手は全部見なければならず疲弊する。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525" y="4724400"/>
            <a:ext cx="5505450" cy="409575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90525" y="4724400"/>
            <a:ext cx="38100" cy="409575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1500" y="4829175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色も統一・サイズも均等 → 強調が分散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500" y="1524000"/>
            <a:ext cx="55245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96025" y="1533525"/>
            <a:ext cx="5505450" cy="533400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86500" y="1524000"/>
            <a:ext cx="57150" cy="542925"/>
          </a:xfrm>
          <a:prstGeom prst="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477000" y="1638300"/>
            <a:ext cx="914400" cy="30480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77000" y="16764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OK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0" y="167640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0884A"/>
                </a:solidFill>
                <a:latin typeface="メイリオ"/>
                <a:ea typeface="メイリオ"/>
                <a:cs typeface="メイリオ"/>
              </a:rPr>
              <a:t>OK例: キー数値の強調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2209800"/>
            <a:ext cx="5067300" cy="2419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スライドの結論を支えるキー数値を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+60〜100%に拡大し、赤または紺で強調。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1スライドに最大3つまでに絞る。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6025" y="4724400"/>
            <a:ext cx="5505450" cy="409575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96025" y="4724400"/>
            <a:ext cx="38100" cy="409575"/>
          </a:xfrm>
          <a:prstGeom prst="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7000" y="4829175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0884A"/>
                </a:solidFill>
                <a:latin typeface="メイリオ"/>
                <a:ea typeface="メイリオ"/>
                <a:cs typeface="メイリオ"/>
              </a:rPr>
              <a:t>サイズ拡大＋色変更で訴求点が明確に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53149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1500" y="54102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6388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読み手が「どの数字を覚えて帰るか」が明確になる。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86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Next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857500"/>
            <a:ext cx="4572000" cy="285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2000" y="3238500"/>
            <a:ext cx="106680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2200" b="0" i="0">
                <a:solidFill>
                  <a:srgbClr val="E6EAF3"/>
                </a:solidFill>
                <a:latin typeface="メイリオ"/>
                <a:ea typeface="メイリオ"/>
                <a:cs typeface="メイリオ"/>
              </a:rPr>
              <a:t>次回ミーティング：7月22日（火）14:00-15:00
各施策の責任者から週次進捗を報告してください。
中間レビューは9月末を予定しています。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53340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60000"/>
              </a:lnSpc>
            </a:pPr>
            <a:r>
              <a:rPr sz="16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問い合わせ：営業企画部 山田
yamada@example.com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6025"/>
            <a:ext cx="121920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