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10668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2026年度 組織改革プラン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76225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295275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E6EAF3"/>
                </a:solidFill>
                <a:latin typeface="メイリオ"/>
                <a:ea typeface="メイリオ"/>
                <a:cs typeface="メイリオ"/>
              </a:rPr>
              <a:t>事業ポートフォリオの再編に対応した組織再設計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334000"/>
            <a:ext cx="68580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2026年4月1日　△△株式会社 経営企画室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本資料の構成は以下のとおりです。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61925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16573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改革の背景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714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事業環境変化と現組織の課題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34315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2381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現状の3つの論点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24384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組織構造の問題点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306705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31051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新組織のKPI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31623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改革後の目標値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379095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38290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Before / After フロー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38862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意思決定プロセスの変化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451485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45529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移行スケジュール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46101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6か月の段階的移行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523875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52768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次のアクション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0" y="5334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部門長への説明計画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現組織の3つの論点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経営層・現場ヒアリング（120名）から抽出した論点。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6210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意思決定の遅延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事業部間の調整に時間がかかり、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新規施策の立ち上げが平均6か月遅延。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権限委譲が不十分。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8625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48150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48175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6375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19725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人材配置の硬直化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175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部署横断のアサインが困難。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スキルマッチングがされず、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機会損失が発生している。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625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0577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580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7735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評価制度の形骸化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年功型の評価が残り、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若手の離職率が前年比1.5倍に。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成果連動の再設計が必要。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533400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542925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65785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3論点は「構造・人・制度」の3軸で連動して解決する必要がある。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改革後の目標KPI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改革後12か月時点で達成すべきKPI。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3676650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1771650"/>
            <a:ext cx="32194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意思決定リードタイム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86000"/>
            <a:ext cx="321945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3250"/>
            <a:ext cx="32194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6か月 → 3か月に短縮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150" y="1524000"/>
            <a:ext cx="3676650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76750" y="1771650"/>
            <a:ext cx="32194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部署横断アサイン率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750" y="2286000"/>
            <a:ext cx="321945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3143250"/>
            <a:ext cx="32194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現状8% → 30%に拡大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5300" y="1524000"/>
            <a:ext cx="3676650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43900" y="1771650"/>
            <a:ext cx="32194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若手離職率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2286000"/>
            <a:ext cx="321945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5%以下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143250"/>
            <a:ext cx="32194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現状12% → 半減目標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3指標が連動して改善することで「自律分散組織」へ移行する。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意思決定プロセスの再設計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Flow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5段階の階層型決裁から、4段階の自律型決裁へ。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809750"/>
            <a:ext cx="952500" cy="3429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1000" y="1866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0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192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発議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712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6237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事業部長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92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0550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経営会議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905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337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862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取締役会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217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965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917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3238500"/>
            <a:ext cx="952500" cy="3429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329565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619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発議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7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76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小委員会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39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34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97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96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191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結果レビュー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IMPROVEMENT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決裁段階を1段削減し、現場の小委員会に予算権限を委譲。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移行スケジュール（6か月）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7月の新組織発足をマイルストーンに設定。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66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91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9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39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63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8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2076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部門長説明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91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15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239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763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28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705100" y="2057400"/>
            <a:ext cx="1447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25336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人事制度改定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91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715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239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763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28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705100" y="25146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29908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組織図確定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6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191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15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239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763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28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4229100" y="2971800"/>
            <a:ext cx="2971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81000" y="34480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評価制度移行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6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191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715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239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763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28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753100" y="34290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1000" y="39052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新組織発足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6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191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715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239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763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28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Diamond 56"/>
          <p:cNvSpPr/>
          <p:nvPr/>
        </p:nvSpPr>
        <p:spPr>
          <a:xfrm>
            <a:off x="7886700" y="3924300"/>
            <a:ext cx="228600" cy="228600"/>
          </a:xfrm>
          <a:prstGeom prst="diamond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1000" y="4362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効果測定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67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4191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715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239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763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0287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8801100" y="4343400"/>
            <a:ext cx="2971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改革推進のレビュー観点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OK / 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組織改革で失敗パターンを避けるための原則。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5505450" cy="53340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1000" y="1524000"/>
            <a:ext cx="57150" cy="54292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638300"/>
            <a:ext cx="914400" cy="30480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NG 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NG: トップダウンの一斉移行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全社一斉で新組織を発足させると、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現場の混乱と業績失速のリスクが高い。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過去事例でも半数が失敗。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525" y="4724400"/>
            <a:ext cx="5505450" cy="409575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90525" y="4724400"/>
            <a:ext cx="38100" cy="40957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15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組織変更は段階移行が原則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96025" y="1533525"/>
            <a:ext cx="5505450" cy="53340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86500" y="1524000"/>
            <a:ext cx="57150" cy="54292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77000" y="1638300"/>
            <a:ext cx="914400" cy="30480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770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OK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0884A"/>
                </a:solidFill>
                <a:latin typeface="メイリオ"/>
                <a:ea typeface="メイリオ"/>
                <a:cs typeface="メイリオ"/>
              </a:rPr>
              <a:t>OK: パイロット部署から段階展開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効果検証可能な3部署で先行実施し、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結果を踏まえて他部署へ展開する。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リスクを限定しながら学習を進める。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6025" y="4724400"/>
            <a:ext cx="5505450" cy="409575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96025" y="4724400"/>
            <a:ext cx="38100" cy="40957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70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0884A"/>
                </a:solidFill>
                <a:latin typeface="メイリオ"/>
                <a:ea typeface="メイリオ"/>
                <a:cs typeface="メイリオ"/>
              </a:rPr>
              <a:t>小さく始めて速く学ぶ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53149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1500" y="54102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6388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アジャイル組織への移行は、組織自体がアジャイルに進めるべき。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まずは部門長への説明から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85750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3238500"/>
            <a:ext cx="106680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200" b="0" i="0">
                <a:solidFill>
                  <a:srgbClr val="E6EAF3"/>
                </a:solidFill>
                <a:latin typeface="メイリオ"/>
                <a:ea typeface="メイリオ"/>
                <a:cs typeface="メイリオ"/>
              </a:rPr>
              <a:t>4月中に全部門長（35名）への個別説明を実施。
5月の経営会議で正式決定を取りに行きます。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5334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60000"/>
              </a:lnSpc>
            </a:pPr>
            <a:r>
              <a:rPr sz="16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問い合わせ：経営企画室 佐藤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