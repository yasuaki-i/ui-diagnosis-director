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81000" y="152400"/>
            <a:ext cx="57150" cy="533400"/>
          </a:xfrm>
          <a:prstGeom prst="rect">
            <a:avLst/>
          </a:prstGeom>
          <a:solidFill>
            <a:srgbClr val="D002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33400" y="190500"/>
            <a:ext cx="10858500" cy="3238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2400" b="1" i="0">
                <a:solidFill>
                  <a:srgbClr val="1C366C"/>
                </a:solidFill>
                <a:latin typeface="メイリオ"/>
                <a:ea typeface="メイリオ"/>
                <a:cs typeface="メイリオ"/>
              </a:rPr>
              <a:t>【1】UI診断スコアカード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3400" y="495300"/>
            <a:ext cx="10858500" cy="2095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400" b="0" i="0">
                <a:solidFill>
                  <a:srgbClr val="606060"/>
                </a:solidFill>
                <a:latin typeface="メイリオ"/>
                <a:ea typeface="メイリオ"/>
                <a:cs typeface="メイリオ"/>
              </a:rPr>
              <a:t>サマリ：診断対象・スコア・強み・最優先課題・結論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81000" y="781050"/>
            <a:ext cx="2771775" cy="74295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D4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Rectangle 5"/>
          <p:cNvSpPr/>
          <p:nvPr/>
        </p:nvSpPr>
        <p:spPr>
          <a:xfrm>
            <a:off x="381000" y="781050"/>
            <a:ext cx="38100" cy="742950"/>
          </a:xfrm>
          <a:prstGeom prst="rect">
            <a:avLst/>
          </a:prstGeom>
          <a:solidFill>
            <a:srgbClr val="1C36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533400" y="876300"/>
            <a:ext cx="2543175" cy="6096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606060"/>
                </a:solidFill>
                <a:latin typeface="メイリオ"/>
                <a:ea typeface="メイリオ"/>
                <a:cs typeface="メイリオ"/>
              </a:rPr>
              <a:t>診断対象</a:t>
            </a:r>
          </a:p>
          <a:p>
            <a:pPr algn="l">
              <a:lnSpc>
                <a:spcPct val="110000"/>
              </a:lnSpc>
            </a:pPr>
            <a:r>
              <a:rPr sz="1800" b="1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スピークアップ英会話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267075" y="781050"/>
            <a:ext cx="2771775" cy="74295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D4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ectangle 8"/>
          <p:cNvSpPr/>
          <p:nvPr/>
        </p:nvSpPr>
        <p:spPr>
          <a:xfrm>
            <a:off x="3267075" y="781050"/>
            <a:ext cx="38100" cy="742950"/>
          </a:xfrm>
          <a:prstGeom prst="rect">
            <a:avLst/>
          </a:prstGeom>
          <a:solidFill>
            <a:srgbClr val="1C36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3419475" y="876300"/>
            <a:ext cx="2543175" cy="6096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606060"/>
                </a:solidFill>
                <a:latin typeface="メイリオ"/>
                <a:ea typeface="メイリオ"/>
                <a:cs typeface="メイリオ"/>
              </a:rPr>
              <a:t>入力種別</a:t>
            </a:r>
          </a:p>
          <a:p>
            <a:pPr algn="l">
              <a:lnSpc>
                <a:spcPct val="110000"/>
              </a:lnSpc>
            </a:pPr>
            <a:r>
              <a:rPr sz="1600" b="0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スクリーンショット画像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53150" y="781050"/>
            <a:ext cx="2771775" cy="74295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D4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ectangle 11"/>
          <p:cNvSpPr/>
          <p:nvPr/>
        </p:nvSpPr>
        <p:spPr>
          <a:xfrm>
            <a:off x="6153150" y="781050"/>
            <a:ext cx="38100" cy="742950"/>
          </a:xfrm>
          <a:prstGeom prst="rect">
            <a:avLst/>
          </a:prstGeom>
          <a:solidFill>
            <a:srgbClr val="D002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6305550" y="876300"/>
            <a:ext cx="2543175" cy="6096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606060"/>
                </a:solidFill>
                <a:latin typeface="メイリオ"/>
                <a:ea typeface="メイリオ"/>
                <a:cs typeface="メイリオ"/>
              </a:rPr>
              <a:t>総合スコア</a:t>
            </a:r>
          </a:p>
          <a:p>
            <a:pPr algn="l">
              <a:lnSpc>
                <a:spcPct val="110000"/>
              </a:lnSpc>
            </a:pPr>
            <a:r>
              <a:rPr sz="2600" b="1" i="0">
                <a:solidFill>
                  <a:srgbClr val="1C366C"/>
                </a:solidFill>
                <a:latin typeface="メイリオ"/>
                <a:ea typeface="メイリオ"/>
                <a:cs typeface="メイリオ"/>
              </a:rPr>
              <a:t>30</a:t>
            </a:r>
            <a:r>
              <a:rPr sz="1400" b="0" i="0">
                <a:solidFill>
                  <a:srgbClr val="606060"/>
                </a:solidFill>
                <a:latin typeface="メイリオ"/>
                <a:ea typeface="メイリオ"/>
                <a:cs typeface="メイリオ"/>
              </a:rPr>
              <a:t>   / 50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039225" y="781050"/>
            <a:ext cx="2771775" cy="74295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D4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ectangle 14"/>
          <p:cNvSpPr/>
          <p:nvPr/>
        </p:nvSpPr>
        <p:spPr>
          <a:xfrm>
            <a:off x="9039225" y="781050"/>
            <a:ext cx="38100" cy="742950"/>
          </a:xfrm>
          <a:prstGeom prst="rect">
            <a:avLst/>
          </a:prstGeom>
          <a:solidFill>
            <a:srgbClr val="D002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9191625" y="876300"/>
            <a:ext cx="2543175" cy="6096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606060"/>
                </a:solidFill>
                <a:latin typeface="メイリオ"/>
                <a:ea typeface="メイリオ"/>
                <a:cs typeface="メイリオ"/>
              </a:rPr>
              <a:t>ランク</a:t>
            </a:r>
          </a:p>
          <a:p>
            <a:pPr algn="l">
              <a:lnSpc>
                <a:spcPct val="110000"/>
              </a:lnSpc>
            </a:pPr>
            <a:r>
              <a:rPr sz="2600" b="1" i="0">
                <a:solidFill>
                  <a:srgbClr val="1C366C"/>
                </a:solidFill>
                <a:latin typeface="メイリオ"/>
                <a:ea typeface="メイリオ"/>
                <a:cs typeface="メイリオ"/>
              </a:rPr>
              <a:t>B</a:t>
            </a:r>
            <a:r>
              <a:rPr sz="1400" b="0" i="0">
                <a:solidFill>
                  <a:srgbClr val="606060"/>
                </a:solidFill>
                <a:latin typeface="メイリオ"/>
                <a:ea typeface="メイリオ"/>
                <a:cs typeface="メイリオ"/>
              </a:rPr>
              <a:t>   標準的（改善余地あり）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81000" y="1714500"/>
            <a:ext cx="5638800" cy="304800"/>
          </a:xfrm>
          <a:prstGeom prst="rect">
            <a:avLst/>
          </a:prstGeom>
          <a:solidFill>
            <a:srgbClr val="1C36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533400" y="1714500"/>
            <a:ext cx="5334000" cy="3048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◎ 強み（活かすべき点）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81000" y="2019300"/>
            <a:ext cx="5638800" cy="3695700"/>
          </a:xfrm>
          <a:prstGeom prst="rect">
            <a:avLst/>
          </a:prstGeom>
          <a:solidFill>
            <a:srgbClr val="F4F5F8"/>
          </a:solidFill>
          <a:ln w="6350">
            <a:solidFill>
              <a:srgbClr val="D0D4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571500" y="2171700"/>
            <a:ext cx="5257800" cy="33909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60000"/>
              </a:lnSpc>
            </a:pPr>
            <a:r>
              <a:rPr sz="1600" b="0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● 余白が広く、読みやすいレイアウトで安心感がある</a:t>
            </a:r>
          </a:p>
          <a:p>
            <a:pPr algn="l">
              <a:lnSpc>
                <a:spcPct val="160000"/>
              </a:lnSpc>
            </a:pPr>
            <a:r>
              <a:rPr sz="1600" b="0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● 料金・特徴・講師情報が整理され、サービス概要を把握しやすい</a:t>
            </a:r>
          </a:p>
          <a:p>
            <a:pPr algn="l">
              <a:lnSpc>
                <a:spcPct val="160000"/>
              </a:lnSpc>
            </a:pPr>
            <a:r>
              <a:rPr sz="1600" b="0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● 青基調の配色で教育サービスらしい信頼感が出ている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172200" y="1714500"/>
            <a:ext cx="5638800" cy="304800"/>
          </a:xfrm>
          <a:prstGeom prst="rect">
            <a:avLst/>
          </a:prstGeom>
          <a:solidFill>
            <a:srgbClr val="D002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6324600" y="1714500"/>
            <a:ext cx="5334000" cy="3048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⚠ 最優先で直すべき点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172200" y="2019300"/>
            <a:ext cx="5638800" cy="3695700"/>
          </a:xfrm>
          <a:prstGeom prst="rect">
            <a:avLst/>
          </a:prstGeom>
          <a:solidFill>
            <a:srgbClr val="F4F5F8"/>
          </a:solidFill>
          <a:ln w="6350">
            <a:solidFill>
              <a:srgbClr val="D0D4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6362700" y="2171700"/>
            <a:ext cx="5257800" cy="33909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60000"/>
              </a:lnSpc>
            </a:pPr>
            <a:r>
              <a:rPr sz="1600" b="0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1. ファーストビューに主要CTAがなく、次の行動が分かりにくい</a:t>
            </a:r>
          </a:p>
          <a:p>
            <a:pPr algn="l">
              <a:lnSpc>
                <a:spcPct val="160000"/>
              </a:lnSpc>
            </a:pPr>
            <a:r>
              <a:rPr sz="1600" b="0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2. 受講後の成果・具体的なベネフィットが弱く、比較検討時の決め手に欠ける</a:t>
            </a:r>
          </a:p>
          <a:p>
            <a:pPr algn="l">
              <a:lnSpc>
                <a:spcPct val="160000"/>
              </a:lnSpc>
            </a:pPr>
            <a:r>
              <a:rPr sz="1600" b="0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3. 受講生の声が短く、信頼材料としての説得力が不足している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81000" y="5848350"/>
            <a:ext cx="11430000" cy="304800"/>
          </a:xfrm>
          <a:prstGeom prst="rect">
            <a:avLst/>
          </a:prstGeom>
          <a:solidFill>
            <a:srgbClr val="1C36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Rectangle 25"/>
          <p:cNvSpPr/>
          <p:nvPr/>
        </p:nvSpPr>
        <p:spPr>
          <a:xfrm>
            <a:off x="381000" y="5848350"/>
            <a:ext cx="762000" cy="304800"/>
          </a:xfrm>
          <a:prstGeom prst="rect">
            <a:avLst/>
          </a:prstGeom>
          <a:solidFill>
            <a:srgbClr val="D002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381000" y="5848350"/>
            <a:ext cx="762000" cy="3048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結論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52500" y="5848350"/>
            <a:ext cx="10763250" cy="3048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FV内CTA・成果訴求・信頼材料の3点を最優先で改善し、無料体験への離脱を防ぐ。</a:t>
            </a:r>
          </a:p>
        </p:txBody>
      </p:sp>
      <p:sp>
        <p:nvSpPr>
          <p:cNvPr id="29" name="Rectangle 28"/>
          <p:cNvSpPr/>
          <p:nvPr/>
        </p:nvSpPr>
        <p:spPr>
          <a:xfrm>
            <a:off x="0" y="6286500"/>
            <a:ext cx="12192000" cy="9525"/>
          </a:xfrm>
          <a:prstGeom prst="rect">
            <a:avLst/>
          </a:prstGeom>
          <a:solidFill>
            <a:srgbClr val="CCCC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381000" y="6496050"/>
            <a:ext cx="3810000" cy="2286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400" b="1" i="0">
                <a:solidFill>
                  <a:srgbClr val="1C366C"/>
                </a:solidFill>
                <a:latin typeface="メイリオ"/>
                <a:ea typeface="メイリオ"/>
                <a:cs typeface="メイリオ"/>
              </a:rPr>
              <a:t>UI/UX診断 by GPTs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858500" y="6524625"/>
            <a:ext cx="1143000" cy="2286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/>
            <a:r>
              <a:rPr sz="1400" b="0" i="0">
                <a:solidFill>
                  <a:srgbClr val="262626"/>
                </a:solidFill>
                <a:latin typeface="メイリオ"/>
                <a:ea typeface="メイリオ"/>
                <a:cs typeface="メイリオ"/>
              </a:rPr>
              <a:t>1 / 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81000" y="152400"/>
            <a:ext cx="57150" cy="533400"/>
          </a:xfrm>
          <a:prstGeom prst="rect">
            <a:avLst/>
          </a:prstGeom>
          <a:solidFill>
            <a:srgbClr val="D002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33400" y="190500"/>
            <a:ext cx="10858500" cy="3238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2400" b="1" i="0">
                <a:solidFill>
                  <a:srgbClr val="1C366C"/>
                </a:solidFill>
                <a:latin typeface="メイリオ"/>
                <a:ea typeface="メイリオ"/>
                <a:cs typeface="メイリオ"/>
              </a:rPr>
              <a:t>【1】UI診断スコアカード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3400" y="495300"/>
            <a:ext cx="10858500" cy="2095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400" b="0" i="0">
                <a:solidFill>
                  <a:srgbClr val="606060"/>
                </a:solidFill>
                <a:latin typeface="メイリオ"/>
                <a:ea typeface="メイリオ"/>
                <a:cs typeface="メイリオ"/>
              </a:rPr>
              <a:t>10項目評価：各項目のスコアと一言所見（全文表示）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81000" y="781050"/>
            <a:ext cx="2771775" cy="74295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D4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Rectangle 5"/>
          <p:cNvSpPr/>
          <p:nvPr/>
        </p:nvSpPr>
        <p:spPr>
          <a:xfrm>
            <a:off x="381000" y="781050"/>
            <a:ext cx="38100" cy="742950"/>
          </a:xfrm>
          <a:prstGeom prst="rect">
            <a:avLst/>
          </a:prstGeom>
          <a:solidFill>
            <a:srgbClr val="1C36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533400" y="876300"/>
            <a:ext cx="2543175" cy="6096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606060"/>
                </a:solidFill>
                <a:latin typeface="メイリオ"/>
                <a:ea typeface="メイリオ"/>
                <a:cs typeface="メイリオ"/>
              </a:rPr>
              <a:t>診断対象</a:t>
            </a:r>
          </a:p>
          <a:p>
            <a:pPr algn="l">
              <a:lnSpc>
                <a:spcPct val="110000"/>
              </a:lnSpc>
            </a:pPr>
            <a:r>
              <a:rPr sz="1800" b="1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スピークアップ英会話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267075" y="781050"/>
            <a:ext cx="2771775" cy="74295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D4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ectangle 8"/>
          <p:cNvSpPr/>
          <p:nvPr/>
        </p:nvSpPr>
        <p:spPr>
          <a:xfrm>
            <a:off x="3267075" y="781050"/>
            <a:ext cx="38100" cy="742950"/>
          </a:xfrm>
          <a:prstGeom prst="rect">
            <a:avLst/>
          </a:prstGeom>
          <a:solidFill>
            <a:srgbClr val="1C36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3419475" y="876300"/>
            <a:ext cx="2543175" cy="6096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606060"/>
                </a:solidFill>
                <a:latin typeface="メイリオ"/>
                <a:ea typeface="メイリオ"/>
                <a:cs typeface="メイリオ"/>
              </a:rPr>
              <a:t>入力種別</a:t>
            </a:r>
          </a:p>
          <a:p>
            <a:pPr algn="l">
              <a:lnSpc>
                <a:spcPct val="110000"/>
              </a:lnSpc>
            </a:pPr>
            <a:r>
              <a:rPr sz="1600" b="0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スクリーンショット画像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53150" y="781050"/>
            <a:ext cx="2771775" cy="74295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D4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ectangle 11"/>
          <p:cNvSpPr/>
          <p:nvPr/>
        </p:nvSpPr>
        <p:spPr>
          <a:xfrm>
            <a:off x="6153150" y="781050"/>
            <a:ext cx="38100" cy="742950"/>
          </a:xfrm>
          <a:prstGeom prst="rect">
            <a:avLst/>
          </a:prstGeom>
          <a:solidFill>
            <a:srgbClr val="D002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6305550" y="876300"/>
            <a:ext cx="2543175" cy="6096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606060"/>
                </a:solidFill>
                <a:latin typeface="メイリオ"/>
                <a:ea typeface="メイリオ"/>
                <a:cs typeface="メイリオ"/>
              </a:rPr>
              <a:t>総合スコア</a:t>
            </a:r>
          </a:p>
          <a:p>
            <a:pPr algn="l">
              <a:lnSpc>
                <a:spcPct val="110000"/>
              </a:lnSpc>
            </a:pPr>
            <a:r>
              <a:rPr sz="2600" b="1" i="0">
                <a:solidFill>
                  <a:srgbClr val="1C366C"/>
                </a:solidFill>
                <a:latin typeface="メイリオ"/>
                <a:ea typeface="メイリオ"/>
                <a:cs typeface="メイリオ"/>
              </a:rPr>
              <a:t>30</a:t>
            </a:r>
            <a:r>
              <a:rPr sz="1400" b="0" i="0">
                <a:solidFill>
                  <a:srgbClr val="606060"/>
                </a:solidFill>
                <a:latin typeface="メイリオ"/>
                <a:ea typeface="メイリオ"/>
                <a:cs typeface="メイリオ"/>
              </a:rPr>
              <a:t>   / 50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039225" y="781050"/>
            <a:ext cx="2771775" cy="74295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D4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ectangle 14"/>
          <p:cNvSpPr/>
          <p:nvPr/>
        </p:nvSpPr>
        <p:spPr>
          <a:xfrm>
            <a:off x="9039225" y="781050"/>
            <a:ext cx="38100" cy="742950"/>
          </a:xfrm>
          <a:prstGeom prst="rect">
            <a:avLst/>
          </a:prstGeom>
          <a:solidFill>
            <a:srgbClr val="D002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9191625" y="876300"/>
            <a:ext cx="2543175" cy="6096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606060"/>
                </a:solidFill>
                <a:latin typeface="メイリオ"/>
                <a:ea typeface="メイリオ"/>
                <a:cs typeface="メイリオ"/>
              </a:rPr>
              <a:t>ランク</a:t>
            </a:r>
          </a:p>
          <a:p>
            <a:pPr algn="l">
              <a:lnSpc>
                <a:spcPct val="110000"/>
              </a:lnSpc>
            </a:pPr>
            <a:r>
              <a:rPr sz="2600" b="1" i="0">
                <a:solidFill>
                  <a:srgbClr val="1C366C"/>
                </a:solidFill>
                <a:latin typeface="メイリオ"/>
                <a:ea typeface="メイリオ"/>
                <a:cs typeface="メイリオ"/>
              </a:rPr>
              <a:t>B</a:t>
            </a:r>
            <a:r>
              <a:rPr sz="1400" b="0" i="0">
                <a:solidFill>
                  <a:srgbClr val="606060"/>
                </a:solidFill>
                <a:latin typeface="メイリオ"/>
                <a:ea typeface="メイリオ"/>
                <a:cs typeface="メイリオ"/>
              </a:rPr>
              <a:t>   標準的（改善余地あり）</a:t>
            </a:r>
          </a:p>
        </p:txBody>
      </p:sp>
      <p:graphicFrame>
        <p:nvGraphicFramePr>
          <p:cNvPr id="17" name="Table 16"/>
          <p:cNvGraphicFramePr>
            <a:graphicFrameLocks noGrp="1"/>
          </p:cNvGraphicFramePr>
          <p:nvPr/>
        </p:nvGraphicFramePr>
        <p:xfrm>
          <a:off x="381000" y="1714500"/>
          <a:ext cx="11430000" cy="3124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71500"/>
                <a:gridCol w="1943100"/>
                <a:gridCol w="800100"/>
                <a:gridCol w="8115300"/>
              </a:tblGrid>
              <a:tr h="266700">
                <a:tc>
                  <a:txBody>
                    <a:bodyPr wrap="none" anchor="ctr">
                      <a:noAutofit/>
                    </a:bodyPr>
                    <a:lstStyle/>
                    <a:p>
                      <a:pPr algn="ctr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1" i="0">
                          <a:solidFill>
                            <a:srgbClr val="FFFFFF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No</a:t>
                      </a:r>
                    </a:p>
                  </a:txBody>
                  <a:tcPr marL="101600" marR="101600" marT="25400" marB="25400">
                    <a:solidFill>
                      <a:srgbClr val="1C366C"/>
                    </a:solidFill>
                  </a:tcPr>
                </a:tc>
                <a:tc>
                  <a:txBody>
                    <a:bodyPr wrap="none" anchor="ctr">
                      <a:noAutofit/>
                    </a:bodyPr>
                    <a:lstStyle/>
                    <a:p>
                      <a:pPr algn="l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1" i="0">
                          <a:solidFill>
                            <a:srgbClr val="FFFFFF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項目</a:t>
                      </a:r>
                    </a:p>
                  </a:txBody>
                  <a:tcPr marL="101600" marR="101600" marT="25400" marB="25400">
                    <a:solidFill>
                      <a:srgbClr val="1C366C"/>
                    </a:solidFill>
                  </a:tcPr>
                </a:tc>
                <a:tc>
                  <a:txBody>
                    <a:bodyPr wrap="none" anchor="ctr">
                      <a:noAutofit/>
                    </a:bodyPr>
                    <a:lstStyle/>
                    <a:p>
                      <a:pPr algn="ctr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1" i="0">
                          <a:solidFill>
                            <a:srgbClr val="FFFFFF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スコア</a:t>
                      </a:r>
                    </a:p>
                  </a:txBody>
                  <a:tcPr marL="101600" marR="101600" marT="25400" marB="25400">
                    <a:solidFill>
                      <a:srgbClr val="1C366C"/>
                    </a:solidFill>
                  </a:tcPr>
                </a:tc>
                <a:tc>
                  <a:txBody>
                    <a:bodyPr wrap="none" anchor="ctr">
                      <a:noAutofit/>
                    </a:bodyPr>
                    <a:lstStyle/>
                    <a:p>
                      <a:pPr algn="l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1" i="0">
                          <a:solidFill>
                            <a:srgbClr val="FFFFFF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一言所見</a:t>
                      </a:r>
                    </a:p>
                  </a:txBody>
                  <a:tcPr marL="101600" marR="101600" marT="25400" marB="25400">
                    <a:solidFill>
                      <a:srgbClr val="1C366C"/>
                    </a:solidFill>
                  </a:tcPr>
                </a:tc>
              </a:tr>
              <a:tr h="285750">
                <a:tc>
                  <a:txBody>
                    <a:bodyPr wrap="none" anchor="ctr">
                      <a:noAutofit/>
                    </a:bodyPr>
                    <a:lstStyle/>
                    <a:p>
                      <a:pPr algn="ctr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 i="0">
                          <a:solidFill>
                            <a:srgbClr val="404040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1</a:t>
                      </a:r>
                    </a:p>
                  </a:txBody>
                  <a:tcPr marL="101600" marR="1016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none" anchor="ctr">
                      <a:noAutofit/>
                    </a:bodyPr>
                    <a:lstStyle/>
                    <a:p>
                      <a:pPr algn="l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1" i="0">
                          <a:solidFill>
                            <a:srgbClr val="404040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ファーストビュー</a:t>
                      </a:r>
                    </a:p>
                  </a:txBody>
                  <a:tcPr marL="101600" marR="1016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none" anchor="ctr">
                      <a:noAutofit/>
                    </a:bodyPr>
                    <a:lstStyle/>
                    <a:p>
                      <a:pPr algn="ctr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 i="0">
                          <a:solidFill>
                            <a:srgbClr val="404040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3/5</a:t>
                      </a:r>
                    </a:p>
                  </a:txBody>
                  <a:tcPr marL="101600" marR="1016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 i="0">
                          <a:solidFill>
                            <a:srgbClr val="404040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清潔感はあるが、体験価値と成果が一瞬で伝わりにくい</a:t>
                      </a:r>
                    </a:p>
                  </a:txBody>
                  <a:tcPr marL="101600" marR="101600" marT="25400" marB="25400">
                    <a:solidFill>
                      <a:srgbClr val="FFFFFF"/>
                    </a:solidFill>
                  </a:tcPr>
                </a:tc>
              </a:tr>
              <a:tr h="285750">
                <a:tc>
                  <a:txBody>
                    <a:bodyPr wrap="none" anchor="ctr">
                      <a:noAutofit/>
                    </a:bodyPr>
                    <a:lstStyle/>
                    <a:p>
                      <a:pPr algn="ctr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 i="0">
                          <a:solidFill>
                            <a:srgbClr val="404040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2</a:t>
                      </a:r>
                    </a:p>
                  </a:txBody>
                  <a:tcPr marL="101600" marR="101600" marT="25400" marB="25400">
                    <a:solidFill>
                      <a:srgbClr val="F8F9FB"/>
                    </a:solidFill>
                  </a:tcPr>
                </a:tc>
                <a:tc>
                  <a:txBody>
                    <a:bodyPr wrap="none" anchor="ctr">
                      <a:noAutofit/>
                    </a:bodyPr>
                    <a:lstStyle/>
                    <a:p>
                      <a:pPr algn="l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1" i="0">
                          <a:solidFill>
                            <a:srgbClr val="404040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キャッチコピー</a:t>
                      </a:r>
                    </a:p>
                  </a:txBody>
                  <a:tcPr marL="101600" marR="101600" marT="25400" marB="25400">
                    <a:solidFill>
                      <a:srgbClr val="F8F9FB"/>
                    </a:solidFill>
                  </a:tcPr>
                </a:tc>
                <a:tc>
                  <a:txBody>
                    <a:bodyPr wrap="none" anchor="ctr">
                      <a:noAutofit/>
                    </a:bodyPr>
                    <a:lstStyle/>
                    <a:p>
                      <a:pPr algn="ctr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 i="0">
                          <a:solidFill>
                            <a:srgbClr val="404040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3/5</a:t>
                      </a:r>
                    </a:p>
                  </a:txBody>
                  <a:tcPr marL="101600" marR="101600" marT="25400" marB="25400">
                    <a:solidFill>
                      <a:srgbClr val="F8F9FB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 i="0">
                          <a:solidFill>
                            <a:srgbClr val="404040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開始喚起は明快だが、選ばれる理由が弱い</a:t>
                      </a:r>
                    </a:p>
                  </a:txBody>
                  <a:tcPr marL="101600" marR="101600" marT="25400" marB="25400">
                    <a:solidFill>
                      <a:srgbClr val="F8F9FB"/>
                    </a:solidFill>
                  </a:tcPr>
                </a:tc>
              </a:tr>
              <a:tr h="285750">
                <a:tc>
                  <a:txBody>
                    <a:bodyPr wrap="none" anchor="ctr">
                      <a:noAutofit/>
                    </a:bodyPr>
                    <a:lstStyle/>
                    <a:p>
                      <a:pPr algn="ctr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 i="0">
                          <a:solidFill>
                            <a:srgbClr val="404040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3</a:t>
                      </a:r>
                    </a:p>
                  </a:txBody>
                  <a:tcPr marL="101600" marR="1016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none" anchor="ctr">
                      <a:noAutofit/>
                    </a:bodyPr>
                    <a:lstStyle/>
                    <a:p>
                      <a:pPr algn="l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1" i="0">
                          <a:solidFill>
                            <a:srgbClr val="404040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CTA設計</a:t>
                      </a:r>
                    </a:p>
                  </a:txBody>
                  <a:tcPr marL="101600" marR="1016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none" anchor="ctr">
                      <a:noAutofit/>
                    </a:bodyPr>
                    <a:lstStyle/>
                    <a:p>
                      <a:pPr algn="ctr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1" i="0">
                          <a:solidFill>
                            <a:srgbClr val="D0021B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1/5</a:t>
                      </a:r>
                    </a:p>
                  </a:txBody>
                  <a:tcPr marL="101600" marR="1016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 i="0">
                          <a:solidFill>
                            <a:srgbClr val="404040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FV・中盤に主要CTAがなく行動導線が弱い</a:t>
                      </a:r>
                    </a:p>
                  </a:txBody>
                  <a:tcPr marL="101600" marR="101600" marT="25400" marB="25400">
                    <a:solidFill>
                      <a:srgbClr val="FFFFFF"/>
                    </a:solidFill>
                  </a:tcPr>
                </a:tc>
              </a:tr>
              <a:tr h="285750">
                <a:tc>
                  <a:txBody>
                    <a:bodyPr wrap="none" anchor="ctr">
                      <a:noAutofit/>
                    </a:bodyPr>
                    <a:lstStyle/>
                    <a:p>
                      <a:pPr algn="ctr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 i="0">
                          <a:solidFill>
                            <a:srgbClr val="404040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4</a:t>
                      </a:r>
                    </a:p>
                  </a:txBody>
                  <a:tcPr marL="101600" marR="101600" marT="25400" marB="25400">
                    <a:solidFill>
                      <a:srgbClr val="F8F9FB"/>
                    </a:solidFill>
                  </a:tcPr>
                </a:tc>
                <a:tc>
                  <a:txBody>
                    <a:bodyPr wrap="none" anchor="ctr">
                      <a:noAutofit/>
                    </a:bodyPr>
                    <a:lstStyle/>
                    <a:p>
                      <a:pPr algn="l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1" i="0">
                          <a:solidFill>
                            <a:srgbClr val="404040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信頼性・権威性</a:t>
                      </a:r>
                    </a:p>
                  </a:txBody>
                  <a:tcPr marL="101600" marR="101600" marT="25400" marB="25400">
                    <a:solidFill>
                      <a:srgbClr val="F8F9FB"/>
                    </a:solidFill>
                  </a:tcPr>
                </a:tc>
                <a:tc>
                  <a:txBody>
                    <a:bodyPr wrap="none" anchor="ctr">
                      <a:noAutofit/>
                    </a:bodyPr>
                    <a:lstStyle/>
                    <a:p>
                      <a:pPr algn="ctr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 i="0">
                          <a:solidFill>
                            <a:srgbClr val="404040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3/5</a:t>
                      </a:r>
                    </a:p>
                  </a:txBody>
                  <a:tcPr marL="101600" marR="101600" marT="25400" marB="25400">
                    <a:solidFill>
                      <a:srgbClr val="F8F9FB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 i="0">
                          <a:solidFill>
                            <a:srgbClr val="404040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実績数値はあるが、根拠や証拠の厚みが不足</a:t>
                      </a:r>
                    </a:p>
                  </a:txBody>
                  <a:tcPr marL="101600" marR="101600" marT="25400" marB="25400">
                    <a:solidFill>
                      <a:srgbClr val="F8F9FB"/>
                    </a:solidFill>
                  </a:tcPr>
                </a:tc>
              </a:tr>
              <a:tr h="285750">
                <a:tc>
                  <a:txBody>
                    <a:bodyPr wrap="none" anchor="ctr">
                      <a:noAutofit/>
                    </a:bodyPr>
                    <a:lstStyle/>
                    <a:p>
                      <a:pPr algn="ctr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 i="0">
                          <a:solidFill>
                            <a:srgbClr val="404040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5</a:t>
                      </a:r>
                    </a:p>
                  </a:txBody>
                  <a:tcPr marL="101600" marR="1016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none" anchor="ctr">
                      <a:noAutofit/>
                    </a:bodyPr>
                    <a:lstStyle/>
                    <a:p>
                      <a:pPr algn="l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1" i="0">
                          <a:solidFill>
                            <a:srgbClr val="404040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フォーム設計</a:t>
                      </a:r>
                    </a:p>
                  </a:txBody>
                  <a:tcPr marL="101600" marR="1016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none" anchor="ctr">
                      <a:noAutofit/>
                    </a:bodyPr>
                    <a:lstStyle/>
                    <a:p>
                      <a:pPr algn="ctr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1" i="0">
                          <a:solidFill>
                            <a:srgbClr val="D0021B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1/5</a:t>
                      </a:r>
                    </a:p>
                  </a:txBody>
                  <a:tcPr marL="101600" marR="1016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 i="0">
                          <a:solidFill>
                            <a:srgbClr val="404040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問い合わせ導線はあるが入力前の不安解消が少ない</a:t>
                      </a:r>
                    </a:p>
                  </a:txBody>
                  <a:tcPr marL="101600" marR="101600" marT="25400" marB="25400">
                    <a:solidFill>
                      <a:srgbClr val="FFFFFF"/>
                    </a:solidFill>
                  </a:tcPr>
                </a:tc>
              </a:tr>
              <a:tr h="285750">
                <a:tc>
                  <a:txBody>
                    <a:bodyPr wrap="none" anchor="ctr">
                      <a:noAutofit/>
                    </a:bodyPr>
                    <a:lstStyle/>
                    <a:p>
                      <a:pPr algn="ctr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 i="0">
                          <a:solidFill>
                            <a:srgbClr val="404040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6</a:t>
                      </a:r>
                    </a:p>
                  </a:txBody>
                  <a:tcPr marL="101600" marR="101600" marT="25400" marB="25400">
                    <a:solidFill>
                      <a:srgbClr val="F8F9FB"/>
                    </a:solidFill>
                  </a:tcPr>
                </a:tc>
                <a:tc>
                  <a:txBody>
                    <a:bodyPr wrap="none" anchor="ctr">
                      <a:noAutofit/>
                    </a:bodyPr>
                    <a:lstStyle/>
                    <a:p>
                      <a:pPr algn="l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1" i="0">
                          <a:solidFill>
                            <a:srgbClr val="404040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レスポンシブ</a:t>
                      </a:r>
                    </a:p>
                  </a:txBody>
                  <a:tcPr marL="101600" marR="101600" marT="25400" marB="25400">
                    <a:solidFill>
                      <a:srgbClr val="F8F9FB"/>
                    </a:solidFill>
                  </a:tcPr>
                </a:tc>
                <a:tc>
                  <a:txBody>
                    <a:bodyPr wrap="none" anchor="ctr">
                      <a:noAutofit/>
                    </a:bodyPr>
                    <a:lstStyle/>
                    <a:p>
                      <a:pPr algn="ctr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 i="0">
                          <a:solidFill>
                            <a:srgbClr val="404040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3/5</a:t>
                      </a:r>
                    </a:p>
                  </a:txBody>
                  <a:tcPr marL="101600" marR="101600" marT="25400" marB="25400">
                    <a:solidFill>
                      <a:srgbClr val="F8F9FB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 i="0">
                          <a:solidFill>
                            <a:srgbClr val="404040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PC表示は整っているが、SPでCTA固定が必要</a:t>
                      </a:r>
                    </a:p>
                  </a:txBody>
                  <a:tcPr marL="101600" marR="101600" marT="25400" marB="25400">
                    <a:solidFill>
                      <a:srgbClr val="F8F9FB"/>
                    </a:solidFill>
                  </a:tcPr>
                </a:tc>
              </a:tr>
              <a:tr h="285750">
                <a:tc>
                  <a:txBody>
                    <a:bodyPr wrap="none" anchor="ctr">
                      <a:noAutofit/>
                    </a:bodyPr>
                    <a:lstStyle/>
                    <a:p>
                      <a:pPr algn="ctr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 i="0">
                          <a:solidFill>
                            <a:srgbClr val="404040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7</a:t>
                      </a:r>
                    </a:p>
                  </a:txBody>
                  <a:tcPr marL="101600" marR="1016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none" anchor="ctr">
                      <a:noAutofit/>
                    </a:bodyPr>
                    <a:lstStyle/>
                    <a:p>
                      <a:pPr algn="l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1" i="0">
                          <a:solidFill>
                            <a:srgbClr val="404040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読みやすさ</a:t>
                      </a:r>
                    </a:p>
                  </a:txBody>
                  <a:tcPr marL="101600" marR="1016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none" anchor="ctr">
                      <a:noAutofit/>
                    </a:bodyPr>
                    <a:lstStyle/>
                    <a:p>
                      <a:pPr algn="ctr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1" i="0">
                          <a:solidFill>
                            <a:srgbClr val="1C366C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5/5</a:t>
                      </a:r>
                    </a:p>
                  </a:txBody>
                  <a:tcPr marL="101600" marR="1016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 i="0">
                          <a:solidFill>
                            <a:srgbClr val="404040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余白・行間・色数が整理され読みやすい</a:t>
                      </a:r>
                    </a:p>
                  </a:txBody>
                  <a:tcPr marL="101600" marR="101600" marT="25400" marB="25400">
                    <a:solidFill>
                      <a:srgbClr val="FFFFFF"/>
                    </a:solidFill>
                  </a:tcPr>
                </a:tc>
              </a:tr>
              <a:tr h="285750">
                <a:tc>
                  <a:txBody>
                    <a:bodyPr wrap="none" anchor="ctr">
                      <a:noAutofit/>
                    </a:bodyPr>
                    <a:lstStyle/>
                    <a:p>
                      <a:pPr algn="ctr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 i="0">
                          <a:solidFill>
                            <a:srgbClr val="404040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8</a:t>
                      </a:r>
                    </a:p>
                  </a:txBody>
                  <a:tcPr marL="101600" marR="101600" marT="25400" marB="25400">
                    <a:solidFill>
                      <a:srgbClr val="F8F9FB"/>
                    </a:solidFill>
                  </a:tcPr>
                </a:tc>
                <a:tc>
                  <a:txBody>
                    <a:bodyPr wrap="none" anchor="ctr">
                      <a:noAutofit/>
                    </a:bodyPr>
                    <a:lstStyle/>
                    <a:p>
                      <a:pPr algn="l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1" i="0">
                          <a:solidFill>
                            <a:srgbClr val="404040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情報設計</a:t>
                      </a:r>
                    </a:p>
                  </a:txBody>
                  <a:tcPr marL="101600" marR="101600" marT="25400" marB="25400">
                    <a:solidFill>
                      <a:srgbClr val="F8F9FB"/>
                    </a:solidFill>
                  </a:tcPr>
                </a:tc>
                <a:tc>
                  <a:txBody>
                    <a:bodyPr wrap="none" anchor="ctr">
                      <a:noAutofit/>
                    </a:bodyPr>
                    <a:lstStyle/>
                    <a:p>
                      <a:pPr algn="ctr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 i="0">
                          <a:solidFill>
                            <a:srgbClr val="404040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3/5</a:t>
                      </a:r>
                    </a:p>
                  </a:txBody>
                  <a:tcPr marL="101600" marR="101600" marT="25400" marB="25400">
                    <a:solidFill>
                      <a:srgbClr val="F8F9FB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 i="0">
                          <a:solidFill>
                            <a:srgbClr val="404040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特徴と料金は見やすいが、比較・成果・不安解消が不足</a:t>
                      </a:r>
                    </a:p>
                  </a:txBody>
                  <a:tcPr marL="101600" marR="101600" marT="25400" marB="25400">
                    <a:solidFill>
                      <a:srgbClr val="F8F9FB"/>
                    </a:solidFill>
                  </a:tcPr>
                </a:tc>
              </a:tr>
              <a:tr h="285750">
                <a:tc>
                  <a:txBody>
                    <a:bodyPr wrap="none" anchor="ctr">
                      <a:noAutofit/>
                    </a:bodyPr>
                    <a:lstStyle/>
                    <a:p>
                      <a:pPr algn="ctr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 i="0">
                          <a:solidFill>
                            <a:srgbClr val="404040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9</a:t>
                      </a:r>
                    </a:p>
                  </a:txBody>
                  <a:tcPr marL="101600" marR="1016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none" anchor="ctr">
                      <a:noAutofit/>
                    </a:bodyPr>
                    <a:lstStyle/>
                    <a:p>
                      <a:pPr algn="l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1" i="0">
                          <a:solidFill>
                            <a:srgbClr val="404040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ブランド一貫性</a:t>
                      </a:r>
                    </a:p>
                  </a:txBody>
                  <a:tcPr marL="101600" marR="1016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none" anchor="ctr">
                      <a:noAutofit/>
                    </a:bodyPr>
                    <a:lstStyle/>
                    <a:p>
                      <a:pPr algn="ctr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1" i="0">
                          <a:solidFill>
                            <a:srgbClr val="1C366C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5/5</a:t>
                      </a:r>
                    </a:p>
                  </a:txBody>
                  <a:tcPr marL="101600" marR="1016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 i="0">
                          <a:solidFill>
                            <a:srgbClr val="404040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青基調で教育サービスらしい安心感がある</a:t>
                      </a:r>
                    </a:p>
                  </a:txBody>
                  <a:tcPr marL="101600" marR="101600" marT="25400" marB="25400">
                    <a:solidFill>
                      <a:srgbClr val="FFFFFF"/>
                    </a:solidFill>
                  </a:tcPr>
                </a:tc>
              </a:tr>
              <a:tr h="285750">
                <a:tc>
                  <a:txBody>
                    <a:bodyPr wrap="none" anchor="ctr">
                      <a:noAutofit/>
                    </a:bodyPr>
                    <a:lstStyle/>
                    <a:p>
                      <a:pPr algn="ctr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 i="0">
                          <a:solidFill>
                            <a:srgbClr val="404040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10</a:t>
                      </a:r>
                    </a:p>
                  </a:txBody>
                  <a:tcPr marL="101600" marR="101600" marT="25400" marB="25400">
                    <a:solidFill>
                      <a:srgbClr val="F8F9FB"/>
                    </a:solidFill>
                  </a:tcPr>
                </a:tc>
                <a:tc>
                  <a:txBody>
                    <a:bodyPr wrap="none" anchor="ctr">
                      <a:noAutofit/>
                    </a:bodyPr>
                    <a:lstStyle/>
                    <a:p>
                      <a:pPr algn="l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1" i="0">
                          <a:solidFill>
                            <a:srgbClr val="404040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表示速度・技術</a:t>
                      </a:r>
                    </a:p>
                  </a:txBody>
                  <a:tcPr marL="101600" marR="101600" marT="25400" marB="25400">
                    <a:solidFill>
                      <a:srgbClr val="F8F9FB"/>
                    </a:solidFill>
                  </a:tcPr>
                </a:tc>
                <a:tc>
                  <a:txBody>
                    <a:bodyPr wrap="none" anchor="ctr">
                      <a:noAutofit/>
                    </a:bodyPr>
                    <a:lstStyle/>
                    <a:p>
                      <a:pPr algn="ctr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 i="0">
                          <a:solidFill>
                            <a:srgbClr val="404040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3/5</a:t>
                      </a:r>
                    </a:p>
                  </a:txBody>
                  <a:tcPr marL="101600" marR="101600" marT="25400" marB="25400">
                    <a:solidFill>
                      <a:srgbClr val="F8F9FB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 i="0">
                          <a:solidFill>
                            <a:srgbClr val="404040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画像中心のため最適化余地がある</a:t>
                      </a:r>
                    </a:p>
                  </a:txBody>
                  <a:tcPr marL="101600" marR="101600" marT="25400" marB="25400">
                    <a:solidFill>
                      <a:srgbClr val="F8F9FB"/>
                    </a:solidFill>
                  </a:tcPr>
                </a:tc>
              </a:tr>
            </a:tbl>
          </a:graphicData>
        </a:graphic>
      </p:graphicFrame>
      <p:sp>
        <p:nvSpPr>
          <p:cNvPr id="18" name="Rectangle 17"/>
          <p:cNvSpPr/>
          <p:nvPr/>
        </p:nvSpPr>
        <p:spPr>
          <a:xfrm>
            <a:off x="0" y="6286500"/>
            <a:ext cx="12192000" cy="9525"/>
          </a:xfrm>
          <a:prstGeom prst="rect">
            <a:avLst/>
          </a:prstGeom>
          <a:solidFill>
            <a:srgbClr val="CCCC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381000" y="6496050"/>
            <a:ext cx="3810000" cy="2286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400" b="1" i="0">
                <a:solidFill>
                  <a:srgbClr val="1C366C"/>
                </a:solidFill>
                <a:latin typeface="メイリオ"/>
                <a:ea typeface="メイリオ"/>
                <a:cs typeface="メイリオ"/>
              </a:rPr>
              <a:t>UI/UX診断 by GPTs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858500" y="6524625"/>
            <a:ext cx="1143000" cy="2286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/>
            <a:r>
              <a:rPr sz="1400" b="0" i="0">
                <a:solidFill>
                  <a:srgbClr val="262626"/>
                </a:solidFill>
                <a:latin typeface="メイリオ"/>
                <a:ea typeface="メイリオ"/>
                <a:cs typeface="メイリオ"/>
              </a:rPr>
              <a:t>2 / 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81000" y="152400"/>
            <a:ext cx="57150" cy="533400"/>
          </a:xfrm>
          <a:prstGeom prst="rect">
            <a:avLst/>
          </a:prstGeom>
          <a:solidFill>
            <a:srgbClr val="D002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33400" y="152400"/>
            <a:ext cx="7810500" cy="5334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20000"/>
              </a:lnSpc>
            </a:pPr>
            <a:r>
              <a:rPr sz="2400" b="1" i="0">
                <a:solidFill>
                  <a:srgbClr val="1C366C"/>
                </a:solidFill>
                <a:latin typeface="メイリオ"/>
                <a:ea typeface="メイリオ"/>
                <a:cs typeface="メイリオ"/>
              </a:rPr>
              <a:t>【2】改善提案リスト</a:t>
            </a:r>
          </a:p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606060"/>
                </a:solidFill>
                <a:latin typeface="メイリオ"/>
                <a:ea typeface="メイリオ"/>
                <a:cs typeface="メイリオ"/>
              </a:rPr>
              <a:t>優先度の高い改善アクションを整理（1/2 前半 3件）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382000" y="285750"/>
            <a:ext cx="762000" cy="2095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/>
            <a:r>
              <a:rPr sz="1400" b="1" i="0">
                <a:solidFill>
                  <a:srgbClr val="606060"/>
                </a:solidFill>
                <a:latin typeface="メイリオ"/>
                <a:ea typeface="メイリオ"/>
                <a:cs typeface="メイリオ"/>
              </a:rPr>
              <a:t>優先度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239250" y="285750"/>
            <a:ext cx="666750" cy="266700"/>
          </a:xfrm>
          <a:prstGeom prst="roundRect">
            <a:avLst/>
          </a:prstGeom>
          <a:solidFill>
            <a:srgbClr val="D002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9239250" y="314325"/>
            <a:ext cx="666750" cy="2095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高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001250" y="285750"/>
            <a:ext cx="666750" cy="266700"/>
          </a:xfrm>
          <a:prstGeom prst="roundRect">
            <a:avLst/>
          </a:prstGeom>
          <a:solidFill>
            <a:srgbClr val="E88B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10001250" y="314325"/>
            <a:ext cx="666750" cy="2095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中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763250" y="285750"/>
            <a:ext cx="666750" cy="266700"/>
          </a:xfrm>
          <a:prstGeom prst="roundRect">
            <a:avLst/>
          </a:prstGeom>
          <a:solidFill>
            <a:srgbClr val="888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10763250" y="314325"/>
            <a:ext cx="666750" cy="2095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低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81000" y="876300"/>
            <a:ext cx="11430000" cy="173355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D4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ectangle 11"/>
          <p:cNvSpPr/>
          <p:nvPr/>
        </p:nvSpPr>
        <p:spPr>
          <a:xfrm>
            <a:off x="381000" y="876300"/>
            <a:ext cx="57150" cy="1733550"/>
          </a:xfrm>
          <a:prstGeom prst="rect">
            <a:avLst/>
          </a:prstGeom>
          <a:solidFill>
            <a:srgbClr val="D002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Oval 12"/>
          <p:cNvSpPr/>
          <p:nvPr/>
        </p:nvSpPr>
        <p:spPr>
          <a:xfrm>
            <a:off x="533400" y="971550"/>
            <a:ext cx="285750" cy="285750"/>
          </a:xfrm>
          <a:prstGeom prst="ellipse">
            <a:avLst/>
          </a:prstGeom>
          <a:solidFill>
            <a:srgbClr val="D002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533400" y="1009650"/>
            <a:ext cx="285750" cy="2095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3450" y="990600"/>
            <a:ext cx="7334250" cy="3048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800" b="1" i="0">
                <a:solidFill>
                  <a:srgbClr val="1C366C"/>
                </a:solidFill>
                <a:latin typeface="メイリオ"/>
                <a:ea typeface="メイリオ"/>
                <a:cs typeface="メイリオ"/>
              </a:rPr>
              <a:t>ファーストビューに無料体験CTAを追加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334500" y="981075"/>
            <a:ext cx="666750" cy="266700"/>
          </a:xfrm>
          <a:prstGeom prst="roundRect">
            <a:avLst/>
          </a:prstGeom>
          <a:solidFill>
            <a:srgbClr val="D002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9334500" y="1009650"/>
            <a:ext cx="666750" cy="2095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高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096500" y="1009650"/>
            <a:ext cx="1619250" cy="2095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400" b="0" i="0">
                <a:solidFill>
                  <a:srgbClr val="606060"/>
                </a:solidFill>
                <a:latin typeface="メイリオ"/>
                <a:ea typeface="メイリオ"/>
                <a:cs typeface="メイリオ"/>
              </a:rPr>
              <a:t>工数：小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33400" y="1314450"/>
            <a:ext cx="11144250" cy="9525"/>
          </a:xfrm>
          <a:prstGeom prst="rect">
            <a:avLst/>
          </a:prstGeom>
          <a:solidFill>
            <a:srgbClr val="D0D4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533400" y="1390650"/>
            <a:ext cx="5410200" cy="4572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50000"/>
              </a:lnSpc>
            </a:pPr>
            <a:r>
              <a:rPr sz="1400" b="1" i="0">
                <a:solidFill>
                  <a:srgbClr val="1C366C"/>
                </a:solidFill>
                <a:latin typeface="メイリオ"/>
                <a:ea typeface="メイリオ"/>
                <a:cs typeface="メイリオ"/>
              </a:rPr>
              <a:t>改善箇所　</a:t>
            </a:r>
            <a:r>
              <a:rPr sz="1400" b="0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ファーストビュー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096000" y="1390650"/>
            <a:ext cx="5562600" cy="4572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50000"/>
              </a:lnSpc>
            </a:pPr>
            <a:r>
              <a:rPr sz="1400" b="1" i="0">
                <a:solidFill>
                  <a:srgbClr val="1C366C"/>
                </a:solidFill>
                <a:latin typeface="メイリオ"/>
                <a:ea typeface="メイリオ"/>
                <a:cs typeface="メイリオ"/>
              </a:rPr>
              <a:t>課題　</a:t>
            </a:r>
            <a:r>
              <a:rPr sz="1400" b="0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興味を持った直後に行動できない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33400" y="1885950"/>
            <a:ext cx="5410200" cy="457200"/>
          </a:xfrm>
          <a:prstGeom prst="rect">
            <a:avLst/>
          </a:prstGeom>
          <a:solidFill>
            <a:srgbClr val="F4F5F8"/>
          </a:solidFill>
          <a:ln w="6350">
            <a:solidFill>
              <a:srgbClr val="D0D4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609600" y="1924050"/>
            <a:ext cx="5257800" cy="3810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50000"/>
              </a:lnSpc>
            </a:pPr>
            <a:r>
              <a:rPr sz="1400" b="1" i="0">
                <a:solidFill>
                  <a:srgbClr val="606060"/>
                </a:solidFill>
                <a:latin typeface="メイリオ"/>
                <a:ea typeface="メイリオ"/>
                <a:cs typeface="メイリオ"/>
              </a:rPr>
              <a:t>現状　</a:t>
            </a:r>
            <a:r>
              <a:rPr sz="1400" b="0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見出しと説明文はあるが、主要ボタンが見当たらない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096000" y="1885950"/>
            <a:ext cx="5562600" cy="457200"/>
          </a:xfrm>
          <a:prstGeom prst="rect">
            <a:avLst/>
          </a:prstGeom>
          <a:solidFill>
            <a:srgbClr val="FDECEC"/>
          </a:solidFill>
          <a:ln w="6350">
            <a:solidFill>
              <a:srgbClr val="D0D4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6172200" y="1924050"/>
            <a:ext cx="5410200" cy="3810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50000"/>
              </a:lnSpc>
            </a:pPr>
            <a:r>
              <a:rPr sz="1400" b="1" i="0">
                <a:solidFill>
                  <a:srgbClr val="D0021B"/>
                </a:solidFill>
                <a:latin typeface="メイリオ"/>
                <a:ea typeface="メイリオ"/>
                <a:cs typeface="メイリオ"/>
              </a:rPr>
              <a:t>改善後　</a:t>
            </a:r>
            <a:r>
              <a:rPr sz="1400" b="0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無料体験・料金確認の2ボタンをFV内に配置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81000" y="2705100"/>
            <a:ext cx="11430000" cy="173355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D4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Rectangle 26"/>
          <p:cNvSpPr/>
          <p:nvPr/>
        </p:nvSpPr>
        <p:spPr>
          <a:xfrm>
            <a:off x="381000" y="2705100"/>
            <a:ext cx="57150" cy="1733550"/>
          </a:xfrm>
          <a:prstGeom prst="rect">
            <a:avLst/>
          </a:prstGeom>
          <a:solidFill>
            <a:srgbClr val="D002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Oval 27"/>
          <p:cNvSpPr/>
          <p:nvPr/>
        </p:nvSpPr>
        <p:spPr>
          <a:xfrm>
            <a:off x="533400" y="2800350"/>
            <a:ext cx="285750" cy="285750"/>
          </a:xfrm>
          <a:prstGeom prst="ellipse">
            <a:avLst/>
          </a:prstGeom>
          <a:solidFill>
            <a:srgbClr val="D002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TextBox 28"/>
          <p:cNvSpPr txBox="1"/>
          <p:nvPr/>
        </p:nvSpPr>
        <p:spPr>
          <a:xfrm>
            <a:off x="533400" y="2838450"/>
            <a:ext cx="285750" cy="2095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2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33450" y="2819400"/>
            <a:ext cx="7334250" cy="3048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800" b="1" i="0">
                <a:solidFill>
                  <a:srgbClr val="1C366C"/>
                </a:solidFill>
                <a:latin typeface="メイリオ"/>
                <a:ea typeface="メイリオ"/>
                <a:cs typeface="メイリオ"/>
              </a:rPr>
              <a:t>キャッチコピーを成果訴求型に変更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9334500" y="2809875"/>
            <a:ext cx="666750" cy="266700"/>
          </a:xfrm>
          <a:prstGeom prst="roundRect">
            <a:avLst/>
          </a:prstGeom>
          <a:solidFill>
            <a:srgbClr val="D002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TextBox 31"/>
          <p:cNvSpPr txBox="1"/>
          <p:nvPr/>
        </p:nvSpPr>
        <p:spPr>
          <a:xfrm>
            <a:off x="9334500" y="2838450"/>
            <a:ext cx="666750" cy="2095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高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096500" y="2838450"/>
            <a:ext cx="1619250" cy="2095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400" b="0" i="0">
                <a:solidFill>
                  <a:srgbClr val="606060"/>
                </a:solidFill>
                <a:latin typeface="メイリオ"/>
                <a:ea typeface="メイリオ"/>
                <a:cs typeface="メイリオ"/>
              </a:rPr>
              <a:t>工数：小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33400" y="3143250"/>
            <a:ext cx="11144250" cy="9525"/>
          </a:xfrm>
          <a:prstGeom prst="rect">
            <a:avLst/>
          </a:prstGeom>
          <a:solidFill>
            <a:srgbClr val="D0D4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5" name="TextBox 34"/>
          <p:cNvSpPr txBox="1"/>
          <p:nvPr/>
        </p:nvSpPr>
        <p:spPr>
          <a:xfrm>
            <a:off x="533400" y="3219450"/>
            <a:ext cx="5410200" cy="4572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50000"/>
              </a:lnSpc>
            </a:pPr>
            <a:r>
              <a:rPr sz="1400" b="1" i="0">
                <a:solidFill>
                  <a:srgbClr val="1C366C"/>
                </a:solidFill>
                <a:latin typeface="メイリオ"/>
                <a:ea typeface="メイリオ"/>
                <a:cs typeface="メイリオ"/>
              </a:rPr>
              <a:t>改善箇所　</a:t>
            </a:r>
            <a:r>
              <a:rPr sz="1400" b="0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メインコピー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096000" y="3219450"/>
            <a:ext cx="5562600" cy="4572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50000"/>
              </a:lnSpc>
            </a:pPr>
            <a:r>
              <a:rPr sz="1400" b="1" i="0">
                <a:solidFill>
                  <a:srgbClr val="1C366C"/>
                </a:solidFill>
                <a:latin typeface="メイリオ"/>
                <a:ea typeface="メイリオ"/>
                <a:cs typeface="メイリオ"/>
              </a:rPr>
              <a:t>課題　</a:t>
            </a:r>
            <a:r>
              <a:rPr sz="1400" b="0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学習後のメリットが弱く差別化しにくい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33400" y="3714750"/>
            <a:ext cx="5410200" cy="457200"/>
          </a:xfrm>
          <a:prstGeom prst="rect">
            <a:avLst/>
          </a:prstGeom>
          <a:solidFill>
            <a:srgbClr val="F4F5F8"/>
          </a:solidFill>
          <a:ln w="6350">
            <a:solidFill>
              <a:srgbClr val="D0D4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8" name="TextBox 37"/>
          <p:cNvSpPr txBox="1"/>
          <p:nvPr/>
        </p:nvSpPr>
        <p:spPr>
          <a:xfrm>
            <a:off x="609600" y="3752850"/>
            <a:ext cx="5257800" cy="3810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50000"/>
              </a:lnSpc>
            </a:pPr>
            <a:r>
              <a:rPr sz="1400" b="1" i="0">
                <a:solidFill>
                  <a:srgbClr val="606060"/>
                </a:solidFill>
                <a:latin typeface="メイリオ"/>
                <a:ea typeface="メイリオ"/>
                <a:cs typeface="メイリオ"/>
              </a:rPr>
              <a:t>現状　</a:t>
            </a:r>
            <a:r>
              <a:rPr sz="1400" b="0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「英語、始めませんか？」で汎用的な印象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096000" y="3714750"/>
            <a:ext cx="5562600" cy="457200"/>
          </a:xfrm>
          <a:prstGeom prst="rect">
            <a:avLst/>
          </a:prstGeom>
          <a:solidFill>
            <a:srgbClr val="FDECEC"/>
          </a:solidFill>
          <a:ln w="6350">
            <a:solidFill>
              <a:srgbClr val="D0D4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0" name="TextBox 39"/>
          <p:cNvSpPr txBox="1"/>
          <p:nvPr/>
        </p:nvSpPr>
        <p:spPr>
          <a:xfrm>
            <a:off x="6172200" y="3752850"/>
            <a:ext cx="5410200" cy="3810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50000"/>
              </a:lnSpc>
            </a:pPr>
            <a:r>
              <a:rPr sz="1400" b="1" i="0">
                <a:solidFill>
                  <a:srgbClr val="D0021B"/>
                </a:solidFill>
                <a:latin typeface="メイリオ"/>
                <a:ea typeface="メイリオ"/>
                <a:cs typeface="メイリオ"/>
              </a:rPr>
              <a:t>改善後　</a:t>
            </a:r>
            <a:r>
              <a:rPr sz="1400" b="0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忙しい人でも続く、成果が見えるオンライン英会話として訴求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381000" y="4533900"/>
            <a:ext cx="11430000" cy="173355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D4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2" name="Rectangle 41"/>
          <p:cNvSpPr/>
          <p:nvPr/>
        </p:nvSpPr>
        <p:spPr>
          <a:xfrm>
            <a:off x="381000" y="4533900"/>
            <a:ext cx="57150" cy="1733550"/>
          </a:xfrm>
          <a:prstGeom prst="rect">
            <a:avLst/>
          </a:prstGeom>
          <a:solidFill>
            <a:srgbClr val="E88B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3" name="Oval 42"/>
          <p:cNvSpPr/>
          <p:nvPr/>
        </p:nvSpPr>
        <p:spPr>
          <a:xfrm>
            <a:off x="533400" y="4629150"/>
            <a:ext cx="285750" cy="285750"/>
          </a:xfrm>
          <a:prstGeom prst="ellipse">
            <a:avLst/>
          </a:prstGeom>
          <a:solidFill>
            <a:srgbClr val="E88B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4" name="TextBox 43"/>
          <p:cNvSpPr txBox="1"/>
          <p:nvPr/>
        </p:nvSpPr>
        <p:spPr>
          <a:xfrm>
            <a:off x="533400" y="4667250"/>
            <a:ext cx="285750" cy="2095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3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33450" y="4648200"/>
            <a:ext cx="7334250" cy="3048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800" b="1" i="0">
                <a:solidFill>
                  <a:srgbClr val="1C366C"/>
                </a:solidFill>
                <a:latin typeface="メイリオ"/>
                <a:ea typeface="メイリオ"/>
                <a:cs typeface="メイリオ"/>
              </a:rPr>
              <a:t>実績数値に根拠と補足を追加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9334500" y="4638675"/>
            <a:ext cx="666750" cy="266700"/>
          </a:xfrm>
          <a:prstGeom prst="roundRect">
            <a:avLst/>
          </a:prstGeom>
          <a:solidFill>
            <a:srgbClr val="E88B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7" name="TextBox 46"/>
          <p:cNvSpPr txBox="1"/>
          <p:nvPr/>
        </p:nvSpPr>
        <p:spPr>
          <a:xfrm>
            <a:off x="9334500" y="4667250"/>
            <a:ext cx="666750" cy="2095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中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0096500" y="4667250"/>
            <a:ext cx="1619250" cy="2095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400" b="0" i="0">
                <a:solidFill>
                  <a:srgbClr val="606060"/>
                </a:solidFill>
                <a:latin typeface="メイリオ"/>
                <a:ea typeface="メイリオ"/>
                <a:cs typeface="メイリオ"/>
              </a:rPr>
              <a:t>工数：中</a:t>
            </a:r>
          </a:p>
        </p:txBody>
      </p:sp>
      <p:sp>
        <p:nvSpPr>
          <p:cNvPr id="49" name="Rectangle 48"/>
          <p:cNvSpPr/>
          <p:nvPr/>
        </p:nvSpPr>
        <p:spPr>
          <a:xfrm>
            <a:off x="533400" y="4972050"/>
            <a:ext cx="11144250" cy="9525"/>
          </a:xfrm>
          <a:prstGeom prst="rect">
            <a:avLst/>
          </a:prstGeom>
          <a:solidFill>
            <a:srgbClr val="D0D4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0" name="TextBox 49"/>
          <p:cNvSpPr txBox="1"/>
          <p:nvPr/>
        </p:nvSpPr>
        <p:spPr>
          <a:xfrm>
            <a:off x="533400" y="5048250"/>
            <a:ext cx="5410200" cy="4572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50000"/>
              </a:lnSpc>
            </a:pPr>
            <a:r>
              <a:rPr sz="1400" b="1" i="0">
                <a:solidFill>
                  <a:srgbClr val="1C366C"/>
                </a:solidFill>
                <a:latin typeface="メイリオ"/>
                <a:ea typeface="メイリオ"/>
                <a:cs typeface="メイリオ"/>
              </a:rPr>
              <a:t>改善箇所　</a:t>
            </a:r>
            <a:r>
              <a:rPr sz="1400" b="0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実績帯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096000" y="5048250"/>
            <a:ext cx="5562600" cy="4572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50000"/>
              </a:lnSpc>
            </a:pPr>
            <a:r>
              <a:rPr sz="1400" b="1" i="0">
                <a:solidFill>
                  <a:srgbClr val="1C366C"/>
                </a:solidFill>
                <a:latin typeface="メイリオ"/>
                <a:ea typeface="メイリオ"/>
                <a:cs typeface="メイリオ"/>
              </a:rPr>
              <a:t>課題　</a:t>
            </a:r>
            <a:r>
              <a:rPr sz="1400" b="0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数値はあるが信頼の裏付けが不足</a:t>
            </a:r>
          </a:p>
        </p:txBody>
      </p:sp>
      <p:sp>
        <p:nvSpPr>
          <p:cNvPr id="52" name="Rectangle 51"/>
          <p:cNvSpPr/>
          <p:nvPr/>
        </p:nvSpPr>
        <p:spPr>
          <a:xfrm>
            <a:off x="533400" y="5543550"/>
            <a:ext cx="5410200" cy="457200"/>
          </a:xfrm>
          <a:prstGeom prst="rect">
            <a:avLst/>
          </a:prstGeom>
          <a:solidFill>
            <a:srgbClr val="F4F5F8"/>
          </a:solidFill>
          <a:ln w="6350">
            <a:solidFill>
              <a:srgbClr val="D0D4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3" name="TextBox 52"/>
          <p:cNvSpPr txBox="1"/>
          <p:nvPr/>
        </p:nvSpPr>
        <p:spPr>
          <a:xfrm>
            <a:off x="609600" y="5581650"/>
            <a:ext cx="5257800" cy="3810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50000"/>
              </a:lnSpc>
            </a:pPr>
            <a:r>
              <a:rPr sz="1400" b="1" i="0">
                <a:solidFill>
                  <a:srgbClr val="606060"/>
                </a:solidFill>
                <a:latin typeface="メイリオ"/>
                <a:ea typeface="メイリオ"/>
                <a:cs typeface="メイリオ"/>
              </a:rPr>
              <a:t>現状　</a:t>
            </a:r>
            <a:r>
              <a:rPr sz="1400" b="0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開校年・採用率・段階数・時間帯のみ表示</a:t>
            </a:r>
          </a:p>
        </p:txBody>
      </p:sp>
      <p:sp>
        <p:nvSpPr>
          <p:cNvPr id="54" name="Rectangle 53"/>
          <p:cNvSpPr/>
          <p:nvPr/>
        </p:nvSpPr>
        <p:spPr>
          <a:xfrm>
            <a:off x="6096000" y="5543550"/>
            <a:ext cx="5562600" cy="457200"/>
          </a:xfrm>
          <a:prstGeom prst="rect">
            <a:avLst/>
          </a:prstGeom>
          <a:solidFill>
            <a:srgbClr val="FDECEC"/>
          </a:solidFill>
          <a:ln w="6350">
            <a:solidFill>
              <a:srgbClr val="D0D4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5" name="TextBox 54"/>
          <p:cNvSpPr txBox="1"/>
          <p:nvPr/>
        </p:nvSpPr>
        <p:spPr>
          <a:xfrm>
            <a:off x="6172200" y="5581650"/>
            <a:ext cx="5410200" cy="3810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50000"/>
              </a:lnSpc>
            </a:pPr>
            <a:r>
              <a:rPr sz="1400" b="1" i="0">
                <a:solidFill>
                  <a:srgbClr val="D0021B"/>
                </a:solidFill>
                <a:latin typeface="メイリオ"/>
                <a:ea typeface="メイリオ"/>
                <a:cs typeface="メイリオ"/>
              </a:rPr>
              <a:t>改善後　</a:t>
            </a:r>
            <a:r>
              <a:rPr sz="1400" b="0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累計受講者数、継続率、満足度など検討材料を追加</a:t>
            </a:r>
          </a:p>
        </p:txBody>
      </p:sp>
      <p:sp>
        <p:nvSpPr>
          <p:cNvPr id="56" name="Rectangle 55"/>
          <p:cNvSpPr/>
          <p:nvPr/>
        </p:nvSpPr>
        <p:spPr>
          <a:xfrm>
            <a:off x="0" y="6286500"/>
            <a:ext cx="12192000" cy="9525"/>
          </a:xfrm>
          <a:prstGeom prst="rect">
            <a:avLst/>
          </a:prstGeom>
          <a:solidFill>
            <a:srgbClr val="CCCC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7" name="TextBox 56"/>
          <p:cNvSpPr txBox="1"/>
          <p:nvPr/>
        </p:nvSpPr>
        <p:spPr>
          <a:xfrm>
            <a:off x="381000" y="6496050"/>
            <a:ext cx="3810000" cy="2286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400" b="1" i="0">
                <a:solidFill>
                  <a:srgbClr val="1C366C"/>
                </a:solidFill>
                <a:latin typeface="メイリオ"/>
                <a:ea typeface="メイリオ"/>
                <a:cs typeface="メイリオ"/>
              </a:rPr>
              <a:t>UI/UX診断 by GPTs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10858500" y="6524625"/>
            <a:ext cx="1143000" cy="2286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/>
            <a:r>
              <a:rPr sz="1400" b="0" i="0">
                <a:solidFill>
                  <a:srgbClr val="262626"/>
                </a:solidFill>
                <a:latin typeface="メイリオ"/>
                <a:ea typeface="メイリオ"/>
                <a:cs typeface="メイリオ"/>
              </a:rPr>
              <a:t>3 / 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81000" y="152400"/>
            <a:ext cx="57150" cy="533400"/>
          </a:xfrm>
          <a:prstGeom prst="rect">
            <a:avLst/>
          </a:prstGeom>
          <a:solidFill>
            <a:srgbClr val="D002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33400" y="152400"/>
            <a:ext cx="7810500" cy="5334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20000"/>
              </a:lnSpc>
            </a:pPr>
            <a:r>
              <a:rPr sz="2400" b="1" i="0">
                <a:solidFill>
                  <a:srgbClr val="1C366C"/>
                </a:solidFill>
                <a:latin typeface="メイリオ"/>
                <a:ea typeface="メイリオ"/>
                <a:cs typeface="メイリオ"/>
              </a:rPr>
              <a:t>【2】改善提案リスト</a:t>
            </a:r>
          </a:p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606060"/>
                </a:solidFill>
                <a:latin typeface="メイリオ"/>
                <a:ea typeface="メイリオ"/>
                <a:cs typeface="メイリオ"/>
              </a:rPr>
              <a:t>優先度の高い改善アクションを整理（2/2 後半 2件・POINT）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382000" y="285750"/>
            <a:ext cx="762000" cy="2095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/>
            <a:r>
              <a:rPr sz="1400" b="1" i="0">
                <a:solidFill>
                  <a:srgbClr val="606060"/>
                </a:solidFill>
                <a:latin typeface="メイリオ"/>
                <a:ea typeface="メイリオ"/>
                <a:cs typeface="メイリオ"/>
              </a:rPr>
              <a:t>優先度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239250" y="285750"/>
            <a:ext cx="666750" cy="266700"/>
          </a:xfrm>
          <a:prstGeom prst="roundRect">
            <a:avLst/>
          </a:prstGeom>
          <a:solidFill>
            <a:srgbClr val="D002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9239250" y="314325"/>
            <a:ext cx="666750" cy="2095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高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001250" y="285750"/>
            <a:ext cx="666750" cy="266700"/>
          </a:xfrm>
          <a:prstGeom prst="roundRect">
            <a:avLst/>
          </a:prstGeom>
          <a:solidFill>
            <a:srgbClr val="E88B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10001250" y="314325"/>
            <a:ext cx="666750" cy="2095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中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763250" y="285750"/>
            <a:ext cx="666750" cy="266700"/>
          </a:xfrm>
          <a:prstGeom prst="roundRect">
            <a:avLst/>
          </a:prstGeom>
          <a:solidFill>
            <a:srgbClr val="888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10763250" y="314325"/>
            <a:ext cx="666750" cy="2095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低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81000" y="876300"/>
            <a:ext cx="11430000" cy="2428875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D4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ectangle 11"/>
          <p:cNvSpPr/>
          <p:nvPr/>
        </p:nvSpPr>
        <p:spPr>
          <a:xfrm>
            <a:off x="381000" y="876300"/>
            <a:ext cx="57150" cy="2428875"/>
          </a:xfrm>
          <a:prstGeom prst="rect">
            <a:avLst/>
          </a:prstGeom>
          <a:solidFill>
            <a:srgbClr val="E88B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Oval 12"/>
          <p:cNvSpPr/>
          <p:nvPr/>
        </p:nvSpPr>
        <p:spPr>
          <a:xfrm>
            <a:off x="533400" y="971550"/>
            <a:ext cx="285750" cy="285750"/>
          </a:xfrm>
          <a:prstGeom prst="ellipse">
            <a:avLst/>
          </a:prstGeom>
          <a:solidFill>
            <a:srgbClr val="E88B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533400" y="1009650"/>
            <a:ext cx="285750" cy="2095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3450" y="990600"/>
            <a:ext cx="7334250" cy="3048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800" b="1" i="0">
                <a:solidFill>
                  <a:srgbClr val="1C366C"/>
                </a:solidFill>
                <a:latin typeface="メイリオ"/>
                <a:ea typeface="メイリオ"/>
                <a:cs typeface="メイリオ"/>
              </a:rPr>
              <a:t>受講生の声を具体化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334500" y="981075"/>
            <a:ext cx="666750" cy="266700"/>
          </a:xfrm>
          <a:prstGeom prst="roundRect">
            <a:avLst/>
          </a:prstGeom>
          <a:solidFill>
            <a:srgbClr val="E88B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9334500" y="1009650"/>
            <a:ext cx="666750" cy="2095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中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096500" y="1009650"/>
            <a:ext cx="1619250" cy="2095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400" b="0" i="0">
                <a:solidFill>
                  <a:srgbClr val="606060"/>
                </a:solidFill>
                <a:latin typeface="メイリオ"/>
                <a:ea typeface="メイリオ"/>
                <a:cs typeface="メイリオ"/>
              </a:rPr>
              <a:t>工数：小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33400" y="1314450"/>
            <a:ext cx="11144250" cy="9525"/>
          </a:xfrm>
          <a:prstGeom prst="rect">
            <a:avLst/>
          </a:prstGeom>
          <a:solidFill>
            <a:srgbClr val="D0D4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533400" y="1390650"/>
            <a:ext cx="5410200" cy="4572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50000"/>
              </a:lnSpc>
            </a:pPr>
            <a:r>
              <a:rPr sz="1400" b="1" i="0">
                <a:solidFill>
                  <a:srgbClr val="1C366C"/>
                </a:solidFill>
                <a:latin typeface="メイリオ"/>
                <a:ea typeface="メイリオ"/>
                <a:cs typeface="メイリオ"/>
              </a:rPr>
              <a:t>改善箇所　</a:t>
            </a:r>
            <a:r>
              <a:rPr sz="1400" b="0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受講生の声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096000" y="1390650"/>
            <a:ext cx="5562600" cy="4572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50000"/>
              </a:lnSpc>
            </a:pPr>
            <a:r>
              <a:rPr sz="1400" b="1" i="0">
                <a:solidFill>
                  <a:srgbClr val="1C366C"/>
                </a:solidFill>
                <a:latin typeface="メイリオ"/>
                <a:ea typeface="メイリオ"/>
                <a:cs typeface="メイリオ"/>
              </a:rPr>
              <a:t>課題　</a:t>
            </a:r>
            <a:r>
              <a:rPr sz="1400" b="0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短文のみで利用シーンや成果が伝わりにくい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33400" y="1885950"/>
            <a:ext cx="5410200" cy="457200"/>
          </a:xfrm>
          <a:prstGeom prst="rect">
            <a:avLst/>
          </a:prstGeom>
          <a:solidFill>
            <a:srgbClr val="F4F5F8"/>
          </a:solidFill>
          <a:ln w="6350">
            <a:solidFill>
              <a:srgbClr val="D0D4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609600" y="1924050"/>
            <a:ext cx="5257800" cy="3810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50000"/>
              </a:lnSpc>
            </a:pPr>
            <a:r>
              <a:rPr sz="1400" b="1" i="0">
                <a:solidFill>
                  <a:srgbClr val="606060"/>
                </a:solidFill>
                <a:latin typeface="メイリオ"/>
                <a:ea typeface="メイリオ"/>
                <a:cs typeface="メイリオ"/>
              </a:rPr>
              <a:t>現状　</a:t>
            </a:r>
            <a:r>
              <a:rPr sz="1400" b="0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「続けられています」など一言コメント中心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096000" y="1885950"/>
            <a:ext cx="5562600" cy="457200"/>
          </a:xfrm>
          <a:prstGeom prst="rect">
            <a:avLst/>
          </a:prstGeom>
          <a:solidFill>
            <a:srgbClr val="FDECEC"/>
          </a:solidFill>
          <a:ln w="6350">
            <a:solidFill>
              <a:srgbClr val="D0D4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6172200" y="1924050"/>
            <a:ext cx="5410200" cy="3810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50000"/>
              </a:lnSpc>
            </a:pPr>
            <a:r>
              <a:rPr sz="1400" b="1" i="0">
                <a:solidFill>
                  <a:srgbClr val="D0021B"/>
                </a:solidFill>
                <a:latin typeface="メイリオ"/>
                <a:ea typeface="メイリオ"/>
                <a:cs typeface="メイリオ"/>
              </a:rPr>
              <a:t>改善後　</a:t>
            </a:r>
            <a:r>
              <a:rPr sz="1400" b="0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課題・受講理由・成果を含む3行レビューへ拡張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81000" y="3400425"/>
            <a:ext cx="11430000" cy="2428875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D4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Rectangle 26"/>
          <p:cNvSpPr/>
          <p:nvPr/>
        </p:nvSpPr>
        <p:spPr>
          <a:xfrm>
            <a:off x="381000" y="3400425"/>
            <a:ext cx="57150" cy="2428875"/>
          </a:xfrm>
          <a:prstGeom prst="rect">
            <a:avLst/>
          </a:prstGeom>
          <a:solidFill>
            <a:srgbClr val="D002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Oval 27"/>
          <p:cNvSpPr/>
          <p:nvPr/>
        </p:nvSpPr>
        <p:spPr>
          <a:xfrm>
            <a:off x="533400" y="3495675"/>
            <a:ext cx="285750" cy="285750"/>
          </a:xfrm>
          <a:prstGeom prst="ellipse">
            <a:avLst/>
          </a:prstGeom>
          <a:solidFill>
            <a:srgbClr val="D002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TextBox 28"/>
          <p:cNvSpPr txBox="1"/>
          <p:nvPr/>
        </p:nvSpPr>
        <p:spPr>
          <a:xfrm>
            <a:off x="533400" y="3533775"/>
            <a:ext cx="285750" cy="2095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33450" y="3514725"/>
            <a:ext cx="7334250" cy="3048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800" b="1" i="0">
                <a:solidFill>
                  <a:srgbClr val="1C366C"/>
                </a:solidFill>
                <a:latin typeface="メイリオ"/>
                <a:ea typeface="メイリオ"/>
                <a:cs typeface="メイリオ"/>
              </a:rPr>
              <a:t>料金セクション下に比較とCTAを追加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9334500" y="3505200"/>
            <a:ext cx="666750" cy="266700"/>
          </a:xfrm>
          <a:prstGeom prst="roundRect">
            <a:avLst/>
          </a:prstGeom>
          <a:solidFill>
            <a:srgbClr val="D002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TextBox 31"/>
          <p:cNvSpPr txBox="1"/>
          <p:nvPr/>
        </p:nvSpPr>
        <p:spPr>
          <a:xfrm>
            <a:off x="9334500" y="3533775"/>
            <a:ext cx="666750" cy="2095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高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096500" y="3533775"/>
            <a:ext cx="1619250" cy="2095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400" b="0" i="0">
                <a:solidFill>
                  <a:srgbClr val="606060"/>
                </a:solidFill>
                <a:latin typeface="メイリオ"/>
                <a:ea typeface="メイリオ"/>
                <a:cs typeface="メイリオ"/>
              </a:rPr>
              <a:t>工数：中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33400" y="3838575"/>
            <a:ext cx="11144250" cy="9525"/>
          </a:xfrm>
          <a:prstGeom prst="rect">
            <a:avLst/>
          </a:prstGeom>
          <a:solidFill>
            <a:srgbClr val="D0D4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5" name="TextBox 34"/>
          <p:cNvSpPr txBox="1"/>
          <p:nvPr/>
        </p:nvSpPr>
        <p:spPr>
          <a:xfrm>
            <a:off x="533400" y="3914775"/>
            <a:ext cx="5410200" cy="4572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50000"/>
              </a:lnSpc>
            </a:pPr>
            <a:r>
              <a:rPr sz="1400" b="1" i="0">
                <a:solidFill>
                  <a:srgbClr val="1C366C"/>
                </a:solidFill>
                <a:latin typeface="メイリオ"/>
                <a:ea typeface="メイリオ"/>
                <a:cs typeface="メイリオ"/>
              </a:rPr>
              <a:t>改善箇所　</a:t>
            </a:r>
            <a:r>
              <a:rPr sz="1400" b="0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料金プラン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096000" y="3914775"/>
            <a:ext cx="5562600" cy="4572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50000"/>
              </a:lnSpc>
            </a:pPr>
            <a:r>
              <a:rPr sz="1400" b="1" i="0">
                <a:solidFill>
                  <a:srgbClr val="1C366C"/>
                </a:solidFill>
                <a:latin typeface="メイリオ"/>
                <a:ea typeface="メイリオ"/>
                <a:cs typeface="メイリオ"/>
              </a:rPr>
              <a:t>課題　</a:t>
            </a:r>
            <a:r>
              <a:rPr sz="1400" b="0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プラン選択後の次アクションが弱い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33400" y="4410075"/>
            <a:ext cx="5410200" cy="457200"/>
          </a:xfrm>
          <a:prstGeom prst="rect">
            <a:avLst/>
          </a:prstGeom>
          <a:solidFill>
            <a:srgbClr val="F4F5F8"/>
          </a:solidFill>
          <a:ln w="6350">
            <a:solidFill>
              <a:srgbClr val="D0D4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8" name="TextBox 37"/>
          <p:cNvSpPr txBox="1"/>
          <p:nvPr/>
        </p:nvSpPr>
        <p:spPr>
          <a:xfrm>
            <a:off x="609600" y="4448175"/>
            <a:ext cx="5257800" cy="3810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50000"/>
              </a:lnSpc>
            </a:pPr>
            <a:r>
              <a:rPr sz="1400" b="1" i="0">
                <a:solidFill>
                  <a:srgbClr val="606060"/>
                </a:solidFill>
                <a:latin typeface="メイリオ"/>
                <a:ea typeface="メイリオ"/>
                <a:cs typeface="メイリオ"/>
              </a:rPr>
              <a:t>現状　</a:t>
            </a:r>
            <a:r>
              <a:rPr sz="1400" b="0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料金カードの提示で終わり、相談導線が離れている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096000" y="4410075"/>
            <a:ext cx="5562600" cy="457200"/>
          </a:xfrm>
          <a:prstGeom prst="rect">
            <a:avLst/>
          </a:prstGeom>
          <a:solidFill>
            <a:srgbClr val="FDECEC"/>
          </a:solidFill>
          <a:ln w="6350">
            <a:solidFill>
              <a:srgbClr val="D0D4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0" name="TextBox 39"/>
          <p:cNvSpPr txBox="1"/>
          <p:nvPr/>
        </p:nvSpPr>
        <p:spPr>
          <a:xfrm>
            <a:off x="6172200" y="4448175"/>
            <a:ext cx="5410200" cy="3810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50000"/>
              </a:lnSpc>
            </a:pPr>
            <a:r>
              <a:rPr sz="1400" b="1" i="0">
                <a:solidFill>
                  <a:srgbClr val="D0021B"/>
                </a:solidFill>
                <a:latin typeface="メイリオ"/>
                <a:ea typeface="メイリオ"/>
                <a:cs typeface="メイリオ"/>
              </a:rPr>
              <a:t>改善後　</a:t>
            </a:r>
            <a:r>
              <a:rPr sz="1400" b="0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おすすめプラン表示と無料相談CTAを直下に配置</a:t>
            </a:r>
          </a:p>
        </p:txBody>
      </p:sp>
      <p:sp>
        <p:nvSpPr>
          <p:cNvPr id="41" name="Rectangle 40"/>
          <p:cNvSpPr/>
          <p:nvPr/>
        </p:nvSpPr>
        <p:spPr>
          <a:xfrm>
            <a:off x="381000" y="5905500"/>
            <a:ext cx="11430000" cy="304800"/>
          </a:xfrm>
          <a:prstGeom prst="rect">
            <a:avLst/>
          </a:prstGeom>
          <a:solidFill>
            <a:srgbClr val="1C36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2" name="Rectangle 41"/>
          <p:cNvSpPr/>
          <p:nvPr/>
        </p:nvSpPr>
        <p:spPr>
          <a:xfrm>
            <a:off x="381000" y="5905500"/>
            <a:ext cx="857250" cy="304800"/>
          </a:xfrm>
          <a:prstGeom prst="rect">
            <a:avLst/>
          </a:prstGeom>
          <a:solidFill>
            <a:srgbClr val="D002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3" name="TextBox 42"/>
          <p:cNvSpPr txBox="1"/>
          <p:nvPr/>
        </p:nvSpPr>
        <p:spPr>
          <a:xfrm>
            <a:off x="381000" y="5905500"/>
            <a:ext cx="857250" cy="3048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POINT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352550" y="5905500"/>
            <a:ext cx="10382250" cy="3048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最優先の一手：ファーストビューに無料体験CTAを追加し、直下に成果・安心材料を3点で提示する。</a:t>
            </a:r>
          </a:p>
        </p:txBody>
      </p:sp>
      <p:sp>
        <p:nvSpPr>
          <p:cNvPr id="45" name="Rectangle 44"/>
          <p:cNvSpPr/>
          <p:nvPr/>
        </p:nvSpPr>
        <p:spPr>
          <a:xfrm>
            <a:off x="0" y="6286500"/>
            <a:ext cx="12192000" cy="9525"/>
          </a:xfrm>
          <a:prstGeom prst="rect">
            <a:avLst/>
          </a:prstGeom>
          <a:solidFill>
            <a:srgbClr val="CCCC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6" name="TextBox 45"/>
          <p:cNvSpPr txBox="1"/>
          <p:nvPr/>
        </p:nvSpPr>
        <p:spPr>
          <a:xfrm>
            <a:off x="381000" y="6496050"/>
            <a:ext cx="3810000" cy="2286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400" b="1" i="0">
                <a:solidFill>
                  <a:srgbClr val="1C366C"/>
                </a:solidFill>
                <a:latin typeface="メイリオ"/>
                <a:ea typeface="メイリオ"/>
                <a:cs typeface="メイリオ"/>
              </a:rPr>
              <a:t>UI/UX診断 by GPTs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0858500" y="6524625"/>
            <a:ext cx="1143000" cy="2286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/>
            <a:r>
              <a:rPr sz="1400" b="0" i="0">
                <a:solidFill>
                  <a:srgbClr val="262626"/>
                </a:solidFill>
                <a:latin typeface="メイリオ"/>
                <a:ea typeface="メイリオ"/>
                <a:cs typeface="メイリオ"/>
              </a:rPr>
              <a:t>4 / 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81000" y="152400"/>
            <a:ext cx="57150" cy="533400"/>
          </a:xfrm>
          <a:prstGeom prst="rect">
            <a:avLst/>
          </a:prstGeom>
          <a:solidFill>
            <a:srgbClr val="D002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33400" y="190500"/>
            <a:ext cx="10858500" cy="3238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2400" b="1" i="0">
                <a:solidFill>
                  <a:srgbClr val="1C366C"/>
                </a:solidFill>
                <a:latin typeface="メイリオ"/>
                <a:ea typeface="メイリオ"/>
                <a:cs typeface="メイリオ"/>
              </a:rPr>
              <a:t>【3】ビジュアル診断ボード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3400" y="495300"/>
            <a:ext cx="10858500" cy="2095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400" b="0" i="0">
                <a:solidFill>
                  <a:srgbClr val="606060"/>
                </a:solidFill>
                <a:latin typeface="メイリオ"/>
                <a:ea typeface="メイリオ"/>
                <a:cs typeface="メイリオ"/>
              </a:rPr>
              <a:t>構造マップ・総評・最重要課題・ユーザー行動フロー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81000" y="781050"/>
            <a:ext cx="2771775" cy="609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D4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Rectangle 5"/>
          <p:cNvSpPr/>
          <p:nvPr/>
        </p:nvSpPr>
        <p:spPr>
          <a:xfrm>
            <a:off x="381000" y="781050"/>
            <a:ext cx="38100" cy="609600"/>
          </a:xfrm>
          <a:prstGeom prst="rect">
            <a:avLst/>
          </a:prstGeom>
          <a:solidFill>
            <a:srgbClr val="1C36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533400" y="857250"/>
            <a:ext cx="2543175" cy="4762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606060"/>
                </a:solidFill>
                <a:latin typeface="メイリオ"/>
                <a:ea typeface="メイリオ"/>
                <a:cs typeface="メイリオ"/>
              </a:rPr>
              <a:t>目的</a:t>
            </a:r>
          </a:p>
          <a:p>
            <a:pPr algn="l">
              <a:lnSpc>
                <a:spcPct val="110000"/>
              </a:lnSpc>
            </a:pPr>
            <a:r>
              <a:rPr sz="1400" b="0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無料体験予約・問い合わせ誘導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267075" y="781050"/>
            <a:ext cx="2771775" cy="609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D4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ectangle 8"/>
          <p:cNvSpPr/>
          <p:nvPr/>
        </p:nvSpPr>
        <p:spPr>
          <a:xfrm>
            <a:off x="3267075" y="781050"/>
            <a:ext cx="38100" cy="609600"/>
          </a:xfrm>
          <a:prstGeom prst="rect">
            <a:avLst/>
          </a:prstGeom>
          <a:solidFill>
            <a:srgbClr val="1C36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3419475" y="857250"/>
            <a:ext cx="2543175" cy="4762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606060"/>
                </a:solidFill>
                <a:latin typeface="メイリオ"/>
                <a:ea typeface="メイリオ"/>
                <a:cs typeface="メイリオ"/>
              </a:rPr>
              <a:t>対象</a:t>
            </a:r>
          </a:p>
          <a:p>
            <a:pPr algn="l">
              <a:lnSpc>
                <a:spcPct val="110000"/>
              </a:lnSpc>
            </a:pPr>
            <a:r>
              <a:rPr sz="1400" b="0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スクール紹介LP（英会話）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53150" y="781050"/>
            <a:ext cx="2771775" cy="609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D4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ectangle 11"/>
          <p:cNvSpPr/>
          <p:nvPr/>
        </p:nvSpPr>
        <p:spPr>
          <a:xfrm>
            <a:off x="6153150" y="781050"/>
            <a:ext cx="38100" cy="609600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6305550" y="857250"/>
            <a:ext cx="2543175" cy="4762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606060"/>
                </a:solidFill>
                <a:latin typeface="メイリオ"/>
                <a:ea typeface="メイリオ"/>
                <a:cs typeface="メイリオ"/>
              </a:rPr>
              <a:t>診断日</a:t>
            </a:r>
          </a:p>
          <a:p>
            <a:pPr algn="l">
              <a:lnSpc>
                <a:spcPct val="110000"/>
              </a:lnSpc>
            </a:pPr>
            <a:r>
              <a:rPr sz="1400" b="0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2026年6月4日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039225" y="781050"/>
            <a:ext cx="2771775" cy="609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D4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ectangle 14"/>
          <p:cNvSpPr/>
          <p:nvPr/>
        </p:nvSpPr>
        <p:spPr>
          <a:xfrm>
            <a:off x="9039225" y="781050"/>
            <a:ext cx="38100" cy="609600"/>
          </a:xfrm>
          <a:prstGeom prst="rect">
            <a:avLst/>
          </a:prstGeom>
          <a:solidFill>
            <a:srgbClr val="D002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9191625" y="857250"/>
            <a:ext cx="2543175" cy="4762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606060"/>
                </a:solidFill>
                <a:latin typeface="メイリオ"/>
                <a:ea typeface="メイリオ"/>
                <a:cs typeface="メイリオ"/>
              </a:rPr>
              <a:t>総合スコア</a:t>
            </a:r>
          </a:p>
          <a:p>
            <a:pPr algn="l">
              <a:lnSpc>
                <a:spcPct val="110000"/>
              </a:lnSpc>
            </a:pPr>
            <a:r>
              <a:rPr sz="1400" b="1" i="0">
                <a:solidFill>
                  <a:srgbClr val="1C366C"/>
                </a:solidFill>
                <a:latin typeface="メイリオ"/>
                <a:ea typeface="メイリオ"/>
                <a:cs typeface="メイリオ"/>
              </a:rPr>
              <a:t>30/50  B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81000" y="1504950"/>
            <a:ext cx="3619500" cy="266700"/>
          </a:xfrm>
          <a:prstGeom prst="rect">
            <a:avLst/>
          </a:prstGeom>
          <a:solidFill>
            <a:srgbClr val="1C36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533400" y="1504950"/>
            <a:ext cx="3314700" cy="2667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◤ LP構造マップ（読み進み順）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81000" y="1771650"/>
            <a:ext cx="3619500" cy="2362200"/>
          </a:xfrm>
          <a:prstGeom prst="rect">
            <a:avLst/>
          </a:prstGeom>
          <a:solidFill>
            <a:srgbClr val="F4F5F8"/>
          </a:solidFill>
          <a:ln w="6350">
            <a:solidFill>
              <a:srgbClr val="D0D4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Oval 19"/>
          <p:cNvSpPr/>
          <p:nvPr/>
        </p:nvSpPr>
        <p:spPr>
          <a:xfrm>
            <a:off x="457200" y="1809750"/>
            <a:ext cx="209550" cy="209550"/>
          </a:xfrm>
          <a:prstGeom prst="ellipse">
            <a:avLst/>
          </a:prstGeom>
          <a:solidFill>
            <a:srgbClr val="1C36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457200" y="1809750"/>
            <a:ext cx="209550" cy="20955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42950" y="1809750"/>
            <a:ext cx="3162300" cy="238125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</a:pPr>
            <a:r>
              <a:rPr sz="1400" b="1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ヘッダー</a:t>
            </a:r>
            <a:r>
              <a:rPr sz="1400" b="0" i="0">
                <a:solidFill>
                  <a:srgbClr val="606060"/>
                </a:solidFill>
                <a:latin typeface="メイリオ"/>
                <a:ea typeface="メイリオ"/>
                <a:cs typeface="メイリオ"/>
              </a:rPr>
              <a:t>  ロゴ・ナビゲーション</a:t>
            </a:r>
          </a:p>
        </p:txBody>
      </p:sp>
      <p:sp>
        <p:nvSpPr>
          <p:cNvPr id="23" name="Oval 22"/>
          <p:cNvSpPr/>
          <p:nvPr/>
        </p:nvSpPr>
        <p:spPr>
          <a:xfrm>
            <a:off x="457200" y="2066925"/>
            <a:ext cx="209550" cy="209550"/>
          </a:xfrm>
          <a:prstGeom prst="ellipse">
            <a:avLst/>
          </a:prstGeom>
          <a:solidFill>
            <a:srgbClr val="D002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457200" y="2066925"/>
            <a:ext cx="209550" cy="20955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42950" y="2066925"/>
            <a:ext cx="3162300" cy="238125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</a:pPr>
            <a:r>
              <a:rPr sz="1400" b="1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ファーストビュー</a:t>
            </a:r>
            <a:r>
              <a:rPr sz="1400" b="0" i="0">
                <a:solidFill>
                  <a:srgbClr val="606060"/>
                </a:solidFill>
                <a:latin typeface="メイリオ"/>
                <a:ea typeface="メイリオ"/>
                <a:cs typeface="メイリオ"/>
              </a:rPr>
              <a:t>  メインコピー・説明文</a:t>
            </a:r>
          </a:p>
        </p:txBody>
      </p:sp>
      <p:sp>
        <p:nvSpPr>
          <p:cNvPr id="26" name="Oval 25"/>
          <p:cNvSpPr/>
          <p:nvPr/>
        </p:nvSpPr>
        <p:spPr>
          <a:xfrm>
            <a:off x="457200" y="2324100"/>
            <a:ext cx="209550" cy="209550"/>
          </a:xfrm>
          <a:prstGeom prst="ellipse">
            <a:avLst/>
          </a:prstGeom>
          <a:solidFill>
            <a:srgbClr val="1C36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457200" y="2324100"/>
            <a:ext cx="209550" cy="20955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42950" y="2324100"/>
            <a:ext cx="3162300" cy="238125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</a:pPr>
            <a:r>
              <a:rPr sz="1400" b="1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実績バー</a:t>
            </a:r>
            <a:r>
              <a:rPr sz="1400" b="0" i="0">
                <a:solidFill>
                  <a:srgbClr val="606060"/>
                </a:solidFill>
                <a:latin typeface="メイリオ"/>
                <a:ea typeface="メイリオ"/>
                <a:cs typeface="メイリオ"/>
              </a:rPr>
              <a:t>  数値で信頼を訴求</a:t>
            </a:r>
          </a:p>
        </p:txBody>
      </p:sp>
      <p:sp>
        <p:nvSpPr>
          <p:cNvPr id="29" name="Oval 28"/>
          <p:cNvSpPr/>
          <p:nvPr/>
        </p:nvSpPr>
        <p:spPr>
          <a:xfrm>
            <a:off x="457200" y="2581275"/>
            <a:ext cx="209550" cy="209550"/>
          </a:xfrm>
          <a:prstGeom prst="ellipse">
            <a:avLst/>
          </a:prstGeom>
          <a:solidFill>
            <a:srgbClr val="D002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457200" y="2581275"/>
            <a:ext cx="209550" cy="20955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42950" y="2581275"/>
            <a:ext cx="3162300" cy="238125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</a:pPr>
            <a:r>
              <a:rPr sz="1400" b="1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特徴セクション</a:t>
            </a:r>
            <a:r>
              <a:rPr sz="1400" b="0" i="0">
                <a:solidFill>
                  <a:srgbClr val="606060"/>
                </a:solidFill>
                <a:latin typeface="メイリオ"/>
                <a:ea typeface="メイリオ"/>
                <a:cs typeface="メイリオ"/>
              </a:rPr>
              <a:t>  7つの特徴を訴求</a:t>
            </a:r>
          </a:p>
        </p:txBody>
      </p:sp>
      <p:sp>
        <p:nvSpPr>
          <p:cNvPr id="32" name="Oval 31"/>
          <p:cNvSpPr/>
          <p:nvPr/>
        </p:nvSpPr>
        <p:spPr>
          <a:xfrm>
            <a:off x="457200" y="2838450"/>
            <a:ext cx="209550" cy="209550"/>
          </a:xfrm>
          <a:prstGeom prst="ellipse">
            <a:avLst/>
          </a:prstGeom>
          <a:solidFill>
            <a:srgbClr val="1C36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TextBox 32"/>
          <p:cNvSpPr txBox="1"/>
          <p:nvPr/>
        </p:nvSpPr>
        <p:spPr>
          <a:xfrm>
            <a:off x="457200" y="2838450"/>
            <a:ext cx="209550" cy="20955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42950" y="2838450"/>
            <a:ext cx="3162300" cy="238125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</a:pPr>
            <a:r>
              <a:rPr sz="1400" b="1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講師紹介</a:t>
            </a:r>
            <a:r>
              <a:rPr sz="1400" b="0" i="0">
                <a:solidFill>
                  <a:srgbClr val="606060"/>
                </a:solidFill>
                <a:latin typeface="メイリオ"/>
                <a:ea typeface="メイリオ"/>
                <a:cs typeface="メイリオ"/>
              </a:rPr>
              <a:t>  安心感を伝える</a:t>
            </a:r>
          </a:p>
        </p:txBody>
      </p:sp>
      <p:sp>
        <p:nvSpPr>
          <p:cNvPr id="35" name="Oval 34"/>
          <p:cNvSpPr/>
          <p:nvPr/>
        </p:nvSpPr>
        <p:spPr>
          <a:xfrm>
            <a:off x="457200" y="3095625"/>
            <a:ext cx="209550" cy="209550"/>
          </a:xfrm>
          <a:prstGeom prst="ellipse">
            <a:avLst/>
          </a:prstGeom>
          <a:solidFill>
            <a:srgbClr val="D002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6" name="TextBox 35"/>
          <p:cNvSpPr txBox="1"/>
          <p:nvPr/>
        </p:nvSpPr>
        <p:spPr>
          <a:xfrm>
            <a:off x="457200" y="3095625"/>
            <a:ext cx="209550" cy="20955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6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42950" y="3095625"/>
            <a:ext cx="3162300" cy="238125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</a:pPr>
            <a:r>
              <a:rPr sz="1400" b="1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料金プラン</a:t>
            </a:r>
            <a:r>
              <a:rPr sz="1400" b="0" i="0">
                <a:solidFill>
                  <a:srgbClr val="606060"/>
                </a:solidFill>
                <a:latin typeface="メイリオ"/>
                <a:ea typeface="メイリオ"/>
                <a:cs typeface="メイリオ"/>
              </a:rPr>
              <a:t>  5つのプラン比較</a:t>
            </a:r>
          </a:p>
        </p:txBody>
      </p:sp>
      <p:sp>
        <p:nvSpPr>
          <p:cNvPr id="38" name="Oval 37"/>
          <p:cNvSpPr/>
          <p:nvPr/>
        </p:nvSpPr>
        <p:spPr>
          <a:xfrm>
            <a:off x="457200" y="3352800"/>
            <a:ext cx="209550" cy="209550"/>
          </a:xfrm>
          <a:prstGeom prst="ellipse">
            <a:avLst/>
          </a:prstGeom>
          <a:solidFill>
            <a:srgbClr val="1C36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9" name="TextBox 38"/>
          <p:cNvSpPr txBox="1"/>
          <p:nvPr/>
        </p:nvSpPr>
        <p:spPr>
          <a:xfrm>
            <a:off x="457200" y="3352800"/>
            <a:ext cx="209550" cy="20955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7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42950" y="3352800"/>
            <a:ext cx="3162300" cy="238125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</a:pPr>
            <a:r>
              <a:rPr sz="1400" b="1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受講生の声</a:t>
            </a:r>
            <a:r>
              <a:rPr sz="1400" b="0" i="0">
                <a:solidFill>
                  <a:srgbClr val="606060"/>
                </a:solidFill>
                <a:latin typeface="メイリオ"/>
                <a:ea typeface="メイリオ"/>
                <a:cs typeface="メイリオ"/>
              </a:rPr>
              <a:t>  口コミ・レビュー</a:t>
            </a:r>
          </a:p>
        </p:txBody>
      </p:sp>
      <p:sp>
        <p:nvSpPr>
          <p:cNvPr id="41" name="Oval 40"/>
          <p:cNvSpPr/>
          <p:nvPr/>
        </p:nvSpPr>
        <p:spPr>
          <a:xfrm>
            <a:off x="457200" y="3609975"/>
            <a:ext cx="209550" cy="209550"/>
          </a:xfrm>
          <a:prstGeom prst="ellipse">
            <a:avLst/>
          </a:prstGeom>
          <a:solidFill>
            <a:srgbClr val="D002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2" name="TextBox 41"/>
          <p:cNvSpPr txBox="1"/>
          <p:nvPr/>
        </p:nvSpPr>
        <p:spPr>
          <a:xfrm>
            <a:off x="457200" y="3609975"/>
            <a:ext cx="209550" cy="20955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8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42950" y="3609975"/>
            <a:ext cx="3162300" cy="238125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</a:pPr>
            <a:r>
              <a:rPr sz="1400" b="1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最終CTA</a:t>
            </a:r>
            <a:r>
              <a:rPr sz="1400" b="0" i="0">
                <a:solidFill>
                  <a:srgbClr val="606060"/>
                </a:solidFill>
                <a:latin typeface="メイリオ"/>
                <a:ea typeface="メイリオ"/>
                <a:cs typeface="メイリオ"/>
              </a:rPr>
              <a:t>  問い合わせボタン</a:t>
            </a:r>
          </a:p>
        </p:txBody>
      </p:sp>
      <p:sp>
        <p:nvSpPr>
          <p:cNvPr id="44" name="Oval 43"/>
          <p:cNvSpPr/>
          <p:nvPr/>
        </p:nvSpPr>
        <p:spPr>
          <a:xfrm>
            <a:off x="457200" y="3867150"/>
            <a:ext cx="209550" cy="209550"/>
          </a:xfrm>
          <a:prstGeom prst="ellipse">
            <a:avLst/>
          </a:prstGeom>
          <a:solidFill>
            <a:srgbClr val="1C36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5" name="TextBox 44"/>
          <p:cNvSpPr txBox="1"/>
          <p:nvPr/>
        </p:nvSpPr>
        <p:spPr>
          <a:xfrm>
            <a:off x="457200" y="3867150"/>
            <a:ext cx="209550" cy="20955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9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42950" y="3867150"/>
            <a:ext cx="3162300" cy="238125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</a:pPr>
            <a:r>
              <a:rPr sz="1400" b="1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フッター</a:t>
            </a:r>
            <a:r>
              <a:rPr sz="1400" b="0" i="0">
                <a:solidFill>
                  <a:srgbClr val="606060"/>
                </a:solidFill>
                <a:latin typeface="メイリオ"/>
                <a:ea typeface="メイリオ"/>
                <a:cs typeface="メイリオ"/>
              </a:rPr>
              <a:t>  会社情報・規約</a:t>
            </a:r>
          </a:p>
        </p:txBody>
      </p:sp>
      <p:sp>
        <p:nvSpPr>
          <p:cNvPr id="47" name="Rectangle 46"/>
          <p:cNvSpPr/>
          <p:nvPr/>
        </p:nvSpPr>
        <p:spPr>
          <a:xfrm>
            <a:off x="4114800" y="1504950"/>
            <a:ext cx="3619500" cy="266700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8" name="TextBox 47"/>
          <p:cNvSpPr txBox="1"/>
          <p:nvPr/>
        </p:nvSpPr>
        <p:spPr>
          <a:xfrm>
            <a:off x="4267200" y="1504950"/>
            <a:ext cx="3314700" cy="2667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◤ 総評</a:t>
            </a:r>
          </a:p>
        </p:txBody>
      </p:sp>
      <p:sp>
        <p:nvSpPr>
          <p:cNvPr id="49" name="Rectangle 48"/>
          <p:cNvSpPr/>
          <p:nvPr/>
        </p:nvSpPr>
        <p:spPr>
          <a:xfrm>
            <a:off x="4114800" y="1771650"/>
            <a:ext cx="3619500" cy="781050"/>
          </a:xfrm>
          <a:prstGeom prst="rect">
            <a:avLst/>
          </a:prstGeom>
          <a:solidFill>
            <a:srgbClr val="FEF1E3"/>
          </a:solidFill>
          <a:ln w="6350">
            <a:solidFill>
              <a:srgbClr val="D0D4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0" name="TextBox 49"/>
          <p:cNvSpPr txBox="1"/>
          <p:nvPr/>
        </p:nvSpPr>
        <p:spPr>
          <a:xfrm>
            <a:off x="4248150" y="1847850"/>
            <a:ext cx="3352800" cy="6667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50000"/>
              </a:lnSpc>
            </a:pPr>
            <a:r>
              <a:rPr sz="1400" b="0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見やすく整っているが、行動動機と信頼根拠の訴求が弱い。</a:t>
            </a:r>
          </a:p>
        </p:txBody>
      </p:sp>
      <p:sp>
        <p:nvSpPr>
          <p:cNvPr id="51" name="Rectangle 50"/>
          <p:cNvSpPr/>
          <p:nvPr/>
        </p:nvSpPr>
        <p:spPr>
          <a:xfrm>
            <a:off x="4114800" y="2647950"/>
            <a:ext cx="3619500" cy="266700"/>
          </a:xfrm>
          <a:prstGeom prst="rect">
            <a:avLst/>
          </a:prstGeom>
          <a:solidFill>
            <a:srgbClr val="D002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2" name="TextBox 51"/>
          <p:cNvSpPr txBox="1"/>
          <p:nvPr/>
        </p:nvSpPr>
        <p:spPr>
          <a:xfrm>
            <a:off x="4267200" y="2647950"/>
            <a:ext cx="3314700" cy="2667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⚠ 最重要課題（Top3）</a:t>
            </a:r>
          </a:p>
        </p:txBody>
      </p:sp>
      <p:sp>
        <p:nvSpPr>
          <p:cNvPr id="53" name="Rectangle 52"/>
          <p:cNvSpPr/>
          <p:nvPr/>
        </p:nvSpPr>
        <p:spPr>
          <a:xfrm>
            <a:off x="4114800" y="2914650"/>
            <a:ext cx="3619500" cy="1219200"/>
          </a:xfrm>
          <a:prstGeom prst="rect">
            <a:avLst/>
          </a:prstGeom>
          <a:solidFill>
            <a:srgbClr val="FDECEC"/>
          </a:solidFill>
          <a:ln w="6350">
            <a:solidFill>
              <a:srgbClr val="D0D4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4" name="TextBox 53"/>
          <p:cNvSpPr txBox="1"/>
          <p:nvPr/>
        </p:nvSpPr>
        <p:spPr>
          <a:xfrm>
            <a:off x="4248150" y="2990850"/>
            <a:ext cx="3352800" cy="10668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50000"/>
              </a:lnSpc>
            </a:pPr>
            <a:r>
              <a:rPr sz="1400" b="0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1. ファーストビューに主要CTAがなく行動できない</a:t>
            </a:r>
          </a:p>
          <a:p>
            <a:pPr algn="l">
              <a:lnSpc>
                <a:spcPct val="150000"/>
              </a:lnSpc>
            </a:pPr>
            <a:r>
              <a:rPr sz="1400" b="0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2. 受講後の成果・ベネフィットが弱く決め手に欠ける</a:t>
            </a:r>
          </a:p>
          <a:p>
            <a:pPr algn="l">
              <a:lnSpc>
                <a:spcPct val="150000"/>
              </a:lnSpc>
            </a:pPr>
            <a:r>
              <a:rPr sz="1400" b="0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3. 受講生の声が短く信頼材料として説得力不足</a:t>
            </a:r>
          </a:p>
        </p:txBody>
      </p:sp>
      <p:sp>
        <p:nvSpPr>
          <p:cNvPr id="55" name="Rectangle 54"/>
          <p:cNvSpPr/>
          <p:nvPr/>
        </p:nvSpPr>
        <p:spPr>
          <a:xfrm>
            <a:off x="7848600" y="1504950"/>
            <a:ext cx="3962400" cy="266700"/>
          </a:xfrm>
          <a:prstGeom prst="rect">
            <a:avLst/>
          </a:prstGeom>
          <a:solidFill>
            <a:srgbClr val="1C36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6" name="TextBox 55"/>
          <p:cNvSpPr txBox="1"/>
          <p:nvPr/>
        </p:nvSpPr>
        <p:spPr>
          <a:xfrm>
            <a:off x="8001000" y="1504950"/>
            <a:ext cx="3657600" cy="2667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◎ 強み（活かすべき点）</a:t>
            </a:r>
          </a:p>
        </p:txBody>
      </p:sp>
      <p:sp>
        <p:nvSpPr>
          <p:cNvPr id="57" name="Rectangle 56"/>
          <p:cNvSpPr/>
          <p:nvPr/>
        </p:nvSpPr>
        <p:spPr>
          <a:xfrm>
            <a:off x="7848600" y="1771650"/>
            <a:ext cx="3962400" cy="2362200"/>
          </a:xfrm>
          <a:prstGeom prst="rect">
            <a:avLst/>
          </a:prstGeom>
          <a:solidFill>
            <a:srgbClr val="F4F5F8"/>
          </a:solidFill>
          <a:ln w="6350">
            <a:solidFill>
              <a:srgbClr val="D0D4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8" name="TextBox 57"/>
          <p:cNvSpPr txBox="1"/>
          <p:nvPr/>
        </p:nvSpPr>
        <p:spPr>
          <a:xfrm>
            <a:off x="8001000" y="1847850"/>
            <a:ext cx="3657600" cy="22098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70000"/>
              </a:lnSpc>
            </a:pPr>
            <a:r>
              <a:rPr sz="1400" b="0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● 余白が広く、読みやすいレイアウトで安心感がある</a:t>
            </a:r>
          </a:p>
          <a:p>
            <a:pPr algn="l">
              <a:lnSpc>
                <a:spcPct val="170000"/>
              </a:lnSpc>
            </a:pPr>
            <a:r>
              <a:rPr sz="1400" b="0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● 料金・特徴・講師情報が整理され、サービス概要を把握しやすい</a:t>
            </a:r>
          </a:p>
          <a:p>
            <a:pPr algn="l">
              <a:lnSpc>
                <a:spcPct val="170000"/>
              </a:lnSpc>
            </a:pPr>
            <a:r>
              <a:rPr sz="1400" b="0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● 青基調の配色で教育サービスらしい信頼感が出ている</a:t>
            </a:r>
          </a:p>
        </p:txBody>
      </p:sp>
      <p:sp>
        <p:nvSpPr>
          <p:cNvPr id="59" name="Rectangle 58"/>
          <p:cNvSpPr/>
          <p:nvPr/>
        </p:nvSpPr>
        <p:spPr>
          <a:xfrm>
            <a:off x="381000" y="4229100"/>
            <a:ext cx="11430000" cy="266700"/>
          </a:xfrm>
          <a:prstGeom prst="rect">
            <a:avLst/>
          </a:prstGeom>
          <a:solidFill>
            <a:srgbClr val="1C36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0" name="TextBox 59"/>
          <p:cNvSpPr txBox="1"/>
          <p:nvPr/>
        </p:nvSpPr>
        <p:spPr>
          <a:xfrm>
            <a:off x="533400" y="4229100"/>
            <a:ext cx="11125200" cy="2667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◤ ユーザー行動フローと課題</a:t>
            </a:r>
          </a:p>
        </p:txBody>
      </p:sp>
      <p:sp>
        <p:nvSpPr>
          <p:cNvPr id="61" name="Rectangle 60"/>
          <p:cNvSpPr/>
          <p:nvPr/>
        </p:nvSpPr>
        <p:spPr>
          <a:xfrm>
            <a:off x="381000" y="4495800"/>
            <a:ext cx="11430000" cy="1219200"/>
          </a:xfrm>
          <a:prstGeom prst="rect">
            <a:avLst/>
          </a:prstGeom>
          <a:solidFill>
            <a:srgbClr val="FFFFFF"/>
          </a:solidFill>
          <a:ln w="6350">
            <a:solidFill>
              <a:srgbClr val="D0D4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2" name="Oval 61"/>
          <p:cNvSpPr/>
          <p:nvPr/>
        </p:nvSpPr>
        <p:spPr>
          <a:xfrm>
            <a:off x="1162050" y="4591050"/>
            <a:ext cx="342900" cy="342900"/>
          </a:xfrm>
          <a:prstGeom prst="ellipse">
            <a:avLst/>
          </a:prstGeom>
          <a:solidFill>
            <a:srgbClr val="1C36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3" name="TextBox 62"/>
          <p:cNvSpPr txBox="1"/>
          <p:nvPr/>
        </p:nvSpPr>
        <p:spPr>
          <a:xfrm>
            <a:off x="1162050" y="4638675"/>
            <a:ext cx="342900" cy="24765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✓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476250" y="4991100"/>
            <a:ext cx="1714500" cy="5715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>
              <a:lnSpc>
                <a:spcPct val="110000"/>
              </a:lnSpc>
            </a:pPr>
            <a:r>
              <a:rPr sz="1400" b="1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見る</a:t>
            </a:r>
          </a:p>
          <a:p>
            <a:pPr algn="ctr">
              <a:lnSpc>
                <a:spcPct val="120000"/>
              </a:lnSpc>
            </a:pPr>
            <a:r>
              <a:rPr sz="1400" b="0" i="0">
                <a:solidFill>
                  <a:srgbClr val="606060"/>
                </a:solidFill>
                <a:latin typeface="メイリオ"/>
                <a:ea typeface="メイリオ"/>
                <a:cs typeface="メイリオ"/>
              </a:rPr>
              <a:t/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2266950" y="4629150"/>
            <a:ext cx="114300" cy="2667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800" b="1" i="0">
                <a:solidFill>
                  <a:srgbClr val="606060"/>
                </a:solidFill>
                <a:latin typeface="メイリオ"/>
                <a:ea typeface="メイリオ"/>
                <a:cs typeface="メイリオ"/>
              </a:rPr>
              <a:t>→</a:t>
            </a:r>
          </a:p>
        </p:txBody>
      </p:sp>
      <p:sp>
        <p:nvSpPr>
          <p:cNvPr id="66" name="Oval 65"/>
          <p:cNvSpPr/>
          <p:nvPr/>
        </p:nvSpPr>
        <p:spPr>
          <a:xfrm>
            <a:off x="3067050" y="4591050"/>
            <a:ext cx="342900" cy="342900"/>
          </a:xfrm>
          <a:prstGeom prst="ellipse">
            <a:avLst/>
          </a:prstGeom>
          <a:solidFill>
            <a:srgbClr val="1C36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7" name="TextBox 66"/>
          <p:cNvSpPr txBox="1"/>
          <p:nvPr/>
        </p:nvSpPr>
        <p:spPr>
          <a:xfrm>
            <a:off x="3067050" y="4638675"/>
            <a:ext cx="342900" cy="24765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✓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2381250" y="4991100"/>
            <a:ext cx="1714500" cy="5715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>
              <a:lnSpc>
                <a:spcPct val="110000"/>
              </a:lnSpc>
            </a:pPr>
            <a:r>
              <a:rPr sz="1400" b="1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興味</a:t>
            </a:r>
          </a:p>
          <a:p>
            <a:pPr algn="ctr">
              <a:lnSpc>
                <a:spcPct val="120000"/>
              </a:lnSpc>
            </a:pPr>
            <a:r>
              <a:rPr sz="1400" b="0" i="0">
                <a:solidFill>
                  <a:srgbClr val="606060"/>
                </a:solidFill>
                <a:latin typeface="メイリオ"/>
                <a:ea typeface="メイリオ"/>
                <a:cs typeface="メイリオ"/>
              </a:rPr>
              <a:t/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4171950" y="4629150"/>
            <a:ext cx="114300" cy="2667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800" b="1" i="0">
                <a:solidFill>
                  <a:srgbClr val="606060"/>
                </a:solidFill>
                <a:latin typeface="メイリオ"/>
                <a:ea typeface="メイリオ"/>
                <a:cs typeface="メイリオ"/>
              </a:rPr>
              <a:t>→</a:t>
            </a:r>
          </a:p>
        </p:txBody>
      </p:sp>
      <p:sp>
        <p:nvSpPr>
          <p:cNvPr id="70" name="Oval 69"/>
          <p:cNvSpPr/>
          <p:nvPr/>
        </p:nvSpPr>
        <p:spPr>
          <a:xfrm>
            <a:off x="4972050" y="4591050"/>
            <a:ext cx="342900" cy="342900"/>
          </a:xfrm>
          <a:prstGeom prst="ellipse">
            <a:avLst/>
          </a:prstGeom>
          <a:solidFill>
            <a:srgbClr val="D002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1" name="TextBox 70"/>
          <p:cNvSpPr txBox="1"/>
          <p:nvPr/>
        </p:nvSpPr>
        <p:spPr>
          <a:xfrm>
            <a:off x="4972050" y="4638675"/>
            <a:ext cx="342900" cy="24765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✕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4286250" y="4991100"/>
            <a:ext cx="1714500" cy="5715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>
              <a:lnSpc>
                <a:spcPct val="110000"/>
              </a:lnSpc>
            </a:pPr>
            <a:r>
              <a:rPr sz="1400" b="1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信頼</a:t>
            </a:r>
          </a:p>
          <a:p>
            <a:pPr algn="ctr">
              <a:lnSpc>
                <a:spcPct val="120000"/>
              </a:lnSpc>
            </a:pPr>
            <a:r>
              <a:rPr sz="1400" b="0" i="0">
                <a:solidFill>
                  <a:srgbClr val="606060"/>
                </a:solidFill>
                <a:latin typeface="メイリオ"/>
                <a:ea typeface="メイリオ"/>
                <a:cs typeface="メイリオ"/>
              </a:rPr>
              <a:t>実績根拠が不足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6076950" y="4629150"/>
            <a:ext cx="114300" cy="2667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800" b="1" i="0">
                <a:solidFill>
                  <a:srgbClr val="606060"/>
                </a:solidFill>
                <a:latin typeface="メイリオ"/>
                <a:ea typeface="メイリオ"/>
                <a:cs typeface="メイリオ"/>
              </a:rPr>
              <a:t>→</a:t>
            </a:r>
          </a:p>
        </p:txBody>
      </p:sp>
      <p:sp>
        <p:nvSpPr>
          <p:cNvPr id="74" name="Oval 73"/>
          <p:cNvSpPr/>
          <p:nvPr/>
        </p:nvSpPr>
        <p:spPr>
          <a:xfrm>
            <a:off x="6877050" y="4591050"/>
            <a:ext cx="342900" cy="342900"/>
          </a:xfrm>
          <a:prstGeom prst="ellipse">
            <a:avLst/>
          </a:prstGeom>
          <a:solidFill>
            <a:srgbClr val="D002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5" name="TextBox 74"/>
          <p:cNvSpPr txBox="1"/>
          <p:nvPr/>
        </p:nvSpPr>
        <p:spPr>
          <a:xfrm>
            <a:off x="6877050" y="4638675"/>
            <a:ext cx="342900" cy="24765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✕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6191250" y="4991100"/>
            <a:ext cx="1714500" cy="5715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>
              <a:lnSpc>
                <a:spcPct val="110000"/>
              </a:lnSpc>
            </a:pPr>
            <a:r>
              <a:rPr sz="1400" b="1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料金確認</a:t>
            </a:r>
          </a:p>
          <a:p>
            <a:pPr algn="ctr">
              <a:lnSpc>
                <a:spcPct val="120000"/>
              </a:lnSpc>
            </a:pPr>
            <a:r>
              <a:rPr sz="1400" b="0" i="0">
                <a:solidFill>
                  <a:srgbClr val="606060"/>
                </a:solidFill>
                <a:latin typeface="メイリオ"/>
                <a:ea typeface="メイリオ"/>
                <a:cs typeface="メイリオ"/>
              </a:rPr>
              <a:t>CTAが見つからない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7981950" y="4629150"/>
            <a:ext cx="114300" cy="2667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800" b="1" i="0">
                <a:solidFill>
                  <a:srgbClr val="606060"/>
                </a:solidFill>
                <a:latin typeface="メイリオ"/>
                <a:ea typeface="メイリオ"/>
                <a:cs typeface="メイリオ"/>
              </a:rPr>
              <a:t>→</a:t>
            </a:r>
          </a:p>
        </p:txBody>
      </p:sp>
      <p:sp>
        <p:nvSpPr>
          <p:cNvPr id="78" name="Oval 77"/>
          <p:cNvSpPr/>
          <p:nvPr/>
        </p:nvSpPr>
        <p:spPr>
          <a:xfrm>
            <a:off x="8782050" y="4591050"/>
            <a:ext cx="342900" cy="342900"/>
          </a:xfrm>
          <a:prstGeom prst="ellipse">
            <a:avLst/>
          </a:prstGeom>
          <a:solidFill>
            <a:srgbClr val="D002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9" name="TextBox 78"/>
          <p:cNvSpPr txBox="1"/>
          <p:nvPr/>
        </p:nvSpPr>
        <p:spPr>
          <a:xfrm>
            <a:off x="8782050" y="4638675"/>
            <a:ext cx="342900" cy="24765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✕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8096250" y="4991100"/>
            <a:ext cx="1714500" cy="5715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>
              <a:lnSpc>
                <a:spcPct val="110000"/>
              </a:lnSpc>
            </a:pPr>
            <a:r>
              <a:rPr sz="1400" b="1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迷う</a:t>
            </a:r>
          </a:p>
          <a:p>
            <a:pPr algn="ctr">
              <a:lnSpc>
                <a:spcPct val="120000"/>
              </a:lnSpc>
            </a:pPr>
            <a:r>
              <a:rPr sz="1400" b="0" i="0">
                <a:solidFill>
                  <a:srgbClr val="606060"/>
                </a:solidFill>
                <a:latin typeface="メイリオ"/>
                <a:ea typeface="メイリオ"/>
                <a:cs typeface="メイリオ"/>
              </a:rPr>
              <a:t>次のアクション不明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9886950" y="4629150"/>
            <a:ext cx="114300" cy="2667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800" b="1" i="0">
                <a:solidFill>
                  <a:srgbClr val="606060"/>
                </a:solidFill>
                <a:latin typeface="メイリオ"/>
                <a:ea typeface="メイリオ"/>
                <a:cs typeface="メイリオ"/>
              </a:rPr>
              <a:t>→</a:t>
            </a:r>
          </a:p>
        </p:txBody>
      </p:sp>
      <p:sp>
        <p:nvSpPr>
          <p:cNvPr id="82" name="Oval 81"/>
          <p:cNvSpPr/>
          <p:nvPr/>
        </p:nvSpPr>
        <p:spPr>
          <a:xfrm>
            <a:off x="10687050" y="4591050"/>
            <a:ext cx="342900" cy="342900"/>
          </a:xfrm>
          <a:prstGeom prst="ellipse">
            <a:avLst/>
          </a:prstGeom>
          <a:solidFill>
            <a:srgbClr val="D002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3" name="TextBox 82"/>
          <p:cNvSpPr txBox="1"/>
          <p:nvPr/>
        </p:nvSpPr>
        <p:spPr>
          <a:xfrm>
            <a:off x="10687050" y="4638675"/>
            <a:ext cx="342900" cy="24765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✕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10001250" y="4991100"/>
            <a:ext cx="1714500" cy="5715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>
              <a:lnSpc>
                <a:spcPct val="110000"/>
              </a:lnSpc>
            </a:pPr>
            <a:r>
              <a:rPr sz="1400" b="1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離脱</a:t>
            </a:r>
          </a:p>
          <a:p>
            <a:pPr algn="ctr">
              <a:lnSpc>
                <a:spcPct val="120000"/>
              </a:lnSpc>
            </a:pPr>
            <a:r>
              <a:rPr sz="1400" b="0" i="0">
                <a:solidFill>
                  <a:srgbClr val="606060"/>
                </a:solidFill>
                <a:latin typeface="メイリオ"/>
                <a:ea typeface="メイリオ"/>
                <a:cs typeface="メイリオ"/>
              </a:rPr>
              <a:t>最終CTA文言が弱い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533400" y="5429250"/>
            <a:ext cx="11125200" cy="2095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400" b="1" i="0">
                <a:solidFill>
                  <a:srgbClr val="D0021B"/>
                </a:solidFill>
                <a:latin typeface="メイリオ"/>
                <a:ea typeface="メイリオ"/>
                <a:cs typeface="メイリオ"/>
              </a:rPr>
              <a:t>→ 行動の壁が多く、興味を持ったユーザーを逃している</a:t>
            </a:r>
          </a:p>
        </p:txBody>
      </p:sp>
      <p:sp>
        <p:nvSpPr>
          <p:cNvPr id="86" name="Rectangle 85"/>
          <p:cNvSpPr/>
          <p:nvPr/>
        </p:nvSpPr>
        <p:spPr>
          <a:xfrm>
            <a:off x="381000" y="5905500"/>
            <a:ext cx="11430000" cy="266700"/>
          </a:xfrm>
          <a:prstGeom prst="rect">
            <a:avLst/>
          </a:prstGeom>
          <a:solidFill>
            <a:srgbClr val="FEF1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7" name="Rectangle 86"/>
          <p:cNvSpPr/>
          <p:nvPr/>
        </p:nvSpPr>
        <p:spPr>
          <a:xfrm>
            <a:off x="381000" y="5905500"/>
            <a:ext cx="1047750" cy="266700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8" name="TextBox 87"/>
          <p:cNvSpPr txBox="1"/>
          <p:nvPr/>
        </p:nvSpPr>
        <p:spPr>
          <a:xfrm>
            <a:off x="381000" y="5905500"/>
            <a:ext cx="1047750" cy="2667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改善方向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1524000" y="5905500"/>
            <a:ext cx="10191750" cy="2667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1400" b="0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成果訴求と信頼根拠を足し、無料体験への離脱率を改善する</a:t>
            </a:r>
          </a:p>
        </p:txBody>
      </p:sp>
      <p:sp>
        <p:nvSpPr>
          <p:cNvPr id="90" name="Rectangle 89"/>
          <p:cNvSpPr/>
          <p:nvPr/>
        </p:nvSpPr>
        <p:spPr>
          <a:xfrm>
            <a:off x="0" y="6286500"/>
            <a:ext cx="12192000" cy="9525"/>
          </a:xfrm>
          <a:prstGeom prst="rect">
            <a:avLst/>
          </a:prstGeom>
          <a:solidFill>
            <a:srgbClr val="CCCC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1" name="TextBox 90"/>
          <p:cNvSpPr txBox="1"/>
          <p:nvPr/>
        </p:nvSpPr>
        <p:spPr>
          <a:xfrm>
            <a:off x="381000" y="6496050"/>
            <a:ext cx="3810000" cy="2286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400" b="1" i="0">
                <a:solidFill>
                  <a:srgbClr val="1C366C"/>
                </a:solidFill>
                <a:latin typeface="メイリオ"/>
                <a:ea typeface="メイリオ"/>
                <a:cs typeface="メイリオ"/>
              </a:rPr>
              <a:t>UI/UX診断 by GPTs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10858500" y="6524625"/>
            <a:ext cx="1143000" cy="2286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/>
            <a:r>
              <a:rPr sz="1400" b="0" i="0">
                <a:solidFill>
                  <a:srgbClr val="262626"/>
                </a:solidFill>
                <a:latin typeface="メイリオ"/>
                <a:ea typeface="メイリオ"/>
                <a:cs typeface="メイリオ"/>
              </a:rPr>
              <a:t>5 / 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81000" y="152400"/>
            <a:ext cx="57150" cy="533400"/>
          </a:xfrm>
          <a:prstGeom prst="rect">
            <a:avLst/>
          </a:prstGeom>
          <a:solidFill>
            <a:srgbClr val="D002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33400" y="190500"/>
            <a:ext cx="10858500" cy="3238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2400" b="1" i="0">
                <a:solidFill>
                  <a:srgbClr val="1C366C"/>
                </a:solidFill>
                <a:latin typeface="メイリオ"/>
                <a:ea typeface="メイリオ"/>
                <a:cs typeface="メイリオ"/>
              </a:rPr>
              <a:t>【3】ビジュアル診断ボード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3400" y="495300"/>
            <a:ext cx="10858500" cy="2095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400" b="0" i="0">
                <a:solidFill>
                  <a:srgbClr val="606060"/>
                </a:solidFill>
                <a:latin typeface="メイリオ"/>
                <a:ea typeface="メイリオ"/>
                <a:cs typeface="メイリオ"/>
              </a:rPr>
              <a:t>スコア視覚化：10項目評価と強み・最優先課題の俯瞰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81000" y="781050"/>
            <a:ext cx="2771775" cy="609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D4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Rectangle 5"/>
          <p:cNvSpPr/>
          <p:nvPr/>
        </p:nvSpPr>
        <p:spPr>
          <a:xfrm>
            <a:off x="381000" y="781050"/>
            <a:ext cx="38100" cy="609600"/>
          </a:xfrm>
          <a:prstGeom prst="rect">
            <a:avLst/>
          </a:prstGeom>
          <a:solidFill>
            <a:srgbClr val="1C36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533400" y="857250"/>
            <a:ext cx="2543175" cy="4762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606060"/>
                </a:solidFill>
                <a:latin typeface="メイリオ"/>
                <a:ea typeface="メイリオ"/>
                <a:cs typeface="メイリオ"/>
              </a:rPr>
              <a:t>目的</a:t>
            </a:r>
          </a:p>
          <a:p>
            <a:pPr algn="l">
              <a:lnSpc>
                <a:spcPct val="110000"/>
              </a:lnSpc>
            </a:pPr>
            <a:r>
              <a:rPr sz="1400" b="0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無料体験予約・問い合わせ誘導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267075" y="781050"/>
            <a:ext cx="2771775" cy="609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D4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ectangle 8"/>
          <p:cNvSpPr/>
          <p:nvPr/>
        </p:nvSpPr>
        <p:spPr>
          <a:xfrm>
            <a:off x="3267075" y="781050"/>
            <a:ext cx="38100" cy="609600"/>
          </a:xfrm>
          <a:prstGeom prst="rect">
            <a:avLst/>
          </a:prstGeom>
          <a:solidFill>
            <a:srgbClr val="1C36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3419475" y="857250"/>
            <a:ext cx="2543175" cy="4762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606060"/>
                </a:solidFill>
                <a:latin typeface="メイリオ"/>
                <a:ea typeface="メイリオ"/>
                <a:cs typeface="メイリオ"/>
              </a:rPr>
              <a:t>対象</a:t>
            </a:r>
          </a:p>
          <a:p>
            <a:pPr algn="l">
              <a:lnSpc>
                <a:spcPct val="110000"/>
              </a:lnSpc>
            </a:pPr>
            <a:r>
              <a:rPr sz="1400" b="0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スクール紹介LP（英会話）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53150" y="781050"/>
            <a:ext cx="2771775" cy="609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D4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ectangle 11"/>
          <p:cNvSpPr/>
          <p:nvPr/>
        </p:nvSpPr>
        <p:spPr>
          <a:xfrm>
            <a:off x="6153150" y="781050"/>
            <a:ext cx="38100" cy="609600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6305550" y="857250"/>
            <a:ext cx="2543175" cy="4762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606060"/>
                </a:solidFill>
                <a:latin typeface="メイリオ"/>
                <a:ea typeface="メイリオ"/>
                <a:cs typeface="メイリオ"/>
              </a:rPr>
              <a:t>診断日</a:t>
            </a:r>
          </a:p>
          <a:p>
            <a:pPr algn="l">
              <a:lnSpc>
                <a:spcPct val="110000"/>
              </a:lnSpc>
            </a:pPr>
            <a:r>
              <a:rPr sz="1400" b="0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2026年6月4日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039225" y="781050"/>
            <a:ext cx="2771775" cy="609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D4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ectangle 14"/>
          <p:cNvSpPr/>
          <p:nvPr/>
        </p:nvSpPr>
        <p:spPr>
          <a:xfrm>
            <a:off x="9039225" y="781050"/>
            <a:ext cx="38100" cy="609600"/>
          </a:xfrm>
          <a:prstGeom prst="rect">
            <a:avLst/>
          </a:prstGeom>
          <a:solidFill>
            <a:srgbClr val="D002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9191625" y="857250"/>
            <a:ext cx="2543175" cy="4762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606060"/>
                </a:solidFill>
                <a:latin typeface="メイリオ"/>
                <a:ea typeface="メイリオ"/>
                <a:cs typeface="メイリオ"/>
              </a:rPr>
              <a:t>総合スコア</a:t>
            </a:r>
          </a:p>
          <a:p>
            <a:pPr algn="l">
              <a:lnSpc>
                <a:spcPct val="110000"/>
              </a:lnSpc>
            </a:pPr>
            <a:r>
              <a:rPr sz="1400" b="1" i="0">
                <a:solidFill>
                  <a:srgbClr val="1C366C"/>
                </a:solidFill>
                <a:latin typeface="メイリオ"/>
                <a:ea typeface="メイリオ"/>
                <a:cs typeface="メイリオ"/>
              </a:rPr>
              <a:t>30/50  B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81000" y="1504950"/>
            <a:ext cx="5524500" cy="266700"/>
          </a:xfrm>
          <a:prstGeom prst="rect">
            <a:avLst/>
          </a:prstGeom>
          <a:solidFill>
            <a:srgbClr val="1C36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533400" y="1504950"/>
            <a:ext cx="5219700" cy="2667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◤ 10項目スコア（満点5・ギャップ可視化）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81000" y="1771650"/>
            <a:ext cx="5524500" cy="4057650"/>
          </a:xfrm>
          <a:prstGeom prst="rect">
            <a:avLst/>
          </a:prstGeom>
          <a:solidFill>
            <a:srgbClr val="FFFFFF"/>
          </a:solidFill>
          <a:ln w="6350">
            <a:solidFill>
              <a:srgbClr val="D0D4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533400" y="1905000"/>
            <a:ext cx="1714500" cy="2095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400" b="1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ファーストビュー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286000" y="1943100"/>
            <a:ext cx="266700" cy="152400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Rectangle 21"/>
          <p:cNvSpPr/>
          <p:nvPr/>
        </p:nvSpPr>
        <p:spPr>
          <a:xfrm>
            <a:off x="2590800" y="1943100"/>
            <a:ext cx="266700" cy="152400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Rectangle 22"/>
          <p:cNvSpPr/>
          <p:nvPr/>
        </p:nvSpPr>
        <p:spPr>
          <a:xfrm>
            <a:off x="2895600" y="1943100"/>
            <a:ext cx="266700" cy="152400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Rectangle 23"/>
          <p:cNvSpPr/>
          <p:nvPr/>
        </p:nvSpPr>
        <p:spPr>
          <a:xfrm>
            <a:off x="3200400" y="1943100"/>
            <a:ext cx="266700" cy="152400"/>
          </a:xfrm>
          <a:prstGeom prst="rect">
            <a:avLst/>
          </a:prstGeom>
          <a:solidFill>
            <a:srgbClr val="D0D4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ectangle 24"/>
          <p:cNvSpPr/>
          <p:nvPr/>
        </p:nvSpPr>
        <p:spPr>
          <a:xfrm>
            <a:off x="3505200" y="1943100"/>
            <a:ext cx="266700" cy="152400"/>
          </a:xfrm>
          <a:prstGeom prst="rect">
            <a:avLst/>
          </a:prstGeom>
          <a:solidFill>
            <a:srgbClr val="D0D4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3886200" y="1905000"/>
            <a:ext cx="476250" cy="2095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400" b="0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3/5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33400" y="2305050"/>
            <a:ext cx="1714500" cy="2095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400" b="1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キャッチコピー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286000" y="2343150"/>
            <a:ext cx="266700" cy="152400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ectangle 28"/>
          <p:cNvSpPr/>
          <p:nvPr/>
        </p:nvSpPr>
        <p:spPr>
          <a:xfrm>
            <a:off x="2590800" y="2343150"/>
            <a:ext cx="266700" cy="152400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Rectangle 29"/>
          <p:cNvSpPr/>
          <p:nvPr/>
        </p:nvSpPr>
        <p:spPr>
          <a:xfrm>
            <a:off x="2895600" y="2343150"/>
            <a:ext cx="266700" cy="152400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Rectangle 30"/>
          <p:cNvSpPr/>
          <p:nvPr/>
        </p:nvSpPr>
        <p:spPr>
          <a:xfrm>
            <a:off x="3200400" y="2343150"/>
            <a:ext cx="266700" cy="152400"/>
          </a:xfrm>
          <a:prstGeom prst="rect">
            <a:avLst/>
          </a:prstGeom>
          <a:solidFill>
            <a:srgbClr val="D0D4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Rectangle 31"/>
          <p:cNvSpPr/>
          <p:nvPr/>
        </p:nvSpPr>
        <p:spPr>
          <a:xfrm>
            <a:off x="3505200" y="2343150"/>
            <a:ext cx="266700" cy="152400"/>
          </a:xfrm>
          <a:prstGeom prst="rect">
            <a:avLst/>
          </a:prstGeom>
          <a:solidFill>
            <a:srgbClr val="D0D4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TextBox 32"/>
          <p:cNvSpPr txBox="1"/>
          <p:nvPr/>
        </p:nvSpPr>
        <p:spPr>
          <a:xfrm>
            <a:off x="3886200" y="2305050"/>
            <a:ext cx="476250" cy="2095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400" b="0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3/5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33400" y="2705100"/>
            <a:ext cx="1714500" cy="2095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400" b="1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CTA設計</a:t>
            </a:r>
          </a:p>
        </p:txBody>
      </p:sp>
      <p:sp>
        <p:nvSpPr>
          <p:cNvPr id="35" name="Rectangle 34"/>
          <p:cNvSpPr/>
          <p:nvPr/>
        </p:nvSpPr>
        <p:spPr>
          <a:xfrm>
            <a:off x="2286000" y="2743200"/>
            <a:ext cx="266700" cy="152400"/>
          </a:xfrm>
          <a:prstGeom prst="rect">
            <a:avLst/>
          </a:prstGeom>
          <a:solidFill>
            <a:srgbClr val="D002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6" name="Rectangle 35"/>
          <p:cNvSpPr/>
          <p:nvPr/>
        </p:nvSpPr>
        <p:spPr>
          <a:xfrm>
            <a:off x="2590800" y="2743200"/>
            <a:ext cx="266700" cy="152400"/>
          </a:xfrm>
          <a:prstGeom prst="rect">
            <a:avLst/>
          </a:prstGeom>
          <a:solidFill>
            <a:srgbClr val="D0D4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" name="Rectangle 36"/>
          <p:cNvSpPr/>
          <p:nvPr/>
        </p:nvSpPr>
        <p:spPr>
          <a:xfrm>
            <a:off x="2895600" y="2743200"/>
            <a:ext cx="266700" cy="152400"/>
          </a:xfrm>
          <a:prstGeom prst="rect">
            <a:avLst/>
          </a:prstGeom>
          <a:solidFill>
            <a:srgbClr val="D0D4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8" name="Rectangle 37"/>
          <p:cNvSpPr/>
          <p:nvPr/>
        </p:nvSpPr>
        <p:spPr>
          <a:xfrm>
            <a:off x="3200400" y="2743200"/>
            <a:ext cx="266700" cy="152400"/>
          </a:xfrm>
          <a:prstGeom prst="rect">
            <a:avLst/>
          </a:prstGeom>
          <a:solidFill>
            <a:srgbClr val="D0D4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9" name="Rectangle 38"/>
          <p:cNvSpPr/>
          <p:nvPr/>
        </p:nvSpPr>
        <p:spPr>
          <a:xfrm>
            <a:off x="3505200" y="2743200"/>
            <a:ext cx="266700" cy="152400"/>
          </a:xfrm>
          <a:prstGeom prst="rect">
            <a:avLst/>
          </a:prstGeom>
          <a:solidFill>
            <a:srgbClr val="D0D4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0" name="TextBox 39"/>
          <p:cNvSpPr txBox="1"/>
          <p:nvPr/>
        </p:nvSpPr>
        <p:spPr>
          <a:xfrm>
            <a:off x="3886200" y="2705100"/>
            <a:ext cx="476250" cy="2095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400" b="1" i="0">
                <a:solidFill>
                  <a:srgbClr val="D0021B"/>
                </a:solidFill>
                <a:latin typeface="メイリオ"/>
                <a:ea typeface="メイリオ"/>
                <a:cs typeface="メイリオ"/>
              </a:rPr>
              <a:t>1/5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33400" y="3105150"/>
            <a:ext cx="1714500" cy="2095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400" b="1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信頼性・権威性</a:t>
            </a:r>
          </a:p>
        </p:txBody>
      </p:sp>
      <p:sp>
        <p:nvSpPr>
          <p:cNvPr id="42" name="Rectangle 41"/>
          <p:cNvSpPr/>
          <p:nvPr/>
        </p:nvSpPr>
        <p:spPr>
          <a:xfrm>
            <a:off x="2286000" y="3143250"/>
            <a:ext cx="266700" cy="152400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3" name="Rectangle 42"/>
          <p:cNvSpPr/>
          <p:nvPr/>
        </p:nvSpPr>
        <p:spPr>
          <a:xfrm>
            <a:off x="2590800" y="3143250"/>
            <a:ext cx="266700" cy="152400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4" name="Rectangle 43"/>
          <p:cNvSpPr/>
          <p:nvPr/>
        </p:nvSpPr>
        <p:spPr>
          <a:xfrm>
            <a:off x="2895600" y="3143250"/>
            <a:ext cx="266700" cy="152400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5" name="Rectangle 44"/>
          <p:cNvSpPr/>
          <p:nvPr/>
        </p:nvSpPr>
        <p:spPr>
          <a:xfrm>
            <a:off x="3200400" y="3143250"/>
            <a:ext cx="266700" cy="152400"/>
          </a:xfrm>
          <a:prstGeom prst="rect">
            <a:avLst/>
          </a:prstGeom>
          <a:solidFill>
            <a:srgbClr val="D0D4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6" name="Rectangle 45"/>
          <p:cNvSpPr/>
          <p:nvPr/>
        </p:nvSpPr>
        <p:spPr>
          <a:xfrm>
            <a:off x="3505200" y="3143250"/>
            <a:ext cx="266700" cy="152400"/>
          </a:xfrm>
          <a:prstGeom prst="rect">
            <a:avLst/>
          </a:prstGeom>
          <a:solidFill>
            <a:srgbClr val="D0D4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7" name="TextBox 46"/>
          <p:cNvSpPr txBox="1"/>
          <p:nvPr/>
        </p:nvSpPr>
        <p:spPr>
          <a:xfrm>
            <a:off x="3886200" y="3105150"/>
            <a:ext cx="476250" cy="2095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400" b="0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3/5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33400" y="3505200"/>
            <a:ext cx="1714500" cy="2095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400" b="1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フォーム設計</a:t>
            </a:r>
          </a:p>
        </p:txBody>
      </p:sp>
      <p:sp>
        <p:nvSpPr>
          <p:cNvPr id="49" name="Rectangle 48"/>
          <p:cNvSpPr/>
          <p:nvPr/>
        </p:nvSpPr>
        <p:spPr>
          <a:xfrm>
            <a:off x="2286000" y="3543300"/>
            <a:ext cx="266700" cy="152400"/>
          </a:xfrm>
          <a:prstGeom prst="rect">
            <a:avLst/>
          </a:prstGeom>
          <a:solidFill>
            <a:srgbClr val="D002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0" name="Rectangle 49"/>
          <p:cNvSpPr/>
          <p:nvPr/>
        </p:nvSpPr>
        <p:spPr>
          <a:xfrm>
            <a:off x="2590800" y="3543300"/>
            <a:ext cx="266700" cy="152400"/>
          </a:xfrm>
          <a:prstGeom prst="rect">
            <a:avLst/>
          </a:prstGeom>
          <a:solidFill>
            <a:srgbClr val="D0D4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1" name="Rectangle 50"/>
          <p:cNvSpPr/>
          <p:nvPr/>
        </p:nvSpPr>
        <p:spPr>
          <a:xfrm>
            <a:off x="2895600" y="3543300"/>
            <a:ext cx="266700" cy="152400"/>
          </a:xfrm>
          <a:prstGeom prst="rect">
            <a:avLst/>
          </a:prstGeom>
          <a:solidFill>
            <a:srgbClr val="D0D4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2" name="Rectangle 51"/>
          <p:cNvSpPr/>
          <p:nvPr/>
        </p:nvSpPr>
        <p:spPr>
          <a:xfrm>
            <a:off x="3200400" y="3543300"/>
            <a:ext cx="266700" cy="152400"/>
          </a:xfrm>
          <a:prstGeom prst="rect">
            <a:avLst/>
          </a:prstGeom>
          <a:solidFill>
            <a:srgbClr val="D0D4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3" name="Rectangle 52"/>
          <p:cNvSpPr/>
          <p:nvPr/>
        </p:nvSpPr>
        <p:spPr>
          <a:xfrm>
            <a:off x="3505200" y="3543300"/>
            <a:ext cx="266700" cy="152400"/>
          </a:xfrm>
          <a:prstGeom prst="rect">
            <a:avLst/>
          </a:prstGeom>
          <a:solidFill>
            <a:srgbClr val="D0D4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4" name="TextBox 53"/>
          <p:cNvSpPr txBox="1"/>
          <p:nvPr/>
        </p:nvSpPr>
        <p:spPr>
          <a:xfrm>
            <a:off x="3886200" y="3505200"/>
            <a:ext cx="476250" cy="2095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400" b="1" i="0">
                <a:solidFill>
                  <a:srgbClr val="D0021B"/>
                </a:solidFill>
                <a:latin typeface="メイリオ"/>
                <a:ea typeface="メイリオ"/>
                <a:cs typeface="メイリオ"/>
              </a:rPr>
              <a:t>1/5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533400" y="3905250"/>
            <a:ext cx="1714500" cy="2095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400" b="1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レスポンシブ</a:t>
            </a:r>
          </a:p>
        </p:txBody>
      </p:sp>
      <p:sp>
        <p:nvSpPr>
          <p:cNvPr id="56" name="Rectangle 55"/>
          <p:cNvSpPr/>
          <p:nvPr/>
        </p:nvSpPr>
        <p:spPr>
          <a:xfrm>
            <a:off x="2286000" y="3943350"/>
            <a:ext cx="266700" cy="152400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7" name="Rectangle 56"/>
          <p:cNvSpPr/>
          <p:nvPr/>
        </p:nvSpPr>
        <p:spPr>
          <a:xfrm>
            <a:off x="2590800" y="3943350"/>
            <a:ext cx="266700" cy="152400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8" name="Rectangle 57"/>
          <p:cNvSpPr/>
          <p:nvPr/>
        </p:nvSpPr>
        <p:spPr>
          <a:xfrm>
            <a:off x="2895600" y="3943350"/>
            <a:ext cx="266700" cy="152400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9" name="Rectangle 58"/>
          <p:cNvSpPr/>
          <p:nvPr/>
        </p:nvSpPr>
        <p:spPr>
          <a:xfrm>
            <a:off x="3200400" y="3943350"/>
            <a:ext cx="266700" cy="152400"/>
          </a:xfrm>
          <a:prstGeom prst="rect">
            <a:avLst/>
          </a:prstGeom>
          <a:solidFill>
            <a:srgbClr val="D0D4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0" name="Rectangle 59"/>
          <p:cNvSpPr/>
          <p:nvPr/>
        </p:nvSpPr>
        <p:spPr>
          <a:xfrm>
            <a:off x="3505200" y="3943350"/>
            <a:ext cx="266700" cy="152400"/>
          </a:xfrm>
          <a:prstGeom prst="rect">
            <a:avLst/>
          </a:prstGeom>
          <a:solidFill>
            <a:srgbClr val="D0D4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1" name="TextBox 60"/>
          <p:cNvSpPr txBox="1"/>
          <p:nvPr/>
        </p:nvSpPr>
        <p:spPr>
          <a:xfrm>
            <a:off x="3886200" y="3905250"/>
            <a:ext cx="476250" cy="2095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400" b="0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3/5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533400" y="4305300"/>
            <a:ext cx="1714500" cy="2095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400" b="1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読みやすさ</a:t>
            </a:r>
          </a:p>
        </p:txBody>
      </p:sp>
      <p:sp>
        <p:nvSpPr>
          <p:cNvPr id="63" name="Rectangle 62"/>
          <p:cNvSpPr/>
          <p:nvPr/>
        </p:nvSpPr>
        <p:spPr>
          <a:xfrm>
            <a:off x="2286000" y="4343400"/>
            <a:ext cx="266700" cy="152400"/>
          </a:xfrm>
          <a:prstGeom prst="rect">
            <a:avLst/>
          </a:prstGeom>
          <a:solidFill>
            <a:srgbClr val="1C36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4" name="Rectangle 63"/>
          <p:cNvSpPr/>
          <p:nvPr/>
        </p:nvSpPr>
        <p:spPr>
          <a:xfrm>
            <a:off x="2590800" y="4343400"/>
            <a:ext cx="266700" cy="152400"/>
          </a:xfrm>
          <a:prstGeom prst="rect">
            <a:avLst/>
          </a:prstGeom>
          <a:solidFill>
            <a:srgbClr val="1C36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5" name="Rectangle 64"/>
          <p:cNvSpPr/>
          <p:nvPr/>
        </p:nvSpPr>
        <p:spPr>
          <a:xfrm>
            <a:off x="2895600" y="4343400"/>
            <a:ext cx="266700" cy="152400"/>
          </a:xfrm>
          <a:prstGeom prst="rect">
            <a:avLst/>
          </a:prstGeom>
          <a:solidFill>
            <a:srgbClr val="1C36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6" name="Rectangle 65"/>
          <p:cNvSpPr/>
          <p:nvPr/>
        </p:nvSpPr>
        <p:spPr>
          <a:xfrm>
            <a:off x="3200400" y="4343400"/>
            <a:ext cx="266700" cy="152400"/>
          </a:xfrm>
          <a:prstGeom prst="rect">
            <a:avLst/>
          </a:prstGeom>
          <a:solidFill>
            <a:srgbClr val="1C36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7" name="Rectangle 66"/>
          <p:cNvSpPr/>
          <p:nvPr/>
        </p:nvSpPr>
        <p:spPr>
          <a:xfrm>
            <a:off x="3505200" y="4343400"/>
            <a:ext cx="266700" cy="152400"/>
          </a:xfrm>
          <a:prstGeom prst="rect">
            <a:avLst/>
          </a:prstGeom>
          <a:solidFill>
            <a:srgbClr val="1C36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8" name="TextBox 67"/>
          <p:cNvSpPr txBox="1"/>
          <p:nvPr/>
        </p:nvSpPr>
        <p:spPr>
          <a:xfrm>
            <a:off x="3886200" y="4305300"/>
            <a:ext cx="476250" cy="2095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400" b="1" i="0">
                <a:solidFill>
                  <a:srgbClr val="1C366C"/>
                </a:solidFill>
                <a:latin typeface="メイリオ"/>
                <a:ea typeface="メイリオ"/>
                <a:cs typeface="メイリオ"/>
              </a:rPr>
              <a:t>5/5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533400" y="4705350"/>
            <a:ext cx="1714500" cy="2095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400" b="1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情報設計</a:t>
            </a:r>
          </a:p>
        </p:txBody>
      </p:sp>
      <p:sp>
        <p:nvSpPr>
          <p:cNvPr id="70" name="Rectangle 69"/>
          <p:cNvSpPr/>
          <p:nvPr/>
        </p:nvSpPr>
        <p:spPr>
          <a:xfrm>
            <a:off x="2286000" y="4743450"/>
            <a:ext cx="266700" cy="152400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1" name="Rectangle 70"/>
          <p:cNvSpPr/>
          <p:nvPr/>
        </p:nvSpPr>
        <p:spPr>
          <a:xfrm>
            <a:off x="2590800" y="4743450"/>
            <a:ext cx="266700" cy="152400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2" name="Rectangle 71"/>
          <p:cNvSpPr/>
          <p:nvPr/>
        </p:nvSpPr>
        <p:spPr>
          <a:xfrm>
            <a:off x="2895600" y="4743450"/>
            <a:ext cx="266700" cy="152400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3" name="Rectangle 72"/>
          <p:cNvSpPr/>
          <p:nvPr/>
        </p:nvSpPr>
        <p:spPr>
          <a:xfrm>
            <a:off x="3200400" y="4743450"/>
            <a:ext cx="266700" cy="152400"/>
          </a:xfrm>
          <a:prstGeom prst="rect">
            <a:avLst/>
          </a:prstGeom>
          <a:solidFill>
            <a:srgbClr val="D0D4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4" name="Rectangle 73"/>
          <p:cNvSpPr/>
          <p:nvPr/>
        </p:nvSpPr>
        <p:spPr>
          <a:xfrm>
            <a:off x="3505200" y="4743450"/>
            <a:ext cx="266700" cy="152400"/>
          </a:xfrm>
          <a:prstGeom prst="rect">
            <a:avLst/>
          </a:prstGeom>
          <a:solidFill>
            <a:srgbClr val="D0D4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5" name="TextBox 74"/>
          <p:cNvSpPr txBox="1"/>
          <p:nvPr/>
        </p:nvSpPr>
        <p:spPr>
          <a:xfrm>
            <a:off x="3886200" y="4705350"/>
            <a:ext cx="476250" cy="2095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400" b="0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3/5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533400" y="5105400"/>
            <a:ext cx="1714500" cy="2095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400" b="1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ブランド一貫性</a:t>
            </a:r>
          </a:p>
        </p:txBody>
      </p:sp>
      <p:sp>
        <p:nvSpPr>
          <p:cNvPr id="77" name="Rectangle 76"/>
          <p:cNvSpPr/>
          <p:nvPr/>
        </p:nvSpPr>
        <p:spPr>
          <a:xfrm>
            <a:off x="2286000" y="5143500"/>
            <a:ext cx="266700" cy="152400"/>
          </a:xfrm>
          <a:prstGeom prst="rect">
            <a:avLst/>
          </a:prstGeom>
          <a:solidFill>
            <a:srgbClr val="1C36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8" name="Rectangle 77"/>
          <p:cNvSpPr/>
          <p:nvPr/>
        </p:nvSpPr>
        <p:spPr>
          <a:xfrm>
            <a:off x="2590800" y="5143500"/>
            <a:ext cx="266700" cy="152400"/>
          </a:xfrm>
          <a:prstGeom prst="rect">
            <a:avLst/>
          </a:prstGeom>
          <a:solidFill>
            <a:srgbClr val="1C36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9" name="Rectangle 78"/>
          <p:cNvSpPr/>
          <p:nvPr/>
        </p:nvSpPr>
        <p:spPr>
          <a:xfrm>
            <a:off x="2895600" y="5143500"/>
            <a:ext cx="266700" cy="152400"/>
          </a:xfrm>
          <a:prstGeom prst="rect">
            <a:avLst/>
          </a:prstGeom>
          <a:solidFill>
            <a:srgbClr val="1C36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0" name="Rectangle 79"/>
          <p:cNvSpPr/>
          <p:nvPr/>
        </p:nvSpPr>
        <p:spPr>
          <a:xfrm>
            <a:off x="3200400" y="5143500"/>
            <a:ext cx="266700" cy="152400"/>
          </a:xfrm>
          <a:prstGeom prst="rect">
            <a:avLst/>
          </a:prstGeom>
          <a:solidFill>
            <a:srgbClr val="1C36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1" name="Rectangle 80"/>
          <p:cNvSpPr/>
          <p:nvPr/>
        </p:nvSpPr>
        <p:spPr>
          <a:xfrm>
            <a:off x="3505200" y="5143500"/>
            <a:ext cx="266700" cy="152400"/>
          </a:xfrm>
          <a:prstGeom prst="rect">
            <a:avLst/>
          </a:prstGeom>
          <a:solidFill>
            <a:srgbClr val="1C36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2" name="TextBox 81"/>
          <p:cNvSpPr txBox="1"/>
          <p:nvPr/>
        </p:nvSpPr>
        <p:spPr>
          <a:xfrm>
            <a:off x="3886200" y="5105400"/>
            <a:ext cx="476250" cy="2095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400" b="1" i="0">
                <a:solidFill>
                  <a:srgbClr val="1C366C"/>
                </a:solidFill>
                <a:latin typeface="メイリオ"/>
                <a:ea typeface="メイリオ"/>
                <a:cs typeface="メイリオ"/>
              </a:rPr>
              <a:t>5/5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533400" y="5505450"/>
            <a:ext cx="1714500" cy="2095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400" b="1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表示速度・技術</a:t>
            </a:r>
          </a:p>
        </p:txBody>
      </p:sp>
      <p:sp>
        <p:nvSpPr>
          <p:cNvPr id="84" name="Rectangle 83"/>
          <p:cNvSpPr/>
          <p:nvPr/>
        </p:nvSpPr>
        <p:spPr>
          <a:xfrm>
            <a:off x="2286000" y="5543550"/>
            <a:ext cx="266700" cy="152400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5" name="Rectangle 84"/>
          <p:cNvSpPr/>
          <p:nvPr/>
        </p:nvSpPr>
        <p:spPr>
          <a:xfrm>
            <a:off x="2590800" y="5543550"/>
            <a:ext cx="266700" cy="152400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6" name="Rectangle 85"/>
          <p:cNvSpPr/>
          <p:nvPr/>
        </p:nvSpPr>
        <p:spPr>
          <a:xfrm>
            <a:off x="2895600" y="5543550"/>
            <a:ext cx="266700" cy="152400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7" name="Rectangle 86"/>
          <p:cNvSpPr/>
          <p:nvPr/>
        </p:nvSpPr>
        <p:spPr>
          <a:xfrm>
            <a:off x="3200400" y="5543550"/>
            <a:ext cx="266700" cy="152400"/>
          </a:xfrm>
          <a:prstGeom prst="rect">
            <a:avLst/>
          </a:prstGeom>
          <a:solidFill>
            <a:srgbClr val="D0D4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8" name="Rectangle 87"/>
          <p:cNvSpPr/>
          <p:nvPr/>
        </p:nvSpPr>
        <p:spPr>
          <a:xfrm>
            <a:off x="3505200" y="5543550"/>
            <a:ext cx="266700" cy="152400"/>
          </a:xfrm>
          <a:prstGeom prst="rect">
            <a:avLst/>
          </a:prstGeom>
          <a:solidFill>
            <a:srgbClr val="D0D4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9" name="TextBox 88"/>
          <p:cNvSpPr txBox="1"/>
          <p:nvPr/>
        </p:nvSpPr>
        <p:spPr>
          <a:xfrm>
            <a:off x="3886200" y="5505450"/>
            <a:ext cx="476250" cy="2095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400" b="0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3/5</a:t>
            </a:r>
          </a:p>
        </p:txBody>
      </p:sp>
      <p:sp>
        <p:nvSpPr>
          <p:cNvPr id="90" name="Rectangle 89"/>
          <p:cNvSpPr/>
          <p:nvPr/>
        </p:nvSpPr>
        <p:spPr>
          <a:xfrm>
            <a:off x="6096000" y="1504950"/>
            <a:ext cx="5715000" cy="266700"/>
          </a:xfrm>
          <a:prstGeom prst="rect">
            <a:avLst/>
          </a:prstGeom>
          <a:solidFill>
            <a:srgbClr val="1C36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1" name="TextBox 90"/>
          <p:cNvSpPr txBox="1"/>
          <p:nvPr/>
        </p:nvSpPr>
        <p:spPr>
          <a:xfrm>
            <a:off x="6248400" y="1504950"/>
            <a:ext cx="5410200" cy="2667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◎ 強み（活かすべき点）</a:t>
            </a:r>
          </a:p>
        </p:txBody>
      </p:sp>
      <p:sp>
        <p:nvSpPr>
          <p:cNvPr id="92" name="Rectangle 91"/>
          <p:cNvSpPr/>
          <p:nvPr/>
        </p:nvSpPr>
        <p:spPr>
          <a:xfrm>
            <a:off x="6096000" y="1771650"/>
            <a:ext cx="5715000" cy="1809750"/>
          </a:xfrm>
          <a:prstGeom prst="rect">
            <a:avLst/>
          </a:prstGeom>
          <a:solidFill>
            <a:srgbClr val="F4F5F8"/>
          </a:solidFill>
          <a:ln w="6350">
            <a:solidFill>
              <a:srgbClr val="D0D4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3" name="TextBox 92"/>
          <p:cNvSpPr txBox="1"/>
          <p:nvPr/>
        </p:nvSpPr>
        <p:spPr>
          <a:xfrm>
            <a:off x="6248400" y="1847850"/>
            <a:ext cx="5410200" cy="16573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70000"/>
              </a:lnSpc>
            </a:pPr>
            <a:r>
              <a:rPr sz="1400" b="0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● 余白が広く、読みやすいレイアウトで安心感がある</a:t>
            </a:r>
          </a:p>
          <a:p>
            <a:pPr algn="l">
              <a:lnSpc>
                <a:spcPct val="170000"/>
              </a:lnSpc>
            </a:pPr>
            <a:r>
              <a:rPr sz="1400" b="0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● 料金・特徴・講師情報が整理され、サービス概要を把握しやすい</a:t>
            </a:r>
          </a:p>
          <a:p>
            <a:pPr algn="l">
              <a:lnSpc>
                <a:spcPct val="170000"/>
              </a:lnSpc>
            </a:pPr>
            <a:r>
              <a:rPr sz="1400" b="0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● 青基調の配色で教育サービスらしい信頼感が出ている</a:t>
            </a:r>
          </a:p>
        </p:txBody>
      </p:sp>
      <p:sp>
        <p:nvSpPr>
          <p:cNvPr id="94" name="Rectangle 93"/>
          <p:cNvSpPr/>
          <p:nvPr/>
        </p:nvSpPr>
        <p:spPr>
          <a:xfrm>
            <a:off x="6096000" y="3695700"/>
            <a:ext cx="5715000" cy="266700"/>
          </a:xfrm>
          <a:prstGeom prst="rect">
            <a:avLst/>
          </a:prstGeom>
          <a:solidFill>
            <a:srgbClr val="D002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5" name="TextBox 94"/>
          <p:cNvSpPr txBox="1"/>
          <p:nvPr/>
        </p:nvSpPr>
        <p:spPr>
          <a:xfrm>
            <a:off x="6248400" y="3695700"/>
            <a:ext cx="5410200" cy="2667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⚠ 最優先で直すべき点</a:t>
            </a:r>
          </a:p>
        </p:txBody>
      </p:sp>
      <p:sp>
        <p:nvSpPr>
          <p:cNvPr id="96" name="Rectangle 95"/>
          <p:cNvSpPr/>
          <p:nvPr/>
        </p:nvSpPr>
        <p:spPr>
          <a:xfrm>
            <a:off x="6096000" y="3962400"/>
            <a:ext cx="5715000" cy="1828800"/>
          </a:xfrm>
          <a:prstGeom prst="rect">
            <a:avLst/>
          </a:prstGeom>
          <a:solidFill>
            <a:srgbClr val="FDECEC"/>
          </a:solidFill>
          <a:ln w="6350">
            <a:solidFill>
              <a:srgbClr val="D0D4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7" name="TextBox 96"/>
          <p:cNvSpPr txBox="1"/>
          <p:nvPr/>
        </p:nvSpPr>
        <p:spPr>
          <a:xfrm>
            <a:off x="6248400" y="4038600"/>
            <a:ext cx="5410200" cy="16764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70000"/>
              </a:lnSpc>
            </a:pPr>
            <a:r>
              <a:rPr sz="1400" b="0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1. ファーストビューに主要CTAがなく、次の行動が分かりにくい</a:t>
            </a:r>
          </a:p>
          <a:p>
            <a:pPr algn="l">
              <a:lnSpc>
                <a:spcPct val="170000"/>
              </a:lnSpc>
            </a:pPr>
            <a:r>
              <a:rPr sz="1400" b="0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2. 受講後の成果・具体的なベネフィットが弱く、比較検討時の決め手に欠ける</a:t>
            </a:r>
          </a:p>
          <a:p>
            <a:pPr algn="l">
              <a:lnSpc>
                <a:spcPct val="170000"/>
              </a:lnSpc>
            </a:pPr>
            <a:r>
              <a:rPr sz="1400" b="0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3. 受講生の声が短く、信頼材料としての説得力が不足している</a:t>
            </a:r>
          </a:p>
        </p:txBody>
      </p:sp>
      <p:sp>
        <p:nvSpPr>
          <p:cNvPr id="98" name="Rectangle 97"/>
          <p:cNvSpPr/>
          <p:nvPr/>
        </p:nvSpPr>
        <p:spPr>
          <a:xfrm>
            <a:off x="381000" y="5905500"/>
            <a:ext cx="11430000" cy="266700"/>
          </a:xfrm>
          <a:prstGeom prst="rect">
            <a:avLst/>
          </a:prstGeom>
          <a:solidFill>
            <a:srgbClr val="FEF1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9" name="Rectangle 98"/>
          <p:cNvSpPr/>
          <p:nvPr/>
        </p:nvSpPr>
        <p:spPr>
          <a:xfrm>
            <a:off x="381000" y="5905500"/>
            <a:ext cx="1047750" cy="266700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0" name="TextBox 99"/>
          <p:cNvSpPr txBox="1"/>
          <p:nvPr/>
        </p:nvSpPr>
        <p:spPr>
          <a:xfrm>
            <a:off x="381000" y="5905500"/>
            <a:ext cx="1047750" cy="2667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改善方向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1524000" y="5905500"/>
            <a:ext cx="10191750" cy="2667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1400" b="0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成果訴求と信頼根拠を足し、無料体験への離脱率を改善する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0" y="6286500"/>
            <a:ext cx="12192000" cy="9525"/>
          </a:xfrm>
          <a:prstGeom prst="rect">
            <a:avLst/>
          </a:prstGeom>
          <a:solidFill>
            <a:srgbClr val="CCCC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3" name="TextBox 102"/>
          <p:cNvSpPr txBox="1"/>
          <p:nvPr/>
        </p:nvSpPr>
        <p:spPr>
          <a:xfrm>
            <a:off x="381000" y="6496050"/>
            <a:ext cx="3810000" cy="2286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400" b="1" i="0">
                <a:solidFill>
                  <a:srgbClr val="1C366C"/>
                </a:solidFill>
                <a:latin typeface="メイリオ"/>
                <a:ea typeface="メイリオ"/>
                <a:cs typeface="メイリオ"/>
              </a:rPr>
              <a:t>UI/UX診断 by GPTs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10858500" y="6524625"/>
            <a:ext cx="1143000" cy="2286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/>
            <a:r>
              <a:rPr sz="1400" b="0" i="0">
                <a:solidFill>
                  <a:srgbClr val="262626"/>
                </a:solidFill>
                <a:latin typeface="メイリオ"/>
                <a:ea typeface="メイリオ"/>
                <a:cs typeface="メイリオ"/>
              </a:rPr>
              <a:t>6 / 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81000" y="152400"/>
            <a:ext cx="57150" cy="533400"/>
          </a:xfrm>
          <a:prstGeom prst="rect">
            <a:avLst/>
          </a:prstGeom>
          <a:solidFill>
            <a:srgbClr val="D002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33400" y="190500"/>
            <a:ext cx="10858500" cy="3238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2400" b="1" i="0">
                <a:solidFill>
                  <a:srgbClr val="1C366C"/>
                </a:solidFill>
                <a:latin typeface="メイリオ"/>
                <a:ea typeface="メイリオ"/>
                <a:cs typeface="メイリオ"/>
              </a:rPr>
              <a:t>【3】ビジュアル診断ボード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3400" y="495300"/>
            <a:ext cx="10858500" cy="2095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400" b="0" i="0">
                <a:solidFill>
                  <a:srgbClr val="606060"/>
                </a:solidFill>
                <a:latin typeface="メイリオ"/>
                <a:ea typeface="メイリオ"/>
                <a:cs typeface="メイリオ"/>
              </a:rPr>
              <a:t>Before/After ハイライト：優先度の高い改善Top3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81000" y="876300"/>
            <a:ext cx="11430000" cy="1571625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D4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Rectangle 5"/>
          <p:cNvSpPr/>
          <p:nvPr/>
        </p:nvSpPr>
        <p:spPr>
          <a:xfrm>
            <a:off x="381000" y="876300"/>
            <a:ext cx="57150" cy="1571625"/>
          </a:xfrm>
          <a:prstGeom prst="rect">
            <a:avLst/>
          </a:prstGeom>
          <a:solidFill>
            <a:srgbClr val="D002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Oval 6"/>
          <p:cNvSpPr/>
          <p:nvPr/>
        </p:nvSpPr>
        <p:spPr>
          <a:xfrm>
            <a:off x="571500" y="971550"/>
            <a:ext cx="304800" cy="304800"/>
          </a:xfrm>
          <a:prstGeom prst="ellipse">
            <a:avLst/>
          </a:prstGeom>
          <a:solidFill>
            <a:srgbClr val="D002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571500" y="1009650"/>
            <a:ext cx="304800" cy="2286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71550" y="1009650"/>
            <a:ext cx="6667500" cy="2667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800" b="1" i="0">
                <a:solidFill>
                  <a:srgbClr val="1C366C"/>
                </a:solidFill>
                <a:latin typeface="メイリオ"/>
                <a:ea typeface="メイリオ"/>
                <a:cs typeface="メイリオ"/>
              </a:rPr>
              <a:t>ファーストビューに無料体験CTAを追加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810500" y="990600"/>
            <a:ext cx="666750" cy="266700"/>
          </a:xfrm>
          <a:prstGeom prst="roundRect">
            <a:avLst/>
          </a:prstGeom>
          <a:solidFill>
            <a:srgbClr val="D002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7810500" y="1019175"/>
            <a:ext cx="666750" cy="2095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高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72500" y="1019175"/>
            <a:ext cx="1238250" cy="2095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400" b="0" i="0">
                <a:solidFill>
                  <a:srgbClr val="606060"/>
                </a:solidFill>
                <a:latin typeface="メイリオ"/>
                <a:ea typeface="メイリオ"/>
                <a:cs typeface="メイリオ"/>
              </a:rPr>
              <a:t>工数：小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906000" y="1019175"/>
            <a:ext cx="1714500" cy="2095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400" b="0" i="0">
                <a:solidFill>
                  <a:srgbClr val="606060"/>
                </a:solidFill>
                <a:latin typeface="メイリオ"/>
                <a:ea typeface="メイリオ"/>
                <a:cs typeface="メイリオ"/>
              </a:rPr>
              <a:t>箇所：ファーストビュー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71500" y="1333500"/>
            <a:ext cx="11144250" cy="9525"/>
          </a:xfrm>
          <a:prstGeom prst="rect">
            <a:avLst/>
          </a:prstGeom>
          <a:solidFill>
            <a:srgbClr val="D0D4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ectangle 14"/>
          <p:cNvSpPr/>
          <p:nvPr/>
        </p:nvSpPr>
        <p:spPr>
          <a:xfrm>
            <a:off x="571500" y="1447800"/>
            <a:ext cx="857250" cy="266700"/>
          </a:xfrm>
          <a:prstGeom prst="rect">
            <a:avLst/>
          </a:prstGeom>
          <a:solidFill>
            <a:srgbClr val="D002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571500" y="1447800"/>
            <a:ext cx="857250" cy="2667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BEFORE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428750" y="1447800"/>
            <a:ext cx="4552950" cy="266700"/>
          </a:xfrm>
          <a:prstGeom prst="rect">
            <a:avLst/>
          </a:prstGeom>
          <a:solidFill>
            <a:srgbClr val="FDEC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1504950" y="1447800"/>
            <a:ext cx="4400550" cy="2667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400" b="0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見出しと説明文はあるが、主要ボタンが見当たらない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134100" y="1447800"/>
            <a:ext cx="857250" cy="266700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6134100" y="1447800"/>
            <a:ext cx="857250" cy="2667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AFTER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991350" y="1447800"/>
            <a:ext cx="4552950" cy="266700"/>
          </a:xfrm>
          <a:prstGeom prst="rect">
            <a:avLst/>
          </a:prstGeom>
          <a:solidFill>
            <a:srgbClr val="FEF1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7067550" y="1447800"/>
            <a:ext cx="4400550" cy="2667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400" b="0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無料体験・料金確認の2ボタンをFV内に配置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81000" y="2562225"/>
            <a:ext cx="11430000" cy="1571625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D4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Rectangle 23"/>
          <p:cNvSpPr/>
          <p:nvPr/>
        </p:nvSpPr>
        <p:spPr>
          <a:xfrm>
            <a:off x="381000" y="2562225"/>
            <a:ext cx="57150" cy="1571625"/>
          </a:xfrm>
          <a:prstGeom prst="rect">
            <a:avLst/>
          </a:prstGeom>
          <a:solidFill>
            <a:srgbClr val="D002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Oval 24"/>
          <p:cNvSpPr/>
          <p:nvPr/>
        </p:nvSpPr>
        <p:spPr>
          <a:xfrm>
            <a:off x="571500" y="2657475"/>
            <a:ext cx="304800" cy="304800"/>
          </a:xfrm>
          <a:prstGeom prst="ellipse">
            <a:avLst/>
          </a:prstGeom>
          <a:solidFill>
            <a:srgbClr val="D002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571500" y="2695575"/>
            <a:ext cx="304800" cy="2286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71550" y="2695575"/>
            <a:ext cx="6667500" cy="2667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800" b="1" i="0">
                <a:solidFill>
                  <a:srgbClr val="1C366C"/>
                </a:solidFill>
                <a:latin typeface="メイリオ"/>
                <a:ea typeface="メイリオ"/>
                <a:cs typeface="メイリオ"/>
              </a:rPr>
              <a:t>キャッチコピーを成果訴求型に変更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810500" y="2676525"/>
            <a:ext cx="666750" cy="266700"/>
          </a:xfrm>
          <a:prstGeom prst="roundRect">
            <a:avLst/>
          </a:prstGeom>
          <a:solidFill>
            <a:srgbClr val="D002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TextBox 28"/>
          <p:cNvSpPr txBox="1"/>
          <p:nvPr/>
        </p:nvSpPr>
        <p:spPr>
          <a:xfrm>
            <a:off x="7810500" y="2705100"/>
            <a:ext cx="666750" cy="2095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高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572500" y="2705100"/>
            <a:ext cx="1238250" cy="2095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400" b="0" i="0">
                <a:solidFill>
                  <a:srgbClr val="606060"/>
                </a:solidFill>
                <a:latin typeface="メイリオ"/>
                <a:ea typeface="メイリオ"/>
                <a:cs typeface="メイリオ"/>
              </a:rPr>
              <a:t>工数：小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906000" y="2705100"/>
            <a:ext cx="1714500" cy="2095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400" b="0" i="0">
                <a:solidFill>
                  <a:srgbClr val="606060"/>
                </a:solidFill>
                <a:latin typeface="メイリオ"/>
                <a:ea typeface="メイリオ"/>
                <a:cs typeface="メイリオ"/>
              </a:rPr>
              <a:t>箇所：メインコピー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71500" y="3019425"/>
            <a:ext cx="11144250" cy="9525"/>
          </a:xfrm>
          <a:prstGeom prst="rect">
            <a:avLst/>
          </a:prstGeom>
          <a:solidFill>
            <a:srgbClr val="D0D4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Rectangle 32"/>
          <p:cNvSpPr/>
          <p:nvPr/>
        </p:nvSpPr>
        <p:spPr>
          <a:xfrm>
            <a:off x="571500" y="3133725"/>
            <a:ext cx="857250" cy="266700"/>
          </a:xfrm>
          <a:prstGeom prst="rect">
            <a:avLst/>
          </a:prstGeom>
          <a:solidFill>
            <a:srgbClr val="D002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TextBox 33"/>
          <p:cNvSpPr txBox="1"/>
          <p:nvPr/>
        </p:nvSpPr>
        <p:spPr>
          <a:xfrm>
            <a:off x="571500" y="3133725"/>
            <a:ext cx="857250" cy="2667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BEFORE</a:t>
            </a:r>
          </a:p>
        </p:txBody>
      </p:sp>
      <p:sp>
        <p:nvSpPr>
          <p:cNvPr id="35" name="Rectangle 34"/>
          <p:cNvSpPr/>
          <p:nvPr/>
        </p:nvSpPr>
        <p:spPr>
          <a:xfrm>
            <a:off x="1428750" y="3133725"/>
            <a:ext cx="4552950" cy="266700"/>
          </a:xfrm>
          <a:prstGeom prst="rect">
            <a:avLst/>
          </a:prstGeom>
          <a:solidFill>
            <a:srgbClr val="FDEC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6" name="TextBox 35"/>
          <p:cNvSpPr txBox="1"/>
          <p:nvPr/>
        </p:nvSpPr>
        <p:spPr>
          <a:xfrm>
            <a:off x="1504950" y="3133725"/>
            <a:ext cx="4400550" cy="2667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400" b="0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「英語、始めませんか？」で汎用的な印象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134100" y="3133725"/>
            <a:ext cx="857250" cy="266700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8" name="TextBox 37"/>
          <p:cNvSpPr txBox="1"/>
          <p:nvPr/>
        </p:nvSpPr>
        <p:spPr>
          <a:xfrm>
            <a:off x="6134100" y="3133725"/>
            <a:ext cx="857250" cy="2667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AFTER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991350" y="3133725"/>
            <a:ext cx="4552950" cy="266700"/>
          </a:xfrm>
          <a:prstGeom prst="rect">
            <a:avLst/>
          </a:prstGeom>
          <a:solidFill>
            <a:srgbClr val="FEF1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0" name="TextBox 39"/>
          <p:cNvSpPr txBox="1"/>
          <p:nvPr/>
        </p:nvSpPr>
        <p:spPr>
          <a:xfrm>
            <a:off x="7067550" y="3133725"/>
            <a:ext cx="4400550" cy="2667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400" b="0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忙しい人でも続く、成果が見えるオンライン英会話として訴求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381000" y="4248150"/>
            <a:ext cx="11430000" cy="1571625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D4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2" name="Rectangle 41"/>
          <p:cNvSpPr/>
          <p:nvPr/>
        </p:nvSpPr>
        <p:spPr>
          <a:xfrm>
            <a:off x="381000" y="4248150"/>
            <a:ext cx="57150" cy="1571625"/>
          </a:xfrm>
          <a:prstGeom prst="rect">
            <a:avLst/>
          </a:prstGeom>
          <a:solidFill>
            <a:srgbClr val="E88B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3" name="Oval 42"/>
          <p:cNvSpPr/>
          <p:nvPr/>
        </p:nvSpPr>
        <p:spPr>
          <a:xfrm>
            <a:off x="571500" y="4343400"/>
            <a:ext cx="304800" cy="304800"/>
          </a:xfrm>
          <a:prstGeom prst="ellipse">
            <a:avLst/>
          </a:prstGeom>
          <a:solidFill>
            <a:srgbClr val="E88B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4" name="TextBox 43"/>
          <p:cNvSpPr txBox="1"/>
          <p:nvPr/>
        </p:nvSpPr>
        <p:spPr>
          <a:xfrm>
            <a:off x="571500" y="4381500"/>
            <a:ext cx="304800" cy="2286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3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71550" y="4381500"/>
            <a:ext cx="6667500" cy="2667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800" b="1" i="0">
                <a:solidFill>
                  <a:srgbClr val="1C366C"/>
                </a:solidFill>
                <a:latin typeface="メイリオ"/>
                <a:ea typeface="メイリオ"/>
                <a:cs typeface="メイリオ"/>
              </a:rPr>
              <a:t>実績数値に根拠と補足を追加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7810500" y="4362450"/>
            <a:ext cx="666750" cy="266700"/>
          </a:xfrm>
          <a:prstGeom prst="roundRect">
            <a:avLst/>
          </a:prstGeom>
          <a:solidFill>
            <a:srgbClr val="E88B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7" name="TextBox 46"/>
          <p:cNvSpPr txBox="1"/>
          <p:nvPr/>
        </p:nvSpPr>
        <p:spPr>
          <a:xfrm>
            <a:off x="7810500" y="4391025"/>
            <a:ext cx="666750" cy="2095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中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572500" y="4391025"/>
            <a:ext cx="1238250" cy="2095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400" b="0" i="0">
                <a:solidFill>
                  <a:srgbClr val="606060"/>
                </a:solidFill>
                <a:latin typeface="メイリオ"/>
                <a:ea typeface="メイリオ"/>
                <a:cs typeface="メイリオ"/>
              </a:rPr>
              <a:t>工数：中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906000" y="4391025"/>
            <a:ext cx="1714500" cy="2095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400" b="0" i="0">
                <a:solidFill>
                  <a:srgbClr val="606060"/>
                </a:solidFill>
                <a:latin typeface="メイリオ"/>
                <a:ea typeface="メイリオ"/>
                <a:cs typeface="メイリオ"/>
              </a:rPr>
              <a:t>箇所：実績帯</a:t>
            </a:r>
          </a:p>
        </p:txBody>
      </p:sp>
      <p:sp>
        <p:nvSpPr>
          <p:cNvPr id="50" name="Rectangle 49"/>
          <p:cNvSpPr/>
          <p:nvPr/>
        </p:nvSpPr>
        <p:spPr>
          <a:xfrm>
            <a:off x="571500" y="4705350"/>
            <a:ext cx="11144250" cy="9525"/>
          </a:xfrm>
          <a:prstGeom prst="rect">
            <a:avLst/>
          </a:prstGeom>
          <a:solidFill>
            <a:srgbClr val="D0D4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1" name="Rectangle 50"/>
          <p:cNvSpPr/>
          <p:nvPr/>
        </p:nvSpPr>
        <p:spPr>
          <a:xfrm>
            <a:off x="571500" y="4819650"/>
            <a:ext cx="857250" cy="266700"/>
          </a:xfrm>
          <a:prstGeom prst="rect">
            <a:avLst/>
          </a:prstGeom>
          <a:solidFill>
            <a:srgbClr val="D002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2" name="TextBox 51"/>
          <p:cNvSpPr txBox="1"/>
          <p:nvPr/>
        </p:nvSpPr>
        <p:spPr>
          <a:xfrm>
            <a:off x="571500" y="4819650"/>
            <a:ext cx="857250" cy="2667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BEFORE</a:t>
            </a:r>
          </a:p>
        </p:txBody>
      </p:sp>
      <p:sp>
        <p:nvSpPr>
          <p:cNvPr id="53" name="Rectangle 52"/>
          <p:cNvSpPr/>
          <p:nvPr/>
        </p:nvSpPr>
        <p:spPr>
          <a:xfrm>
            <a:off x="1428750" y="4819650"/>
            <a:ext cx="4552950" cy="266700"/>
          </a:xfrm>
          <a:prstGeom prst="rect">
            <a:avLst/>
          </a:prstGeom>
          <a:solidFill>
            <a:srgbClr val="FDEC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4" name="TextBox 53"/>
          <p:cNvSpPr txBox="1"/>
          <p:nvPr/>
        </p:nvSpPr>
        <p:spPr>
          <a:xfrm>
            <a:off x="1504950" y="4819650"/>
            <a:ext cx="4400550" cy="2667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400" b="0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開校年・採用率・段階数・時間帯のみ表示</a:t>
            </a:r>
          </a:p>
        </p:txBody>
      </p:sp>
      <p:sp>
        <p:nvSpPr>
          <p:cNvPr id="55" name="Rectangle 54"/>
          <p:cNvSpPr/>
          <p:nvPr/>
        </p:nvSpPr>
        <p:spPr>
          <a:xfrm>
            <a:off x="6134100" y="4819650"/>
            <a:ext cx="857250" cy="266700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6" name="TextBox 55"/>
          <p:cNvSpPr txBox="1"/>
          <p:nvPr/>
        </p:nvSpPr>
        <p:spPr>
          <a:xfrm>
            <a:off x="6134100" y="4819650"/>
            <a:ext cx="857250" cy="2667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AFTER</a:t>
            </a:r>
          </a:p>
        </p:txBody>
      </p:sp>
      <p:sp>
        <p:nvSpPr>
          <p:cNvPr id="57" name="Rectangle 56"/>
          <p:cNvSpPr/>
          <p:nvPr/>
        </p:nvSpPr>
        <p:spPr>
          <a:xfrm>
            <a:off x="6991350" y="4819650"/>
            <a:ext cx="4552950" cy="266700"/>
          </a:xfrm>
          <a:prstGeom prst="rect">
            <a:avLst/>
          </a:prstGeom>
          <a:solidFill>
            <a:srgbClr val="FEF1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8" name="TextBox 57"/>
          <p:cNvSpPr txBox="1"/>
          <p:nvPr/>
        </p:nvSpPr>
        <p:spPr>
          <a:xfrm>
            <a:off x="7067550" y="4819650"/>
            <a:ext cx="4400550" cy="2667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400" b="0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累計受講者数、継続率、満足度など検討材料を追加</a:t>
            </a:r>
          </a:p>
        </p:txBody>
      </p:sp>
      <p:sp>
        <p:nvSpPr>
          <p:cNvPr id="59" name="Rectangle 58"/>
          <p:cNvSpPr/>
          <p:nvPr/>
        </p:nvSpPr>
        <p:spPr>
          <a:xfrm>
            <a:off x="381000" y="5905500"/>
            <a:ext cx="11430000" cy="266700"/>
          </a:xfrm>
          <a:prstGeom prst="rect">
            <a:avLst/>
          </a:prstGeom>
          <a:solidFill>
            <a:srgbClr val="FEF1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0" name="Rectangle 59"/>
          <p:cNvSpPr/>
          <p:nvPr/>
        </p:nvSpPr>
        <p:spPr>
          <a:xfrm>
            <a:off x="381000" y="5905500"/>
            <a:ext cx="1047750" cy="266700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1" name="TextBox 60"/>
          <p:cNvSpPr txBox="1"/>
          <p:nvPr/>
        </p:nvSpPr>
        <p:spPr>
          <a:xfrm>
            <a:off x="381000" y="5905500"/>
            <a:ext cx="1047750" cy="2667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改善方向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1524000" y="5905500"/>
            <a:ext cx="10191750" cy="2667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1400" b="0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成果訴求と信頼根拠を足し、無料体験への離脱率を改善する</a:t>
            </a:r>
          </a:p>
        </p:txBody>
      </p:sp>
      <p:sp>
        <p:nvSpPr>
          <p:cNvPr id="63" name="Rectangle 62"/>
          <p:cNvSpPr/>
          <p:nvPr/>
        </p:nvSpPr>
        <p:spPr>
          <a:xfrm>
            <a:off x="0" y="6286500"/>
            <a:ext cx="12192000" cy="9525"/>
          </a:xfrm>
          <a:prstGeom prst="rect">
            <a:avLst/>
          </a:prstGeom>
          <a:solidFill>
            <a:srgbClr val="CCCC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4" name="TextBox 63"/>
          <p:cNvSpPr txBox="1"/>
          <p:nvPr/>
        </p:nvSpPr>
        <p:spPr>
          <a:xfrm>
            <a:off x="381000" y="6496050"/>
            <a:ext cx="3810000" cy="2286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400" b="1" i="0">
                <a:solidFill>
                  <a:srgbClr val="1C366C"/>
                </a:solidFill>
                <a:latin typeface="メイリオ"/>
                <a:ea typeface="メイリオ"/>
                <a:cs typeface="メイリオ"/>
              </a:rPr>
              <a:t>UI/UX診断 by GPTs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10858500" y="6524625"/>
            <a:ext cx="1143000" cy="2286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/>
            <a:r>
              <a:rPr sz="1400" b="0" i="0">
                <a:solidFill>
                  <a:srgbClr val="262626"/>
                </a:solidFill>
                <a:latin typeface="メイリオ"/>
                <a:ea typeface="メイリオ"/>
                <a:cs typeface="メイリオ"/>
              </a:rPr>
              <a:t>7 / 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