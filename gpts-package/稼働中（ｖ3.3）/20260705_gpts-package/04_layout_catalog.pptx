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286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2000" y="1524000"/>
            <a:ext cx="85725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9DB0D6"/>
                </a:solidFill>
                <a:latin typeface="メイリオ"/>
                <a:ea typeface="メイリオ"/>
              </a:rPr>
              <a:t>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905000"/>
            <a:ext cx="106680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 i="0">
                <a:solidFill>
                  <a:srgbClr val="FFFFFF"/>
                </a:solidFill>
                <a:latin typeface="メイリオ"/>
                <a:ea typeface="メイリオ"/>
              </a:rPr>
              <a:t>紺＆クリーン スライド作成</a:t>
            </a:r>
          </a:p>
          <a:p>
            <a:pPr algn="l">
              <a:lnSpc>
                <a:spcPct val="135000"/>
              </a:lnSpc>
            </a:pPr>
            <a:r>
              <a:rPr sz="4000" b="1" i="0">
                <a:solidFill>
                  <a:srgbClr val="FFFFFF"/>
                </a:solidFill>
                <a:latin typeface="メイリオ"/>
                <a:ea typeface="メイリオ"/>
              </a:rPr>
              <a:t>レイアウト・カタログ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429000"/>
            <a:ext cx="4572000" cy="285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2000" y="3619500"/>
            <a:ext cx="10668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2000" b="0" i="0">
                <a:solidFill>
                  <a:srgbClr val="E6EAF3"/>
                </a:solidFill>
                <a:latin typeface="メイリオ"/>
                <a:ea typeface="メイリオ"/>
              </a:rPr>
              <a:t>10種類のテンプレート関数の見本集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334000"/>
            <a:ext cx="6858000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2000" b="1" i="0">
                <a:solidFill>
                  <a:srgbClr val="FFFFFF"/>
                </a:solidFill>
                <a:latin typeface="メイリオ"/>
                <a:ea typeface="メイリオ"/>
              </a:rPr>
              <a:t>2026年版　Layout Catalog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96025"/>
            <a:ext cx="12192000" cy="561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紺＆クリーン スライド作成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</a:rPr>
              <a:t>アジェンダ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</a:rPr>
              <a:t>本カタログでは10種類のレイアウトを順に紹介します。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1619250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8250" y="165735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</a:rPr>
              <a:t>表紙（add_cover）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0" y="17145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タイトル・日付・著者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2190750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222885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</a:rPr>
              <a:t>アジェンダ（add_agenda）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0" y="22860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全体目次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2762250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8250" y="280035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</a:rPr>
              <a:t>課題整理（add_issue_summary）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0" y="28575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3カード並列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3333750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250" y="337185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</a:rPr>
              <a:t>優先度マトリクス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0" y="34290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4象限プロット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3905250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250" y="394335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</a:rPr>
              <a:t>OK・NG例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0" y="40005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左右対比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000" y="4476750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8250" y="451485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</a:rPr>
              <a:t>施策一覧表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0" y="45720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PPTX表組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000" y="5048250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8250" y="508635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</a:rPr>
              <a:t>KPIカード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8500" y="51435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数値強調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" y="5619750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8250" y="565785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</a:rPr>
              <a:t>スケジュール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8500" y="57150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ガント風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000" y="6191250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8250" y="622935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</a:rPr>
              <a:t>運用フロー比較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8500" y="62865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Before/After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000" y="6762750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8250" y="680085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</a:rPr>
              <a:t>クロージング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8500" y="68580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最終ページ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紺＆クリーン スライド作成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</a:rPr>
              <a:t>【見本】課題整理レイアウト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</a:rPr>
              <a:t>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</a:rPr>
              <a:t>3つの並列要素を整理するときに使う。リード文→3カード→結論帯の構成。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524000"/>
            <a:ext cx="371475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90525" y="1533525"/>
            <a:ext cx="3695700" cy="8382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0550" y="1657350"/>
            <a:ext cx="85725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メイリオ"/>
                <a:ea typeface="メイリオ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428750" y="1733550"/>
            <a:ext cx="9525" cy="419100"/>
          </a:xfrm>
          <a:prstGeom prst="rect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562100" y="1714500"/>
            <a:ext cx="238125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</a:rPr>
              <a:t>カード見出し1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2533650"/>
            <a:ext cx="3333750" cy="2533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</a:rPr>
              <a:t>● カード本文の例。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</a:rPr>
              <a:t>● 複数行に対応。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</a:rPr>
              <a:t>● 3〜4行が読みやすい。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8625" y="1524000"/>
            <a:ext cx="371475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248150" y="1533525"/>
            <a:ext cx="3695700" cy="8382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48175" y="1657350"/>
            <a:ext cx="85725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メイリオ"/>
                <a:ea typeface="メイリオ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86375" y="1733550"/>
            <a:ext cx="9525" cy="419100"/>
          </a:xfrm>
          <a:prstGeom prst="rect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19725" y="1714500"/>
            <a:ext cx="238125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</a:rPr>
              <a:t>カード見出し2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8175" y="2533650"/>
            <a:ext cx="3333750" cy="2533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</a:rPr>
              <a:t>● 紺の左帯がアクセント。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</a:rPr>
              <a:t>● 背景はライトグレー。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</a:rPr>
              <a:t>● メイリオ16pt。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6250" y="1524000"/>
            <a:ext cx="371475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05775" y="1533525"/>
            <a:ext cx="3695700" cy="8382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05800" y="1657350"/>
            <a:ext cx="85725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メイリオ"/>
                <a:ea typeface="メイリオ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733550"/>
            <a:ext cx="9525" cy="419100"/>
          </a:xfrm>
          <a:prstGeom prst="rect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277350" y="1714500"/>
            <a:ext cx="238125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</a:rPr>
              <a:t>カード見出し3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800" y="2533650"/>
            <a:ext cx="3333750" cy="2533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</a:rPr>
              <a:t>● 番号は44ptで大きく。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</a:rPr>
              <a:t>● 結論帯は任意。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</a:rPr>
              <a:t>● POINTラベル付き。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5334000"/>
            <a:ext cx="11430000" cy="87630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1500" y="5429250"/>
            <a:ext cx="11049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9DB0D6"/>
                </a:solidFill>
                <a:latin typeface="メイリオ"/>
                <a:ea typeface="メイリオ"/>
              </a:rPr>
              <a:t>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5657850"/>
            <a:ext cx="11049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</a:rPr>
              <a:t>【関数呼び出し】 add_issue_summary(prs, title, cards, conclusion=...)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紺＆クリーン スライド作成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</a:rPr>
              <a:t>【見本】優先度マトリクス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</a:rPr>
              <a:t>Priority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</a:rPr>
              <a:t>4象限で施策を整理。赤円=最優先（S/A）、紺円=通常（B/C）。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86500" y="1809750"/>
            <a:ext cx="4191000" cy="2000250"/>
          </a:xfrm>
          <a:prstGeom prst="rect">
            <a:avLst/>
          </a:prstGeom>
          <a:solidFill>
            <a:srgbClr val="FF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2095500" y="1809750"/>
            <a:ext cx="4191000" cy="200025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095500" y="3810000"/>
            <a:ext cx="4191000" cy="200025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286500" y="3810000"/>
            <a:ext cx="4191000" cy="200025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2095500" y="1809750"/>
            <a:ext cx="8382000" cy="4000500"/>
          </a:xfrm>
          <a:prstGeom prst="rect">
            <a:avLst/>
          </a:prstGeom>
          <a:noFill/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86500" y="1809750"/>
            <a:ext cx="9525" cy="40005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095500" y="3810000"/>
            <a:ext cx="838200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524000" y="17335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" y="56197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9300" y="58864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750" y="58864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5500" y="6153150"/>
            <a:ext cx="838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実行難易度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" y="3695700"/>
            <a:ext cx="1809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↑ インパクト</a:t>
            </a:r>
          </a:p>
        </p:txBody>
      </p:sp>
      <p:sp>
        <p:nvSpPr>
          <p:cNvPr id="19" name="Oval 18"/>
          <p:cNvSpPr/>
          <p:nvPr/>
        </p:nvSpPr>
        <p:spPr>
          <a:xfrm>
            <a:off x="8477250" y="2257425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77250" y="2276475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0" y="2295525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</a:rPr>
              <a:t>最優先項目</a:t>
            </a:r>
          </a:p>
        </p:txBody>
      </p:sp>
      <p:sp>
        <p:nvSpPr>
          <p:cNvPr id="22" name="Oval 21"/>
          <p:cNvSpPr/>
          <p:nvPr/>
        </p:nvSpPr>
        <p:spPr>
          <a:xfrm>
            <a:off x="7134225" y="285750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34225" y="2876550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6175" y="28956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</a:rPr>
              <a:t>重要項目</a:t>
            </a:r>
          </a:p>
        </p:txBody>
      </p:sp>
      <p:sp>
        <p:nvSpPr>
          <p:cNvPr id="25" name="Oval 24"/>
          <p:cNvSpPr/>
          <p:nvPr/>
        </p:nvSpPr>
        <p:spPr>
          <a:xfrm>
            <a:off x="4876800" y="3448050"/>
            <a:ext cx="304800" cy="3048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876800" y="3467100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8750" y="34861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</a:rPr>
              <a:t>通常項目1</a:t>
            </a:r>
          </a:p>
        </p:txBody>
      </p:sp>
      <p:sp>
        <p:nvSpPr>
          <p:cNvPr id="28" name="Oval 27"/>
          <p:cNvSpPr/>
          <p:nvPr/>
        </p:nvSpPr>
        <p:spPr>
          <a:xfrm>
            <a:off x="6553200" y="4457700"/>
            <a:ext cx="304800" cy="3048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53200" y="4476750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5150" y="44958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</a:rPr>
              <a:t>通常項目2</a:t>
            </a:r>
          </a:p>
        </p:txBody>
      </p:sp>
      <p:sp>
        <p:nvSpPr>
          <p:cNvPr id="31" name="Oval 30"/>
          <p:cNvSpPr/>
          <p:nvPr/>
        </p:nvSpPr>
        <p:spPr>
          <a:xfrm>
            <a:off x="3619500" y="4857750"/>
            <a:ext cx="304800" cy="3048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619500" y="4876800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81450" y="48958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</a:rPr>
              <a:t>低優先項目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紺＆クリーン スライド作成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</a:rPr>
              <a:t>【見本】OK・NG例の対比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</a:rPr>
              <a:t>OK / 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</a:rPr>
              <a:t>OK/NG対比は、品質基準の周知や改善ポイントの説明に有効。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524000"/>
            <a:ext cx="5524500" cy="361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90525" y="1533525"/>
            <a:ext cx="5505450" cy="533400"/>
          </a:xfrm>
          <a:prstGeom prst="rect">
            <a:avLst/>
          </a:prstGeom>
          <a:solidFill>
            <a:srgbClr val="FDECEC"/>
          </a:solidFill>
          <a:ln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81000" y="1524000"/>
            <a:ext cx="57150" cy="542925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638300"/>
            <a:ext cx="914400" cy="304800"/>
          </a:xfrm>
          <a:prstGeom prst="round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71500" y="16764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</a:rPr>
              <a:t>NG 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1676400"/>
            <a:ext cx="409575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D0021B"/>
                </a:solidFill>
                <a:latin typeface="メイリオ"/>
                <a:ea typeface="メイリオ"/>
              </a:rPr>
              <a:t>NGの典型例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209800"/>
            <a:ext cx="5067300" cy="2419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</a:rPr>
              <a:t>避けるべきパターンを示す。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</a:rPr>
              <a:t>本文は3〜4行で簡潔に。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</a:rPr>
              <a:t>キャプションで補足。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0525" y="4724400"/>
            <a:ext cx="5505450" cy="409575"/>
          </a:xfrm>
          <a:prstGeom prst="rect">
            <a:avLst/>
          </a:prstGeom>
          <a:solidFill>
            <a:srgbClr val="FDECEC"/>
          </a:solidFill>
          <a:ln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90525" y="4724400"/>
            <a:ext cx="38100" cy="409575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71500" y="4829175"/>
            <a:ext cx="5143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</a:rPr>
              <a:t>※ なぜダメか1行で説明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500" y="1524000"/>
            <a:ext cx="5524500" cy="361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96025" y="1533525"/>
            <a:ext cx="5505450" cy="533400"/>
          </a:xfrm>
          <a:prstGeom prst="rect">
            <a:avLst/>
          </a:prstGeom>
          <a:solidFill>
            <a:srgbClr val="E6F4EA"/>
          </a:solidFill>
          <a:ln>
            <a:solidFill>
              <a:srgbClr val="E6F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86500" y="1524000"/>
            <a:ext cx="57150" cy="542925"/>
          </a:xfrm>
          <a:prstGeom prst="rect">
            <a:avLst/>
          </a:prstGeom>
          <a:solidFill>
            <a:srgbClr val="1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477000" y="1638300"/>
            <a:ext cx="914400" cy="304800"/>
          </a:xfrm>
          <a:prstGeom prst="roundRect">
            <a:avLst/>
          </a:prstGeom>
          <a:solidFill>
            <a:srgbClr val="1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77000" y="16764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</a:rPr>
              <a:t>OK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0" y="1676400"/>
            <a:ext cx="409575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0884A"/>
                </a:solidFill>
                <a:latin typeface="メイリオ"/>
                <a:ea typeface="メイリオ"/>
              </a:rPr>
              <a:t>OKの推奨例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2209800"/>
            <a:ext cx="5067300" cy="2419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</a:rPr>
              <a:t>推奨パターンを示す。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</a:rPr>
              <a:t>NGと同じ行数で対比性を出す。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</a:rPr>
              <a:t>緑バッジ＋紺色見出し。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6025" y="4724400"/>
            <a:ext cx="5505450" cy="409575"/>
          </a:xfrm>
          <a:prstGeom prst="rect">
            <a:avLst/>
          </a:prstGeom>
          <a:solidFill>
            <a:srgbClr val="E6F4EA"/>
          </a:solidFill>
          <a:ln>
            <a:solidFill>
              <a:srgbClr val="E6F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296025" y="4724400"/>
            <a:ext cx="38100" cy="409575"/>
          </a:xfrm>
          <a:prstGeom prst="rect">
            <a:avLst/>
          </a:prstGeom>
          <a:solidFill>
            <a:srgbClr val="1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77000" y="4829175"/>
            <a:ext cx="5143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0884A"/>
                </a:solidFill>
                <a:latin typeface="メイリオ"/>
                <a:ea typeface="メイリオ"/>
              </a:rPr>
              <a:t>※ どこが優れているか1行で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5314950"/>
            <a:ext cx="11430000" cy="87630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71500" y="5410200"/>
            <a:ext cx="11049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9DB0D6"/>
                </a:solidFill>
                <a:latin typeface="メイリオ"/>
                <a:ea typeface="メイリオ"/>
              </a:rPr>
              <a:t>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5638800"/>
            <a:ext cx="11049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</a:rPr>
              <a:t>【関数呼び出し】 add_ok_ng_pair(prs, title, ng=..., ok=...)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紺＆クリーン スライド作成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</a:rPr>
              <a:t>【見本】施策一覧表（add_action_table）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</a:rPr>
              <a:t>Action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</a:rPr>
              <a:t>PPTXネイティブの表組。emphasize引数でセル内の数字を赤強調できる。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1524000"/>
          <a:ext cx="11430000" cy="217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572000"/>
                <a:gridCol w="2057400"/>
                <a:gridCol w="2514600"/>
                <a:gridCol w="1371600"/>
              </a:tblGrid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No</a:t>
                      </a:r>
                    </a:p>
                  </a:txBody>
                  <a:tcPr marL="101600" marR="101600" marT="76200" marB="76200">
                    <a:solidFill>
                      <a:srgbClr val="1C3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施策名</a:t>
                      </a:r>
                    </a:p>
                  </a:txBody>
                  <a:tcPr marL="101600" marR="101600" marT="76200" marB="76200">
                    <a:solidFill>
                      <a:srgbClr val="1C3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担当</a:t>
                      </a:r>
                    </a:p>
                  </a:txBody>
                  <a:tcPr marL="101600" marR="101600" marT="76200" marB="76200">
                    <a:solidFill>
                      <a:srgbClr val="1C3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効果</a:t>
                      </a:r>
                    </a:p>
                  </a:txBody>
                  <a:tcPr marL="101600" marR="101600" marT="76200" marB="76200">
                    <a:solidFill>
                      <a:srgbClr val="1C3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工数</a:t>
                      </a:r>
                    </a:p>
                  </a:txBody>
                  <a:tcPr marL="101600" marR="101600" marT="76200" marB="76200">
                    <a:solidFill>
                      <a:srgbClr val="1C366C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01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施策Aの内容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営業部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</a:rPr>
                        <a:t>+15%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高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02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施策Bの内容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CS部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</a:rPr>
                        <a:t>-3pt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中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03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施策Cの内容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IT部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+8pt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中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04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施策Dの内容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人事部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-20%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低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05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施策Eの内容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マーケ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+12%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低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1000" y="398145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【出所】サンプルデータ（実数値ではありません）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紺＆クリーン スライド作成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</a:rPr>
              <a:t>【見本】KPIカード（add_kpi_card）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</a:rPr>
              <a:t>Key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</a:rPr>
              <a:t>核心数値を大きく表示（条項13）。赤=危機、紺=成果。1スライド最大4個。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524000"/>
            <a:ext cx="2714625" cy="2667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9600" y="1771650"/>
            <a:ext cx="2257425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指標A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286000"/>
            <a:ext cx="2257425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C366C"/>
                </a:solidFill>
                <a:latin typeface="メイリオ"/>
                <a:ea typeface="メイリオ"/>
              </a:rPr>
              <a:t>108%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143250"/>
            <a:ext cx="225742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前年比＋8%で目標達成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86125" y="1524000"/>
            <a:ext cx="2714625" cy="2667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514725" y="1771650"/>
            <a:ext cx="2257425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指標B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4725" y="2286000"/>
            <a:ext cx="2257425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D0021B"/>
                </a:solidFill>
                <a:latin typeface="メイリオ"/>
                <a:ea typeface="メイリオ"/>
              </a:rPr>
              <a:t>24%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4725" y="3143250"/>
            <a:ext cx="225742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前年比-10pt、要対策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1250" y="1524000"/>
            <a:ext cx="2714625" cy="2667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19850" y="1771650"/>
            <a:ext cx="2257425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指標C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2286000"/>
            <a:ext cx="2257425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D0021B"/>
                </a:solidFill>
                <a:latin typeface="メイリオ"/>
                <a:ea typeface="メイリオ"/>
              </a:rPr>
              <a:t>8.2%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3143250"/>
            <a:ext cx="225742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悪化傾向、緊急対応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6375" y="1524000"/>
            <a:ext cx="2714625" cy="2667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4975" y="1771650"/>
            <a:ext cx="2257425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指標D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4975" y="2286000"/>
            <a:ext cx="2257425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C366C"/>
                </a:solidFill>
                <a:latin typeface="メイリオ"/>
                <a:ea typeface="メイリオ"/>
              </a:rPr>
              <a:t>42社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4975" y="3143250"/>
            <a:ext cx="225742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目標40社を超過達成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4476750"/>
            <a:ext cx="11430000" cy="87630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1500" y="4572000"/>
            <a:ext cx="11049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9DB0D6"/>
                </a:solidFill>
                <a:latin typeface="メイリオ"/>
                <a:ea typeface="メイリオ"/>
              </a:rPr>
              <a:t>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4800600"/>
            <a:ext cx="11049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</a:rPr>
              <a:t>【関数呼び出し】 add_kpi_card(prs, title, kpis=[{label,value,unit,desc,color},...])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紺＆クリーン スライド作成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</a:rPr>
              <a:t>【見本】スケジュール（add_schedule_gantt）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</a:rPr>
              <a:t>時系列計画。バー（紺）と マイルストーン（赤◆）の組み合わせ。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7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667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</a:rPr>
              <a:t>7月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1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191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</a:rPr>
              <a:t>8月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</a:rPr>
              <a:t>9月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39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239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</a:rPr>
              <a:t>10月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63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763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</a:rPr>
              <a:t>11月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87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87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</a:rPr>
              <a:t>12月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20764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</a:rPr>
              <a:t>タスクA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7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191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715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239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763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0287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2705100" y="2057400"/>
            <a:ext cx="4495800" cy="28575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81000" y="25336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</a:rPr>
              <a:t>タスクB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67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191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715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239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763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0287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4229100" y="2514600"/>
            <a:ext cx="4495800" cy="28575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1000" y="29908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</a:rPr>
              <a:t>タスクC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67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4191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715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7239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763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10287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5753100" y="2971800"/>
            <a:ext cx="4495800" cy="28575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81000" y="34480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</a:rPr>
              <a:t>マイルストーン①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67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4191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715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7239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763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0287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Diamond 48"/>
          <p:cNvSpPr/>
          <p:nvPr/>
        </p:nvSpPr>
        <p:spPr>
          <a:xfrm>
            <a:off x="7886700" y="3467100"/>
            <a:ext cx="228600" cy="228600"/>
          </a:xfrm>
          <a:prstGeom prst="diamond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81000" y="39052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</a:rPr>
              <a:t>マイルストーン②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67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4191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715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7239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8763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10287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Diamond 56"/>
          <p:cNvSpPr/>
          <p:nvPr/>
        </p:nvSpPr>
        <p:spPr>
          <a:xfrm>
            <a:off x="10934700" y="3924300"/>
            <a:ext cx="228600" cy="228600"/>
          </a:xfrm>
          <a:prstGeom prst="diamond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紺＆クリーン スライド作成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</a:rPr>
              <a:t>【見本】フロー比較（add_flow_compare）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</a:rPr>
              <a:t>Flow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</a:rPr>
              <a:t>Before/After フローを上下に並べて対比。改善効果を視覚化。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809750"/>
            <a:ext cx="952500" cy="3429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1000" y="18669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</a:rPr>
              <a:t>BEFORE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24000" y="1619250"/>
            <a:ext cx="1714500" cy="723900"/>
          </a:xfrm>
          <a:prstGeom prst="roundRect">
            <a:avLst/>
          </a:prstGeom>
          <a:solidFill>
            <a:srgbClr val="F4F5F8"/>
          </a:solidFill>
          <a:ln w="254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619250" y="18288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</a:rPr>
              <a:t>STEP1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2800" y="188595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</a:rPr>
              <a:t>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67125" y="1619250"/>
            <a:ext cx="1714500" cy="723900"/>
          </a:xfrm>
          <a:prstGeom prst="roundRect">
            <a:avLst/>
          </a:prstGeom>
          <a:solidFill>
            <a:srgbClr val="F4F5F8"/>
          </a:solidFill>
          <a:ln w="254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762375" y="18288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</a:rPr>
              <a:t>STEP2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5925" y="188595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</a:rPr>
              <a:t>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0250" y="1619250"/>
            <a:ext cx="1714500" cy="723900"/>
          </a:xfrm>
          <a:prstGeom prst="roundRect">
            <a:avLst/>
          </a:prstGeom>
          <a:solidFill>
            <a:srgbClr val="F4F5F8"/>
          </a:solidFill>
          <a:ln w="254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05500" y="18288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</a:rPr>
              <a:t>STEP3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9050" y="188595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</a:rPr>
              <a:t>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3375" y="1619250"/>
            <a:ext cx="1714500" cy="723900"/>
          </a:xfrm>
          <a:prstGeom prst="roundRect">
            <a:avLst/>
          </a:prstGeom>
          <a:solidFill>
            <a:srgbClr val="F4F5F8"/>
          </a:solidFill>
          <a:ln w="254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8625" y="18288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</a:rPr>
              <a:t>STEP4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2175" y="188595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</a:rPr>
              <a:t>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96500" y="1619250"/>
            <a:ext cx="1714500" cy="723900"/>
          </a:xfrm>
          <a:prstGeom prst="roundRect">
            <a:avLst/>
          </a:prstGeom>
          <a:solidFill>
            <a:srgbClr val="F4F5F8"/>
          </a:solidFill>
          <a:ln w="254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191750" y="18288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</a:rPr>
              <a:t>STEP5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3238500"/>
            <a:ext cx="952500" cy="34290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81000" y="329565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</a:rPr>
              <a:t>AFTER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24000" y="3048000"/>
            <a:ext cx="1714500" cy="7239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619250" y="325755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</a:rPr>
              <a:t>STEP1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4750" y="331470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</a:rPr>
              <a:t>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1500" y="3048000"/>
            <a:ext cx="1714500" cy="7239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476750" y="325755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</a:rPr>
              <a:t>STEP2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0" y="331470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</a:rPr>
              <a:t>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39000" y="3048000"/>
            <a:ext cx="1714500" cy="7239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334250" y="325755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</a:rPr>
              <a:t>STEP3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9750" y="331470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</a:rPr>
              <a:t>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96500" y="3048000"/>
            <a:ext cx="1714500" cy="7239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191750" y="325755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</a:rPr>
              <a:t>STEP4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1000" y="4476750"/>
            <a:ext cx="11430000" cy="87630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71500" y="4572000"/>
            <a:ext cx="11049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9DB0D6"/>
                </a:solidFill>
                <a:latin typeface="メイリオ"/>
                <a:ea typeface="メイリオ"/>
              </a:rPr>
              <a:t>IMPROVEMENT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4800600"/>
            <a:ext cx="11049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</a:rPr>
              <a:t>【関数呼び出し】 add_flow_compare(prs, title, before_steps, after_steps)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紺＆クリーン スライド作成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286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メイリオ"/>
                <a:ea typeface="メイリオ"/>
              </a:rPr>
              <a:t>Thank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857500"/>
            <a:ext cx="4572000" cy="285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2000" y="3238500"/>
            <a:ext cx="106680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2200" b="0" i="0">
                <a:solidFill>
                  <a:srgbClr val="E6EAF3"/>
                </a:solidFill>
                <a:latin typeface="メイリオ"/>
                <a:ea typeface="メイリオ"/>
              </a:rPr>
              <a:t>以上が10種類のレイアウト見本でした。
各関数の詳細仕様は 02_design_spec.md を参照してください。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0" y="5334000"/>
            <a:ext cx="43815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60000"/>
              </a:lnSpc>
            </a:pPr>
            <a:r>
              <a:rPr sz="1600" b="0" i="0">
                <a:solidFill>
                  <a:srgbClr val="FFFFFF"/>
                </a:solidFill>
                <a:latin typeface="メイリオ"/>
                <a:ea typeface="メイリオ"/>
              </a:rPr>
              <a:t>紺＆クリーン スライド作成 / Layout Catalog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6025"/>
            <a:ext cx="12192000" cy="561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紺＆クリーン スライド作成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