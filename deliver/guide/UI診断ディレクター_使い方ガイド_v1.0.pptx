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sldSz cx="10691813" cy="7559675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92" d="100"/>
          <a:sy n="92" d="100"/>
        </p:scale>
        <p:origin x="1626" y="78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7/16/2026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7/16/2026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7/16/2026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7/16/2026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7/16/2026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7/16/2026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7/16/2026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7/16/2026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7/16/2026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7/16/2026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7/16/2026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7/16/2026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0692000" cy="7560000"/>
          </a:xfrm>
          <a:prstGeom prst="rect">
            <a:avLst/>
          </a:prstGeom>
          <a:solidFill>
            <a:srgbClr val="1C366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2520000"/>
            <a:ext cx="10692000" cy="2160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720000" y="2700000"/>
            <a:ext cx="9252000" cy="900000"/>
          </a:xfrm>
          <a:prstGeom prst="rect">
            <a:avLst/>
          </a:prstGeom>
          <a:noFill/>
        </p:spPr>
        <p:txBody>
          <a:bodyPr wrap="square" lIns="54000" tIns="18000" rIns="54000" bIns="18000" anchor="ctr">
            <a:spAutoFit/>
          </a:bodyPr>
          <a:lstStyle/>
          <a:p>
            <a:pPr algn="ctr"/>
            <a:r>
              <a:rPr sz="4400" b="1">
                <a:solidFill>
                  <a:srgbClr val="1C366C"/>
                </a:solidFill>
                <a:latin typeface="Meiryo"/>
              </a:rPr>
              <a:t>UI診断ディレクター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20000" y="3528000"/>
            <a:ext cx="9252000" cy="540000"/>
          </a:xfrm>
          <a:prstGeom prst="rect">
            <a:avLst/>
          </a:prstGeom>
          <a:noFill/>
        </p:spPr>
        <p:txBody>
          <a:bodyPr wrap="square" lIns="54000" tIns="18000" rIns="54000" bIns="18000" anchor="ctr">
            <a:spAutoFit/>
          </a:bodyPr>
          <a:lstStyle/>
          <a:p>
            <a:pPr algn="ctr"/>
            <a:r>
              <a:rPr sz="2800" b="1">
                <a:solidFill>
                  <a:srgbClr val="1C366C"/>
                </a:solidFill>
                <a:latin typeface="Meiryo"/>
              </a:rPr>
              <a:t>使い方ガイド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20000" y="4140000"/>
            <a:ext cx="9252000" cy="360000"/>
          </a:xfrm>
          <a:prstGeom prst="rect">
            <a:avLst/>
          </a:prstGeom>
          <a:noFill/>
        </p:spPr>
        <p:txBody>
          <a:bodyPr wrap="square" lIns="54000" tIns="18000" rIns="54000" bIns="18000" anchor="ctr">
            <a:spAutoFit/>
          </a:bodyPr>
          <a:lstStyle/>
          <a:p>
            <a:pPr algn="ctr"/>
            <a:r>
              <a:rPr sz="1300" b="0">
                <a:solidFill>
                  <a:srgbClr val="5C5C5C"/>
                </a:solidFill>
                <a:latin typeface="Meiryo"/>
              </a:rPr>
              <a:t>URLを1本送るだけ。Webディレクター視点の10項目診断を、PPTX3ファイルで即納品。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20000" y="6660000"/>
            <a:ext cx="9252000" cy="360000"/>
          </a:xfrm>
          <a:prstGeom prst="rect">
            <a:avLst/>
          </a:prstGeom>
          <a:noFill/>
        </p:spPr>
        <p:txBody>
          <a:bodyPr wrap="square" lIns="54000" tIns="18000" rIns="54000" bIns="18000" anchor="ctr">
            <a:spAutoFit/>
          </a:bodyPr>
          <a:lstStyle/>
          <a:p>
            <a:pPr algn="ctr"/>
            <a:r>
              <a:rPr sz="1100" b="0">
                <a:solidFill>
                  <a:srgbClr val="FFFFFF"/>
                </a:solidFill>
                <a:latin typeface="Meiryo"/>
              </a:rPr>
              <a:t>v1.0（2026年7月版）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0692000" cy="432000"/>
          </a:xfrm>
          <a:prstGeom prst="rect">
            <a:avLst/>
          </a:prstGeom>
          <a:solidFill>
            <a:srgbClr val="1C366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288000" y="54000"/>
            <a:ext cx="7200000" cy="324000"/>
          </a:xfrm>
          <a:prstGeom prst="rect">
            <a:avLst/>
          </a:prstGeom>
          <a:noFill/>
        </p:spPr>
        <p:txBody>
          <a:bodyPr wrap="square" lIns="54000" tIns="18000" rIns="54000" bIns="18000" anchor="ctr">
            <a:spAutoFit/>
          </a:bodyPr>
          <a:lstStyle/>
          <a:p>
            <a:pPr algn="l"/>
            <a:r>
              <a:rPr sz="1400" b="1">
                <a:solidFill>
                  <a:srgbClr val="FFFFFF"/>
                </a:solidFill>
                <a:latin typeface="Meiryo"/>
              </a:rPr>
              <a:t>UI診断ディレクター 使い方ガイド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00000" y="54000"/>
            <a:ext cx="4320000" cy="324000"/>
          </a:xfrm>
          <a:prstGeom prst="rect">
            <a:avLst/>
          </a:prstGeom>
          <a:noFill/>
        </p:spPr>
        <p:txBody>
          <a:bodyPr wrap="square" lIns="54000" tIns="18000" rIns="54000" bIns="18000" anchor="ctr">
            <a:spAutoFit/>
          </a:bodyPr>
          <a:lstStyle/>
          <a:p>
            <a:pPr algn="r"/>
            <a:r>
              <a:rPr sz="1200" b="0">
                <a:solidFill>
                  <a:srgbClr val="FFFFFF"/>
                </a:solidFill>
                <a:latin typeface="Meiryo"/>
              </a:rPr>
              <a:t>CONTENTS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612000" y="7200000"/>
            <a:ext cx="900000" cy="251999"/>
          </a:xfrm>
          <a:prstGeom prst="rect">
            <a:avLst/>
          </a:prstGeom>
          <a:noFill/>
        </p:spPr>
        <p:txBody>
          <a:bodyPr wrap="square" lIns="54000" tIns="18000" rIns="54000" bIns="18000" anchor="ctr">
            <a:spAutoFit/>
          </a:bodyPr>
          <a:lstStyle/>
          <a:p>
            <a:pPr algn="r"/>
            <a:r>
              <a:rPr sz="1100" b="0">
                <a:solidFill>
                  <a:srgbClr val="5C5C5C"/>
                </a:solidFill>
                <a:latin typeface="Meiryo"/>
              </a:rPr>
              <a:t>00 / 15</a:t>
            </a:r>
          </a:p>
        </p:txBody>
      </p:sp>
      <p:sp>
        <p:nvSpPr>
          <p:cNvPr id="6" name="Rectangle 5"/>
          <p:cNvSpPr/>
          <p:nvPr/>
        </p:nvSpPr>
        <p:spPr>
          <a:xfrm>
            <a:off x="288000" y="648000"/>
            <a:ext cx="108000" cy="540000"/>
          </a:xfrm>
          <a:prstGeom prst="rect">
            <a:avLst/>
          </a:prstGeom>
          <a:solidFill>
            <a:srgbClr val="D0021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503999" y="612000"/>
            <a:ext cx="9000000" cy="432000"/>
          </a:xfrm>
          <a:prstGeom prst="rect">
            <a:avLst/>
          </a:prstGeom>
          <a:noFill/>
        </p:spPr>
        <p:txBody>
          <a:bodyPr wrap="square" lIns="54000" tIns="18000" rIns="54000" bIns="18000" anchor="ctr">
            <a:spAutoFit/>
          </a:bodyPr>
          <a:lstStyle/>
          <a:p>
            <a:pPr algn="l"/>
            <a:r>
              <a:rPr sz="2400" b="1">
                <a:solidFill>
                  <a:srgbClr val="1C366C"/>
                </a:solidFill>
                <a:latin typeface="Meiryo"/>
              </a:rPr>
              <a:t>目次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3999" y="972000"/>
            <a:ext cx="9000000" cy="251999"/>
          </a:xfrm>
          <a:prstGeom prst="rect">
            <a:avLst/>
          </a:prstGeom>
          <a:noFill/>
        </p:spPr>
        <p:txBody>
          <a:bodyPr wrap="square" lIns="54000" tIns="18000" rIns="54000" bIns="18000" anchor="t">
            <a:spAutoFit/>
          </a:bodyPr>
          <a:lstStyle/>
          <a:p>
            <a:pPr algn="l"/>
            <a:r>
              <a:rPr sz="1400" b="0">
                <a:solidFill>
                  <a:srgbClr val="5C5C5C"/>
                </a:solidFill>
                <a:latin typeface="Meiryo"/>
              </a:rPr>
              <a:t>このガイドの全体像</a:t>
            </a:r>
          </a:p>
        </p:txBody>
      </p:sp>
      <p:sp>
        <p:nvSpPr>
          <p:cNvPr id="9" name="Rectangle 8"/>
          <p:cNvSpPr/>
          <p:nvPr/>
        </p:nvSpPr>
        <p:spPr>
          <a:xfrm>
            <a:off x="539999" y="1440000"/>
            <a:ext cx="2837045" cy="288000"/>
          </a:xfrm>
          <a:prstGeom prst="rect">
            <a:avLst/>
          </a:prstGeom>
          <a:solidFill>
            <a:srgbClr val="F5F5F5"/>
          </a:solidFill>
          <a:ln w="6350">
            <a:solidFill>
              <a:srgbClr val="D0D0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539999" y="1473491"/>
            <a:ext cx="2972127" cy="221018"/>
          </a:xfrm>
          <a:prstGeom prst="rect">
            <a:avLst/>
          </a:prstGeom>
          <a:noFill/>
        </p:spPr>
        <p:txBody>
          <a:bodyPr wrap="square" lIns="54000" tIns="18000" rIns="54000" bIns="18000" anchor="ctr">
            <a:spAutoFit/>
          </a:bodyPr>
          <a:lstStyle/>
          <a:p>
            <a:pPr algn="l"/>
            <a:r>
              <a:rPr sz="1200" b="1">
                <a:solidFill>
                  <a:srgbClr val="1C366C"/>
                </a:solidFill>
                <a:latin typeface="Meiryo"/>
              </a:rPr>
              <a:t>はじめに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251600" y="1422000"/>
            <a:ext cx="6004227" cy="374906"/>
          </a:xfrm>
          <a:prstGeom prst="rect">
            <a:avLst/>
          </a:prstGeom>
          <a:noFill/>
        </p:spPr>
        <p:txBody>
          <a:bodyPr wrap="square" lIns="54000" tIns="18000" rIns="54000" bIns="18000" anchor="t">
            <a:spAutoFit/>
          </a:bodyPr>
          <a:lstStyle/>
          <a:p>
            <a:pPr algn="l"/>
            <a:r>
              <a:rPr sz="1100" b="0" dirty="0">
                <a:solidFill>
                  <a:srgbClr val="1C366C"/>
                </a:solidFill>
                <a:latin typeface="Meiryo"/>
              </a:rPr>
              <a:t>01. </a:t>
            </a:r>
            <a:r>
              <a:rPr sz="1100" b="0" dirty="0" err="1">
                <a:solidFill>
                  <a:srgbClr val="1C366C"/>
                </a:solidFill>
                <a:latin typeface="Meiryo"/>
              </a:rPr>
              <a:t>このガイドについて</a:t>
            </a:r>
            <a:r>
              <a:rPr sz="1100" b="0" dirty="0">
                <a:solidFill>
                  <a:srgbClr val="1C366C"/>
                </a:solidFill>
                <a:latin typeface="Meiryo"/>
              </a:rPr>
              <a:t>
02. UI診断ディレクターでできること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39999" y="2268000"/>
            <a:ext cx="2837045" cy="288000"/>
          </a:xfrm>
          <a:prstGeom prst="rect">
            <a:avLst/>
          </a:prstGeom>
          <a:solidFill>
            <a:srgbClr val="F5F5F5"/>
          </a:solidFill>
          <a:ln w="6350">
            <a:solidFill>
              <a:srgbClr val="D0D0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539999" y="2301491"/>
            <a:ext cx="2972127" cy="221018"/>
          </a:xfrm>
          <a:prstGeom prst="rect">
            <a:avLst/>
          </a:prstGeom>
          <a:noFill/>
        </p:spPr>
        <p:txBody>
          <a:bodyPr wrap="square" lIns="54000" tIns="18000" rIns="54000" bIns="18000" anchor="ctr">
            <a:spAutoFit/>
          </a:bodyPr>
          <a:lstStyle/>
          <a:p>
            <a:pPr algn="l"/>
            <a:r>
              <a:rPr sz="1200" b="1">
                <a:solidFill>
                  <a:srgbClr val="1C366C"/>
                </a:solidFill>
                <a:latin typeface="Meiryo"/>
              </a:rPr>
              <a:t>Section 1：基本操作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251600" y="2250000"/>
            <a:ext cx="6004227" cy="544183"/>
          </a:xfrm>
          <a:prstGeom prst="rect">
            <a:avLst/>
          </a:prstGeom>
          <a:noFill/>
        </p:spPr>
        <p:txBody>
          <a:bodyPr wrap="square" lIns="54000" tIns="18000" rIns="54000" bIns="18000" anchor="t">
            <a:spAutoFit/>
          </a:bodyPr>
          <a:lstStyle/>
          <a:p>
            <a:pPr algn="l"/>
            <a:r>
              <a:rPr sz="1100" b="0">
                <a:solidFill>
                  <a:srgbClr val="1C366C"/>
                </a:solidFill>
                <a:latin typeface="Meiryo"/>
              </a:rPr>
              <a:t>03. GPTsへのアクセス方法
04. 診断対象URLの送り方
05. 生成完了までの流れ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39999" y="3420000"/>
            <a:ext cx="2837045" cy="288000"/>
          </a:xfrm>
          <a:prstGeom prst="rect">
            <a:avLst/>
          </a:prstGeom>
          <a:solidFill>
            <a:srgbClr val="F5F5F5"/>
          </a:solidFill>
          <a:ln w="6350">
            <a:solidFill>
              <a:srgbClr val="D0D0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539999" y="3453491"/>
            <a:ext cx="2972127" cy="221018"/>
          </a:xfrm>
          <a:prstGeom prst="rect">
            <a:avLst/>
          </a:prstGeom>
          <a:noFill/>
        </p:spPr>
        <p:txBody>
          <a:bodyPr wrap="square" lIns="54000" tIns="18000" rIns="54000" bIns="18000" anchor="ctr">
            <a:spAutoFit/>
          </a:bodyPr>
          <a:lstStyle/>
          <a:p>
            <a:pPr algn="l"/>
            <a:r>
              <a:rPr sz="1200" b="1">
                <a:solidFill>
                  <a:srgbClr val="1C366C"/>
                </a:solidFill>
                <a:latin typeface="Meiryo"/>
              </a:rPr>
              <a:t>Section 2：出力物の理解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251600" y="3401999"/>
            <a:ext cx="6004227" cy="544183"/>
          </a:xfrm>
          <a:prstGeom prst="rect">
            <a:avLst/>
          </a:prstGeom>
          <a:noFill/>
        </p:spPr>
        <p:txBody>
          <a:bodyPr wrap="square" lIns="54000" tIns="18000" rIns="54000" bIns="18000" anchor="t">
            <a:spAutoFit/>
          </a:bodyPr>
          <a:lstStyle/>
          <a:p>
            <a:pPr algn="l"/>
            <a:r>
              <a:rPr sz="1100" b="0">
                <a:solidFill>
                  <a:srgbClr val="1C366C"/>
                </a:solidFill>
                <a:latin typeface="Meiryo"/>
              </a:rPr>
              <a:t>06. UIスコアカードの読み方
07. 改善提案リストの活用方法
08. ビジュアル診断ボードの使い方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39999" y="4572000"/>
            <a:ext cx="2837045" cy="288000"/>
          </a:xfrm>
          <a:prstGeom prst="rect">
            <a:avLst/>
          </a:prstGeom>
          <a:solidFill>
            <a:srgbClr val="F5F5F5"/>
          </a:solidFill>
          <a:ln w="6350">
            <a:solidFill>
              <a:srgbClr val="D0D0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539999" y="4605491"/>
            <a:ext cx="2972127" cy="221018"/>
          </a:xfrm>
          <a:prstGeom prst="rect">
            <a:avLst/>
          </a:prstGeom>
          <a:noFill/>
        </p:spPr>
        <p:txBody>
          <a:bodyPr wrap="square" lIns="54000" tIns="18000" rIns="54000" bIns="18000" anchor="ctr">
            <a:spAutoFit/>
          </a:bodyPr>
          <a:lstStyle/>
          <a:p>
            <a:pPr algn="l"/>
            <a:r>
              <a:rPr sz="1200" b="1">
                <a:solidFill>
                  <a:srgbClr val="5C5C5C"/>
                </a:solidFill>
                <a:latin typeface="Meiryo"/>
              </a:rPr>
              <a:t>Section 3：応用と対話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251600" y="4553999"/>
            <a:ext cx="6004227" cy="544183"/>
          </a:xfrm>
          <a:prstGeom prst="rect">
            <a:avLst/>
          </a:prstGeom>
          <a:noFill/>
        </p:spPr>
        <p:txBody>
          <a:bodyPr wrap="square" lIns="54000" tIns="18000" rIns="54000" bIns="18000" anchor="t">
            <a:spAutoFit/>
          </a:bodyPr>
          <a:lstStyle/>
          <a:p>
            <a:pPr algn="l"/>
            <a:r>
              <a:rPr sz="1100" b="0">
                <a:solidFill>
                  <a:srgbClr val="5C5C5C"/>
                </a:solidFill>
                <a:latin typeface="Meiryo"/>
              </a:rPr>
              <a:t>09. 生成後にAIと相談する方法
10. 業種別の活用パターン
11. クライアント提案への転用</a:t>
            </a:r>
          </a:p>
        </p:txBody>
      </p:sp>
      <p:sp>
        <p:nvSpPr>
          <p:cNvPr id="21" name="Rectangle 20"/>
          <p:cNvSpPr/>
          <p:nvPr/>
        </p:nvSpPr>
        <p:spPr>
          <a:xfrm>
            <a:off x="539999" y="5723999"/>
            <a:ext cx="2837045" cy="288000"/>
          </a:xfrm>
          <a:prstGeom prst="rect">
            <a:avLst/>
          </a:prstGeom>
          <a:solidFill>
            <a:srgbClr val="F5F5F5"/>
          </a:solidFill>
          <a:ln w="6350">
            <a:solidFill>
              <a:srgbClr val="D0D0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539999" y="5757490"/>
            <a:ext cx="2972127" cy="221018"/>
          </a:xfrm>
          <a:prstGeom prst="rect">
            <a:avLst/>
          </a:prstGeom>
          <a:noFill/>
        </p:spPr>
        <p:txBody>
          <a:bodyPr wrap="square" lIns="54000" tIns="18000" rIns="54000" bIns="18000" anchor="ctr">
            <a:spAutoFit/>
          </a:bodyPr>
          <a:lstStyle/>
          <a:p>
            <a:pPr algn="l"/>
            <a:r>
              <a:rPr sz="1200" b="1">
                <a:solidFill>
                  <a:srgbClr val="5C5C5C"/>
                </a:solidFill>
                <a:latin typeface="Meiryo"/>
              </a:rPr>
              <a:t>Section 4：トラブルシューティング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251600" y="5705999"/>
            <a:ext cx="6004227" cy="544183"/>
          </a:xfrm>
          <a:prstGeom prst="rect">
            <a:avLst/>
          </a:prstGeom>
          <a:noFill/>
        </p:spPr>
        <p:txBody>
          <a:bodyPr wrap="square" lIns="54000" tIns="18000" rIns="54000" bIns="18000" anchor="t">
            <a:spAutoFit/>
          </a:bodyPr>
          <a:lstStyle/>
          <a:p>
            <a:pPr algn="l"/>
            <a:r>
              <a:rPr sz="1100" b="0">
                <a:solidFill>
                  <a:srgbClr val="5C5C5C"/>
                </a:solidFill>
                <a:latin typeface="Meiryo"/>
              </a:rPr>
              <a:t>12. URLアクセス失敗時の対処
13. 出力が期待と異なる場合
14. サポート窓口の使い方</a:t>
            </a:r>
          </a:p>
        </p:txBody>
      </p:sp>
      <p:sp>
        <p:nvSpPr>
          <p:cNvPr id="24" name="Rectangle 23"/>
          <p:cNvSpPr/>
          <p:nvPr/>
        </p:nvSpPr>
        <p:spPr>
          <a:xfrm>
            <a:off x="539999" y="6875999"/>
            <a:ext cx="2837045" cy="288000"/>
          </a:xfrm>
          <a:prstGeom prst="rect">
            <a:avLst/>
          </a:prstGeom>
          <a:solidFill>
            <a:srgbClr val="F5F5F5"/>
          </a:solidFill>
          <a:ln w="6350">
            <a:solidFill>
              <a:srgbClr val="D0D0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540000" y="6875999"/>
            <a:ext cx="2160000" cy="288000"/>
          </a:xfrm>
          <a:prstGeom prst="rect">
            <a:avLst/>
          </a:prstGeom>
          <a:noFill/>
        </p:spPr>
        <p:txBody>
          <a:bodyPr wrap="square" lIns="54000" tIns="18000" rIns="54000" bIns="18000" anchor="ctr">
            <a:spAutoFit/>
          </a:bodyPr>
          <a:lstStyle/>
          <a:p>
            <a:pPr algn="l"/>
            <a:r>
              <a:rPr sz="1200" b="1">
                <a:solidFill>
                  <a:srgbClr val="5C5C5C"/>
                </a:solidFill>
                <a:latin typeface="Meiryo"/>
              </a:rPr>
              <a:t>おわりに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251600" y="6857999"/>
            <a:ext cx="6004227" cy="205629"/>
          </a:xfrm>
          <a:prstGeom prst="rect">
            <a:avLst/>
          </a:prstGeom>
          <a:noFill/>
        </p:spPr>
        <p:txBody>
          <a:bodyPr wrap="square" lIns="54000" tIns="18000" rIns="54000" bIns="18000" anchor="t">
            <a:spAutoFit/>
          </a:bodyPr>
          <a:lstStyle/>
          <a:p>
            <a:pPr algn="l"/>
            <a:r>
              <a:rPr sz="1100" b="0">
                <a:solidFill>
                  <a:srgbClr val="5C5C5C"/>
                </a:solidFill>
                <a:latin typeface="Meiryo"/>
              </a:rPr>
              <a:t>15. アップデート情報の受け取り方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0692000" cy="432000"/>
          </a:xfrm>
          <a:prstGeom prst="rect">
            <a:avLst/>
          </a:prstGeom>
          <a:solidFill>
            <a:srgbClr val="1C366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288000" y="54000"/>
            <a:ext cx="7200000" cy="324000"/>
          </a:xfrm>
          <a:prstGeom prst="rect">
            <a:avLst/>
          </a:prstGeom>
          <a:noFill/>
        </p:spPr>
        <p:txBody>
          <a:bodyPr wrap="square" lIns="54000" tIns="18000" rIns="54000" bIns="18000" anchor="ctr">
            <a:spAutoFit/>
          </a:bodyPr>
          <a:lstStyle/>
          <a:p>
            <a:pPr algn="l"/>
            <a:r>
              <a:rPr sz="1400" b="1">
                <a:solidFill>
                  <a:srgbClr val="FFFFFF"/>
                </a:solidFill>
                <a:latin typeface="Meiryo"/>
              </a:rPr>
              <a:t>UI診断ディレクター 使い方ガイド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00000" y="54000"/>
            <a:ext cx="4320000" cy="324000"/>
          </a:xfrm>
          <a:prstGeom prst="rect">
            <a:avLst/>
          </a:prstGeom>
          <a:noFill/>
        </p:spPr>
        <p:txBody>
          <a:bodyPr wrap="square" lIns="54000" tIns="18000" rIns="54000" bIns="18000" anchor="ctr">
            <a:spAutoFit/>
          </a:bodyPr>
          <a:lstStyle/>
          <a:p>
            <a:pPr algn="r"/>
            <a:r>
              <a:rPr sz="1200" b="0">
                <a:solidFill>
                  <a:srgbClr val="FFFFFF"/>
                </a:solidFill>
                <a:latin typeface="Meiryo"/>
              </a:rPr>
              <a:t>はじめに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612000" y="7200000"/>
            <a:ext cx="900000" cy="251999"/>
          </a:xfrm>
          <a:prstGeom prst="rect">
            <a:avLst/>
          </a:prstGeom>
          <a:noFill/>
        </p:spPr>
        <p:txBody>
          <a:bodyPr wrap="square" lIns="54000" tIns="18000" rIns="54000" bIns="18000" anchor="ctr">
            <a:spAutoFit/>
          </a:bodyPr>
          <a:lstStyle/>
          <a:p>
            <a:pPr algn="r"/>
            <a:r>
              <a:rPr sz="1100" b="0">
                <a:solidFill>
                  <a:srgbClr val="5C5C5C"/>
                </a:solidFill>
                <a:latin typeface="Meiryo"/>
              </a:rPr>
              <a:t>01 / 15</a:t>
            </a:r>
          </a:p>
        </p:txBody>
      </p:sp>
      <p:sp>
        <p:nvSpPr>
          <p:cNvPr id="6" name="Rectangle 5"/>
          <p:cNvSpPr/>
          <p:nvPr/>
        </p:nvSpPr>
        <p:spPr>
          <a:xfrm>
            <a:off x="288000" y="648000"/>
            <a:ext cx="108000" cy="540000"/>
          </a:xfrm>
          <a:prstGeom prst="rect">
            <a:avLst/>
          </a:prstGeom>
          <a:solidFill>
            <a:srgbClr val="D0021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503999" y="612000"/>
            <a:ext cx="9000000" cy="432000"/>
          </a:xfrm>
          <a:prstGeom prst="rect">
            <a:avLst/>
          </a:prstGeom>
          <a:noFill/>
        </p:spPr>
        <p:txBody>
          <a:bodyPr wrap="square" lIns="54000" tIns="18000" rIns="54000" bIns="18000" anchor="ctr">
            <a:spAutoFit/>
          </a:bodyPr>
          <a:lstStyle/>
          <a:p>
            <a:pPr algn="l"/>
            <a:r>
              <a:rPr sz="2400" b="1">
                <a:solidFill>
                  <a:srgbClr val="1C366C"/>
                </a:solidFill>
                <a:latin typeface="Meiryo"/>
              </a:rPr>
              <a:t>01. このガイドについて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3999" y="972000"/>
            <a:ext cx="9000000" cy="251999"/>
          </a:xfrm>
          <a:prstGeom prst="rect">
            <a:avLst/>
          </a:prstGeom>
          <a:noFill/>
        </p:spPr>
        <p:txBody>
          <a:bodyPr wrap="square" lIns="54000" tIns="18000" rIns="54000" bIns="18000" anchor="t">
            <a:spAutoFit/>
          </a:bodyPr>
          <a:lstStyle/>
          <a:p>
            <a:pPr algn="l"/>
            <a:r>
              <a:rPr sz="1400" b="0">
                <a:solidFill>
                  <a:srgbClr val="5C5C5C"/>
                </a:solidFill>
                <a:latin typeface="Meiryo"/>
              </a:rPr>
              <a:t>UI診断ディレクターを、迷わず使い始めるための道しるべ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0000" y="1512000"/>
            <a:ext cx="9360000" cy="540000"/>
          </a:xfrm>
          <a:prstGeom prst="rect">
            <a:avLst/>
          </a:prstGeom>
          <a:noFill/>
        </p:spPr>
        <p:txBody>
          <a:bodyPr wrap="square" lIns="54000" tIns="18000" rIns="54000" bIns="18000" anchor="t">
            <a:spAutoFit/>
          </a:bodyPr>
          <a:lstStyle/>
          <a:p>
            <a:pPr algn="l"/>
            <a:r>
              <a:rPr sz="1400" b="1">
                <a:solidFill>
                  <a:srgbClr val="1C366C"/>
                </a:solidFill>
                <a:latin typeface="Meiryo"/>
              </a:rPr>
              <a:t>このガイドの目的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0000" y="1800000"/>
            <a:ext cx="9360000" cy="1080000"/>
          </a:xfrm>
          <a:prstGeom prst="rect">
            <a:avLst/>
          </a:prstGeom>
          <a:noFill/>
        </p:spPr>
        <p:txBody>
          <a:bodyPr wrap="square" lIns="54000" tIns="18000" rIns="54000" bIns="18000" anchor="t">
            <a:spAutoFit/>
          </a:bodyPr>
          <a:lstStyle/>
          <a:p>
            <a:pPr algn="l"/>
            <a:r>
              <a:rPr sz="1200" b="0">
                <a:solidFill>
                  <a:srgbClr val="1E1E1E"/>
                </a:solidFill>
                <a:latin typeface="Meiryo"/>
              </a:rPr>
              <a:t>UI診断ディレクター（GPTs）を購入いただき、ありがとうございます。
このガイドは、購入後の初回利用から、応用的な活用まで、
「迷わず・気持ちよく使える」ようにするための解説書です。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40000" y="2772000"/>
            <a:ext cx="9360000" cy="360000"/>
          </a:xfrm>
          <a:prstGeom prst="rect">
            <a:avLst/>
          </a:prstGeom>
          <a:noFill/>
        </p:spPr>
        <p:txBody>
          <a:bodyPr wrap="square" lIns="54000" tIns="18000" rIns="54000" bIns="18000" anchor="t">
            <a:spAutoFit/>
          </a:bodyPr>
          <a:lstStyle/>
          <a:p>
            <a:pPr algn="l"/>
            <a:r>
              <a:rPr sz="1400" b="1">
                <a:solidFill>
                  <a:srgbClr val="1C366C"/>
                </a:solidFill>
                <a:latin typeface="Meiryo"/>
              </a:rPr>
              <a:t>対象読者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40000" y="3060000"/>
            <a:ext cx="9360000" cy="1080000"/>
          </a:xfrm>
          <a:prstGeom prst="rect">
            <a:avLst/>
          </a:prstGeom>
          <a:noFill/>
        </p:spPr>
        <p:txBody>
          <a:bodyPr wrap="square" lIns="54000" tIns="18000" rIns="54000" bIns="18000" anchor="t">
            <a:spAutoFit/>
          </a:bodyPr>
          <a:lstStyle/>
          <a:p>
            <a:pPr algn="l"/>
            <a:r>
              <a:rPr sz="1200" b="0">
                <a:solidFill>
                  <a:srgbClr val="1E1E1E"/>
                </a:solidFill>
                <a:latin typeface="Meiryo"/>
              </a:rPr>
              <a:t>・ご購入いただいた全ての方
・サイト運営者、EC担当者、Webディレクター、制作会社の実務者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40000" y="4031999"/>
            <a:ext cx="9360000" cy="360000"/>
          </a:xfrm>
          <a:prstGeom prst="rect">
            <a:avLst/>
          </a:prstGeom>
          <a:noFill/>
        </p:spPr>
        <p:txBody>
          <a:bodyPr wrap="square" lIns="54000" tIns="18000" rIns="54000" bIns="18000" anchor="t">
            <a:spAutoFit/>
          </a:bodyPr>
          <a:lstStyle/>
          <a:p>
            <a:pPr algn="l"/>
            <a:r>
              <a:rPr sz="1400" b="1">
                <a:solidFill>
                  <a:srgbClr val="1C366C"/>
                </a:solidFill>
                <a:latin typeface="Meiryo"/>
              </a:rPr>
              <a:t>構成マップ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40000" y="4320000"/>
            <a:ext cx="9360000" cy="1440000"/>
          </a:xfrm>
          <a:prstGeom prst="rect">
            <a:avLst/>
          </a:prstGeom>
          <a:noFill/>
        </p:spPr>
        <p:txBody>
          <a:bodyPr wrap="square" lIns="54000" tIns="18000" rIns="54000" bIns="18000" anchor="t">
            <a:spAutoFit/>
          </a:bodyPr>
          <a:lstStyle/>
          <a:p>
            <a:pPr algn="l"/>
            <a:r>
              <a:rPr sz="1200" b="0">
                <a:solidFill>
                  <a:srgbClr val="1E1E1E"/>
                </a:solidFill>
                <a:latin typeface="Meiryo"/>
              </a:rPr>
              <a:t>本ガイドは以下の5セクション・15ページで構成されています。
・はじめに（2ページ）
・Section 1：基本操作（3ページ）
・Section 2：出力物の理解（3ページ）
・Section 3：応用と対話（3ページ）
・Section 4：トラブルシューティング（3ページ）
・おわりに（1ページ）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40000" y="6660000"/>
            <a:ext cx="9612000" cy="540000"/>
          </a:xfrm>
          <a:prstGeom prst="rect">
            <a:avLst/>
          </a:prstGeom>
          <a:solidFill>
            <a:srgbClr val="FFF2E8"/>
          </a:solidFill>
          <a:ln w="9525">
            <a:solidFill>
              <a:srgbClr val="F9731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648000" y="6660000"/>
            <a:ext cx="9432000" cy="540000"/>
          </a:xfrm>
          <a:prstGeom prst="rect">
            <a:avLst/>
          </a:prstGeom>
          <a:noFill/>
        </p:spPr>
        <p:txBody>
          <a:bodyPr wrap="square" lIns="54000" tIns="18000" rIns="54000" bIns="18000" anchor="ctr">
            <a:spAutoFit/>
          </a:bodyPr>
          <a:lstStyle/>
          <a:p>
            <a:pPr algn="l"/>
            <a:r>
              <a:rPr sz="1200" b="1">
                <a:solidFill>
                  <a:srgbClr val="1C366C"/>
                </a:solidFill>
                <a:latin typeface="Meiryo"/>
              </a:rPr>
              <a:t>▶ 困った時は、Section 4「トラブルシューティング」を先に読んでいただいて構いません。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0692000" cy="432000"/>
          </a:xfrm>
          <a:prstGeom prst="rect">
            <a:avLst/>
          </a:prstGeom>
          <a:solidFill>
            <a:srgbClr val="1C366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288000" y="54000"/>
            <a:ext cx="7200000" cy="324000"/>
          </a:xfrm>
          <a:prstGeom prst="rect">
            <a:avLst/>
          </a:prstGeom>
          <a:noFill/>
        </p:spPr>
        <p:txBody>
          <a:bodyPr wrap="square" lIns="54000" tIns="18000" rIns="54000" bIns="18000" anchor="ctr">
            <a:spAutoFit/>
          </a:bodyPr>
          <a:lstStyle/>
          <a:p>
            <a:pPr algn="l"/>
            <a:r>
              <a:rPr sz="1400" b="1">
                <a:solidFill>
                  <a:srgbClr val="FFFFFF"/>
                </a:solidFill>
                <a:latin typeface="Meiryo"/>
              </a:rPr>
              <a:t>UI診断ディレクター 使い方ガイド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00000" y="54000"/>
            <a:ext cx="4320000" cy="324000"/>
          </a:xfrm>
          <a:prstGeom prst="rect">
            <a:avLst/>
          </a:prstGeom>
          <a:noFill/>
        </p:spPr>
        <p:txBody>
          <a:bodyPr wrap="square" lIns="54000" tIns="18000" rIns="54000" bIns="18000" anchor="ctr">
            <a:spAutoFit/>
          </a:bodyPr>
          <a:lstStyle/>
          <a:p>
            <a:pPr algn="r"/>
            <a:r>
              <a:rPr sz="1200" b="0">
                <a:solidFill>
                  <a:srgbClr val="FFFFFF"/>
                </a:solidFill>
                <a:latin typeface="Meiryo"/>
              </a:rPr>
              <a:t>はじめに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612000" y="7200000"/>
            <a:ext cx="900000" cy="251999"/>
          </a:xfrm>
          <a:prstGeom prst="rect">
            <a:avLst/>
          </a:prstGeom>
          <a:noFill/>
        </p:spPr>
        <p:txBody>
          <a:bodyPr wrap="square" lIns="54000" tIns="18000" rIns="54000" bIns="18000" anchor="ctr">
            <a:spAutoFit/>
          </a:bodyPr>
          <a:lstStyle/>
          <a:p>
            <a:pPr algn="r"/>
            <a:r>
              <a:rPr sz="1100" b="0">
                <a:solidFill>
                  <a:srgbClr val="5C5C5C"/>
                </a:solidFill>
                <a:latin typeface="Meiryo"/>
              </a:rPr>
              <a:t>02 / 15</a:t>
            </a:r>
          </a:p>
        </p:txBody>
      </p:sp>
      <p:sp>
        <p:nvSpPr>
          <p:cNvPr id="6" name="Rectangle 5"/>
          <p:cNvSpPr/>
          <p:nvPr/>
        </p:nvSpPr>
        <p:spPr>
          <a:xfrm>
            <a:off x="288000" y="648000"/>
            <a:ext cx="108000" cy="540000"/>
          </a:xfrm>
          <a:prstGeom prst="rect">
            <a:avLst/>
          </a:prstGeom>
          <a:solidFill>
            <a:srgbClr val="D0021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503999" y="612000"/>
            <a:ext cx="9000000" cy="432000"/>
          </a:xfrm>
          <a:prstGeom prst="rect">
            <a:avLst/>
          </a:prstGeom>
          <a:noFill/>
        </p:spPr>
        <p:txBody>
          <a:bodyPr wrap="square" lIns="54000" tIns="18000" rIns="54000" bIns="18000" anchor="ctr">
            <a:spAutoFit/>
          </a:bodyPr>
          <a:lstStyle/>
          <a:p>
            <a:pPr algn="l"/>
            <a:r>
              <a:rPr sz="2400" b="1">
                <a:solidFill>
                  <a:srgbClr val="1C366C"/>
                </a:solidFill>
                <a:latin typeface="Meiryo"/>
              </a:rPr>
              <a:t>02. UI診断ディレクターでできること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3999" y="972000"/>
            <a:ext cx="9000000" cy="251999"/>
          </a:xfrm>
          <a:prstGeom prst="rect">
            <a:avLst/>
          </a:prstGeom>
          <a:noFill/>
        </p:spPr>
        <p:txBody>
          <a:bodyPr wrap="square" lIns="54000" tIns="18000" rIns="54000" bIns="18000" anchor="t">
            <a:spAutoFit/>
          </a:bodyPr>
          <a:lstStyle/>
          <a:p>
            <a:pPr algn="l"/>
            <a:r>
              <a:rPr sz="1400" b="0">
                <a:solidFill>
                  <a:srgbClr val="5C5C5C"/>
                </a:solidFill>
                <a:latin typeface="Meiryo"/>
              </a:rPr>
              <a:t>URLを1本送るだけで、3ファイルのレポートを納品</a:t>
            </a:r>
          </a:p>
        </p:txBody>
      </p:sp>
      <p:sp>
        <p:nvSpPr>
          <p:cNvPr id="9" name="Rectangle 8"/>
          <p:cNvSpPr/>
          <p:nvPr/>
        </p:nvSpPr>
        <p:spPr>
          <a:xfrm>
            <a:off x="540000" y="1620000"/>
            <a:ext cx="2951999" cy="360000"/>
          </a:xfrm>
          <a:prstGeom prst="rect">
            <a:avLst/>
          </a:prstGeom>
          <a:solidFill>
            <a:srgbClr val="1C366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648000" y="1655999"/>
            <a:ext cx="540000" cy="288000"/>
          </a:xfrm>
          <a:prstGeom prst="rect">
            <a:avLst/>
          </a:prstGeom>
          <a:noFill/>
        </p:spPr>
        <p:txBody>
          <a:bodyPr wrap="square" lIns="54000" tIns="18000" rIns="54000" bIns="18000" anchor="ctr">
            <a:spAutoFit/>
          </a:bodyPr>
          <a:lstStyle/>
          <a:p>
            <a:pPr algn="l"/>
            <a:r>
              <a:rPr sz="2200" b="1">
                <a:solidFill>
                  <a:srgbClr val="FFFFFF"/>
                </a:solidFill>
                <a:latin typeface="Meiryo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88000" y="1655999"/>
            <a:ext cx="2231999" cy="288000"/>
          </a:xfrm>
          <a:prstGeom prst="rect">
            <a:avLst/>
          </a:prstGeom>
          <a:noFill/>
        </p:spPr>
        <p:txBody>
          <a:bodyPr wrap="square" lIns="54000" tIns="18000" rIns="54000" bIns="18000" anchor="ctr">
            <a:spAutoFit/>
          </a:bodyPr>
          <a:lstStyle/>
          <a:p>
            <a:pPr algn="l"/>
            <a:r>
              <a:rPr sz="1400" b="1">
                <a:solidFill>
                  <a:srgbClr val="FFFFFF"/>
                </a:solidFill>
                <a:latin typeface="Meiryo"/>
              </a:rPr>
              <a:t>UIスコアカード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40000" y="1980000"/>
            <a:ext cx="2951999" cy="2160000"/>
          </a:xfrm>
          <a:prstGeom prst="rect">
            <a:avLst/>
          </a:prstGeom>
          <a:solidFill>
            <a:srgbClr val="FFFFFF"/>
          </a:solidFill>
          <a:ln w="9525">
            <a:solidFill>
              <a:srgbClr val="D0D0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684000" y="2088000"/>
            <a:ext cx="2664000" cy="1944000"/>
          </a:xfrm>
          <a:prstGeom prst="rect">
            <a:avLst/>
          </a:prstGeom>
          <a:noFill/>
        </p:spPr>
        <p:txBody>
          <a:bodyPr wrap="square" lIns="54000" tIns="18000" rIns="54000" bIns="18000" anchor="t">
            <a:spAutoFit/>
          </a:bodyPr>
          <a:lstStyle/>
          <a:p>
            <a:pPr algn="l"/>
            <a:r>
              <a:rPr sz="1200" b="0">
                <a:solidFill>
                  <a:srgbClr val="1E1E1E"/>
                </a:solidFill>
                <a:latin typeface="Meiryo"/>
              </a:rPr>
              <a:t>10項目 × 5段階評価と
総合ランクを1枚に集約。
経営層への現状共有に。</a:t>
            </a:r>
          </a:p>
        </p:txBody>
      </p:sp>
      <p:sp>
        <p:nvSpPr>
          <p:cNvPr id="14" name="Rectangle 13"/>
          <p:cNvSpPr/>
          <p:nvPr/>
        </p:nvSpPr>
        <p:spPr>
          <a:xfrm>
            <a:off x="3707999" y="1620000"/>
            <a:ext cx="2951999" cy="360000"/>
          </a:xfrm>
          <a:prstGeom prst="rect">
            <a:avLst/>
          </a:prstGeom>
          <a:solidFill>
            <a:srgbClr val="D0021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3816000" y="1655999"/>
            <a:ext cx="540000" cy="288000"/>
          </a:xfrm>
          <a:prstGeom prst="rect">
            <a:avLst/>
          </a:prstGeom>
          <a:noFill/>
        </p:spPr>
        <p:txBody>
          <a:bodyPr wrap="square" lIns="54000" tIns="18000" rIns="54000" bIns="18000" anchor="ctr">
            <a:spAutoFit/>
          </a:bodyPr>
          <a:lstStyle/>
          <a:p>
            <a:pPr algn="l"/>
            <a:r>
              <a:rPr sz="2200" b="1">
                <a:solidFill>
                  <a:srgbClr val="FFFFFF"/>
                </a:solidFill>
                <a:latin typeface="Meiryo"/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356000" y="1655999"/>
            <a:ext cx="2231999" cy="288000"/>
          </a:xfrm>
          <a:prstGeom prst="rect">
            <a:avLst/>
          </a:prstGeom>
          <a:noFill/>
        </p:spPr>
        <p:txBody>
          <a:bodyPr wrap="square" lIns="54000" tIns="18000" rIns="54000" bIns="18000" anchor="ctr">
            <a:spAutoFit/>
          </a:bodyPr>
          <a:lstStyle/>
          <a:p>
            <a:pPr algn="l"/>
            <a:r>
              <a:rPr sz="1400" b="1">
                <a:solidFill>
                  <a:srgbClr val="FFFFFF"/>
                </a:solidFill>
                <a:latin typeface="Meiryo"/>
              </a:rPr>
              <a:t>改善提案リスト</a:t>
            </a:r>
          </a:p>
        </p:txBody>
      </p:sp>
      <p:sp>
        <p:nvSpPr>
          <p:cNvPr id="17" name="Rectangle 16"/>
          <p:cNvSpPr/>
          <p:nvPr/>
        </p:nvSpPr>
        <p:spPr>
          <a:xfrm>
            <a:off x="3707999" y="1980000"/>
            <a:ext cx="2951999" cy="2160000"/>
          </a:xfrm>
          <a:prstGeom prst="rect">
            <a:avLst/>
          </a:prstGeom>
          <a:solidFill>
            <a:srgbClr val="FFFFFF"/>
          </a:solidFill>
          <a:ln w="9525">
            <a:solidFill>
              <a:srgbClr val="D0D0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3851999" y="2088000"/>
            <a:ext cx="2664000" cy="1944000"/>
          </a:xfrm>
          <a:prstGeom prst="rect">
            <a:avLst/>
          </a:prstGeom>
          <a:noFill/>
        </p:spPr>
        <p:txBody>
          <a:bodyPr wrap="square" lIns="54000" tIns="18000" rIns="54000" bIns="18000" anchor="t">
            <a:spAutoFit/>
          </a:bodyPr>
          <a:lstStyle/>
          <a:p>
            <a:pPr algn="l"/>
            <a:r>
              <a:rPr sz="1200" b="0">
                <a:solidFill>
                  <a:srgbClr val="1E1E1E"/>
                </a:solidFill>
                <a:latin typeface="Meiryo"/>
              </a:rPr>
              <a:t>優先度・工数付きの
改善提案を5件明示。
実装計画の指示書に。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875999" y="1620000"/>
            <a:ext cx="2951999" cy="360000"/>
          </a:xfrm>
          <a:prstGeom prst="rect">
            <a:avLst/>
          </a:prstGeom>
          <a:solidFill>
            <a:srgbClr val="F973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6983999" y="1655999"/>
            <a:ext cx="540000" cy="288000"/>
          </a:xfrm>
          <a:prstGeom prst="rect">
            <a:avLst/>
          </a:prstGeom>
          <a:noFill/>
        </p:spPr>
        <p:txBody>
          <a:bodyPr wrap="square" lIns="54000" tIns="18000" rIns="54000" bIns="18000" anchor="ctr">
            <a:spAutoFit/>
          </a:bodyPr>
          <a:lstStyle/>
          <a:p>
            <a:pPr algn="l"/>
            <a:r>
              <a:rPr sz="2200" b="1">
                <a:solidFill>
                  <a:srgbClr val="FFFFFF"/>
                </a:solidFill>
                <a:latin typeface="Meiryo"/>
              </a:rPr>
              <a:t>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523999" y="1655999"/>
            <a:ext cx="2231999" cy="288000"/>
          </a:xfrm>
          <a:prstGeom prst="rect">
            <a:avLst/>
          </a:prstGeom>
          <a:noFill/>
        </p:spPr>
        <p:txBody>
          <a:bodyPr wrap="square" lIns="54000" tIns="18000" rIns="54000" bIns="18000" anchor="ctr">
            <a:spAutoFit/>
          </a:bodyPr>
          <a:lstStyle/>
          <a:p>
            <a:pPr algn="l"/>
            <a:r>
              <a:rPr sz="1400" b="1">
                <a:solidFill>
                  <a:srgbClr val="FFFFFF"/>
                </a:solidFill>
                <a:latin typeface="Meiryo"/>
              </a:rPr>
              <a:t>ビジュアル診断ボード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875999" y="1980000"/>
            <a:ext cx="2951999" cy="2160000"/>
          </a:xfrm>
          <a:prstGeom prst="rect">
            <a:avLst/>
          </a:prstGeom>
          <a:solidFill>
            <a:srgbClr val="FFFFFF"/>
          </a:solidFill>
          <a:ln w="9525">
            <a:solidFill>
              <a:srgbClr val="D0D0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7019999" y="2088000"/>
            <a:ext cx="2664000" cy="1944000"/>
          </a:xfrm>
          <a:prstGeom prst="rect">
            <a:avLst/>
          </a:prstGeom>
          <a:noFill/>
        </p:spPr>
        <p:txBody>
          <a:bodyPr wrap="square" lIns="54000" tIns="18000" rIns="54000" bIns="18000" anchor="t">
            <a:spAutoFit/>
          </a:bodyPr>
          <a:lstStyle/>
          <a:p>
            <a:pPr algn="l"/>
            <a:r>
              <a:rPr sz="1200" b="0">
                <a:solidFill>
                  <a:srgbClr val="1E1E1E"/>
                </a:solidFill>
                <a:latin typeface="Meiryo"/>
              </a:rPr>
              <a:t>構造マップ・行動フロー・
Before/After を視覚化。
プレゼン資料として。</a:t>
            </a:r>
          </a:p>
        </p:txBody>
      </p:sp>
      <p:sp>
        <p:nvSpPr>
          <p:cNvPr id="24" name="Rectangle 23"/>
          <p:cNvSpPr/>
          <p:nvPr/>
        </p:nvSpPr>
        <p:spPr>
          <a:xfrm>
            <a:off x="540000" y="4500000"/>
            <a:ext cx="9612000" cy="1080000"/>
          </a:xfrm>
          <a:prstGeom prst="rect">
            <a:avLst/>
          </a:prstGeom>
          <a:solidFill>
            <a:srgbClr val="F5F5F5"/>
          </a:solidFill>
          <a:ln w="6350">
            <a:solidFill>
              <a:srgbClr val="D0D0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648000" y="4572000"/>
            <a:ext cx="9432000" cy="288000"/>
          </a:xfrm>
          <a:prstGeom prst="rect">
            <a:avLst/>
          </a:prstGeom>
          <a:noFill/>
        </p:spPr>
        <p:txBody>
          <a:bodyPr wrap="square" lIns="54000" tIns="18000" rIns="54000" bIns="18000" anchor="t">
            <a:spAutoFit/>
          </a:bodyPr>
          <a:lstStyle/>
          <a:p>
            <a:pPr algn="l"/>
            <a:r>
              <a:rPr sz="1300" b="1">
                <a:solidFill>
                  <a:srgbClr val="1C366C"/>
                </a:solidFill>
                <a:latin typeface="Meiryo"/>
              </a:rPr>
              <a:t>▶ 想定される活用シーン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48000" y="4860000"/>
            <a:ext cx="9432000" cy="720000"/>
          </a:xfrm>
          <a:prstGeom prst="rect">
            <a:avLst/>
          </a:prstGeom>
          <a:noFill/>
        </p:spPr>
        <p:txBody>
          <a:bodyPr wrap="square" lIns="54000" tIns="18000" rIns="54000" bIns="18000" anchor="t">
            <a:spAutoFit/>
          </a:bodyPr>
          <a:lstStyle/>
          <a:p>
            <a:pPr algn="l"/>
            <a:r>
              <a:rPr sz="1200" b="0">
                <a:solidFill>
                  <a:srgbClr val="1E1E1E"/>
                </a:solidFill>
                <a:latin typeface="Meiryo"/>
              </a:rPr>
              <a:t>・社内改善会議での現状共有（スコアカードで一目で把握）
・クライアントへの提案書（改善提案リストをそのまま流用）
・実装チームへの指示書（優先度付きで作業順序を明確化）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0692000" cy="432000"/>
          </a:xfrm>
          <a:prstGeom prst="rect">
            <a:avLst/>
          </a:prstGeom>
          <a:solidFill>
            <a:srgbClr val="1C366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288000" y="54000"/>
            <a:ext cx="7200000" cy="324000"/>
          </a:xfrm>
          <a:prstGeom prst="rect">
            <a:avLst/>
          </a:prstGeom>
          <a:noFill/>
        </p:spPr>
        <p:txBody>
          <a:bodyPr wrap="square" lIns="54000" tIns="18000" rIns="54000" bIns="18000" anchor="ctr">
            <a:spAutoFit/>
          </a:bodyPr>
          <a:lstStyle/>
          <a:p>
            <a:pPr algn="l"/>
            <a:r>
              <a:rPr sz="1400" b="1">
                <a:solidFill>
                  <a:srgbClr val="FFFFFF"/>
                </a:solidFill>
                <a:latin typeface="Meiryo"/>
              </a:rPr>
              <a:t>UI診断ディレクター 使い方ガイド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00000" y="54000"/>
            <a:ext cx="4320000" cy="324000"/>
          </a:xfrm>
          <a:prstGeom prst="rect">
            <a:avLst/>
          </a:prstGeom>
          <a:noFill/>
        </p:spPr>
        <p:txBody>
          <a:bodyPr wrap="square" lIns="54000" tIns="18000" rIns="54000" bIns="18000" anchor="ctr">
            <a:spAutoFit/>
          </a:bodyPr>
          <a:lstStyle/>
          <a:p>
            <a:pPr algn="r"/>
            <a:r>
              <a:rPr sz="1200" b="0">
                <a:solidFill>
                  <a:srgbClr val="FFFFFF"/>
                </a:solidFill>
                <a:latin typeface="Meiryo"/>
              </a:rPr>
              <a:t>Section 1：基本操作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612000" y="7200000"/>
            <a:ext cx="900000" cy="251999"/>
          </a:xfrm>
          <a:prstGeom prst="rect">
            <a:avLst/>
          </a:prstGeom>
          <a:noFill/>
        </p:spPr>
        <p:txBody>
          <a:bodyPr wrap="square" lIns="54000" tIns="18000" rIns="54000" bIns="18000" anchor="ctr">
            <a:spAutoFit/>
          </a:bodyPr>
          <a:lstStyle/>
          <a:p>
            <a:pPr algn="r"/>
            <a:r>
              <a:rPr sz="1100" b="0">
                <a:solidFill>
                  <a:srgbClr val="5C5C5C"/>
                </a:solidFill>
                <a:latin typeface="Meiryo"/>
              </a:rPr>
              <a:t>03 / 15</a:t>
            </a:r>
          </a:p>
        </p:txBody>
      </p:sp>
      <p:sp>
        <p:nvSpPr>
          <p:cNvPr id="6" name="Rectangle 5"/>
          <p:cNvSpPr/>
          <p:nvPr/>
        </p:nvSpPr>
        <p:spPr>
          <a:xfrm>
            <a:off x="288000" y="648000"/>
            <a:ext cx="108000" cy="540000"/>
          </a:xfrm>
          <a:prstGeom prst="rect">
            <a:avLst/>
          </a:prstGeom>
          <a:solidFill>
            <a:srgbClr val="D0021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503999" y="612000"/>
            <a:ext cx="9000000" cy="432000"/>
          </a:xfrm>
          <a:prstGeom prst="rect">
            <a:avLst/>
          </a:prstGeom>
          <a:noFill/>
        </p:spPr>
        <p:txBody>
          <a:bodyPr wrap="square" lIns="54000" tIns="18000" rIns="54000" bIns="18000" anchor="ctr">
            <a:spAutoFit/>
          </a:bodyPr>
          <a:lstStyle/>
          <a:p>
            <a:pPr algn="l"/>
            <a:r>
              <a:rPr sz="2400" b="1">
                <a:solidFill>
                  <a:srgbClr val="1C366C"/>
                </a:solidFill>
                <a:latin typeface="Meiryo"/>
              </a:rPr>
              <a:t>03. GPTsへのアクセス方法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3999" y="972000"/>
            <a:ext cx="9000000" cy="251999"/>
          </a:xfrm>
          <a:prstGeom prst="rect">
            <a:avLst/>
          </a:prstGeom>
          <a:noFill/>
        </p:spPr>
        <p:txBody>
          <a:bodyPr wrap="square" lIns="54000" tIns="18000" rIns="54000" bIns="18000" anchor="t">
            <a:spAutoFit/>
          </a:bodyPr>
          <a:lstStyle/>
          <a:p>
            <a:pPr algn="l"/>
            <a:r>
              <a:rPr sz="1400" b="0">
                <a:solidFill>
                  <a:srgbClr val="5C5C5C"/>
                </a:solidFill>
                <a:latin typeface="Meiryo"/>
              </a:rPr>
              <a:t>購入後、初めてUI診断ディレクターを開くまで</a:t>
            </a:r>
          </a:p>
        </p:txBody>
      </p:sp>
      <p:sp>
        <p:nvSpPr>
          <p:cNvPr id="9" name="Rectangle 8"/>
          <p:cNvSpPr/>
          <p:nvPr/>
        </p:nvSpPr>
        <p:spPr>
          <a:xfrm>
            <a:off x="540000" y="1548000"/>
            <a:ext cx="1080000" cy="360000"/>
          </a:xfrm>
          <a:prstGeom prst="rect">
            <a:avLst/>
          </a:prstGeom>
          <a:solidFill>
            <a:srgbClr val="1C366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540000" y="1548000"/>
            <a:ext cx="1080000" cy="360000"/>
          </a:xfrm>
          <a:prstGeom prst="rect">
            <a:avLst/>
          </a:prstGeom>
          <a:noFill/>
        </p:spPr>
        <p:txBody>
          <a:bodyPr wrap="square" lIns="54000" tIns="18000" rIns="54000" bIns="18000" anchor="ctr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  <a:latin typeface="Meiryo"/>
              </a:rPr>
              <a:t>STEP 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728000" y="1548000"/>
            <a:ext cx="7200000" cy="360000"/>
          </a:xfrm>
          <a:prstGeom prst="rect">
            <a:avLst/>
          </a:prstGeom>
          <a:noFill/>
        </p:spPr>
        <p:txBody>
          <a:bodyPr wrap="square" lIns="54000" tIns="18000" rIns="54000" bIns="18000" anchor="ctr">
            <a:spAutoFit/>
          </a:bodyPr>
          <a:lstStyle/>
          <a:p>
            <a:pPr algn="l"/>
            <a:r>
              <a:rPr sz="1400" b="1">
                <a:solidFill>
                  <a:srgbClr val="1C366C"/>
                </a:solidFill>
                <a:latin typeface="Meiryo"/>
              </a:rPr>
              <a:t>ChatGPT にログイン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728000" y="1944000"/>
            <a:ext cx="7920000" cy="720000"/>
          </a:xfrm>
          <a:prstGeom prst="rect">
            <a:avLst/>
          </a:prstGeom>
          <a:noFill/>
        </p:spPr>
        <p:txBody>
          <a:bodyPr wrap="square" lIns="54000" tIns="18000" rIns="54000" bIns="18000" anchor="t">
            <a:spAutoFit/>
          </a:bodyPr>
          <a:lstStyle/>
          <a:p>
            <a:pPr algn="l"/>
            <a:r>
              <a:rPr sz="1200" b="0">
                <a:solidFill>
                  <a:srgbClr val="1E1E1E"/>
                </a:solidFill>
                <a:latin typeface="Meiryo"/>
              </a:rPr>
              <a:t>ブラウザで chat.openai.com を開くか、ChatGPT アプリを起動します。
ChatGPT Plus（有料プラン）のアカウントが必要です。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40000" y="2880000"/>
            <a:ext cx="1080000" cy="360000"/>
          </a:xfrm>
          <a:prstGeom prst="rect">
            <a:avLst/>
          </a:prstGeom>
          <a:solidFill>
            <a:srgbClr val="1C366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540000" y="2880000"/>
            <a:ext cx="1080000" cy="360000"/>
          </a:xfrm>
          <a:prstGeom prst="rect">
            <a:avLst/>
          </a:prstGeom>
          <a:noFill/>
        </p:spPr>
        <p:txBody>
          <a:bodyPr wrap="square" lIns="54000" tIns="18000" rIns="54000" bIns="18000" anchor="ctr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  <a:latin typeface="Meiryo"/>
              </a:rPr>
              <a:t>STEP 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728000" y="2880000"/>
            <a:ext cx="7200000" cy="360000"/>
          </a:xfrm>
          <a:prstGeom prst="rect">
            <a:avLst/>
          </a:prstGeom>
          <a:noFill/>
        </p:spPr>
        <p:txBody>
          <a:bodyPr wrap="square" lIns="54000" tIns="18000" rIns="54000" bIns="18000" anchor="ctr">
            <a:spAutoFit/>
          </a:bodyPr>
          <a:lstStyle/>
          <a:p>
            <a:pPr algn="l"/>
            <a:r>
              <a:rPr sz="1400" b="1">
                <a:solidFill>
                  <a:srgbClr val="1C366C"/>
                </a:solidFill>
                <a:latin typeface="Meiryo"/>
              </a:rPr>
              <a:t>GPTs を開く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728000" y="3276000"/>
            <a:ext cx="7920000" cy="720000"/>
          </a:xfrm>
          <a:prstGeom prst="rect">
            <a:avLst/>
          </a:prstGeom>
          <a:noFill/>
        </p:spPr>
        <p:txBody>
          <a:bodyPr wrap="square" lIns="54000" tIns="18000" rIns="54000" bIns="18000" anchor="t">
            <a:spAutoFit/>
          </a:bodyPr>
          <a:lstStyle/>
          <a:p>
            <a:pPr algn="l"/>
            <a:r>
              <a:rPr sz="1200" b="0">
                <a:solidFill>
                  <a:srgbClr val="1E1E1E"/>
                </a:solidFill>
                <a:latin typeface="Meiryo"/>
              </a:rPr>
              <a:t>左サイドバーの「GPTs を探す」または「マイGPT」からアクセスします。
または、購入時にご案内するURLから直接開けます。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40000" y="4212000"/>
            <a:ext cx="1080000" cy="360000"/>
          </a:xfrm>
          <a:prstGeom prst="rect">
            <a:avLst/>
          </a:prstGeom>
          <a:solidFill>
            <a:srgbClr val="1C366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540000" y="4212000"/>
            <a:ext cx="1080000" cy="360000"/>
          </a:xfrm>
          <a:prstGeom prst="rect">
            <a:avLst/>
          </a:prstGeom>
          <a:noFill/>
        </p:spPr>
        <p:txBody>
          <a:bodyPr wrap="square" lIns="54000" tIns="18000" rIns="54000" bIns="18000" anchor="ctr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  <a:latin typeface="Meiryo"/>
              </a:rPr>
              <a:t>STEP 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728000" y="4212000"/>
            <a:ext cx="7200000" cy="360000"/>
          </a:xfrm>
          <a:prstGeom prst="rect">
            <a:avLst/>
          </a:prstGeom>
          <a:noFill/>
        </p:spPr>
        <p:txBody>
          <a:bodyPr wrap="square" lIns="54000" tIns="18000" rIns="54000" bIns="18000" anchor="ctr">
            <a:spAutoFit/>
          </a:bodyPr>
          <a:lstStyle/>
          <a:p>
            <a:pPr algn="l"/>
            <a:r>
              <a:rPr sz="1400" b="1">
                <a:solidFill>
                  <a:srgbClr val="1C366C"/>
                </a:solidFill>
                <a:latin typeface="Meiryo"/>
              </a:rPr>
              <a:t>UI診断ディレクターを起動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728000" y="4608000"/>
            <a:ext cx="7920000" cy="720000"/>
          </a:xfrm>
          <a:prstGeom prst="rect">
            <a:avLst/>
          </a:prstGeom>
          <a:noFill/>
        </p:spPr>
        <p:txBody>
          <a:bodyPr wrap="square" lIns="54000" tIns="18000" rIns="54000" bIns="18000" anchor="t">
            <a:spAutoFit/>
          </a:bodyPr>
          <a:lstStyle/>
          <a:p>
            <a:pPr algn="l"/>
            <a:r>
              <a:rPr sz="1200" b="0">
                <a:solidFill>
                  <a:srgbClr val="1E1E1E"/>
                </a:solidFill>
                <a:latin typeface="Meiryo"/>
              </a:rPr>
              <a:t>GPTsの一覧から「UI診断ディレクター」を選択します。
よく使うので、右上の「☆」でお気に入りに追加すると便利です。</a:t>
            </a:r>
          </a:p>
        </p:txBody>
      </p:sp>
      <p:sp>
        <p:nvSpPr>
          <p:cNvPr id="21" name="Rectangle 20"/>
          <p:cNvSpPr/>
          <p:nvPr/>
        </p:nvSpPr>
        <p:spPr>
          <a:xfrm>
            <a:off x="540000" y="6300000"/>
            <a:ext cx="9612000" cy="720000"/>
          </a:xfrm>
          <a:prstGeom prst="rect">
            <a:avLst/>
          </a:prstGeom>
          <a:solidFill>
            <a:srgbClr val="FFF2E8"/>
          </a:solidFill>
          <a:ln w="9525">
            <a:solidFill>
              <a:srgbClr val="F9731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648000" y="6300000"/>
            <a:ext cx="9432000" cy="720000"/>
          </a:xfrm>
          <a:prstGeom prst="rect">
            <a:avLst/>
          </a:prstGeom>
          <a:noFill/>
        </p:spPr>
        <p:txBody>
          <a:bodyPr wrap="square" lIns="54000" tIns="18000" rIns="54000" bIns="18000" anchor="ctr">
            <a:spAutoFit/>
          </a:bodyPr>
          <a:lstStyle/>
          <a:p>
            <a:pPr algn="l"/>
            <a:r>
              <a:rPr sz="1100" b="0">
                <a:solidFill>
                  <a:srgbClr val="1E1E1E"/>
                </a:solidFill>
                <a:latin typeface="Meiryo"/>
              </a:rPr>
              <a:t>▶ ChatGPT Plus未加入の方へ：
UI診断ディレクターの利用には、ChatGPTの有料プラン（月額20USD）が必要です。
購入前に、ChatGPT Plus加入をご確認ください（2026年7月時点の情報）。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0692000" cy="432000"/>
          </a:xfrm>
          <a:prstGeom prst="rect">
            <a:avLst/>
          </a:prstGeom>
          <a:solidFill>
            <a:srgbClr val="1C366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288000" y="54000"/>
            <a:ext cx="7200000" cy="324000"/>
          </a:xfrm>
          <a:prstGeom prst="rect">
            <a:avLst/>
          </a:prstGeom>
          <a:noFill/>
        </p:spPr>
        <p:txBody>
          <a:bodyPr wrap="square" lIns="54000" tIns="18000" rIns="54000" bIns="18000" anchor="ctr">
            <a:spAutoFit/>
          </a:bodyPr>
          <a:lstStyle/>
          <a:p>
            <a:pPr algn="l"/>
            <a:r>
              <a:rPr sz="1400" b="1">
                <a:solidFill>
                  <a:srgbClr val="FFFFFF"/>
                </a:solidFill>
                <a:latin typeface="Meiryo"/>
              </a:rPr>
              <a:t>UI診断ディレクター 使い方ガイド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00000" y="54000"/>
            <a:ext cx="4320000" cy="324000"/>
          </a:xfrm>
          <a:prstGeom prst="rect">
            <a:avLst/>
          </a:prstGeom>
          <a:noFill/>
        </p:spPr>
        <p:txBody>
          <a:bodyPr wrap="square" lIns="54000" tIns="18000" rIns="54000" bIns="18000" anchor="ctr">
            <a:spAutoFit/>
          </a:bodyPr>
          <a:lstStyle/>
          <a:p>
            <a:pPr algn="r"/>
            <a:r>
              <a:rPr sz="1200" b="0">
                <a:solidFill>
                  <a:srgbClr val="FFFFFF"/>
                </a:solidFill>
                <a:latin typeface="Meiryo"/>
              </a:rPr>
              <a:t>Section 1：基本操作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612000" y="7200000"/>
            <a:ext cx="900000" cy="251999"/>
          </a:xfrm>
          <a:prstGeom prst="rect">
            <a:avLst/>
          </a:prstGeom>
          <a:noFill/>
        </p:spPr>
        <p:txBody>
          <a:bodyPr wrap="square" lIns="54000" tIns="18000" rIns="54000" bIns="18000" anchor="ctr">
            <a:spAutoFit/>
          </a:bodyPr>
          <a:lstStyle/>
          <a:p>
            <a:pPr algn="r"/>
            <a:r>
              <a:rPr sz="1100" b="0">
                <a:solidFill>
                  <a:srgbClr val="5C5C5C"/>
                </a:solidFill>
                <a:latin typeface="Meiryo"/>
              </a:rPr>
              <a:t>04 / 15</a:t>
            </a:r>
          </a:p>
        </p:txBody>
      </p:sp>
      <p:sp>
        <p:nvSpPr>
          <p:cNvPr id="6" name="Rectangle 5"/>
          <p:cNvSpPr/>
          <p:nvPr/>
        </p:nvSpPr>
        <p:spPr>
          <a:xfrm>
            <a:off x="288000" y="648000"/>
            <a:ext cx="108000" cy="540000"/>
          </a:xfrm>
          <a:prstGeom prst="rect">
            <a:avLst/>
          </a:prstGeom>
          <a:solidFill>
            <a:srgbClr val="D0021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503999" y="612000"/>
            <a:ext cx="9000000" cy="432000"/>
          </a:xfrm>
          <a:prstGeom prst="rect">
            <a:avLst/>
          </a:prstGeom>
          <a:noFill/>
        </p:spPr>
        <p:txBody>
          <a:bodyPr wrap="square" lIns="54000" tIns="18000" rIns="54000" bIns="18000" anchor="ctr">
            <a:spAutoFit/>
          </a:bodyPr>
          <a:lstStyle/>
          <a:p>
            <a:pPr algn="l"/>
            <a:r>
              <a:rPr sz="2400" b="1">
                <a:solidFill>
                  <a:srgbClr val="1C366C"/>
                </a:solidFill>
                <a:latin typeface="Meiryo"/>
              </a:rPr>
              <a:t>04. 診断対象URLの送り方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3999" y="972000"/>
            <a:ext cx="9000000" cy="251999"/>
          </a:xfrm>
          <a:prstGeom prst="rect">
            <a:avLst/>
          </a:prstGeom>
          <a:noFill/>
        </p:spPr>
        <p:txBody>
          <a:bodyPr wrap="square" lIns="54000" tIns="18000" rIns="54000" bIns="18000" anchor="t">
            <a:spAutoFit/>
          </a:bodyPr>
          <a:lstStyle/>
          <a:p>
            <a:pPr algn="l"/>
            <a:r>
              <a:rPr sz="1400" b="0">
                <a:solidFill>
                  <a:srgbClr val="5C5C5C"/>
                </a:solidFill>
                <a:latin typeface="Meiryo"/>
              </a:rPr>
              <a:t>初回でも迷わない、正しい診断リクエストの書き方</a:t>
            </a:r>
          </a:p>
        </p:txBody>
      </p:sp>
      <p:sp>
        <p:nvSpPr>
          <p:cNvPr id="9" name="Rectangle 8"/>
          <p:cNvSpPr/>
          <p:nvPr/>
        </p:nvSpPr>
        <p:spPr>
          <a:xfrm>
            <a:off x="540000" y="1548000"/>
            <a:ext cx="4608000" cy="2340000"/>
          </a:xfrm>
          <a:prstGeom prst="rect">
            <a:avLst/>
          </a:prstGeom>
          <a:solidFill>
            <a:srgbClr val="FFFFFF"/>
          </a:solidFill>
          <a:ln w="19050">
            <a:solidFill>
              <a:srgbClr val="1C366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540000" y="1548000"/>
            <a:ext cx="4608000" cy="360000"/>
          </a:xfrm>
          <a:prstGeom prst="rect">
            <a:avLst/>
          </a:prstGeom>
          <a:solidFill>
            <a:srgbClr val="1C366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540000" y="1548000"/>
            <a:ext cx="4608000" cy="360000"/>
          </a:xfrm>
          <a:prstGeom prst="rect">
            <a:avLst/>
          </a:prstGeom>
          <a:noFill/>
        </p:spPr>
        <p:txBody>
          <a:bodyPr wrap="square" lIns="54000" tIns="18000" rIns="54000" bIns="18000" anchor="ctr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Meiryo"/>
              </a:rPr>
              <a:t>✓ 良い送り方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84000" y="2015999"/>
            <a:ext cx="4320000" cy="1800000"/>
          </a:xfrm>
          <a:prstGeom prst="rect">
            <a:avLst/>
          </a:prstGeom>
          <a:noFill/>
        </p:spPr>
        <p:txBody>
          <a:bodyPr wrap="square" lIns="54000" tIns="18000" rIns="54000" bIns="18000" anchor="t">
            <a:spAutoFit/>
          </a:bodyPr>
          <a:lstStyle/>
          <a:p>
            <a:pPr algn="l"/>
            <a:r>
              <a:rPr sz="1200" b="0">
                <a:solidFill>
                  <a:srgbClr val="1E1E1E"/>
                </a:solidFill>
                <a:latin typeface="Meiryo"/>
              </a:rPr>
              <a:t>・https:// から始まる完全なURLで送る
・診断したいページを1つに絞る（トップページ推奨）
・シンプルな依頼文で送る
例：
「https://example.com を診断してください」
・ログイン必須ページはスクショで送る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400000" y="1548000"/>
            <a:ext cx="4608000" cy="2340000"/>
          </a:xfrm>
          <a:prstGeom prst="rect">
            <a:avLst/>
          </a:prstGeom>
          <a:solidFill>
            <a:srgbClr val="FFFFFF"/>
          </a:solidFill>
          <a:ln w="19050">
            <a:solidFill>
              <a:srgbClr val="D0021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ectangle 13"/>
          <p:cNvSpPr/>
          <p:nvPr/>
        </p:nvSpPr>
        <p:spPr>
          <a:xfrm>
            <a:off x="5400000" y="1548000"/>
            <a:ext cx="4608000" cy="360000"/>
          </a:xfrm>
          <a:prstGeom prst="rect">
            <a:avLst/>
          </a:prstGeom>
          <a:solidFill>
            <a:srgbClr val="D0021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5400000" y="1548000"/>
            <a:ext cx="4608000" cy="360000"/>
          </a:xfrm>
          <a:prstGeom prst="rect">
            <a:avLst/>
          </a:prstGeom>
          <a:noFill/>
        </p:spPr>
        <p:txBody>
          <a:bodyPr wrap="square" lIns="54000" tIns="18000" rIns="54000" bIns="18000" anchor="ctr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Meiryo"/>
              </a:rPr>
              <a:t>✗ 避けたい送り方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544000" y="2015999"/>
            <a:ext cx="4320000" cy="1800000"/>
          </a:xfrm>
          <a:prstGeom prst="rect">
            <a:avLst/>
          </a:prstGeom>
          <a:noFill/>
        </p:spPr>
        <p:txBody>
          <a:bodyPr wrap="square" lIns="54000" tIns="18000" rIns="54000" bIns="18000" anchor="t">
            <a:spAutoFit/>
          </a:bodyPr>
          <a:lstStyle/>
          <a:p>
            <a:pPr algn="l"/>
            <a:r>
              <a:rPr sz="1200" b="0">
                <a:solidFill>
                  <a:srgbClr val="1E1E1E"/>
                </a:solidFill>
                <a:latin typeface="Meiryo"/>
              </a:rPr>
              <a:t>・URLだけで指示なし
・複数URLを同時に送る
・「https://」を省略した表記
例：
「example.com とか shop.example と
  あと corp.example もお願いします」
・詳細な要望を長文で追加する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40000" y="4140000"/>
            <a:ext cx="9612000" cy="1260000"/>
          </a:xfrm>
          <a:prstGeom prst="rect">
            <a:avLst/>
          </a:prstGeom>
          <a:solidFill>
            <a:srgbClr val="F5F5F5"/>
          </a:solidFill>
          <a:ln w="6350">
            <a:solidFill>
              <a:srgbClr val="D0D0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648000" y="4212000"/>
            <a:ext cx="9432000" cy="288000"/>
          </a:xfrm>
          <a:prstGeom prst="rect">
            <a:avLst/>
          </a:prstGeom>
          <a:noFill/>
        </p:spPr>
        <p:txBody>
          <a:bodyPr wrap="square" lIns="54000" tIns="18000" rIns="54000" bIns="18000" anchor="t">
            <a:spAutoFit/>
          </a:bodyPr>
          <a:lstStyle/>
          <a:p>
            <a:pPr algn="l"/>
            <a:r>
              <a:rPr sz="1300" b="1">
                <a:solidFill>
                  <a:srgbClr val="1C366C"/>
                </a:solidFill>
                <a:latin typeface="Meiryo"/>
              </a:rPr>
              <a:t>▶ 診断精度を上げるコツ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8000" y="4536000"/>
            <a:ext cx="9432000" cy="900000"/>
          </a:xfrm>
          <a:prstGeom prst="rect">
            <a:avLst/>
          </a:prstGeom>
          <a:noFill/>
        </p:spPr>
        <p:txBody>
          <a:bodyPr wrap="square" lIns="54000" tIns="18000" rIns="54000" bIns="18000" anchor="t">
            <a:spAutoFit/>
          </a:bodyPr>
          <a:lstStyle/>
          <a:p>
            <a:pPr algn="l"/>
            <a:r>
              <a:rPr sz="1100" b="0">
                <a:solidFill>
                  <a:srgbClr val="1E1E1E"/>
                </a:solidFill>
                <a:latin typeface="Meiryo"/>
              </a:rPr>
              <a:t>・トップページ推奨：サイト全体の設計思想が反映されているため、診断示唆が実務者に刺さる
・SPA（React/Vue製のサイト）は動的読込のため、スクリーンショット併用がおすすめ
・広告用LPは単一動線として最適な診断対象、無料相談CVを高めるヒントが得られる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0692000" cy="432000"/>
          </a:xfrm>
          <a:prstGeom prst="rect">
            <a:avLst/>
          </a:prstGeom>
          <a:solidFill>
            <a:srgbClr val="1C366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288000" y="54000"/>
            <a:ext cx="7200000" cy="324000"/>
          </a:xfrm>
          <a:prstGeom prst="rect">
            <a:avLst/>
          </a:prstGeom>
          <a:noFill/>
        </p:spPr>
        <p:txBody>
          <a:bodyPr wrap="square" lIns="54000" tIns="18000" rIns="54000" bIns="18000" anchor="ctr">
            <a:spAutoFit/>
          </a:bodyPr>
          <a:lstStyle/>
          <a:p>
            <a:pPr algn="l"/>
            <a:r>
              <a:rPr sz="1400" b="1">
                <a:solidFill>
                  <a:srgbClr val="FFFFFF"/>
                </a:solidFill>
                <a:latin typeface="Meiryo"/>
              </a:rPr>
              <a:t>UI診断ディレクター 使い方ガイド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00000" y="54000"/>
            <a:ext cx="4320000" cy="324000"/>
          </a:xfrm>
          <a:prstGeom prst="rect">
            <a:avLst/>
          </a:prstGeom>
          <a:noFill/>
        </p:spPr>
        <p:txBody>
          <a:bodyPr wrap="square" lIns="54000" tIns="18000" rIns="54000" bIns="18000" anchor="ctr">
            <a:spAutoFit/>
          </a:bodyPr>
          <a:lstStyle/>
          <a:p>
            <a:pPr algn="r"/>
            <a:r>
              <a:rPr sz="1200" b="0">
                <a:solidFill>
                  <a:srgbClr val="FFFFFF"/>
                </a:solidFill>
                <a:latin typeface="Meiryo"/>
              </a:rPr>
              <a:t>Section 1：基本操作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612000" y="7200000"/>
            <a:ext cx="900000" cy="251999"/>
          </a:xfrm>
          <a:prstGeom prst="rect">
            <a:avLst/>
          </a:prstGeom>
          <a:noFill/>
        </p:spPr>
        <p:txBody>
          <a:bodyPr wrap="square" lIns="54000" tIns="18000" rIns="54000" bIns="18000" anchor="ctr">
            <a:spAutoFit/>
          </a:bodyPr>
          <a:lstStyle/>
          <a:p>
            <a:pPr algn="r"/>
            <a:r>
              <a:rPr sz="1100" b="0">
                <a:solidFill>
                  <a:srgbClr val="5C5C5C"/>
                </a:solidFill>
                <a:latin typeface="Meiryo"/>
              </a:rPr>
              <a:t>05 / 15</a:t>
            </a:r>
          </a:p>
        </p:txBody>
      </p:sp>
      <p:sp>
        <p:nvSpPr>
          <p:cNvPr id="6" name="Rectangle 5"/>
          <p:cNvSpPr/>
          <p:nvPr/>
        </p:nvSpPr>
        <p:spPr>
          <a:xfrm>
            <a:off x="288000" y="648000"/>
            <a:ext cx="108000" cy="540000"/>
          </a:xfrm>
          <a:prstGeom prst="rect">
            <a:avLst/>
          </a:prstGeom>
          <a:solidFill>
            <a:srgbClr val="D0021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503999" y="612000"/>
            <a:ext cx="9000000" cy="432000"/>
          </a:xfrm>
          <a:prstGeom prst="rect">
            <a:avLst/>
          </a:prstGeom>
          <a:noFill/>
        </p:spPr>
        <p:txBody>
          <a:bodyPr wrap="square" lIns="54000" tIns="18000" rIns="54000" bIns="18000" anchor="ctr">
            <a:spAutoFit/>
          </a:bodyPr>
          <a:lstStyle/>
          <a:p>
            <a:pPr algn="l"/>
            <a:r>
              <a:rPr sz="2400" b="1">
                <a:solidFill>
                  <a:srgbClr val="1C366C"/>
                </a:solidFill>
                <a:latin typeface="Meiryo"/>
              </a:rPr>
              <a:t>05. 生成完了までの流れ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3999" y="972000"/>
            <a:ext cx="9000000" cy="251999"/>
          </a:xfrm>
          <a:prstGeom prst="rect">
            <a:avLst/>
          </a:prstGeom>
          <a:noFill/>
        </p:spPr>
        <p:txBody>
          <a:bodyPr wrap="square" lIns="54000" tIns="18000" rIns="54000" bIns="18000" anchor="t">
            <a:spAutoFit/>
          </a:bodyPr>
          <a:lstStyle/>
          <a:p>
            <a:pPr algn="l"/>
            <a:r>
              <a:rPr sz="1400" b="0">
                <a:solidFill>
                  <a:srgbClr val="5C5C5C"/>
                </a:solidFill>
                <a:latin typeface="Meiryo"/>
              </a:rPr>
              <a:t>3〜5分の待ち時間中に、何が起きているか</a:t>
            </a:r>
          </a:p>
        </p:txBody>
      </p:sp>
      <p:sp>
        <p:nvSpPr>
          <p:cNvPr id="9" name="Rectangle 8"/>
          <p:cNvSpPr/>
          <p:nvPr/>
        </p:nvSpPr>
        <p:spPr>
          <a:xfrm>
            <a:off x="1097999" y="1620000"/>
            <a:ext cx="720000" cy="720000"/>
          </a:xfrm>
          <a:prstGeom prst="rect">
            <a:avLst/>
          </a:prstGeom>
          <a:solidFill>
            <a:srgbClr val="1C366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1097999" y="1620000"/>
            <a:ext cx="720000" cy="720000"/>
          </a:xfrm>
          <a:prstGeom prst="rect">
            <a:avLst/>
          </a:prstGeom>
          <a:noFill/>
        </p:spPr>
        <p:txBody>
          <a:bodyPr wrap="square" lIns="54000" tIns="18000" rIns="54000" bIns="18000" anchor="ctr">
            <a:spAutoFit/>
          </a:bodyPr>
          <a:lstStyle/>
          <a:p>
            <a:pPr algn="ctr"/>
            <a:r>
              <a:rPr sz="2400" b="1">
                <a:solidFill>
                  <a:srgbClr val="FFFFFF"/>
                </a:solidFill>
                <a:latin typeface="Meiryo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57999" y="2448000"/>
            <a:ext cx="1800000" cy="360000"/>
          </a:xfrm>
          <a:prstGeom prst="rect">
            <a:avLst/>
          </a:prstGeom>
          <a:noFill/>
        </p:spPr>
        <p:txBody>
          <a:bodyPr wrap="square" lIns="54000" tIns="18000" rIns="54000" bIns="18000" anchor="t">
            <a:spAutoFit/>
          </a:bodyPr>
          <a:lstStyle/>
          <a:p>
            <a:pPr algn="ctr"/>
            <a:r>
              <a:rPr sz="1400" b="1">
                <a:solidFill>
                  <a:srgbClr val="1C366C"/>
                </a:solidFill>
                <a:latin typeface="Meiryo"/>
              </a:rPr>
              <a:t>受付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57999" y="2808000"/>
            <a:ext cx="1800000" cy="720000"/>
          </a:xfrm>
          <a:prstGeom prst="rect">
            <a:avLst/>
          </a:prstGeom>
          <a:noFill/>
        </p:spPr>
        <p:txBody>
          <a:bodyPr wrap="square" lIns="54000" tIns="18000" rIns="54000" bIns="18000" anchor="t">
            <a:spAutoFit/>
          </a:bodyPr>
          <a:lstStyle/>
          <a:p>
            <a:pPr algn="ctr"/>
            <a:r>
              <a:rPr sz="1100" b="0">
                <a:solidFill>
                  <a:srgbClr val="5C5C5C"/>
                </a:solidFill>
                <a:latin typeface="Meiryo"/>
              </a:rPr>
              <a:t>URLまたはスクショを解析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321999" y="1800000"/>
            <a:ext cx="216000" cy="360000"/>
          </a:xfrm>
          <a:prstGeom prst="rect">
            <a:avLst/>
          </a:prstGeom>
          <a:noFill/>
        </p:spPr>
        <p:txBody>
          <a:bodyPr wrap="square" lIns="54000" tIns="18000" rIns="54000" bIns="18000" anchor="ctr">
            <a:spAutoFit/>
          </a:bodyPr>
          <a:lstStyle/>
          <a:p>
            <a:pPr algn="ctr"/>
            <a:r>
              <a:rPr sz="2200" b="1">
                <a:solidFill>
                  <a:srgbClr val="F97316"/>
                </a:solidFill>
                <a:latin typeface="Meiryo"/>
              </a:rPr>
              <a:t>→</a:t>
            </a:r>
          </a:p>
        </p:txBody>
      </p:sp>
      <p:sp>
        <p:nvSpPr>
          <p:cNvPr id="14" name="Rectangle 13"/>
          <p:cNvSpPr/>
          <p:nvPr/>
        </p:nvSpPr>
        <p:spPr>
          <a:xfrm>
            <a:off x="3041999" y="1620000"/>
            <a:ext cx="720000" cy="720000"/>
          </a:xfrm>
          <a:prstGeom prst="rect">
            <a:avLst/>
          </a:prstGeom>
          <a:solidFill>
            <a:srgbClr val="1C366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3041999" y="1620000"/>
            <a:ext cx="720000" cy="720000"/>
          </a:xfrm>
          <a:prstGeom prst="rect">
            <a:avLst/>
          </a:prstGeom>
          <a:noFill/>
        </p:spPr>
        <p:txBody>
          <a:bodyPr wrap="square" lIns="54000" tIns="18000" rIns="54000" bIns="18000" anchor="ctr">
            <a:spAutoFit/>
          </a:bodyPr>
          <a:lstStyle/>
          <a:p>
            <a:pPr algn="ctr"/>
            <a:r>
              <a:rPr sz="2400" b="1">
                <a:solidFill>
                  <a:srgbClr val="FFFFFF"/>
                </a:solidFill>
                <a:latin typeface="Meiryo"/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501999" y="2448000"/>
            <a:ext cx="1800000" cy="360000"/>
          </a:xfrm>
          <a:prstGeom prst="rect">
            <a:avLst/>
          </a:prstGeom>
          <a:noFill/>
        </p:spPr>
        <p:txBody>
          <a:bodyPr wrap="square" lIns="54000" tIns="18000" rIns="54000" bIns="18000" anchor="t">
            <a:spAutoFit/>
          </a:bodyPr>
          <a:lstStyle/>
          <a:p>
            <a:pPr algn="ctr"/>
            <a:r>
              <a:rPr sz="1400" b="1">
                <a:solidFill>
                  <a:srgbClr val="1C366C"/>
                </a:solidFill>
                <a:latin typeface="Meiryo"/>
              </a:rPr>
              <a:t>診断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501999" y="2808000"/>
            <a:ext cx="1800000" cy="720000"/>
          </a:xfrm>
          <a:prstGeom prst="rect">
            <a:avLst/>
          </a:prstGeom>
          <a:noFill/>
        </p:spPr>
        <p:txBody>
          <a:bodyPr wrap="square" lIns="54000" tIns="18000" rIns="54000" bIns="18000" anchor="t">
            <a:spAutoFit/>
          </a:bodyPr>
          <a:lstStyle/>
          <a:p>
            <a:pPr algn="ctr"/>
            <a:r>
              <a:rPr sz="1100" b="0">
                <a:solidFill>
                  <a:srgbClr val="5C5C5C"/>
                </a:solidFill>
                <a:latin typeface="Meiryo"/>
              </a:rPr>
              <a:t>10項目のスコアと
強み・課題を判定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265999" y="1800000"/>
            <a:ext cx="216000" cy="360000"/>
          </a:xfrm>
          <a:prstGeom prst="rect">
            <a:avLst/>
          </a:prstGeom>
          <a:noFill/>
        </p:spPr>
        <p:txBody>
          <a:bodyPr wrap="square" lIns="54000" tIns="18000" rIns="54000" bIns="18000" anchor="ctr">
            <a:spAutoFit/>
          </a:bodyPr>
          <a:lstStyle/>
          <a:p>
            <a:pPr algn="ctr"/>
            <a:r>
              <a:rPr sz="2200" b="1">
                <a:solidFill>
                  <a:srgbClr val="F97316"/>
                </a:solidFill>
                <a:latin typeface="Meiryo"/>
              </a:rPr>
              <a:t>→</a:t>
            </a:r>
          </a:p>
        </p:txBody>
      </p:sp>
      <p:sp>
        <p:nvSpPr>
          <p:cNvPr id="19" name="Rectangle 18"/>
          <p:cNvSpPr/>
          <p:nvPr/>
        </p:nvSpPr>
        <p:spPr>
          <a:xfrm>
            <a:off x="4986000" y="1620000"/>
            <a:ext cx="720000" cy="720000"/>
          </a:xfrm>
          <a:prstGeom prst="rect">
            <a:avLst/>
          </a:prstGeom>
          <a:solidFill>
            <a:srgbClr val="F973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4986000" y="1620000"/>
            <a:ext cx="720000" cy="720000"/>
          </a:xfrm>
          <a:prstGeom prst="rect">
            <a:avLst/>
          </a:prstGeom>
          <a:noFill/>
        </p:spPr>
        <p:txBody>
          <a:bodyPr wrap="square" lIns="54000" tIns="18000" rIns="54000" bIns="18000" anchor="ctr">
            <a:spAutoFit/>
          </a:bodyPr>
          <a:lstStyle/>
          <a:p>
            <a:pPr algn="ctr"/>
            <a:r>
              <a:rPr sz="2400" b="1">
                <a:solidFill>
                  <a:srgbClr val="FFFFFF"/>
                </a:solidFill>
                <a:latin typeface="Meiryo"/>
              </a:rPr>
              <a:t>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446000" y="2448000"/>
            <a:ext cx="1800000" cy="360000"/>
          </a:xfrm>
          <a:prstGeom prst="rect">
            <a:avLst/>
          </a:prstGeom>
          <a:noFill/>
        </p:spPr>
        <p:txBody>
          <a:bodyPr wrap="square" lIns="54000" tIns="18000" rIns="54000" bIns="18000" anchor="t">
            <a:spAutoFit/>
          </a:bodyPr>
          <a:lstStyle/>
          <a:p>
            <a:pPr algn="ctr"/>
            <a:r>
              <a:rPr sz="1400" b="1">
                <a:solidFill>
                  <a:srgbClr val="1C366C"/>
                </a:solidFill>
                <a:latin typeface="Meiryo"/>
              </a:rPr>
              <a:t>提案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446000" y="2808000"/>
            <a:ext cx="1800000" cy="720000"/>
          </a:xfrm>
          <a:prstGeom prst="rect">
            <a:avLst/>
          </a:prstGeom>
          <a:noFill/>
        </p:spPr>
        <p:txBody>
          <a:bodyPr wrap="square" lIns="54000" tIns="18000" rIns="54000" bIns="18000" anchor="t">
            <a:spAutoFit/>
          </a:bodyPr>
          <a:lstStyle/>
          <a:p>
            <a:pPr algn="ctr"/>
            <a:r>
              <a:rPr sz="1100" b="0">
                <a:solidFill>
                  <a:srgbClr val="5C5C5C"/>
                </a:solidFill>
                <a:latin typeface="Meiryo"/>
              </a:rPr>
              <a:t>優先度付きの
改善提案5件を生成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210000" y="1800000"/>
            <a:ext cx="216000" cy="360000"/>
          </a:xfrm>
          <a:prstGeom prst="rect">
            <a:avLst/>
          </a:prstGeom>
          <a:noFill/>
        </p:spPr>
        <p:txBody>
          <a:bodyPr wrap="square" lIns="54000" tIns="18000" rIns="54000" bIns="18000" anchor="ctr">
            <a:spAutoFit/>
          </a:bodyPr>
          <a:lstStyle/>
          <a:p>
            <a:pPr algn="ctr"/>
            <a:r>
              <a:rPr sz="2200" b="1">
                <a:solidFill>
                  <a:srgbClr val="F97316"/>
                </a:solidFill>
                <a:latin typeface="Meiryo"/>
              </a:rPr>
              <a:t>→</a:t>
            </a:r>
          </a:p>
        </p:txBody>
      </p:sp>
      <p:sp>
        <p:nvSpPr>
          <p:cNvPr id="24" name="Rectangle 23"/>
          <p:cNvSpPr/>
          <p:nvPr/>
        </p:nvSpPr>
        <p:spPr>
          <a:xfrm>
            <a:off x="6930000" y="1620000"/>
            <a:ext cx="720000" cy="720000"/>
          </a:xfrm>
          <a:prstGeom prst="rect">
            <a:avLst/>
          </a:prstGeom>
          <a:solidFill>
            <a:srgbClr val="F973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6930000" y="1620000"/>
            <a:ext cx="720000" cy="720000"/>
          </a:xfrm>
          <a:prstGeom prst="rect">
            <a:avLst/>
          </a:prstGeom>
          <a:noFill/>
        </p:spPr>
        <p:txBody>
          <a:bodyPr wrap="square" lIns="54000" tIns="18000" rIns="54000" bIns="18000" anchor="ctr">
            <a:spAutoFit/>
          </a:bodyPr>
          <a:lstStyle/>
          <a:p>
            <a:pPr algn="ctr"/>
            <a:r>
              <a:rPr sz="2400" b="1">
                <a:solidFill>
                  <a:srgbClr val="FFFFFF"/>
                </a:solidFill>
                <a:latin typeface="Meiryo"/>
              </a:rPr>
              <a:t>4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390000" y="2448000"/>
            <a:ext cx="1800000" cy="360000"/>
          </a:xfrm>
          <a:prstGeom prst="rect">
            <a:avLst/>
          </a:prstGeom>
          <a:noFill/>
        </p:spPr>
        <p:txBody>
          <a:bodyPr wrap="square" lIns="54000" tIns="18000" rIns="54000" bIns="18000" anchor="t">
            <a:spAutoFit/>
          </a:bodyPr>
          <a:lstStyle/>
          <a:p>
            <a:pPr algn="ctr"/>
            <a:r>
              <a:rPr sz="1400" b="1">
                <a:solidFill>
                  <a:srgbClr val="1C366C"/>
                </a:solidFill>
                <a:latin typeface="Meiryo"/>
              </a:rPr>
              <a:t>PPTX生成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390000" y="2808000"/>
            <a:ext cx="1800000" cy="720000"/>
          </a:xfrm>
          <a:prstGeom prst="rect">
            <a:avLst/>
          </a:prstGeom>
          <a:noFill/>
        </p:spPr>
        <p:txBody>
          <a:bodyPr wrap="square" lIns="54000" tIns="18000" rIns="54000" bIns="18000" anchor="t">
            <a:spAutoFit/>
          </a:bodyPr>
          <a:lstStyle/>
          <a:p>
            <a:pPr algn="ctr"/>
            <a:r>
              <a:rPr sz="1100" b="0">
                <a:solidFill>
                  <a:srgbClr val="5C5C5C"/>
                </a:solidFill>
                <a:latin typeface="Meiryo"/>
              </a:rPr>
              <a:t>Code Interpreter で
3ファイル同時生成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153999" y="1800000"/>
            <a:ext cx="216000" cy="360000"/>
          </a:xfrm>
          <a:prstGeom prst="rect">
            <a:avLst/>
          </a:prstGeom>
          <a:noFill/>
        </p:spPr>
        <p:txBody>
          <a:bodyPr wrap="square" lIns="54000" tIns="18000" rIns="54000" bIns="18000" anchor="ctr">
            <a:spAutoFit/>
          </a:bodyPr>
          <a:lstStyle/>
          <a:p>
            <a:pPr algn="ctr"/>
            <a:r>
              <a:rPr sz="2200" b="1">
                <a:solidFill>
                  <a:srgbClr val="F97316"/>
                </a:solidFill>
                <a:latin typeface="Meiryo"/>
              </a:rPr>
              <a:t>→</a:t>
            </a:r>
          </a:p>
        </p:txBody>
      </p:sp>
      <p:sp>
        <p:nvSpPr>
          <p:cNvPr id="29" name="Rectangle 28"/>
          <p:cNvSpPr/>
          <p:nvPr/>
        </p:nvSpPr>
        <p:spPr>
          <a:xfrm>
            <a:off x="8874000" y="1620000"/>
            <a:ext cx="720000" cy="720000"/>
          </a:xfrm>
          <a:prstGeom prst="rect">
            <a:avLst/>
          </a:prstGeom>
          <a:solidFill>
            <a:srgbClr val="D0021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TextBox 29"/>
          <p:cNvSpPr txBox="1"/>
          <p:nvPr/>
        </p:nvSpPr>
        <p:spPr>
          <a:xfrm>
            <a:off x="8874000" y="1620000"/>
            <a:ext cx="720000" cy="720000"/>
          </a:xfrm>
          <a:prstGeom prst="rect">
            <a:avLst/>
          </a:prstGeom>
          <a:noFill/>
        </p:spPr>
        <p:txBody>
          <a:bodyPr wrap="square" lIns="54000" tIns="18000" rIns="54000" bIns="18000" anchor="ctr">
            <a:spAutoFit/>
          </a:bodyPr>
          <a:lstStyle/>
          <a:p>
            <a:pPr algn="ctr"/>
            <a:r>
              <a:rPr sz="2400" b="1">
                <a:solidFill>
                  <a:srgbClr val="FFFFFF"/>
                </a:solidFill>
                <a:latin typeface="Meiryo"/>
              </a:rPr>
              <a:t>5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333999" y="2448000"/>
            <a:ext cx="1800000" cy="360000"/>
          </a:xfrm>
          <a:prstGeom prst="rect">
            <a:avLst/>
          </a:prstGeom>
          <a:noFill/>
        </p:spPr>
        <p:txBody>
          <a:bodyPr wrap="square" lIns="54000" tIns="18000" rIns="54000" bIns="18000" anchor="t">
            <a:spAutoFit/>
          </a:bodyPr>
          <a:lstStyle/>
          <a:p>
            <a:pPr algn="ctr"/>
            <a:r>
              <a:rPr sz="1400" b="1">
                <a:solidFill>
                  <a:srgbClr val="1C366C"/>
                </a:solidFill>
                <a:latin typeface="Meiryo"/>
              </a:rPr>
              <a:t>納品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8333999" y="2808000"/>
            <a:ext cx="1800000" cy="720000"/>
          </a:xfrm>
          <a:prstGeom prst="rect">
            <a:avLst/>
          </a:prstGeom>
          <a:noFill/>
        </p:spPr>
        <p:txBody>
          <a:bodyPr wrap="square" lIns="54000" tIns="18000" rIns="54000" bIns="18000" anchor="t">
            <a:spAutoFit/>
          </a:bodyPr>
          <a:lstStyle/>
          <a:p>
            <a:pPr algn="ctr"/>
            <a:r>
              <a:rPr sz="1100" b="0">
                <a:solidFill>
                  <a:srgbClr val="5C5C5C"/>
                </a:solidFill>
                <a:latin typeface="Meiryo"/>
              </a:rPr>
              <a:t>ダウンロードリンク
を並列表示</a:t>
            </a:r>
          </a:p>
        </p:txBody>
      </p:sp>
      <p:sp>
        <p:nvSpPr>
          <p:cNvPr id="33" name="Rectangle 32"/>
          <p:cNvSpPr/>
          <p:nvPr/>
        </p:nvSpPr>
        <p:spPr>
          <a:xfrm>
            <a:off x="540000" y="4140000"/>
            <a:ext cx="9612000" cy="432000"/>
          </a:xfrm>
          <a:prstGeom prst="rect">
            <a:avLst/>
          </a:prstGeom>
          <a:solidFill>
            <a:srgbClr val="1C366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TextBox 33"/>
          <p:cNvSpPr txBox="1"/>
          <p:nvPr/>
        </p:nvSpPr>
        <p:spPr>
          <a:xfrm>
            <a:off x="540000" y="4140000"/>
            <a:ext cx="9612000" cy="432000"/>
          </a:xfrm>
          <a:prstGeom prst="rect">
            <a:avLst/>
          </a:prstGeom>
          <a:noFill/>
        </p:spPr>
        <p:txBody>
          <a:bodyPr wrap="square" lIns="54000" tIns="18000" rIns="54000" bIns="18000" anchor="ctr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Meiryo"/>
              </a:rPr>
              <a:t>▶ 想定所要時間：3〜5分（サイトの規模により変動）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540000" y="4752000"/>
            <a:ext cx="9612000" cy="360000"/>
          </a:xfrm>
          <a:prstGeom prst="rect">
            <a:avLst/>
          </a:prstGeom>
          <a:noFill/>
        </p:spPr>
        <p:txBody>
          <a:bodyPr wrap="square" lIns="54000" tIns="18000" rIns="54000" bIns="18000" anchor="t">
            <a:spAutoFit/>
          </a:bodyPr>
          <a:lstStyle/>
          <a:p>
            <a:pPr algn="l"/>
            <a:r>
              <a:rPr sz="1300" b="1">
                <a:solidFill>
                  <a:srgbClr val="1C366C"/>
                </a:solidFill>
                <a:latin typeface="Meiryo"/>
              </a:rPr>
              <a:t>待ち時間中の表示メッセージ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540000" y="5040000"/>
            <a:ext cx="9612000" cy="1440000"/>
          </a:xfrm>
          <a:prstGeom prst="rect">
            <a:avLst/>
          </a:prstGeom>
          <a:noFill/>
        </p:spPr>
        <p:txBody>
          <a:bodyPr wrap="square" lIns="54000" tIns="18000" rIns="54000" bIns="18000" anchor="t">
            <a:spAutoFit/>
          </a:bodyPr>
          <a:lstStyle/>
          <a:p>
            <a:pPr algn="l"/>
            <a:r>
              <a:rPr sz="1100" b="0">
                <a:solidFill>
                  <a:srgbClr val="1E1E1E"/>
                </a:solidFill>
                <a:latin typeface="Meiryo"/>
              </a:rPr>
              <a:t>・「診断を開始します」→ URL/スクショの受付完了
・「診断中です」→ 10項目分析中
・「レポートを生成中です」→ PPTX組み立て中
・「診断が完了しました」→ ダウンロードリンク表示
5分以上待っても応答がない場合は、Section 4-12 の対処法をご確認ください。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0692000" cy="432000"/>
          </a:xfrm>
          <a:prstGeom prst="rect">
            <a:avLst/>
          </a:prstGeom>
          <a:solidFill>
            <a:srgbClr val="1C366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288000" y="54000"/>
            <a:ext cx="7200000" cy="324000"/>
          </a:xfrm>
          <a:prstGeom prst="rect">
            <a:avLst/>
          </a:prstGeom>
          <a:noFill/>
        </p:spPr>
        <p:txBody>
          <a:bodyPr wrap="square" lIns="54000" tIns="18000" rIns="54000" bIns="18000" anchor="ctr">
            <a:spAutoFit/>
          </a:bodyPr>
          <a:lstStyle/>
          <a:p>
            <a:pPr algn="l"/>
            <a:r>
              <a:rPr sz="1400" b="1">
                <a:solidFill>
                  <a:srgbClr val="FFFFFF"/>
                </a:solidFill>
                <a:latin typeface="Meiryo"/>
              </a:rPr>
              <a:t>UI診断ディレクター 使い方ガイド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00000" y="54000"/>
            <a:ext cx="4320000" cy="324000"/>
          </a:xfrm>
          <a:prstGeom prst="rect">
            <a:avLst/>
          </a:prstGeom>
          <a:noFill/>
        </p:spPr>
        <p:txBody>
          <a:bodyPr wrap="square" lIns="54000" tIns="18000" rIns="54000" bIns="18000" anchor="ctr">
            <a:spAutoFit/>
          </a:bodyPr>
          <a:lstStyle/>
          <a:p>
            <a:pPr algn="r"/>
            <a:r>
              <a:rPr sz="1200" b="0">
                <a:solidFill>
                  <a:srgbClr val="FFFFFF"/>
                </a:solidFill>
                <a:latin typeface="Meiryo"/>
              </a:rPr>
              <a:t>Section 2：出力物の理解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612000" y="7200000"/>
            <a:ext cx="900000" cy="251999"/>
          </a:xfrm>
          <a:prstGeom prst="rect">
            <a:avLst/>
          </a:prstGeom>
          <a:noFill/>
        </p:spPr>
        <p:txBody>
          <a:bodyPr wrap="square" lIns="54000" tIns="18000" rIns="54000" bIns="18000" anchor="ctr">
            <a:spAutoFit/>
          </a:bodyPr>
          <a:lstStyle/>
          <a:p>
            <a:pPr algn="r"/>
            <a:r>
              <a:rPr sz="1100" b="0">
                <a:solidFill>
                  <a:srgbClr val="5C5C5C"/>
                </a:solidFill>
                <a:latin typeface="Meiryo"/>
              </a:rPr>
              <a:t>06 / 15</a:t>
            </a:r>
          </a:p>
        </p:txBody>
      </p:sp>
      <p:sp>
        <p:nvSpPr>
          <p:cNvPr id="6" name="Rectangle 5"/>
          <p:cNvSpPr/>
          <p:nvPr/>
        </p:nvSpPr>
        <p:spPr>
          <a:xfrm>
            <a:off x="288000" y="648000"/>
            <a:ext cx="108000" cy="540000"/>
          </a:xfrm>
          <a:prstGeom prst="rect">
            <a:avLst/>
          </a:prstGeom>
          <a:solidFill>
            <a:srgbClr val="D0021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503999" y="612000"/>
            <a:ext cx="9000000" cy="432000"/>
          </a:xfrm>
          <a:prstGeom prst="rect">
            <a:avLst/>
          </a:prstGeom>
          <a:noFill/>
        </p:spPr>
        <p:txBody>
          <a:bodyPr wrap="square" lIns="54000" tIns="18000" rIns="54000" bIns="18000" anchor="ctr">
            <a:spAutoFit/>
          </a:bodyPr>
          <a:lstStyle/>
          <a:p>
            <a:pPr algn="l"/>
            <a:r>
              <a:rPr sz="2400" b="1">
                <a:solidFill>
                  <a:srgbClr val="1C366C"/>
                </a:solidFill>
                <a:latin typeface="Meiryo"/>
              </a:rPr>
              <a:t>06. UIスコアカードの読み方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3999" y="972000"/>
            <a:ext cx="9000000" cy="251999"/>
          </a:xfrm>
          <a:prstGeom prst="rect">
            <a:avLst/>
          </a:prstGeom>
          <a:noFill/>
        </p:spPr>
        <p:txBody>
          <a:bodyPr wrap="square" lIns="54000" tIns="18000" rIns="54000" bIns="18000" anchor="t">
            <a:spAutoFit/>
          </a:bodyPr>
          <a:lstStyle/>
          <a:p>
            <a:pPr algn="l"/>
            <a:r>
              <a:rPr sz="1400" b="0">
                <a:solidFill>
                  <a:srgbClr val="5C5C5C"/>
                </a:solidFill>
                <a:latin typeface="Meiryo"/>
              </a:rPr>
              <a:t>10項目診断の結果を、経営層と共有する1枚</a:t>
            </a:r>
          </a:p>
        </p:txBody>
      </p:sp>
      <p:sp>
        <p:nvSpPr>
          <p:cNvPr id="9" name="Rectangle 8"/>
          <p:cNvSpPr/>
          <p:nvPr/>
        </p:nvSpPr>
        <p:spPr>
          <a:xfrm>
            <a:off x="540000" y="1548000"/>
            <a:ext cx="432000" cy="540000"/>
          </a:xfrm>
          <a:prstGeom prst="rect">
            <a:avLst/>
          </a:prstGeom>
          <a:solidFill>
            <a:srgbClr val="1C366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540000" y="1548000"/>
            <a:ext cx="432000" cy="540000"/>
          </a:xfrm>
          <a:prstGeom prst="rect">
            <a:avLst/>
          </a:prstGeom>
          <a:noFill/>
        </p:spPr>
        <p:txBody>
          <a:bodyPr wrap="square" lIns="54000" tIns="18000" rIns="54000" bIns="18000" anchor="ctr">
            <a:spAutoFit/>
          </a:bodyPr>
          <a:lstStyle/>
          <a:p>
            <a:pPr algn="ctr"/>
            <a:r>
              <a:rPr sz="2200" b="1">
                <a:solidFill>
                  <a:srgbClr val="FFFFFF"/>
                </a:solidFill>
                <a:latin typeface="Meiryo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80000" y="1548000"/>
            <a:ext cx="8640000" cy="324000"/>
          </a:xfrm>
          <a:prstGeom prst="rect">
            <a:avLst/>
          </a:prstGeom>
          <a:noFill/>
        </p:spPr>
        <p:txBody>
          <a:bodyPr wrap="square" lIns="54000" tIns="18000" rIns="54000" bIns="18000" anchor="t">
            <a:spAutoFit/>
          </a:bodyPr>
          <a:lstStyle/>
          <a:p>
            <a:pPr algn="l"/>
            <a:r>
              <a:rPr sz="1400" b="1">
                <a:solidFill>
                  <a:srgbClr val="1C366C"/>
                </a:solidFill>
                <a:latin typeface="Meiryo"/>
              </a:rPr>
              <a:t>10項目診断とは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80000" y="1872000"/>
            <a:ext cx="8640000" cy="900000"/>
          </a:xfrm>
          <a:prstGeom prst="rect">
            <a:avLst/>
          </a:prstGeom>
          <a:noFill/>
        </p:spPr>
        <p:txBody>
          <a:bodyPr wrap="square" lIns="54000" tIns="18000" rIns="54000" bIns="18000" anchor="t">
            <a:spAutoFit/>
          </a:bodyPr>
          <a:lstStyle/>
          <a:p>
            <a:pPr algn="l"/>
            <a:r>
              <a:rPr sz="1200" b="0">
                <a:solidFill>
                  <a:srgbClr val="1E1E1E"/>
                </a:solidFill>
                <a:latin typeface="Meiryo"/>
              </a:rPr>
              <a:t>ファーストビュー、キャッチコピー、CTA設計、信頼性、フォーム、レスポンシブ、
読みやすさ、情報設計、ブランド、表示速度の10軸で診断します。
各項目5段階評価、合計50点満点。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40000" y="2951999"/>
            <a:ext cx="432000" cy="540000"/>
          </a:xfrm>
          <a:prstGeom prst="rect">
            <a:avLst/>
          </a:prstGeom>
          <a:solidFill>
            <a:srgbClr val="1C366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540000" y="2951999"/>
            <a:ext cx="432000" cy="540000"/>
          </a:xfrm>
          <a:prstGeom prst="rect">
            <a:avLst/>
          </a:prstGeom>
          <a:noFill/>
        </p:spPr>
        <p:txBody>
          <a:bodyPr wrap="square" lIns="54000" tIns="18000" rIns="54000" bIns="18000" anchor="ctr">
            <a:spAutoFit/>
          </a:bodyPr>
          <a:lstStyle/>
          <a:p>
            <a:pPr algn="ctr"/>
            <a:r>
              <a:rPr sz="2200" b="1">
                <a:solidFill>
                  <a:srgbClr val="FFFFFF"/>
                </a:solidFill>
                <a:latin typeface="Meiryo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80000" y="2951999"/>
            <a:ext cx="8640000" cy="324000"/>
          </a:xfrm>
          <a:prstGeom prst="rect">
            <a:avLst/>
          </a:prstGeom>
          <a:noFill/>
        </p:spPr>
        <p:txBody>
          <a:bodyPr wrap="square" lIns="54000" tIns="18000" rIns="54000" bIns="18000" anchor="t">
            <a:spAutoFit/>
          </a:bodyPr>
          <a:lstStyle/>
          <a:p>
            <a:pPr algn="l"/>
            <a:r>
              <a:rPr sz="1400" b="1">
                <a:solidFill>
                  <a:srgbClr val="1C366C"/>
                </a:solidFill>
                <a:latin typeface="Meiryo"/>
              </a:rPr>
              <a:t>5段階評価の基準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80000" y="3276000"/>
            <a:ext cx="8640000" cy="900000"/>
          </a:xfrm>
          <a:prstGeom prst="rect">
            <a:avLst/>
          </a:prstGeom>
          <a:noFill/>
        </p:spPr>
        <p:txBody>
          <a:bodyPr wrap="square" lIns="54000" tIns="18000" rIns="54000" bIns="18000" anchor="t">
            <a:spAutoFit/>
          </a:bodyPr>
          <a:lstStyle/>
          <a:p>
            <a:pPr algn="l"/>
            <a:r>
              <a:rPr sz="1200" b="0">
                <a:solidFill>
                  <a:srgbClr val="1E1E1E"/>
                </a:solidFill>
                <a:latin typeface="Meiryo"/>
              </a:rPr>
              <a:t>5=業界トップクラス／4=良好／3=標準／2=改善必要／1=致命的
「3」が実務における標準的な状態。「4以上」で維持、「2以下」は最優先対応。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40000" y="4356000"/>
            <a:ext cx="432000" cy="540000"/>
          </a:xfrm>
          <a:prstGeom prst="rect">
            <a:avLst/>
          </a:prstGeom>
          <a:solidFill>
            <a:srgbClr val="D0021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540000" y="4356000"/>
            <a:ext cx="432000" cy="540000"/>
          </a:xfrm>
          <a:prstGeom prst="rect">
            <a:avLst/>
          </a:prstGeom>
          <a:noFill/>
        </p:spPr>
        <p:txBody>
          <a:bodyPr wrap="square" lIns="54000" tIns="18000" rIns="54000" bIns="18000" anchor="ctr">
            <a:spAutoFit/>
          </a:bodyPr>
          <a:lstStyle/>
          <a:p>
            <a:pPr algn="ctr"/>
            <a:r>
              <a:rPr sz="2200" b="1">
                <a:solidFill>
                  <a:srgbClr val="FFFFFF"/>
                </a:solidFill>
                <a:latin typeface="Meiryo"/>
              </a:rPr>
              <a:t>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80000" y="4356000"/>
            <a:ext cx="8640000" cy="324000"/>
          </a:xfrm>
          <a:prstGeom prst="rect">
            <a:avLst/>
          </a:prstGeom>
          <a:noFill/>
        </p:spPr>
        <p:txBody>
          <a:bodyPr wrap="square" lIns="54000" tIns="18000" rIns="54000" bIns="18000" anchor="t">
            <a:spAutoFit/>
          </a:bodyPr>
          <a:lstStyle/>
          <a:p>
            <a:pPr algn="l"/>
            <a:r>
              <a:rPr sz="1400" b="1">
                <a:solidFill>
                  <a:srgbClr val="D0021B"/>
                </a:solidFill>
                <a:latin typeface="Meiryo"/>
              </a:rPr>
              <a:t>ランクと総合スコア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80000" y="4680000"/>
            <a:ext cx="8640000" cy="900000"/>
          </a:xfrm>
          <a:prstGeom prst="rect">
            <a:avLst/>
          </a:prstGeom>
          <a:noFill/>
        </p:spPr>
        <p:txBody>
          <a:bodyPr wrap="square" lIns="54000" tIns="18000" rIns="54000" bIns="18000" anchor="t">
            <a:spAutoFit/>
          </a:bodyPr>
          <a:lstStyle/>
          <a:p>
            <a:pPr algn="l"/>
            <a:r>
              <a:rPr sz="1200" b="0">
                <a:solidFill>
                  <a:srgbClr val="1E1E1E"/>
                </a:solidFill>
                <a:latin typeface="Meiryo"/>
              </a:rPr>
              <a:t>S（45-50）／A（38-44）／B（30-37）／C（20-29）／D（0-19）
購入検討層に最も響くのはB〜Cの帯。改善余地を明示することが価値提供の中核。</a:t>
            </a:r>
          </a:p>
        </p:txBody>
      </p:sp>
      <p:sp>
        <p:nvSpPr>
          <p:cNvPr id="21" name="Rectangle 20"/>
          <p:cNvSpPr/>
          <p:nvPr/>
        </p:nvSpPr>
        <p:spPr>
          <a:xfrm>
            <a:off x="540000" y="5868000"/>
            <a:ext cx="9612000" cy="802964"/>
          </a:xfrm>
          <a:prstGeom prst="rect">
            <a:avLst/>
          </a:prstGeom>
          <a:solidFill>
            <a:srgbClr val="FFF2E8"/>
          </a:solidFill>
          <a:ln w="9525">
            <a:solidFill>
              <a:srgbClr val="F9731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648000" y="5940000"/>
            <a:ext cx="9432000" cy="288000"/>
          </a:xfrm>
          <a:prstGeom prst="rect">
            <a:avLst/>
          </a:prstGeom>
          <a:noFill/>
        </p:spPr>
        <p:txBody>
          <a:bodyPr wrap="square" lIns="54000" tIns="18000" rIns="54000" bIns="18000" anchor="t">
            <a:spAutoFit/>
          </a:bodyPr>
          <a:lstStyle/>
          <a:p>
            <a:pPr algn="l"/>
            <a:r>
              <a:rPr sz="1300" b="1">
                <a:solidFill>
                  <a:srgbClr val="1C366C"/>
                </a:solidFill>
                <a:latin typeface="Meiryo"/>
              </a:rPr>
              <a:t>▶ 活用の指針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48000" y="6228000"/>
            <a:ext cx="9432000" cy="360000"/>
          </a:xfrm>
          <a:prstGeom prst="rect">
            <a:avLst/>
          </a:prstGeom>
          <a:noFill/>
        </p:spPr>
        <p:txBody>
          <a:bodyPr wrap="square" lIns="54000" tIns="18000" rIns="54000" bIns="18000" anchor="t">
            <a:spAutoFit/>
          </a:bodyPr>
          <a:lstStyle/>
          <a:p>
            <a:pPr algn="l"/>
            <a:r>
              <a:rPr sz="1100" b="0">
                <a:solidFill>
                  <a:srgbClr val="1E1E1E"/>
                </a:solidFill>
                <a:latin typeface="Meiryo"/>
              </a:rPr>
              <a:t>「強み3項目」で自信のポイントを、「最優先課題3項目」で次のアクションを明示できます。
経営層への5分プレゼンには、この1枚が最強の武器になります。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0692000" cy="432000"/>
          </a:xfrm>
          <a:prstGeom prst="rect">
            <a:avLst/>
          </a:prstGeom>
          <a:solidFill>
            <a:srgbClr val="1C366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288000" y="54000"/>
            <a:ext cx="7200000" cy="324000"/>
          </a:xfrm>
          <a:prstGeom prst="rect">
            <a:avLst/>
          </a:prstGeom>
          <a:noFill/>
        </p:spPr>
        <p:txBody>
          <a:bodyPr wrap="square" lIns="54000" tIns="18000" rIns="54000" bIns="18000" anchor="ctr">
            <a:spAutoFit/>
          </a:bodyPr>
          <a:lstStyle/>
          <a:p>
            <a:pPr algn="l"/>
            <a:r>
              <a:rPr sz="1400" b="1">
                <a:solidFill>
                  <a:srgbClr val="FFFFFF"/>
                </a:solidFill>
                <a:latin typeface="Meiryo"/>
              </a:rPr>
              <a:t>UI診断ディレクター 使い方ガイド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00000" y="54000"/>
            <a:ext cx="4320000" cy="324000"/>
          </a:xfrm>
          <a:prstGeom prst="rect">
            <a:avLst/>
          </a:prstGeom>
          <a:noFill/>
        </p:spPr>
        <p:txBody>
          <a:bodyPr wrap="square" lIns="54000" tIns="18000" rIns="54000" bIns="18000" anchor="ctr">
            <a:spAutoFit/>
          </a:bodyPr>
          <a:lstStyle/>
          <a:p>
            <a:pPr algn="r"/>
            <a:r>
              <a:rPr sz="1200" b="0">
                <a:solidFill>
                  <a:srgbClr val="FFFFFF"/>
                </a:solidFill>
                <a:latin typeface="Meiryo"/>
              </a:rPr>
              <a:t>Section 2：出力物の理解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612000" y="7200000"/>
            <a:ext cx="900000" cy="251999"/>
          </a:xfrm>
          <a:prstGeom prst="rect">
            <a:avLst/>
          </a:prstGeom>
          <a:noFill/>
        </p:spPr>
        <p:txBody>
          <a:bodyPr wrap="square" lIns="54000" tIns="18000" rIns="54000" bIns="18000" anchor="ctr">
            <a:spAutoFit/>
          </a:bodyPr>
          <a:lstStyle/>
          <a:p>
            <a:pPr algn="r"/>
            <a:r>
              <a:rPr sz="1100" b="0">
                <a:solidFill>
                  <a:srgbClr val="5C5C5C"/>
                </a:solidFill>
                <a:latin typeface="Meiryo"/>
              </a:rPr>
              <a:t>07 / 15</a:t>
            </a:r>
          </a:p>
        </p:txBody>
      </p:sp>
      <p:sp>
        <p:nvSpPr>
          <p:cNvPr id="6" name="Rectangle 5"/>
          <p:cNvSpPr/>
          <p:nvPr/>
        </p:nvSpPr>
        <p:spPr>
          <a:xfrm>
            <a:off x="288000" y="648000"/>
            <a:ext cx="108000" cy="540000"/>
          </a:xfrm>
          <a:prstGeom prst="rect">
            <a:avLst/>
          </a:prstGeom>
          <a:solidFill>
            <a:srgbClr val="D0021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503999" y="612000"/>
            <a:ext cx="9000000" cy="432000"/>
          </a:xfrm>
          <a:prstGeom prst="rect">
            <a:avLst/>
          </a:prstGeom>
          <a:noFill/>
        </p:spPr>
        <p:txBody>
          <a:bodyPr wrap="square" lIns="54000" tIns="18000" rIns="54000" bIns="18000" anchor="ctr">
            <a:spAutoFit/>
          </a:bodyPr>
          <a:lstStyle/>
          <a:p>
            <a:pPr algn="l"/>
            <a:r>
              <a:rPr sz="2400" b="1">
                <a:solidFill>
                  <a:srgbClr val="1C366C"/>
                </a:solidFill>
                <a:latin typeface="Meiryo"/>
              </a:rPr>
              <a:t>07. 改善提案リストの活用方法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3999" y="972000"/>
            <a:ext cx="9000000" cy="251999"/>
          </a:xfrm>
          <a:prstGeom prst="rect">
            <a:avLst/>
          </a:prstGeom>
          <a:noFill/>
        </p:spPr>
        <p:txBody>
          <a:bodyPr wrap="square" lIns="54000" tIns="18000" rIns="54000" bIns="18000" anchor="t">
            <a:spAutoFit/>
          </a:bodyPr>
          <a:lstStyle/>
          <a:p>
            <a:pPr algn="l"/>
            <a:r>
              <a:rPr sz="1400" b="0">
                <a:solidFill>
                  <a:srgbClr val="5C5C5C"/>
                </a:solidFill>
                <a:latin typeface="Meiryo"/>
              </a:rPr>
              <a:t>優先度に応じた実装計画の立て方</a:t>
            </a:r>
          </a:p>
        </p:txBody>
      </p:sp>
      <p:sp>
        <p:nvSpPr>
          <p:cNvPr id="9" name="Rectangle 8"/>
          <p:cNvSpPr/>
          <p:nvPr/>
        </p:nvSpPr>
        <p:spPr>
          <a:xfrm>
            <a:off x="540000" y="1620000"/>
            <a:ext cx="3131999" cy="540000"/>
          </a:xfrm>
          <a:prstGeom prst="rect">
            <a:avLst/>
          </a:prstGeom>
          <a:solidFill>
            <a:srgbClr val="D0021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540000" y="1638000"/>
            <a:ext cx="3131999" cy="251999"/>
          </a:xfrm>
          <a:prstGeom prst="rect">
            <a:avLst/>
          </a:prstGeom>
          <a:noFill/>
        </p:spPr>
        <p:txBody>
          <a:bodyPr wrap="square" lIns="54000" tIns="18000" rIns="54000" bIns="18000" anchor="ctr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Meiryo"/>
              </a:rPr>
              <a:t>高優先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40000" y="1890000"/>
            <a:ext cx="3131999" cy="251999"/>
          </a:xfrm>
          <a:prstGeom prst="rect">
            <a:avLst/>
          </a:prstGeom>
          <a:noFill/>
        </p:spPr>
        <p:txBody>
          <a:bodyPr wrap="square" lIns="54000" tIns="18000" rIns="54000" bIns="18000" anchor="ctr">
            <a:spAutoFit/>
          </a:bodyPr>
          <a:lstStyle/>
          <a:p>
            <a:pPr algn="ctr"/>
            <a:r>
              <a:rPr sz="1200" b="0">
                <a:solidFill>
                  <a:srgbClr val="FFFFFF"/>
                </a:solidFill>
                <a:latin typeface="Meiryo"/>
              </a:rPr>
              <a:t>今週やること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40000" y="2160000"/>
            <a:ext cx="3131999" cy="2880000"/>
          </a:xfrm>
          <a:prstGeom prst="rect">
            <a:avLst/>
          </a:prstGeom>
          <a:solidFill>
            <a:srgbClr val="FFFFFF"/>
          </a:solidFill>
          <a:ln w="9525">
            <a:solidFill>
              <a:srgbClr val="D0D0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684000" y="2268000"/>
            <a:ext cx="2844000" cy="2700000"/>
          </a:xfrm>
          <a:prstGeom prst="rect">
            <a:avLst/>
          </a:prstGeom>
          <a:noFill/>
        </p:spPr>
        <p:txBody>
          <a:bodyPr wrap="square" lIns="54000" tIns="18000" rIns="54000" bIns="18000" anchor="t">
            <a:spAutoFit/>
          </a:bodyPr>
          <a:lstStyle/>
          <a:p>
            <a:pPr algn="l"/>
            <a:r>
              <a:rPr sz="1200" b="0">
                <a:solidFill>
                  <a:srgbClr val="1E1E1E"/>
                </a:solidFill>
                <a:latin typeface="Meiryo"/>
              </a:rPr>
              <a:t>成果影響度・改善容易度がともに高い項目。
・FVでのCTA可視化
・購入導線の主要ボタン設置
・入力フォームの負荷軽減</a:t>
            </a:r>
          </a:p>
        </p:txBody>
      </p:sp>
      <p:sp>
        <p:nvSpPr>
          <p:cNvPr id="14" name="Rectangle 13"/>
          <p:cNvSpPr/>
          <p:nvPr/>
        </p:nvSpPr>
        <p:spPr>
          <a:xfrm>
            <a:off x="3780000" y="1620000"/>
            <a:ext cx="3131999" cy="540000"/>
          </a:xfrm>
          <a:prstGeom prst="rect">
            <a:avLst/>
          </a:prstGeom>
          <a:solidFill>
            <a:srgbClr val="F973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3780000" y="1638000"/>
            <a:ext cx="3131999" cy="251999"/>
          </a:xfrm>
          <a:prstGeom prst="rect">
            <a:avLst/>
          </a:prstGeom>
          <a:noFill/>
        </p:spPr>
        <p:txBody>
          <a:bodyPr wrap="square" lIns="54000" tIns="18000" rIns="54000" bIns="18000" anchor="ctr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Meiryo"/>
              </a:rPr>
              <a:t>中優先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780000" y="1890000"/>
            <a:ext cx="3131999" cy="251999"/>
          </a:xfrm>
          <a:prstGeom prst="rect">
            <a:avLst/>
          </a:prstGeom>
          <a:noFill/>
        </p:spPr>
        <p:txBody>
          <a:bodyPr wrap="square" lIns="54000" tIns="18000" rIns="54000" bIns="18000" anchor="ctr">
            <a:spAutoFit/>
          </a:bodyPr>
          <a:lstStyle/>
          <a:p>
            <a:pPr algn="ctr"/>
            <a:r>
              <a:rPr sz="1200" b="0">
                <a:solidFill>
                  <a:srgbClr val="FFFFFF"/>
                </a:solidFill>
                <a:latin typeface="Meiryo"/>
              </a:rPr>
              <a:t>来月やること</a:t>
            </a:r>
          </a:p>
        </p:txBody>
      </p:sp>
      <p:sp>
        <p:nvSpPr>
          <p:cNvPr id="17" name="Rectangle 16"/>
          <p:cNvSpPr/>
          <p:nvPr/>
        </p:nvSpPr>
        <p:spPr>
          <a:xfrm>
            <a:off x="3780000" y="2160000"/>
            <a:ext cx="3131999" cy="2880000"/>
          </a:xfrm>
          <a:prstGeom prst="rect">
            <a:avLst/>
          </a:prstGeom>
          <a:solidFill>
            <a:srgbClr val="FFFFFF"/>
          </a:solidFill>
          <a:ln w="9525">
            <a:solidFill>
              <a:srgbClr val="D0D0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3924000" y="2268000"/>
            <a:ext cx="2844000" cy="2700000"/>
          </a:xfrm>
          <a:prstGeom prst="rect">
            <a:avLst/>
          </a:prstGeom>
          <a:noFill/>
        </p:spPr>
        <p:txBody>
          <a:bodyPr wrap="square" lIns="54000" tIns="18000" rIns="54000" bIns="18000" anchor="t">
            <a:spAutoFit/>
          </a:bodyPr>
          <a:lstStyle/>
          <a:p>
            <a:pPr algn="l"/>
            <a:r>
              <a:rPr sz="1200" b="0">
                <a:solidFill>
                  <a:srgbClr val="1E1E1E"/>
                </a:solidFill>
                <a:latin typeface="Meiryo"/>
              </a:rPr>
              <a:t>成果には効くが、実装に一定のリソースが必要な項目。
・料金プランの比較表化
・レビュー配置の再設計
・情報設計の再構築</a:t>
            </a:r>
          </a:p>
        </p:txBody>
      </p:sp>
      <p:sp>
        <p:nvSpPr>
          <p:cNvPr id="19" name="Rectangle 18"/>
          <p:cNvSpPr/>
          <p:nvPr/>
        </p:nvSpPr>
        <p:spPr>
          <a:xfrm>
            <a:off x="7020000" y="1620000"/>
            <a:ext cx="3131999" cy="540000"/>
          </a:xfrm>
          <a:prstGeom prst="rect">
            <a:avLst/>
          </a:prstGeom>
          <a:solidFill>
            <a:srgbClr val="5C5C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7020000" y="1638000"/>
            <a:ext cx="3131999" cy="251999"/>
          </a:xfrm>
          <a:prstGeom prst="rect">
            <a:avLst/>
          </a:prstGeom>
          <a:noFill/>
        </p:spPr>
        <p:txBody>
          <a:bodyPr wrap="square" lIns="54000" tIns="18000" rIns="54000" bIns="18000" anchor="ctr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Meiryo"/>
              </a:rPr>
              <a:t>低優先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020000" y="1890000"/>
            <a:ext cx="3131999" cy="251999"/>
          </a:xfrm>
          <a:prstGeom prst="rect">
            <a:avLst/>
          </a:prstGeom>
          <a:noFill/>
        </p:spPr>
        <p:txBody>
          <a:bodyPr wrap="square" lIns="54000" tIns="18000" rIns="54000" bIns="18000" anchor="ctr">
            <a:spAutoFit/>
          </a:bodyPr>
          <a:lstStyle/>
          <a:p>
            <a:pPr algn="ctr"/>
            <a:r>
              <a:rPr sz="1200" b="0">
                <a:solidFill>
                  <a:srgbClr val="FFFFFF"/>
                </a:solidFill>
                <a:latin typeface="Meiryo"/>
              </a:rPr>
              <a:t>四半期でやること</a:t>
            </a:r>
          </a:p>
        </p:txBody>
      </p:sp>
      <p:sp>
        <p:nvSpPr>
          <p:cNvPr id="22" name="Rectangle 21"/>
          <p:cNvSpPr/>
          <p:nvPr/>
        </p:nvSpPr>
        <p:spPr>
          <a:xfrm>
            <a:off x="7020000" y="2160000"/>
            <a:ext cx="3131999" cy="2880000"/>
          </a:xfrm>
          <a:prstGeom prst="rect">
            <a:avLst/>
          </a:prstGeom>
          <a:solidFill>
            <a:srgbClr val="FFFFFF"/>
          </a:solidFill>
          <a:ln w="9525">
            <a:solidFill>
              <a:srgbClr val="D0D0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7163999" y="2268000"/>
            <a:ext cx="2844000" cy="2700000"/>
          </a:xfrm>
          <a:prstGeom prst="rect">
            <a:avLst/>
          </a:prstGeom>
          <a:noFill/>
        </p:spPr>
        <p:txBody>
          <a:bodyPr wrap="square" lIns="54000" tIns="18000" rIns="54000" bIns="18000" anchor="t">
            <a:spAutoFit/>
          </a:bodyPr>
          <a:lstStyle/>
          <a:p>
            <a:pPr algn="l"/>
            <a:r>
              <a:rPr sz="1200" b="0">
                <a:solidFill>
                  <a:srgbClr val="1E1E1E"/>
                </a:solidFill>
                <a:latin typeface="Meiryo"/>
              </a:rPr>
              <a:t>中長期の改善余地。基盤刷新と併せて検討する項目。
・表示速度の最適化
・レスポンシブ全面刷新
・アクセシビリティ強化</a:t>
            </a:r>
          </a:p>
        </p:txBody>
      </p:sp>
      <p:sp>
        <p:nvSpPr>
          <p:cNvPr id="24" name="Rectangle 23"/>
          <p:cNvSpPr/>
          <p:nvPr/>
        </p:nvSpPr>
        <p:spPr>
          <a:xfrm>
            <a:off x="540000" y="5291999"/>
            <a:ext cx="9612000" cy="810001"/>
          </a:xfrm>
          <a:prstGeom prst="rect">
            <a:avLst/>
          </a:prstGeom>
          <a:solidFill>
            <a:srgbClr val="F5F5F5"/>
          </a:solidFill>
          <a:ln w="6350">
            <a:solidFill>
              <a:srgbClr val="D0D0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648000" y="5363999"/>
            <a:ext cx="9432000" cy="288000"/>
          </a:xfrm>
          <a:prstGeom prst="rect">
            <a:avLst/>
          </a:prstGeom>
          <a:noFill/>
        </p:spPr>
        <p:txBody>
          <a:bodyPr wrap="square" lIns="54000" tIns="18000" rIns="54000" bIns="18000" anchor="t">
            <a:spAutoFit/>
          </a:bodyPr>
          <a:lstStyle/>
          <a:p>
            <a:pPr algn="l"/>
            <a:r>
              <a:rPr sz="1300" b="1">
                <a:solidFill>
                  <a:srgbClr val="1C366C"/>
                </a:solidFill>
                <a:latin typeface="Meiryo"/>
              </a:rPr>
              <a:t>▶ Before/After構造の読み方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48000" y="5652000"/>
            <a:ext cx="9432000" cy="360000"/>
          </a:xfrm>
          <a:prstGeom prst="rect">
            <a:avLst/>
          </a:prstGeom>
          <a:noFill/>
        </p:spPr>
        <p:txBody>
          <a:bodyPr wrap="square" lIns="54000" tIns="18000" rIns="54000" bIns="18000" anchor="t">
            <a:spAutoFit/>
          </a:bodyPr>
          <a:lstStyle/>
          <a:p>
            <a:pPr algn="l"/>
            <a:r>
              <a:rPr sz="1100" b="0">
                <a:solidFill>
                  <a:srgbClr val="1E1E1E"/>
                </a:solidFill>
                <a:latin typeface="Meiryo"/>
              </a:rPr>
              <a:t>各提案には「現状（Before）」と「改善後（After）」が明示されています。
この構造は、そのままクライアント提案書のスライドとして流用できます。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0692000" cy="432000"/>
          </a:xfrm>
          <a:prstGeom prst="rect">
            <a:avLst/>
          </a:prstGeom>
          <a:solidFill>
            <a:srgbClr val="1C366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288000" y="54000"/>
            <a:ext cx="7200000" cy="324000"/>
          </a:xfrm>
          <a:prstGeom prst="rect">
            <a:avLst/>
          </a:prstGeom>
          <a:noFill/>
        </p:spPr>
        <p:txBody>
          <a:bodyPr wrap="square" lIns="54000" tIns="18000" rIns="54000" bIns="18000" anchor="ctr">
            <a:spAutoFit/>
          </a:bodyPr>
          <a:lstStyle/>
          <a:p>
            <a:pPr algn="l"/>
            <a:r>
              <a:rPr sz="1400" b="1">
                <a:solidFill>
                  <a:srgbClr val="FFFFFF"/>
                </a:solidFill>
                <a:latin typeface="Meiryo"/>
              </a:rPr>
              <a:t>UI診断ディレクター 使い方ガイド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00000" y="54000"/>
            <a:ext cx="4320000" cy="324000"/>
          </a:xfrm>
          <a:prstGeom prst="rect">
            <a:avLst/>
          </a:prstGeom>
          <a:noFill/>
        </p:spPr>
        <p:txBody>
          <a:bodyPr wrap="square" lIns="54000" tIns="18000" rIns="54000" bIns="18000" anchor="ctr">
            <a:spAutoFit/>
          </a:bodyPr>
          <a:lstStyle/>
          <a:p>
            <a:pPr algn="r"/>
            <a:r>
              <a:rPr sz="1200" b="0">
                <a:solidFill>
                  <a:srgbClr val="FFFFFF"/>
                </a:solidFill>
                <a:latin typeface="Meiryo"/>
              </a:rPr>
              <a:t>Section 2：出力物の理解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612000" y="7200000"/>
            <a:ext cx="900000" cy="251999"/>
          </a:xfrm>
          <a:prstGeom prst="rect">
            <a:avLst/>
          </a:prstGeom>
          <a:noFill/>
        </p:spPr>
        <p:txBody>
          <a:bodyPr wrap="square" lIns="54000" tIns="18000" rIns="54000" bIns="18000" anchor="ctr">
            <a:spAutoFit/>
          </a:bodyPr>
          <a:lstStyle/>
          <a:p>
            <a:pPr algn="r"/>
            <a:r>
              <a:rPr sz="1100" b="0">
                <a:solidFill>
                  <a:srgbClr val="5C5C5C"/>
                </a:solidFill>
                <a:latin typeface="Meiryo"/>
              </a:rPr>
              <a:t>08 / 15</a:t>
            </a:r>
          </a:p>
        </p:txBody>
      </p:sp>
      <p:sp>
        <p:nvSpPr>
          <p:cNvPr id="6" name="Rectangle 5"/>
          <p:cNvSpPr/>
          <p:nvPr/>
        </p:nvSpPr>
        <p:spPr>
          <a:xfrm>
            <a:off x="288000" y="648000"/>
            <a:ext cx="108000" cy="540000"/>
          </a:xfrm>
          <a:prstGeom prst="rect">
            <a:avLst/>
          </a:prstGeom>
          <a:solidFill>
            <a:srgbClr val="D0021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503999" y="612000"/>
            <a:ext cx="9000000" cy="432000"/>
          </a:xfrm>
          <a:prstGeom prst="rect">
            <a:avLst/>
          </a:prstGeom>
          <a:noFill/>
        </p:spPr>
        <p:txBody>
          <a:bodyPr wrap="square" lIns="54000" tIns="18000" rIns="54000" bIns="18000" anchor="ctr">
            <a:spAutoFit/>
          </a:bodyPr>
          <a:lstStyle/>
          <a:p>
            <a:pPr algn="l"/>
            <a:r>
              <a:rPr sz="2400" b="1">
                <a:solidFill>
                  <a:srgbClr val="1C366C"/>
                </a:solidFill>
                <a:latin typeface="Meiryo"/>
              </a:rPr>
              <a:t>08. ビジュアル診断ボードの使い方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3999" y="972000"/>
            <a:ext cx="9000000" cy="251999"/>
          </a:xfrm>
          <a:prstGeom prst="rect">
            <a:avLst/>
          </a:prstGeom>
          <a:noFill/>
        </p:spPr>
        <p:txBody>
          <a:bodyPr wrap="square" lIns="54000" tIns="18000" rIns="54000" bIns="18000" anchor="t">
            <a:spAutoFit/>
          </a:bodyPr>
          <a:lstStyle/>
          <a:p>
            <a:pPr algn="l"/>
            <a:r>
              <a:rPr sz="1400" b="0">
                <a:solidFill>
                  <a:srgbClr val="5C5C5C"/>
                </a:solidFill>
                <a:latin typeface="Meiryo"/>
              </a:rPr>
              <a:t>プレゼン資料としてそのまま使う3枚構成</a:t>
            </a:r>
          </a:p>
        </p:txBody>
      </p:sp>
      <p:sp>
        <p:nvSpPr>
          <p:cNvPr id="9" name="Rectangle 8"/>
          <p:cNvSpPr/>
          <p:nvPr/>
        </p:nvSpPr>
        <p:spPr>
          <a:xfrm>
            <a:off x="540000" y="1548000"/>
            <a:ext cx="3131999" cy="612000"/>
          </a:xfrm>
          <a:prstGeom prst="rect">
            <a:avLst/>
          </a:prstGeom>
          <a:solidFill>
            <a:srgbClr val="1C366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648000" y="1583999"/>
            <a:ext cx="2916000" cy="251999"/>
          </a:xfrm>
          <a:prstGeom prst="rect">
            <a:avLst/>
          </a:prstGeom>
          <a:noFill/>
        </p:spPr>
        <p:txBody>
          <a:bodyPr wrap="square" lIns="54000" tIns="18000" rIns="54000" bIns="18000" anchor="ctr">
            <a:spAutoFit/>
          </a:bodyPr>
          <a:lstStyle/>
          <a:p>
            <a:pPr algn="l"/>
            <a:r>
              <a:rPr sz="1300" b="1">
                <a:solidFill>
                  <a:srgbClr val="FFFFFF"/>
                </a:solidFill>
                <a:latin typeface="Meiryo"/>
              </a:rPr>
              <a:t>スライド 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8000" y="1835999"/>
            <a:ext cx="2916000" cy="288000"/>
          </a:xfrm>
          <a:prstGeom prst="rect">
            <a:avLst/>
          </a:prstGeom>
          <a:noFill/>
        </p:spPr>
        <p:txBody>
          <a:bodyPr wrap="square" lIns="54000" tIns="18000" rIns="54000" bIns="18000" anchor="ctr">
            <a:spAutoFit/>
          </a:bodyPr>
          <a:lstStyle/>
          <a:p>
            <a:pPr algn="l"/>
            <a:r>
              <a:rPr sz="1200" b="0">
                <a:solidFill>
                  <a:srgbClr val="FFFFFF"/>
                </a:solidFill>
                <a:latin typeface="Meiryo"/>
              </a:rPr>
              <a:t>構造マップ + 総評 + 最重要課題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40000" y="2160000"/>
            <a:ext cx="3131999" cy="2880000"/>
          </a:xfrm>
          <a:prstGeom prst="rect">
            <a:avLst/>
          </a:prstGeom>
          <a:solidFill>
            <a:srgbClr val="FFFFFF"/>
          </a:solidFill>
          <a:ln w="9525">
            <a:solidFill>
              <a:srgbClr val="D0D0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684000" y="2268000"/>
            <a:ext cx="2844000" cy="2700000"/>
          </a:xfrm>
          <a:prstGeom prst="rect">
            <a:avLst/>
          </a:prstGeom>
          <a:noFill/>
        </p:spPr>
        <p:txBody>
          <a:bodyPr wrap="square" lIns="54000" tIns="18000" rIns="54000" bIns="18000" anchor="t">
            <a:spAutoFit/>
          </a:bodyPr>
          <a:lstStyle/>
          <a:p>
            <a:pPr algn="l"/>
            <a:r>
              <a:rPr sz="1200" b="0">
                <a:solidFill>
                  <a:srgbClr val="1E1E1E"/>
                </a:solidFill>
                <a:latin typeface="Meiryo"/>
              </a:rPr>
              <a:t>・LP構造マップ（サイトのセクション別状態）
・◤ 総評（改善方向の1行スローガン）
・▶ 最重要課題（Top3または4）
・◎ 強み（活かすべき点3点）
・ユーザー行動フロー6ステップ</a:t>
            </a:r>
          </a:p>
        </p:txBody>
      </p:sp>
      <p:sp>
        <p:nvSpPr>
          <p:cNvPr id="14" name="Rectangle 13"/>
          <p:cNvSpPr/>
          <p:nvPr/>
        </p:nvSpPr>
        <p:spPr>
          <a:xfrm>
            <a:off x="3780000" y="1548000"/>
            <a:ext cx="3131999" cy="612000"/>
          </a:xfrm>
          <a:prstGeom prst="rect">
            <a:avLst/>
          </a:prstGeom>
          <a:solidFill>
            <a:srgbClr val="1C366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3888000" y="1583999"/>
            <a:ext cx="2916000" cy="251999"/>
          </a:xfrm>
          <a:prstGeom prst="rect">
            <a:avLst/>
          </a:prstGeom>
          <a:noFill/>
        </p:spPr>
        <p:txBody>
          <a:bodyPr wrap="square" lIns="54000" tIns="18000" rIns="54000" bIns="18000" anchor="ctr">
            <a:spAutoFit/>
          </a:bodyPr>
          <a:lstStyle/>
          <a:p>
            <a:pPr algn="l"/>
            <a:r>
              <a:rPr sz="1300" b="1">
                <a:solidFill>
                  <a:srgbClr val="FFFFFF"/>
                </a:solidFill>
                <a:latin typeface="Meiryo"/>
              </a:rPr>
              <a:t>スライド 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888000" y="1835999"/>
            <a:ext cx="2916000" cy="288000"/>
          </a:xfrm>
          <a:prstGeom prst="rect">
            <a:avLst/>
          </a:prstGeom>
          <a:noFill/>
        </p:spPr>
        <p:txBody>
          <a:bodyPr wrap="square" lIns="54000" tIns="18000" rIns="54000" bIns="18000" anchor="ctr">
            <a:spAutoFit/>
          </a:bodyPr>
          <a:lstStyle/>
          <a:p>
            <a:pPr algn="l"/>
            <a:r>
              <a:rPr sz="1200" b="0">
                <a:solidFill>
                  <a:srgbClr val="FFFFFF"/>
                </a:solidFill>
                <a:latin typeface="Meiryo"/>
              </a:rPr>
              <a:t>スコア視覚化 + 強み・課題</a:t>
            </a:r>
          </a:p>
        </p:txBody>
      </p:sp>
      <p:sp>
        <p:nvSpPr>
          <p:cNvPr id="17" name="Rectangle 16"/>
          <p:cNvSpPr/>
          <p:nvPr/>
        </p:nvSpPr>
        <p:spPr>
          <a:xfrm>
            <a:off x="3780000" y="2160000"/>
            <a:ext cx="3131999" cy="2880000"/>
          </a:xfrm>
          <a:prstGeom prst="rect">
            <a:avLst/>
          </a:prstGeom>
          <a:solidFill>
            <a:srgbClr val="FFFFFF"/>
          </a:solidFill>
          <a:ln w="9525">
            <a:solidFill>
              <a:srgbClr val="D0D0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3924000" y="2268000"/>
            <a:ext cx="2844000" cy="2700000"/>
          </a:xfrm>
          <a:prstGeom prst="rect">
            <a:avLst/>
          </a:prstGeom>
          <a:noFill/>
        </p:spPr>
        <p:txBody>
          <a:bodyPr wrap="square" lIns="54000" tIns="18000" rIns="54000" bIns="18000" anchor="t">
            <a:spAutoFit/>
          </a:bodyPr>
          <a:lstStyle/>
          <a:p>
            <a:pPr algn="l"/>
            <a:r>
              <a:rPr sz="1200" b="0">
                <a:solidFill>
                  <a:srgbClr val="1E1E1E"/>
                </a:solidFill>
                <a:latin typeface="Meiryo"/>
              </a:rPr>
              <a:t>・10項目のバーチャート（強み・弱み一目視認）
・強み3項目
・最優先課題3項目
・改善方向の再掲
経営層への5分プレゼンで最も刺さる1枚です。</a:t>
            </a:r>
          </a:p>
        </p:txBody>
      </p:sp>
      <p:sp>
        <p:nvSpPr>
          <p:cNvPr id="19" name="Rectangle 18"/>
          <p:cNvSpPr/>
          <p:nvPr/>
        </p:nvSpPr>
        <p:spPr>
          <a:xfrm>
            <a:off x="7020000" y="1548000"/>
            <a:ext cx="3131999" cy="612000"/>
          </a:xfrm>
          <a:prstGeom prst="rect">
            <a:avLst/>
          </a:prstGeom>
          <a:solidFill>
            <a:srgbClr val="F973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7128000" y="1583999"/>
            <a:ext cx="2916000" cy="251999"/>
          </a:xfrm>
          <a:prstGeom prst="rect">
            <a:avLst/>
          </a:prstGeom>
          <a:noFill/>
        </p:spPr>
        <p:txBody>
          <a:bodyPr wrap="square" lIns="54000" tIns="18000" rIns="54000" bIns="18000" anchor="ctr">
            <a:spAutoFit/>
          </a:bodyPr>
          <a:lstStyle/>
          <a:p>
            <a:pPr algn="l"/>
            <a:r>
              <a:rPr sz="1300" b="1">
                <a:solidFill>
                  <a:srgbClr val="FFFFFF"/>
                </a:solidFill>
                <a:latin typeface="Meiryo"/>
              </a:rPr>
              <a:t>スライド 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128000" y="1835999"/>
            <a:ext cx="2916000" cy="288000"/>
          </a:xfrm>
          <a:prstGeom prst="rect">
            <a:avLst/>
          </a:prstGeom>
          <a:noFill/>
        </p:spPr>
        <p:txBody>
          <a:bodyPr wrap="square" lIns="54000" tIns="18000" rIns="54000" bIns="18000" anchor="ctr">
            <a:spAutoFit/>
          </a:bodyPr>
          <a:lstStyle/>
          <a:p>
            <a:pPr algn="l"/>
            <a:r>
              <a:rPr sz="1200" b="0">
                <a:solidFill>
                  <a:srgbClr val="FFFFFF"/>
                </a:solidFill>
                <a:latin typeface="Meiryo"/>
              </a:rPr>
              <a:t>Before/After ハイライトTop3</a:t>
            </a:r>
          </a:p>
        </p:txBody>
      </p:sp>
      <p:sp>
        <p:nvSpPr>
          <p:cNvPr id="22" name="Rectangle 21"/>
          <p:cNvSpPr/>
          <p:nvPr/>
        </p:nvSpPr>
        <p:spPr>
          <a:xfrm>
            <a:off x="7020000" y="2160000"/>
            <a:ext cx="3131999" cy="2880000"/>
          </a:xfrm>
          <a:prstGeom prst="rect">
            <a:avLst/>
          </a:prstGeom>
          <a:solidFill>
            <a:srgbClr val="FFFFFF"/>
          </a:solidFill>
          <a:ln w="9525">
            <a:solidFill>
              <a:srgbClr val="D0D0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7163999" y="2268000"/>
            <a:ext cx="2844000" cy="2700000"/>
          </a:xfrm>
          <a:prstGeom prst="rect">
            <a:avLst/>
          </a:prstGeom>
          <a:noFill/>
        </p:spPr>
        <p:txBody>
          <a:bodyPr wrap="square" lIns="54000" tIns="18000" rIns="54000" bIns="18000" anchor="t">
            <a:spAutoFit/>
          </a:bodyPr>
          <a:lstStyle/>
          <a:p>
            <a:pPr algn="l"/>
            <a:r>
              <a:rPr sz="1200" b="0">
                <a:solidFill>
                  <a:srgbClr val="1E1E1E"/>
                </a:solidFill>
                <a:latin typeface="Meiryo"/>
              </a:rPr>
              <a:t>・優先度Top3の改善案を、Before/After形式で並列表示
・優先度バッジ・工数・箇所を明示
・「何をどう変えるか」が即座に伝わる構造
実装チームへの指示書としてそのまま流用可能。</a:t>
            </a:r>
          </a:p>
        </p:txBody>
      </p:sp>
      <p:sp>
        <p:nvSpPr>
          <p:cNvPr id="24" name="Rectangle 23"/>
          <p:cNvSpPr/>
          <p:nvPr/>
        </p:nvSpPr>
        <p:spPr>
          <a:xfrm>
            <a:off x="540000" y="5292000"/>
            <a:ext cx="9612000" cy="792000"/>
          </a:xfrm>
          <a:prstGeom prst="rect">
            <a:avLst/>
          </a:prstGeom>
          <a:solidFill>
            <a:srgbClr val="FFF2E8"/>
          </a:solidFill>
          <a:ln w="9525">
            <a:solidFill>
              <a:srgbClr val="F9731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648000" y="5346000"/>
            <a:ext cx="9432000" cy="288000"/>
          </a:xfrm>
          <a:prstGeom prst="rect">
            <a:avLst/>
          </a:prstGeom>
          <a:noFill/>
        </p:spPr>
        <p:txBody>
          <a:bodyPr wrap="square" lIns="54000" tIns="18000" rIns="54000" bIns="18000" anchor="t">
            <a:spAutoFit/>
          </a:bodyPr>
          <a:lstStyle/>
          <a:p>
            <a:pPr algn="l"/>
            <a:r>
              <a:rPr sz="1300" b="1">
                <a:solidFill>
                  <a:srgbClr val="1C366C"/>
                </a:solidFill>
                <a:latin typeface="Meiryo"/>
              </a:rPr>
              <a:t>▶ プレゼンストーリー例（5分版）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48000" y="5616000"/>
            <a:ext cx="9432000" cy="360000"/>
          </a:xfrm>
          <a:prstGeom prst="rect">
            <a:avLst/>
          </a:prstGeom>
          <a:noFill/>
        </p:spPr>
        <p:txBody>
          <a:bodyPr wrap="square" lIns="54000" tIns="18000" rIns="54000" bIns="18000" anchor="t">
            <a:spAutoFit/>
          </a:bodyPr>
          <a:lstStyle/>
          <a:p>
            <a:pPr algn="l"/>
            <a:r>
              <a:rPr sz="1100" b="0" dirty="0">
                <a:solidFill>
                  <a:srgbClr val="1E1E1E"/>
                </a:solidFill>
                <a:latin typeface="Meiryo"/>
              </a:rPr>
              <a:t>「現状はこうです（1）」→「特にここを直すべきです（2）」→「こう変えます（3）」</a:t>
            </a:r>
            <a:r>
              <a:rPr sz="1100" b="0" dirty="0" err="1">
                <a:solidFill>
                  <a:srgbClr val="1E1E1E"/>
                </a:solidFill>
                <a:latin typeface="Meiryo"/>
              </a:rPr>
              <a:t>の流れで</a:t>
            </a:r>
            <a:r>
              <a:rPr sz="1100" b="0" dirty="0">
                <a:solidFill>
                  <a:srgbClr val="1E1E1E"/>
                </a:solidFill>
                <a:latin typeface="Meiryo"/>
              </a:rPr>
              <a:t>、
意思決定に必要な情報を5分で伝えられます。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0692000" cy="432000"/>
          </a:xfrm>
          <a:prstGeom prst="rect">
            <a:avLst/>
          </a:prstGeom>
          <a:solidFill>
            <a:srgbClr val="1C366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288000" y="54000"/>
            <a:ext cx="7200000" cy="324000"/>
          </a:xfrm>
          <a:prstGeom prst="rect">
            <a:avLst/>
          </a:prstGeom>
          <a:noFill/>
        </p:spPr>
        <p:txBody>
          <a:bodyPr wrap="square" lIns="54000" tIns="18000" rIns="54000" bIns="18000" anchor="ctr">
            <a:spAutoFit/>
          </a:bodyPr>
          <a:lstStyle/>
          <a:p>
            <a:pPr algn="l"/>
            <a:r>
              <a:rPr sz="1400" b="1">
                <a:solidFill>
                  <a:srgbClr val="FFFFFF"/>
                </a:solidFill>
                <a:latin typeface="Meiryo"/>
              </a:rPr>
              <a:t>UI診断ディレクター 使い方ガイド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00000" y="54000"/>
            <a:ext cx="4320000" cy="324000"/>
          </a:xfrm>
          <a:prstGeom prst="rect">
            <a:avLst/>
          </a:prstGeom>
          <a:noFill/>
        </p:spPr>
        <p:txBody>
          <a:bodyPr wrap="square" lIns="54000" tIns="18000" rIns="54000" bIns="18000" anchor="ctr">
            <a:spAutoFit/>
          </a:bodyPr>
          <a:lstStyle/>
          <a:p>
            <a:pPr algn="r"/>
            <a:r>
              <a:rPr sz="1200" b="0">
                <a:solidFill>
                  <a:srgbClr val="FFFFFF"/>
                </a:solidFill>
                <a:latin typeface="Meiryo"/>
              </a:rPr>
              <a:t>ご案内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612000" y="7200000"/>
            <a:ext cx="900000" cy="251999"/>
          </a:xfrm>
          <a:prstGeom prst="rect">
            <a:avLst/>
          </a:prstGeom>
          <a:noFill/>
        </p:spPr>
        <p:txBody>
          <a:bodyPr wrap="square" lIns="54000" tIns="18000" rIns="54000" bIns="18000" anchor="ctr">
            <a:spAutoFit/>
          </a:bodyPr>
          <a:lstStyle/>
          <a:p>
            <a:pPr algn="r"/>
            <a:r>
              <a:rPr sz="1100" b="0">
                <a:solidFill>
                  <a:srgbClr val="5C5C5C"/>
                </a:solidFill>
                <a:latin typeface="Meiryo"/>
              </a:rPr>
              <a:t>09 / 15</a:t>
            </a:r>
          </a:p>
        </p:txBody>
      </p:sp>
      <p:sp>
        <p:nvSpPr>
          <p:cNvPr id="6" name="Rectangle 5"/>
          <p:cNvSpPr/>
          <p:nvPr/>
        </p:nvSpPr>
        <p:spPr>
          <a:xfrm>
            <a:off x="288000" y="648000"/>
            <a:ext cx="108000" cy="540000"/>
          </a:xfrm>
          <a:prstGeom prst="rect">
            <a:avLst/>
          </a:prstGeom>
          <a:solidFill>
            <a:srgbClr val="D0021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503999" y="612000"/>
            <a:ext cx="9000000" cy="432000"/>
          </a:xfrm>
          <a:prstGeom prst="rect">
            <a:avLst/>
          </a:prstGeom>
          <a:noFill/>
        </p:spPr>
        <p:txBody>
          <a:bodyPr wrap="square" lIns="54000" tIns="18000" rIns="54000" bIns="18000" anchor="ctr">
            <a:spAutoFit/>
          </a:bodyPr>
          <a:lstStyle/>
          <a:p>
            <a:pPr algn="l"/>
            <a:r>
              <a:rPr sz="2400" b="1">
                <a:solidFill>
                  <a:srgbClr val="1C366C"/>
                </a:solidFill>
                <a:latin typeface="Meiryo"/>
              </a:rPr>
              <a:t>Section 3 以降について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3999" y="972000"/>
            <a:ext cx="9000000" cy="251999"/>
          </a:xfrm>
          <a:prstGeom prst="rect">
            <a:avLst/>
          </a:prstGeom>
          <a:noFill/>
        </p:spPr>
        <p:txBody>
          <a:bodyPr wrap="square" lIns="54000" tIns="18000" rIns="54000" bIns="18000" anchor="t">
            <a:spAutoFit/>
          </a:bodyPr>
          <a:lstStyle/>
          <a:p>
            <a:pPr algn="l"/>
            <a:r>
              <a:rPr sz="1400" b="0">
                <a:solidFill>
                  <a:srgbClr val="5C5C5C"/>
                </a:solidFill>
                <a:latin typeface="Meiryo"/>
              </a:rPr>
              <a:t>応用・トラブル対処・アップデートは順次追加します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0000" y="1800000"/>
            <a:ext cx="9612000" cy="1440000"/>
          </a:xfrm>
          <a:prstGeom prst="rect">
            <a:avLst/>
          </a:prstGeom>
          <a:noFill/>
        </p:spPr>
        <p:txBody>
          <a:bodyPr wrap="square" lIns="54000" tIns="18000" rIns="54000" bIns="18000" anchor="t">
            <a:spAutoFit/>
          </a:bodyPr>
          <a:lstStyle/>
          <a:p>
            <a:pPr algn="l"/>
            <a:r>
              <a:rPr sz="1300" b="0">
                <a:solidFill>
                  <a:srgbClr val="1E1E1E"/>
                </a:solidFill>
                <a:latin typeface="Meiryo"/>
              </a:rPr>
              <a:t>このガイドは v1.0（Section 1-2 完成版）です。
以下のセクションは、7月17日以降に順次追加されます。</a:t>
            </a:r>
          </a:p>
        </p:txBody>
      </p:sp>
      <p:sp>
        <p:nvSpPr>
          <p:cNvPr id="10" name="Rectangle 9"/>
          <p:cNvSpPr/>
          <p:nvPr/>
        </p:nvSpPr>
        <p:spPr>
          <a:xfrm>
            <a:off x="539999" y="3600000"/>
            <a:ext cx="3148773" cy="900000"/>
          </a:xfrm>
          <a:prstGeom prst="rect">
            <a:avLst/>
          </a:prstGeom>
          <a:solidFill>
            <a:srgbClr val="F973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612735" y="3931797"/>
            <a:ext cx="3003300" cy="236406"/>
          </a:xfrm>
          <a:prstGeom prst="rect">
            <a:avLst/>
          </a:prstGeom>
          <a:noFill/>
        </p:spPr>
        <p:txBody>
          <a:bodyPr wrap="square" lIns="54000" tIns="18000" rIns="54000" bIns="18000" anchor="ctr">
            <a:spAutoFit/>
          </a:bodyPr>
          <a:lstStyle/>
          <a:p>
            <a:pPr algn="ctr"/>
            <a:r>
              <a:rPr sz="1300" b="1" dirty="0">
                <a:solidFill>
                  <a:srgbClr val="FFFFFF"/>
                </a:solidFill>
                <a:latin typeface="Meiryo"/>
              </a:rPr>
              <a:t>Section 3：応用と対話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922118" y="3600000"/>
            <a:ext cx="6480000" cy="900000"/>
          </a:xfrm>
          <a:prstGeom prst="rect">
            <a:avLst/>
          </a:prstGeom>
          <a:noFill/>
        </p:spPr>
        <p:txBody>
          <a:bodyPr wrap="square" lIns="54000" tIns="18000" rIns="54000" bIns="18000" anchor="ctr">
            <a:spAutoFit/>
          </a:bodyPr>
          <a:lstStyle/>
          <a:p>
            <a:pPr algn="l"/>
            <a:r>
              <a:rPr sz="1200" b="0" dirty="0">
                <a:solidFill>
                  <a:srgbClr val="1E1E1E"/>
                </a:solidFill>
                <a:latin typeface="Meiryo"/>
              </a:rPr>
              <a:t>09. </a:t>
            </a:r>
            <a:r>
              <a:rPr sz="1200" b="0" dirty="0" err="1">
                <a:solidFill>
                  <a:srgbClr val="1E1E1E"/>
                </a:solidFill>
                <a:latin typeface="Meiryo"/>
              </a:rPr>
              <a:t>生成後にAIと相談する方法</a:t>
            </a:r>
            <a:r>
              <a:rPr sz="1200" b="0" dirty="0">
                <a:solidFill>
                  <a:srgbClr val="1E1E1E"/>
                </a:solidFill>
                <a:latin typeface="Meiryo"/>
              </a:rPr>
              <a:t>
10. </a:t>
            </a:r>
            <a:r>
              <a:rPr sz="1200" b="0" dirty="0" err="1">
                <a:solidFill>
                  <a:srgbClr val="1E1E1E"/>
                </a:solidFill>
                <a:latin typeface="Meiryo"/>
              </a:rPr>
              <a:t>業種別の活用パターン</a:t>
            </a:r>
            <a:r>
              <a:rPr sz="1200" b="0" dirty="0">
                <a:solidFill>
                  <a:srgbClr val="1E1E1E"/>
                </a:solidFill>
                <a:latin typeface="Meiryo"/>
              </a:rPr>
              <a:t>
11. </a:t>
            </a:r>
            <a:r>
              <a:rPr sz="1200" b="0" dirty="0" err="1">
                <a:solidFill>
                  <a:srgbClr val="1E1E1E"/>
                </a:solidFill>
                <a:latin typeface="Meiryo"/>
              </a:rPr>
              <a:t>クライアント提案への転用</a:t>
            </a:r>
            <a:endParaRPr sz="1200" b="0" dirty="0">
              <a:solidFill>
                <a:srgbClr val="1E1E1E"/>
              </a:solidFill>
              <a:latin typeface="Meiryo"/>
            </a:endParaRPr>
          </a:p>
        </p:txBody>
      </p:sp>
      <p:sp>
        <p:nvSpPr>
          <p:cNvPr id="13" name="Rectangle 12"/>
          <p:cNvSpPr/>
          <p:nvPr/>
        </p:nvSpPr>
        <p:spPr>
          <a:xfrm>
            <a:off x="539999" y="4608000"/>
            <a:ext cx="3148773" cy="900000"/>
          </a:xfrm>
          <a:prstGeom prst="rect">
            <a:avLst/>
          </a:prstGeom>
          <a:solidFill>
            <a:srgbClr val="F973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612735" y="4939797"/>
            <a:ext cx="3003300" cy="236406"/>
          </a:xfrm>
          <a:prstGeom prst="rect">
            <a:avLst/>
          </a:prstGeom>
          <a:noFill/>
        </p:spPr>
        <p:txBody>
          <a:bodyPr wrap="square" lIns="54000" tIns="18000" rIns="54000" bIns="18000" anchor="ctr">
            <a:spAutoFit/>
          </a:bodyPr>
          <a:lstStyle/>
          <a:p>
            <a:pPr algn="ctr"/>
            <a:r>
              <a:rPr sz="1300" b="1" dirty="0">
                <a:solidFill>
                  <a:srgbClr val="FFFFFF"/>
                </a:solidFill>
                <a:latin typeface="Meiryo"/>
              </a:rPr>
              <a:t>Section 4：トラブルシューティング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922118" y="4608000"/>
            <a:ext cx="6480000" cy="900000"/>
          </a:xfrm>
          <a:prstGeom prst="rect">
            <a:avLst/>
          </a:prstGeom>
          <a:noFill/>
        </p:spPr>
        <p:txBody>
          <a:bodyPr wrap="square" lIns="54000" tIns="18000" rIns="54000" bIns="18000" anchor="ctr">
            <a:spAutoFit/>
          </a:bodyPr>
          <a:lstStyle/>
          <a:p>
            <a:pPr algn="l"/>
            <a:r>
              <a:rPr sz="1200" b="0">
                <a:solidFill>
                  <a:srgbClr val="1E1E1E"/>
                </a:solidFill>
                <a:latin typeface="Meiryo"/>
              </a:rPr>
              <a:t>12. URLアクセス失敗時の対処
13. 出力が期待と異なる場合
14. サポート窓口の使い方</a:t>
            </a:r>
          </a:p>
        </p:txBody>
      </p:sp>
      <p:sp>
        <p:nvSpPr>
          <p:cNvPr id="16" name="Rectangle 15"/>
          <p:cNvSpPr/>
          <p:nvPr/>
        </p:nvSpPr>
        <p:spPr>
          <a:xfrm>
            <a:off x="539999" y="5616000"/>
            <a:ext cx="3148773" cy="900000"/>
          </a:xfrm>
          <a:prstGeom prst="rect">
            <a:avLst/>
          </a:prstGeom>
          <a:solidFill>
            <a:srgbClr val="F973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612735" y="5947797"/>
            <a:ext cx="3003300" cy="236406"/>
          </a:xfrm>
          <a:prstGeom prst="rect">
            <a:avLst/>
          </a:prstGeom>
          <a:noFill/>
        </p:spPr>
        <p:txBody>
          <a:bodyPr wrap="square" lIns="54000" tIns="18000" rIns="54000" bIns="18000" anchor="ctr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  <a:latin typeface="Meiryo"/>
              </a:rPr>
              <a:t>おわりに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922118" y="5616000"/>
            <a:ext cx="6480000" cy="900000"/>
          </a:xfrm>
          <a:prstGeom prst="rect">
            <a:avLst/>
          </a:prstGeom>
          <a:noFill/>
        </p:spPr>
        <p:txBody>
          <a:bodyPr wrap="square" lIns="54000" tIns="18000" rIns="54000" bIns="18000" anchor="ctr">
            <a:spAutoFit/>
          </a:bodyPr>
          <a:lstStyle/>
          <a:p>
            <a:pPr algn="l"/>
            <a:r>
              <a:rPr sz="1200" b="0">
                <a:solidFill>
                  <a:srgbClr val="1E1E1E"/>
                </a:solidFill>
                <a:latin typeface="Meiryo"/>
              </a:rPr>
              <a:t>15. アップデート情報の受け取り方</a:t>
            </a:r>
          </a:p>
        </p:txBody>
      </p:sp>
      <p:sp>
        <p:nvSpPr>
          <p:cNvPr id="19" name="Rectangle 18"/>
          <p:cNvSpPr/>
          <p:nvPr/>
        </p:nvSpPr>
        <p:spPr>
          <a:xfrm>
            <a:off x="540000" y="6912000"/>
            <a:ext cx="9612000" cy="360000"/>
          </a:xfrm>
          <a:prstGeom prst="rect">
            <a:avLst/>
          </a:prstGeom>
          <a:solidFill>
            <a:srgbClr val="1C366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540000" y="6912000"/>
            <a:ext cx="9612000" cy="360000"/>
          </a:xfrm>
          <a:prstGeom prst="rect">
            <a:avLst/>
          </a:prstGeom>
          <a:noFill/>
        </p:spPr>
        <p:txBody>
          <a:bodyPr wrap="square" lIns="54000" tIns="18000" rIns="54000" bIns="18000" anchor="ctr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Meiryo"/>
              </a:rPr>
              <a:t>▶ アップデート通知：note @Yasuaki_Irie / X @Yasuaki_Irie にてご案内予定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4</TotalTime>
  <Words>1140</Words>
  <Application>Microsoft Office PowerPoint</Application>
  <PresentationFormat>ユーザー設定</PresentationFormat>
  <Paragraphs>163</Paragraphs>
  <Slides>11</Slides>
  <Notes>0</Notes>
  <HiddenSlides>0</HiddenSlides>
  <MMClips>0</MMClips>
  <ScaleCrop>false</ScaleCrop>
  <HeadingPairs>
    <vt:vector size="6" baseType="variant">
      <vt:variant>
        <vt:lpstr>使用されているフォント</vt:lpstr>
      </vt:variant>
      <vt:variant>
        <vt:i4>3</vt:i4>
      </vt:variant>
      <vt:variant>
        <vt:lpstr>テーマ</vt:lpstr>
      </vt:variant>
      <vt:variant>
        <vt:i4>1</vt:i4>
      </vt:variant>
      <vt:variant>
        <vt:lpstr>スライド タイトル</vt:lpstr>
      </vt:variant>
      <vt:variant>
        <vt:i4>11</vt:i4>
      </vt:variant>
    </vt:vector>
  </HeadingPairs>
  <TitlesOfParts>
    <vt:vector size="15" baseType="lpstr">
      <vt:lpstr>Meiryo</vt:lpstr>
      <vt:lpstr>Arial</vt:lpstr>
      <vt:lpstr>Calibri</vt:lpstr>
      <vt:lpstr>Office Theme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Yasuaki Irie</cp:lastModifiedBy>
  <cp:revision>3</cp:revision>
  <dcterms:created xsi:type="dcterms:W3CDTF">2013-01-27T09:14:16Z</dcterms:created>
  <dcterms:modified xsi:type="dcterms:W3CDTF">2026-07-16T10:03:05Z</dcterms:modified>
  <cp:category/>
</cp:coreProperties>
</file>